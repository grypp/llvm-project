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comments/modernComment_365_755CA4F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39F_74C3B0CD.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 id="2147483697" r:id="rId2"/>
  </p:sldMasterIdLst>
  <p:notesMasterIdLst>
    <p:notesMasterId r:id="rId42"/>
  </p:notesMasterIdLst>
  <p:sldIdLst>
    <p:sldId id="256" r:id="rId3"/>
    <p:sldId id="893" r:id="rId4"/>
    <p:sldId id="1228" r:id="rId5"/>
    <p:sldId id="1186" r:id="rId6"/>
    <p:sldId id="1237" r:id="rId7"/>
    <p:sldId id="1241" r:id="rId8"/>
    <p:sldId id="1222" r:id="rId9"/>
    <p:sldId id="1220" r:id="rId10"/>
    <p:sldId id="1182" r:id="rId11"/>
    <p:sldId id="869" r:id="rId12"/>
    <p:sldId id="1165" r:id="rId13"/>
    <p:sldId id="1163" r:id="rId14"/>
    <p:sldId id="731" r:id="rId15"/>
    <p:sldId id="1139" r:id="rId16"/>
    <p:sldId id="1224" r:id="rId17"/>
    <p:sldId id="1170" r:id="rId18"/>
    <p:sldId id="1141" r:id="rId19"/>
    <p:sldId id="1225" r:id="rId20"/>
    <p:sldId id="1132" r:id="rId21"/>
    <p:sldId id="753" r:id="rId22"/>
    <p:sldId id="927" r:id="rId23"/>
    <p:sldId id="892" r:id="rId24"/>
    <p:sldId id="1243" r:id="rId25"/>
    <p:sldId id="1247" r:id="rId26"/>
    <p:sldId id="1250" r:id="rId27"/>
    <p:sldId id="645" r:id="rId28"/>
    <p:sldId id="377" r:id="rId29"/>
    <p:sldId id="1065" r:id="rId30"/>
    <p:sldId id="1252" r:id="rId31"/>
    <p:sldId id="1167" r:id="rId32"/>
    <p:sldId id="1256" r:id="rId33"/>
    <p:sldId id="1257" r:id="rId34"/>
    <p:sldId id="1258" r:id="rId35"/>
    <p:sldId id="1259" r:id="rId36"/>
    <p:sldId id="1179" r:id="rId37"/>
    <p:sldId id="1178" r:id="rId38"/>
    <p:sldId id="1276" r:id="rId39"/>
    <p:sldId id="1221" r:id="rId40"/>
    <p:sldId id="1075" r:id="rId41"/>
  </p:sldIdLst>
  <p:sldSz cx="36576000" cy="20574000"/>
  <p:notesSz cx="6858000" cy="9144000"/>
  <p:embeddedFontLst>
    <p:embeddedFont>
      <p:font typeface="Consolas" panose="020B0609020204030204" pitchFamily="49" charset="0"/>
      <p:regular r:id="rId43"/>
      <p:bold r:id="rId44"/>
      <p:italic r:id="rId45"/>
      <p:boldItalic r:id="rId46"/>
    </p:embeddedFont>
    <p:embeddedFont>
      <p:font typeface="NVIDIA Sans" panose="020B0503020203020204" pitchFamily="34" charset="0"/>
      <p:regular r:id="rId47"/>
      <p:bold r:id="rId48"/>
      <p:italic r:id="rId49"/>
      <p:boldItalic r:id="rId50"/>
    </p:embeddedFont>
    <p:embeddedFont>
      <p:font typeface="NVIDIA Sans Medium" panose="020B0503020203020204" pitchFamily="34" charset="0"/>
      <p:regular r:id="rId51"/>
      <p:italic r:id="rId52"/>
    </p:embeddedFont>
    <p:embeddedFont>
      <p:font typeface="Roboto Mono" pitchFamily="49" charset="0"/>
      <p:regular r:id="rId53"/>
      <p:bold r:id="rId54"/>
      <p:italic r:id="rId55"/>
      <p:boldItalic r:id="rId56"/>
    </p:embeddedFont>
    <p:embeddedFont>
      <p:font typeface="Roboto Mono Medium" panose="00000009000000000000" pitchFamily="49" charset="0"/>
      <p:regular r:id="rId57"/>
      <p: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15:clr>
            <a:srgbClr val="E89EFF"/>
          </p15:clr>
        </p15:guide>
        <p15:guide id="2" pos="23040">
          <p15:clr>
            <a:srgbClr val="E89EFF"/>
          </p15:clr>
        </p15:guide>
        <p15:guide id="3" pos="576">
          <p15:clr>
            <a:srgbClr val="E89EFF"/>
          </p15:clr>
        </p15:guide>
        <p15:guide id="4" pos="22464">
          <p15:clr>
            <a:srgbClr val="E89EFF"/>
          </p15:clr>
        </p15:guide>
        <p15:guide id="5" orient="horz">
          <p15:clr>
            <a:srgbClr val="E89EFF"/>
          </p15:clr>
        </p15:guide>
        <p15:guide id="6" orient="horz" pos="12960">
          <p15:clr>
            <a:srgbClr val="E89EFF"/>
          </p15:clr>
        </p15:guide>
        <p15:guide id="7" orient="horz" pos="576">
          <p15:clr>
            <a:srgbClr val="E89EFF"/>
          </p15:clr>
        </p15:guide>
        <p15:guide id="8" orient="horz" pos="12384">
          <p15:clr>
            <a:srgbClr val="E89EFF"/>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E7BA815-006E-4C3A-4CBB-9304BD029045}" name="Mihir Awatramani" initials="MA" userId="S::mawatramani@nvidia.com::b32d18ff-7a4a-4be4-bc5f-411febae03c4" providerId="AD"/>
  <p188:author id="{0EE8FD27-F267-D2CA-7F42-864BAF2D48B3}" name="Amir Mohammad Tavakkoli" initials="AMT" userId="S::atavakkoli@nvidia.com::ff5d2749-7494-4199-978d-ba425e483229" providerId="AD"/>
  <p188:author id="{84E1304C-D4EC-0EF1-B3C3-FE4931E2D4AE}" name="Kihiro Bando" initials="KB" userId="S::kbando@nvidia.com::497a8b80-53a4-41d4-a2a3-02e3d63cb1bd" providerId="AD"/>
  <p188:author id="{9FDD7952-A97A-6757-AE5E-0F3D242F1B38}" name="Guray Ozen" initials="GO" userId="S::gozen@nvidia.com::797b56cb-0526-43d0-9974-22a34c33175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E6F470-8351-704F-A850-43B00E4CA669}" v="9" dt="2026-08-18T16:28:28.672"/>
    <p1510:client id="{B094F1C9-EF58-0D48-BD68-C340BBF9AC14}" v="1209" dt="2026-08-20T15:49:20.031"/>
  </p1510:revLst>
</p1510:revInfo>
</file>

<file path=ppt/tableStyles.xml><?xml version="1.0" encoding="utf-8"?>
<a:tblStyleLst xmlns:a="http://schemas.openxmlformats.org/drawingml/2006/main" def="{5FC34824-C322-4EAF-908F-AC0DC8227AF9}">
  <a:tblStyle styleId="{5FC34824-C322-4EAF-908F-AC0DC8227AF9}" styleName="Table_0">
    <a:wholeTbl>
      <a:tcTxStyle b="off" i="off">
        <a:font>
          <a:latin typeface="NVIDIA Sans"/>
          <a:ea typeface="NVIDIA Sans"/>
          <a:cs typeface="NVIDIA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3E6"/>
          </a:solidFill>
        </a:fill>
      </a:tcStyle>
    </a:wholeTbl>
    <a:band1H>
      <a:tcTxStyle/>
      <a:tcStyle>
        <a:tcBdr/>
        <a:fill>
          <a:solidFill>
            <a:srgbClr val="D5E6CA"/>
          </a:solidFill>
        </a:fill>
      </a:tcStyle>
    </a:band1H>
    <a:band2H>
      <a:tcTxStyle/>
      <a:tcStyle>
        <a:tcBdr/>
      </a:tcStyle>
    </a:band2H>
    <a:band1V>
      <a:tcTxStyle/>
      <a:tcStyle>
        <a:tcBdr/>
        <a:fill>
          <a:solidFill>
            <a:srgbClr val="D5E6CA"/>
          </a:solidFill>
        </a:fill>
      </a:tcStyle>
    </a:band1V>
    <a:band2V>
      <a:tcTxStyle/>
      <a:tcStyle>
        <a:tcBdr/>
      </a:tcStyle>
    </a:band2V>
    <a:lastCol>
      <a:tcTxStyle b="on" i="off">
        <a:font>
          <a:latin typeface="NVIDIA Sans"/>
          <a:ea typeface="NVIDIA Sans"/>
          <a:cs typeface="NVIDIA Sans"/>
        </a:font>
        <a:schemeClr val="lt1"/>
      </a:tcTxStyle>
      <a:tcStyle>
        <a:tcBdr/>
        <a:fill>
          <a:solidFill>
            <a:schemeClr val="accent1"/>
          </a:solidFill>
        </a:fill>
      </a:tcStyle>
    </a:lastCol>
    <a:firstCol>
      <a:tcTxStyle b="on" i="off">
        <a:font>
          <a:latin typeface="NVIDIA Sans"/>
          <a:ea typeface="NVIDIA Sans"/>
          <a:cs typeface="NVIDIA Sans"/>
        </a:font>
        <a:schemeClr val="lt1"/>
      </a:tcTxStyle>
      <a:tcStyle>
        <a:tcBdr/>
        <a:fill>
          <a:solidFill>
            <a:schemeClr val="accent1"/>
          </a:solidFill>
        </a:fill>
      </a:tcStyle>
    </a:firstCol>
    <a:lastRow>
      <a:tcTxStyle b="on" i="off">
        <a:font>
          <a:latin typeface="NVIDIA Sans"/>
          <a:ea typeface="NVIDIA Sans"/>
          <a:cs typeface="NVIDIA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NVIDIA Sans"/>
          <a:ea typeface="NVIDIA Sans"/>
          <a:cs typeface="NVIDIA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2"/>
    <p:restoredTop sz="94639"/>
  </p:normalViewPr>
  <p:slideViewPr>
    <p:cSldViewPr snapToGrid="0">
      <p:cViewPr varScale="1">
        <p:scale>
          <a:sx n="49" d="100"/>
          <a:sy n="49" d="100"/>
        </p:scale>
        <p:origin x="216" y="30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microsoft.com/office/2018/10/relationships/authors" Target="authors.xml"/><Relationship Id="rId8" Type="http://schemas.openxmlformats.org/officeDocument/2006/relationships/slide" Target="slides/slide6.xml"/><Relationship Id="rId51"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2.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comments/modernComment_39F_74C3B0CD.xml><?xml version="1.0" encoding="utf-8"?>
<p188:cmLst xmlns:a="http://schemas.openxmlformats.org/drawingml/2006/main" xmlns:r="http://schemas.openxmlformats.org/officeDocument/2006/relationships" xmlns:p188="http://schemas.microsoft.com/office/powerpoint/2018/8/main">
  <p188:cm id="{4716BFB2-CF28-EE40-B65D-1BFD30AB2F25}" authorId="{9FDD7952-A97A-6757-AE5E-0F3D242F1B38}" status="resolved" created="2026-08-18T06:25:59.645" complete="100000">
    <pc:sldMkLst xmlns:pc="http://schemas.microsoft.com/office/powerpoint/2013/main/command">
      <pc:docMk/>
      <pc:sldMk cId="1958981837" sldId="927"/>
    </pc:sldMkLst>
    <p188:txBody>
      <a:bodyPr/>
      <a:lstStyle/>
      <a:p>
        <a:r>
          <a:rPr lang="en-CH"/>
          <a:t>Nice figure, thanks </a:t>
        </a:r>
      </a:p>
    </p188:txBody>
  </p188:cm>
</p188:cmLst>
</file>

<file path=ppt/comments/modernComment_365_755CA4F0.xml><?xml version="1.0" encoding="utf-8"?>
<p188:cmLst xmlns:a="http://schemas.openxmlformats.org/drawingml/2006/main" xmlns:r="http://schemas.openxmlformats.org/officeDocument/2006/relationships" xmlns:p188="http://schemas.microsoft.com/office/powerpoint/2018/8/main">
  <p188:cm id="{7BDDA8E9-733F-B94B-8CD0-400E70C08848}" authorId="{9FDD7952-A97A-6757-AE5E-0F3D242F1B38}" created="2026-08-18T06:21:06.029">
    <ac:txMkLst xmlns:ac="http://schemas.microsoft.com/office/drawing/2013/main/command">
      <pc:docMk xmlns:pc="http://schemas.microsoft.com/office/powerpoint/2013/main/command"/>
      <pc:sldMk xmlns:pc="http://schemas.microsoft.com/office/powerpoint/2013/main/command" cId="1969005808" sldId="869"/>
      <ac:spMk id="3" creationId="{0FEE021B-76D9-C051-CFA4-C70A4965C118}"/>
      <ac:txMk cp="0" len="21">
        <ac:context len="22" hash="1889095984"/>
      </ac:txMk>
    </ac:txMkLst>
    <p188:pos x="12322629" y="827314"/>
    <p188:txBody>
      <a:bodyPr/>
      <a:lstStyle/>
      <a:p>
        <a:r>
          <a:rPr lang="en-CH"/>
          <a:t>Way cooler! Thanks. 
I still think that having separate box is slightly preferable for offline view. We can point people slide-X shape-Y to showcase the case. With the animation, we cannot do that as people needs to replay the animation. </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30T16:14:48.742"/>
    </inkml:context>
    <inkml:brush xml:id="br0">
      <inkml:brushProperty name="width" value="0.1" units="cm"/>
      <inkml:brushProperty name="height" value="0.1" units="cm"/>
    </inkml:brush>
  </inkml:definitions>
  <inkml:trace contextRef="#ctx0" brushRef="#br0">45576 19133 16383 0 0,'2'2'0'0'0,"1"1"0"0"0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30T16:14:48.743"/>
    </inkml:context>
    <inkml:brush xml:id="br0">
      <inkml:brushProperty name="width" value="0.1" units="cm"/>
      <inkml:brushProperty name="height" value="0.1" units="cm"/>
    </inkml:brush>
  </inkml:definitions>
  <inkml:trace contextRef="#ctx0" brushRef="#br0">26042 15522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30T16:14:48.744"/>
    </inkml:context>
    <inkml:brush xml:id="br0">
      <inkml:brushProperty name="width" value="0.1" units="cm"/>
      <inkml:brushProperty name="height" value="0.1" units="cm"/>
    </inkml:brush>
  </inkml:definitions>
  <inkml:trace contextRef="#ctx0" brushRef="#br0">35332 18476 16383 0 0,'-2'0'0'0'0,"-1"0"0"0"0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30T16:14:48.745"/>
    </inkml:context>
    <inkml:brush xml:id="br0">
      <inkml:brushProperty name="width" value="0.1" units="cm"/>
      <inkml:brushProperty name="height" value="0.1" units="cm"/>
    </inkml:brush>
  </inkml:definitions>
  <inkml:trace contextRef="#ctx0" brushRef="#br0">18578 5121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30T16:14:48.746"/>
    </inkml:context>
    <inkml:brush xml:id="br0">
      <inkml:brushProperty name="width" value="0.1" units="cm"/>
      <inkml:brushProperty name="height" value="0.1" units="cm"/>
    </inkml:brush>
  </inkml:definitions>
  <inkml:trace contextRef="#ctx0" brushRef="#br0">21093 3121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30T16:14:48.747"/>
    </inkml:context>
    <inkml:brush xml:id="br0">
      <inkml:brushProperty name="width" value="0.1" units="cm"/>
      <inkml:brushProperty name="height" value="0.1" units="cm"/>
    </inkml:brush>
  </inkml:definitions>
  <inkml:trace contextRef="#ctx0" brushRef="#br0">21093 3121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30T16:14:48.748"/>
    </inkml:context>
    <inkml:brush xml:id="br0">
      <inkml:brushProperty name="width" value="0.1" units="cm"/>
      <inkml:brushProperty name="height" value="0.1" units="cm"/>
    </inkml:brush>
  </inkml:definitions>
  <inkml:trace contextRef="#ctx0" brushRef="#br0">32150 24346 16383 0 0,'0'0'0'0'0</inkml:trace>
</inkml:ink>
</file>

<file path=ppt/notesMasters/_rels/notesMaster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1pPr>
            <a:lvl2pPr marL="914400" marR="0" lvl="1"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2pPr>
            <a:lvl3pPr marL="1371600" marR="0" lvl="2"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3pPr>
            <a:lvl4pPr marL="1828800" marR="0" lvl="3"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4pPr>
            <a:lvl5pPr marL="2286000" marR="0" lvl="4" indent="-228600" algn="l" rtl="0">
              <a:spcBef>
                <a:spcPts val="0"/>
              </a:spcBef>
              <a:spcAft>
                <a:spcPts val="0"/>
              </a:spcAft>
              <a:buSzPts val="1400"/>
              <a:buNone/>
              <a:defRPr sz="1200" b="0" i="0" u="none" strike="noStrike" cap="none">
                <a:solidFill>
                  <a:schemeClr val="dk1"/>
                </a:solidFill>
                <a:latin typeface="NVIDIA Sans"/>
                <a:ea typeface="NVIDIA Sans"/>
                <a:cs typeface="NVIDIA Sans"/>
                <a:sym typeface="NVIDIA Sans"/>
              </a:defRPr>
            </a:lvl5pPr>
            <a:lvl6pPr marL="2743200" marR="0" lvl="5" indent="-228600" algn="l" rtl="0">
              <a:spcBef>
                <a:spcPts val="0"/>
              </a:spcBef>
              <a:spcAft>
                <a:spcPts val="0"/>
              </a:spcAft>
              <a:buSzPts val="1400"/>
              <a:buNone/>
              <a:defRPr sz="3600" b="0" i="0" u="none" strike="noStrike" cap="none">
                <a:solidFill>
                  <a:schemeClr val="dk1"/>
                </a:solidFill>
                <a:latin typeface="NVIDIA Sans"/>
                <a:ea typeface="NVIDIA Sans"/>
                <a:cs typeface="NVIDIA Sans"/>
                <a:sym typeface="NVIDIA Sans"/>
              </a:defRPr>
            </a:lvl6pPr>
            <a:lvl7pPr marL="3200400" marR="0" lvl="6" indent="-228600" algn="l" rtl="0">
              <a:spcBef>
                <a:spcPts val="0"/>
              </a:spcBef>
              <a:spcAft>
                <a:spcPts val="0"/>
              </a:spcAft>
              <a:buSzPts val="1400"/>
              <a:buNone/>
              <a:defRPr sz="3600" b="0" i="0" u="none" strike="noStrike" cap="none">
                <a:solidFill>
                  <a:schemeClr val="dk1"/>
                </a:solidFill>
                <a:latin typeface="NVIDIA Sans"/>
                <a:ea typeface="NVIDIA Sans"/>
                <a:cs typeface="NVIDIA Sans"/>
                <a:sym typeface="NVIDIA Sans"/>
              </a:defRPr>
            </a:lvl7pPr>
            <a:lvl8pPr marL="3657600" marR="0" lvl="7" indent="-228600" algn="l" rtl="0">
              <a:spcBef>
                <a:spcPts val="0"/>
              </a:spcBef>
              <a:spcAft>
                <a:spcPts val="0"/>
              </a:spcAft>
              <a:buSzPts val="1400"/>
              <a:buNone/>
              <a:defRPr sz="3600" b="0" i="0" u="none" strike="noStrike" cap="none">
                <a:solidFill>
                  <a:schemeClr val="dk1"/>
                </a:solidFill>
                <a:latin typeface="NVIDIA Sans"/>
                <a:ea typeface="NVIDIA Sans"/>
                <a:cs typeface="NVIDIA Sans"/>
                <a:sym typeface="NVIDIA Sans"/>
              </a:defRPr>
            </a:lvl8pPr>
            <a:lvl9pPr marL="4114800" marR="0" lvl="8" indent="-228600" algn="l" rtl="0">
              <a:spcBef>
                <a:spcPts val="0"/>
              </a:spcBef>
              <a:spcAft>
                <a:spcPts val="0"/>
              </a:spcAft>
              <a:buSzPts val="1400"/>
              <a:buNone/>
              <a:defRPr sz="3600" b="0" i="0" u="none" strike="noStrike" cap="none">
                <a:solidFill>
                  <a:schemeClr val="dk1"/>
                </a:solidFill>
                <a:latin typeface="NVIDIA Sans"/>
                <a:ea typeface="NVIDIA Sans"/>
                <a:cs typeface="NVIDIA Sans"/>
                <a:sym typeface="NVIDIA Sans"/>
              </a:defRPr>
            </a:lvl9pPr>
          </a:lstStyle>
          <a:p>
            <a:endParaRPr/>
          </a:p>
        </p:txBody>
      </p:sp>
      <p:pic>
        <p:nvPicPr>
          <p:cNvPr id="5" name="Google Shape;5;n"/>
          <p:cNvPicPr preferRelativeResize="0"/>
          <p:nvPr/>
        </p:nvPicPr>
        <p:blipFill rotWithShape="1">
          <a:blip r:embed="rId2">
            <a:alphaModFix/>
          </a:blip>
          <a:srcRect/>
          <a:stretch/>
        </p:blipFill>
        <p:spPr>
          <a:xfrm>
            <a:off x="102174" y="8697011"/>
            <a:ext cx="1019352" cy="359605"/>
          </a:xfrm>
          <a:prstGeom prst="rect">
            <a:avLst/>
          </a:prstGeom>
          <a:noFill/>
          <a:ln>
            <a:noFill/>
          </a:ln>
        </p:spPr>
      </p:pic>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orient="horz" pos="2880">
          <p15:clr>
            <a:srgbClr val="F26B43"/>
          </p15:clr>
        </p15:guide>
        <p15:guide id="2" pos="216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2" name="Google Shape;5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49978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49978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a:extLst>
            <a:ext uri="{FF2B5EF4-FFF2-40B4-BE49-F238E27FC236}">
              <a16:creationId xmlns:a16="http://schemas.microsoft.com/office/drawing/2014/main" id="{B82B23DB-C5C2-923B-006E-62FB4A7CA6C4}"/>
            </a:ext>
          </a:extLst>
        </p:cNvPr>
        <p:cNvGrpSpPr/>
        <p:nvPr/>
      </p:nvGrpSpPr>
      <p:grpSpPr>
        <a:xfrm>
          <a:off x="0" y="0"/>
          <a:ext cx="0" cy="0"/>
          <a:chOff x="0" y="0"/>
          <a:chExt cx="0" cy="0"/>
        </a:xfrm>
      </p:grpSpPr>
      <p:sp>
        <p:nvSpPr>
          <p:cNvPr id="563" name="Google Shape;563;p6:notes">
            <a:extLst>
              <a:ext uri="{FF2B5EF4-FFF2-40B4-BE49-F238E27FC236}">
                <a16:creationId xmlns:a16="http://schemas.microsoft.com/office/drawing/2014/main" id="{1C68C024-63AF-DC40-C215-C79CEC782D0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6:notes">
            <a:extLst>
              <a:ext uri="{FF2B5EF4-FFF2-40B4-BE49-F238E27FC236}">
                <a16:creationId xmlns:a16="http://schemas.microsoft.com/office/drawing/2014/main" id="{DF3EC88F-6EAC-2F61-BFDA-3E6604C07F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7224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f6ef20af7e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1" name="Google Shape;601;g3f6ef20af7e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68B17-3130-CA27-960D-CC9D6BC46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FA163-3CEE-95EC-D78D-45EA1217A6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22706E-1BCC-0E75-5335-447AEF6AF26A}"/>
              </a:ext>
            </a:extLst>
          </p:cNvPr>
          <p:cNvSpPr>
            <a:spLocks noGrp="1"/>
          </p:cNvSpPr>
          <p:nvPr>
            <p:ph type="body" sz="quarter" idx="3"/>
          </p:nvPr>
        </p:nvSpPr>
        <p:spPr/>
        <p:txBody>
          <a:bodyPr/>
          <a:lstStyle/>
          <a:p>
            <a:r>
              <a:t>What is going on</a:t>
            </a:r>
          </a:p>
          <a:p>
            <a:endParaRPr/>
          </a:p>
          <a:p>
            <a:r>
              <a:t>n is a runtime value, so the loop has to become an </a:t>
            </a:r>
            <a:r>
              <a:rPr err="1"/>
              <a:t>scf.for</a:t>
            </a:r>
            <a:r>
              <a:t> in the IR - it cannot be unrolled while tracing. Inside it we mutate three things: a local (tot), an attribute of an ordinary Python object (</a:t>
            </a:r>
            <a:r>
              <a:rPr err="1"/>
              <a:t>s.c</a:t>
            </a:r>
            <a:r>
              <a:t>), and an entry of an ordinary Python </a:t>
            </a:r>
            <a:r>
              <a:rPr err="1"/>
              <a:t>dict</a:t>
            </a:r>
            <a:r>
              <a:t> (</a:t>
            </a:r>
            <a:r>
              <a:rPr err="1"/>
              <a:t>s.bins</a:t>
            </a:r>
            <a:r>
              <a:t>["hi"]).</a:t>
            </a:r>
          </a:p>
          <a:p>
            <a:endParaRPr/>
          </a:p>
          <a:p>
            <a:r>
              <a:t>tot is already a DSL value, so it takes care of itself. </a:t>
            </a:r>
            <a:r>
              <a:rPr err="1"/>
              <a:t>s.c</a:t>
            </a:r>
            <a:r>
              <a:t> and </a:t>
            </a:r>
            <a:r>
              <a:rPr err="1"/>
              <a:t>s.bins</a:t>
            </a:r>
            <a:r>
              <a:t>["hi"] are plain Python </a:t>
            </a:r>
            <a:r>
              <a:rPr err="1"/>
              <a:t>ints</a:t>
            </a:r>
            <a:r>
              <a:t> living on a host object. Written as-is, </a:t>
            </a:r>
            <a:r>
              <a:rPr err="1"/>
              <a:t>CPython</a:t>
            </a:r>
            <a:r>
              <a:t> would execute those two += statements itself, once, and nothing about them would reach the IR.</a:t>
            </a:r>
          </a:p>
        </p:txBody>
      </p:sp>
    </p:spTree>
    <p:extLst>
      <p:ext uri="{BB962C8B-B14F-4D97-AF65-F5344CB8AC3E}">
        <p14:creationId xmlns:p14="http://schemas.microsoft.com/office/powerpoint/2010/main" val="1898809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is going on</a:t>
            </a:r>
          </a:p>
          <a:p>
            <a:endParaRPr/>
          </a:p>
          <a:p>
            <a:r>
              <a:t>Every mutation is now an explicit read and an explicit write that the runtime owns, addressed by an (owner, slot) pair - owner=s, </a:t>
            </a:r>
            <a:r>
              <a:rPr err="1"/>
              <a:t>slot_name</a:t>
            </a:r>
            <a:r>
              <a:t>='c' for the attribute, owner=_pyir_cont_3, </a:t>
            </a:r>
            <a:r>
              <a:rPr err="1"/>
              <a:t>slot_name</a:t>
            </a:r>
            <a:r>
              <a:t>='hi' for the </a:t>
            </a:r>
            <a:r>
              <a:rPr err="1"/>
              <a:t>dict</a:t>
            </a:r>
            <a:r>
              <a:t> entry. The two get the same treatment; a </a:t>
            </a:r>
            <a:r>
              <a:rPr err="1"/>
              <a:t>dict</a:t>
            </a:r>
            <a:r>
              <a:t> you cannot subclass and an attribute of a user class go down one path.</a:t>
            </a:r>
          </a:p>
          <a:p>
            <a:endParaRPr/>
          </a:p>
          <a:p>
            <a:r>
              <a:t>The loop became a function with two decorators. They declare, before the body runs, what the loop writes: </a:t>
            </a:r>
            <a:r>
              <a:rPr err="1"/>
              <a:t>write_args_names</a:t>
            </a:r>
            <a:r>
              <a:t>=['s', 'tot'] for the locals and </a:t>
            </a:r>
            <a:r>
              <a:rPr err="1"/>
              <a:t>pyir_tag_region_attr_writes</a:t>
            </a:r>
            <a:r>
              <a:t>((('s', 'c'),), ()) for the attribute.</a:t>
            </a:r>
          </a:p>
          <a:p>
            <a:endParaRPr/>
          </a:p>
          <a:p>
            <a:r>
              <a:t>Note what is NOT declared - </a:t>
            </a:r>
            <a:r>
              <a:rPr err="1"/>
              <a:t>s.bins</a:t>
            </a:r>
            <a:r>
              <a:t>['hi']. A subscript key is a value, not a name, so it cannot be named in advance; it is discovered while the body runs, and it is the only one of the three that prints a promotion notice.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is going on</a:t>
            </a:r>
          </a:p>
          <a:p>
            <a:endParaRPr/>
          </a:p>
          <a:p>
            <a:r>
              <a:t>Three </a:t>
            </a:r>
            <a:r>
              <a:rPr err="1"/>
              <a:t>pyir.ref</a:t>
            </a:r>
            <a:r>
              <a:t> ops mint three cells - mutable boxes, one per mutated thing. Every read is a </a:t>
            </a:r>
            <a:r>
              <a:rPr err="1"/>
              <a:t>pyir.load</a:t>
            </a:r>
            <a:r>
              <a:t>, every write a </a:t>
            </a:r>
            <a:r>
              <a:rPr err="1"/>
              <a:t>pyir.store</a:t>
            </a:r>
            <a:r>
              <a:t>.</a:t>
            </a:r>
          </a:p>
          <a:p>
            <a:endParaRPr/>
          </a:p>
          <a:p>
            <a:r>
              <a:t>Look at the loop header: </a:t>
            </a:r>
            <a:r>
              <a:rPr err="1"/>
              <a:t>scf.for</a:t>
            </a:r>
            <a:r>
              <a:t> with no iteration arguments and no results. Tracing does not answer "what does this loop carry?" It cannot: it is one pass, and it would have to commit the loop's signature before seeing the stores inside. So it declines, and puts the state in cells instead, where any statement at any depth can write without the enclosing region knowing.</a:t>
            </a:r>
          </a:p>
          <a:p>
            <a:endParaRPr/>
          </a:p>
          <a:p>
            <a:r>
              <a:t>The payoff is on the previous slide: three values that arrived by three different routes are three identical cells here.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DD0DF-A7FC-794B-CE97-6DD86D745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B5614-F592-91F9-84A7-15D48056E4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07CD3-1659-8922-FE63-CCAED9E2749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99681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a:extLst>
            <a:ext uri="{FF2B5EF4-FFF2-40B4-BE49-F238E27FC236}">
              <a16:creationId xmlns:a16="http://schemas.microsoft.com/office/drawing/2014/main" id="{259B162F-8A18-5399-C0A4-14957112964A}"/>
            </a:ext>
          </a:extLst>
        </p:cNvPr>
        <p:cNvGrpSpPr/>
        <p:nvPr/>
      </p:nvGrpSpPr>
      <p:grpSpPr>
        <a:xfrm>
          <a:off x="0" y="0"/>
          <a:ext cx="0" cy="0"/>
          <a:chOff x="0" y="0"/>
          <a:chExt cx="0" cy="0"/>
        </a:xfrm>
      </p:grpSpPr>
      <p:sp>
        <p:nvSpPr>
          <p:cNvPr id="563" name="Google Shape;563;p6:notes">
            <a:extLst>
              <a:ext uri="{FF2B5EF4-FFF2-40B4-BE49-F238E27FC236}">
                <a16:creationId xmlns:a16="http://schemas.microsoft.com/office/drawing/2014/main" id="{7DED6736-743A-3A48-4CC3-A3EF7AEBDF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6:notes">
            <a:extLst>
              <a:ext uri="{FF2B5EF4-FFF2-40B4-BE49-F238E27FC236}">
                <a16:creationId xmlns:a16="http://schemas.microsoft.com/office/drawing/2014/main" id="{7E5C567E-5408-4FE8-32EF-ED62E6342A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353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a:extLst>
            <a:ext uri="{FF2B5EF4-FFF2-40B4-BE49-F238E27FC236}">
              <a16:creationId xmlns:a16="http://schemas.microsoft.com/office/drawing/2014/main" id="{8458AAFD-9452-F254-5571-FF917F4DBF99}"/>
            </a:ext>
          </a:extLst>
        </p:cNvPr>
        <p:cNvGrpSpPr/>
        <p:nvPr/>
      </p:nvGrpSpPr>
      <p:grpSpPr>
        <a:xfrm>
          <a:off x="0" y="0"/>
          <a:ext cx="0" cy="0"/>
          <a:chOff x="0" y="0"/>
          <a:chExt cx="0" cy="0"/>
        </a:xfrm>
      </p:grpSpPr>
      <p:sp>
        <p:nvSpPr>
          <p:cNvPr id="1390" name="Google Shape;1390;g3f60e32ac03_1_932:notes">
            <a:extLst>
              <a:ext uri="{FF2B5EF4-FFF2-40B4-BE49-F238E27FC236}">
                <a16:creationId xmlns:a16="http://schemas.microsoft.com/office/drawing/2014/main" id="{9C1E892C-8D7A-3009-AC74-B6C42B3F4D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1" name="Google Shape;1391;g3f60e32ac03_1_932:notes">
            <a:extLst>
              <a:ext uri="{FF2B5EF4-FFF2-40B4-BE49-F238E27FC236}">
                <a16:creationId xmlns:a16="http://schemas.microsoft.com/office/drawing/2014/main" id="{7664E892-8C67-E743-7242-D0B449FFD6A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2" name="Google Shape;1392;g3f60e32ac03_1_932:notes">
            <a:extLst>
              <a:ext uri="{FF2B5EF4-FFF2-40B4-BE49-F238E27FC236}">
                <a16:creationId xmlns:a16="http://schemas.microsoft.com/office/drawing/2014/main" id="{BA937958-BCBD-6837-045C-9F961FEDC54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21</a:t>
            </a:fld>
            <a:endParaRPr/>
          </a:p>
        </p:txBody>
      </p:sp>
    </p:spTree>
    <p:extLst>
      <p:ext uri="{BB962C8B-B14F-4D97-AF65-F5344CB8AC3E}">
        <p14:creationId xmlns:p14="http://schemas.microsoft.com/office/powerpoint/2010/main" val="2036295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a:extLst>
            <a:ext uri="{FF2B5EF4-FFF2-40B4-BE49-F238E27FC236}">
              <a16:creationId xmlns:a16="http://schemas.microsoft.com/office/drawing/2014/main" id="{F6FEB5F1-A8BD-5004-3955-7710551B876B}"/>
            </a:ext>
          </a:extLst>
        </p:cNvPr>
        <p:cNvGrpSpPr/>
        <p:nvPr/>
      </p:nvGrpSpPr>
      <p:grpSpPr>
        <a:xfrm>
          <a:off x="0" y="0"/>
          <a:ext cx="0" cy="0"/>
          <a:chOff x="0" y="0"/>
          <a:chExt cx="0" cy="0"/>
        </a:xfrm>
      </p:grpSpPr>
      <p:sp>
        <p:nvSpPr>
          <p:cNvPr id="1390" name="Google Shape;1390;g3f60e32ac03_1_932:notes">
            <a:extLst>
              <a:ext uri="{FF2B5EF4-FFF2-40B4-BE49-F238E27FC236}">
                <a16:creationId xmlns:a16="http://schemas.microsoft.com/office/drawing/2014/main" id="{01AE7F07-B439-4EDA-91E3-E395F96325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1" name="Google Shape;1391;g3f60e32ac03_1_932:notes">
            <a:extLst>
              <a:ext uri="{FF2B5EF4-FFF2-40B4-BE49-F238E27FC236}">
                <a16:creationId xmlns:a16="http://schemas.microsoft.com/office/drawing/2014/main" id="{40C8AD64-BB9A-9C77-9860-0FFADAB3BB8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2" name="Google Shape;1392;g3f60e32ac03_1_932:notes">
            <a:extLst>
              <a:ext uri="{FF2B5EF4-FFF2-40B4-BE49-F238E27FC236}">
                <a16:creationId xmlns:a16="http://schemas.microsoft.com/office/drawing/2014/main" id="{BA0CEA1E-9645-2E5F-7E91-E1136441A06A}"/>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22</a:t>
            </a:fld>
            <a:endParaRPr/>
          </a:p>
        </p:txBody>
      </p:sp>
    </p:spTree>
    <p:extLst>
      <p:ext uri="{BB962C8B-B14F-4D97-AF65-F5344CB8AC3E}">
        <p14:creationId xmlns:p14="http://schemas.microsoft.com/office/powerpoint/2010/main" val="3907617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a:extLst>
            <a:ext uri="{FF2B5EF4-FFF2-40B4-BE49-F238E27FC236}">
              <a16:creationId xmlns:a16="http://schemas.microsoft.com/office/drawing/2014/main" id="{AE72DB8F-A042-82AC-0011-802401571FCD}"/>
            </a:ext>
          </a:extLst>
        </p:cNvPr>
        <p:cNvGrpSpPr/>
        <p:nvPr/>
      </p:nvGrpSpPr>
      <p:grpSpPr>
        <a:xfrm>
          <a:off x="0" y="0"/>
          <a:ext cx="0" cy="0"/>
          <a:chOff x="0" y="0"/>
          <a:chExt cx="0" cy="0"/>
        </a:xfrm>
      </p:grpSpPr>
      <p:sp>
        <p:nvSpPr>
          <p:cNvPr id="691" name="Google Shape;691;g3f6ef20af7e_0_11241:notes">
            <a:extLst>
              <a:ext uri="{FF2B5EF4-FFF2-40B4-BE49-F238E27FC236}">
                <a16:creationId xmlns:a16="http://schemas.microsoft.com/office/drawing/2014/main" id="{94BD98F9-9931-122F-767D-9EAB885F3105}"/>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g3f6ef20af7e_0_11241:notes">
            <a:extLst>
              <a:ext uri="{FF2B5EF4-FFF2-40B4-BE49-F238E27FC236}">
                <a16:creationId xmlns:a16="http://schemas.microsoft.com/office/drawing/2014/main" id="{2E0466BE-906D-DB98-5945-96BD8DA048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0513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pPr algn="l"/>
            <a:r>
              <a:rPr lang="en-US" sz="1200"/>
              <a:t>USER LINES</a:t>
            </a:r>
          </a:p>
          <a:p>
            <a:pPr algn="l"/>
            <a:r>
              <a:rPr lang="en-US" sz="1200"/>
              <a:t>C++: cutlass/examples/cute/tutorial/sgemm_sm80.cu:184.</a:t>
            </a:r>
          </a:p>
          <a:p>
            <a:pPr algn="l"/>
            <a:r>
              <a:rPr lang="en-US" sz="1200"/>
              <a:t>Python: cutlasspy/examples/sm80/gemm/gemm_grouped.py:77 (byte-identical at gemm_batched.py:84 and gemm_gather_scatter.py:101).</a:t>
            </a:r>
          </a:p>
          <a:p>
            <a:pPr algn="l"/>
            <a:endParaRPr lang="en-US" sz="1200"/>
          </a:p>
          <a:p>
            <a:pPr algn="l"/>
            <a:r>
              <a:rPr lang="en-US" sz="1200"/>
              <a:t>EXCERPT SOURCES</a:t>
            </a:r>
          </a:p>
          <a:p>
            <a:pPr algn="l"/>
            <a:r>
              <a:rPr lang="en-US" sz="1200"/>
              <a:t>TiledCopy::retile: cutlass/include/cute/atom/copy_atom.hpp:286-318 (33 lines). Elisions: the comment block at 292-296 and the divider at 306. The ThrCopy::retile_D wrapper is copy_atom.hpp:396-403; line 402 rebuilds the tensor on the SAME data pointer: make_tensor(...data(), TiledCopy::retile(...)).</a:t>
            </a:r>
          </a:p>
          <a:p>
            <a:pPr algn="l"/>
            <a:r>
              <a:rPr lang="en-US" sz="1200"/>
              <a:t>Both elisions are argument-legality refusals. C++ states the same preconditions as comments at copy_atom.hpp:285 and 292-296, but enforces only the divisibility one (static asserts in upcast / composition, layout.hpp:1867 and 1109); the reference-frame precondition is comment-only in C++, so cutlasspy's retile_S refusal enforces what CuTe merely documents. ThrCopy.retile_S / retile_D wrappers: tiled.py:212-222.</a:t>
            </a:r>
          </a:p>
          <a:p>
            <a:pPr algn="l"/>
            <a:endParaRPr lang="en-US" sz="1200"/>
          </a:p>
          <a:p>
            <a:pPr algn="l"/>
            <a:r>
              <a:rPr lang="en-US" sz="1200"/>
              <a:t>DECK ANNOTATIONS ON THIS FACE (added, not in source)</a:t>
            </a:r>
          </a:p>
          <a:p>
            <a:pPr algn="l"/>
            <a:r>
              <a:rPr lang="en-US" sz="1200"/>
              <a:t>The ten trailing pycute arrow comments, the block labels, the user-kernel labels, and the angle-bracket elision markers. Every other token is verbatim, including the three (m, n) comments, which are the source's own.</a:t>
            </a:r>
          </a:p>
          <a:p>
            <a:pPr algn="l"/>
            <a:endParaRPr lang="en-US" sz="1200"/>
          </a:p>
          <a:p>
            <a:pPr algn="l"/>
            <a:r>
              <a:rPr lang="en-US" sz="1200"/>
              <a:t>MARK VERIFICATION (definition site of every marked name, all under vendor/pycute/pycute/ unless said otherwise; imported into tiled.py at lines 8-25)</a:t>
            </a:r>
          </a:p>
          <a:p>
            <a:pPr algn="l"/>
            <a:r>
              <a:rPr lang="en-US" sz="1200"/>
              <a:t>size: shape.py:32. shape: shape.py:17.</a:t>
            </a:r>
          </a:p>
          <a:p>
            <a:pPr algn="l"/>
            <a:r>
              <a:rPr lang="en-US" sz="1200"/>
              <a:t>pycute_recast: layout.py:571 (aliased from pycute recast at tiled.py:23).</a:t>
            </a:r>
          </a:p>
          <a:p>
            <a:pPr algn="l"/>
            <a:r>
              <a:rPr lang="en-US" sz="1200"/>
              <a:t>composition: algebra.py:80. right_inverse: algebra.py:118.</a:t>
            </a:r>
          </a:p>
          <a:p>
            <a:pPr algn="l"/>
            <a:r>
              <a:rPr lang="en-US" sz="1200"/>
              <a:t>Layout: layout.py:31. zipped_divide: algebra.py:309.</a:t>
            </a:r>
          </a:p>
          <a:p>
            <a:pPr algn="l"/>
            <a:r>
              <a:rPr lang="en-US" sz="1200"/>
              <a:t>logical_product: algebra.py:239.</a:t>
            </a:r>
          </a:p>
          <a:p>
            <a:pPr algn="l"/>
            <a:r>
              <a:rPr lang="en-US" sz="1200"/>
              <a:t>product_each: htuple.py:247 (imported at tiled.py:25).</a:t>
            </a:r>
          </a:p>
          <a:p>
            <a:pPr algn="l"/>
            <a:r>
              <a:rPr lang="en-US" sz="1200"/>
              <a:t>_offset_and_slice: layout.py:115, a method on the pycute Layout that composition returned.</a:t>
            </a:r>
          </a:p>
          <a:p>
            <a:pPr algn="l"/>
            <a:r>
              <a:rPr lang="en-US" sz="1200"/>
              <a:t>Deliberately unmarked (cutlasspy-own, not pycute): top_modes, defined at src/cutlasspy/tensor.py:979 and imported at tiled.py:52; frag.layout; tiled.atom.num_val; and the closing type(frag)(...) rebuild.</a:t>
            </a:r>
          </a:p>
          <a:p>
            <a:pPr algn="l"/>
            <a:endParaRPr lang="en-US" sz="1200"/>
          </a:p>
          <a:p>
            <a:pPr algn="l"/>
            <a:r>
              <a:rPr lang="en-US" sz="1200"/>
              <a:t>TWIN MAP (talk track, one row per line pair)</a:t>
            </a:r>
          </a:p>
          <a:p>
            <a:pPr algn="l"/>
            <a:r>
              <a:rPr lang="en-US" sz="1200"/>
              <a:t>1. upcast&lt;TiledNumThr{} * V&gt;(right_inverse(TiledLayout_TV{}).with_shape(shape(Tiler_MN{})))  -&gt;  pycute_recast(composition(right_inverse(tiled.layout_tv), Layout(tuple(tiled.tiler))), thr_n * v)</a:t>
            </a:r>
          </a:p>
          <a:p>
            <a:pPr algn="l"/>
            <a:r>
              <a:rPr lang="en-US" sz="1200"/>
              <a:t>2. zipped_divide(logical_product(make_layout(V), right_inverse(frg_layout_mn)), make_layout(AtomNumVal{}))  -&gt;  zipped_divide(logical_product(Layout(v), right_inverse(frg_mn)), Layout(atom_val))</a:t>
            </a:r>
          </a:p>
          <a:p>
            <a:pPr algn="l"/>
            <a:r>
              <a:rPr lang="en-US" sz="1200"/>
              <a:t>3. prepend(product_each(shape(frg_layout_mn)), V)  -&gt;  (v,) + tuple(product_each(shape(frg_mn)))</a:t>
            </a:r>
          </a:p>
          <a:p>
            <a:pPr algn="l"/>
            <a:r>
              <a:rPr lang="en-US" sz="1200"/>
              <a:t>4. zipped_divide(tensor, ...)  -&gt;  t_lay = zipped_divide(lay, tiler)</a:t>
            </a:r>
          </a:p>
          <a:p>
            <a:pPr algn="l"/>
            <a:r>
              <a:rPr lang="en-US" sz="1200"/>
              <a:t>5. t_tensor.compose(frg_layout_v, _)  -&gt;  composition(t_lay, (frg_v, None))</a:t>
            </a:r>
          </a:p>
          <a:p>
            <a:pPr algn="l"/>
            <a:r>
              <a:rPr lang="en-US" sz="1200"/>
              <a:t>6. v_tensor(_, append&lt;R&gt;(Int&lt;0&gt;{},_))  -&gt;  v_lay._offset_and_slice((None, (0,) + (None,) * (r - 1)))</a:t>
            </a:r>
          </a:p>
          <a:p>
            <a:pPr algn="l"/>
            <a:endParaRPr lang="en-US" sz="1200"/>
          </a:p>
          <a:p>
            <a:pPr algn="l"/>
            <a:r>
              <a:rPr lang="en-US" sz="1200"/>
              <a:t>NAMING NOTE</a:t>
            </a:r>
          </a:p>
          <a:p>
            <a:pPr algn="l"/>
            <a:r>
              <a:rPr lang="en-US" sz="1200"/>
              <a:t>pycute recast(layout, thr_n * v) plays the role of C++ upcast&lt;TiledNumThr{} * V&gt;: both pack thr_n * v consecutive TV indices per group, turning the (m,n) to TV-index map into an (m,n) to v-group-index map (vendor/pycute/pycute/layout.py:571-604; C++ with_shape corresponds to the composition(..., Layout(tuple(tiled.tiler))) reshape). The zipped_divide on this face is pycute's own (imported at tiled.py:21), and both right_inverse calls run on trace-time layouts.</a:t>
            </a:r>
          </a:p>
          <a:p>
            <a:pPr algn="l"/>
            <a:endParaRPr lang="en-US" sz="1200"/>
          </a:p>
          <a:p>
            <a:pPr algn="l"/>
            <a:r>
              <a:rPr lang="en-US" sz="1200"/>
              <a:t>STAGED-VALUE ANGLE (why this is the static-side complement of the staged-values slide)</a:t>
            </a:r>
          </a:p>
          <a:p>
            <a:pPr algn="l"/>
            <a:r>
              <a:rPr lang="en-US" sz="1200"/>
              <a:t>Every layout in this op is trace-time: the fragment layout, the TV arrangement, the tiler. The only staged object is frag.iterator, which is returned unchanged at tiled.py:265-266 after assert offset == 0 at 264: zero kernel ops emitted, matching the C++ wrapper's same-pointer make_tensor at copy_atom.hpp:402. The staged-values slide shows a staged value riding unchanged library math; this slide shows trace-time math re-viewing staged storage without touching it.</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ont Test">
  <p:cSld name="Font Test">
    <p:spTree>
      <p:nvGrpSpPr>
        <p:cNvPr id="1" name="Shape 12"/>
        <p:cNvGrpSpPr/>
        <p:nvPr/>
      </p:nvGrpSpPr>
      <p:grpSpPr>
        <a:xfrm>
          <a:off x="0" y="0"/>
          <a:ext cx="0" cy="0"/>
          <a:chOff x="0" y="0"/>
          <a:chExt cx="0" cy="0"/>
        </a:xfrm>
      </p:grpSpPr>
      <p:pic>
        <p:nvPicPr>
          <p:cNvPr id="13" name="Google Shape;13;p2"/>
          <p:cNvPicPr preferRelativeResize="0"/>
          <p:nvPr/>
        </p:nvPicPr>
        <p:blipFill rotWithShape="1">
          <a:blip r:embed="rId2">
            <a:alphaModFix/>
          </a:blip>
          <a:srcRect/>
          <a:stretch/>
        </p:blipFill>
        <p:spPr>
          <a:xfrm>
            <a:off x="26669145" y="10425922"/>
            <a:ext cx="8076057" cy="5608374"/>
          </a:xfrm>
          <a:prstGeom prst="rect">
            <a:avLst/>
          </a:prstGeom>
          <a:noFill/>
          <a:ln>
            <a:noFill/>
          </a:ln>
        </p:spPr>
      </p:pic>
      <p:sp>
        <p:nvSpPr>
          <p:cNvPr id="14" name="Google Shape;14;p2"/>
          <p:cNvSpPr/>
          <p:nvPr/>
        </p:nvSpPr>
        <p:spPr>
          <a:xfrm>
            <a:off x="18287997" y="10420755"/>
            <a:ext cx="8079105" cy="5607713"/>
          </a:xfrm>
          <a:prstGeom prst="rect">
            <a:avLst/>
          </a:prstGeom>
          <a:solidFill>
            <a:schemeClr val="accent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endParaRPr sz="3200">
              <a:solidFill>
                <a:schemeClr val="lt1"/>
              </a:solidFill>
              <a:latin typeface="NVIDIA Sans"/>
              <a:ea typeface="NVIDIA Sans"/>
              <a:cs typeface="NVIDIA Sans"/>
              <a:sym typeface="NVIDIA Sans"/>
            </a:endParaRPr>
          </a:p>
        </p:txBody>
      </p:sp>
      <p:sp>
        <p:nvSpPr>
          <p:cNvPr id="15" name="Google Shape;15;p2"/>
          <p:cNvSpPr txBox="1">
            <a:spLocks noGrp="1"/>
          </p:cNvSpPr>
          <p:nvPr>
            <p:ph type="body" idx="1"/>
          </p:nvPr>
        </p:nvSpPr>
        <p:spPr>
          <a:xfrm>
            <a:off x="19137627" y="12382072"/>
            <a:ext cx="6616065" cy="310896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SzPts val="7200"/>
              <a:buNone/>
              <a:defRPr sz="7200" b="0">
                <a:solidFill>
                  <a:schemeClr val="dk1"/>
                </a:solidFill>
                <a:latin typeface="NVIDIA Sans"/>
                <a:ea typeface="NVIDIA Sans"/>
                <a:cs typeface="NVIDIA Sans"/>
                <a:sym typeface="NVIDIA Sans"/>
              </a:defRPr>
            </a:lvl1pPr>
            <a:lvl2pPr marL="914400" lvl="1" indent="-342900" algn="l">
              <a:lnSpc>
                <a:spcPct val="90000"/>
              </a:lnSpc>
              <a:spcBef>
                <a:spcPts val="1600"/>
              </a:spcBef>
              <a:spcAft>
                <a:spcPts val="0"/>
              </a:spcAft>
              <a:buSzPts val="1800"/>
              <a:buChar char="•"/>
              <a:defRPr/>
            </a:lvl2pPr>
            <a:lvl3pPr marL="1371600" lvl="2" indent="-342900" algn="l">
              <a:lnSpc>
                <a:spcPct val="90000"/>
              </a:lnSpc>
              <a:spcBef>
                <a:spcPts val="1600"/>
              </a:spcBef>
              <a:spcAft>
                <a:spcPts val="0"/>
              </a:spcAft>
              <a:buSzPts val="180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800"/>
              </a:spcBef>
              <a:spcAft>
                <a:spcPts val="0"/>
              </a:spcAft>
              <a:buSzPts val="1800"/>
              <a:buChar char="•"/>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16" name="Google Shape;16;p2"/>
          <p:cNvSpPr txBox="1">
            <a:spLocks noGrp="1"/>
          </p:cNvSpPr>
          <p:nvPr>
            <p:ph type="body" idx="2"/>
          </p:nvPr>
        </p:nvSpPr>
        <p:spPr>
          <a:xfrm>
            <a:off x="19137627" y="11089410"/>
            <a:ext cx="6616200" cy="1292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8400"/>
              <a:buNone/>
              <a:defRPr sz="8400" b="0">
                <a:solidFill>
                  <a:schemeClr val="dk1"/>
                </a:solidFill>
                <a:latin typeface="NVIDIA Sans Medium"/>
                <a:ea typeface="NVIDIA Sans Medium"/>
                <a:cs typeface="NVIDIA Sans Medium"/>
                <a:sym typeface="NVIDIA Sans Medium"/>
              </a:defRPr>
            </a:lvl1pPr>
            <a:lvl2pPr marL="914400" lvl="1" indent="-342900" algn="l">
              <a:lnSpc>
                <a:spcPct val="90000"/>
              </a:lnSpc>
              <a:spcBef>
                <a:spcPts val="1600"/>
              </a:spcBef>
              <a:spcAft>
                <a:spcPts val="0"/>
              </a:spcAft>
              <a:buSzPts val="1800"/>
              <a:buChar char="•"/>
              <a:defRPr/>
            </a:lvl2pPr>
            <a:lvl3pPr marL="1371600" lvl="2" indent="-342900" algn="l">
              <a:lnSpc>
                <a:spcPct val="90000"/>
              </a:lnSpc>
              <a:spcBef>
                <a:spcPts val="1600"/>
              </a:spcBef>
              <a:spcAft>
                <a:spcPts val="0"/>
              </a:spcAft>
              <a:buSzPts val="180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800"/>
              </a:spcBef>
              <a:spcAft>
                <a:spcPts val="0"/>
              </a:spcAft>
              <a:buSzPts val="1800"/>
              <a:buChar char="•"/>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17" name="Google Shape;17;p2"/>
          <p:cNvSpPr txBox="1"/>
          <p:nvPr/>
        </p:nvSpPr>
        <p:spPr>
          <a:xfrm>
            <a:off x="1828801" y="9052560"/>
            <a:ext cx="13715999" cy="246888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0"/>
              </a:spcBef>
              <a:spcAft>
                <a:spcPts val="0"/>
              </a:spcAft>
              <a:buClr>
                <a:schemeClr val="dk1"/>
              </a:buClr>
              <a:buSzPts val="8800"/>
              <a:buFont typeface="NVIDIA Sans Medium"/>
              <a:buNone/>
            </a:pPr>
            <a:r>
              <a:rPr lang="en-US" sz="8800">
                <a:solidFill>
                  <a:schemeClr val="dk1"/>
                </a:solidFill>
                <a:latin typeface="NVIDIA Sans Medium"/>
                <a:ea typeface="NVIDIA Sans Medium"/>
                <a:cs typeface="NVIDIA Sans Medium"/>
                <a:sym typeface="NVIDIA Sans Medium"/>
              </a:rPr>
              <a:t>Verify Font Installation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Right">
  <p:cSld name="Title, Content Right">
    <p:spTree>
      <p:nvGrpSpPr>
        <p:cNvPr id="1" name="Shape 18"/>
        <p:cNvGrpSpPr/>
        <p:nvPr/>
      </p:nvGrpSpPr>
      <p:grpSpPr>
        <a:xfrm>
          <a:off x="0" y="0"/>
          <a:ext cx="0" cy="0"/>
          <a:chOff x="0" y="0"/>
          <a:chExt cx="0" cy="0"/>
        </a:xfrm>
      </p:grpSpPr>
      <p:sp>
        <p:nvSpPr>
          <p:cNvPr id="19" name="Google Shape;19;p3"/>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0" name="Google Shape;20;p3"/>
          <p:cNvSpPr txBox="1">
            <a:spLocks noGrp="1"/>
          </p:cNvSpPr>
          <p:nvPr>
            <p:ph type="title"/>
          </p:nvPr>
        </p:nvSpPr>
        <p:spPr>
          <a:xfrm>
            <a:off x="1828800" y="9052560"/>
            <a:ext cx="13716000" cy="2468880"/>
          </a:xfrm>
          <a:prstGeom prst="rect">
            <a:avLst/>
          </a:prstGeom>
          <a:noFill/>
          <a:ln>
            <a:noFill/>
          </a:ln>
        </p:spPr>
        <p:txBody>
          <a:bodyPr spcFirstLastPara="1" wrap="square" lIns="0" tIns="45700" rIns="0" bIns="45700" anchor="ctr"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22" name="Google Shape;22;p3"/>
          <p:cNvSpPr txBox="1">
            <a:spLocks noGrp="1"/>
          </p:cNvSpPr>
          <p:nvPr>
            <p:ph type="body" idx="2"/>
          </p:nvPr>
        </p:nvSpPr>
        <p:spPr>
          <a:xfrm>
            <a:off x="18288000" y="2971800"/>
            <a:ext cx="16459200" cy="14630400"/>
          </a:xfrm>
          <a:prstGeom prst="rect">
            <a:avLst/>
          </a:prstGeom>
          <a:noFill/>
          <a:ln>
            <a:noFill/>
          </a:ln>
        </p:spPr>
        <p:txBody>
          <a:bodyPr spcFirstLastPara="1" wrap="square" lIns="0" tIns="45700" rIns="0" bIns="45700" anchor="ctr" anchorCtr="0">
            <a:noAutofit/>
          </a:bodyPr>
          <a:lstStyle>
            <a:lvl1pPr marL="457200" marR="0" lvl="0" indent="-508000" algn="l">
              <a:lnSpc>
                <a:spcPct val="90000"/>
              </a:lnSpc>
              <a:spcBef>
                <a:spcPts val="1600"/>
              </a:spcBef>
              <a:spcAft>
                <a:spcPts val="0"/>
              </a:spcAft>
              <a:buClr>
                <a:schemeClr val="accent1"/>
              </a:buClr>
              <a:buSzPts val="4400"/>
              <a:buFont typeface="Arial"/>
              <a:buChar char="•"/>
              <a:defRPr sz="4400" b="0" i="0" u="none" strike="noStrike" cap="none">
                <a:solidFill>
                  <a:schemeClr val="dk1"/>
                </a:solidFill>
                <a:latin typeface="NVIDIA Sans"/>
                <a:ea typeface="NVIDIA Sans"/>
                <a:cs typeface="NVIDIA Sans"/>
                <a:sym typeface="NVIDIA Sans"/>
              </a:defRPr>
            </a:lvl1pPr>
            <a:lvl2pPr marL="914400" marR="0" lvl="1" indent="-482600" algn="l">
              <a:lnSpc>
                <a:spcPct val="90000"/>
              </a:lnSpc>
              <a:spcBef>
                <a:spcPts val="1600"/>
              </a:spcBef>
              <a:spcAft>
                <a:spcPts val="0"/>
              </a:spcAft>
              <a:buClr>
                <a:schemeClr val="accent1"/>
              </a:buClr>
              <a:buSzPts val="4000"/>
              <a:buFont typeface="NVIDIA Sans"/>
              <a:buChar char="•"/>
              <a:defRPr sz="4000" b="0" i="0" u="none" strike="noStrike" cap="none">
                <a:solidFill>
                  <a:schemeClr val="dk1"/>
                </a:solidFill>
                <a:latin typeface="NVIDIA Sans"/>
                <a:ea typeface="NVIDIA Sans"/>
                <a:cs typeface="NVIDIA Sans"/>
                <a:sym typeface="NVIDIA Sans"/>
              </a:defRPr>
            </a:lvl2pPr>
            <a:lvl3pPr marL="1371600" marR="0" lvl="2" indent="-457200" algn="l">
              <a:lnSpc>
                <a:spcPct val="90000"/>
              </a:lnSpc>
              <a:spcBef>
                <a:spcPts val="1600"/>
              </a:spcBef>
              <a:spcAft>
                <a:spcPts val="0"/>
              </a:spcAft>
              <a:buClr>
                <a:schemeClr val="accent1"/>
              </a:buClr>
              <a:buSzPts val="3600"/>
              <a:buFont typeface="NVIDIA Sans"/>
              <a:buChar char="•"/>
              <a:defRPr sz="3600" b="0" i="0" u="none" strike="noStrike" cap="none">
                <a:solidFill>
                  <a:schemeClr val="dk1"/>
                </a:solidFill>
                <a:latin typeface="NVIDIA Sans"/>
                <a:ea typeface="NVIDIA Sans"/>
                <a:cs typeface="NVIDIA Sans"/>
                <a:sym typeface="NVIDIA Sans"/>
              </a:defRPr>
            </a:lvl3pPr>
            <a:lvl4pPr marL="1828800" marR="0" lvl="3" indent="-431800" algn="l">
              <a:lnSpc>
                <a:spcPct val="90000"/>
              </a:lnSpc>
              <a:spcBef>
                <a:spcPts val="800"/>
              </a:spcBef>
              <a:spcAft>
                <a:spcPts val="0"/>
              </a:spcAft>
              <a:buClr>
                <a:schemeClr val="accent1"/>
              </a:buClr>
              <a:buSzPts val="3200"/>
              <a:buFont typeface="NVIDIA Sans"/>
              <a:buChar char="•"/>
              <a:defRPr sz="3200" b="0" i="0" u="none" strike="noStrike" cap="none">
                <a:solidFill>
                  <a:schemeClr val="dk1"/>
                </a:solidFill>
                <a:latin typeface="NVIDIA Sans"/>
                <a:ea typeface="NVIDIA Sans"/>
                <a:cs typeface="NVIDIA Sans"/>
                <a:sym typeface="NVIDIA Sans"/>
              </a:defRPr>
            </a:lvl4pPr>
            <a:lvl5pPr marL="2286000" marR="0" lvl="4" indent="-431800" algn="l">
              <a:lnSpc>
                <a:spcPct val="90000"/>
              </a:lnSpc>
              <a:spcBef>
                <a:spcPts val="800"/>
              </a:spcBef>
              <a:spcAft>
                <a:spcPts val="0"/>
              </a:spcAft>
              <a:buClr>
                <a:schemeClr val="accent1"/>
              </a:buClr>
              <a:buSzPts val="3200"/>
              <a:buFont typeface="NVIDIA Sans"/>
              <a:buChar char="•"/>
              <a:defRPr sz="3200" b="0" i="0" u="none" strike="noStrike" cap="none">
                <a:solidFill>
                  <a:schemeClr val="dk1"/>
                </a:solidFill>
                <a:latin typeface="NVIDIA Sans"/>
                <a:ea typeface="NVIDIA Sans"/>
                <a:cs typeface="NVIDIA Sans"/>
                <a:sym typeface="NVIDIA Sans"/>
              </a:defRPr>
            </a:lvl5pPr>
            <a:lvl6pPr marL="2743200" marR="0" lvl="5" indent="-431800" algn="l">
              <a:lnSpc>
                <a:spcPct val="90000"/>
              </a:lnSpc>
              <a:spcBef>
                <a:spcPts val="800"/>
              </a:spcBef>
              <a:spcAft>
                <a:spcPts val="0"/>
              </a:spcAft>
              <a:buClr>
                <a:schemeClr val="accent1"/>
              </a:buClr>
              <a:buSzPts val="3200"/>
              <a:buFont typeface="NVIDIA Sans"/>
              <a:buChar char="•"/>
              <a:defRPr sz="3200" b="0" i="0" u="none" strike="noStrike" cap="none">
                <a:solidFill>
                  <a:schemeClr val="dk1"/>
                </a:solidFill>
                <a:latin typeface="NVIDIA Sans"/>
                <a:ea typeface="NVIDIA Sans"/>
                <a:cs typeface="NVIDIA Sans"/>
                <a:sym typeface="NVIDIA Sans"/>
              </a:defRPr>
            </a:lvl6pPr>
            <a:lvl7pPr marL="3200400" marR="0" lvl="6" indent="-419100" algn="l">
              <a:lnSpc>
                <a:spcPct val="90000"/>
              </a:lnSpc>
              <a:spcBef>
                <a:spcPts val="800"/>
              </a:spcBef>
              <a:spcAft>
                <a:spcPts val="0"/>
              </a:spcAft>
              <a:buClr>
                <a:schemeClr val="accent1"/>
              </a:buClr>
              <a:buSzPts val="3000"/>
              <a:buFont typeface="NVIDIA Sans"/>
              <a:buChar char="•"/>
              <a:defRPr sz="3000" b="0" i="0" u="none" strike="noStrike" cap="none">
                <a:solidFill>
                  <a:schemeClr val="dk1"/>
                </a:solidFill>
                <a:latin typeface="NVIDIA Sans"/>
                <a:ea typeface="NVIDIA Sans"/>
                <a:cs typeface="NVIDIA Sans"/>
                <a:sym typeface="NVIDIA Sans"/>
              </a:defRPr>
            </a:lvl7pPr>
            <a:lvl8pPr marL="3657600" marR="0" lvl="7" indent="-419100" algn="l">
              <a:lnSpc>
                <a:spcPct val="90000"/>
              </a:lnSpc>
              <a:spcBef>
                <a:spcPts val="800"/>
              </a:spcBef>
              <a:spcAft>
                <a:spcPts val="0"/>
              </a:spcAft>
              <a:buClr>
                <a:schemeClr val="accent1"/>
              </a:buClr>
              <a:buSzPts val="3000"/>
              <a:buFont typeface="NVIDIA Sans"/>
              <a:buChar char="•"/>
              <a:defRPr sz="3000" b="0" i="0" u="none" strike="noStrike" cap="none">
                <a:solidFill>
                  <a:schemeClr val="dk1"/>
                </a:solidFill>
                <a:latin typeface="NVIDIA Sans"/>
                <a:ea typeface="NVIDIA Sans"/>
                <a:cs typeface="NVIDIA Sans"/>
                <a:sym typeface="NVIDIA Sans"/>
              </a:defRPr>
            </a:lvl8pPr>
            <a:lvl9pPr marL="4114800" marR="0" lvl="8" indent="-228600" algn="l">
              <a:lnSpc>
                <a:spcPct val="90000"/>
              </a:lnSpc>
              <a:spcBef>
                <a:spcPts val="1500"/>
              </a:spcBef>
              <a:spcAft>
                <a:spcPts val="0"/>
              </a:spcAft>
              <a:buClr>
                <a:schemeClr val="accent1"/>
              </a:buClr>
              <a:buSzPts val="3000"/>
              <a:buFont typeface="NVIDIA Sans"/>
              <a:buNone/>
              <a:defRPr sz="3000" b="0" i="0" u="none" strike="noStrike" cap="none">
                <a:solidFill>
                  <a:schemeClr val="dk1"/>
                </a:solidFill>
                <a:latin typeface="NVIDIA Sans"/>
                <a:ea typeface="NVIDIA Sans"/>
                <a:cs typeface="NVIDIA Sans"/>
                <a:sym typeface="NVIDIA Sans"/>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
        <p:cNvGrpSpPr/>
        <p:nvPr/>
      </p:nvGrpSpPr>
      <p:grpSpPr>
        <a:xfrm>
          <a:off x="0" y="0"/>
          <a:ext cx="0" cy="0"/>
          <a:chOff x="0" y="0"/>
          <a:chExt cx="0" cy="0"/>
        </a:xfrm>
      </p:grpSpPr>
      <p:pic>
        <p:nvPicPr>
          <p:cNvPr id="24" name="Google Shape;24;p4"/>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25" name="Google Shape;25;p4"/>
          <p:cNvSpPr/>
          <p:nvPr/>
        </p:nvSpPr>
        <p:spPr>
          <a:xfrm>
            <a:off x="0" y="0"/>
            <a:ext cx="19659600" cy="20574000"/>
          </a:xfrm>
          <a:prstGeom prst="rect">
            <a:avLst/>
          </a:prstGeom>
          <a:gradFill>
            <a:gsLst>
              <a:gs pos="0">
                <a:srgbClr val="FFFFFF">
                  <a:alpha val="20000"/>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VIDIA Sans"/>
              <a:ea typeface="NVIDIA Sans"/>
              <a:cs typeface="NVIDIA Sans"/>
              <a:sym typeface="NVIDIA Sans"/>
            </a:endParaRPr>
          </a:p>
        </p:txBody>
      </p:sp>
      <p:sp>
        <p:nvSpPr>
          <p:cNvPr id="26" name="Google Shape;26;p4"/>
          <p:cNvSpPr txBox="1">
            <a:spLocks noGrp="1"/>
          </p:cNvSpPr>
          <p:nvPr>
            <p:ph type="body" idx="1"/>
          </p:nvPr>
        </p:nvSpPr>
        <p:spPr>
          <a:xfrm>
            <a:off x="1828800" y="16919165"/>
            <a:ext cx="16459200" cy="18288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4000"/>
              <a:buFont typeface="NVIDIA Sans"/>
              <a:buNone/>
              <a:defRPr sz="4000"/>
            </a:lvl1pPr>
            <a:lvl2pPr marL="914400" lvl="1" indent="-228600" algn="l">
              <a:lnSpc>
                <a:spcPct val="90000"/>
              </a:lnSpc>
              <a:spcBef>
                <a:spcPts val="1600"/>
              </a:spcBef>
              <a:spcAft>
                <a:spcPts val="0"/>
              </a:spcAft>
              <a:buSzPts val="4000"/>
              <a:buNone/>
              <a:defRPr/>
            </a:lvl2pPr>
            <a:lvl3pPr marL="1371600" lvl="2" indent="-228600" algn="l">
              <a:lnSpc>
                <a:spcPct val="90000"/>
              </a:lnSpc>
              <a:spcBef>
                <a:spcPts val="1600"/>
              </a:spcBef>
              <a:spcAft>
                <a:spcPts val="0"/>
              </a:spcAft>
              <a:buSzPts val="4000"/>
              <a:buNone/>
              <a:defRPr sz="4000"/>
            </a:lvl3pPr>
            <a:lvl4pPr marL="1828800" lvl="3" indent="-228600" algn="l">
              <a:lnSpc>
                <a:spcPct val="90000"/>
              </a:lnSpc>
              <a:spcBef>
                <a:spcPts val="800"/>
              </a:spcBef>
              <a:spcAft>
                <a:spcPts val="0"/>
              </a:spcAft>
              <a:buSzPts val="4000"/>
              <a:buNone/>
              <a:defRPr sz="4000"/>
            </a:lvl4pPr>
            <a:lvl5pPr marL="2286000" lvl="4" indent="-228600" algn="l">
              <a:lnSpc>
                <a:spcPct val="90000"/>
              </a:lnSpc>
              <a:spcBef>
                <a:spcPts val="800"/>
              </a:spcBef>
              <a:spcAft>
                <a:spcPts val="0"/>
              </a:spcAft>
              <a:buSzPts val="4000"/>
              <a:buNone/>
              <a:defRPr sz="4000"/>
            </a:lvl5pPr>
            <a:lvl6pPr marL="2743200" lvl="5" indent="-482600" algn="l">
              <a:lnSpc>
                <a:spcPct val="90000"/>
              </a:lnSpc>
              <a:spcBef>
                <a:spcPts val="1500"/>
              </a:spcBef>
              <a:spcAft>
                <a:spcPts val="0"/>
              </a:spcAft>
              <a:buSzPts val="4000"/>
              <a:buChar char="•"/>
              <a:defRPr sz="4000"/>
            </a:lvl6pPr>
            <a:lvl7pPr marL="3200400" lvl="6" indent="-482600" algn="l">
              <a:lnSpc>
                <a:spcPct val="90000"/>
              </a:lnSpc>
              <a:spcBef>
                <a:spcPts val="1500"/>
              </a:spcBef>
              <a:spcAft>
                <a:spcPts val="0"/>
              </a:spcAft>
              <a:buSzPts val="4000"/>
              <a:buChar char="•"/>
              <a:defRPr sz="4000"/>
            </a:lvl7pPr>
            <a:lvl8pPr marL="3657600" lvl="7" indent="-482600" algn="l">
              <a:lnSpc>
                <a:spcPct val="90000"/>
              </a:lnSpc>
              <a:spcBef>
                <a:spcPts val="1500"/>
              </a:spcBef>
              <a:spcAft>
                <a:spcPts val="0"/>
              </a:spcAft>
              <a:buSzPts val="4000"/>
              <a:buChar char="•"/>
              <a:defRPr sz="4000"/>
            </a:lvl8pPr>
            <a:lvl9pPr marL="4114800" lvl="8" indent="-228600" algn="l">
              <a:lnSpc>
                <a:spcPct val="90000"/>
              </a:lnSpc>
              <a:spcBef>
                <a:spcPts val="1500"/>
              </a:spcBef>
              <a:spcAft>
                <a:spcPts val="0"/>
              </a:spcAft>
              <a:buSzPts val="4000"/>
              <a:buNone/>
              <a:defRPr sz="4000"/>
            </a:lvl9pPr>
          </a:lstStyle>
          <a:p>
            <a:endParaRPr/>
          </a:p>
        </p:txBody>
      </p:sp>
      <p:sp>
        <p:nvSpPr>
          <p:cNvPr id="27" name="Google Shape;27;p4"/>
          <p:cNvSpPr txBox="1">
            <a:spLocks noGrp="1"/>
          </p:cNvSpPr>
          <p:nvPr>
            <p:ph type="body" idx="2"/>
          </p:nvPr>
        </p:nvSpPr>
        <p:spPr>
          <a:xfrm>
            <a:off x="1828800" y="16002000"/>
            <a:ext cx="16459200" cy="729430"/>
          </a:xfrm>
          <a:prstGeom prst="rect">
            <a:avLst/>
          </a:prstGeom>
          <a:noFill/>
          <a:ln>
            <a:noFill/>
          </a:ln>
        </p:spPr>
        <p:txBody>
          <a:bodyPr spcFirstLastPara="1" wrap="square" lIns="0" tIns="45700" rIns="0" bIns="45700" anchor="b" anchorCtr="0">
            <a:noAutofit/>
          </a:bodyPr>
          <a:lstStyle>
            <a:lvl1pPr marL="457200" lvl="0" indent="-228600" algn="l">
              <a:lnSpc>
                <a:spcPct val="90000"/>
              </a:lnSpc>
              <a:spcBef>
                <a:spcPts val="0"/>
              </a:spcBef>
              <a:spcAft>
                <a:spcPts val="0"/>
              </a:spcAft>
              <a:buSzPts val="4800"/>
              <a:buFont typeface="NVIDIA Sans"/>
              <a:buNone/>
              <a:defRPr sz="4800"/>
            </a:lvl1pPr>
            <a:lvl2pPr marL="914400" lvl="1" indent="-228600" algn="l">
              <a:lnSpc>
                <a:spcPct val="90000"/>
              </a:lnSpc>
              <a:spcBef>
                <a:spcPts val="1600"/>
              </a:spcBef>
              <a:spcAft>
                <a:spcPts val="0"/>
              </a:spcAft>
              <a:buSzPts val="4800"/>
              <a:buNone/>
              <a:defRPr sz="4800"/>
            </a:lvl2pPr>
            <a:lvl3pPr marL="1371600" lvl="2" indent="-228600" algn="l">
              <a:lnSpc>
                <a:spcPct val="90000"/>
              </a:lnSpc>
              <a:spcBef>
                <a:spcPts val="1600"/>
              </a:spcBef>
              <a:spcAft>
                <a:spcPts val="0"/>
              </a:spcAft>
              <a:buSzPts val="4800"/>
              <a:buNone/>
              <a:defRPr sz="4800"/>
            </a:lvl3pPr>
            <a:lvl4pPr marL="1828800" lvl="3" indent="-228600" algn="l">
              <a:lnSpc>
                <a:spcPct val="90000"/>
              </a:lnSpc>
              <a:spcBef>
                <a:spcPts val="800"/>
              </a:spcBef>
              <a:spcAft>
                <a:spcPts val="0"/>
              </a:spcAft>
              <a:buSzPts val="4800"/>
              <a:buNone/>
              <a:defRPr sz="4800"/>
            </a:lvl4pPr>
            <a:lvl5pPr marL="2286000" lvl="4" indent="-228600" algn="l">
              <a:lnSpc>
                <a:spcPct val="90000"/>
              </a:lnSpc>
              <a:spcBef>
                <a:spcPts val="800"/>
              </a:spcBef>
              <a:spcAft>
                <a:spcPts val="0"/>
              </a:spcAft>
              <a:buSzPts val="4800"/>
              <a:buNone/>
              <a:defRPr sz="4800"/>
            </a:lvl5pPr>
            <a:lvl6pPr marL="2743200" lvl="5" indent="-533400" algn="l">
              <a:lnSpc>
                <a:spcPct val="90000"/>
              </a:lnSpc>
              <a:spcBef>
                <a:spcPts val="1500"/>
              </a:spcBef>
              <a:spcAft>
                <a:spcPts val="0"/>
              </a:spcAft>
              <a:buSzPts val="4800"/>
              <a:buChar char="•"/>
              <a:defRPr sz="4800"/>
            </a:lvl6pPr>
            <a:lvl7pPr marL="3200400" lvl="6" indent="-533400" algn="l">
              <a:lnSpc>
                <a:spcPct val="90000"/>
              </a:lnSpc>
              <a:spcBef>
                <a:spcPts val="1500"/>
              </a:spcBef>
              <a:spcAft>
                <a:spcPts val="0"/>
              </a:spcAft>
              <a:buSzPts val="4800"/>
              <a:buChar char="•"/>
              <a:defRPr sz="4800"/>
            </a:lvl7pPr>
            <a:lvl8pPr marL="3657600" lvl="7" indent="-533400" algn="l">
              <a:lnSpc>
                <a:spcPct val="90000"/>
              </a:lnSpc>
              <a:spcBef>
                <a:spcPts val="1500"/>
              </a:spcBef>
              <a:spcAft>
                <a:spcPts val="0"/>
              </a:spcAft>
              <a:buSzPts val="4800"/>
              <a:buChar char="•"/>
              <a:defRPr sz="4800"/>
            </a:lvl8pPr>
            <a:lvl9pPr marL="4114800" lvl="8" indent="-228600" algn="l">
              <a:lnSpc>
                <a:spcPct val="90000"/>
              </a:lnSpc>
              <a:spcBef>
                <a:spcPts val="1500"/>
              </a:spcBef>
              <a:spcAft>
                <a:spcPts val="0"/>
              </a:spcAft>
              <a:buSzPts val="4800"/>
              <a:buNone/>
              <a:defRPr sz="4800"/>
            </a:lvl9pPr>
          </a:lstStyle>
          <a:p>
            <a:endParaRPr/>
          </a:p>
        </p:txBody>
      </p:sp>
      <p:sp>
        <p:nvSpPr>
          <p:cNvPr id="28" name="Google Shape;28;p4"/>
          <p:cNvSpPr txBox="1">
            <a:spLocks noGrp="1"/>
          </p:cNvSpPr>
          <p:nvPr>
            <p:ph type="body" idx="3"/>
          </p:nvPr>
        </p:nvSpPr>
        <p:spPr>
          <a:xfrm>
            <a:off x="1737360" y="6858000"/>
            <a:ext cx="16459200" cy="8402300"/>
          </a:xfrm>
          <a:prstGeom prst="rect">
            <a:avLst/>
          </a:prstGeom>
          <a:noFill/>
          <a:ln>
            <a:noFill/>
          </a:ln>
        </p:spPr>
        <p:txBody>
          <a:bodyPr spcFirstLastPara="1" wrap="square" lIns="0" tIns="45700" rIns="0" bIns="45700" anchor="b" anchorCtr="0">
            <a:noAutofit/>
          </a:bodyPr>
          <a:lstStyle>
            <a:lvl1pPr marL="457200" lvl="0" indent="-228600" algn="l">
              <a:lnSpc>
                <a:spcPct val="90000"/>
              </a:lnSpc>
              <a:spcBef>
                <a:spcPts val="0"/>
              </a:spcBef>
              <a:spcAft>
                <a:spcPts val="0"/>
              </a:spcAft>
              <a:buSzPts val="12000"/>
              <a:buNone/>
              <a:defRPr sz="12000">
                <a:latin typeface="NVIDIA Sans Medium"/>
                <a:ea typeface="NVIDIA Sans Medium"/>
                <a:cs typeface="NVIDIA Sans Medium"/>
                <a:sym typeface="NVIDIA Sans Medium"/>
              </a:defRPr>
            </a:lvl1pPr>
            <a:lvl2pPr marL="914400" lvl="1" indent="-228600" algn="l">
              <a:lnSpc>
                <a:spcPct val="90000"/>
              </a:lnSpc>
              <a:spcBef>
                <a:spcPts val="1600"/>
              </a:spcBef>
              <a:spcAft>
                <a:spcPts val="0"/>
              </a:spcAft>
              <a:buSzPts val="12000"/>
              <a:buNone/>
              <a:defRPr sz="12000">
                <a:latin typeface="NVIDIA Sans Medium"/>
                <a:ea typeface="NVIDIA Sans Medium"/>
                <a:cs typeface="NVIDIA Sans Medium"/>
                <a:sym typeface="NVIDIA Sans Medium"/>
              </a:defRPr>
            </a:lvl2pPr>
            <a:lvl3pPr marL="1371600" lvl="2" indent="-228600" algn="l">
              <a:lnSpc>
                <a:spcPct val="90000"/>
              </a:lnSpc>
              <a:spcBef>
                <a:spcPts val="1600"/>
              </a:spcBef>
              <a:spcAft>
                <a:spcPts val="0"/>
              </a:spcAft>
              <a:buSzPts val="12000"/>
              <a:buNone/>
              <a:defRPr sz="12000">
                <a:latin typeface="NVIDIA Sans Medium"/>
                <a:ea typeface="NVIDIA Sans Medium"/>
                <a:cs typeface="NVIDIA Sans Medium"/>
                <a:sym typeface="NVIDIA Sans Medium"/>
              </a:defRPr>
            </a:lvl3pPr>
            <a:lvl4pPr marL="1828800" lvl="3" indent="-228600" algn="l">
              <a:lnSpc>
                <a:spcPct val="90000"/>
              </a:lnSpc>
              <a:spcBef>
                <a:spcPts val="800"/>
              </a:spcBef>
              <a:spcAft>
                <a:spcPts val="0"/>
              </a:spcAft>
              <a:buSzPts val="12000"/>
              <a:buNone/>
              <a:defRPr sz="12000">
                <a:latin typeface="NVIDIA Sans Medium"/>
                <a:ea typeface="NVIDIA Sans Medium"/>
                <a:cs typeface="NVIDIA Sans Medium"/>
                <a:sym typeface="NVIDIA Sans Medium"/>
              </a:defRPr>
            </a:lvl4pPr>
            <a:lvl5pPr marL="2286000" lvl="4" indent="-228600" algn="l">
              <a:lnSpc>
                <a:spcPct val="90000"/>
              </a:lnSpc>
              <a:spcBef>
                <a:spcPts val="800"/>
              </a:spcBef>
              <a:spcAft>
                <a:spcPts val="0"/>
              </a:spcAft>
              <a:buSzPts val="12000"/>
              <a:buNone/>
              <a:defRPr sz="12000">
                <a:latin typeface="NVIDIA Sans Medium"/>
                <a:ea typeface="NVIDIA Sans Medium"/>
                <a:cs typeface="NVIDIA Sans Medium"/>
                <a:sym typeface="NVIDIA Sans Medium"/>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29" name="Google Shape;29;p4"/>
          <p:cNvSpPr/>
          <p:nvPr/>
        </p:nvSpPr>
        <p:spPr>
          <a:xfrm>
            <a:off x="3658247" y="3129472"/>
            <a:ext cx="3646099" cy="683416"/>
          </a:xfrm>
          <a:custGeom>
            <a:avLst/>
            <a:gdLst/>
            <a:ahLst/>
            <a:cxnLst/>
            <a:rect l="l" t="t" r="r" b="b"/>
            <a:pathLst>
              <a:path w="3646099" h="683416" extrusionOk="0">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VIDIA Sans"/>
              <a:ea typeface="NVIDIA Sans"/>
              <a:cs typeface="NVIDIA Sans"/>
              <a:sym typeface="NVIDIA Sans"/>
            </a:endParaRPr>
          </a:p>
        </p:txBody>
      </p:sp>
      <p:sp>
        <p:nvSpPr>
          <p:cNvPr id="30" name="Google Shape;30;p4"/>
          <p:cNvSpPr/>
          <p:nvPr/>
        </p:nvSpPr>
        <p:spPr>
          <a:xfrm>
            <a:off x="1828916" y="2933922"/>
            <a:ext cx="1571299" cy="1039766"/>
          </a:xfrm>
          <a:custGeom>
            <a:avLst/>
            <a:gdLst/>
            <a:ahLst/>
            <a:cxnLst/>
            <a:rect l="l" t="t" r="r" b="b"/>
            <a:pathLst>
              <a:path w="1571299" h="1039766" extrusionOk="0">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VIDIA Sans"/>
              <a:ea typeface="NVIDIA Sans"/>
              <a:cs typeface="NVIDIA Sans"/>
              <a:sym typeface="NVIDIA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mbargo">
  <p:cSld name="Embargo">
    <p:spTree>
      <p:nvGrpSpPr>
        <p:cNvPr id="1" name="Shape 31"/>
        <p:cNvGrpSpPr/>
        <p:nvPr/>
      </p:nvGrpSpPr>
      <p:grpSpPr>
        <a:xfrm>
          <a:off x="0" y="0"/>
          <a:ext cx="0" cy="0"/>
          <a:chOff x="0" y="0"/>
          <a:chExt cx="0" cy="0"/>
        </a:xfrm>
      </p:grpSpPr>
      <p:sp>
        <p:nvSpPr>
          <p:cNvPr id="32" name="Google Shape;32;p5"/>
          <p:cNvSpPr/>
          <p:nvPr/>
        </p:nvSpPr>
        <p:spPr>
          <a:xfrm>
            <a:off x="0" y="20345400"/>
            <a:ext cx="36576000" cy="228600"/>
          </a:xfrm>
          <a:prstGeom prst="rect">
            <a:avLst/>
          </a:prstGeom>
          <a:solidFill>
            <a:srgbClr val="E52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VIDIA Sans"/>
              <a:ea typeface="NVIDIA Sans"/>
              <a:cs typeface="NVIDIA Sans"/>
              <a:sym typeface="NVIDIA Sans"/>
            </a:endParaRPr>
          </a:p>
        </p:txBody>
      </p:sp>
      <p:sp>
        <p:nvSpPr>
          <p:cNvPr id="33" name="Google Shape;33;p5"/>
          <p:cNvSpPr/>
          <p:nvPr/>
        </p:nvSpPr>
        <p:spPr>
          <a:xfrm>
            <a:off x="0" y="0"/>
            <a:ext cx="36576000" cy="228600"/>
          </a:xfrm>
          <a:prstGeom prst="rect">
            <a:avLst/>
          </a:prstGeom>
          <a:solidFill>
            <a:srgbClr val="E52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VIDIA Sans"/>
              <a:ea typeface="NVIDIA Sans"/>
              <a:cs typeface="NVIDIA Sans"/>
              <a:sym typeface="NVIDIA Sans"/>
            </a:endParaRPr>
          </a:p>
        </p:txBody>
      </p:sp>
      <p:sp>
        <p:nvSpPr>
          <p:cNvPr id="34" name="Google Shape;34;p5"/>
          <p:cNvSpPr txBox="1"/>
          <p:nvPr/>
        </p:nvSpPr>
        <p:spPr>
          <a:xfrm>
            <a:off x="1814511" y="10711668"/>
            <a:ext cx="8271495" cy="40011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US" sz="2000" b="1">
                <a:solidFill>
                  <a:schemeClr val="dk1"/>
                </a:solidFill>
                <a:latin typeface="NVIDIA Sans"/>
                <a:ea typeface="NVIDIA Sans"/>
                <a:cs typeface="NVIDIA Sans"/>
                <a:sym typeface="NVIDIA Sans"/>
              </a:rPr>
              <a:t>DO NOT DISTRIBUTE UNTIL DATES LISTED.  NVIDIA CONFIDENTIAL.</a:t>
            </a:r>
            <a:endParaRPr/>
          </a:p>
        </p:txBody>
      </p:sp>
      <p:sp>
        <p:nvSpPr>
          <p:cNvPr id="35" name="Google Shape;35;p5"/>
          <p:cNvSpPr txBox="1">
            <a:spLocks noGrp="1"/>
          </p:cNvSpPr>
          <p:nvPr>
            <p:ph type="body" idx="1"/>
          </p:nvPr>
        </p:nvSpPr>
        <p:spPr>
          <a:xfrm>
            <a:off x="29450825" y="5476814"/>
            <a:ext cx="3657600" cy="11197937"/>
          </a:xfrm>
          <a:prstGeom prst="rect">
            <a:avLst/>
          </a:prstGeom>
          <a:noFill/>
          <a:ln>
            <a:noFill/>
          </a:ln>
        </p:spPr>
        <p:txBody>
          <a:bodyPr spcFirstLastPara="1" wrap="square" lIns="0" tIns="274300" rIns="0" bIns="45700" anchor="t" anchorCtr="0">
            <a:noAutofit/>
          </a:bodyPr>
          <a:lstStyle>
            <a:lvl1pPr marL="457200" lvl="0" indent="-228600" algn="l">
              <a:lnSpc>
                <a:spcPct val="100000"/>
              </a:lnSpc>
              <a:spcBef>
                <a:spcPts val="0"/>
              </a:spcBef>
              <a:spcAft>
                <a:spcPts val="0"/>
              </a:spcAft>
              <a:buSzPts val="4000"/>
              <a:buNone/>
              <a:defRPr>
                <a:latin typeface="NVIDIA Sans"/>
                <a:ea typeface="NVIDIA Sans"/>
                <a:cs typeface="NVIDIA Sans"/>
                <a:sym typeface="NVIDIA Sans"/>
              </a:defRPr>
            </a:lvl1pPr>
            <a:lvl2pPr marL="914400" lvl="1" indent="-342900" algn="l">
              <a:lnSpc>
                <a:spcPct val="90000"/>
              </a:lnSpc>
              <a:spcBef>
                <a:spcPts val="3200"/>
              </a:spcBef>
              <a:spcAft>
                <a:spcPts val="0"/>
              </a:spcAft>
              <a:buSzPts val="1800"/>
              <a:buChar char="•"/>
              <a:defRPr/>
            </a:lvl2pPr>
            <a:lvl3pPr marL="1371600" lvl="2" indent="-342900" algn="l">
              <a:lnSpc>
                <a:spcPct val="90000"/>
              </a:lnSpc>
              <a:spcBef>
                <a:spcPts val="1600"/>
              </a:spcBef>
              <a:spcAft>
                <a:spcPts val="0"/>
              </a:spcAft>
              <a:buSzPts val="180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800"/>
              </a:spcBef>
              <a:spcAft>
                <a:spcPts val="0"/>
              </a:spcAft>
              <a:buSzPts val="1800"/>
              <a:buChar char="•"/>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36" name="Google Shape;36;p5"/>
          <p:cNvSpPr txBox="1"/>
          <p:nvPr/>
        </p:nvSpPr>
        <p:spPr>
          <a:xfrm>
            <a:off x="29450825" y="4661205"/>
            <a:ext cx="3200400" cy="815608"/>
          </a:xfrm>
          <a:prstGeom prst="rect">
            <a:avLst/>
          </a:prstGeom>
          <a:noFill/>
          <a:ln>
            <a:noFill/>
          </a:ln>
        </p:spPr>
        <p:txBody>
          <a:bodyPr spcFirstLastPara="1" wrap="square" lIns="0" tIns="45700" rIns="0" bIns="274300" anchor="b" anchorCtr="0">
            <a:noAutofit/>
          </a:bodyPr>
          <a:lstStyle/>
          <a:p>
            <a:pPr marL="0" marR="0" lvl="0" indent="0" algn="l" rtl="0">
              <a:spcBef>
                <a:spcPts val="0"/>
              </a:spcBef>
              <a:spcAft>
                <a:spcPts val="0"/>
              </a:spcAft>
              <a:buNone/>
            </a:pPr>
            <a:r>
              <a:rPr lang="en-US" sz="3200">
                <a:solidFill>
                  <a:schemeClr val="dk1"/>
                </a:solidFill>
                <a:latin typeface="NVIDIA Sans"/>
                <a:ea typeface="NVIDIA Sans"/>
                <a:cs typeface="NVIDIA Sans"/>
                <a:sym typeface="NVIDIA Sans"/>
              </a:rPr>
              <a:t>Zone</a:t>
            </a:r>
            <a:endParaRPr/>
          </a:p>
        </p:txBody>
      </p:sp>
      <p:sp>
        <p:nvSpPr>
          <p:cNvPr id="37" name="Google Shape;37;p5"/>
          <p:cNvSpPr txBox="1">
            <a:spLocks noGrp="1"/>
          </p:cNvSpPr>
          <p:nvPr>
            <p:ph type="body" idx="2"/>
          </p:nvPr>
        </p:nvSpPr>
        <p:spPr>
          <a:xfrm>
            <a:off x="24208741" y="5476814"/>
            <a:ext cx="4572000" cy="11197937"/>
          </a:xfrm>
          <a:prstGeom prst="rect">
            <a:avLst/>
          </a:prstGeom>
          <a:noFill/>
          <a:ln>
            <a:noFill/>
          </a:ln>
        </p:spPr>
        <p:txBody>
          <a:bodyPr spcFirstLastPara="1" wrap="square" lIns="0" tIns="274300" rIns="0" bIns="45700" anchor="t" anchorCtr="0">
            <a:noAutofit/>
          </a:bodyPr>
          <a:lstStyle>
            <a:lvl1pPr marL="457200" marR="0" lvl="0" indent="-228600" algn="l">
              <a:lnSpc>
                <a:spcPct val="100000"/>
              </a:lnSpc>
              <a:spcBef>
                <a:spcPts val="0"/>
              </a:spcBef>
              <a:spcAft>
                <a:spcPts val="0"/>
              </a:spcAft>
              <a:buClr>
                <a:schemeClr val="accent1"/>
              </a:buClr>
              <a:buSzPts val="4000"/>
              <a:buFont typeface="NVIDIA Sans"/>
              <a:buNone/>
              <a:defRPr>
                <a:latin typeface="NVIDIA Sans"/>
                <a:ea typeface="NVIDIA Sans"/>
                <a:cs typeface="NVIDIA Sans"/>
                <a:sym typeface="NVIDIA Sans"/>
              </a:defRPr>
            </a:lvl1pPr>
            <a:lvl2pPr marL="914400" lvl="1" indent="-342900" algn="l">
              <a:lnSpc>
                <a:spcPct val="90000"/>
              </a:lnSpc>
              <a:spcBef>
                <a:spcPts val="3200"/>
              </a:spcBef>
              <a:spcAft>
                <a:spcPts val="0"/>
              </a:spcAft>
              <a:buSzPts val="1800"/>
              <a:buChar char="•"/>
              <a:defRPr/>
            </a:lvl2pPr>
            <a:lvl3pPr marL="1371600" lvl="2" indent="-342900" algn="l">
              <a:lnSpc>
                <a:spcPct val="90000"/>
              </a:lnSpc>
              <a:spcBef>
                <a:spcPts val="1600"/>
              </a:spcBef>
              <a:spcAft>
                <a:spcPts val="0"/>
              </a:spcAft>
              <a:buSzPts val="180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800"/>
              </a:spcBef>
              <a:spcAft>
                <a:spcPts val="0"/>
              </a:spcAft>
              <a:buSzPts val="1800"/>
              <a:buChar char="•"/>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38" name="Google Shape;38;p5"/>
          <p:cNvSpPr txBox="1"/>
          <p:nvPr/>
        </p:nvSpPr>
        <p:spPr>
          <a:xfrm>
            <a:off x="24208740" y="4661205"/>
            <a:ext cx="4572000" cy="815608"/>
          </a:xfrm>
          <a:prstGeom prst="rect">
            <a:avLst/>
          </a:prstGeom>
          <a:noFill/>
          <a:ln>
            <a:noFill/>
          </a:ln>
        </p:spPr>
        <p:txBody>
          <a:bodyPr spcFirstLastPara="1" wrap="square" lIns="0" tIns="45700" rIns="0" bIns="274300" anchor="b" anchorCtr="0">
            <a:noAutofit/>
          </a:bodyPr>
          <a:lstStyle/>
          <a:p>
            <a:pPr marL="0" marR="0" lvl="0" indent="0" algn="l" rtl="0">
              <a:spcBef>
                <a:spcPts val="0"/>
              </a:spcBef>
              <a:spcAft>
                <a:spcPts val="0"/>
              </a:spcAft>
              <a:buNone/>
            </a:pPr>
            <a:r>
              <a:rPr lang="en-US" sz="3200">
                <a:solidFill>
                  <a:schemeClr val="dk1"/>
                </a:solidFill>
                <a:latin typeface="NVIDIA Sans"/>
                <a:ea typeface="NVIDIA Sans"/>
                <a:cs typeface="NVIDIA Sans"/>
                <a:sym typeface="NVIDIA Sans"/>
              </a:rPr>
              <a:t>Time</a:t>
            </a:r>
            <a:endParaRPr/>
          </a:p>
        </p:txBody>
      </p:sp>
      <p:sp>
        <p:nvSpPr>
          <p:cNvPr id="39" name="Google Shape;39;p5"/>
          <p:cNvSpPr txBox="1">
            <a:spLocks noGrp="1"/>
          </p:cNvSpPr>
          <p:nvPr>
            <p:ph type="body" idx="3"/>
          </p:nvPr>
        </p:nvSpPr>
        <p:spPr>
          <a:xfrm>
            <a:off x="19423856" y="5476815"/>
            <a:ext cx="4114800" cy="11197937"/>
          </a:xfrm>
          <a:prstGeom prst="rect">
            <a:avLst/>
          </a:prstGeom>
          <a:noFill/>
          <a:ln>
            <a:noFill/>
          </a:ln>
        </p:spPr>
        <p:txBody>
          <a:bodyPr spcFirstLastPara="1" wrap="square" lIns="0" tIns="274300" rIns="0" bIns="45700" anchor="t" anchorCtr="0">
            <a:noAutofit/>
          </a:bodyPr>
          <a:lstStyle>
            <a:lvl1pPr marL="457200" marR="0" lvl="0" indent="-228600" algn="l">
              <a:lnSpc>
                <a:spcPct val="100000"/>
              </a:lnSpc>
              <a:spcBef>
                <a:spcPts val="0"/>
              </a:spcBef>
              <a:spcAft>
                <a:spcPts val="0"/>
              </a:spcAft>
              <a:buClr>
                <a:schemeClr val="accent1"/>
              </a:buClr>
              <a:buSzPts val="4000"/>
              <a:buFont typeface="NVIDIA Sans"/>
              <a:buNone/>
              <a:defRPr>
                <a:latin typeface="NVIDIA Sans"/>
                <a:ea typeface="NVIDIA Sans"/>
                <a:cs typeface="NVIDIA Sans"/>
                <a:sym typeface="NVIDIA Sans"/>
              </a:defRPr>
            </a:lvl1pPr>
            <a:lvl2pPr marL="914400" lvl="1" indent="-342900" algn="l">
              <a:lnSpc>
                <a:spcPct val="90000"/>
              </a:lnSpc>
              <a:spcBef>
                <a:spcPts val="3200"/>
              </a:spcBef>
              <a:spcAft>
                <a:spcPts val="0"/>
              </a:spcAft>
              <a:buSzPts val="1800"/>
              <a:buChar char="•"/>
              <a:defRPr/>
            </a:lvl2pPr>
            <a:lvl3pPr marL="1371600" lvl="2" indent="-342900" algn="l">
              <a:lnSpc>
                <a:spcPct val="90000"/>
              </a:lnSpc>
              <a:spcBef>
                <a:spcPts val="1600"/>
              </a:spcBef>
              <a:spcAft>
                <a:spcPts val="0"/>
              </a:spcAft>
              <a:buSzPts val="180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800"/>
              </a:spcBef>
              <a:spcAft>
                <a:spcPts val="0"/>
              </a:spcAft>
              <a:buSzPts val="1800"/>
              <a:buChar char="•"/>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40" name="Google Shape;40;p5"/>
          <p:cNvSpPr txBox="1"/>
          <p:nvPr/>
        </p:nvSpPr>
        <p:spPr>
          <a:xfrm>
            <a:off x="19423855" y="4661205"/>
            <a:ext cx="4571999" cy="815608"/>
          </a:xfrm>
          <a:prstGeom prst="rect">
            <a:avLst/>
          </a:prstGeom>
          <a:noFill/>
          <a:ln>
            <a:noFill/>
          </a:ln>
        </p:spPr>
        <p:txBody>
          <a:bodyPr spcFirstLastPara="1" wrap="square" lIns="0" tIns="45700" rIns="0" bIns="274300" anchor="b" anchorCtr="0">
            <a:noAutofit/>
          </a:bodyPr>
          <a:lstStyle/>
          <a:p>
            <a:pPr marL="0" marR="0" lvl="0" indent="0" algn="l" rtl="0">
              <a:spcBef>
                <a:spcPts val="0"/>
              </a:spcBef>
              <a:spcAft>
                <a:spcPts val="0"/>
              </a:spcAft>
              <a:buNone/>
            </a:pPr>
            <a:r>
              <a:rPr lang="en-US" sz="3200">
                <a:solidFill>
                  <a:schemeClr val="dk1"/>
                </a:solidFill>
                <a:latin typeface="NVIDIA Sans"/>
                <a:ea typeface="NVIDIA Sans"/>
                <a:cs typeface="NVIDIA Sans"/>
                <a:sym typeface="NVIDIA Sans"/>
              </a:rPr>
              <a:t>Region</a:t>
            </a:r>
            <a:endParaRPr/>
          </a:p>
        </p:txBody>
      </p:sp>
      <p:cxnSp>
        <p:nvCxnSpPr>
          <p:cNvPr id="41" name="Google Shape;41;p5"/>
          <p:cNvCxnSpPr/>
          <p:nvPr/>
        </p:nvCxnSpPr>
        <p:spPr>
          <a:xfrm>
            <a:off x="19423856" y="5476815"/>
            <a:ext cx="13716000" cy="0"/>
          </a:xfrm>
          <a:prstGeom prst="straightConnector1">
            <a:avLst/>
          </a:prstGeom>
          <a:noFill/>
          <a:ln w="38100" cap="flat" cmpd="sng">
            <a:solidFill>
              <a:schemeClr val="accent6"/>
            </a:solidFill>
            <a:prstDash val="solid"/>
            <a:miter lim="800000"/>
            <a:headEnd type="none" w="lg" len="lg"/>
            <a:tailEnd type="none" w="lg" len="lg"/>
          </a:ln>
        </p:spPr>
      </p:cxnSp>
      <p:sp>
        <p:nvSpPr>
          <p:cNvPr id="42" name="Google Shape;42;p5"/>
          <p:cNvSpPr txBox="1">
            <a:spLocks noGrp="1"/>
          </p:cNvSpPr>
          <p:nvPr>
            <p:ph type="body" idx="4"/>
          </p:nvPr>
        </p:nvSpPr>
        <p:spPr>
          <a:xfrm>
            <a:off x="19423856" y="3429003"/>
            <a:ext cx="13684569" cy="782637"/>
          </a:xfrm>
          <a:prstGeom prst="rect">
            <a:avLst/>
          </a:prstGeom>
          <a:noFill/>
          <a:ln>
            <a:noFill/>
          </a:ln>
        </p:spPr>
        <p:txBody>
          <a:bodyPr spcFirstLastPara="1" wrap="square" lIns="0" tIns="45700" rIns="0" bIns="45700" anchor="ctr" anchorCtr="0">
            <a:noAutofit/>
          </a:bodyPr>
          <a:lstStyle>
            <a:lvl1pPr marL="457200" lvl="0" indent="-228600" algn="l">
              <a:lnSpc>
                <a:spcPct val="100000"/>
              </a:lnSpc>
              <a:spcBef>
                <a:spcPts val="1600"/>
              </a:spcBef>
              <a:spcAft>
                <a:spcPts val="0"/>
              </a:spcAft>
              <a:buSzPts val="4400"/>
              <a:buNone/>
              <a:defRPr sz="4400">
                <a:solidFill>
                  <a:schemeClr val="dk1"/>
                </a:solidFill>
                <a:latin typeface="NVIDIA Sans Medium"/>
                <a:ea typeface="NVIDIA Sans Medium"/>
                <a:cs typeface="NVIDIA Sans Medium"/>
                <a:sym typeface="NVIDIA Sans Medium"/>
              </a:defRPr>
            </a:lvl1pPr>
            <a:lvl2pPr marL="914400" lvl="1" indent="-228600" algn="l">
              <a:lnSpc>
                <a:spcPct val="90000"/>
              </a:lnSpc>
              <a:spcBef>
                <a:spcPts val="1600"/>
              </a:spcBef>
              <a:spcAft>
                <a:spcPts val="0"/>
              </a:spcAft>
              <a:buSzPts val="3400"/>
              <a:buNone/>
              <a:defRPr/>
            </a:lvl2pPr>
            <a:lvl3pPr marL="1371600" lvl="2" indent="-342900" algn="l">
              <a:lnSpc>
                <a:spcPct val="90000"/>
              </a:lnSpc>
              <a:spcBef>
                <a:spcPts val="1600"/>
              </a:spcBef>
              <a:spcAft>
                <a:spcPts val="0"/>
              </a:spcAft>
              <a:buSzPts val="180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800"/>
              </a:spcBef>
              <a:spcAft>
                <a:spcPts val="0"/>
              </a:spcAft>
              <a:buSzPts val="1800"/>
              <a:buChar char="•"/>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43" name="Google Shape;43;p5"/>
          <p:cNvSpPr txBox="1"/>
          <p:nvPr/>
        </p:nvSpPr>
        <p:spPr>
          <a:xfrm>
            <a:off x="1681161" y="8708544"/>
            <a:ext cx="8907888" cy="2169825"/>
          </a:xfrm>
          <a:prstGeom prst="rect">
            <a:avLst/>
          </a:prstGeom>
          <a:noFill/>
          <a:ln>
            <a:noFill/>
          </a:ln>
        </p:spPr>
        <p:txBody>
          <a:bodyPr spcFirstLastPara="1" wrap="square" lIns="0" tIns="45700" rIns="0" bIns="45700" anchor="ctr" anchorCtr="0">
            <a:noAutofit/>
          </a:bodyPr>
          <a:lstStyle/>
          <a:p>
            <a:pPr marL="0" marR="0" lvl="0" indent="0" algn="l" rtl="0">
              <a:spcBef>
                <a:spcPts val="0"/>
              </a:spcBef>
              <a:spcAft>
                <a:spcPts val="0"/>
              </a:spcAft>
              <a:buNone/>
            </a:pPr>
            <a:r>
              <a:rPr lang="en-US" sz="13500">
                <a:solidFill>
                  <a:srgbClr val="E52020"/>
                </a:solidFill>
                <a:latin typeface="NVIDIA Sans Medium"/>
                <a:ea typeface="NVIDIA Sans Medium"/>
                <a:cs typeface="NVIDIA Sans Medium"/>
                <a:sym typeface="NVIDIA Sans Medium"/>
              </a:rPr>
              <a:t>EMBARGO</a:t>
            </a:r>
            <a:endParaRPr/>
          </a:p>
        </p:txBody>
      </p:sp>
      <p:sp>
        <p:nvSpPr>
          <p:cNvPr id="44" name="Google Shape;44;p5"/>
          <p:cNvSpPr txBox="1">
            <a:spLocks noGrp="1"/>
          </p:cNvSpPr>
          <p:nvPr>
            <p:ph type="subTitle" idx="5"/>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45" name="Google Shape;45;p5"/>
          <p:cNvSpPr txBox="1">
            <a:spLocks noGrp="1"/>
          </p:cNvSpPr>
          <p:nvPr>
            <p:ph type="sldNum" idx="12"/>
          </p:nvPr>
        </p:nvSpPr>
        <p:spPr>
          <a:xfrm>
            <a:off x="914400" y="19431000"/>
            <a:ext cx="640200" cy="369300"/>
          </a:xfrm>
          <a:prstGeom prst="rect">
            <a:avLst/>
          </a:prstGeom>
          <a:noFill/>
          <a:ln>
            <a:noFill/>
          </a:ln>
        </p:spPr>
        <p:txBody>
          <a:bodyPr spcFirstLastPara="1" wrap="square" lIns="0" tIns="45700" rIns="0" bIns="45700" anchor="ctr" anchorCtr="0">
            <a:noAutofit/>
          </a:bodyPr>
          <a:lstStyle>
            <a:lvl1pPr marL="0" marR="0" lvl="0" indent="0" algn="l">
              <a:lnSpc>
                <a:spcPct val="90000"/>
              </a:lnSpc>
              <a:spcBef>
                <a:spcPts val="0"/>
              </a:spcBef>
              <a:buNone/>
              <a:defRPr sz="2000" b="0" u="none">
                <a:solidFill>
                  <a:schemeClr val="dk1"/>
                </a:solidFill>
                <a:latin typeface="NVIDIA Sans"/>
                <a:ea typeface="NVIDIA Sans"/>
                <a:cs typeface="NVIDIA Sans"/>
                <a:sym typeface="NVIDIA Sans"/>
              </a:defRPr>
            </a:lvl1pPr>
            <a:lvl2pPr marL="0" marR="0" lvl="1" indent="0" algn="l">
              <a:lnSpc>
                <a:spcPct val="90000"/>
              </a:lnSpc>
              <a:spcBef>
                <a:spcPts val="0"/>
              </a:spcBef>
              <a:buNone/>
              <a:defRPr sz="2000" b="0" u="none">
                <a:solidFill>
                  <a:schemeClr val="dk1"/>
                </a:solidFill>
                <a:latin typeface="NVIDIA Sans"/>
                <a:ea typeface="NVIDIA Sans"/>
                <a:cs typeface="NVIDIA Sans"/>
                <a:sym typeface="NVIDIA Sans"/>
              </a:defRPr>
            </a:lvl2pPr>
            <a:lvl3pPr marL="0" marR="0" lvl="2" indent="0" algn="l">
              <a:lnSpc>
                <a:spcPct val="90000"/>
              </a:lnSpc>
              <a:spcBef>
                <a:spcPts val="0"/>
              </a:spcBef>
              <a:buNone/>
              <a:defRPr sz="2000" b="0" u="none">
                <a:solidFill>
                  <a:schemeClr val="dk1"/>
                </a:solidFill>
                <a:latin typeface="NVIDIA Sans"/>
                <a:ea typeface="NVIDIA Sans"/>
                <a:cs typeface="NVIDIA Sans"/>
                <a:sym typeface="NVIDIA Sans"/>
              </a:defRPr>
            </a:lvl3pPr>
            <a:lvl4pPr marL="0" marR="0" lvl="3" indent="0" algn="l">
              <a:lnSpc>
                <a:spcPct val="90000"/>
              </a:lnSpc>
              <a:spcBef>
                <a:spcPts val="0"/>
              </a:spcBef>
              <a:buNone/>
              <a:defRPr sz="2000" b="0" u="none">
                <a:solidFill>
                  <a:schemeClr val="dk1"/>
                </a:solidFill>
                <a:latin typeface="NVIDIA Sans"/>
                <a:ea typeface="NVIDIA Sans"/>
                <a:cs typeface="NVIDIA Sans"/>
                <a:sym typeface="NVIDIA Sans"/>
              </a:defRPr>
            </a:lvl4pPr>
            <a:lvl5pPr marL="0" marR="0" lvl="4" indent="0" algn="l">
              <a:lnSpc>
                <a:spcPct val="90000"/>
              </a:lnSpc>
              <a:spcBef>
                <a:spcPts val="0"/>
              </a:spcBef>
              <a:buNone/>
              <a:defRPr sz="2000" b="0" u="none">
                <a:solidFill>
                  <a:schemeClr val="dk1"/>
                </a:solidFill>
                <a:latin typeface="NVIDIA Sans"/>
                <a:ea typeface="NVIDIA Sans"/>
                <a:cs typeface="NVIDIA Sans"/>
                <a:sym typeface="NVIDIA Sans"/>
              </a:defRPr>
            </a:lvl5pPr>
            <a:lvl6pPr marL="0" marR="0" lvl="5" indent="0" algn="l">
              <a:lnSpc>
                <a:spcPct val="90000"/>
              </a:lnSpc>
              <a:spcBef>
                <a:spcPts val="0"/>
              </a:spcBef>
              <a:buNone/>
              <a:defRPr sz="2000" b="0" u="none">
                <a:solidFill>
                  <a:schemeClr val="dk1"/>
                </a:solidFill>
                <a:latin typeface="NVIDIA Sans"/>
                <a:ea typeface="NVIDIA Sans"/>
                <a:cs typeface="NVIDIA Sans"/>
                <a:sym typeface="NVIDIA Sans"/>
              </a:defRPr>
            </a:lvl6pPr>
            <a:lvl7pPr marL="0" marR="0" lvl="6" indent="0" algn="l">
              <a:lnSpc>
                <a:spcPct val="90000"/>
              </a:lnSpc>
              <a:spcBef>
                <a:spcPts val="0"/>
              </a:spcBef>
              <a:buNone/>
              <a:defRPr sz="2000" b="0" u="none">
                <a:solidFill>
                  <a:schemeClr val="dk1"/>
                </a:solidFill>
                <a:latin typeface="NVIDIA Sans"/>
                <a:ea typeface="NVIDIA Sans"/>
                <a:cs typeface="NVIDIA Sans"/>
                <a:sym typeface="NVIDIA Sans"/>
              </a:defRPr>
            </a:lvl7pPr>
            <a:lvl8pPr marL="0" marR="0" lvl="7" indent="0" algn="l">
              <a:lnSpc>
                <a:spcPct val="90000"/>
              </a:lnSpc>
              <a:spcBef>
                <a:spcPts val="0"/>
              </a:spcBef>
              <a:buNone/>
              <a:defRPr sz="2000" b="0" u="none">
                <a:solidFill>
                  <a:schemeClr val="dk1"/>
                </a:solidFill>
                <a:latin typeface="NVIDIA Sans"/>
                <a:ea typeface="NVIDIA Sans"/>
                <a:cs typeface="NVIDIA Sans"/>
                <a:sym typeface="NVIDIA Sans"/>
              </a:defRPr>
            </a:lvl8pPr>
            <a:lvl9pPr marL="0" marR="0" lvl="8" indent="0" algn="l">
              <a:lnSpc>
                <a:spcPct val="90000"/>
              </a:lnSpc>
              <a:spcBef>
                <a:spcPts val="0"/>
              </a:spcBef>
              <a:buNone/>
              <a:defRPr sz="2000" b="0" u="none">
                <a:solidFill>
                  <a:schemeClr val="dk1"/>
                </a:solidFill>
                <a:latin typeface="NVIDIA Sans"/>
                <a:ea typeface="NVIDIA Sans"/>
                <a:cs typeface="NVIDIA Sans"/>
                <a:sym typeface="NVIDIA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6"/>
        <p:cNvGrpSpPr/>
        <p:nvPr/>
      </p:nvGrpSpPr>
      <p:grpSpPr>
        <a:xfrm>
          <a:off x="0" y="0"/>
          <a:ext cx="0" cy="0"/>
          <a:chOff x="0" y="0"/>
          <a:chExt cx="0" cy="0"/>
        </a:xfrm>
      </p:grpSpPr>
      <p:pic>
        <p:nvPicPr>
          <p:cNvPr id="47" name="Google Shape;47;p6"/>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48" name="Google Shape;48;p6"/>
          <p:cNvSpPr/>
          <p:nvPr/>
        </p:nvSpPr>
        <p:spPr>
          <a:xfrm>
            <a:off x="0" y="0"/>
            <a:ext cx="26365200" cy="20574000"/>
          </a:xfrm>
          <a:prstGeom prst="rect">
            <a:avLst/>
          </a:prstGeom>
          <a:gradFill>
            <a:gsLst>
              <a:gs pos="0">
                <a:srgbClr val="FFFFFF">
                  <a:alpha val="85098"/>
                </a:srgbClr>
              </a:gs>
              <a:gs pos="50000">
                <a:srgbClr val="FFFFFF">
                  <a:alpha val="74902"/>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NVIDIA Sans"/>
              <a:ea typeface="NVIDIA Sans"/>
              <a:cs typeface="NVIDIA Sans"/>
              <a:sym typeface="NVIDIA Sans"/>
            </a:endParaRPr>
          </a:p>
        </p:txBody>
      </p:sp>
      <p:sp>
        <p:nvSpPr>
          <p:cNvPr id="49" name="Google Shape;49;p6"/>
          <p:cNvSpPr txBox="1">
            <a:spLocks noGrp="1"/>
          </p:cNvSpPr>
          <p:nvPr>
            <p:ph type="body" idx="1"/>
          </p:nvPr>
        </p:nvSpPr>
        <p:spPr>
          <a:xfrm>
            <a:off x="9144000" y="3200400"/>
            <a:ext cx="14173200" cy="14173200"/>
          </a:xfrm>
          <a:prstGeom prst="rect">
            <a:avLst/>
          </a:prstGeom>
          <a:noFill/>
          <a:ln>
            <a:noFill/>
          </a:ln>
        </p:spPr>
        <p:txBody>
          <a:bodyPr spcFirstLastPara="1" wrap="square" lIns="0" tIns="45700" rIns="0" bIns="45700" anchor="ctr" anchorCtr="0">
            <a:noAutofit/>
          </a:bodyPr>
          <a:lstStyle>
            <a:lvl1pPr marL="457200" lvl="0" indent="-228600" algn="l">
              <a:lnSpc>
                <a:spcPct val="90000"/>
              </a:lnSpc>
              <a:spcBef>
                <a:spcPts val="3000"/>
              </a:spcBef>
              <a:spcAft>
                <a:spcPts val="0"/>
              </a:spcAft>
              <a:buSzPts val="5400"/>
              <a:buFont typeface="NVIDIA Sans"/>
              <a:buNone/>
              <a:defRPr sz="5400"/>
            </a:lvl1pPr>
            <a:lvl2pPr marL="914400" lvl="1" indent="-228600" algn="l">
              <a:lnSpc>
                <a:spcPct val="90000"/>
              </a:lnSpc>
              <a:spcBef>
                <a:spcPts val="3000"/>
              </a:spcBef>
              <a:spcAft>
                <a:spcPts val="0"/>
              </a:spcAft>
              <a:buSzPts val="5000"/>
              <a:buNone/>
              <a:defRPr sz="5000"/>
            </a:lvl2pPr>
            <a:lvl3pPr marL="1371600" lvl="2" indent="-228600" algn="l">
              <a:lnSpc>
                <a:spcPct val="90000"/>
              </a:lnSpc>
              <a:spcBef>
                <a:spcPts val="1600"/>
              </a:spcBef>
              <a:spcAft>
                <a:spcPts val="0"/>
              </a:spcAft>
              <a:buSzPts val="4600"/>
              <a:buNone/>
              <a:defRPr sz="4600"/>
            </a:lvl3pPr>
            <a:lvl4pPr marL="1828800" lvl="3" indent="-228600" algn="l">
              <a:lnSpc>
                <a:spcPct val="90000"/>
              </a:lnSpc>
              <a:spcBef>
                <a:spcPts val="800"/>
              </a:spcBef>
              <a:spcAft>
                <a:spcPts val="0"/>
              </a:spcAft>
              <a:buSzPts val="4200"/>
              <a:buNone/>
              <a:defRPr sz="4200"/>
            </a:lvl4pPr>
            <a:lvl5pPr marL="2286000" lvl="4" indent="-228600" algn="l">
              <a:lnSpc>
                <a:spcPct val="90000"/>
              </a:lnSpc>
              <a:spcBef>
                <a:spcPts val="800"/>
              </a:spcBef>
              <a:spcAft>
                <a:spcPts val="0"/>
              </a:spcAft>
              <a:buSzPts val="3800"/>
              <a:buNone/>
              <a:defRPr sz="3800"/>
            </a:lvl5pPr>
            <a:lvl6pPr marL="2743200" lvl="5" indent="-457200" algn="l">
              <a:lnSpc>
                <a:spcPct val="90000"/>
              </a:lnSpc>
              <a:spcBef>
                <a:spcPts val="1500"/>
              </a:spcBef>
              <a:spcAft>
                <a:spcPts val="0"/>
              </a:spcAft>
              <a:buSzPts val="3600"/>
              <a:buChar char="•"/>
              <a:defRPr sz="3600"/>
            </a:lvl6pPr>
            <a:lvl7pPr marL="3200400" lvl="6" indent="-431800" algn="l">
              <a:lnSpc>
                <a:spcPct val="90000"/>
              </a:lnSpc>
              <a:spcBef>
                <a:spcPts val="1500"/>
              </a:spcBef>
              <a:spcAft>
                <a:spcPts val="0"/>
              </a:spcAft>
              <a:buSzPts val="3200"/>
              <a:buChar char="•"/>
              <a:defRPr sz="3200"/>
            </a:lvl7pPr>
            <a:lvl8pPr marL="3657600" lvl="7" indent="-431800" algn="l">
              <a:lnSpc>
                <a:spcPct val="90000"/>
              </a:lnSpc>
              <a:spcBef>
                <a:spcPts val="1500"/>
              </a:spcBef>
              <a:spcAft>
                <a:spcPts val="0"/>
              </a:spcAft>
              <a:buSzPts val="3200"/>
              <a:buChar char="•"/>
              <a:defRPr sz="3200"/>
            </a:lvl8pPr>
            <a:lvl9pPr marL="4114800" lvl="8" indent="-228600" algn="l">
              <a:lnSpc>
                <a:spcPct val="90000"/>
              </a:lnSpc>
              <a:spcBef>
                <a:spcPts val="1500"/>
              </a:spcBef>
              <a:spcAft>
                <a:spcPts val="0"/>
              </a:spcAft>
              <a:buSzPts val="3200"/>
              <a:buNone/>
              <a:defRPr sz="3200"/>
            </a:lvl9pPr>
          </a:lstStyle>
          <a:p>
            <a:endParaRPr/>
          </a:p>
        </p:txBody>
      </p:sp>
      <p:sp>
        <p:nvSpPr>
          <p:cNvPr id="50" name="Google Shape;50;p6"/>
          <p:cNvSpPr txBox="1"/>
          <p:nvPr/>
        </p:nvSpPr>
        <p:spPr>
          <a:xfrm>
            <a:off x="1828800" y="9355604"/>
            <a:ext cx="5732660" cy="1938992"/>
          </a:xfrm>
          <a:prstGeom prst="rect">
            <a:avLst/>
          </a:prstGeom>
          <a:noFill/>
          <a:ln>
            <a:noFill/>
          </a:ln>
        </p:spPr>
        <p:txBody>
          <a:bodyPr spcFirstLastPara="1" wrap="square" lIns="0" tIns="45700" rIns="0" bIns="45700" anchor="ctr" anchorCtr="0">
            <a:noAutofit/>
          </a:bodyPr>
          <a:lstStyle/>
          <a:p>
            <a:pPr marL="0" marR="0" lvl="0" indent="0" algn="l" rtl="0">
              <a:spcBef>
                <a:spcPts val="0"/>
              </a:spcBef>
              <a:spcAft>
                <a:spcPts val="0"/>
              </a:spcAft>
              <a:buNone/>
            </a:pPr>
            <a:r>
              <a:rPr lang="en-US" sz="12000">
                <a:solidFill>
                  <a:schemeClr val="dk1"/>
                </a:solidFill>
                <a:latin typeface="NVIDIA Sans Medium"/>
                <a:ea typeface="NVIDIA Sans Medium"/>
                <a:cs typeface="NVIDIA Sans Medium"/>
                <a:sym typeface="NVIDIA Sans Medium"/>
              </a:rPr>
              <a:t>Agenda</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ransition">
  <p:cSld name="Transition">
    <p:spTree>
      <p:nvGrpSpPr>
        <p:cNvPr id="1" name="Shape 51"/>
        <p:cNvGrpSpPr/>
        <p:nvPr/>
      </p:nvGrpSpPr>
      <p:grpSpPr>
        <a:xfrm>
          <a:off x="0" y="0"/>
          <a:ext cx="0" cy="0"/>
          <a:chOff x="0" y="0"/>
          <a:chExt cx="0" cy="0"/>
        </a:xfrm>
      </p:grpSpPr>
      <p:pic>
        <p:nvPicPr>
          <p:cNvPr id="52" name="Google Shape;52;p7"/>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53" name="Google Shape;53;p7"/>
          <p:cNvSpPr txBox="1">
            <a:spLocks noGrp="1"/>
          </p:cNvSpPr>
          <p:nvPr>
            <p:ph type="body" idx="1"/>
          </p:nvPr>
        </p:nvSpPr>
        <p:spPr>
          <a:xfrm>
            <a:off x="18059400" y="2470666"/>
            <a:ext cx="16687800" cy="3416320"/>
          </a:xfrm>
          <a:prstGeom prst="rect">
            <a:avLst/>
          </a:prstGeom>
          <a:noFill/>
          <a:ln>
            <a:noFill/>
          </a:ln>
        </p:spPr>
        <p:txBody>
          <a:bodyPr spcFirstLastPara="1" wrap="square" lIns="0" tIns="45700" rIns="0" bIns="45700" anchor="ctr" anchorCtr="0">
            <a:noAutofit/>
          </a:bodyPr>
          <a:lstStyle>
            <a:lvl1pPr marL="457200" lvl="0" indent="-228600" algn="l">
              <a:lnSpc>
                <a:spcPct val="90000"/>
              </a:lnSpc>
              <a:spcBef>
                <a:spcPts val="0"/>
              </a:spcBef>
              <a:spcAft>
                <a:spcPts val="0"/>
              </a:spcAft>
              <a:buSzPts val="12000"/>
              <a:buNone/>
              <a:defRPr sz="12000">
                <a:latin typeface="NVIDIA Sans Medium"/>
                <a:ea typeface="NVIDIA Sans Medium"/>
                <a:cs typeface="NVIDIA Sans Medium"/>
                <a:sym typeface="NVIDIA Sans Medium"/>
              </a:defRPr>
            </a:lvl1pPr>
            <a:lvl2pPr marL="914400" lvl="1" indent="-228600" algn="l">
              <a:lnSpc>
                <a:spcPct val="90000"/>
              </a:lnSpc>
              <a:spcBef>
                <a:spcPts val="1600"/>
              </a:spcBef>
              <a:spcAft>
                <a:spcPts val="0"/>
              </a:spcAft>
              <a:buSzPts val="3400"/>
              <a:buNone/>
              <a:defRPr/>
            </a:lvl2pPr>
            <a:lvl3pPr marL="1371600" lvl="2" indent="-228600" algn="l">
              <a:lnSpc>
                <a:spcPct val="90000"/>
              </a:lnSpc>
              <a:spcBef>
                <a:spcPts val="1600"/>
              </a:spcBef>
              <a:spcAft>
                <a:spcPts val="0"/>
              </a:spcAft>
              <a:buSzPts val="2800"/>
              <a:buNone/>
              <a:defRPr/>
            </a:lvl3pPr>
            <a:lvl4pPr marL="1828800" lvl="3" indent="-228600" algn="l">
              <a:lnSpc>
                <a:spcPct val="90000"/>
              </a:lnSpc>
              <a:spcBef>
                <a:spcPts val="800"/>
              </a:spcBef>
              <a:spcAft>
                <a:spcPts val="0"/>
              </a:spcAft>
              <a:buSzPts val="2400"/>
              <a:buNone/>
              <a:defRPr/>
            </a:lvl4pPr>
            <a:lvl5pPr marL="2286000" lvl="4" indent="-228600" algn="l">
              <a:lnSpc>
                <a:spcPct val="90000"/>
              </a:lnSpc>
              <a:spcBef>
                <a:spcPts val="800"/>
              </a:spcBef>
              <a:spcAft>
                <a:spcPts val="0"/>
              </a:spcAft>
              <a:buSzPts val="2400"/>
              <a:buNone/>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4"/>
        <p:cNvGrpSpPr/>
        <p:nvPr/>
      </p:nvGrpSpPr>
      <p:grpSpPr>
        <a:xfrm>
          <a:off x="0" y="0"/>
          <a:ext cx="0" cy="0"/>
          <a:chOff x="0" y="0"/>
          <a:chExt cx="0" cy="0"/>
        </a:xfrm>
      </p:grpSpPr>
      <p:pic>
        <p:nvPicPr>
          <p:cNvPr id="55" name="Google Shape;55;p8"/>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56" name="Google Shape;56;p8"/>
          <p:cNvSpPr/>
          <p:nvPr/>
        </p:nvSpPr>
        <p:spPr>
          <a:xfrm>
            <a:off x="0" y="0"/>
            <a:ext cx="36576000" cy="20574000"/>
          </a:xfrm>
          <a:prstGeom prst="rect">
            <a:avLst/>
          </a:prstGeom>
          <a:gradFill>
            <a:gsLst>
              <a:gs pos="0">
                <a:srgbClr val="FFFFFF">
                  <a:alpha val="50196"/>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VIDIA Sans"/>
              <a:ea typeface="NVIDIA Sans"/>
              <a:cs typeface="NVIDIA Sans"/>
              <a:sym typeface="NVIDIA Sans"/>
            </a:endParaRPr>
          </a:p>
        </p:txBody>
      </p:sp>
      <p:sp>
        <p:nvSpPr>
          <p:cNvPr id="57" name="Google Shape;57;p8"/>
          <p:cNvSpPr txBox="1">
            <a:spLocks noGrp="1"/>
          </p:cNvSpPr>
          <p:nvPr>
            <p:ph type="title"/>
          </p:nvPr>
        </p:nvSpPr>
        <p:spPr>
          <a:xfrm>
            <a:off x="6583680" y="3962400"/>
            <a:ext cx="23317200" cy="10972800"/>
          </a:xfrm>
          <a:prstGeom prst="rect">
            <a:avLst/>
          </a:prstGeom>
          <a:noFill/>
          <a:ln>
            <a:noFill/>
          </a:ln>
        </p:spPr>
        <p:txBody>
          <a:bodyPr spcFirstLastPara="1" wrap="square" lIns="0" tIns="45700" rIns="0" bIns="45700" anchor="t" anchorCtr="0">
            <a:normAutofit/>
          </a:bodyPr>
          <a:lstStyle>
            <a:lvl1pPr lvl="0" algn="l">
              <a:lnSpc>
                <a:spcPct val="100000"/>
              </a:lnSpc>
              <a:spcBef>
                <a:spcPts val="0"/>
              </a:spcBef>
              <a:spcAft>
                <a:spcPts val="0"/>
              </a:spcAft>
              <a:buClr>
                <a:schemeClr val="dk1"/>
              </a:buClr>
              <a:buSzPts val="15000"/>
              <a:buFont typeface="NVIDIA Sans"/>
              <a:buChar char="“"/>
              <a:defRPr sz="15000">
                <a:latin typeface="NVIDIA Sans"/>
                <a:ea typeface="NVIDIA Sans"/>
                <a:cs typeface="NVIDIA Sans"/>
                <a:sym typeface="NVIDI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8"/>
          <p:cNvSpPr txBox="1">
            <a:spLocks noGrp="1"/>
          </p:cNvSpPr>
          <p:nvPr>
            <p:ph type="body" idx="1"/>
          </p:nvPr>
        </p:nvSpPr>
        <p:spPr>
          <a:xfrm>
            <a:off x="6743705" y="15882170"/>
            <a:ext cx="16459200" cy="759000"/>
          </a:xfrm>
          <a:prstGeom prst="rect">
            <a:avLst/>
          </a:prstGeom>
          <a:noFill/>
          <a:ln>
            <a:noFill/>
          </a:ln>
        </p:spPr>
        <p:txBody>
          <a:bodyPr spcFirstLastPara="1" wrap="square" lIns="0" tIns="45700" rIns="0" bIns="45700" anchor="t" anchorCtr="0">
            <a:noAutofit/>
          </a:bodyPr>
          <a:lstStyle>
            <a:lvl1pPr marL="457200" lvl="0" indent="-533400" algn="l">
              <a:lnSpc>
                <a:spcPct val="90000"/>
              </a:lnSpc>
              <a:spcBef>
                <a:spcPts val="1600"/>
              </a:spcBef>
              <a:spcAft>
                <a:spcPts val="0"/>
              </a:spcAft>
              <a:buSzPts val="4800"/>
              <a:buChar char="•"/>
              <a:defRPr sz="4800">
                <a:latin typeface="NVIDIA Sans"/>
                <a:ea typeface="NVIDIA Sans"/>
                <a:cs typeface="NVIDIA Sans"/>
                <a:sym typeface="NVIDIA Sans"/>
              </a:defRPr>
            </a:lvl1pPr>
            <a:lvl2pPr marL="914400" lvl="1" indent="-533400" algn="l">
              <a:lnSpc>
                <a:spcPct val="90000"/>
              </a:lnSpc>
              <a:spcBef>
                <a:spcPts val="1600"/>
              </a:spcBef>
              <a:spcAft>
                <a:spcPts val="0"/>
              </a:spcAft>
              <a:buSzPts val="4800"/>
              <a:buChar char="•"/>
              <a:defRPr sz="4800">
                <a:latin typeface="NVIDIA Sans"/>
                <a:ea typeface="NVIDIA Sans"/>
                <a:cs typeface="NVIDIA Sans"/>
                <a:sym typeface="NVIDIA Sans"/>
              </a:defRPr>
            </a:lvl2pPr>
            <a:lvl3pPr marL="1371600" lvl="2" indent="-533400" algn="l">
              <a:lnSpc>
                <a:spcPct val="90000"/>
              </a:lnSpc>
              <a:spcBef>
                <a:spcPts val="1600"/>
              </a:spcBef>
              <a:spcAft>
                <a:spcPts val="0"/>
              </a:spcAft>
              <a:buSzPts val="4800"/>
              <a:buChar char="•"/>
              <a:defRPr sz="4800">
                <a:latin typeface="NVIDIA Sans"/>
                <a:ea typeface="NVIDIA Sans"/>
                <a:cs typeface="NVIDIA Sans"/>
                <a:sym typeface="NVIDIA Sans"/>
              </a:defRPr>
            </a:lvl3pPr>
            <a:lvl4pPr marL="1828800" lvl="3" indent="-533400" algn="l">
              <a:lnSpc>
                <a:spcPct val="90000"/>
              </a:lnSpc>
              <a:spcBef>
                <a:spcPts val="800"/>
              </a:spcBef>
              <a:spcAft>
                <a:spcPts val="0"/>
              </a:spcAft>
              <a:buSzPts val="4800"/>
              <a:buChar char="•"/>
              <a:defRPr sz="4800">
                <a:latin typeface="NVIDIA Sans"/>
                <a:ea typeface="NVIDIA Sans"/>
                <a:cs typeface="NVIDIA Sans"/>
                <a:sym typeface="NVIDIA Sans"/>
              </a:defRPr>
            </a:lvl4pPr>
            <a:lvl5pPr marL="2286000" lvl="4" indent="-533400" algn="l">
              <a:lnSpc>
                <a:spcPct val="90000"/>
              </a:lnSpc>
              <a:spcBef>
                <a:spcPts val="800"/>
              </a:spcBef>
              <a:spcAft>
                <a:spcPts val="0"/>
              </a:spcAft>
              <a:buSzPts val="4800"/>
              <a:buChar char="•"/>
              <a:defRPr sz="4800">
                <a:latin typeface="NVIDIA Sans"/>
                <a:ea typeface="NVIDIA Sans"/>
                <a:cs typeface="NVIDIA Sans"/>
                <a:sym typeface="NVIDIA Sans"/>
              </a:defRPr>
            </a:lvl5pPr>
            <a:lvl6pPr marL="2743200" lvl="5" indent="-533400" algn="l">
              <a:lnSpc>
                <a:spcPct val="90000"/>
              </a:lnSpc>
              <a:spcBef>
                <a:spcPts val="1500"/>
              </a:spcBef>
              <a:spcAft>
                <a:spcPts val="0"/>
              </a:spcAft>
              <a:buSzPts val="4800"/>
              <a:buChar char="•"/>
              <a:defRPr sz="4800"/>
            </a:lvl6pPr>
            <a:lvl7pPr marL="3200400" lvl="6" indent="-533400" algn="l">
              <a:lnSpc>
                <a:spcPct val="90000"/>
              </a:lnSpc>
              <a:spcBef>
                <a:spcPts val="1500"/>
              </a:spcBef>
              <a:spcAft>
                <a:spcPts val="0"/>
              </a:spcAft>
              <a:buSzPts val="4800"/>
              <a:buChar char="•"/>
              <a:defRPr sz="4800"/>
            </a:lvl7pPr>
            <a:lvl8pPr marL="3657600" lvl="7" indent="-533400" algn="l">
              <a:lnSpc>
                <a:spcPct val="90000"/>
              </a:lnSpc>
              <a:spcBef>
                <a:spcPts val="1500"/>
              </a:spcBef>
              <a:spcAft>
                <a:spcPts val="0"/>
              </a:spcAft>
              <a:buSzPts val="4800"/>
              <a:buChar char="•"/>
              <a:defRPr sz="4800"/>
            </a:lvl8pPr>
            <a:lvl9pPr marL="4114800" lvl="8" indent="-228600" algn="l">
              <a:lnSpc>
                <a:spcPct val="90000"/>
              </a:lnSpc>
              <a:spcBef>
                <a:spcPts val="1500"/>
              </a:spcBef>
              <a:spcAft>
                <a:spcPts val="0"/>
              </a:spcAft>
              <a:buSzPts val="4800"/>
              <a:buNone/>
              <a:defRPr sz="4800"/>
            </a:lvl9pPr>
          </a:lstStyle>
          <a:p>
            <a:endParaRPr/>
          </a:p>
        </p:txBody>
      </p:sp>
    </p:spTree>
  </p:cSld>
  <p:clrMapOvr>
    <a:masterClrMapping/>
  </p:clrMapOvr>
  <p:extLst>
    <p:ext uri="{DCECCB84-F9BA-43D5-87BE-67443E8EF086}">
      <p15:sldGuideLst xmlns:p15="http://schemas.microsoft.com/office/powerpoint/2012/main">
        <p15:guide id="1" pos="424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peaker">
  <p:cSld name="Speaker">
    <p:spTree>
      <p:nvGrpSpPr>
        <p:cNvPr id="1" name="Shape 59"/>
        <p:cNvGrpSpPr/>
        <p:nvPr/>
      </p:nvGrpSpPr>
      <p:grpSpPr>
        <a:xfrm>
          <a:off x="0" y="0"/>
          <a:ext cx="0" cy="0"/>
          <a:chOff x="0" y="0"/>
          <a:chExt cx="0" cy="0"/>
        </a:xfrm>
      </p:grpSpPr>
      <p:pic>
        <p:nvPicPr>
          <p:cNvPr id="60" name="Google Shape;60;p9"/>
          <p:cNvPicPr preferRelativeResize="0"/>
          <p:nvPr/>
        </p:nvPicPr>
        <p:blipFill rotWithShape="1">
          <a:blip r:embed="rId2">
            <a:alphaModFix/>
          </a:blip>
          <a:srcRect/>
          <a:stretch/>
        </p:blipFill>
        <p:spPr>
          <a:xfrm>
            <a:off x="2" y="0"/>
            <a:ext cx="36575996" cy="20573997"/>
          </a:xfrm>
          <a:prstGeom prst="rect">
            <a:avLst/>
          </a:prstGeom>
          <a:noFill/>
          <a:ln>
            <a:noFill/>
          </a:ln>
        </p:spPr>
      </p:pic>
      <p:sp>
        <p:nvSpPr>
          <p:cNvPr id="61" name="Google Shape;61;p9"/>
          <p:cNvSpPr/>
          <p:nvPr/>
        </p:nvSpPr>
        <p:spPr>
          <a:xfrm>
            <a:off x="0" y="0"/>
            <a:ext cx="36576000" cy="20574000"/>
          </a:xfrm>
          <a:prstGeom prst="rect">
            <a:avLst/>
          </a:prstGeom>
          <a:gradFill>
            <a:gsLst>
              <a:gs pos="0">
                <a:srgbClr val="FFFFFF">
                  <a:alpha val="40000"/>
                </a:srgbClr>
              </a:gs>
              <a:gs pos="15000">
                <a:srgbClr val="FFFFFF">
                  <a:alpha val="40000"/>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200">
              <a:solidFill>
                <a:schemeClr val="lt1"/>
              </a:solidFill>
              <a:latin typeface="NVIDIA Sans Medium"/>
              <a:ea typeface="NVIDIA Sans Medium"/>
              <a:cs typeface="NVIDIA Sans Medium"/>
              <a:sym typeface="NVIDIA Sans Medium"/>
            </a:endParaRPr>
          </a:p>
        </p:txBody>
      </p:sp>
      <p:sp>
        <p:nvSpPr>
          <p:cNvPr id="62" name="Google Shape;62;p9"/>
          <p:cNvSpPr txBox="1">
            <a:spLocks noGrp="1"/>
          </p:cNvSpPr>
          <p:nvPr>
            <p:ph type="body" idx="1"/>
          </p:nvPr>
        </p:nvSpPr>
        <p:spPr>
          <a:xfrm>
            <a:off x="15544800" y="17867376"/>
            <a:ext cx="6400800" cy="1097400"/>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SzPts val="2800"/>
              <a:buNone/>
              <a:defRPr sz="2800">
                <a:solidFill>
                  <a:schemeClr val="dk1"/>
                </a:solidFill>
                <a:latin typeface="NVIDIA Sans"/>
                <a:ea typeface="NVIDIA Sans"/>
                <a:cs typeface="NVIDIA Sans"/>
                <a:sym typeface="NVIDIA Sans"/>
              </a:defRPr>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63" name="Google Shape;63;p9"/>
          <p:cNvSpPr txBox="1">
            <a:spLocks noGrp="1"/>
          </p:cNvSpPr>
          <p:nvPr>
            <p:ph type="body" idx="2"/>
          </p:nvPr>
        </p:nvSpPr>
        <p:spPr>
          <a:xfrm>
            <a:off x="15544800" y="17145000"/>
            <a:ext cx="6400800" cy="548700"/>
          </a:xfrm>
          <a:prstGeom prst="rect">
            <a:avLst/>
          </a:prstGeom>
          <a:noFill/>
          <a:ln>
            <a:noFill/>
          </a:ln>
        </p:spPr>
        <p:txBody>
          <a:bodyPr spcFirstLastPara="1" wrap="square" lIns="0" tIns="45700" rIns="0" bIns="45700" anchor="b" anchorCtr="0">
            <a:noAutofit/>
          </a:bodyPr>
          <a:lstStyle>
            <a:lvl1pPr marL="457200" lvl="0" indent="-228600" algn="ctr">
              <a:lnSpc>
                <a:spcPct val="100000"/>
              </a:lnSpc>
              <a:spcBef>
                <a:spcPts val="0"/>
              </a:spcBef>
              <a:spcAft>
                <a:spcPts val="0"/>
              </a:spcAft>
              <a:buSzPts val="4000"/>
              <a:buFont typeface="NVIDIA Sans Medium"/>
              <a:buNone/>
              <a:defRPr sz="4000">
                <a:solidFill>
                  <a:schemeClr val="dk1"/>
                </a:solidFill>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64" name="Google Shape;64;p9"/>
          <p:cNvSpPr>
            <a:spLocks noGrp="1"/>
          </p:cNvSpPr>
          <p:nvPr>
            <p:ph type="pic" idx="3"/>
          </p:nvPr>
        </p:nvSpPr>
        <p:spPr>
          <a:xfrm>
            <a:off x="15544800" y="10515600"/>
            <a:ext cx="6400800" cy="6400800"/>
          </a:xfrm>
          <a:prstGeom prst="rect">
            <a:avLst/>
          </a:prstGeom>
          <a:solidFill>
            <a:schemeClr val="lt2"/>
          </a:solidFill>
          <a:ln w="9525" cap="flat" cmpd="sng">
            <a:solidFill>
              <a:schemeClr val="accent6"/>
            </a:solidFill>
            <a:prstDash val="solid"/>
            <a:round/>
            <a:headEnd type="none" w="sm" len="sm"/>
            <a:tailEnd type="none" w="sm" len="sm"/>
          </a:ln>
        </p:spPr>
      </p:sp>
      <p:sp>
        <p:nvSpPr>
          <p:cNvPr id="65" name="Google Shape;65;p9"/>
          <p:cNvSpPr txBox="1">
            <a:spLocks noGrp="1"/>
          </p:cNvSpPr>
          <p:nvPr>
            <p:ph type="body" idx="4"/>
          </p:nvPr>
        </p:nvSpPr>
        <p:spPr>
          <a:xfrm>
            <a:off x="8686800" y="17867376"/>
            <a:ext cx="6400800" cy="1097400"/>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SzPts val="2800"/>
              <a:buNone/>
              <a:defRPr sz="2800">
                <a:solidFill>
                  <a:schemeClr val="dk1"/>
                </a:solidFill>
                <a:latin typeface="NVIDIA Sans"/>
                <a:ea typeface="NVIDIA Sans"/>
                <a:cs typeface="NVIDIA Sans"/>
                <a:sym typeface="NVIDIA Sans"/>
              </a:defRPr>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66" name="Google Shape;66;p9"/>
          <p:cNvSpPr txBox="1">
            <a:spLocks noGrp="1"/>
          </p:cNvSpPr>
          <p:nvPr>
            <p:ph type="body" idx="5"/>
          </p:nvPr>
        </p:nvSpPr>
        <p:spPr>
          <a:xfrm>
            <a:off x="8686800" y="17145000"/>
            <a:ext cx="6400800" cy="548700"/>
          </a:xfrm>
          <a:prstGeom prst="rect">
            <a:avLst/>
          </a:prstGeom>
          <a:noFill/>
          <a:ln>
            <a:noFill/>
          </a:ln>
        </p:spPr>
        <p:txBody>
          <a:bodyPr spcFirstLastPara="1" wrap="square" lIns="0" tIns="45700" rIns="0" bIns="45700" anchor="b" anchorCtr="0">
            <a:noAutofit/>
          </a:bodyPr>
          <a:lstStyle>
            <a:lvl1pPr marL="457200" lvl="0" indent="-228600" algn="ctr">
              <a:lnSpc>
                <a:spcPct val="100000"/>
              </a:lnSpc>
              <a:spcBef>
                <a:spcPts val="0"/>
              </a:spcBef>
              <a:spcAft>
                <a:spcPts val="0"/>
              </a:spcAft>
              <a:buSzPts val="4000"/>
              <a:buFont typeface="NVIDIA Sans Medium"/>
              <a:buNone/>
              <a:defRPr sz="4000">
                <a:solidFill>
                  <a:schemeClr val="dk1"/>
                </a:solidFill>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67" name="Google Shape;67;p9"/>
          <p:cNvSpPr>
            <a:spLocks noGrp="1"/>
          </p:cNvSpPr>
          <p:nvPr>
            <p:ph type="pic" idx="6"/>
          </p:nvPr>
        </p:nvSpPr>
        <p:spPr>
          <a:xfrm>
            <a:off x="8686800" y="10515600"/>
            <a:ext cx="6400800" cy="6400800"/>
          </a:xfrm>
          <a:prstGeom prst="rect">
            <a:avLst/>
          </a:prstGeom>
          <a:solidFill>
            <a:schemeClr val="lt2"/>
          </a:solidFill>
          <a:ln w="9525" cap="flat" cmpd="sng">
            <a:solidFill>
              <a:schemeClr val="accent6"/>
            </a:solidFill>
            <a:prstDash val="solid"/>
            <a:round/>
            <a:headEnd type="none" w="sm" len="sm"/>
            <a:tailEnd type="none" w="sm" len="sm"/>
          </a:ln>
        </p:spPr>
      </p:sp>
      <p:sp>
        <p:nvSpPr>
          <p:cNvPr id="68" name="Google Shape;68;p9"/>
          <p:cNvSpPr txBox="1">
            <a:spLocks noGrp="1"/>
          </p:cNvSpPr>
          <p:nvPr>
            <p:ph type="body" idx="7"/>
          </p:nvPr>
        </p:nvSpPr>
        <p:spPr>
          <a:xfrm>
            <a:off x="1828800" y="17867376"/>
            <a:ext cx="6400800" cy="1097400"/>
          </a:xfrm>
          <a:prstGeom prst="rect">
            <a:avLst/>
          </a:prstGeom>
          <a:noFill/>
          <a:ln>
            <a:noFill/>
          </a:ln>
        </p:spPr>
        <p:txBody>
          <a:bodyPr spcFirstLastPara="1" wrap="square" lIns="0" tIns="45700" rIns="0" bIns="45700" anchor="t" anchorCtr="0">
            <a:noAutofit/>
          </a:bodyPr>
          <a:lstStyle>
            <a:lvl1pPr marL="457200" lvl="0" indent="-228600" algn="ctr">
              <a:lnSpc>
                <a:spcPct val="100000"/>
              </a:lnSpc>
              <a:spcBef>
                <a:spcPts val="0"/>
              </a:spcBef>
              <a:spcAft>
                <a:spcPts val="0"/>
              </a:spcAft>
              <a:buSzPts val="2800"/>
              <a:buNone/>
              <a:defRPr sz="2800">
                <a:solidFill>
                  <a:schemeClr val="dk1"/>
                </a:solidFill>
                <a:latin typeface="NVIDIA Sans"/>
                <a:ea typeface="NVIDIA Sans"/>
                <a:cs typeface="NVIDIA Sans"/>
                <a:sym typeface="NVIDIA Sans"/>
              </a:defRPr>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69" name="Google Shape;69;p9"/>
          <p:cNvSpPr txBox="1">
            <a:spLocks noGrp="1"/>
          </p:cNvSpPr>
          <p:nvPr>
            <p:ph type="body" idx="8"/>
          </p:nvPr>
        </p:nvSpPr>
        <p:spPr>
          <a:xfrm>
            <a:off x="1828800" y="17117568"/>
            <a:ext cx="6400800" cy="548700"/>
          </a:xfrm>
          <a:prstGeom prst="rect">
            <a:avLst/>
          </a:prstGeom>
          <a:noFill/>
          <a:ln>
            <a:noFill/>
          </a:ln>
        </p:spPr>
        <p:txBody>
          <a:bodyPr spcFirstLastPara="1" wrap="square" lIns="0" tIns="45700" rIns="0" bIns="45700" anchor="b" anchorCtr="0">
            <a:noAutofit/>
          </a:bodyPr>
          <a:lstStyle>
            <a:lvl1pPr marL="457200" lvl="0" indent="-228600" algn="ctr">
              <a:lnSpc>
                <a:spcPct val="100000"/>
              </a:lnSpc>
              <a:spcBef>
                <a:spcPts val="0"/>
              </a:spcBef>
              <a:spcAft>
                <a:spcPts val="0"/>
              </a:spcAft>
              <a:buSzPts val="4000"/>
              <a:buFont typeface="NVIDIA Sans Medium"/>
              <a:buNone/>
              <a:defRPr sz="4000">
                <a:solidFill>
                  <a:schemeClr val="dk1"/>
                </a:solidFill>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70" name="Google Shape;70;p9"/>
          <p:cNvSpPr>
            <a:spLocks noGrp="1"/>
          </p:cNvSpPr>
          <p:nvPr>
            <p:ph type="pic" idx="9"/>
          </p:nvPr>
        </p:nvSpPr>
        <p:spPr>
          <a:xfrm>
            <a:off x="1828800" y="10515600"/>
            <a:ext cx="6400800" cy="6400800"/>
          </a:xfrm>
          <a:prstGeom prst="rect">
            <a:avLst/>
          </a:prstGeom>
          <a:solidFill>
            <a:schemeClr val="lt2"/>
          </a:solidFill>
          <a:ln w="9525" cap="flat" cmpd="sng">
            <a:solidFill>
              <a:schemeClr val="accent6"/>
            </a:solidFill>
            <a:prstDash val="solid"/>
            <a:round/>
            <a:headEnd type="none" w="sm" len="sm"/>
            <a:tailEnd type="none" w="sm" len="sm"/>
          </a:ln>
        </p:spPr>
      </p:sp>
      <p:sp>
        <p:nvSpPr>
          <p:cNvPr id="71" name="Google Shape;71;p9"/>
          <p:cNvSpPr txBox="1">
            <a:spLocks noGrp="1"/>
          </p:cNvSpPr>
          <p:nvPr>
            <p:ph type="body" idx="13"/>
          </p:nvPr>
        </p:nvSpPr>
        <p:spPr>
          <a:xfrm>
            <a:off x="1828801" y="5943600"/>
            <a:ext cx="20116800" cy="4114800"/>
          </a:xfrm>
          <a:prstGeom prst="rect">
            <a:avLst/>
          </a:prstGeom>
          <a:noFill/>
          <a:ln>
            <a:noFill/>
          </a:ln>
        </p:spPr>
        <p:txBody>
          <a:bodyPr spcFirstLastPara="1" wrap="square" lIns="0" tIns="45700" rIns="0" bIns="45700" anchor="t" anchorCtr="0">
            <a:noAutofit/>
          </a:bodyPr>
          <a:lstStyle>
            <a:lvl1pPr marL="457200" lvl="0" indent="-482600" algn="l">
              <a:lnSpc>
                <a:spcPct val="90000"/>
              </a:lnSpc>
              <a:spcBef>
                <a:spcPts val="1600"/>
              </a:spcBef>
              <a:spcAft>
                <a:spcPts val="0"/>
              </a:spcAft>
              <a:buSzPts val="4000"/>
              <a:buChar char="•"/>
              <a:defRPr>
                <a:solidFill>
                  <a:schemeClr val="dk1"/>
                </a:solidFill>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solidFill>
                  <a:schemeClr val="dk1"/>
                </a:solidFill>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solidFill>
                  <a:schemeClr val="dk1"/>
                </a:solidFill>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solidFill>
                  <a:schemeClr val="dk1"/>
                </a:solidFill>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solidFill>
                  <a:schemeClr val="dk1"/>
                </a:solidFill>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72" name="Google Shape;72;p9"/>
          <p:cNvSpPr txBox="1">
            <a:spLocks noGrp="1"/>
          </p:cNvSpPr>
          <p:nvPr>
            <p:ph type="body" idx="14"/>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1600"/>
              </a:spcBef>
              <a:spcAft>
                <a:spcPts val="0"/>
              </a:spcAft>
              <a:buClr>
                <a:schemeClr val="dk1"/>
              </a:buClr>
              <a:buSzPts val="4800"/>
              <a:buFont typeface="NVIDIA Sans"/>
              <a:buNone/>
              <a:defRPr sz="4800">
                <a:latin typeface="NVIDIA Sans"/>
                <a:ea typeface="NVIDIA Sans"/>
                <a:cs typeface="NVIDIA Sans"/>
                <a:sym typeface="NVIDIA Sans"/>
              </a:defRPr>
            </a:lvl1pPr>
            <a:lvl2pPr marL="914400" lvl="1" indent="-533400" algn="l">
              <a:lnSpc>
                <a:spcPct val="90000"/>
              </a:lnSpc>
              <a:spcBef>
                <a:spcPts val="1600"/>
              </a:spcBef>
              <a:spcAft>
                <a:spcPts val="0"/>
              </a:spcAft>
              <a:buClr>
                <a:schemeClr val="dk1"/>
              </a:buClr>
              <a:buSzPts val="4800"/>
              <a:buChar char="•"/>
              <a:defRPr sz="4800"/>
            </a:lvl2pPr>
            <a:lvl3pPr marL="1371600" lvl="2" indent="-533400" algn="l">
              <a:lnSpc>
                <a:spcPct val="90000"/>
              </a:lnSpc>
              <a:spcBef>
                <a:spcPts val="1600"/>
              </a:spcBef>
              <a:spcAft>
                <a:spcPts val="0"/>
              </a:spcAft>
              <a:buClr>
                <a:schemeClr val="dk1"/>
              </a:buClr>
              <a:buSzPts val="4800"/>
              <a:buChar char="•"/>
              <a:defRPr sz="4800"/>
            </a:lvl3pPr>
            <a:lvl4pPr marL="1828800" lvl="3" indent="-533400" algn="l">
              <a:lnSpc>
                <a:spcPct val="90000"/>
              </a:lnSpc>
              <a:spcBef>
                <a:spcPts val="800"/>
              </a:spcBef>
              <a:spcAft>
                <a:spcPts val="0"/>
              </a:spcAft>
              <a:buClr>
                <a:schemeClr val="dk1"/>
              </a:buClr>
              <a:buSzPts val="4800"/>
              <a:buChar char="•"/>
              <a:defRPr sz="4800"/>
            </a:lvl4pPr>
            <a:lvl5pPr marL="2286000" lvl="4" indent="-533400" algn="l">
              <a:lnSpc>
                <a:spcPct val="90000"/>
              </a:lnSpc>
              <a:spcBef>
                <a:spcPts val="800"/>
              </a:spcBef>
              <a:spcAft>
                <a:spcPts val="0"/>
              </a:spcAft>
              <a:buClr>
                <a:schemeClr val="dk1"/>
              </a:buClr>
              <a:buSzPts val="4800"/>
              <a:buChar char="•"/>
              <a:defRPr sz="4800"/>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228600" algn="l">
              <a:lnSpc>
                <a:spcPct val="90000"/>
              </a:lnSpc>
              <a:spcBef>
                <a:spcPts val="1500"/>
              </a:spcBef>
              <a:spcAft>
                <a:spcPts val="0"/>
              </a:spcAft>
              <a:buClr>
                <a:schemeClr val="dk1"/>
              </a:buClr>
              <a:buSzPts val="1800"/>
              <a:buNone/>
              <a:defRPr/>
            </a:lvl9pPr>
          </a:lstStyle>
          <a:p>
            <a:endParaRPr/>
          </a:p>
        </p:txBody>
      </p:sp>
      <p:sp>
        <p:nvSpPr>
          <p:cNvPr id="73" name="Google Shape;73;p9"/>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solidFill>
                  <a:schemeClr val="dk1"/>
                </a:solidFill>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ubtitle, Content Right">
  <p:cSld name="Title, Subtitle, Content Right">
    <p:spTree>
      <p:nvGrpSpPr>
        <p:cNvPr id="1" name="Shape 74"/>
        <p:cNvGrpSpPr/>
        <p:nvPr/>
      </p:nvGrpSpPr>
      <p:grpSpPr>
        <a:xfrm>
          <a:off x="0" y="0"/>
          <a:ext cx="0" cy="0"/>
          <a:chOff x="0" y="0"/>
          <a:chExt cx="0" cy="0"/>
        </a:xfrm>
      </p:grpSpPr>
      <p:sp>
        <p:nvSpPr>
          <p:cNvPr id="75" name="Google Shape;75;p10"/>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76" name="Google Shape;76;p10"/>
          <p:cNvSpPr txBox="1">
            <a:spLocks noGrp="1"/>
          </p:cNvSpPr>
          <p:nvPr>
            <p:ph type="body" idx="1"/>
          </p:nvPr>
        </p:nvSpPr>
        <p:spPr>
          <a:xfrm>
            <a:off x="18288000" y="2971800"/>
            <a:ext cx="16459199" cy="14630400"/>
          </a:xfrm>
          <a:prstGeom prst="rect">
            <a:avLst/>
          </a:prstGeom>
          <a:noFill/>
          <a:ln>
            <a:noFill/>
          </a:ln>
        </p:spPr>
        <p:txBody>
          <a:bodyPr spcFirstLastPara="1" wrap="square" lIns="0" tIns="45700" rIns="0" bIns="45700" anchor="ctr" anchorCtr="0">
            <a:noAutofit/>
          </a:bodyPr>
          <a:lstStyle>
            <a:lvl1pPr marL="457200" lvl="0" indent="-482600" algn="l">
              <a:lnSpc>
                <a:spcPct val="90000"/>
              </a:lnSpc>
              <a:spcBef>
                <a:spcPts val="1600"/>
              </a:spcBef>
              <a:spcAft>
                <a:spcPts val="0"/>
              </a:spcAft>
              <a:buSzPts val="4000"/>
              <a:buChar char="•"/>
              <a:defRPr>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77" name="Google Shape;77;p10"/>
          <p:cNvSpPr txBox="1">
            <a:spLocks noGrp="1"/>
          </p:cNvSpPr>
          <p:nvPr>
            <p:ph type="body" idx="2"/>
          </p:nvPr>
        </p:nvSpPr>
        <p:spPr>
          <a:xfrm>
            <a:off x="1828800" y="10652760"/>
            <a:ext cx="13716000" cy="1508760"/>
          </a:xfrm>
          <a:prstGeom prst="rect">
            <a:avLst/>
          </a:prstGeom>
          <a:noFill/>
          <a:ln>
            <a:noFill/>
          </a:ln>
        </p:spPr>
        <p:txBody>
          <a:bodyPr spcFirstLastPara="1" wrap="square" lIns="0" tIns="91425" rIns="0" bIns="45700" anchor="t" anchorCtr="0">
            <a:noAutofit/>
          </a:bodyPr>
          <a:lstStyle>
            <a:lvl1pPr marL="457200" marR="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78" name="Google Shape;78;p10"/>
          <p:cNvSpPr txBox="1">
            <a:spLocks noGrp="1"/>
          </p:cNvSpPr>
          <p:nvPr>
            <p:ph type="title"/>
          </p:nvPr>
        </p:nvSpPr>
        <p:spPr>
          <a:xfrm>
            <a:off x="1828800" y="8183880"/>
            <a:ext cx="137160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0"/>
          <p:cNvSpPr txBox="1">
            <a:spLocks noGrp="1"/>
          </p:cNvSpPr>
          <p:nvPr>
            <p:ph type="subTitle" idx="3"/>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86"/>
        <p:cNvGrpSpPr/>
        <p:nvPr/>
      </p:nvGrpSpPr>
      <p:grpSpPr>
        <a:xfrm>
          <a:off x="0" y="0"/>
          <a:ext cx="0" cy="0"/>
          <a:chOff x="0" y="0"/>
          <a:chExt cx="0" cy="0"/>
        </a:xfrm>
      </p:grpSpPr>
      <p:sp>
        <p:nvSpPr>
          <p:cNvPr id="87" name="Google Shape;87;p12"/>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88" name="Google Shape;88;p12"/>
          <p:cNvSpPr txBox="1">
            <a:spLocks noGrp="1"/>
          </p:cNvSpPr>
          <p:nvPr>
            <p:ph type="body" idx="1"/>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89" name="Google Shape;89;p12"/>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2"/>
          <p:cNvSpPr txBox="1">
            <a:spLocks noGrp="1"/>
          </p:cNvSpPr>
          <p:nvPr>
            <p:ph type="subTitle" idx="2"/>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91"/>
        <p:cNvGrpSpPr/>
        <p:nvPr/>
      </p:nvGrpSpPr>
      <p:grpSpPr>
        <a:xfrm>
          <a:off x="0" y="0"/>
          <a:ext cx="0" cy="0"/>
          <a:chOff x="0" y="0"/>
          <a:chExt cx="0" cy="0"/>
        </a:xfrm>
      </p:grpSpPr>
      <p:sp>
        <p:nvSpPr>
          <p:cNvPr id="92" name="Google Shape;92;p13"/>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93" name="Google Shape;93;p13"/>
          <p:cNvSpPr txBox="1">
            <a:spLocks noGrp="1"/>
          </p:cNvSpPr>
          <p:nvPr>
            <p:ph type="body" idx="1"/>
          </p:nvPr>
        </p:nvSpPr>
        <p:spPr>
          <a:xfrm>
            <a:off x="19202400" y="5943600"/>
            <a:ext cx="15544800" cy="12801600"/>
          </a:xfrm>
          <a:prstGeom prst="rect">
            <a:avLst/>
          </a:prstGeom>
          <a:noFill/>
          <a:ln>
            <a:noFill/>
          </a:ln>
        </p:spPr>
        <p:txBody>
          <a:bodyPr spcFirstLastPara="1" wrap="square" lIns="0" tIns="45700" rIns="0" bIns="45700" anchor="t" anchorCtr="0">
            <a:noAutofit/>
          </a:bodyPr>
          <a:lstStyle>
            <a:lvl1pPr marL="457200" lvl="0" indent="-482600" algn="l">
              <a:lnSpc>
                <a:spcPct val="90000"/>
              </a:lnSpc>
              <a:spcBef>
                <a:spcPts val="1600"/>
              </a:spcBef>
              <a:spcAft>
                <a:spcPts val="0"/>
              </a:spcAft>
              <a:buSzPts val="4000"/>
              <a:buChar char="•"/>
              <a:defRPr>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94" name="Google Shape;94;p13"/>
          <p:cNvSpPr txBox="1">
            <a:spLocks noGrp="1"/>
          </p:cNvSpPr>
          <p:nvPr>
            <p:ph type="body" idx="2"/>
          </p:nvPr>
        </p:nvSpPr>
        <p:spPr>
          <a:xfrm>
            <a:off x="1828800" y="5943600"/>
            <a:ext cx="15544800" cy="12801600"/>
          </a:xfrm>
          <a:prstGeom prst="rect">
            <a:avLst/>
          </a:prstGeom>
          <a:noFill/>
          <a:ln>
            <a:noFill/>
          </a:ln>
        </p:spPr>
        <p:txBody>
          <a:bodyPr spcFirstLastPara="1" wrap="square" lIns="0" tIns="45700" rIns="0" bIns="45700" anchor="t" anchorCtr="0">
            <a:noAutofit/>
          </a:bodyPr>
          <a:lstStyle>
            <a:lvl1pPr marL="457200" lvl="0" indent="-482600" algn="l">
              <a:lnSpc>
                <a:spcPct val="90000"/>
              </a:lnSpc>
              <a:spcBef>
                <a:spcPts val="1600"/>
              </a:spcBef>
              <a:spcAft>
                <a:spcPts val="0"/>
              </a:spcAft>
              <a:buSzPts val="4000"/>
              <a:buChar char="•"/>
              <a:defRPr>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95" name="Google Shape;95;p13"/>
          <p:cNvSpPr txBox="1">
            <a:spLocks noGrp="1"/>
          </p:cNvSpPr>
          <p:nvPr>
            <p:ph type="body" idx="3"/>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96" name="Google Shape;96;p13"/>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13"/>
          <p:cNvSpPr txBox="1">
            <a:spLocks noGrp="1"/>
          </p:cNvSpPr>
          <p:nvPr>
            <p:ph type="subTitle" idx="4"/>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DING_Title, Subtitle, Bullets">
  <p:cSld name="CODING_Title, Subtitle, Bullets">
    <p:spTree>
      <p:nvGrpSpPr>
        <p:cNvPr id="1" name="Shape 98"/>
        <p:cNvGrpSpPr/>
        <p:nvPr/>
      </p:nvGrpSpPr>
      <p:grpSpPr>
        <a:xfrm>
          <a:off x="0" y="0"/>
          <a:ext cx="0" cy="0"/>
          <a:chOff x="0" y="0"/>
          <a:chExt cx="0" cy="0"/>
        </a:xfrm>
      </p:grpSpPr>
      <p:sp>
        <p:nvSpPr>
          <p:cNvPr id="99" name="Google Shape;99;p14"/>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00" name="Google Shape;100;p14"/>
          <p:cNvSpPr txBox="1">
            <a:spLocks noGrp="1"/>
          </p:cNvSpPr>
          <p:nvPr>
            <p:ph type="body" idx="1"/>
          </p:nvPr>
        </p:nvSpPr>
        <p:spPr>
          <a:xfrm>
            <a:off x="1828800" y="5943600"/>
            <a:ext cx="32918399" cy="128016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4000"/>
              <a:buFont typeface="Roboto Mono"/>
              <a:buNone/>
              <a:defRPr sz="4000">
                <a:latin typeface="Roboto Mono"/>
                <a:ea typeface="Roboto Mono"/>
                <a:cs typeface="Roboto Mono"/>
                <a:sym typeface="Roboto Mono"/>
              </a:defRPr>
            </a:lvl1pPr>
            <a:lvl2pPr marL="914400" lvl="1" indent="-457200" algn="l">
              <a:lnSpc>
                <a:spcPct val="90000"/>
              </a:lnSpc>
              <a:spcBef>
                <a:spcPts val="1600"/>
              </a:spcBef>
              <a:spcAft>
                <a:spcPts val="0"/>
              </a:spcAft>
              <a:buSzPts val="3600"/>
              <a:buFont typeface="Roboto Mono"/>
              <a:buChar char="•"/>
              <a:defRPr sz="3600">
                <a:latin typeface="Roboto Mono"/>
                <a:ea typeface="Roboto Mono"/>
                <a:cs typeface="Roboto Mono"/>
                <a:sym typeface="Roboto Mono"/>
              </a:defRPr>
            </a:lvl2pPr>
            <a:lvl3pPr marL="1371600" lvl="2" indent="-431800" algn="l">
              <a:lnSpc>
                <a:spcPct val="90000"/>
              </a:lnSpc>
              <a:spcBef>
                <a:spcPts val="1600"/>
              </a:spcBef>
              <a:spcAft>
                <a:spcPts val="0"/>
              </a:spcAft>
              <a:buSzPts val="3200"/>
              <a:buFont typeface="Roboto Mono"/>
              <a:buChar char="•"/>
              <a:defRPr sz="3200">
                <a:latin typeface="Roboto Mono"/>
                <a:ea typeface="Roboto Mono"/>
                <a:cs typeface="Roboto Mono"/>
                <a:sym typeface="Roboto Mono"/>
              </a:defRPr>
            </a:lvl3pPr>
            <a:lvl4pPr marL="1828800" lvl="3" indent="-431800" algn="l">
              <a:lnSpc>
                <a:spcPct val="90000"/>
              </a:lnSpc>
              <a:spcBef>
                <a:spcPts val="800"/>
              </a:spcBef>
              <a:spcAft>
                <a:spcPts val="0"/>
              </a:spcAft>
              <a:buSzPts val="3200"/>
              <a:buFont typeface="Roboto Mono"/>
              <a:buChar char="•"/>
              <a:defRPr>
                <a:latin typeface="Roboto Mono"/>
                <a:ea typeface="Roboto Mono"/>
                <a:cs typeface="Roboto Mono"/>
                <a:sym typeface="Roboto Mono"/>
              </a:defRPr>
            </a:lvl4pPr>
            <a:lvl5pPr marL="2286000" lvl="4" indent="-381000" algn="l">
              <a:lnSpc>
                <a:spcPct val="90000"/>
              </a:lnSpc>
              <a:spcBef>
                <a:spcPts val="800"/>
              </a:spcBef>
              <a:spcAft>
                <a:spcPts val="0"/>
              </a:spcAft>
              <a:buSzPts val="2400"/>
              <a:buFont typeface="Roboto Mono"/>
              <a:buChar char="•"/>
              <a:defRPr>
                <a:latin typeface="Roboto Mono"/>
                <a:ea typeface="Roboto Mono"/>
                <a:cs typeface="Roboto Mono"/>
                <a:sym typeface="Roboto Mono"/>
              </a:defRPr>
            </a:lvl5pPr>
            <a:lvl6pPr marL="2743200" lvl="5" indent="-419100" algn="l">
              <a:lnSpc>
                <a:spcPct val="90000"/>
              </a:lnSpc>
              <a:spcBef>
                <a:spcPts val="1500"/>
              </a:spcBef>
              <a:spcAft>
                <a:spcPts val="0"/>
              </a:spcAft>
              <a:buSzPts val="3000"/>
              <a:buFont typeface="Roboto Mono"/>
              <a:buChar char="•"/>
              <a:defRPr sz="3000">
                <a:latin typeface="Roboto Mono"/>
                <a:ea typeface="Roboto Mono"/>
                <a:cs typeface="Roboto Mono"/>
                <a:sym typeface="Roboto Mono"/>
              </a:defRPr>
            </a:lvl6pPr>
            <a:lvl7pPr marL="3200400" lvl="6" indent="-342900" algn="l">
              <a:lnSpc>
                <a:spcPct val="90000"/>
              </a:lnSpc>
              <a:spcBef>
                <a:spcPts val="1500"/>
              </a:spcBef>
              <a:spcAft>
                <a:spcPts val="0"/>
              </a:spcAft>
              <a:buSzPts val="1800"/>
              <a:buFont typeface="Roboto Mono"/>
              <a:buChar char="•"/>
              <a:defRPr>
                <a:latin typeface="Roboto Mono"/>
                <a:ea typeface="Roboto Mono"/>
                <a:cs typeface="Roboto Mono"/>
                <a:sym typeface="Roboto Mono"/>
              </a:defRPr>
            </a:lvl7pPr>
            <a:lvl8pPr marL="3657600" lvl="7" indent="-342900" algn="l">
              <a:lnSpc>
                <a:spcPct val="90000"/>
              </a:lnSpc>
              <a:spcBef>
                <a:spcPts val="1500"/>
              </a:spcBef>
              <a:spcAft>
                <a:spcPts val="0"/>
              </a:spcAft>
              <a:buSzPts val="1800"/>
              <a:buFont typeface="Roboto Mono"/>
              <a:buChar char="•"/>
              <a:defRPr>
                <a:latin typeface="Roboto Mono"/>
                <a:ea typeface="Roboto Mono"/>
                <a:cs typeface="Roboto Mono"/>
                <a:sym typeface="Roboto Mono"/>
              </a:defRPr>
            </a:lvl8pPr>
            <a:lvl9pPr marL="4114800" lvl="8" indent="-228600" algn="l">
              <a:lnSpc>
                <a:spcPct val="90000"/>
              </a:lnSpc>
              <a:spcBef>
                <a:spcPts val="1500"/>
              </a:spcBef>
              <a:spcAft>
                <a:spcPts val="0"/>
              </a:spcAft>
              <a:buSzPts val="1800"/>
              <a:buFont typeface="Roboto Mono"/>
              <a:buNone/>
              <a:defRPr>
                <a:latin typeface="Roboto Mono"/>
                <a:ea typeface="Roboto Mono"/>
                <a:cs typeface="Roboto Mono"/>
                <a:sym typeface="Roboto Mono"/>
              </a:defRPr>
            </a:lvl9pPr>
          </a:lstStyle>
          <a:p>
            <a:endParaRPr/>
          </a:p>
        </p:txBody>
      </p:sp>
      <p:sp>
        <p:nvSpPr>
          <p:cNvPr id="101" name="Google Shape;101;p14"/>
          <p:cNvSpPr txBox="1">
            <a:spLocks noGrp="1"/>
          </p:cNvSpPr>
          <p:nvPr>
            <p:ph type="body" idx="2"/>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Roboto Mono"/>
              <a:buNone/>
              <a:defRPr sz="4800">
                <a:solidFill>
                  <a:schemeClr val="accent6"/>
                </a:solidFill>
                <a:latin typeface="Roboto Mono"/>
                <a:ea typeface="Roboto Mono"/>
                <a:cs typeface="Roboto Mono"/>
                <a:sym typeface="Roboto Mono"/>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02" name="Google Shape;102;p14"/>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Roboto Mono Medium"/>
              <a:buNone/>
              <a:defRPr>
                <a:latin typeface="Roboto Mono Medium"/>
                <a:ea typeface="Roboto Mono Medium"/>
                <a:cs typeface="Roboto Mono Medium"/>
                <a:sym typeface="Roboto Mono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4"/>
          <p:cNvSpPr txBox="1">
            <a:spLocks noGrp="1"/>
          </p:cNvSpPr>
          <p:nvPr>
            <p:ph type="subTitle" idx="3"/>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Use Case">
  <p:cSld name="Use Case">
    <p:spTree>
      <p:nvGrpSpPr>
        <p:cNvPr id="1" name="Shape 104"/>
        <p:cNvGrpSpPr/>
        <p:nvPr/>
      </p:nvGrpSpPr>
      <p:grpSpPr>
        <a:xfrm>
          <a:off x="0" y="0"/>
          <a:ext cx="0" cy="0"/>
          <a:chOff x="0" y="0"/>
          <a:chExt cx="0" cy="0"/>
        </a:xfrm>
      </p:grpSpPr>
      <p:sp>
        <p:nvSpPr>
          <p:cNvPr id="105" name="Google Shape;105;p15"/>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06" name="Google Shape;106;p15"/>
          <p:cNvSpPr>
            <a:spLocks noGrp="1"/>
          </p:cNvSpPr>
          <p:nvPr>
            <p:ph type="pic" idx="2"/>
          </p:nvPr>
        </p:nvSpPr>
        <p:spPr>
          <a:xfrm>
            <a:off x="17145000" y="1828800"/>
            <a:ext cx="17602200" cy="16916400"/>
          </a:xfrm>
          <a:prstGeom prst="rect">
            <a:avLst/>
          </a:prstGeom>
          <a:solidFill>
            <a:schemeClr val="lt2"/>
          </a:solidFill>
          <a:ln w="9525" cap="flat" cmpd="sng">
            <a:solidFill>
              <a:schemeClr val="accent6"/>
            </a:solidFill>
            <a:prstDash val="solid"/>
            <a:round/>
            <a:headEnd type="none" w="sm" len="sm"/>
            <a:tailEnd type="none" w="sm" len="sm"/>
          </a:ln>
        </p:spPr>
      </p:sp>
      <p:sp>
        <p:nvSpPr>
          <p:cNvPr id="107" name="Google Shape;107;p15"/>
          <p:cNvSpPr txBox="1">
            <a:spLocks noGrp="1"/>
          </p:cNvSpPr>
          <p:nvPr>
            <p:ph type="body" idx="1"/>
          </p:nvPr>
        </p:nvSpPr>
        <p:spPr>
          <a:xfrm>
            <a:off x="1828800" y="11109960"/>
            <a:ext cx="13716000" cy="7635240"/>
          </a:xfrm>
          <a:prstGeom prst="rect">
            <a:avLst/>
          </a:prstGeom>
          <a:noFill/>
          <a:ln>
            <a:noFill/>
          </a:ln>
        </p:spPr>
        <p:txBody>
          <a:bodyPr spcFirstLastPara="1" wrap="square" lIns="0" tIns="45700" rIns="0" bIns="45700" anchor="t" anchorCtr="0">
            <a:noAutofit/>
          </a:bodyPr>
          <a:lstStyle>
            <a:lvl1pPr marL="457200" lvl="0" indent="-482600" algn="l">
              <a:lnSpc>
                <a:spcPct val="90000"/>
              </a:lnSpc>
              <a:spcBef>
                <a:spcPts val="1600"/>
              </a:spcBef>
              <a:spcAft>
                <a:spcPts val="0"/>
              </a:spcAft>
              <a:buSzPts val="4000"/>
              <a:buChar char="•"/>
              <a:defRPr>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108" name="Google Shape;108;p15"/>
          <p:cNvSpPr txBox="1">
            <a:spLocks noGrp="1"/>
          </p:cNvSpPr>
          <p:nvPr>
            <p:ph type="title"/>
          </p:nvPr>
        </p:nvSpPr>
        <p:spPr>
          <a:xfrm>
            <a:off x="1828800" y="5685246"/>
            <a:ext cx="13716000" cy="4967514"/>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15"/>
          <p:cNvSpPr>
            <a:spLocks noGrp="1"/>
          </p:cNvSpPr>
          <p:nvPr>
            <p:ph type="pic" idx="3"/>
          </p:nvPr>
        </p:nvSpPr>
        <p:spPr>
          <a:xfrm>
            <a:off x="7182681" y="2933923"/>
            <a:ext cx="3840480" cy="731520"/>
          </a:xfrm>
          <a:prstGeom prst="rect">
            <a:avLst/>
          </a:prstGeom>
          <a:noFill/>
          <a:ln>
            <a:noFill/>
          </a:ln>
        </p:spPr>
      </p:sp>
      <p:cxnSp>
        <p:nvCxnSpPr>
          <p:cNvPr id="110" name="Google Shape;110;p15"/>
          <p:cNvCxnSpPr/>
          <p:nvPr/>
        </p:nvCxnSpPr>
        <p:spPr>
          <a:xfrm>
            <a:off x="6424897" y="2453110"/>
            <a:ext cx="0" cy="1693145"/>
          </a:xfrm>
          <a:prstGeom prst="straightConnector1">
            <a:avLst/>
          </a:prstGeom>
          <a:noFill/>
          <a:ln w="38100" cap="flat" cmpd="sng">
            <a:solidFill>
              <a:schemeClr val="dk2"/>
            </a:solidFill>
            <a:prstDash val="solid"/>
            <a:miter lim="800000"/>
            <a:headEnd type="none" w="lg" len="lg"/>
            <a:tailEnd type="none" w="lg" len="lg"/>
          </a:ln>
        </p:spPr>
      </p:cxnSp>
      <p:sp>
        <p:nvSpPr>
          <p:cNvPr id="111" name="Google Shape;111;p15"/>
          <p:cNvSpPr/>
          <p:nvPr/>
        </p:nvSpPr>
        <p:spPr>
          <a:xfrm>
            <a:off x="3115929" y="3071500"/>
            <a:ext cx="2565187" cy="480812"/>
          </a:xfrm>
          <a:custGeom>
            <a:avLst/>
            <a:gdLst/>
            <a:ahLst/>
            <a:cxnLst/>
            <a:rect l="l" t="t" r="r" b="b"/>
            <a:pathLst>
              <a:path w="3646099" h="683416" extrusionOk="0">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VIDIA Sans"/>
              <a:ea typeface="NVIDIA Sans"/>
              <a:cs typeface="NVIDIA Sans"/>
              <a:sym typeface="NVIDIA Sans"/>
            </a:endParaRPr>
          </a:p>
        </p:txBody>
      </p:sp>
      <p:sp>
        <p:nvSpPr>
          <p:cNvPr id="112" name="Google Shape;112;p15"/>
          <p:cNvSpPr/>
          <p:nvPr/>
        </p:nvSpPr>
        <p:spPr>
          <a:xfrm>
            <a:off x="1828916" y="2933922"/>
            <a:ext cx="1105476" cy="731520"/>
          </a:xfrm>
          <a:custGeom>
            <a:avLst/>
            <a:gdLst/>
            <a:ahLst/>
            <a:cxnLst/>
            <a:rect l="l" t="t" r="r" b="b"/>
            <a:pathLst>
              <a:path w="1571299" h="1039766" extrusionOk="0">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VIDIA Sans"/>
              <a:ea typeface="NVIDIA Sans"/>
              <a:cs typeface="NVIDIA Sans"/>
              <a:sym typeface="NVIDIA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113"/>
        <p:cNvGrpSpPr/>
        <p:nvPr/>
      </p:nvGrpSpPr>
      <p:grpSpPr>
        <a:xfrm>
          <a:off x="0" y="0"/>
          <a:ext cx="0" cy="0"/>
          <a:chOff x="0" y="0"/>
          <a:chExt cx="0" cy="0"/>
        </a:xfrm>
      </p:grpSpPr>
      <p:sp>
        <p:nvSpPr>
          <p:cNvPr id="114" name="Google Shape;114;p16"/>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15" name="Google Shape;115;p16"/>
          <p:cNvSpPr txBox="1">
            <a:spLocks noGrp="1"/>
          </p:cNvSpPr>
          <p:nvPr>
            <p:ph type="body" idx="1"/>
          </p:nvPr>
        </p:nvSpPr>
        <p:spPr>
          <a:xfrm>
            <a:off x="10058400" y="5552182"/>
            <a:ext cx="16459200" cy="1077218"/>
          </a:xfrm>
          <a:prstGeom prst="rect">
            <a:avLst/>
          </a:prstGeom>
          <a:noFill/>
          <a:ln>
            <a:noFill/>
          </a:ln>
        </p:spPr>
        <p:txBody>
          <a:bodyPr spcFirstLastPara="1" wrap="square" lIns="0" tIns="45700" rIns="0" bIns="45700" anchor="t" anchorCtr="0">
            <a:noAutofit/>
          </a:bodyPr>
          <a:lstStyle>
            <a:lvl1pPr marL="457200" lvl="0" indent="-508000" algn="ctr">
              <a:lnSpc>
                <a:spcPct val="100000"/>
              </a:lnSpc>
              <a:spcBef>
                <a:spcPts val="0"/>
              </a:spcBef>
              <a:spcAft>
                <a:spcPts val="0"/>
              </a:spcAft>
              <a:buSzPts val="4400"/>
              <a:buChar char="•"/>
              <a:defRPr b="0">
                <a:solidFill>
                  <a:schemeClr val="dk1"/>
                </a:solidFill>
                <a:latin typeface="NVIDIA Sans Medium"/>
                <a:ea typeface="NVIDIA Sans Medium"/>
                <a:cs typeface="NVIDIA Sans Medium"/>
                <a:sym typeface="NVIDIA Sans Medium"/>
              </a:defRPr>
            </a:lvl1pPr>
            <a:lvl2pPr marL="914400" lvl="1" indent="-228600" algn="ctr">
              <a:lnSpc>
                <a:spcPct val="100000"/>
              </a:lnSpc>
              <a:spcBef>
                <a:spcPts val="0"/>
              </a:spcBef>
              <a:spcAft>
                <a:spcPts val="0"/>
              </a:spcAft>
              <a:buSzPts val="3600"/>
              <a:buNone/>
              <a:defRPr sz="3600">
                <a:solidFill>
                  <a:schemeClr val="accent6"/>
                </a:solidFill>
              </a:defRPr>
            </a:lvl2pPr>
            <a:lvl3pPr marL="1371600" lvl="2" indent="-228600" algn="ctr">
              <a:lnSpc>
                <a:spcPct val="90000"/>
              </a:lnSpc>
              <a:spcBef>
                <a:spcPts val="800"/>
              </a:spcBef>
              <a:spcAft>
                <a:spcPts val="0"/>
              </a:spcAft>
              <a:buClr>
                <a:schemeClr val="accent6"/>
              </a:buClr>
              <a:buSzPts val="3600"/>
              <a:buNone/>
              <a:defRPr>
                <a:solidFill>
                  <a:schemeClr val="accent6"/>
                </a:solidFill>
              </a:defRPr>
            </a:lvl3pPr>
            <a:lvl4pPr marL="1828800" lvl="3" indent="-457200" algn="ctr">
              <a:lnSpc>
                <a:spcPct val="90000"/>
              </a:lnSpc>
              <a:spcBef>
                <a:spcPts val="800"/>
              </a:spcBef>
              <a:spcAft>
                <a:spcPts val="0"/>
              </a:spcAft>
              <a:buClr>
                <a:schemeClr val="accent6"/>
              </a:buClr>
              <a:buSzPts val="3600"/>
              <a:buChar char="•"/>
              <a:defRPr sz="3600">
                <a:solidFill>
                  <a:schemeClr val="accent6"/>
                </a:solidFill>
              </a:defRPr>
            </a:lvl4pPr>
            <a:lvl5pPr marL="2286000" lvl="4" indent="-457200" algn="ctr">
              <a:lnSpc>
                <a:spcPct val="90000"/>
              </a:lnSpc>
              <a:spcBef>
                <a:spcPts val="800"/>
              </a:spcBef>
              <a:spcAft>
                <a:spcPts val="0"/>
              </a:spcAft>
              <a:buClr>
                <a:schemeClr val="accent6"/>
              </a:buClr>
              <a:buSzPts val="3600"/>
              <a:buChar char="•"/>
              <a:defRPr sz="3600">
                <a:solidFill>
                  <a:schemeClr val="accent6"/>
                </a:solidFill>
              </a:defRPr>
            </a:lvl5pPr>
            <a:lvl6pPr marL="2743200" lvl="5" indent="-457200" algn="ctr">
              <a:lnSpc>
                <a:spcPct val="90000"/>
              </a:lnSpc>
              <a:spcBef>
                <a:spcPts val="1500"/>
              </a:spcBef>
              <a:spcAft>
                <a:spcPts val="0"/>
              </a:spcAft>
              <a:buClr>
                <a:schemeClr val="accent6"/>
              </a:buClr>
              <a:buSzPts val="3600"/>
              <a:buChar char="•"/>
              <a:defRPr sz="3600">
                <a:solidFill>
                  <a:schemeClr val="accent6"/>
                </a:solidFill>
              </a:defRPr>
            </a:lvl6pPr>
            <a:lvl7pPr marL="3200400" lvl="6" indent="-457200" algn="ctr">
              <a:lnSpc>
                <a:spcPct val="90000"/>
              </a:lnSpc>
              <a:spcBef>
                <a:spcPts val="1500"/>
              </a:spcBef>
              <a:spcAft>
                <a:spcPts val="0"/>
              </a:spcAft>
              <a:buClr>
                <a:schemeClr val="accent6"/>
              </a:buClr>
              <a:buSzPts val="3600"/>
              <a:buChar char="•"/>
              <a:defRPr sz="3600">
                <a:solidFill>
                  <a:schemeClr val="accent6"/>
                </a:solidFill>
              </a:defRPr>
            </a:lvl7pPr>
            <a:lvl8pPr marL="3657600" lvl="7" indent="-457200" algn="ctr">
              <a:lnSpc>
                <a:spcPct val="90000"/>
              </a:lnSpc>
              <a:spcBef>
                <a:spcPts val="1500"/>
              </a:spcBef>
              <a:spcAft>
                <a:spcPts val="0"/>
              </a:spcAft>
              <a:buClr>
                <a:schemeClr val="accent6"/>
              </a:buClr>
              <a:buSzPts val="3600"/>
              <a:buChar char="•"/>
              <a:defRPr sz="3600">
                <a:solidFill>
                  <a:schemeClr val="accent6"/>
                </a:solidFill>
              </a:defRPr>
            </a:lvl8pPr>
            <a:lvl9pPr marL="4114800" lvl="8" indent="-228600" algn="ctr">
              <a:lnSpc>
                <a:spcPct val="90000"/>
              </a:lnSpc>
              <a:spcBef>
                <a:spcPts val="1500"/>
              </a:spcBef>
              <a:spcAft>
                <a:spcPts val="0"/>
              </a:spcAft>
              <a:buClr>
                <a:schemeClr val="accent6"/>
              </a:buClr>
              <a:buSzPts val="3600"/>
              <a:buNone/>
              <a:defRPr sz="3600">
                <a:solidFill>
                  <a:schemeClr val="accent6"/>
                </a:solidFill>
              </a:defRPr>
            </a:lvl9pPr>
          </a:lstStyle>
          <a:p>
            <a:endParaRPr/>
          </a:p>
        </p:txBody>
      </p:sp>
      <p:sp>
        <p:nvSpPr>
          <p:cNvPr id="116" name="Google Shape;116;p16"/>
          <p:cNvSpPr txBox="1">
            <a:spLocks noGrp="1"/>
          </p:cNvSpPr>
          <p:nvPr>
            <p:ph type="body" idx="2"/>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17" name="Google Shape;117;p16"/>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16"/>
          <p:cNvSpPr txBox="1">
            <a:spLocks noGrp="1"/>
          </p:cNvSpPr>
          <p:nvPr>
            <p:ph type="subTitle" idx="3"/>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ingle Image 16:9">
  <p:cSld name="Single Image 16:9">
    <p:spTree>
      <p:nvGrpSpPr>
        <p:cNvPr id="1" name="Shape 119"/>
        <p:cNvGrpSpPr/>
        <p:nvPr/>
      </p:nvGrpSpPr>
      <p:grpSpPr>
        <a:xfrm>
          <a:off x="0" y="0"/>
          <a:ext cx="0" cy="0"/>
          <a:chOff x="0" y="0"/>
          <a:chExt cx="0" cy="0"/>
        </a:xfrm>
      </p:grpSpPr>
      <p:sp>
        <p:nvSpPr>
          <p:cNvPr id="120" name="Google Shape;120;p17"/>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21" name="Google Shape;121;p17"/>
          <p:cNvSpPr txBox="1">
            <a:spLocks noGrp="1"/>
          </p:cNvSpPr>
          <p:nvPr>
            <p:ph type="body" idx="1"/>
          </p:nvPr>
        </p:nvSpPr>
        <p:spPr>
          <a:xfrm>
            <a:off x="8229599" y="17981235"/>
            <a:ext cx="20116800"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22" name="Google Shape;122;p17"/>
          <p:cNvSpPr txBox="1">
            <a:spLocks noGrp="1"/>
          </p:cNvSpPr>
          <p:nvPr>
            <p:ph type="body" idx="2"/>
          </p:nvPr>
        </p:nvSpPr>
        <p:spPr>
          <a:xfrm>
            <a:off x="8330184" y="17245584"/>
            <a:ext cx="201168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23" name="Google Shape;123;p17"/>
          <p:cNvSpPr>
            <a:spLocks noGrp="1"/>
          </p:cNvSpPr>
          <p:nvPr>
            <p:ph type="pic" idx="3"/>
          </p:nvPr>
        </p:nvSpPr>
        <p:spPr>
          <a:xfrm>
            <a:off x="8330184" y="5806440"/>
            <a:ext cx="19915500" cy="11201400"/>
          </a:xfrm>
          <a:prstGeom prst="rect">
            <a:avLst/>
          </a:prstGeom>
          <a:solidFill>
            <a:schemeClr val="lt2"/>
          </a:solidFill>
          <a:ln w="9525" cap="flat" cmpd="sng">
            <a:solidFill>
              <a:schemeClr val="accent6"/>
            </a:solidFill>
            <a:prstDash val="solid"/>
            <a:round/>
            <a:headEnd type="none" w="sm" len="sm"/>
            <a:tailEnd type="none" w="sm" len="sm"/>
          </a:ln>
        </p:spPr>
      </p:sp>
      <p:sp>
        <p:nvSpPr>
          <p:cNvPr id="124" name="Google Shape;124;p17"/>
          <p:cNvSpPr txBox="1">
            <a:spLocks noGrp="1"/>
          </p:cNvSpPr>
          <p:nvPr>
            <p:ph type="body" idx="4"/>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SzPts val="4800"/>
              <a:buChar char="•"/>
              <a:defRPr sz="4800">
                <a:solidFill>
                  <a:schemeClr val="accent6"/>
                </a:solidFill>
              </a:defRPr>
            </a:lvl2pPr>
            <a:lvl3pPr marL="1371600" lvl="2" indent="-533400" algn="l">
              <a:lnSpc>
                <a:spcPct val="90000"/>
              </a:lnSpc>
              <a:spcBef>
                <a:spcPts val="1600"/>
              </a:spcBef>
              <a:spcAft>
                <a:spcPts val="0"/>
              </a:spcAft>
              <a:buSzPts val="4800"/>
              <a:buChar char="•"/>
              <a:defRPr sz="4800">
                <a:solidFill>
                  <a:schemeClr val="accent6"/>
                </a:solidFill>
              </a:defRPr>
            </a:lvl3pPr>
            <a:lvl4pPr marL="1828800" lvl="3" indent="-533400" algn="l">
              <a:lnSpc>
                <a:spcPct val="90000"/>
              </a:lnSpc>
              <a:spcBef>
                <a:spcPts val="800"/>
              </a:spcBef>
              <a:spcAft>
                <a:spcPts val="0"/>
              </a:spcAft>
              <a:buSzPts val="4800"/>
              <a:buChar char="•"/>
              <a:defRPr sz="4800">
                <a:solidFill>
                  <a:schemeClr val="accent6"/>
                </a:solidFill>
              </a:defRPr>
            </a:lvl4pPr>
            <a:lvl5pPr marL="2286000" lvl="4" indent="-533400" algn="l">
              <a:lnSpc>
                <a:spcPct val="90000"/>
              </a:lnSpc>
              <a:spcBef>
                <a:spcPts val="800"/>
              </a:spcBef>
              <a:spcAft>
                <a:spcPts val="0"/>
              </a:spcAft>
              <a:buSzPts val="4800"/>
              <a:buChar char="•"/>
              <a:defRPr sz="4800">
                <a:solidFill>
                  <a:schemeClr val="accent6"/>
                </a:solidFill>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125" name="Google Shape;125;p17"/>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17"/>
          <p:cNvSpPr txBox="1">
            <a:spLocks noGrp="1"/>
          </p:cNvSpPr>
          <p:nvPr>
            <p:ph type="subTitle" idx="5"/>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ngle Image 1:1">
  <p:cSld name="Single Image 1:1">
    <p:spTree>
      <p:nvGrpSpPr>
        <p:cNvPr id="1" name="Shape 127"/>
        <p:cNvGrpSpPr/>
        <p:nvPr/>
      </p:nvGrpSpPr>
      <p:grpSpPr>
        <a:xfrm>
          <a:off x="0" y="0"/>
          <a:ext cx="0" cy="0"/>
          <a:chOff x="0" y="0"/>
          <a:chExt cx="0" cy="0"/>
        </a:xfrm>
      </p:grpSpPr>
      <p:sp>
        <p:nvSpPr>
          <p:cNvPr id="128" name="Google Shape;128;p18"/>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29" name="Google Shape;129;p18"/>
          <p:cNvSpPr txBox="1">
            <a:spLocks noGrp="1"/>
          </p:cNvSpPr>
          <p:nvPr>
            <p:ph type="body" idx="1"/>
          </p:nvPr>
        </p:nvSpPr>
        <p:spPr>
          <a:xfrm>
            <a:off x="1828800" y="10652760"/>
            <a:ext cx="13716000" cy="150876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30" name="Google Shape;130;p18"/>
          <p:cNvSpPr txBox="1">
            <a:spLocks noGrp="1"/>
          </p:cNvSpPr>
          <p:nvPr>
            <p:ph type="title"/>
          </p:nvPr>
        </p:nvSpPr>
        <p:spPr>
          <a:xfrm>
            <a:off x="1828800" y="8183880"/>
            <a:ext cx="137160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18"/>
          <p:cNvSpPr txBox="1">
            <a:spLocks noGrp="1"/>
          </p:cNvSpPr>
          <p:nvPr>
            <p:ph type="body" idx="2"/>
          </p:nvPr>
        </p:nvSpPr>
        <p:spPr>
          <a:xfrm>
            <a:off x="19552662" y="17867376"/>
            <a:ext cx="151944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32" name="Google Shape;132;p18"/>
          <p:cNvSpPr txBox="1">
            <a:spLocks noGrp="1"/>
          </p:cNvSpPr>
          <p:nvPr>
            <p:ph type="body" idx="3"/>
          </p:nvPr>
        </p:nvSpPr>
        <p:spPr>
          <a:xfrm>
            <a:off x="19552663" y="17245584"/>
            <a:ext cx="151944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33" name="Google Shape;133;p18"/>
          <p:cNvSpPr>
            <a:spLocks noGrp="1"/>
          </p:cNvSpPr>
          <p:nvPr>
            <p:ph type="pic" idx="4"/>
          </p:nvPr>
        </p:nvSpPr>
        <p:spPr>
          <a:xfrm>
            <a:off x="19552661" y="1828800"/>
            <a:ext cx="15194400" cy="15197400"/>
          </a:xfrm>
          <a:prstGeom prst="rect">
            <a:avLst/>
          </a:prstGeom>
          <a:solidFill>
            <a:schemeClr val="lt2"/>
          </a:solidFill>
          <a:ln w="9525" cap="flat" cmpd="sng">
            <a:solidFill>
              <a:schemeClr val="accent6"/>
            </a:solidFill>
            <a:prstDash val="solid"/>
            <a:round/>
            <a:headEnd type="none" w="sm" len="sm"/>
            <a:tailEnd type="none" w="sm" len="sm"/>
          </a:ln>
        </p:spPr>
      </p:sp>
      <p:sp>
        <p:nvSpPr>
          <p:cNvPr id="134" name="Google Shape;134;p18"/>
          <p:cNvSpPr txBox="1">
            <a:spLocks noGrp="1"/>
          </p:cNvSpPr>
          <p:nvPr>
            <p:ph type="subTitle" idx="5"/>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ingle Image w/ text 1:1">
  <p:cSld name="Single Image w/ text 1:1">
    <p:spTree>
      <p:nvGrpSpPr>
        <p:cNvPr id="1" name="Shape 135"/>
        <p:cNvGrpSpPr/>
        <p:nvPr/>
      </p:nvGrpSpPr>
      <p:grpSpPr>
        <a:xfrm>
          <a:off x="0" y="0"/>
          <a:ext cx="0" cy="0"/>
          <a:chOff x="0" y="0"/>
          <a:chExt cx="0" cy="0"/>
        </a:xfrm>
      </p:grpSpPr>
      <p:sp>
        <p:nvSpPr>
          <p:cNvPr id="136" name="Google Shape;136;p19"/>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37" name="Google Shape;137;p19"/>
          <p:cNvSpPr txBox="1">
            <a:spLocks noGrp="1"/>
          </p:cNvSpPr>
          <p:nvPr>
            <p:ph type="body" idx="1"/>
          </p:nvPr>
        </p:nvSpPr>
        <p:spPr>
          <a:xfrm>
            <a:off x="1828800" y="9966960"/>
            <a:ext cx="13716000" cy="8778240"/>
          </a:xfrm>
          <a:prstGeom prst="rect">
            <a:avLst/>
          </a:prstGeom>
          <a:noFill/>
          <a:ln>
            <a:noFill/>
          </a:ln>
        </p:spPr>
        <p:txBody>
          <a:bodyPr spcFirstLastPara="1" wrap="square" lIns="0" tIns="45700" rIns="0" bIns="45700" anchor="t" anchorCtr="0">
            <a:noAutofit/>
          </a:bodyPr>
          <a:lstStyle>
            <a:lvl1pPr marL="457200" lvl="0" indent="-482600" algn="l">
              <a:lnSpc>
                <a:spcPct val="90000"/>
              </a:lnSpc>
              <a:spcBef>
                <a:spcPts val="1600"/>
              </a:spcBef>
              <a:spcAft>
                <a:spcPts val="0"/>
              </a:spcAft>
              <a:buSzPts val="4000"/>
              <a:buChar char="•"/>
              <a:defRPr>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138" name="Google Shape;138;p19"/>
          <p:cNvSpPr txBox="1">
            <a:spLocks noGrp="1"/>
          </p:cNvSpPr>
          <p:nvPr>
            <p:ph type="body" idx="2"/>
          </p:nvPr>
        </p:nvSpPr>
        <p:spPr>
          <a:xfrm>
            <a:off x="1828800" y="7955280"/>
            <a:ext cx="13716000" cy="150876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39" name="Google Shape;139;p19"/>
          <p:cNvSpPr txBox="1">
            <a:spLocks noGrp="1"/>
          </p:cNvSpPr>
          <p:nvPr>
            <p:ph type="title"/>
          </p:nvPr>
        </p:nvSpPr>
        <p:spPr>
          <a:xfrm>
            <a:off x="1828800" y="4114800"/>
            <a:ext cx="13716000" cy="38404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19"/>
          <p:cNvSpPr txBox="1">
            <a:spLocks noGrp="1"/>
          </p:cNvSpPr>
          <p:nvPr>
            <p:ph type="body" idx="3"/>
          </p:nvPr>
        </p:nvSpPr>
        <p:spPr>
          <a:xfrm>
            <a:off x="19552659" y="17877270"/>
            <a:ext cx="15194540"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41" name="Google Shape;141;p19"/>
          <p:cNvSpPr txBox="1">
            <a:spLocks noGrp="1"/>
          </p:cNvSpPr>
          <p:nvPr>
            <p:ph type="body" idx="4"/>
          </p:nvPr>
        </p:nvSpPr>
        <p:spPr>
          <a:xfrm>
            <a:off x="19552660" y="17245584"/>
            <a:ext cx="151944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42" name="Google Shape;142;p19"/>
          <p:cNvSpPr>
            <a:spLocks noGrp="1"/>
          </p:cNvSpPr>
          <p:nvPr>
            <p:ph type="pic" idx="5"/>
          </p:nvPr>
        </p:nvSpPr>
        <p:spPr>
          <a:xfrm>
            <a:off x="19552660" y="1828800"/>
            <a:ext cx="15194540" cy="15194541"/>
          </a:xfrm>
          <a:prstGeom prst="rect">
            <a:avLst/>
          </a:prstGeom>
          <a:solidFill>
            <a:schemeClr val="lt2"/>
          </a:solidFill>
          <a:ln w="9525" cap="flat" cmpd="sng">
            <a:solidFill>
              <a:schemeClr val="accent6"/>
            </a:solidFill>
            <a:prstDash val="solid"/>
            <a:round/>
            <a:headEnd type="none" w="sm" len="sm"/>
            <a:tailEnd type="none" w="sm" len="sm"/>
          </a:ln>
        </p:spPr>
      </p:sp>
      <p:sp>
        <p:nvSpPr>
          <p:cNvPr id="143" name="Google Shape;143;p19"/>
          <p:cNvSpPr txBox="1">
            <a:spLocks noGrp="1"/>
          </p:cNvSpPr>
          <p:nvPr>
            <p:ph type="subTitle" idx="6"/>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ingle Image w/ heavy text 4:5">
  <p:cSld name="Single Image w/ heavy text 4:5">
    <p:spTree>
      <p:nvGrpSpPr>
        <p:cNvPr id="1" name="Shape 144"/>
        <p:cNvGrpSpPr/>
        <p:nvPr/>
      </p:nvGrpSpPr>
      <p:grpSpPr>
        <a:xfrm>
          <a:off x="0" y="0"/>
          <a:ext cx="0" cy="0"/>
          <a:chOff x="0" y="0"/>
          <a:chExt cx="0" cy="0"/>
        </a:xfrm>
      </p:grpSpPr>
      <p:sp>
        <p:nvSpPr>
          <p:cNvPr id="145" name="Google Shape;145;p20"/>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46" name="Google Shape;146;p20"/>
          <p:cNvSpPr>
            <a:spLocks noGrp="1"/>
          </p:cNvSpPr>
          <p:nvPr>
            <p:ph type="pic" idx="2"/>
          </p:nvPr>
        </p:nvSpPr>
        <p:spPr>
          <a:xfrm>
            <a:off x="21202180" y="1828800"/>
            <a:ext cx="13545020" cy="16916399"/>
          </a:xfrm>
          <a:prstGeom prst="rect">
            <a:avLst/>
          </a:prstGeom>
          <a:solidFill>
            <a:schemeClr val="lt2"/>
          </a:solidFill>
          <a:ln w="9525" cap="flat" cmpd="sng">
            <a:solidFill>
              <a:schemeClr val="accent6"/>
            </a:solidFill>
            <a:prstDash val="solid"/>
            <a:round/>
            <a:headEnd type="none" w="sm" len="sm"/>
            <a:tailEnd type="none" w="sm" len="sm"/>
          </a:ln>
        </p:spPr>
      </p:sp>
      <p:sp>
        <p:nvSpPr>
          <p:cNvPr id="147" name="Google Shape;147;p20"/>
          <p:cNvSpPr txBox="1">
            <a:spLocks noGrp="1"/>
          </p:cNvSpPr>
          <p:nvPr>
            <p:ph type="body" idx="1"/>
          </p:nvPr>
        </p:nvSpPr>
        <p:spPr>
          <a:xfrm>
            <a:off x="1828800" y="5943600"/>
            <a:ext cx="16459200" cy="12801600"/>
          </a:xfrm>
          <a:prstGeom prst="rect">
            <a:avLst/>
          </a:prstGeom>
          <a:noFill/>
          <a:ln>
            <a:noFill/>
          </a:ln>
        </p:spPr>
        <p:txBody>
          <a:bodyPr spcFirstLastPara="1" wrap="square" lIns="0" tIns="45700" rIns="0" bIns="45700" anchor="t" anchorCtr="0">
            <a:noAutofit/>
          </a:bodyPr>
          <a:lstStyle>
            <a:lvl1pPr marL="457200" lvl="0" indent="-482600" algn="l">
              <a:lnSpc>
                <a:spcPct val="90000"/>
              </a:lnSpc>
              <a:spcBef>
                <a:spcPts val="1600"/>
              </a:spcBef>
              <a:spcAft>
                <a:spcPts val="0"/>
              </a:spcAft>
              <a:buSzPts val="4000"/>
              <a:buChar char="•"/>
              <a:defRPr>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148" name="Google Shape;148;p20"/>
          <p:cNvSpPr txBox="1">
            <a:spLocks noGrp="1"/>
          </p:cNvSpPr>
          <p:nvPr>
            <p:ph type="body" idx="3"/>
          </p:nvPr>
        </p:nvSpPr>
        <p:spPr>
          <a:xfrm>
            <a:off x="1828800" y="3383280"/>
            <a:ext cx="164592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49" name="Google Shape;149;p20"/>
          <p:cNvSpPr txBox="1">
            <a:spLocks noGrp="1"/>
          </p:cNvSpPr>
          <p:nvPr>
            <p:ph type="title"/>
          </p:nvPr>
        </p:nvSpPr>
        <p:spPr>
          <a:xfrm>
            <a:off x="1828800" y="914400"/>
            <a:ext cx="164592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20"/>
          <p:cNvSpPr txBox="1">
            <a:spLocks noGrp="1"/>
          </p:cNvSpPr>
          <p:nvPr>
            <p:ph type="subTitle" idx="4"/>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up Image 16:9">
  <p:cSld name="2-up Image 16:9">
    <p:spTree>
      <p:nvGrpSpPr>
        <p:cNvPr id="1" name="Shape 151"/>
        <p:cNvGrpSpPr/>
        <p:nvPr/>
      </p:nvGrpSpPr>
      <p:grpSpPr>
        <a:xfrm>
          <a:off x="0" y="0"/>
          <a:ext cx="0" cy="0"/>
          <a:chOff x="0" y="0"/>
          <a:chExt cx="0" cy="0"/>
        </a:xfrm>
      </p:grpSpPr>
      <p:sp>
        <p:nvSpPr>
          <p:cNvPr id="152" name="Google Shape;152;p21"/>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53" name="Google Shape;153;p21"/>
          <p:cNvSpPr txBox="1">
            <a:spLocks noGrp="1"/>
          </p:cNvSpPr>
          <p:nvPr>
            <p:ph type="body" idx="1"/>
          </p:nvPr>
        </p:nvSpPr>
        <p:spPr>
          <a:xfrm>
            <a:off x="18626328" y="16572488"/>
            <a:ext cx="16120872"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54" name="Google Shape;154;p21"/>
          <p:cNvSpPr txBox="1">
            <a:spLocks noGrp="1"/>
          </p:cNvSpPr>
          <p:nvPr>
            <p:ph type="body" idx="2"/>
          </p:nvPr>
        </p:nvSpPr>
        <p:spPr>
          <a:xfrm>
            <a:off x="18626328" y="15944850"/>
            <a:ext cx="161208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55" name="Google Shape;155;p21"/>
          <p:cNvSpPr>
            <a:spLocks noGrp="1"/>
          </p:cNvSpPr>
          <p:nvPr>
            <p:ph type="pic" idx="3"/>
          </p:nvPr>
        </p:nvSpPr>
        <p:spPr>
          <a:xfrm>
            <a:off x="18635472" y="6583680"/>
            <a:ext cx="16111800" cy="9068100"/>
          </a:xfrm>
          <a:prstGeom prst="rect">
            <a:avLst/>
          </a:prstGeom>
          <a:solidFill>
            <a:schemeClr val="lt2"/>
          </a:solidFill>
          <a:ln w="9525" cap="flat" cmpd="sng">
            <a:solidFill>
              <a:schemeClr val="accent6"/>
            </a:solidFill>
            <a:prstDash val="solid"/>
            <a:round/>
            <a:headEnd type="none" w="sm" len="sm"/>
            <a:tailEnd type="none" w="sm" len="sm"/>
          </a:ln>
        </p:spPr>
      </p:sp>
      <p:sp>
        <p:nvSpPr>
          <p:cNvPr id="156" name="Google Shape;156;p21"/>
          <p:cNvSpPr txBox="1">
            <a:spLocks noGrp="1"/>
          </p:cNvSpPr>
          <p:nvPr>
            <p:ph type="body" idx="4"/>
          </p:nvPr>
        </p:nvSpPr>
        <p:spPr>
          <a:xfrm>
            <a:off x="1828798" y="16510766"/>
            <a:ext cx="16120872"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57" name="Google Shape;157;p21"/>
          <p:cNvSpPr txBox="1">
            <a:spLocks noGrp="1"/>
          </p:cNvSpPr>
          <p:nvPr>
            <p:ph type="body" idx="5"/>
          </p:nvPr>
        </p:nvSpPr>
        <p:spPr>
          <a:xfrm>
            <a:off x="1828799" y="15883128"/>
            <a:ext cx="161208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58" name="Google Shape;158;p21"/>
          <p:cNvSpPr>
            <a:spLocks noGrp="1"/>
          </p:cNvSpPr>
          <p:nvPr>
            <p:ph type="pic" idx="6"/>
          </p:nvPr>
        </p:nvSpPr>
        <p:spPr>
          <a:xfrm>
            <a:off x="1828800" y="6583680"/>
            <a:ext cx="16111800" cy="9068100"/>
          </a:xfrm>
          <a:prstGeom prst="rect">
            <a:avLst/>
          </a:prstGeom>
          <a:solidFill>
            <a:schemeClr val="lt2"/>
          </a:solidFill>
          <a:ln w="9525" cap="flat" cmpd="sng">
            <a:solidFill>
              <a:schemeClr val="accent6"/>
            </a:solidFill>
            <a:prstDash val="solid"/>
            <a:round/>
            <a:headEnd type="none" w="sm" len="sm"/>
            <a:tailEnd type="none" w="sm" len="sm"/>
          </a:ln>
        </p:spPr>
      </p:sp>
      <p:sp>
        <p:nvSpPr>
          <p:cNvPr id="159" name="Google Shape;159;p21"/>
          <p:cNvSpPr txBox="1">
            <a:spLocks noGrp="1"/>
          </p:cNvSpPr>
          <p:nvPr>
            <p:ph type="body" idx="7"/>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60" name="Google Shape;160;p21"/>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1"/>
          <p:cNvSpPr txBox="1">
            <a:spLocks noGrp="1"/>
          </p:cNvSpPr>
          <p:nvPr>
            <p:ph type="subTitle" idx="8"/>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up Image 1:1">
  <p:cSld name="2-up Image 1:1">
    <p:spTree>
      <p:nvGrpSpPr>
        <p:cNvPr id="1" name="Shape 162"/>
        <p:cNvGrpSpPr/>
        <p:nvPr/>
      </p:nvGrpSpPr>
      <p:grpSpPr>
        <a:xfrm>
          <a:off x="0" y="0"/>
          <a:ext cx="0" cy="0"/>
          <a:chOff x="0" y="0"/>
          <a:chExt cx="0" cy="0"/>
        </a:xfrm>
      </p:grpSpPr>
      <p:sp>
        <p:nvSpPr>
          <p:cNvPr id="163" name="Google Shape;163;p22"/>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64" name="Google Shape;164;p22"/>
          <p:cNvSpPr txBox="1">
            <a:spLocks noGrp="1"/>
          </p:cNvSpPr>
          <p:nvPr>
            <p:ph type="body" idx="1"/>
          </p:nvPr>
        </p:nvSpPr>
        <p:spPr>
          <a:xfrm>
            <a:off x="18635472" y="17866935"/>
            <a:ext cx="112014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65" name="Google Shape;165;p22"/>
          <p:cNvSpPr txBox="1">
            <a:spLocks noGrp="1"/>
          </p:cNvSpPr>
          <p:nvPr>
            <p:ph type="body" idx="2"/>
          </p:nvPr>
        </p:nvSpPr>
        <p:spPr>
          <a:xfrm>
            <a:off x="18626328" y="17245584"/>
            <a:ext cx="112014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66" name="Google Shape;166;p22"/>
          <p:cNvSpPr>
            <a:spLocks noGrp="1"/>
          </p:cNvSpPr>
          <p:nvPr>
            <p:ph type="pic" idx="3"/>
          </p:nvPr>
        </p:nvSpPr>
        <p:spPr>
          <a:xfrm>
            <a:off x="18635472" y="5806440"/>
            <a:ext cx="11201400" cy="11201400"/>
          </a:xfrm>
          <a:prstGeom prst="rect">
            <a:avLst/>
          </a:prstGeom>
          <a:solidFill>
            <a:schemeClr val="lt2"/>
          </a:solidFill>
          <a:ln w="9525" cap="flat" cmpd="sng">
            <a:solidFill>
              <a:schemeClr val="accent6"/>
            </a:solidFill>
            <a:prstDash val="solid"/>
            <a:round/>
            <a:headEnd type="none" w="sm" len="sm"/>
            <a:tailEnd type="none" w="sm" len="sm"/>
          </a:ln>
        </p:spPr>
      </p:sp>
      <p:sp>
        <p:nvSpPr>
          <p:cNvPr id="167" name="Google Shape;167;p22"/>
          <p:cNvSpPr txBox="1">
            <a:spLocks noGrp="1"/>
          </p:cNvSpPr>
          <p:nvPr>
            <p:ph type="body" idx="4"/>
          </p:nvPr>
        </p:nvSpPr>
        <p:spPr>
          <a:xfrm>
            <a:off x="6739128" y="17866935"/>
            <a:ext cx="112014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68" name="Google Shape;168;p22"/>
          <p:cNvSpPr txBox="1">
            <a:spLocks noGrp="1"/>
          </p:cNvSpPr>
          <p:nvPr>
            <p:ph type="body" idx="5"/>
          </p:nvPr>
        </p:nvSpPr>
        <p:spPr>
          <a:xfrm>
            <a:off x="6748272" y="17245584"/>
            <a:ext cx="112014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69" name="Google Shape;169;p22"/>
          <p:cNvSpPr>
            <a:spLocks noGrp="1"/>
          </p:cNvSpPr>
          <p:nvPr>
            <p:ph type="pic" idx="6"/>
          </p:nvPr>
        </p:nvSpPr>
        <p:spPr>
          <a:xfrm>
            <a:off x="6739128" y="5806440"/>
            <a:ext cx="11201400" cy="11201400"/>
          </a:xfrm>
          <a:prstGeom prst="rect">
            <a:avLst/>
          </a:prstGeom>
          <a:solidFill>
            <a:schemeClr val="lt2"/>
          </a:solidFill>
          <a:ln w="9525" cap="flat" cmpd="sng">
            <a:solidFill>
              <a:schemeClr val="accent6"/>
            </a:solidFill>
            <a:prstDash val="solid"/>
            <a:round/>
            <a:headEnd type="none" w="sm" len="sm"/>
            <a:tailEnd type="none" w="sm" len="sm"/>
          </a:ln>
        </p:spPr>
      </p:sp>
      <p:sp>
        <p:nvSpPr>
          <p:cNvPr id="170" name="Google Shape;170;p22"/>
          <p:cNvSpPr txBox="1">
            <a:spLocks noGrp="1"/>
          </p:cNvSpPr>
          <p:nvPr>
            <p:ph type="body" idx="7"/>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71" name="Google Shape;171;p22"/>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22"/>
          <p:cNvSpPr txBox="1">
            <a:spLocks noGrp="1"/>
          </p:cNvSpPr>
          <p:nvPr>
            <p:ph type="subTitle" idx="8"/>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up Image 16:9">
  <p:cSld name="3-up Image 16:9">
    <p:spTree>
      <p:nvGrpSpPr>
        <p:cNvPr id="1" name="Shape 173"/>
        <p:cNvGrpSpPr/>
        <p:nvPr/>
      </p:nvGrpSpPr>
      <p:grpSpPr>
        <a:xfrm>
          <a:off x="0" y="0"/>
          <a:ext cx="0" cy="0"/>
          <a:chOff x="0" y="0"/>
          <a:chExt cx="0" cy="0"/>
        </a:xfrm>
      </p:grpSpPr>
      <p:sp>
        <p:nvSpPr>
          <p:cNvPr id="174" name="Google Shape;174;p23"/>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75" name="Google Shape;175;p23"/>
          <p:cNvSpPr txBox="1">
            <a:spLocks noGrp="1"/>
          </p:cNvSpPr>
          <p:nvPr>
            <p:ph type="body" idx="1"/>
          </p:nvPr>
        </p:nvSpPr>
        <p:spPr>
          <a:xfrm>
            <a:off x="24231600" y="14455080"/>
            <a:ext cx="10515600"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76" name="Google Shape;176;p23"/>
          <p:cNvSpPr txBox="1">
            <a:spLocks noGrp="1"/>
          </p:cNvSpPr>
          <p:nvPr>
            <p:ph type="body" idx="2"/>
          </p:nvPr>
        </p:nvSpPr>
        <p:spPr>
          <a:xfrm>
            <a:off x="24231600" y="13825728"/>
            <a:ext cx="105156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77" name="Google Shape;177;p23"/>
          <p:cNvSpPr txBox="1">
            <a:spLocks noGrp="1"/>
          </p:cNvSpPr>
          <p:nvPr>
            <p:ph type="body" idx="3"/>
          </p:nvPr>
        </p:nvSpPr>
        <p:spPr>
          <a:xfrm>
            <a:off x="13030200" y="14455080"/>
            <a:ext cx="10515600"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78" name="Google Shape;178;p23"/>
          <p:cNvSpPr txBox="1">
            <a:spLocks noGrp="1"/>
          </p:cNvSpPr>
          <p:nvPr>
            <p:ph type="body" idx="4"/>
          </p:nvPr>
        </p:nvSpPr>
        <p:spPr>
          <a:xfrm>
            <a:off x="13030200" y="13825728"/>
            <a:ext cx="105156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79" name="Google Shape;179;p23"/>
          <p:cNvSpPr txBox="1">
            <a:spLocks noGrp="1"/>
          </p:cNvSpPr>
          <p:nvPr>
            <p:ph type="body" idx="5"/>
          </p:nvPr>
        </p:nvSpPr>
        <p:spPr>
          <a:xfrm>
            <a:off x="1828798" y="14455080"/>
            <a:ext cx="10515600"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80" name="Google Shape;180;p23"/>
          <p:cNvSpPr txBox="1">
            <a:spLocks noGrp="1"/>
          </p:cNvSpPr>
          <p:nvPr>
            <p:ph type="body" idx="6"/>
          </p:nvPr>
        </p:nvSpPr>
        <p:spPr>
          <a:xfrm>
            <a:off x="1828799" y="13825728"/>
            <a:ext cx="105156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81" name="Google Shape;181;p23"/>
          <p:cNvSpPr txBox="1">
            <a:spLocks noGrp="1"/>
          </p:cNvSpPr>
          <p:nvPr>
            <p:ph type="body" idx="7"/>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82" name="Google Shape;182;p23"/>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23"/>
          <p:cNvSpPr txBox="1">
            <a:spLocks noGrp="1"/>
          </p:cNvSpPr>
          <p:nvPr>
            <p:ph type="subTitle" idx="8"/>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184" name="Google Shape;184;p23"/>
          <p:cNvSpPr>
            <a:spLocks noGrp="1"/>
          </p:cNvSpPr>
          <p:nvPr>
            <p:ph type="pic" idx="9"/>
          </p:nvPr>
        </p:nvSpPr>
        <p:spPr>
          <a:xfrm>
            <a:off x="24231600" y="7680960"/>
            <a:ext cx="10515600" cy="5915025"/>
          </a:xfrm>
          <a:prstGeom prst="rect">
            <a:avLst/>
          </a:prstGeom>
          <a:solidFill>
            <a:schemeClr val="lt2"/>
          </a:solidFill>
          <a:ln w="9525" cap="flat" cmpd="sng">
            <a:solidFill>
              <a:schemeClr val="accent6"/>
            </a:solidFill>
            <a:prstDash val="solid"/>
            <a:round/>
            <a:headEnd type="none" w="sm" len="sm"/>
            <a:tailEnd type="none" w="sm" len="sm"/>
          </a:ln>
        </p:spPr>
      </p:sp>
      <p:sp>
        <p:nvSpPr>
          <p:cNvPr id="185" name="Google Shape;185;p23"/>
          <p:cNvSpPr>
            <a:spLocks noGrp="1"/>
          </p:cNvSpPr>
          <p:nvPr>
            <p:ph type="pic" idx="13"/>
          </p:nvPr>
        </p:nvSpPr>
        <p:spPr>
          <a:xfrm>
            <a:off x="13030200" y="7680960"/>
            <a:ext cx="10515600" cy="5915025"/>
          </a:xfrm>
          <a:prstGeom prst="rect">
            <a:avLst/>
          </a:prstGeom>
          <a:solidFill>
            <a:schemeClr val="lt2"/>
          </a:solidFill>
          <a:ln w="9525" cap="flat" cmpd="sng">
            <a:solidFill>
              <a:schemeClr val="accent6"/>
            </a:solidFill>
            <a:prstDash val="solid"/>
            <a:round/>
            <a:headEnd type="none" w="sm" len="sm"/>
            <a:tailEnd type="none" w="sm" len="sm"/>
          </a:ln>
        </p:spPr>
      </p:sp>
      <p:sp>
        <p:nvSpPr>
          <p:cNvPr id="186" name="Google Shape;186;p23"/>
          <p:cNvSpPr>
            <a:spLocks noGrp="1"/>
          </p:cNvSpPr>
          <p:nvPr>
            <p:ph type="pic" idx="14"/>
          </p:nvPr>
        </p:nvSpPr>
        <p:spPr>
          <a:xfrm>
            <a:off x="1828800" y="7680960"/>
            <a:ext cx="10515600" cy="5915025"/>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up Image 1:1">
  <p:cSld name="3-up Image 1:1">
    <p:spTree>
      <p:nvGrpSpPr>
        <p:cNvPr id="1" name="Shape 187"/>
        <p:cNvGrpSpPr/>
        <p:nvPr/>
      </p:nvGrpSpPr>
      <p:grpSpPr>
        <a:xfrm>
          <a:off x="0" y="0"/>
          <a:ext cx="0" cy="0"/>
          <a:chOff x="0" y="0"/>
          <a:chExt cx="0" cy="0"/>
        </a:xfrm>
      </p:grpSpPr>
      <p:sp>
        <p:nvSpPr>
          <p:cNvPr id="188" name="Google Shape;188;p24"/>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89" name="Google Shape;189;p24"/>
          <p:cNvSpPr txBox="1">
            <a:spLocks noGrp="1"/>
          </p:cNvSpPr>
          <p:nvPr>
            <p:ph type="body" idx="1"/>
          </p:nvPr>
        </p:nvSpPr>
        <p:spPr>
          <a:xfrm>
            <a:off x="24231600" y="17181134"/>
            <a:ext cx="10515600"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90" name="Google Shape;190;p24"/>
          <p:cNvSpPr txBox="1">
            <a:spLocks noGrp="1"/>
          </p:cNvSpPr>
          <p:nvPr>
            <p:ph type="body" idx="2"/>
          </p:nvPr>
        </p:nvSpPr>
        <p:spPr>
          <a:xfrm>
            <a:off x="24231600" y="16559784"/>
            <a:ext cx="105156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91" name="Google Shape;191;p24"/>
          <p:cNvSpPr txBox="1">
            <a:spLocks noGrp="1"/>
          </p:cNvSpPr>
          <p:nvPr>
            <p:ph type="body" idx="3"/>
          </p:nvPr>
        </p:nvSpPr>
        <p:spPr>
          <a:xfrm>
            <a:off x="13030200" y="17181134"/>
            <a:ext cx="10515600"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92" name="Google Shape;192;p24"/>
          <p:cNvSpPr txBox="1">
            <a:spLocks noGrp="1"/>
          </p:cNvSpPr>
          <p:nvPr>
            <p:ph type="body" idx="4"/>
          </p:nvPr>
        </p:nvSpPr>
        <p:spPr>
          <a:xfrm>
            <a:off x="13030200" y="16559784"/>
            <a:ext cx="105156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93" name="Google Shape;193;p24"/>
          <p:cNvSpPr txBox="1">
            <a:spLocks noGrp="1"/>
          </p:cNvSpPr>
          <p:nvPr>
            <p:ph type="body" idx="5"/>
          </p:nvPr>
        </p:nvSpPr>
        <p:spPr>
          <a:xfrm>
            <a:off x="1828798" y="17181134"/>
            <a:ext cx="10515600"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194" name="Google Shape;194;p24"/>
          <p:cNvSpPr txBox="1">
            <a:spLocks noGrp="1"/>
          </p:cNvSpPr>
          <p:nvPr>
            <p:ph type="body" idx="6"/>
          </p:nvPr>
        </p:nvSpPr>
        <p:spPr>
          <a:xfrm>
            <a:off x="1828799" y="16559784"/>
            <a:ext cx="105156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195" name="Google Shape;195;p24"/>
          <p:cNvSpPr txBox="1">
            <a:spLocks noGrp="1"/>
          </p:cNvSpPr>
          <p:nvPr>
            <p:ph type="body" idx="7"/>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196" name="Google Shape;196;p24"/>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24"/>
          <p:cNvSpPr txBox="1">
            <a:spLocks noGrp="1"/>
          </p:cNvSpPr>
          <p:nvPr>
            <p:ph type="subTitle" idx="8"/>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198" name="Google Shape;198;p24"/>
          <p:cNvSpPr>
            <a:spLocks noGrp="1"/>
          </p:cNvSpPr>
          <p:nvPr>
            <p:ph type="pic" idx="9"/>
          </p:nvPr>
        </p:nvSpPr>
        <p:spPr>
          <a:xfrm>
            <a:off x="24231600" y="5806440"/>
            <a:ext cx="10515600" cy="10515600"/>
          </a:xfrm>
          <a:prstGeom prst="rect">
            <a:avLst/>
          </a:prstGeom>
          <a:solidFill>
            <a:schemeClr val="lt2"/>
          </a:solidFill>
          <a:ln w="9525" cap="flat" cmpd="sng">
            <a:solidFill>
              <a:schemeClr val="accent6"/>
            </a:solidFill>
            <a:prstDash val="solid"/>
            <a:round/>
            <a:headEnd type="none" w="sm" len="sm"/>
            <a:tailEnd type="none" w="sm" len="sm"/>
          </a:ln>
        </p:spPr>
      </p:sp>
      <p:sp>
        <p:nvSpPr>
          <p:cNvPr id="199" name="Google Shape;199;p24"/>
          <p:cNvSpPr>
            <a:spLocks noGrp="1"/>
          </p:cNvSpPr>
          <p:nvPr>
            <p:ph type="pic" idx="13"/>
          </p:nvPr>
        </p:nvSpPr>
        <p:spPr>
          <a:xfrm>
            <a:off x="13030200" y="5806440"/>
            <a:ext cx="10515600" cy="10515600"/>
          </a:xfrm>
          <a:prstGeom prst="rect">
            <a:avLst/>
          </a:prstGeom>
          <a:solidFill>
            <a:schemeClr val="lt2"/>
          </a:solidFill>
          <a:ln w="9525" cap="flat" cmpd="sng">
            <a:solidFill>
              <a:schemeClr val="accent6"/>
            </a:solidFill>
            <a:prstDash val="solid"/>
            <a:round/>
            <a:headEnd type="none" w="sm" len="sm"/>
            <a:tailEnd type="none" w="sm" len="sm"/>
          </a:ln>
        </p:spPr>
      </p:sp>
      <p:sp>
        <p:nvSpPr>
          <p:cNvPr id="200" name="Google Shape;200;p24"/>
          <p:cNvSpPr>
            <a:spLocks noGrp="1"/>
          </p:cNvSpPr>
          <p:nvPr>
            <p:ph type="pic" idx="14"/>
          </p:nvPr>
        </p:nvSpPr>
        <p:spPr>
          <a:xfrm>
            <a:off x="1828800" y="5806440"/>
            <a:ext cx="10515600" cy="1051560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4-up Image 16:9">
  <p:cSld name="4-up Image 16:9">
    <p:spTree>
      <p:nvGrpSpPr>
        <p:cNvPr id="1" name="Shape 201"/>
        <p:cNvGrpSpPr/>
        <p:nvPr/>
      </p:nvGrpSpPr>
      <p:grpSpPr>
        <a:xfrm>
          <a:off x="0" y="0"/>
          <a:ext cx="0" cy="0"/>
          <a:chOff x="0" y="0"/>
          <a:chExt cx="0" cy="0"/>
        </a:xfrm>
      </p:grpSpPr>
      <p:sp>
        <p:nvSpPr>
          <p:cNvPr id="202" name="Google Shape;202;p25"/>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03" name="Google Shape;203;p25"/>
          <p:cNvSpPr txBox="1">
            <a:spLocks noGrp="1"/>
          </p:cNvSpPr>
          <p:nvPr>
            <p:ph type="body" idx="1"/>
          </p:nvPr>
        </p:nvSpPr>
        <p:spPr>
          <a:xfrm>
            <a:off x="27029664" y="13658410"/>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8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04" name="Google Shape;204;p25"/>
          <p:cNvSpPr txBox="1">
            <a:spLocks noGrp="1"/>
          </p:cNvSpPr>
          <p:nvPr>
            <p:ph type="body" idx="2"/>
          </p:nvPr>
        </p:nvSpPr>
        <p:spPr>
          <a:xfrm>
            <a:off x="27029664" y="1303020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05" name="Google Shape;205;p25"/>
          <p:cNvSpPr txBox="1">
            <a:spLocks noGrp="1"/>
          </p:cNvSpPr>
          <p:nvPr>
            <p:ph type="body" idx="3"/>
          </p:nvPr>
        </p:nvSpPr>
        <p:spPr>
          <a:xfrm>
            <a:off x="18628614" y="13658410"/>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8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06" name="Google Shape;206;p25"/>
          <p:cNvSpPr txBox="1">
            <a:spLocks noGrp="1"/>
          </p:cNvSpPr>
          <p:nvPr>
            <p:ph type="body" idx="4"/>
          </p:nvPr>
        </p:nvSpPr>
        <p:spPr>
          <a:xfrm>
            <a:off x="18628614" y="1303020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07" name="Google Shape;207;p25"/>
          <p:cNvSpPr txBox="1">
            <a:spLocks noGrp="1"/>
          </p:cNvSpPr>
          <p:nvPr>
            <p:ph type="body" idx="5"/>
          </p:nvPr>
        </p:nvSpPr>
        <p:spPr>
          <a:xfrm>
            <a:off x="10227564" y="13658410"/>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8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08" name="Google Shape;208;p25"/>
          <p:cNvSpPr txBox="1">
            <a:spLocks noGrp="1"/>
          </p:cNvSpPr>
          <p:nvPr>
            <p:ph type="body" idx="6"/>
          </p:nvPr>
        </p:nvSpPr>
        <p:spPr>
          <a:xfrm>
            <a:off x="10227564" y="1303020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09" name="Google Shape;209;p25"/>
          <p:cNvSpPr txBox="1">
            <a:spLocks noGrp="1"/>
          </p:cNvSpPr>
          <p:nvPr>
            <p:ph type="body" idx="7"/>
          </p:nvPr>
        </p:nvSpPr>
        <p:spPr>
          <a:xfrm>
            <a:off x="1828798" y="13658410"/>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8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10" name="Google Shape;210;p25"/>
          <p:cNvSpPr txBox="1">
            <a:spLocks noGrp="1"/>
          </p:cNvSpPr>
          <p:nvPr>
            <p:ph type="body" idx="8"/>
          </p:nvPr>
        </p:nvSpPr>
        <p:spPr>
          <a:xfrm>
            <a:off x="1828799" y="1303020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11" name="Google Shape;211;p25"/>
          <p:cNvSpPr txBox="1">
            <a:spLocks noGrp="1"/>
          </p:cNvSpPr>
          <p:nvPr>
            <p:ph type="body" idx="9"/>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212" name="Google Shape;212;p25"/>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25"/>
          <p:cNvSpPr txBox="1">
            <a:spLocks noGrp="1"/>
          </p:cNvSpPr>
          <p:nvPr>
            <p:ph type="subTitle" idx="13"/>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214" name="Google Shape;214;p25"/>
          <p:cNvSpPr>
            <a:spLocks noGrp="1"/>
          </p:cNvSpPr>
          <p:nvPr>
            <p:ph type="pic" idx="14"/>
          </p:nvPr>
        </p:nvSpPr>
        <p:spPr>
          <a:xfrm>
            <a:off x="27029664" y="845820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15" name="Google Shape;215;p25"/>
          <p:cNvSpPr>
            <a:spLocks noGrp="1"/>
          </p:cNvSpPr>
          <p:nvPr>
            <p:ph type="pic" idx="15"/>
          </p:nvPr>
        </p:nvSpPr>
        <p:spPr>
          <a:xfrm>
            <a:off x="18628614" y="845820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16" name="Google Shape;216;p25"/>
          <p:cNvSpPr>
            <a:spLocks noGrp="1"/>
          </p:cNvSpPr>
          <p:nvPr>
            <p:ph type="pic" idx="16"/>
          </p:nvPr>
        </p:nvSpPr>
        <p:spPr>
          <a:xfrm>
            <a:off x="10227564" y="845820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17" name="Google Shape;217;p25"/>
          <p:cNvSpPr>
            <a:spLocks noGrp="1"/>
          </p:cNvSpPr>
          <p:nvPr>
            <p:ph type="pic" idx="17"/>
          </p:nvPr>
        </p:nvSpPr>
        <p:spPr>
          <a:xfrm>
            <a:off x="1828800" y="8458200"/>
            <a:ext cx="7717536" cy="4341114"/>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4-up Image 1:1">
  <p:cSld name="4-up Image 1:1">
    <p:spTree>
      <p:nvGrpSpPr>
        <p:cNvPr id="1" name="Shape 218"/>
        <p:cNvGrpSpPr/>
        <p:nvPr/>
      </p:nvGrpSpPr>
      <p:grpSpPr>
        <a:xfrm>
          <a:off x="0" y="0"/>
          <a:ext cx="0" cy="0"/>
          <a:chOff x="0" y="0"/>
          <a:chExt cx="0" cy="0"/>
        </a:xfrm>
      </p:grpSpPr>
      <p:sp>
        <p:nvSpPr>
          <p:cNvPr id="219" name="Google Shape;219;p26"/>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20" name="Google Shape;220;p26"/>
          <p:cNvSpPr txBox="1">
            <a:spLocks noGrp="1"/>
          </p:cNvSpPr>
          <p:nvPr>
            <p:ph type="body" idx="1"/>
          </p:nvPr>
        </p:nvSpPr>
        <p:spPr>
          <a:xfrm>
            <a:off x="27029664" y="15754671"/>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21" name="Google Shape;221;p26"/>
          <p:cNvSpPr txBox="1">
            <a:spLocks noGrp="1"/>
          </p:cNvSpPr>
          <p:nvPr>
            <p:ph type="body" idx="2"/>
          </p:nvPr>
        </p:nvSpPr>
        <p:spPr>
          <a:xfrm>
            <a:off x="27029664" y="1513332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22" name="Google Shape;222;p26"/>
          <p:cNvSpPr txBox="1">
            <a:spLocks noGrp="1"/>
          </p:cNvSpPr>
          <p:nvPr>
            <p:ph type="body" idx="3"/>
          </p:nvPr>
        </p:nvSpPr>
        <p:spPr>
          <a:xfrm>
            <a:off x="18628614" y="15754671"/>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23" name="Google Shape;223;p26"/>
          <p:cNvSpPr txBox="1">
            <a:spLocks noGrp="1"/>
          </p:cNvSpPr>
          <p:nvPr>
            <p:ph type="body" idx="4"/>
          </p:nvPr>
        </p:nvSpPr>
        <p:spPr>
          <a:xfrm>
            <a:off x="18628614" y="1513332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24" name="Google Shape;224;p26"/>
          <p:cNvSpPr txBox="1">
            <a:spLocks noGrp="1"/>
          </p:cNvSpPr>
          <p:nvPr>
            <p:ph type="body" idx="5"/>
          </p:nvPr>
        </p:nvSpPr>
        <p:spPr>
          <a:xfrm>
            <a:off x="10227564" y="15754671"/>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25" name="Google Shape;225;p26"/>
          <p:cNvSpPr txBox="1">
            <a:spLocks noGrp="1"/>
          </p:cNvSpPr>
          <p:nvPr>
            <p:ph type="body" idx="6"/>
          </p:nvPr>
        </p:nvSpPr>
        <p:spPr>
          <a:xfrm>
            <a:off x="10227564" y="1513332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26" name="Google Shape;226;p26"/>
          <p:cNvSpPr txBox="1">
            <a:spLocks noGrp="1"/>
          </p:cNvSpPr>
          <p:nvPr>
            <p:ph type="body" idx="7"/>
          </p:nvPr>
        </p:nvSpPr>
        <p:spPr>
          <a:xfrm>
            <a:off x="1828798" y="15754671"/>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27" name="Google Shape;227;p26"/>
          <p:cNvSpPr txBox="1">
            <a:spLocks noGrp="1"/>
          </p:cNvSpPr>
          <p:nvPr>
            <p:ph type="body" idx="8"/>
          </p:nvPr>
        </p:nvSpPr>
        <p:spPr>
          <a:xfrm>
            <a:off x="1828799" y="1513332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28" name="Google Shape;228;p26"/>
          <p:cNvSpPr txBox="1">
            <a:spLocks noGrp="1"/>
          </p:cNvSpPr>
          <p:nvPr>
            <p:ph type="body" idx="9"/>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229" name="Google Shape;229;p26"/>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26"/>
          <p:cNvSpPr txBox="1">
            <a:spLocks noGrp="1"/>
          </p:cNvSpPr>
          <p:nvPr>
            <p:ph type="subTitle" idx="13"/>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231" name="Google Shape;231;p26"/>
          <p:cNvSpPr>
            <a:spLocks noGrp="1"/>
          </p:cNvSpPr>
          <p:nvPr>
            <p:ph type="pic" idx="14"/>
          </p:nvPr>
        </p:nvSpPr>
        <p:spPr>
          <a:xfrm>
            <a:off x="27029664" y="7178040"/>
            <a:ext cx="7717536" cy="7717536"/>
          </a:xfrm>
          <a:prstGeom prst="rect">
            <a:avLst/>
          </a:prstGeom>
          <a:solidFill>
            <a:schemeClr val="lt2"/>
          </a:solidFill>
          <a:ln w="9525" cap="flat" cmpd="sng">
            <a:solidFill>
              <a:schemeClr val="accent6"/>
            </a:solidFill>
            <a:prstDash val="solid"/>
            <a:round/>
            <a:headEnd type="none" w="sm" len="sm"/>
            <a:tailEnd type="none" w="sm" len="sm"/>
          </a:ln>
        </p:spPr>
      </p:sp>
      <p:sp>
        <p:nvSpPr>
          <p:cNvPr id="232" name="Google Shape;232;p26"/>
          <p:cNvSpPr>
            <a:spLocks noGrp="1"/>
          </p:cNvSpPr>
          <p:nvPr>
            <p:ph type="pic" idx="15"/>
          </p:nvPr>
        </p:nvSpPr>
        <p:spPr>
          <a:xfrm>
            <a:off x="18628614" y="7178040"/>
            <a:ext cx="7717536" cy="7717536"/>
          </a:xfrm>
          <a:prstGeom prst="rect">
            <a:avLst/>
          </a:prstGeom>
          <a:solidFill>
            <a:schemeClr val="lt2"/>
          </a:solidFill>
          <a:ln w="9525" cap="flat" cmpd="sng">
            <a:solidFill>
              <a:schemeClr val="accent6"/>
            </a:solidFill>
            <a:prstDash val="solid"/>
            <a:round/>
            <a:headEnd type="none" w="sm" len="sm"/>
            <a:tailEnd type="none" w="sm" len="sm"/>
          </a:ln>
        </p:spPr>
      </p:sp>
      <p:sp>
        <p:nvSpPr>
          <p:cNvPr id="233" name="Google Shape;233;p26"/>
          <p:cNvSpPr>
            <a:spLocks noGrp="1"/>
          </p:cNvSpPr>
          <p:nvPr>
            <p:ph type="pic" idx="16"/>
          </p:nvPr>
        </p:nvSpPr>
        <p:spPr>
          <a:xfrm>
            <a:off x="10227564" y="7178040"/>
            <a:ext cx="7717536" cy="7717536"/>
          </a:xfrm>
          <a:prstGeom prst="rect">
            <a:avLst/>
          </a:prstGeom>
          <a:solidFill>
            <a:schemeClr val="lt2"/>
          </a:solidFill>
          <a:ln w="9525" cap="flat" cmpd="sng">
            <a:solidFill>
              <a:schemeClr val="accent6"/>
            </a:solidFill>
            <a:prstDash val="solid"/>
            <a:round/>
            <a:headEnd type="none" w="sm" len="sm"/>
            <a:tailEnd type="none" w="sm" len="sm"/>
          </a:ln>
        </p:spPr>
      </p:sp>
      <p:sp>
        <p:nvSpPr>
          <p:cNvPr id="234" name="Google Shape;234;p26"/>
          <p:cNvSpPr>
            <a:spLocks noGrp="1"/>
          </p:cNvSpPr>
          <p:nvPr>
            <p:ph type="pic" idx="17"/>
          </p:nvPr>
        </p:nvSpPr>
        <p:spPr>
          <a:xfrm>
            <a:off x="1828800" y="7178040"/>
            <a:ext cx="7717536" cy="7717536"/>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up Image Alt. 16:9">
  <p:cSld name="4-up Image Alt. 16:9">
    <p:spTree>
      <p:nvGrpSpPr>
        <p:cNvPr id="1" name="Shape 235"/>
        <p:cNvGrpSpPr/>
        <p:nvPr/>
      </p:nvGrpSpPr>
      <p:grpSpPr>
        <a:xfrm>
          <a:off x="0" y="0"/>
          <a:ext cx="0" cy="0"/>
          <a:chOff x="0" y="0"/>
          <a:chExt cx="0" cy="0"/>
        </a:xfrm>
      </p:grpSpPr>
      <p:sp>
        <p:nvSpPr>
          <p:cNvPr id="236" name="Google Shape;236;p27"/>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37" name="Google Shape;237;p27"/>
          <p:cNvSpPr txBox="1">
            <a:spLocks noGrp="1"/>
          </p:cNvSpPr>
          <p:nvPr>
            <p:ph type="body" idx="1"/>
          </p:nvPr>
        </p:nvSpPr>
        <p:spPr>
          <a:xfrm>
            <a:off x="27027378" y="1646811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38" name="Google Shape;238;p27"/>
          <p:cNvSpPr txBox="1">
            <a:spLocks noGrp="1"/>
          </p:cNvSpPr>
          <p:nvPr>
            <p:ph type="body" idx="2"/>
          </p:nvPr>
        </p:nvSpPr>
        <p:spPr>
          <a:xfrm>
            <a:off x="27027378" y="15846552"/>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Char char="•"/>
              <a:defRPr sz="4000"/>
            </a:lvl6pPr>
            <a:lvl7pPr marL="3200400" lvl="6" indent="-482600" algn="ctr">
              <a:lnSpc>
                <a:spcPct val="90000"/>
              </a:lnSpc>
              <a:spcBef>
                <a:spcPts val="1500"/>
              </a:spcBef>
              <a:spcAft>
                <a:spcPts val="0"/>
              </a:spcAft>
              <a:buSzPts val="4000"/>
              <a:buChar char="•"/>
              <a:defRPr sz="4000"/>
            </a:lvl7pPr>
            <a:lvl8pPr marL="3657600" lvl="7" indent="-482600" algn="ctr">
              <a:lnSpc>
                <a:spcPct val="90000"/>
              </a:lnSpc>
              <a:spcBef>
                <a:spcPts val="1500"/>
              </a:spcBef>
              <a:spcAft>
                <a:spcPts val="0"/>
              </a:spcAft>
              <a:buSzPts val="4000"/>
              <a:buChar char="•"/>
              <a:defRPr sz="4000"/>
            </a:lvl8pPr>
            <a:lvl9pPr marL="4114800" lvl="8" indent="-228600" algn="ctr">
              <a:lnSpc>
                <a:spcPct val="90000"/>
              </a:lnSpc>
              <a:spcBef>
                <a:spcPts val="1500"/>
              </a:spcBef>
              <a:spcAft>
                <a:spcPts val="0"/>
              </a:spcAft>
              <a:buSzPts val="4000"/>
              <a:buNone/>
              <a:defRPr sz="4000"/>
            </a:lvl9pPr>
          </a:lstStyle>
          <a:p>
            <a:endParaRPr/>
          </a:p>
        </p:txBody>
      </p:sp>
      <p:sp>
        <p:nvSpPr>
          <p:cNvPr id="239" name="Google Shape;239;p27"/>
          <p:cNvSpPr txBox="1">
            <a:spLocks noGrp="1"/>
          </p:cNvSpPr>
          <p:nvPr>
            <p:ph type="body" idx="3"/>
          </p:nvPr>
        </p:nvSpPr>
        <p:spPr>
          <a:xfrm>
            <a:off x="18626328" y="1646811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40" name="Google Shape;240;p27"/>
          <p:cNvSpPr txBox="1">
            <a:spLocks noGrp="1"/>
          </p:cNvSpPr>
          <p:nvPr>
            <p:ph type="body" idx="4"/>
          </p:nvPr>
        </p:nvSpPr>
        <p:spPr>
          <a:xfrm>
            <a:off x="18626328" y="15846552"/>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Char char="•"/>
              <a:defRPr sz="4000"/>
            </a:lvl6pPr>
            <a:lvl7pPr marL="3200400" lvl="6" indent="-482600" algn="ctr">
              <a:lnSpc>
                <a:spcPct val="90000"/>
              </a:lnSpc>
              <a:spcBef>
                <a:spcPts val="1500"/>
              </a:spcBef>
              <a:spcAft>
                <a:spcPts val="0"/>
              </a:spcAft>
              <a:buSzPts val="4000"/>
              <a:buChar char="•"/>
              <a:defRPr sz="4000"/>
            </a:lvl7pPr>
            <a:lvl8pPr marL="3657600" lvl="7" indent="-482600" algn="ctr">
              <a:lnSpc>
                <a:spcPct val="90000"/>
              </a:lnSpc>
              <a:spcBef>
                <a:spcPts val="1500"/>
              </a:spcBef>
              <a:spcAft>
                <a:spcPts val="0"/>
              </a:spcAft>
              <a:buSzPts val="4000"/>
              <a:buChar char="•"/>
              <a:defRPr sz="4000"/>
            </a:lvl8pPr>
            <a:lvl9pPr marL="4114800" lvl="8" indent="-228600" algn="ctr">
              <a:lnSpc>
                <a:spcPct val="90000"/>
              </a:lnSpc>
              <a:spcBef>
                <a:spcPts val="1500"/>
              </a:spcBef>
              <a:spcAft>
                <a:spcPts val="0"/>
              </a:spcAft>
              <a:buSzPts val="4000"/>
              <a:buNone/>
              <a:defRPr sz="4000"/>
            </a:lvl9pPr>
          </a:lstStyle>
          <a:p>
            <a:endParaRPr/>
          </a:p>
        </p:txBody>
      </p:sp>
      <p:sp>
        <p:nvSpPr>
          <p:cNvPr id="241" name="Google Shape;241;p27"/>
          <p:cNvSpPr txBox="1">
            <a:spLocks noGrp="1"/>
          </p:cNvSpPr>
          <p:nvPr>
            <p:ph type="body" idx="5"/>
          </p:nvPr>
        </p:nvSpPr>
        <p:spPr>
          <a:xfrm>
            <a:off x="27027378" y="1012565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42" name="Google Shape;242;p27"/>
          <p:cNvSpPr txBox="1">
            <a:spLocks noGrp="1"/>
          </p:cNvSpPr>
          <p:nvPr>
            <p:ph type="body" idx="6"/>
          </p:nvPr>
        </p:nvSpPr>
        <p:spPr>
          <a:xfrm>
            <a:off x="27027378" y="950061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Char char="•"/>
              <a:defRPr sz="4000"/>
            </a:lvl6pPr>
            <a:lvl7pPr marL="3200400" lvl="6" indent="-482600" algn="ctr">
              <a:lnSpc>
                <a:spcPct val="90000"/>
              </a:lnSpc>
              <a:spcBef>
                <a:spcPts val="1500"/>
              </a:spcBef>
              <a:spcAft>
                <a:spcPts val="0"/>
              </a:spcAft>
              <a:buSzPts val="4000"/>
              <a:buChar char="•"/>
              <a:defRPr sz="4000"/>
            </a:lvl7pPr>
            <a:lvl8pPr marL="3657600" lvl="7" indent="-482600" algn="ctr">
              <a:lnSpc>
                <a:spcPct val="90000"/>
              </a:lnSpc>
              <a:spcBef>
                <a:spcPts val="1500"/>
              </a:spcBef>
              <a:spcAft>
                <a:spcPts val="0"/>
              </a:spcAft>
              <a:buSzPts val="4000"/>
              <a:buChar char="•"/>
              <a:defRPr sz="4000"/>
            </a:lvl8pPr>
            <a:lvl9pPr marL="4114800" lvl="8" indent="-228600" algn="ctr">
              <a:lnSpc>
                <a:spcPct val="90000"/>
              </a:lnSpc>
              <a:spcBef>
                <a:spcPts val="1500"/>
              </a:spcBef>
              <a:spcAft>
                <a:spcPts val="0"/>
              </a:spcAft>
              <a:buSzPts val="4000"/>
              <a:buNone/>
              <a:defRPr sz="4000"/>
            </a:lvl9pPr>
          </a:lstStyle>
          <a:p>
            <a:endParaRPr/>
          </a:p>
        </p:txBody>
      </p:sp>
      <p:sp>
        <p:nvSpPr>
          <p:cNvPr id="243" name="Google Shape;243;p27"/>
          <p:cNvSpPr txBox="1">
            <a:spLocks noGrp="1"/>
          </p:cNvSpPr>
          <p:nvPr>
            <p:ph type="body" idx="7"/>
          </p:nvPr>
        </p:nvSpPr>
        <p:spPr>
          <a:xfrm>
            <a:off x="18626328" y="1012565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44" name="Google Shape;244;p27"/>
          <p:cNvSpPr txBox="1">
            <a:spLocks noGrp="1"/>
          </p:cNvSpPr>
          <p:nvPr>
            <p:ph type="body" idx="8"/>
          </p:nvPr>
        </p:nvSpPr>
        <p:spPr>
          <a:xfrm>
            <a:off x="18626328" y="950061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Char char="•"/>
              <a:defRPr sz="4000"/>
            </a:lvl6pPr>
            <a:lvl7pPr marL="3200400" lvl="6" indent="-482600" algn="ctr">
              <a:lnSpc>
                <a:spcPct val="90000"/>
              </a:lnSpc>
              <a:spcBef>
                <a:spcPts val="1500"/>
              </a:spcBef>
              <a:spcAft>
                <a:spcPts val="0"/>
              </a:spcAft>
              <a:buSzPts val="4000"/>
              <a:buChar char="•"/>
              <a:defRPr sz="4000"/>
            </a:lvl7pPr>
            <a:lvl8pPr marL="3657600" lvl="7" indent="-482600" algn="ctr">
              <a:lnSpc>
                <a:spcPct val="90000"/>
              </a:lnSpc>
              <a:spcBef>
                <a:spcPts val="1500"/>
              </a:spcBef>
              <a:spcAft>
                <a:spcPts val="0"/>
              </a:spcAft>
              <a:buSzPts val="4000"/>
              <a:buChar char="•"/>
              <a:defRPr sz="4000"/>
            </a:lvl8pPr>
            <a:lvl9pPr marL="4114800" lvl="8" indent="-228600" algn="ctr">
              <a:lnSpc>
                <a:spcPct val="90000"/>
              </a:lnSpc>
              <a:spcBef>
                <a:spcPts val="1500"/>
              </a:spcBef>
              <a:spcAft>
                <a:spcPts val="0"/>
              </a:spcAft>
              <a:buSzPts val="4000"/>
              <a:buNone/>
              <a:defRPr sz="4000"/>
            </a:lvl9pPr>
          </a:lstStyle>
          <a:p>
            <a:endParaRPr/>
          </a:p>
        </p:txBody>
      </p:sp>
      <p:sp>
        <p:nvSpPr>
          <p:cNvPr id="245" name="Google Shape;245;p27"/>
          <p:cNvSpPr txBox="1">
            <a:spLocks noGrp="1"/>
          </p:cNvSpPr>
          <p:nvPr>
            <p:ph type="body" idx="9"/>
          </p:nvPr>
        </p:nvSpPr>
        <p:spPr>
          <a:xfrm>
            <a:off x="1828800" y="10652760"/>
            <a:ext cx="13716000" cy="150876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246" name="Google Shape;246;p27"/>
          <p:cNvSpPr txBox="1">
            <a:spLocks noGrp="1"/>
          </p:cNvSpPr>
          <p:nvPr>
            <p:ph type="title"/>
          </p:nvPr>
        </p:nvSpPr>
        <p:spPr>
          <a:xfrm>
            <a:off x="1828800" y="8183880"/>
            <a:ext cx="137160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27"/>
          <p:cNvSpPr txBox="1">
            <a:spLocks noGrp="1"/>
          </p:cNvSpPr>
          <p:nvPr>
            <p:ph type="subTitle" idx="13"/>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248" name="Google Shape;248;p27"/>
          <p:cNvSpPr>
            <a:spLocks noGrp="1"/>
          </p:cNvSpPr>
          <p:nvPr>
            <p:ph type="pic" idx="14"/>
          </p:nvPr>
        </p:nvSpPr>
        <p:spPr>
          <a:xfrm>
            <a:off x="27027378" y="1126790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49" name="Google Shape;249;p27"/>
          <p:cNvSpPr>
            <a:spLocks noGrp="1"/>
          </p:cNvSpPr>
          <p:nvPr>
            <p:ph type="pic" idx="15"/>
          </p:nvPr>
        </p:nvSpPr>
        <p:spPr>
          <a:xfrm>
            <a:off x="18626328" y="1126790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50" name="Google Shape;250;p27"/>
          <p:cNvSpPr>
            <a:spLocks noGrp="1"/>
          </p:cNvSpPr>
          <p:nvPr>
            <p:ph type="pic" idx="16"/>
          </p:nvPr>
        </p:nvSpPr>
        <p:spPr>
          <a:xfrm>
            <a:off x="27027378" y="4925449"/>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51" name="Google Shape;251;p27"/>
          <p:cNvSpPr>
            <a:spLocks noGrp="1"/>
          </p:cNvSpPr>
          <p:nvPr>
            <p:ph type="pic" idx="17"/>
          </p:nvPr>
        </p:nvSpPr>
        <p:spPr>
          <a:xfrm>
            <a:off x="18626328" y="4925449"/>
            <a:ext cx="7717536" cy="4341114"/>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up Image Alt. w/ text 16:9">
  <p:cSld name="4-up Image Alt. w/ text 16:9">
    <p:spTree>
      <p:nvGrpSpPr>
        <p:cNvPr id="1" name="Shape 252"/>
        <p:cNvGrpSpPr/>
        <p:nvPr/>
      </p:nvGrpSpPr>
      <p:grpSpPr>
        <a:xfrm>
          <a:off x="0" y="0"/>
          <a:ext cx="0" cy="0"/>
          <a:chOff x="0" y="0"/>
          <a:chExt cx="0" cy="0"/>
        </a:xfrm>
      </p:grpSpPr>
      <p:sp>
        <p:nvSpPr>
          <p:cNvPr id="253" name="Google Shape;253;p28"/>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54" name="Google Shape;254;p28"/>
          <p:cNvSpPr txBox="1">
            <a:spLocks noGrp="1"/>
          </p:cNvSpPr>
          <p:nvPr>
            <p:ph type="body" idx="1"/>
          </p:nvPr>
        </p:nvSpPr>
        <p:spPr>
          <a:xfrm>
            <a:off x="27027378" y="1646811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55" name="Google Shape;255;p28"/>
          <p:cNvSpPr txBox="1">
            <a:spLocks noGrp="1"/>
          </p:cNvSpPr>
          <p:nvPr>
            <p:ph type="body" idx="2"/>
          </p:nvPr>
        </p:nvSpPr>
        <p:spPr>
          <a:xfrm>
            <a:off x="27027378" y="15846552"/>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l">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56" name="Google Shape;256;p28"/>
          <p:cNvSpPr txBox="1">
            <a:spLocks noGrp="1"/>
          </p:cNvSpPr>
          <p:nvPr>
            <p:ph type="body" idx="3"/>
          </p:nvPr>
        </p:nvSpPr>
        <p:spPr>
          <a:xfrm>
            <a:off x="18626328" y="1646811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57" name="Google Shape;257;p28"/>
          <p:cNvSpPr txBox="1">
            <a:spLocks noGrp="1"/>
          </p:cNvSpPr>
          <p:nvPr>
            <p:ph type="body" idx="4"/>
          </p:nvPr>
        </p:nvSpPr>
        <p:spPr>
          <a:xfrm>
            <a:off x="18626328" y="15846552"/>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l">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58" name="Google Shape;258;p28"/>
          <p:cNvSpPr txBox="1">
            <a:spLocks noGrp="1"/>
          </p:cNvSpPr>
          <p:nvPr>
            <p:ph type="body" idx="5"/>
          </p:nvPr>
        </p:nvSpPr>
        <p:spPr>
          <a:xfrm>
            <a:off x="27027378" y="1012565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59" name="Google Shape;259;p28"/>
          <p:cNvSpPr txBox="1">
            <a:spLocks noGrp="1"/>
          </p:cNvSpPr>
          <p:nvPr>
            <p:ph type="body" idx="6"/>
          </p:nvPr>
        </p:nvSpPr>
        <p:spPr>
          <a:xfrm>
            <a:off x="27027378" y="950061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l">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60" name="Google Shape;260;p28"/>
          <p:cNvSpPr txBox="1">
            <a:spLocks noGrp="1"/>
          </p:cNvSpPr>
          <p:nvPr>
            <p:ph type="body" idx="7"/>
          </p:nvPr>
        </p:nvSpPr>
        <p:spPr>
          <a:xfrm>
            <a:off x="18626328" y="1012565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61" name="Google Shape;261;p28"/>
          <p:cNvSpPr txBox="1">
            <a:spLocks noGrp="1"/>
          </p:cNvSpPr>
          <p:nvPr>
            <p:ph type="body" idx="8"/>
          </p:nvPr>
        </p:nvSpPr>
        <p:spPr>
          <a:xfrm>
            <a:off x="18626328" y="950061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l">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l">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62" name="Google Shape;262;p28"/>
          <p:cNvSpPr txBox="1">
            <a:spLocks noGrp="1"/>
          </p:cNvSpPr>
          <p:nvPr>
            <p:ph type="body" idx="9"/>
          </p:nvPr>
        </p:nvSpPr>
        <p:spPr>
          <a:xfrm>
            <a:off x="1828800" y="9966960"/>
            <a:ext cx="13716000" cy="8778240"/>
          </a:xfrm>
          <a:prstGeom prst="rect">
            <a:avLst/>
          </a:prstGeom>
          <a:noFill/>
          <a:ln>
            <a:noFill/>
          </a:ln>
        </p:spPr>
        <p:txBody>
          <a:bodyPr spcFirstLastPara="1" wrap="square" lIns="0" tIns="45700" rIns="0" bIns="45700" anchor="t" anchorCtr="0">
            <a:noAutofit/>
          </a:bodyPr>
          <a:lstStyle>
            <a:lvl1pPr marL="457200" lvl="0" indent="-482600" algn="l">
              <a:lnSpc>
                <a:spcPct val="90000"/>
              </a:lnSpc>
              <a:spcBef>
                <a:spcPts val="1600"/>
              </a:spcBef>
              <a:spcAft>
                <a:spcPts val="0"/>
              </a:spcAft>
              <a:buSzPts val="4000"/>
              <a:buChar char="•"/>
              <a:defRPr>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263" name="Google Shape;263;p28"/>
          <p:cNvSpPr txBox="1">
            <a:spLocks noGrp="1"/>
          </p:cNvSpPr>
          <p:nvPr>
            <p:ph type="body" idx="13"/>
          </p:nvPr>
        </p:nvSpPr>
        <p:spPr>
          <a:xfrm>
            <a:off x="1828800" y="7955280"/>
            <a:ext cx="13716000" cy="150876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264" name="Google Shape;264;p28"/>
          <p:cNvSpPr txBox="1">
            <a:spLocks noGrp="1"/>
          </p:cNvSpPr>
          <p:nvPr>
            <p:ph type="title"/>
          </p:nvPr>
        </p:nvSpPr>
        <p:spPr>
          <a:xfrm>
            <a:off x="1828800" y="4114800"/>
            <a:ext cx="13716000" cy="38404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5" name="Google Shape;265;p28"/>
          <p:cNvSpPr txBox="1">
            <a:spLocks noGrp="1"/>
          </p:cNvSpPr>
          <p:nvPr>
            <p:ph type="subTitle" idx="14"/>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266" name="Google Shape;266;p28"/>
          <p:cNvSpPr>
            <a:spLocks noGrp="1"/>
          </p:cNvSpPr>
          <p:nvPr>
            <p:ph type="pic" idx="15"/>
          </p:nvPr>
        </p:nvSpPr>
        <p:spPr>
          <a:xfrm>
            <a:off x="27027378" y="1126790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67" name="Google Shape;267;p28"/>
          <p:cNvSpPr>
            <a:spLocks noGrp="1"/>
          </p:cNvSpPr>
          <p:nvPr>
            <p:ph type="pic" idx="16"/>
          </p:nvPr>
        </p:nvSpPr>
        <p:spPr>
          <a:xfrm>
            <a:off x="18626328" y="1126790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68" name="Google Shape;268;p28"/>
          <p:cNvSpPr>
            <a:spLocks noGrp="1"/>
          </p:cNvSpPr>
          <p:nvPr>
            <p:ph type="pic" idx="17"/>
          </p:nvPr>
        </p:nvSpPr>
        <p:spPr>
          <a:xfrm>
            <a:off x="27027378" y="4925449"/>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69" name="Google Shape;269;p28"/>
          <p:cNvSpPr>
            <a:spLocks noGrp="1"/>
          </p:cNvSpPr>
          <p:nvPr>
            <p:ph type="pic" idx="18"/>
          </p:nvPr>
        </p:nvSpPr>
        <p:spPr>
          <a:xfrm>
            <a:off x="18626328" y="4925449"/>
            <a:ext cx="7717536" cy="4341114"/>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5-up Image">
  <p:cSld name="5-up Image">
    <p:spTree>
      <p:nvGrpSpPr>
        <p:cNvPr id="1" name="Shape 270"/>
        <p:cNvGrpSpPr/>
        <p:nvPr/>
      </p:nvGrpSpPr>
      <p:grpSpPr>
        <a:xfrm>
          <a:off x="0" y="0"/>
          <a:ext cx="0" cy="0"/>
          <a:chOff x="0" y="0"/>
          <a:chExt cx="0" cy="0"/>
        </a:xfrm>
      </p:grpSpPr>
      <p:sp>
        <p:nvSpPr>
          <p:cNvPr id="271" name="Google Shape;271;p29"/>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72" name="Google Shape;272;p29"/>
          <p:cNvSpPr txBox="1">
            <a:spLocks noGrp="1"/>
          </p:cNvSpPr>
          <p:nvPr>
            <p:ph type="body" idx="1"/>
          </p:nvPr>
        </p:nvSpPr>
        <p:spPr>
          <a:xfrm>
            <a:off x="18628614" y="17349109"/>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73" name="Google Shape;273;p29"/>
          <p:cNvSpPr txBox="1">
            <a:spLocks noGrp="1"/>
          </p:cNvSpPr>
          <p:nvPr>
            <p:ph type="body" idx="2"/>
          </p:nvPr>
        </p:nvSpPr>
        <p:spPr>
          <a:xfrm>
            <a:off x="18628614"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74" name="Google Shape;274;p29"/>
          <p:cNvSpPr txBox="1">
            <a:spLocks noGrp="1"/>
          </p:cNvSpPr>
          <p:nvPr>
            <p:ph type="body" idx="3"/>
          </p:nvPr>
        </p:nvSpPr>
        <p:spPr>
          <a:xfrm>
            <a:off x="10227564" y="17349109"/>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75" name="Google Shape;275;p29"/>
          <p:cNvSpPr txBox="1">
            <a:spLocks noGrp="1"/>
          </p:cNvSpPr>
          <p:nvPr>
            <p:ph type="body" idx="4"/>
          </p:nvPr>
        </p:nvSpPr>
        <p:spPr>
          <a:xfrm>
            <a:off x="10227564"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76" name="Google Shape;276;p29"/>
          <p:cNvSpPr txBox="1">
            <a:spLocks noGrp="1"/>
          </p:cNvSpPr>
          <p:nvPr>
            <p:ph type="body" idx="5"/>
          </p:nvPr>
        </p:nvSpPr>
        <p:spPr>
          <a:xfrm>
            <a:off x="22832569" y="11006649"/>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77" name="Google Shape;277;p29"/>
          <p:cNvSpPr txBox="1">
            <a:spLocks noGrp="1"/>
          </p:cNvSpPr>
          <p:nvPr>
            <p:ph type="body" idx="6"/>
          </p:nvPr>
        </p:nvSpPr>
        <p:spPr>
          <a:xfrm>
            <a:off x="22832569"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78" name="Google Shape;278;p29"/>
          <p:cNvSpPr txBox="1">
            <a:spLocks noGrp="1"/>
          </p:cNvSpPr>
          <p:nvPr>
            <p:ph type="body" idx="7"/>
          </p:nvPr>
        </p:nvSpPr>
        <p:spPr>
          <a:xfrm>
            <a:off x="14429232" y="11006649"/>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79" name="Google Shape;279;p29"/>
          <p:cNvSpPr txBox="1">
            <a:spLocks noGrp="1"/>
          </p:cNvSpPr>
          <p:nvPr>
            <p:ph type="body" idx="8"/>
          </p:nvPr>
        </p:nvSpPr>
        <p:spPr>
          <a:xfrm>
            <a:off x="14429232"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80" name="Google Shape;280;p29"/>
          <p:cNvSpPr txBox="1">
            <a:spLocks noGrp="1"/>
          </p:cNvSpPr>
          <p:nvPr>
            <p:ph type="body" idx="9"/>
          </p:nvPr>
        </p:nvSpPr>
        <p:spPr>
          <a:xfrm>
            <a:off x="6025897" y="11006649"/>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81" name="Google Shape;281;p29"/>
          <p:cNvSpPr txBox="1">
            <a:spLocks noGrp="1"/>
          </p:cNvSpPr>
          <p:nvPr>
            <p:ph type="body" idx="13"/>
          </p:nvPr>
        </p:nvSpPr>
        <p:spPr>
          <a:xfrm>
            <a:off x="6025897"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82" name="Google Shape;282;p29"/>
          <p:cNvSpPr txBox="1">
            <a:spLocks noGrp="1"/>
          </p:cNvSpPr>
          <p:nvPr>
            <p:ph type="body" idx="14"/>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283" name="Google Shape;283;p29"/>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4" name="Google Shape;284;p29"/>
          <p:cNvSpPr txBox="1">
            <a:spLocks noGrp="1"/>
          </p:cNvSpPr>
          <p:nvPr>
            <p:ph type="subTitle" idx="15"/>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285" name="Google Shape;285;p29"/>
          <p:cNvSpPr>
            <a:spLocks noGrp="1"/>
          </p:cNvSpPr>
          <p:nvPr>
            <p:ph type="pic" idx="16"/>
          </p:nvPr>
        </p:nvSpPr>
        <p:spPr>
          <a:xfrm>
            <a:off x="18628614" y="12148899"/>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86" name="Google Shape;286;p29"/>
          <p:cNvSpPr>
            <a:spLocks noGrp="1"/>
          </p:cNvSpPr>
          <p:nvPr>
            <p:ph type="pic" idx="17"/>
          </p:nvPr>
        </p:nvSpPr>
        <p:spPr>
          <a:xfrm>
            <a:off x="10227564" y="12148899"/>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87" name="Google Shape;287;p29"/>
          <p:cNvSpPr>
            <a:spLocks noGrp="1"/>
          </p:cNvSpPr>
          <p:nvPr>
            <p:ph type="pic" idx="18"/>
          </p:nvPr>
        </p:nvSpPr>
        <p:spPr>
          <a:xfrm>
            <a:off x="22832569"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88" name="Google Shape;288;p29"/>
          <p:cNvSpPr>
            <a:spLocks noGrp="1"/>
          </p:cNvSpPr>
          <p:nvPr>
            <p:ph type="pic" idx="19"/>
          </p:nvPr>
        </p:nvSpPr>
        <p:spPr>
          <a:xfrm>
            <a:off x="14429232"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289" name="Google Shape;289;p29"/>
          <p:cNvSpPr>
            <a:spLocks noGrp="1"/>
          </p:cNvSpPr>
          <p:nvPr>
            <p:ph type="pic" idx="20"/>
          </p:nvPr>
        </p:nvSpPr>
        <p:spPr>
          <a:xfrm>
            <a:off x="6025897"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6-up Image">
  <p:cSld name="6-up Image">
    <p:spTree>
      <p:nvGrpSpPr>
        <p:cNvPr id="1" name="Shape 290"/>
        <p:cNvGrpSpPr/>
        <p:nvPr/>
      </p:nvGrpSpPr>
      <p:grpSpPr>
        <a:xfrm>
          <a:off x="0" y="0"/>
          <a:ext cx="0" cy="0"/>
          <a:chOff x="0" y="0"/>
          <a:chExt cx="0" cy="0"/>
        </a:xfrm>
      </p:grpSpPr>
      <p:sp>
        <p:nvSpPr>
          <p:cNvPr id="291" name="Google Shape;291;p30"/>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92" name="Google Shape;292;p30"/>
          <p:cNvSpPr txBox="1">
            <a:spLocks noGrp="1"/>
          </p:cNvSpPr>
          <p:nvPr>
            <p:ph type="body" idx="1"/>
          </p:nvPr>
        </p:nvSpPr>
        <p:spPr>
          <a:xfrm>
            <a:off x="22832569"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93" name="Google Shape;293;p30"/>
          <p:cNvSpPr txBox="1">
            <a:spLocks noGrp="1"/>
          </p:cNvSpPr>
          <p:nvPr>
            <p:ph type="body" idx="2"/>
          </p:nvPr>
        </p:nvSpPr>
        <p:spPr>
          <a:xfrm>
            <a:off x="22832569"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94" name="Google Shape;294;p30"/>
          <p:cNvSpPr txBox="1">
            <a:spLocks noGrp="1"/>
          </p:cNvSpPr>
          <p:nvPr>
            <p:ph type="body" idx="3"/>
          </p:nvPr>
        </p:nvSpPr>
        <p:spPr>
          <a:xfrm>
            <a:off x="14429232"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95" name="Google Shape;295;p30"/>
          <p:cNvSpPr txBox="1">
            <a:spLocks noGrp="1"/>
          </p:cNvSpPr>
          <p:nvPr>
            <p:ph type="body" idx="4"/>
          </p:nvPr>
        </p:nvSpPr>
        <p:spPr>
          <a:xfrm>
            <a:off x="14429232"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96" name="Google Shape;296;p30"/>
          <p:cNvSpPr txBox="1">
            <a:spLocks noGrp="1"/>
          </p:cNvSpPr>
          <p:nvPr>
            <p:ph type="body" idx="5"/>
          </p:nvPr>
        </p:nvSpPr>
        <p:spPr>
          <a:xfrm>
            <a:off x="6025897"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97" name="Google Shape;297;p30"/>
          <p:cNvSpPr txBox="1">
            <a:spLocks noGrp="1"/>
          </p:cNvSpPr>
          <p:nvPr>
            <p:ph type="body" idx="6"/>
          </p:nvPr>
        </p:nvSpPr>
        <p:spPr>
          <a:xfrm>
            <a:off x="6025897"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298" name="Google Shape;298;p30"/>
          <p:cNvSpPr txBox="1">
            <a:spLocks noGrp="1"/>
          </p:cNvSpPr>
          <p:nvPr>
            <p:ph type="body" idx="7"/>
          </p:nvPr>
        </p:nvSpPr>
        <p:spPr>
          <a:xfrm>
            <a:off x="22832569" y="11006649"/>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299" name="Google Shape;299;p30"/>
          <p:cNvSpPr txBox="1">
            <a:spLocks noGrp="1"/>
          </p:cNvSpPr>
          <p:nvPr>
            <p:ph type="body" idx="8"/>
          </p:nvPr>
        </p:nvSpPr>
        <p:spPr>
          <a:xfrm>
            <a:off x="22832569"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00" name="Google Shape;300;p30"/>
          <p:cNvSpPr txBox="1">
            <a:spLocks noGrp="1"/>
          </p:cNvSpPr>
          <p:nvPr>
            <p:ph type="body" idx="9"/>
          </p:nvPr>
        </p:nvSpPr>
        <p:spPr>
          <a:xfrm>
            <a:off x="14429232" y="11006649"/>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01" name="Google Shape;301;p30"/>
          <p:cNvSpPr txBox="1">
            <a:spLocks noGrp="1"/>
          </p:cNvSpPr>
          <p:nvPr>
            <p:ph type="body" idx="13"/>
          </p:nvPr>
        </p:nvSpPr>
        <p:spPr>
          <a:xfrm>
            <a:off x="14429232"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02" name="Google Shape;302;p30"/>
          <p:cNvSpPr txBox="1">
            <a:spLocks noGrp="1"/>
          </p:cNvSpPr>
          <p:nvPr>
            <p:ph type="body" idx="14"/>
          </p:nvPr>
        </p:nvSpPr>
        <p:spPr>
          <a:xfrm>
            <a:off x="6025897" y="11006649"/>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03" name="Google Shape;303;p30"/>
          <p:cNvSpPr txBox="1">
            <a:spLocks noGrp="1"/>
          </p:cNvSpPr>
          <p:nvPr>
            <p:ph type="body" idx="15"/>
          </p:nvPr>
        </p:nvSpPr>
        <p:spPr>
          <a:xfrm>
            <a:off x="6025897"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04" name="Google Shape;304;p30"/>
          <p:cNvSpPr txBox="1">
            <a:spLocks noGrp="1"/>
          </p:cNvSpPr>
          <p:nvPr>
            <p:ph type="body" idx="16"/>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nSpc>
                <a:spcPct val="90000"/>
              </a:lnSpc>
              <a:spcBef>
                <a:spcPts val="1600"/>
              </a:spcBef>
              <a:spcAft>
                <a:spcPts val="0"/>
              </a:spcAft>
              <a:buClr>
                <a:schemeClr val="accent6"/>
              </a:buClr>
              <a:buSzPts val="4800"/>
              <a:buChar char="•"/>
              <a:defRPr sz="4800">
                <a:solidFill>
                  <a:schemeClr val="accent6"/>
                </a:solidFill>
              </a:defRPr>
            </a:lvl2pPr>
            <a:lvl3pPr marL="1371600" lvl="2" indent="-533400">
              <a:lnSpc>
                <a:spcPct val="90000"/>
              </a:lnSpc>
              <a:spcBef>
                <a:spcPts val="1600"/>
              </a:spcBef>
              <a:spcAft>
                <a:spcPts val="0"/>
              </a:spcAft>
              <a:buClr>
                <a:schemeClr val="accent6"/>
              </a:buClr>
              <a:buSzPts val="4800"/>
              <a:buChar char="•"/>
              <a:defRPr sz="4800">
                <a:solidFill>
                  <a:schemeClr val="accent6"/>
                </a:solidFill>
              </a:defRPr>
            </a:lvl3pPr>
            <a:lvl4pPr marL="1828800" lvl="3" indent="-533400">
              <a:lnSpc>
                <a:spcPct val="90000"/>
              </a:lnSpc>
              <a:spcBef>
                <a:spcPts val="800"/>
              </a:spcBef>
              <a:spcAft>
                <a:spcPts val="0"/>
              </a:spcAft>
              <a:buClr>
                <a:schemeClr val="accent6"/>
              </a:buClr>
              <a:buSzPts val="4800"/>
              <a:buChar char="•"/>
              <a:defRPr sz="4800">
                <a:solidFill>
                  <a:schemeClr val="accent6"/>
                </a:solidFill>
              </a:defRPr>
            </a:lvl4pPr>
            <a:lvl5pPr marL="2286000" lvl="4" indent="-533400">
              <a:lnSpc>
                <a:spcPct val="90000"/>
              </a:lnSpc>
              <a:spcBef>
                <a:spcPts val="800"/>
              </a:spcBef>
              <a:spcAft>
                <a:spcPts val="0"/>
              </a:spcAft>
              <a:buClr>
                <a:schemeClr val="accent6"/>
              </a:buClr>
              <a:buSzPts val="4800"/>
              <a:buChar char="•"/>
              <a:defRPr sz="4800">
                <a:solidFill>
                  <a:schemeClr val="accent6"/>
                </a:solidFill>
              </a:defRPr>
            </a:lvl5pPr>
            <a:lvl6pPr marL="2743200" lvl="5" indent="-533400">
              <a:lnSpc>
                <a:spcPct val="90000"/>
              </a:lnSpc>
              <a:spcBef>
                <a:spcPts val="1500"/>
              </a:spcBef>
              <a:spcAft>
                <a:spcPts val="0"/>
              </a:spcAft>
              <a:buClr>
                <a:schemeClr val="accent6"/>
              </a:buClr>
              <a:buSzPts val="4800"/>
              <a:buChar char="•"/>
              <a:defRPr sz="4800">
                <a:solidFill>
                  <a:schemeClr val="accent6"/>
                </a:solidFill>
              </a:defRPr>
            </a:lvl6pPr>
            <a:lvl7pPr marL="3200400" lvl="6" indent="-533400">
              <a:lnSpc>
                <a:spcPct val="90000"/>
              </a:lnSpc>
              <a:spcBef>
                <a:spcPts val="1500"/>
              </a:spcBef>
              <a:spcAft>
                <a:spcPts val="0"/>
              </a:spcAft>
              <a:buClr>
                <a:schemeClr val="accent6"/>
              </a:buClr>
              <a:buSzPts val="4800"/>
              <a:buChar char="•"/>
              <a:defRPr sz="4800">
                <a:solidFill>
                  <a:schemeClr val="accent6"/>
                </a:solidFill>
              </a:defRPr>
            </a:lvl7pPr>
            <a:lvl8pPr marL="3657600" lvl="7" indent="-533400">
              <a:lnSpc>
                <a:spcPct val="90000"/>
              </a:lnSpc>
              <a:spcBef>
                <a:spcPts val="1500"/>
              </a:spcBef>
              <a:spcAft>
                <a:spcPts val="0"/>
              </a:spcAft>
              <a:buClr>
                <a:schemeClr val="accent6"/>
              </a:buClr>
              <a:buSzPts val="4800"/>
              <a:buChar char="•"/>
              <a:defRPr sz="4800">
                <a:solidFill>
                  <a:schemeClr val="accent6"/>
                </a:solidFill>
              </a:defRPr>
            </a:lvl8pPr>
            <a:lvl9pPr marL="4114800" lvl="8" indent="-228600">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305" name="Google Shape;305;p30"/>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p30"/>
          <p:cNvSpPr txBox="1">
            <a:spLocks noGrp="1"/>
          </p:cNvSpPr>
          <p:nvPr>
            <p:ph type="subTitle" idx="17"/>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307" name="Google Shape;307;p30"/>
          <p:cNvSpPr>
            <a:spLocks noGrp="1"/>
          </p:cNvSpPr>
          <p:nvPr>
            <p:ph type="pic" idx="18"/>
          </p:nvPr>
        </p:nvSpPr>
        <p:spPr>
          <a:xfrm>
            <a:off x="22832569"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08" name="Google Shape;308;p30"/>
          <p:cNvSpPr>
            <a:spLocks noGrp="1"/>
          </p:cNvSpPr>
          <p:nvPr>
            <p:ph type="pic" idx="19"/>
          </p:nvPr>
        </p:nvSpPr>
        <p:spPr>
          <a:xfrm>
            <a:off x="14429232"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09" name="Google Shape;309;p30"/>
          <p:cNvSpPr>
            <a:spLocks noGrp="1"/>
          </p:cNvSpPr>
          <p:nvPr>
            <p:ph type="pic" idx="20"/>
          </p:nvPr>
        </p:nvSpPr>
        <p:spPr>
          <a:xfrm>
            <a:off x="6025897"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10" name="Google Shape;310;p30"/>
          <p:cNvSpPr>
            <a:spLocks noGrp="1"/>
          </p:cNvSpPr>
          <p:nvPr>
            <p:ph type="pic" idx="21"/>
          </p:nvPr>
        </p:nvSpPr>
        <p:spPr>
          <a:xfrm>
            <a:off x="22832569"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11" name="Google Shape;311;p30"/>
          <p:cNvSpPr>
            <a:spLocks noGrp="1"/>
          </p:cNvSpPr>
          <p:nvPr>
            <p:ph type="pic" idx="22"/>
          </p:nvPr>
        </p:nvSpPr>
        <p:spPr>
          <a:xfrm>
            <a:off x="14429232"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12" name="Google Shape;312;p30"/>
          <p:cNvSpPr>
            <a:spLocks noGrp="1"/>
          </p:cNvSpPr>
          <p:nvPr>
            <p:ph type="pic" idx="23"/>
          </p:nvPr>
        </p:nvSpPr>
        <p:spPr>
          <a:xfrm>
            <a:off x="6025897"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7-up Image">
  <p:cSld name="7-up Image">
    <p:spTree>
      <p:nvGrpSpPr>
        <p:cNvPr id="1" name="Shape 313"/>
        <p:cNvGrpSpPr/>
        <p:nvPr/>
      </p:nvGrpSpPr>
      <p:grpSpPr>
        <a:xfrm>
          <a:off x="0" y="0"/>
          <a:ext cx="0" cy="0"/>
          <a:chOff x="0" y="0"/>
          <a:chExt cx="0" cy="0"/>
        </a:xfrm>
      </p:grpSpPr>
      <p:sp>
        <p:nvSpPr>
          <p:cNvPr id="314" name="Google Shape;314;p31"/>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15" name="Google Shape;315;p31"/>
          <p:cNvSpPr txBox="1">
            <a:spLocks noGrp="1"/>
          </p:cNvSpPr>
          <p:nvPr>
            <p:ph type="body" idx="1"/>
          </p:nvPr>
        </p:nvSpPr>
        <p:spPr>
          <a:xfrm>
            <a:off x="22832569"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16" name="Google Shape;316;p31"/>
          <p:cNvSpPr txBox="1">
            <a:spLocks noGrp="1"/>
          </p:cNvSpPr>
          <p:nvPr>
            <p:ph type="body" idx="2"/>
          </p:nvPr>
        </p:nvSpPr>
        <p:spPr>
          <a:xfrm>
            <a:off x="22832569"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17" name="Google Shape;317;p31"/>
          <p:cNvSpPr txBox="1">
            <a:spLocks noGrp="1"/>
          </p:cNvSpPr>
          <p:nvPr>
            <p:ph type="body" idx="3"/>
          </p:nvPr>
        </p:nvSpPr>
        <p:spPr>
          <a:xfrm>
            <a:off x="14429232"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18" name="Google Shape;318;p31"/>
          <p:cNvSpPr txBox="1">
            <a:spLocks noGrp="1"/>
          </p:cNvSpPr>
          <p:nvPr>
            <p:ph type="body" idx="4"/>
          </p:nvPr>
        </p:nvSpPr>
        <p:spPr>
          <a:xfrm>
            <a:off x="14429232"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19" name="Google Shape;319;p31"/>
          <p:cNvSpPr txBox="1">
            <a:spLocks noGrp="1"/>
          </p:cNvSpPr>
          <p:nvPr>
            <p:ph type="body" idx="5"/>
          </p:nvPr>
        </p:nvSpPr>
        <p:spPr>
          <a:xfrm>
            <a:off x="6025897"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20" name="Google Shape;320;p31"/>
          <p:cNvSpPr txBox="1">
            <a:spLocks noGrp="1"/>
          </p:cNvSpPr>
          <p:nvPr>
            <p:ph type="body" idx="6"/>
          </p:nvPr>
        </p:nvSpPr>
        <p:spPr>
          <a:xfrm>
            <a:off x="6025897"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21" name="Google Shape;321;p31"/>
          <p:cNvSpPr txBox="1">
            <a:spLocks noGrp="1"/>
          </p:cNvSpPr>
          <p:nvPr>
            <p:ph type="body" idx="7"/>
          </p:nvPr>
        </p:nvSpPr>
        <p:spPr>
          <a:xfrm>
            <a:off x="27029664" y="1100664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22" name="Google Shape;322;p31"/>
          <p:cNvSpPr txBox="1">
            <a:spLocks noGrp="1"/>
          </p:cNvSpPr>
          <p:nvPr>
            <p:ph type="body" idx="8"/>
          </p:nvPr>
        </p:nvSpPr>
        <p:spPr>
          <a:xfrm>
            <a:off x="27029664"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23" name="Google Shape;323;p31"/>
          <p:cNvSpPr txBox="1">
            <a:spLocks noGrp="1"/>
          </p:cNvSpPr>
          <p:nvPr>
            <p:ph type="body" idx="9"/>
          </p:nvPr>
        </p:nvSpPr>
        <p:spPr>
          <a:xfrm>
            <a:off x="18628614" y="1100664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24" name="Google Shape;324;p31"/>
          <p:cNvSpPr txBox="1">
            <a:spLocks noGrp="1"/>
          </p:cNvSpPr>
          <p:nvPr>
            <p:ph type="body" idx="13"/>
          </p:nvPr>
        </p:nvSpPr>
        <p:spPr>
          <a:xfrm>
            <a:off x="18628614"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25" name="Google Shape;325;p31"/>
          <p:cNvSpPr txBox="1">
            <a:spLocks noGrp="1"/>
          </p:cNvSpPr>
          <p:nvPr>
            <p:ph type="body" idx="14"/>
          </p:nvPr>
        </p:nvSpPr>
        <p:spPr>
          <a:xfrm>
            <a:off x="10227564" y="1100664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26" name="Google Shape;326;p31"/>
          <p:cNvSpPr txBox="1">
            <a:spLocks noGrp="1"/>
          </p:cNvSpPr>
          <p:nvPr>
            <p:ph type="body" idx="15"/>
          </p:nvPr>
        </p:nvSpPr>
        <p:spPr>
          <a:xfrm>
            <a:off x="10227564"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27" name="Google Shape;327;p31"/>
          <p:cNvSpPr txBox="1">
            <a:spLocks noGrp="1"/>
          </p:cNvSpPr>
          <p:nvPr>
            <p:ph type="body" idx="16"/>
          </p:nvPr>
        </p:nvSpPr>
        <p:spPr>
          <a:xfrm>
            <a:off x="1828800" y="1100664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28" name="Google Shape;328;p31"/>
          <p:cNvSpPr txBox="1">
            <a:spLocks noGrp="1"/>
          </p:cNvSpPr>
          <p:nvPr>
            <p:ph type="body" idx="17"/>
          </p:nvPr>
        </p:nvSpPr>
        <p:spPr>
          <a:xfrm>
            <a:off x="1828801"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29" name="Google Shape;329;p31"/>
          <p:cNvSpPr txBox="1">
            <a:spLocks noGrp="1"/>
          </p:cNvSpPr>
          <p:nvPr>
            <p:ph type="body" idx="18"/>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330" name="Google Shape;330;p31"/>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1" name="Google Shape;331;p31"/>
          <p:cNvSpPr txBox="1">
            <a:spLocks noGrp="1"/>
          </p:cNvSpPr>
          <p:nvPr>
            <p:ph type="subTitle" idx="19"/>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332" name="Google Shape;332;p31"/>
          <p:cNvSpPr>
            <a:spLocks noGrp="1"/>
          </p:cNvSpPr>
          <p:nvPr>
            <p:ph type="pic" idx="20"/>
          </p:nvPr>
        </p:nvSpPr>
        <p:spPr>
          <a:xfrm>
            <a:off x="22832569"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33" name="Google Shape;333;p31"/>
          <p:cNvSpPr>
            <a:spLocks noGrp="1"/>
          </p:cNvSpPr>
          <p:nvPr>
            <p:ph type="pic" idx="21"/>
          </p:nvPr>
        </p:nvSpPr>
        <p:spPr>
          <a:xfrm>
            <a:off x="14429232"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34" name="Google Shape;334;p31"/>
          <p:cNvSpPr>
            <a:spLocks noGrp="1"/>
          </p:cNvSpPr>
          <p:nvPr>
            <p:ph type="pic" idx="22"/>
          </p:nvPr>
        </p:nvSpPr>
        <p:spPr>
          <a:xfrm>
            <a:off x="6025897"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35" name="Google Shape;335;p31"/>
          <p:cNvSpPr>
            <a:spLocks noGrp="1"/>
          </p:cNvSpPr>
          <p:nvPr>
            <p:ph type="pic" idx="23"/>
          </p:nvPr>
        </p:nvSpPr>
        <p:spPr>
          <a:xfrm>
            <a:off x="27029664"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36" name="Google Shape;336;p31"/>
          <p:cNvSpPr>
            <a:spLocks noGrp="1"/>
          </p:cNvSpPr>
          <p:nvPr>
            <p:ph type="pic" idx="24"/>
          </p:nvPr>
        </p:nvSpPr>
        <p:spPr>
          <a:xfrm>
            <a:off x="18628614"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37" name="Google Shape;337;p31"/>
          <p:cNvSpPr>
            <a:spLocks noGrp="1"/>
          </p:cNvSpPr>
          <p:nvPr>
            <p:ph type="pic" idx="25"/>
          </p:nvPr>
        </p:nvSpPr>
        <p:spPr>
          <a:xfrm>
            <a:off x="10227564"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38" name="Google Shape;338;p31"/>
          <p:cNvSpPr>
            <a:spLocks noGrp="1"/>
          </p:cNvSpPr>
          <p:nvPr>
            <p:ph type="pic" idx="26"/>
          </p:nvPr>
        </p:nvSpPr>
        <p:spPr>
          <a:xfrm>
            <a:off x="1828802"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8-up Image">
  <p:cSld name="8-up Image">
    <p:spTree>
      <p:nvGrpSpPr>
        <p:cNvPr id="1" name="Shape 339"/>
        <p:cNvGrpSpPr/>
        <p:nvPr/>
      </p:nvGrpSpPr>
      <p:grpSpPr>
        <a:xfrm>
          <a:off x="0" y="0"/>
          <a:ext cx="0" cy="0"/>
          <a:chOff x="0" y="0"/>
          <a:chExt cx="0" cy="0"/>
        </a:xfrm>
      </p:grpSpPr>
      <p:sp>
        <p:nvSpPr>
          <p:cNvPr id="340" name="Google Shape;340;p32"/>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41" name="Google Shape;341;p32"/>
          <p:cNvSpPr txBox="1">
            <a:spLocks noGrp="1"/>
          </p:cNvSpPr>
          <p:nvPr>
            <p:ph type="body" idx="1"/>
          </p:nvPr>
        </p:nvSpPr>
        <p:spPr>
          <a:xfrm>
            <a:off x="27029664"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42" name="Google Shape;342;p32"/>
          <p:cNvSpPr txBox="1">
            <a:spLocks noGrp="1"/>
          </p:cNvSpPr>
          <p:nvPr>
            <p:ph type="body" idx="2"/>
          </p:nvPr>
        </p:nvSpPr>
        <p:spPr>
          <a:xfrm>
            <a:off x="27029664"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43" name="Google Shape;343;p32"/>
          <p:cNvSpPr txBox="1">
            <a:spLocks noGrp="1"/>
          </p:cNvSpPr>
          <p:nvPr>
            <p:ph type="body" idx="3"/>
          </p:nvPr>
        </p:nvSpPr>
        <p:spPr>
          <a:xfrm>
            <a:off x="18628614"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44" name="Google Shape;344;p32"/>
          <p:cNvSpPr txBox="1">
            <a:spLocks noGrp="1"/>
          </p:cNvSpPr>
          <p:nvPr>
            <p:ph type="body" idx="4"/>
          </p:nvPr>
        </p:nvSpPr>
        <p:spPr>
          <a:xfrm>
            <a:off x="18628614"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45" name="Google Shape;345;p32"/>
          <p:cNvSpPr txBox="1">
            <a:spLocks noGrp="1"/>
          </p:cNvSpPr>
          <p:nvPr>
            <p:ph type="body" idx="5"/>
          </p:nvPr>
        </p:nvSpPr>
        <p:spPr>
          <a:xfrm>
            <a:off x="10227564"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46" name="Google Shape;346;p32"/>
          <p:cNvSpPr txBox="1">
            <a:spLocks noGrp="1"/>
          </p:cNvSpPr>
          <p:nvPr>
            <p:ph type="body" idx="6"/>
          </p:nvPr>
        </p:nvSpPr>
        <p:spPr>
          <a:xfrm>
            <a:off x="10227564"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47" name="Google Shape;347;p32"/>
          <p:cNvSpPr txBox="1">
            <a:spLocks noGrp="1"/>
          </p:cNvSpPr>
          <p:nvPr>
            <p:ph type="body" idx="7"/>
          </p:nvPr>
        </p:nvSpPr>
        <p:spPr>
          <a:xfrm>
            <a:off x="1828802" y="17349107"/>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48" name="Google Shape;348;p32"/>
          <p:cNvSpPr txBox="1">
            <a:spLocks noGrp="1"/>
          </p:cNvSpPr>
          <p:nvPr>
            <p:ph type="body" idx="8"/>
          </p:nvPr>
        </p:nvSpPr>
        <p:spPr>
          <a:xfrm>
            <a:off x="1828802" y="16724376"/>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49" name="Google Shape;349;p32"/>
          <p:cNvSpPr txBox="1">
            <a:spLocks noGrp="1"/>
          </p:cNvSpPr>
          <p:nvPr>
            <p:ph type="body" idx="9"/>
          </p:nvPr>
        </p:nvSpPr>
        <p:spPr>
          <a:xfrm>
            <a:off x="27029664" y="1100664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50" name="Google Shape;350;p32"/>
          <p:cNvSpPr txBox="1">
            <a:spLocks noGrp="1"/>
          </p:cNvSpPr>
          <p:nvPr>
            <p:ph type="body" idx="13"/>
          </p:nvPr>
        </p:nvSpPr>
        <p:spPr>
          <a:xfrm>
            <a:off x="27029664"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51" name="Google Shape;351;p32"/>
          <p:cNvSpPr txBox="1">
            <a:spLocks noGrp="1"/>
          </p:cNvSpPr>
          <p:nvPr>
            <p:ph type="body" idx="14"/>
          </p:nvPr>
        </p:nvSpPr>
        <p:spPr>
          <a:xfrm>
            <a:off x="18628614" y="1100664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52" name="Google Shape;352;p32"/>
          <p:cNvSpPr txBox="1">
            <a:spLocks noGrp="1"/>
          </p:cNvSpPr>
          <p:nvPr>
            <p:ph type="body" idx="15"/>
          </p:nvPr>
        </p:nvSpPr>
        <p:spPr>
          <a:xfrm>
            <a:off x="18628614"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53" name="Google Shape;353;p32"/>
          <p:cNvSpPr txBox="1">
            <a:spLocks noGrp="1"/>
          </p:cNvSpPr>
          <p:nvPr>
            <p:ph type="body" idx="16"/>
          </p:nvPr>
        </p:nvSpPr>
        <p:spPr>
          <a:xfrm>
            <a:off x="10227564" y="1100664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54" name="Google Shape;354;p32"/>
          <p:cNvSpPr txBox="1">
            <a:spLocks noGrp="1"/>
          </p:cNvSpPr>
          <p:nvPr>
            <p:ph type="body" idx="17"/>
          </p:nvPr>
        </p:nvSpPr>
        <p:spPr>
          <a:xfrm>
            <a:off x="10227564"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55" name="Google Shape;355;p32"/>
          <p:cNvSpPr txBox="1">
            <a:spLocks noGrp="1"/>
          </p:cNvSpPr>
          <p:nvPr>
            <p:ph type="body" idx="18"/>
          </p:nvPr>
        </p:nvSpPr>
        <p:spPr>
          <a:xfrm>
            <a:off x="1828800" y="11006648"/>
            <a:ext cx="7717536" cy="86793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56" name="Google Shape;356;p32"/>
          <p:cNvSpPr txBox="1">
            <a:spLocks noGrp="1"/>
          </p:cNvSpPr>
          <p:nvPr>
            <p:ph type="body" idx="19"/>
          </p:nvPr>
        </p:nvSpPr>
        <p:spPr>
          <a:xfrm>
            <a:off x="1828801" y="10378440"/>
            <a:ext cx="77175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57" name="Google Shape;357;p32"/>
          <p:cNvSpPr txBox="1">
            <a:spLocks noGrp="1"/>
          </p:cNvSpPr>
          <p:nvPr>
            <p:ph type="body" idx="20"/>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358" name="Google Shape;358;p32"/>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9" name="Google Shape;359;p32"/>
          <p:cNvSpPr txBox="1">
            <a:spLocks noGrp="1"/>
          </p:cNvSpPr>
          <p:nvPr>
            <p:ph type="subTitle" idx="21"/>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360" name="Google Shape;360;p32"/>
          <p:cNvSpPr>
            <a:spLocks noGrp="1"/>
          </p:cNvSpPr>
          <p:nvPr>
            <p:ph type="pic" idx="22"/>
          </p:nvPr>
        </p:nvSpPr>
        <p:spPr>
          <a:xfrm>
            <a:off x="27029664"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61" name="Google Shape;361;p32"/>
          <p:cNvSpPr>
            <a:spLocks noGrp="1"/>
          </p:cNvSpPr>
          <p:nvPr>
            <p:ph type="pic" idx="23"/>
          </p:nvPr>
        </p:nvSpPr>
        <p:spPr>
          <a:xfrm>
            <a:off x="18628614"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62" name="Google Shape;362;p32"/>
          <p:cNvSpPr>
            <a:spLocks noGrp="1"/>
          </p:cNvSpPr>
          <p:nvPr>
            <p:ph type="pic" idx="24"/>
          </p:nvPr>
        </p:nvSpPr>
        <p:spPr>
          <a:xfrm>
            <a:off x="10227564"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63" name="Google Shape;363;p32"/>
          <p:cNvSpPr>
            <a:spLocks noGrp="1"/>
          </p:cNvSpPr>
          <p:nvPr>
            <p:ph type="pic" idx="25"/>
          </p:nvPr>
        </p:nvSpPr>
        <p:spPr>
          <a:xfrm>
            <a:off x="1828802" y="12148898"/>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64" name="Google Shape;364;p32"/>
          <p:cNvSpPr>
            <a:spLocks noGrp="1"/>
          </p:cNvSpPr>
          <p:nvPr>
            <p:ph type="pic" idx="26"/>
          </p:nvPr>
        </p:nvSpPr>
        <p:spPr>
          <a:xfrm>
            <a:off x="27029664"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65" name="Google Shape;365;p32"/>
          <p:cNvSpPr>
            <a:spLocks noGrp="1"/>
          </p:cNvSpPr>
          <p:nvPr>
            <p:ph type="pic" idx="27"/>
          </p:nvPr>
        </p:nvSpPr>
        <p:spPr>
          <a:xfrm>
            <a:off x="18628614"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66" name="Google Shape;366;p32"/>
          <p:cNvSpPr>
            <a:spLocks noGrp="1"/>
          </p:cNvSpPr>
          <p:nvPr>
            <p:ph type="pic" idx="28"/>
          </p:nvPr>
        </p:nvSpPr>
        <p:spPr>
          <a:xfrm>
            <a:off x="10227564"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
        <p:nvSpPr>
          <p:cNvPr id="367" name="Google Shape;367;p32"/>
          <p:cNvSpPr>
            <a:spLocks noGrp="1"/>
          </p:cNvSpPr>
          <p:nvPr>
            <p:ph type="pic" idx="29"/>
          </p:nvPr>
        </p:nvSpPr>
        <p:spPr>
          <a:xfrm>
            <a:off x="1828802" y="5806440"/>
            <a:ext cx="7717536" cy="4341114"/>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9-up Image">
  <p:cSld name="9-up Image">
    <p:spTree>
      <p:nvGrpSpPr>
        <p:cNvPr id="1" name="Shape 368"/>
        <p:cNvGrpSpPr/>
        <p:nvPr/>
      </p:nvGrpSpPr>
      <p:grpSpPr>
        <a:xfrm>
          <a:off x="0" y="0"/>
          <a:ext cx="0" cy="0"/>
          <a:chOff x="0" y="0"/>
          <a:chExt cx="0" cy="0"/>
        </a:xfrm>
      </p:grpSpPr>
      <p:sp>
        <p:nvSpPr>
          <p:cNvPr id="369" name="Google Shape;369;p33"/>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70" name="Google Shape;370;p33"/>
          <p:cNvSpPr txBox="1">
            <a:spLocks noGrp="1"/>
          </p:cNvSpPr>
          <p:nvPr>
            <p:ph type="body" idx="1"/>
          </p:nvPr>
        </p:nvSpPr>
        <p:spPr>
          <a:xfrm>
            <a:off x="25351741"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71" name="Google Shape;371;p33"/>
          <p:cNvSpPr txBox="1">
            <a:spLocks noGrp="1"/>
          </p:cNvSpPr>
          <p:nvPr>
            <p:ph type="body" idx="2"/>
          </p:nvPr>
        </p:nvSpPr>
        <p:spPr>
          <a:xfrm>
            <a:off x="25351741"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72" name="Google Shape;372;p33"/>
          <p:cNvSpPr txBox="1">
            <a:spLocks noGrp="1"/>
          </p:cNvSpPr>
          <p:nvPr>
            <p:ph type="body" idx="3"/>
          </p:nvPr>
        </p:nvSpPr>
        <p:spPr>
          <a:xfrm>
            <a:off x="18630900"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73" name="Google Shape;373;p33"/>
          <p:cNvSpPr txBox="1">
            <a:spLocks noGrp="1"/>
          </p:cNvSpPr>
          <p:nvPr>
            <p:ph type="body" idx="4"/>
          </p:nvPr>
        </p:nvSpPr>
        <p:spPr>
          <a:xfrm>
            <a:off x="18630900"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74" name="Google Shape;374;p33"/>
          <p:cNvSpPr txBox="1">
            <a:spLocks noGrp="1"/>
          </p:cNvSpPr>
          <p:nvPr>
            <p:ph type="body" idx="5"/>
          </p:nvPr>
        </p:nvSpPr>
        <p:spPr>
          <a:xfrm>
            <a:off x="11910061"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75" name="Google Shape;375;p33"/>
          <p:cNvSpPr txBox="1">
            <a:spLocks noGrp="1"/>
          </p:cNvSpPr>
          <p:nvPr>
            <p:ph type="body" idx="6"/>
          </p:nvPr>
        </p:nvSpPr>
        <p:spPr>
          <a:xfrm>
            <a:off x="11910061"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76" name="Google Shape;376;p33"/>
          <p:cNvSpPr txBox="1">
            <a:spLocks noGrp="1"/>
          </p:cNvSpPr>
          <p:nvPr>
            <p:ph type="body" idx="7"/>
          </p:nvPr>
        </p:nvSpPr>
        <p:spPr>
          <a:xfrm>
            <a:off x="5189220"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77" name="Google Shape;377;p33"/>
          <p:cNvSpPr txBox="1">
            <a:spLocks noGrp="1"/>
          </p:cNvSpPr>
          <p:nvPr>
            <p:ph type="body" idx="8"/>
          </p:nvPr>
        </p:nvSpPr>
        <p:spPr>
          <a:xfrm>
            <a:off x="5189220"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78" name="Google Shape;378;p33"/>
          <p:cNvSpPr txBox="1">
            <a:spLocks noGrp="1"/>
          </p:cNvSpPr>
          <p:nvPr>
            <p:ph type="body" idx="9"/>
          </p:nvPr>
        </p:nvSpPr>
        <p:spPr>
          <a:xfrm>
            <a:off x="28712161"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79" name="Google Shape;379;p33"/>
          <p:cNvSpPr txBox="1">
            <a:spLocks noGrp="1"/>
          </p:cNvSpPr>
          <p:nvPr>
            <p:ph type="body" idx="13"/>
          </p:nvPr>
        </p:nvSpPr>
        <p:spPr>
          <a:xfrm>
            <a:off x="28712161"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80" name="Google Shape;380;p33"/>
          <p:cNvSpPr txBox="1">
            <a:spLocks noGrp="1"/>
          </p:cNvSpPr>
          <p:nvPr>
            <p:ph type="body" idx="14"/>
          </p:nvPr>
        </p:nvSpPr>
        <p:spPr>
          <a:xfrm>
            <a:off x="21991321"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81" name="Google Shape;381;p33"/>
          <p:cNvSpPr txBox="1">
            <a:spLocks noGrp="1"/>
          </p:cNvSpPr>
          <p:nvPr>
            <p:ph type="body" idx="15"/>
          </p:nvPr>
        </p:nvSpPr>
        <p:spPr>
          <a:xfrm>
            <a:off x="21991321"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82" name="Google Shape;382;p33"/>
          <p:cNvSpPr txBox="1">
            <a:spLocks noGrp="1"/>
          </p:cNvSpPr>
          <p:nvPr>
            <p:ph type="body" idx="16"/>
          </p:nvPr>
        </p:nvSpPr>
        <p:spPr>
          <a:xfrm>
            <a:off x="15270480"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83" name="Google Shape;383;p33"/>
          <p:cNvSpPr txBox="1">
            <a:spLocks noGrp="1"/>
          </p:cNvSpPr>
          <p:nvPr>
            <p:ph type="body" idx="17"/>
          </p:nvPr>
        </p:nvSpPr>
        <p:spPr>
          <a:xfrm>
            <a:off x="15270480"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84" name="Google Shape;384;p33"/>
          <p:cNvSpPr txBox="1">
            <a:spLocks noGrp="1"/>
          </p:cNvSpPr>
          <p:nvPr>
            <p:ph type="body" idx="18"/>
          </p:nvPr>
        </p:nvSpPr>
        <p:spPr>
          <a:xfrm>
            <a:off x="8549640"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85" name="Google Shape;385;p33"/>
          <p:cNvSpPr txBox="1">
            <a:spLocks noGrp="1"/>
          </p:cNvSpPr>
          <p:nvPr>
            <p:ph type="body" idx="19"/>
          </p:nvPr>
        </p:nvSpPr>
        <p:spPr>
          <a:xfrm>
            <a:off x="8549640"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86" name="Google Shape;386;p33"/>
          <p:cNvSpPr txBox="1">
            <a:spLocks noGrp="1"/>
          </p:cNvSpPr>
          <p:nvPr>
            <p:ph type="body" idx="20"/>
          </p:nvPr>
        </p:nvSpPr>
        <p:spPr>
          <a:xfrm>
            <a:off x="1828800"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387" name="Google Shape;387;p33"/>
          <p:cNvSpPr txBox="1">
            <a:spLocks noGrp="1"/>
          </p:cNvSpPr>
          <p:nvPr>
            <p:ph type="body" idx="21"/>
          </p:nvPr>
        </p:nvSpPr>
        <p:spPr>
          <a:xfrm>
            <a:off x="1828800"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388" name="Google Shape;388;p33"/>
          <p:cNvSpPr txBox="1">
            <a:spLocks noGrp="1"/>
          </p:cNvSpPr>
          <p:nvPr>
            <p:ph type="body" idx="22"/>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389" name="Google Shape;389;p33"/>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33"/>
          <p:cNvSpPr txBox="1">
            <a:spLocks noGrp="1"/>
          </p:cNvSpPr>
          <p:nvPr>
            <p:ph type="subTitle" idx="23"/>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391" name="Google Shape;391;p33"/>
          <p:cNvSpPr>
            <a:spLocks noGrp="1"/>
          </p:cNvSpPr>
          <p:nvPr>
            <p:ph type="pic" idx="24"/>
          </p:nvPr>
        </p:nvSpPr>
        <p:spPr>
          <a:xfrm>
            <a:off x="25351741"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392" name="Google Shape;392;p33"/>
          <p:cNvSpPr>
            <a:spLocks noGrp="1"/>
          </p:cNvSpPr>
          <p:nvPr>
            <p:ph type="pic" idx="25"/>
          </p:nvPr>
        </p:nvSpPr>
        <p:spPr>
          <a:xfrm>
            <a:off x="18630900"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393" name="Google Shape;393;p33"/>
          <p:cNvSpPr>
            <a:spLocks noGrp="1"/>
          </p:cNvSpPr>
          <p:nvPr>
            <p:ph type="pic" idx="26"/>
          </p:nvPr>
        </p:nvSpPr>
        <p:spPr>
          <a:xfrm>
            <a:off x="11910061"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394" name="Google Shape;394;p33"/>
          <p:cNvSpPr>
            <a:spLocks noGrp="1"/>
          </p:cNvSpPr>
          <p:nvPr>
            <p:ph type="pic" idx="27"/>
          </p:nvPr>
        </p:nvSpPr>
        <p:spPr>
          <a:xfrm>
            <a:off x="5189220"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395" name="Google Shape;395;p33"/>
          <p:cNvSpPr>
            <a:spLocks noGrp="1"/>
          </p:cNvSpPr>
          <p:nvPr>
            <p:ph type="pic" idx="28"/>
          </p:nvPr>
        </p:nvSpPr>
        <p:spPr>
          <a:xfrm>
            <a:off x="28712161"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396" name="Google Shape;396;p33"/>
          <p:cNvSpPr>
            <a:spLocks noGrp="1"/>
          </p:cNvSpPr>
          <p:nvPr>
            <p:ph type="pic" idx="29"/>
          </p:nvPr>
        </p:nvSpPr>
        <p:spPr>
          <a:xfrm>
            <a:off x="21991321"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397" name="Google Shape;397;p33"/>
          <p:cNvSpPr>
            <a:spLocks noGrp="1"/>
          </p:cNvSpPr>
          <p:nvPr>
            <p:ph type="pic" idx="30"/>
          </p:nvPr>
        </p:nvSpPr>
        <p:spPr>
          <a:xfrm>
            <a:off x="15270480"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398" name="Google Shape;398;p33"/>
          <p:cNvSpPr>
            <a:spLocks noGrp="1"/>
          </p:cNvSpPr>
          <p:nvPr>
            <p:ph type="pic" idx="31"/>
          </p:nvPr>
        </p:nvSpPr>
        <p:spPr>
          <a:xfrm>
            <a:off x="8549640"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399" name="Google Shape;399;p33"/>
          <p:cNvSpPr>
            <a:spLocks noGrp="1"/>
          </p:cNvSpPr>
          <p:nvPr>
            <p:ph type="pic" idx="32"/>
          </p:nvPr>
        </p:nvSpPr>
        <p:spPr>
          <a:xfrm>
            <a:off x="1828800"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0-up Image">
  <p:cSld name="10-up Image">
    <p:spTree>
      <p:nvGrpSpPr>
        <p:cNvPr id="1" name="Shape 400"/>
        <p:cNvGrpSpPr/>
        <p:nvPr/>
      </p:nvGrpSpPr>
      <p:grpSpPr>
        <a:xfrm>
          <a:off x="0" y="0"/>
          <a:ext cx="0" cy="0"/>
          <a:chOff x="0" y="0"/>
          <a:chExt cx="0" cy="0"/>
        </a:xfrm>
      </p:grpSpPr>
      <p:sp>
        <p:nvSpPr>
          <p:cNvPr id="401" name="Google Shape;401;p34"/>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02" name="Google Shape;402;p34"/>
          <p:cNvSpPr txBox="1">
            <a:spLocks noGrp="1"/>
          </p:cNvSpPr>
          <p:nvPr>
            <p:ph type="body" idx="1"/>
          </p:nvPr>
        </p:nvSpPr>
        <p:spPr>
          <a:xfrm>
            <a:off x="28712161"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03" name="Google Shape;403;p34"/>
          <p:cNvSpPr txBox="1">
            <a:spLocks noGrp="1"/>
          </p:cNvSpPr>
          <p:nvPr>
            <p:ph type="body" idx="2"/>
          </p:nvPr>
        </p:nvSpPr>
        <p:spPr>
          <a:xfrm>
            <a:off x="28712161"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04" name="Google Shape;404;p34"/>
          <p:cNvSpPr txBox="1">
            <a:spLocks noGrp="1"/>
          </p:cNvSpPr>
          <p:nvPr>
            <p:ph type="body" idx="3"/>
          </p:nvPr>
        </p:nvSpPr>
        <p:spPr>
          <a:xfrm>
            <a:off x="21991321"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05" name="Google Shape;405;p34"/>
          <p:cNvSpPr txBox="1">
            <a:spLocks noGrp="1"/>
          </p:cNvSpPr>
          <p:nvPr>
            <p:ph type="body" idx="4"/>
          </p:nvPr>
        </p:nvSpPr>
        <p:spPr>
          <a:xfrm>
            <a:off x="21991321"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06" name="Google Shape;406;p34"/>
          <p:cNvSpPr txBox="1">
            <a:spLocks noGrp="1"/>
          </p:cNvSpPr>
          <p:nvPr>
            <p:ph type="body" idx="5"/>
          </p:nvPr>
        </p:nvSpPr>
        <p:spPr>
          <a:xfrm>
            <a:off x="15270480"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07" name="Google Shape;407;p34"/>
          <p:cNvSpPr txBox="1">
            <a:spLocks noGrp="1"/>
          </p:cNvSpPr>
          <p:nvPr>
            <p:ph type="body" idx="6"/>
          </p:nvPr>
        </p:nvSpPr>
        <p:spPr>
          <a:xfrm>
            <a:off x="15270480"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08" name="Google Shape;408;p34"/>
          <p:cNvSpPr txBox="1">
            <a:spLocks noGrp="1"/>
          </p:cNvSpPr>
          <p:nvPr>
            <p:ph type="body" idx="7"/>
          </p:nvPr>
        </p:nvSpPr>
        <p:spPr>
          <a:xfrm>
            <a:off x="8549640"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09" name="Google Shape;409;p34"/>
          <p:cNvSpPr txBox="1">
            <a:spLocks noGrp="1"/>
          </p:cNvSpPr>
          <p:nvPr>
            <p:ph type="body" idx="8"/>
          </p:nvPr>
        </p:nvSpPr>
        <p:spPr>
          <a:xfrm>
            <a:off x="8549640"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10" name="Google Shape;410;p34"/>
          <p:cNvSpPr txBox="1">
            <a:spLocks noGrp="1"/>
          </p:cNvSpPr>
          <p:nvPr>
            <p:ph type="body" idx="9"/>
          </p:nvPr>
        </p:nvSpPr>
        <p:spPr>
          <a:xfrm>
            <a:off x="1828800" y="1640433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11" name="Google Shape;411;p34"/>
          <p:cNvSpPr txBox="1">
            <a:spLocks noGrp="1"/>
          </p:cNvSpPr>
          <p:nvPr>
            <p:ph type="body" idx="13"/>
          </p:nvPr>
        </p:nvSpPr>
        <p:spPr>
          <a:xfrm>
            <a:off x="1828800" y="15782544"/>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12" name="Google Shape;412;p34"/>
          <p:cNvSpPr txBox="1">
            <a:spLocks noGrp="1"/>
          </p:cNvSpPr>
          <p:nvPr>
            <p:ph type="body" idx="14"/>
          </p:nvPr>
        </p:nvSpPr>
        <p:spPr>
          <a:xfrm>
            <a:off x="28712161"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13" name="Google Shape;413;p34"/>
          <p:cNvSpPr txBox="1">
            <a:spLocks noGrp="1"/>
          </p:cNvSpPr>
          <p:nvPr>
            <p:ph type="body" idx="15"/>
          </p:nvPr>
        </p:nvSpPr>
        <p:spPr>
          <a:xfrm>
            <a:off x="28712161"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14" name="Google Shape;414;p34"/>
          <p:cNvSpPr txBox="1">
            <a:spLocks noGrp="1"/>
          </p:cNvSpPr>
          <p:nvPr>
            <p:ph type="body" idx="16"/>
          </p:nvPr>
        </p:nvSpPr>
        <p:spPr>
          <a:xfrm>
            <a:off x="21991321"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15" name="Google Shape;415;p34"/>
          <p:cNvSpPr txBox="1">
            <a:spLocks noGrp="1"/>
          </p:cNvSpPr>
          <p:nvPr>
            <p:ph type="body" idx="17"/>
          </p:nvPr>
        </p:nvSpPr>
        <p:spPr>
          <a:xfrm>
            <a:off x="21991321"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16" name="Google Shape;416;p34"/>
          <p:cNvSpPr txBox="1">
            <a:spLocks noGrp="1"/>
          </p:cNvSpPr>
          <p:nvPr>
            <p:ph type="body" idx="18"/>
          </p:nvPr>
        </p:nvSpPr>
        <p:spPr>
          <a:xfrm>
            <a:off x="15270480"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17" name="Google Shape;417;p34"/>
          <p:cNvSpPr txBox="1">
            <a:spLocks noGrp="1"/>
          </p:cNvSpPr>
          <p:nvPr>
            <p:ph type="body" idx="19"/>
          </p:nvPr>
        </p:nvSpPr>
        <p:spPr>
          <a:xfrm>
            <a:off x="15270480"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18" name="Google Shape;418;p34"/>
          <p:cNvSpPr txBox="1">
            <a:spLocks noGrp="1"/>
          </p:cNvSpPr>
          <p:nvPr>
            <p:ph type="body" idx="20"/>
          </p:nvPr>
        </p:nvSpPr>
        <p:spPr>
          <a:xfrm>
            <a:off x="8549640"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19" name="Google Shape;419;p34"/>
          <p:cNvSpPr txBox="1">
            <a:spLocks noGrp="1"/>
          </p:cNvSpPr>
          <p:nvPr>
            <p:ph type="body" idx="21"/>
          </p:nvPr>
        </p:nvSpPr>
        <p:spPr>
          <a:xfrm>
            <a:off x="8549640"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20" name="Google Shape;420;p34"/>
          <p:cNvSpPr txBox="1">
            <a:spLocks noGrp="1"/>
          </p:cNvSpPr>
          <p:nvPr>
            <p:ph type="body" idx="22"/>
          </p:nvPr>
        </p:nvSpPr>
        <p:spPr>
          <a:xfrm>
            <a:off x="1828800" y="11009376"/>
            <a:ext cx="6035100" cy="8679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2800"/>
              <a:buNone/>
              <a:defRPr sz="2800"/>
            </a:lvl1pPr>
            <a:lvl2pPr marL="914400" lvl="1" indent="-228600" algn="ctr">
              <a:lnSpc>
                <a:spcPct val="90000"/>
              </a:lnSpc>
              <a:spcBef>
                <a:spcPts val="1600"/>
              </a:spcBef>
              <a:spcAft>
                <a:spcPts val="0"/>
              </a:spcAft>
              <a:buSzPts val="2800"/>
              <a:buNone/>
              <a:defRPr sz="2800"/>
            </a:lvl2pPr>
            <a:lvl3pPr marL="1371600" lvl="2" indent="-228600" algn="ctr">
              <a:lnSpc>
                <a:spcPct val="90000"/>
              </a:lnSpc>
              <a:spcBef>
                <a:spcPts val="1600"/>
              </a:spcBef>
              <a:spcAft>
                <a:spcPts val="0"/>
              </a:spcAft>
              <a:buSzPts val="2800"/>
              <a:buNone/>
              <a:defRPr sz="2800"/>
            </a:lvl3pPr>
            <a:lvl4pPr marL="1828800" lvl="3" indent="-228600" algn="ctr">
              <a:lnSpc>
                <a:spcPct val="90000"/>
              </a:lnSpc>
              <a:spcBef>
                <a:spcPts val="800"/>
              </a:spcBef>
              <a:spcAft>
                <a:spcPts val="0"/>
              </a:spcAft>
              <a:buSzPts val="2800"/>
              <a:buNone/>
              <a:defRPr sz="2800"/>
            </a:lvl4pPr>
            <a:lvl5pPr marL="2286000" lvl="4" indent="-228600" algn="ctr">
              <a:lnSpc>
                <a:spcPct val="90000"/>
              </a:lnSpc>
              <a:spcBef>
                <a:spcPts val="800"/>
              </a:spcBef>
              <a:spcAft>
                <a:spcPts val="0"/>
              </a:spcAft>
              <a:buSzPts val="2800"/>
              <a:buNone/>
              <a:defRPr sz="2800"/>
            </a:lvl5pPr>
            <a:lvl6pPr marL="2743200" lvl="5" indent="-406400" algn="ctr">
              <a:lnSpc>
                <a:spcPct val="90000"/>
              </a:lnSpc>
              <a:spcBef>
                <a:spcPts val="1500"/>
              </a:spcBef>
              <a:spcAft>
                <a:spcPts val="0"/>
              </a:spcAft>
              <a:buSzPts val="2800"/>
              <a:buChar char="•"/>
              <a:defRPr sz="2800"/>
            </a:lvl6pPr>
            <a:lvl7pPr marL="3200400" lvl="6" indent="-406400" algn="ctr">
              <a:lnSpc>
                <a:spcPct val="90000"/>
              </a:lnSpc>
              <a:spcBef>
                <a:spcPts val="1500"/>
              </a:spcBef>
              <a:spcAft>
                <a:spcPts val="0"/>
              </a:spcAft>
              <a:buSzPts val="2800"/>
              <a:buChar char="•"/>
              <a:defRPr sz="2800"/>
            </a:lvl7pPr>
            <a:lvl8pPr marL="3657600" lvl="7" indent="-406400" algn="ctr">
              <a:lnSpc>
                <a:spcPct val="90000"/>
              </a:lnSpc>
              <a:spcBef>
                <a:spcPts val="1500"/>
              </a:spcBef>
              <a:spcAft>
                <a:spcPts val="0"/>
              </a:spcAft>
              <a:buSzPts val="2800"/>
              <a:buChar char="•"/>
              <a:defRPr sz="2800"/>
            </a:lvl8pPr>
            <a:lvl9pPr marL="4114800" lvl="8" indent="-228600" algn="ctr">
              <a:lnSpc>
                <a:spcPct val="90000"/>
              </a:lnSpc>
              <a:spcBef>
                <a:spcPts val="1500"/>
              </a:spcBef>
              <a:spcAft>
                <a:spcPts val="0"/>
              </a:spcAft>
              <a:buSzPts val="2800"/>
              <a:buNone/>
              <a:defRPr sz="2800"/>
            </a:lvl9pPr>
          </a:lstStyle>
          <a:p>
            <a:endParaRPr/>
          </a:p>
        </p:txBody>
      </p:sp>
      <p:sp>
        <p:nvSpPr>
          <p:cNvPr id="421" name="Google Shape;421;p34"/>
          <p:cNvSpPr txBox="1">
            <a:spLocks noGrp="1"/>
          </p:cNvSpPr>
          <p:nvPr>
            <p:ph type="body" idx="23"/>
          </p:nvPr>
        </p:nvSpPr>
        <p:spPr>
          <a:xfrm>
            <a:off x="1828800" y="10378440"/>
            <a:ext cx="6035100" cy="584700"/>
          </a:xfrm>
          <a:prstGeom prst="rect">
            <a:avLst/>
          </a:prstGeom>
          <a:noFill/>
          <a:ln>
            <a:noFill/>
          </a:ln>
        </p:spPr>
        <p:txBody>
          <a:bodyPr spcFirstLastPara="1" wrap="square" lIns="0" tIns="45700" rIns="0" bIns="45700" anchor="t" anchorCtr="0">
            <a:noAutofit/>
          </a:bodyPr>
          <a:lstStyle>
            <a:lvl1pPr marL="457200" lvl="0" indent="-228600" algn="ctr">
              <a:lnSpc>
                <a:spcPct val="90000"/>
              </a:lnSpc>
              <a:spcBef>
                <a:spcPts val="0"/>
              </a:spcBef>
              <a:spcAft>
                <a:spcPts val="0"/>
              </a:spcAft>
              <a:buSzPts val="4000"/>
              <a:buFont typeface="NVIDIA Sans Medium"/>
              <a:buNone/>
              <a:defRPr sz="4000">
                <a:latin typeface="NVIDIA Sans Medium"/>
                <a:ea typeface="NVIDIA Sans Medium"/>
                <a:cs typeface="NVIDIA Sans Medium"/>
                <a:sym typeface="NVIDIA Sans Medium"/>
              </a:defRPr>
            </a:lvl1pPr>
            <a:lvl2pPr marL="914400" lvl="1" indent="-228600" algn="ctr">
              <a:lnSpc>
                <a:spcPct val="90000"/>
              </a:lnSpc>
              <a:spcBef>
                <a:spcPts val="1600"/>
              </a:spcBef>
              <a:spcAft>
                <a:spcPts val="0"/>
              </a:spcAft>
              <a:buSzPts val="4000"/>
              <a:buFont typeface="NVIDIA Sans Medium"/>
              <a:buNone/>
              <a:defRPr>
                <a:latin typeface="NVIDIA Sans Medium"/>
                <a:ea typeface="NVIDIA Sans Medium"/>
                <a:cs typeface="NVIDIA Sans Medium"/>
                <a:sym typeface="NVIDIA Sans Medium"/>
              </a:defRPr>
            </a:lvl2pPr>
            <a:lvl3pPr marL="1371600" lvl="2" indent="-228600" algn="ctr">
              <a:lnSpc>
                <a:spcPct val="90000"/>
              </a:lnSpc>
              <a:spcBef>
                <a:spcPts val="1600"/>
              </a:spcBef>
              <a:spcAft>
                <a:spcPts val="0"/>
              </a:spcAft>
              <a:buSzPts val="4000"/>
              <a:buFont typeface="NVIDIA Sans Medium"/>
              <a:buNone/>
              <a:defRPr sz="4000">
                <a:latin typeface="NVIDIA Sans Medium"/>
                <a:ea typeface="NVIDIA Sans Medium"/>
                <a:cs typeface="NVIDIA Sans Medium"/>
                <a:sym typeface="NVIDIA Sans Medium"/>
              </a:defRPr>
            </a:lvl3pPr>
            <a:lvl4pPr marL="1828800" lvl="3"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4pPr>
            <a:lvl5pPr marL="2286000" lvl="4" indent="-228600" algn="ctr">
              <a:lnSpc>
                <a:spcPct val="90000"/>
              </a:lnSpc>
              <a:spcBef>
                <a:spcPts val="800"/>
              </a:spcBef>
              <a:spcAft>
                <a:spcPts val="0"/>
              </a:spcAft>
              <a:buSzPts val="4000"/>
              <a:buFont typeface="NVIDIA Sans Medium"/>
              <a:buNone/>
              <a:defRPr sz="4000">
                <a:latin typeface="NVIDIA Sans Medium"/>
                <a:ea typeface="NVIDIA Sans Medium"/>
                <a:cs typeface="NVIDIA Sans Medium"/>
                <a:sym typeface="NVIDIA Sans Medium"/>
              </a:defRPr>
            </a:lvl5pPr>
            <a:lvl6pPr marL="2743200" lvl="5"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6pPr>
            <a:lvl7pPr marL="3200400" lvl="6"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7pPr>
            <a:lvl8pPr marL="3657600" lvl="7" indent="-482600" algn="ctr">
              <a:lnSpc>
                <a:spcPct val="90000"/>
              </a:lnSpc>
              <a:spcBef>
                <a:spcPts val="1500"/>
              </a:spcBef>
              <a:spcAft>
                <a:spcPts val="0"/>
              </a:spcAft>
              <a:buSzPts val="4000"/>
              <a:buFont typeface="NVIDIA Sans Medium"/>
              <a:buChar char="•"/>
              <a:defRPr sz="4000">
                <a:latin typeface="NVIDIA Sans Medium"/>
                <a:ea typeface="NVIDIA Sans Medium"/>
                <a:cs typeface="NVIDIA Sans Medium"/>
                <a:sym typeface="NVIDIA Sans Medium"/>
              </a:defRPr>
            </a:lvl8pPr>
            <a:lvl9pPr marL="4114800" lvl="8" indent="-228600" algn="ctr">
              <a:lnSpc>
                <a:spcPct val="90000"/>
              </a:lnSpc>
              <a:spcBef>
                <a:spcPts val="1500"/>
              </a:spcBef>
              <a:spcAft>
                <a:spcPts val="0"/>
              </a:spcAft>
              <a:buSzPts val="4000"/>
              <a:buFont typeface="NVIDIA Sans Medium"/>
              <a:buNone/>
              <a:defRPr sz="4000">
                <a:latin typeface="NVIDIA Sans Medium"/>
                <a:ea typeface="NVIDIA Sans Medium"/>
                <a:cs typeface="NVIDIA Sans Medium"/>
                <a:sym typeface="NVIDIA Sans Medium"/>
              </a:defRPr>
            </a:lvl9pPr>
          </a:lstStyle>
          <a:p>
            <a:endParaRPr/>
          </a:p>
        </p:txBody>
      </p:sp>
      <p:sp>
        <p:nvSpPr>
          <p:cNvPr id="422" name="Google Shape;422;p34"/>
          <p:cNvSpPr txBox="1">
            <a:spLocks noGrp="1"/>
          </p:cNvSpPr>
          <p:nvPr>
            <p:ph type="body" idx="24"/>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423" name="Google Shape;423;p34"/>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4" name="Google Shape;424;p34"/>
          <p:cNvSpPr txBox="1">
            <a:spLocks noGrp="1"/>
          </p:cNvSpPr>
          <p:nvPr>
            <p:ph type="subTitle" idx="25"/>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425" name="Google Shape;425;p34"/>
          <p:cNvSpPr>
            <a:spLocks noGrp="1"/>
          </p:cNvSpPr>
          <p:nvPr>
            <p:ph type="pic" idx="26"/>
          </p:nvPr>
        </p:nvSpPr>
        <p:spPr>
          <a:xfrm>
            <a:off x="28712161"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26" name="Google Shape;426;p34"/>
          <p:cNvSpPr>
            <a:spLocks noGrp="1"/>
          </p:cNvSpPr>
          <p:nvPr>
            <p:ph type="pic" idx="27"/>
          </p:nvPr>
        </p:nvSpPr>
        <p:spPr>
          <a:xfrm>
            <a:off x="21991321"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27" name="Google Shape;427;p34"/>
          <p:cNvSpPr>
            <a:spLocks noGrp="1"/>
          </p:cNvSpPr>
          <p:nvPr>
            <p:ph type="pic" idx="28"/>
          </p:nvPr>
        </p:nvSpPr>
        <p:spPr>
          <a:xfrm>
            <a:off x="15270480"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28" name="Google Shape;428;p34"/>
          <p:cNvSpPr>
            <a:spLocks noGrp="1"/>
          </p:cNvSpPr>
          <p:nvPr>
            <p:ph type="pic" idx="29"/>
          </p:nvPr>
        </p:nvSpPr>
        <p:spPr>
          <a:xfrm>
            <a:off x="8549640"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29" name="Google Shape;429;p34"/>
          <p:cNvSpPr>
            <a:spLocks noGrp="1"/>
          </p:cNvSpPr>
          <p:nvPr>
            <p:ph type="pic" idx="30"/>
          </p:nvPr>
        </p:nvSpPr>
        <p:spPr>
          <a:xfrm>
            <a:off x="1828800" y="12068985"/>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30" name="Google Shape;430;p34"/>
          <p:cNvSpPr>
            <a:spLocks noGrp="1"/>
          </p:cNvSpPr>
          <p:nvPr>
            <p:ph type="pic" idx="31"/>
          </p:nvPr>
        </p:nvSpPr>
        <p:spPr>
          <a:xfrm>
            <a:off x="28712161"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31" name="Google Shape;431;p34"/>
          <p:cNvSpPr>
            <a:spLocks noGrp="1"/>
          </p:cNvSpPr>
          <p:nvPr>
            <p:ph type="pic" idx="32"/>
          </p:nvPr>
        </p:nvSpPr>
        <p:spPr>
          <a:xfrm>
            <a:off x="21991321"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32" name="Google Shape;432;p34"/>
          <p:cNvSpPr>
            <a:spLocks noGrp="1"/>
          </p:cNvSpPr>
          <p:nvPr>
            <p:ph type="pic" idx="33"/>
          </p:nvPr>
        </p:nvSpPr>
        <p:spPr>
          <a:xfrm>
            <a:off x="15270480"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33" name="Google Shape;433;p34"/>
          <p:cNvSpPr>
            <a:spLocks noGrp="1"/>
          </p:cNvSpPr>
          <p:nvPr>
            <p:ph type="pic" idx="34"/>
          </p:nvPr>
        </p:nvSpPr>
        <p:spPr>
          <a:xfrm>
            <a:off x="8549640"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
        <p:nvSpPr>
          <p:cNvPr id="434" name="Google Shape;434;p34"/>
          <p:cNvSpPr>
            <a:spLocks noGrp="1"/>
          </p:cNvSpPr>
          <p:nvPr>
            <p:ph type="pic" idx="35"/>
          </p:nvPr>
        </p:nvSpPr>
        <p:spPr>
          <a:xfrm>
            <a:off x="1828800" y="6672931"/>
            <a:ext cx="6035040" cy="3394710"/>
          </a:xfrm>
          <a:prstGeom prst="rect">
            <a:avLst/>
          </a:prstGeom>
          <a:solidFill>
            <a:schemeClr val="lt2"/>
          </a:solidFill>
          <a:ln w="9525" cap="flat" cmpd="sng">
            <a:solidFill>
              <a:schemeClr val="accent6"/>
            </a:solidFill>
            <a:prstDash val="solid"/>
            <a:round/>
            <a:headEnd type="none" w="sm" len="sm"/>
            <a:tailEnd type="none" w="sm" len="sm"/>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35"/>
        <p:cNvGrpSpPr/>
        <p:nvPr/>
      </p:nvGrpSpPr>
      <p:grpSpPr>
        <a:xfrm>
          <a:off x="0" y="0"/>
          <a:ext cx="0" cy="0"/>
          <a:chOff x="0" y="0"/>
          <a:chExt cx="0" cy="0"/>
        </a:xfrm>
      </p:grpSpPr>
      <p:sp>
        <p:nvSpPr>
          <p:cNvPr id="436" name="Google Shape;436;p35"/>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37" name="Google Shape;437;p35"/>
          <p:cNvSpPr>
            <a:spLocks noGrp="1"/>
          </p:cNvSpPr>
          <p:nvPr>
            <p:ph type="pic" idx="2"/>
          </p:nvPr>
        </p:nvSpPr>
        <p:spPr>
          <a:xfrm>
            <a:off x="18630900" y="12024360"/>
            <a:ext cx="17030700" cy="6720839"/>
          </a:xfrm>
          <a:prstGeom prst="rect">
            <a:avLst/>
          </a:prstGeom>
          <a:solidFill>
            <a:schemeClr val="lt2"/>
          </a:solidFill>
          <a:ln w="9525" cap="flat" cmpd="sng">
            <a:solidFill>
              <a:schemeClr val="accent6"/>
            </a:solidFill>
            <a:prstDash val="solid"/>
            <a:round/>
            <a:headEnd type="none" w="sm" len="sm"/>
            <a:tailEnd type="none" w="sm" len="sm"/>
          </a:ln>
        </p:spPr>
      </p:sp>
      <p:sp>
        <p:nvSpPr>
          <p:cNvPr id="438" name="Google Shape;438;p35"/>
          <p:cNvSpPr>
            <a:spLocks noGrp="1"/>
          </p:cNvSpPr>
          <p:nvPr>
            <p:ph type="pic" idx="3"/>
          </p:nvPr>
        </p:nvSpPr>
        <p:spPr>
          <a:xfrm>
            <a:off x="11494844" y="13258800"/>
            <a:ext cx="6451780" cy="5486400"/>
          </a:xfrm>
          <a:prstGeom prst="rect">
            <a:avLst/>
          </a:prstGeom>
          <a:solidFill>
            <a:schemeClr val="lt2"/>
          </a:solidFill>
          <a:ln w="9525" cap="flat" cmpd="sng">
            <a:solidFill>
              <a:schemeClr val="accent6"/>
            </a:solidFill>
            <a:prstDash val="solid"/>
            <a:round/>
            <a:headEnd type="none" w="sm" len="sm"/>
            <a:tailEnd type="none" w="sm" len="sm"/>
          </a:ln>
        </p:spPr>
      </p:sp>
      <p:sp>
        <p:nvSpPr>
          <p:cNvPr id="439" name="Google Shape;439;p35"/>
          <p:cNvSpPr>
            <a:spLocks noGrp="1"/>
          </p:cNvSpPr>
          <p:nvPr>
            <p:ph type="pic" idx="4"/>
          </p:nvPr>
        </p:nvSpPr>
        <p:spPr>
          <a:xfrm>
            <a:off x="914400" y="13258800"/>
            <a:ext cx="9896168" cy="5486400"/>
          </a:xfrm>
          <a:prstGeom prst="rect">
            <a:avLst/>
          </a:prstGeom>
          <a:solidFill>
            <a:schemeClr val="lt2"/>
          </a:solidFill>
          <a:ln w="9525" cap="flat" cmpd="sng">
            <a:solidFill>
              <a:schemeClr val="accent6"/>
            </a:solidFill>
            <a:prstDash val="solid"/>
            <a:round/>
            <a:headEnd type="none" w="sm" len="sm"/>
            <a:tailEnd type="none" w="sm" len="sm"/>
          </a:ln>
        </p:spPr>
      </p:sp>
      <p:sp>
        <p:nvSpPr>
          <p:cNvPr id="440" name="Google Shape;440;p35"/>
          <p:cNvSpPr>
            <a:spLocks noGrp="1"/>
          </p:cNvSpPr>
          <p:nvPr>
            <p:ph type="pic" idx="5"/>
          </p:nvPr>
        </p:nvSpPr>
        <p:spPr>
          <a:xfrm>
            <a:off x="6819900" y="7086600"/>
            <a:ext cx="11125200" cy="5486400"/>
          </a:xfrm>
          <a:prstGeom prst="rect">
            <a:avLst/>
          </a:prstGeom>
          <a:solidFill>
            <a:schemeClr val="lt2"/>
          </a:solidFill>
          <a:ln w="9525" cap="flat" cmpd="sng">
            <a:solidFill>
              <a:schemeClr val="accent6"/>
            </a:solidFill>
            <a:prstDash val="solid"/>
            <a:round/>
            <a:headEnd type="none" w="sm" len="sm"/>
            <a:tailEnd type="none" w="sm" len="sm"/>
          </a:ln>
        </p:spPr>
      </p:sp>
      <p:sp>
        <p:nvSpPr>
          <p:cNvPr id="441" name="Google Shape;441;p35"/>
          <p:cNvSpPr>
            <a:spLocks noGrp="1"/>
          </p:cNvSpPr>
          <p:nvPr>
            <p:ph type="pic" idx="6"/>
          </p:nvPr>
        </p:nvSpPr>
        <p:spPr>
          <a:xfrm>
            <a:off x="914400" y="7086600"/>
            <a:ext cx="5221224" cy="5486400"/>
          </a:xfrm>
          <a:prstGeom prst="rect">
            <a:avLst/>
          </a:prstGeom>
          <a:solidFill>
            <a:schemeClr val="lt2"/>
          </a:solidFill>
          <a:ln w="9525" cap="flat" cmpd="sng">
            <a:solidFill>
              <a:schemeClr val="accent6"/>
            </a:solidFill>
            <a:prstDash val="solid"/>
            <a:round/>
            <a:headEnd type="none" w="sm" len="sm"/>
            <a:tailEnd type="none" w="sm" len="sm"/>
          </a:ln>
        </p:spPr>
      </p:sp>
      <p:sp>
        <p:nvSpPr>
          <p:cNvPr id="442" name="Google Shape;442;p35"/>
          <p:cNvSpPr>
            <a:spLocks noGrp="1"/>
          </p:cNvSpPr>
          <p:nvPr>
            <p:ph type="pic" idx="7"/>
          </p:nvPr>
        </p:nvSpPr>
        <p:spPr>
          <a:xfrm>
            <a:off x="30403800" y="914400"/>
            <a:ext cx="5257800" cy="10424160"/>
          </a:xfrm>
          <a:prstGeom prst="rect">
            <a:avLst/>
          </a:prstGeom>
          <a:solidFill>
            <a:schemeClr val="lt2"/>
          </a:solidFill>
          <a:ln w="9525" cap="flat" cmpd="sng">
            <a:solidFill>
              <a:schemeClr val="accent6"/>
            </a:solidFill>
            <a:prstDash val="solid"/>
            <a:round/>
            <a:headEnd type="none" w="sm" len="sm"/>
            <a:tailEnd type="none" w="sm" len="sm"/>
          </a:ln>
        </p:spPr>
      </p:sp>
      <p:sp>
        <p:nvSpPr>
          <p:cNvPr id="443" name="Google Shape;443;p35"/>
          <p:cNvSpPr>
            <a:spLocks noGrp="1"/>
          </p:cNvSpPr>
          <p:nvPr>
            <p:ph type="pic" idx="8"/>
          </p:nvPr>
        </p:nvSpPr>
        <p:spPr>
          <a:xfrm>
            <a:off x="16373168" y="914400"/>
            <a:ext cx="13382932" cy="5486400"/>
          </a:xfrm>
          <a:prstGeom prst="rect">
            <a:avLst/>
          </a:prstGeom>
          <a:solidFill>
            <a:schemeClr val="lt2"/>
          </a:solidFill>
          <a:ln w="9525" cap="flat" cmpd="sng">
            <a:solidFill>
              <a:schemeClr val="accent6"/>
            </a:solidFill>
            <a:prstDash val="solid"/>
            <a:round/>
            <a:headEnd type="none" w="sm" len="sm"/>
            <a:tailEnd type="none" w="sm" len="sm"/>
          </a:ln>
        </p:spPr>
      </p:sp>
      <p:sp>
        <p:nvSpPr>
          <p:cNvPr id="444" name="Google Shape;444;p35"/>
          <p:cNvSpPr>
            <a:spLocks noGrp="1"/>
          </p:cNvSpPr>
          <p:nvPr>
            <p:ph type="pic" idx="9"/>
          </p:nvPr>
        </p:nvSpPr>
        <p:spPr>
          <a:xfrm>
            <a:off x="9888794" y="914400"/>
            <a:ext cx="5798574" cy="5486400"/>
          </a:xfrm>
          <a:prstGeom prst="rect">
            <a:avLst/>
          </a:prstGeom>
          <a:solidFill>
            <a:schemeClr val="lt2"/>
          </a:solidFill>
          <a:ln w="9525" cap="flat" cmpd="sng">
            <a:solidFill>
              <a:schemeClr val="accent6"/>
            </a:solidFill>
            <a:prstDash val="solid"/>
            <a:round/>
            <a:headEnd type="none" w="sm" len="sm"/>
            <a:tailEnd type="none" w="sm" len="sm"/>
          </a:ln>
        </p:spPr>
      </p:sp>
      <p:sp>
        <p:nvSpPr>
          <p:cNvPr id="445" name="Google Shape;445;p35"/>
          <p:cNvSpPr>
            <a:spLocks noGrp="1"/>
          </p:cNvSpPr>
          <p:nvPr>
            <p:ph type="pic" idx="13"/>
          </p:nvPr>
        </p:nvSpPr>
        <p:spPr>
          <a:xfrm>
            <a:off x="914400" y="914400"/>
            <a:ext cx="8288594" cy="5486400"/>
          </a:xfrm>
          <a:prstGeom prst="rect">
            <a:avLst/>
          </a:prstGeom>
          <a:solidFill>
            <a:schemeClr val="lt2"/>
          </a:solidFill>
          <a:ln w="9525" cap="flat" cmpd="sng">
            <a:solidFill>
              <a:schemeClr val="accent6"/>
            </a:solidFill>
            <a:prstDash val="solid"/>
            <a:round/>
            <a:headEnd type="none" w="sm" len="sm"/>
            <a:tailEnd type="none" w="sm" len="sm"/>
          </a:ln>
        </p:spPr>
      </p:sp>
      <p:sp>
        <p:nvSpPr>
          <p:cNvPr id="446" name="Google Shape;446;p35"/>
          <p:cNvSpPr txBox="1">
            <a:spLocks noGrp="1"/>
          </p:cNvSpPr>
          <p:nvPr>
            <p:ph type="title"/>
          </p:nvPr>
        </p:nvSpPr>
        <p:spPr>
          <a:xfrm>
            <a:off x="18629375" y="7086600"/>
            <a:ext cx="11125199" cy="4251960"/>
          </a:xfrm>
          <a:prstGeom prst="rect">
            <a:avLst/>
          </a:prstGeom>
          <a:noFill/>
          <a:ln>
            <a:noFill/>
          </a:ln>
        </p:spPr>
        <p:txBody>
          <a:bodyPr spcFirstLastPara="1" wrap="square" lIns="0" tIns="45700" rIns="0" bIns="45700" anchor="ctr" anchorCtr="0">
            <a:noAutofit/>
          </a:bodyPr>
          <a:lstStyle>
            <a:lvl1pPr lvl="0" algn="ctr">
              <a:lnSpc>
                <a:spcPct val="90000"/>
              </a:lnSpc>
              <a:spcBef>
                <a:spcPts val="0"/>
              </a:spcBef>
              <a:spcAft>
                <a:spcPts val="0"/>
              </a:spcAft>
              <a:buClr>
                <a:schemeClr val="dk1"/>
              </a:buClr>
              <a:buSzPts val="5400"/>
              <a:buFont typeface="NVIDIA Sans Medium"/>
              <a:buNone/>
              <a:defRPr sz="5400">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7" name="Google Shape;447;p35"/>
          <p:cNvSpPr txBox="1">
            <a:spLocks noGrp="1"/>
          </p:cNvSpPr>
          <p:nvPr>
            <p:ph type="subTitle" idx="1"/>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Demo - Image">
  <p:cSld name="Demo - Image">
    <p:spTree>
      <p:nvGrpSpPr>
        <p:cNvPr id="1" name="Shape 448"/>
        <p:cNvGrpSpPr/>
        <p:nvPr/>
      </p:nvGrpSpPr>
      <p:grpSpPr>
        <a:xfrm>
          <a:off x="0" y="0"/>
          <a:ext cx="0" cy="0"/>
          <a:chOff x="0" y="0"/>
          <a:chExt cx="0" cy="0"/>
        </a:xfrm>
      </p:grpSpPr>
      <p:sp>
        <p:nvSpPr>
          <p:cNvPr id="449" name="Google Shape;449;p36"/>
          <p:cNvSpPr>
            <a:spLocks noGrp="1"/>
          </p:cNvSpPr>
          <p:nvPr>
            <p:ph type="pic" idx="2"/>
          </p:nvPr>
        </p:nvSpPr>
        <p:spPr>
          <a:xfrm>
            <a:off x="1" y="0"/>
            <a:ext cx="36576000" cy="20574000"/>
          </a:xfrm>
          <a:prstGeom prst="rect">
            <a:avLst/>
          </a:prstGeom>
          <a:solidFill>
            <a:schemeClr val="lt2"/>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Demo - Video">
  <p:cSld name="Demo - Image_1">
    <p:spTree>
      <p:nvGrpSpPr>
        <p:cNvPr id="1" name="Shape 450"/>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Demo - Video">
  <p:cSld name="Demo - Video">
    <p:spTree>
      <p:nvGrpSpPr>
        <p:cNvPr id="1" name="Shape 451"/>
        <p:cNvGrpSpPr/>
        <p:nvPr/>
      </p:nvGrpSpPr>
      <p:grpSpPr>
        <a:xfrm>
          <a:off x="0" y="0"/>
          <a:ext cx="0" cy="0"/>
          <a:chOff x="0" y="0"/>
          <a:chExt cx="0" cy="0"/>
        </a:xfrm>
      </p:grpSpPr>
      <p:sp>
        <p:nvSpPr>
          <p:cNvPr id="452" name="Google Shape;452;p38"/>
          <p:cNvSpPr txBox="1">
            <a:spLocks noGrp="1"/>
          </p:cNvSpPr>
          <p:nvPr>
            <p:ph type="body" idx="1"/>
          </p:nvPr>
        </p:nvSpPr>
        <p:spPr>
          <a:xfrm>
            <a:off x="1828800" y="2454442"/>
            <a:ext cx="32918400" cy="625475"/>
          </a:xfrm>
          <a:prstGeom prst="rect">
            <a:avLst/>
          </a:prstGeom>
          <a:noFill/>
          <a:ln>
            <a:noFill/>
          </a:ln>
        </p:spPr>
        <p:txBody>
          <a:bodyPr spcFirstLastPara="1" wrap="square" lIns="0" tIns="45700" rIns="0" bIns="45700" anchor="t" anchorCtr="0">
            <a:noAutofit/>
          </a:bodyPr>
          <a:lstStyle>
            <a:lvl1pPr marL="457200" lvl="0" indent="-406400" algn="ctr">
              <a:lnSpc>
                <a:spcPct val="90000"/>
              </a:lnSpc>
              <a:spcBef>
                <a:spcPts val="0"/>
              </a:spcBef>
              <a:spcAft>
                <a:spcPts val="0"/>
              </a:spcAft>
              <a:buClr>
                <a:schemeClr val="accent6"/>
              </a:buClr>
              <a:buSzPts val="2800"/>
              <a:buChar char="•"/>
              <a:defRPr sz="2800">
                <a:solidFill>
                  <a:schemeClr val="accent6"/>
                </a:solidFill>
                <a:latin typeface="NVIDIA Sans"/>
                <a:ea typeface="NVIDIA Sans"/>
                <a:cs typeface="NVIDIA Sans"/>
                <a:sym typeface="NVIDIA Sans"/>
              </a:defRPr>
            </a:lvl1pPr>
            <a:lvl2pPr marL="914400" lvl="1" indent="-406400" algn="ctr">
              <a:lnSpc>
                <a:spcPct val="90000"/>
              </a:lnSpc>
              <a:spcBef>
                <a:spcPts val="1600"/>
              </a:spcBef>
              <a:spcAft>
                <a:spcPts val="0"/>
              </a:spcAft>
              <a:buClr>
                <a:schemeClr val="accent6"/>
              </a:buClr>
              <a:buSzPts val="2800"/>
              <a:buChar char="•"/>
              <a:defRPr sz="2800">
                <a:solidFill>
                  <a:schemeClr val="accent6"/>
                </a:solidFill>
              </a:defRPr>
            </a:lvl2pPr>
            <a:lvl3pPr marL="1371600" lvl="2" indent="-457200" algn="ctr">
              <a:lnSpc>
                <a:spcPct val="90000"/>
              </a:lnSpc>
              <a:spcBef>
                <a:spcPts val="1600"/>
              </a:spcBef>
              <a:spcAft>
                <a:spcPts val="0"/>
              </a:spcAft>
              <a:buClr>
                <a:schemeClr val="accent6"/>
              </a:buClr>
              <a:buSzPts val="3600"/>
              <a:buChar char="•"/>
              <a:defRPr>
                <a:solidFill>
                  <a:schemeClr val="accent6"/>
                </a:solidFill>
              </a:defRPr>
            </a:lvl3pPr>
            <a:lvl4pPr marL="1828800" lvl="3" indent="-406400" algn="ctr">
              <a:lnSpc>
                <a:spcPct val="90000"/>
              </a:lnSpc>
              <a:spcBef>
                <a:spcPts val="800"/>
              </a:spcBef>
              <a:spcAft>
                <a:spcPts val="0"/>
              </a:spcAft>
              <a:buClr>
                <a:schemeClr val="accent6"/>
              </a:buClr>
              <a:buSzPts val="2800"/>
              <a:buChar char="•"/>
              <a:defRPr sz="2800">
                <a:solidFill>
                  <a:schemeClr val="accent6"/>
                </a:solidFill>
              </a:defRPr>
            </a:lvl4pPr>
            <a:lvl5pPr marL="2286000" lvl="4" indent="-406400" algn="ctr">
              <a:lnSpc>
                <a:spcPct val="90000"/>
              </a:lnSpc>
              <a:spcBef>
                <a:spcPts val="800"/>
              </a:spcBef>
              <a:spcAft>
                <a:spcPts val="0"/>
              </a:spcAft>
              <a:buClr>
                <a:schemeClr val="accent6"/>
              </a:buClr>
              <a:buSzPts val="2800"/>
              <a:buChar char="•"/>
              <a:defRPr sz="2800">
                <a:solidFill>
                  <a:schemeClr val="accent6"/>
                </a:solidFill>
              </a:defRPr>
            </a:lvl5pPr>
            <a:lvl6pPr marL="2743200" lvl="5" indent="-406400" algn="ctr">
              <a:lnSpc>
                <a:spcPct val="90000"/>
              </a:lnSpc>
              <a:spcBef>
                <a:spcPts val="1500"/>
              </a:spcBef>
              <a:spcAft>
                <a:spcPts val="0"/>
              </a:spcAft>
              <a:buClr>
                <a:schemeClr val="accent6"/>
              </a:buClr>
              <a:buSzPts val="2800"/>
              <a:buChar char="•"/>
              <a:defRPr sz="2800">
                <a:solidFill>
                  <a:schemeClr val="accent6"/>
                </a:solidFill>
              </a:defRPr>
            </a:lvl6pPr>
            <a:lvl7pPr marL="3200400" lvl="6" indent="-406400" algn="ctr">
              <a:lnSpc>
                <a:spcPct val="90000"/>
              </a:lnSpc>
              <a:spcBef>
                <a:spcPts val="1500"/>
              </a:spcBef>
              <a:spcAft>
                <a:spcPts val="0"/>
              </a:spcAft>
              <a:buClr>
                <a:schemeClr val="accent6"/>
              </a:buClr>
              <a:buSzPts val="2800"/>
              <a:buChar char="•"/>
              <a:defRPr sz="2800">
                <a:solidFill>
                  <a:schemeClr val="accent6"/>
                </a:solidFill>
              </a:defRPr>
            </a:lvl7pPr>
            <a:lvl8pPr marL="3657600" lvl="7" indent="-406400" algn="ctr">
              <a:lnSpc>
                <a:spcPct val="90000"/>
              </a:lnSpc>
              <a:spcBef>
                <a:spcPts val="1500"/>
              </a:spcBef>
              <a:spcAft>
                <a:spcPts val="0"/>
              </a:spcAft>
              <a:buClr>
                <a:schemeClr val="accent6"/>
              </a:buClr>
              <a:buSzPts val="2800"/>
              <a:buChar char="•"/>
              <a:defRPr sz="2800">
                <a:solidFill>
                  <a:schemeClr val="accent6"/>
                </a:solidFill>
              </a:defRPr>
            </a:lvl8pPr>
            <a:lvl9pPr marL="4114800" lvl="8" indent="-228600" algn="ctr">
              <a:lnSpc>
                <a:spcPct val="90000"/>
              </a:lnSpc>
              <a:spcBef>
                <a:spcPts val="1500"/>
              </a:spcBef>
              <a:spcAft>
                <a:spcPts val="0"/>
              </a:spcAft>
              <a:buClr>
                <a:schemeClr val="accent6"/>
              </a:buClr>
              <a:buSzPts val="2800"/>
              <a:buNone/>
              <a:defRPr sz="2800">
                <a:solidFill>
                  <a:schemeClr val="accent6"/>
                </a:solidFill>
              </a:defRPr>
            </a:lvl9pPr>
          </a:lstStyle>
          <a:p>
            <a:endParaRPr/>
          </a:p>
        </p:txBody>
      </p:sp>
      <p:sp>
        <p:nvSpPr>
          <p:cNvPr id="453" name="Google Shape;453;p38"/>
          <p:cNvSpPr txBox="1">
            <a:spLocks noGrp="1"/>
          </p:cNvSpPr>
          <p:nvPr>
            <p:ph type="title"/>
          </p:nvPr>
        </p:nvSpPr>
        <p:spPr>
          <a:xfrm>
            <a:off x="1828800" y="1828800"/>
            <a:ext cx="32918400" cy="625642"/>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Clr>
                <a:schemeClr val="dk1"/>
              </a:buClr>
              <a:buSzPts val="3600"/>
              <a:buFont typeface="NVIDIA Sans Medium"/>
              <a:buNone/>
              <a:defRPr sz="3600">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4" name="Google Shape;454;p38"/>
          <p:cNvSpPr txBox="1">
            <a:spLocks noGrp="1"/>
          </p:cNvSpPr>
          <p:nvPr>
            <p:ph type="sldNum" idx="12"/>
          </p:nvPr>
        </p:nvSpPr>
        <p:spPr>
          <a:xfrm>
            <a:off x="914400" y="19431000"/>
            <a:ext cx="640200" cy="369300"/>
          </a:xfrm>
          <a:prstGeom prst="rect">
            <a:avLst/>
          </a:prstGeom>
          <a:noFill/>
          <a:ln>
            <a:noFill/>
          </a:ln>
        </p:spPr>
        <p:txBody>
          <a:bodyPr spcFirstLastPara="1" wrap="square" lIns="0" tIns="45700" rIns="0" bIns="45700" anchor="ctr" anchorCtr="0">
            <a:noAutofit/>
          </a:bodyPr>
          <a:lstStyle>
            <a:lvl1pPr marL="0" marR="0" lvl="0" indent="0" algn="l">
              <a:lnSpc>
                <a:spcPct val="90000"/>
              </a:lnSpc>
              <a:spcBef>
                <a:spcPts val="0"/>
              </a:spcBef>
              <a:buNone/>
              <a:defRPr sz="2000" b="0" u="none">
                <a:solidFill>
                  <a:schemeClr val="dk1"/>
                </a:solidFill>
                <a:latin typeface="NVIDIA Sans"/>
                <a:ea typeface="NVIDIA Sans"/>
                <a:cs typeface="NVIDIA Sans"/>
                <a:sym typeface="NVIDIA Sans"/>
              </a:defRPr>
            </a:lvl1pPr>
            <a:lvl2pPr marL="0" marR="0" lvl="1" indent="0" algn="l">
              <a:lnSpc>
                <a:spcPct val="90000"/>
              </a:lnSpc>
              <a:spcBef>
                <a:spcPts val="0"/>
              </a:spcBef>
              <a:buNone/>
              <a:defRPr sz="2000" b="0" u="none">
                <a:solidFill>
                  <a:schemeClr val="dk1"/>
                </a:solidFill>
                <a:latin typeface="NVIDIA Sans"/>
                <a:ea typeface="NVIDIA Sans"/>
                <a:cs typeface="NVIDIA Sans"/>
                <a:sym typeface="NVIDIA Sans"/>
              </a:defRPr>
            </a:lvl2pPr>
            <a:lvl3pPr marL="0" marR="0" lvl="2" indent="0" algn="l">
              <a:lnSpc>
                <a:spcPct val="90000"/>
              </a:lnSpc>
              <a:spcBef>
                <a:spcPts val="0"/>
              </a:spcBef>
              <a:buNone/>
              <a:defRPr sz="2000" b="0" u="none">
                <a:solidFill>
                  <a:schemeClr val="dk1"/>
                </a:solidFill>
                <a:latin typeface="NVIDIA Sans"/>
                <a:ea typeface="NVIDIA Sans"/>
                <a:cs typeface="NVIDIA Sans"/>
                <a:sym typeface="NVIDIA Sans"/>
              </a:defRPr>
            </a:lvl3pPr>
            <a:lvl4pPr marL="0" marR="0" lvl="3" indent="0" algn="l">
              <a:lnSpc>
                <a:spcPct val="90000"/>
              </a:lnSpc>
              <a:spcBef>
                <a:spcPts val="0"/>
              </a:spcBef>
              <a:buNone/>
              <a:defRPr sz="2000" b="0" u="none">
                <a:solidFill>
                  <a:schemeClr val="dk1"/>
                </a:solidFill>
                <a:latin typeface="NVIDIA Sans"/>
                <a:ea typeface="NVIDIA Sans"/>
                <a:cs typeface="NVIDIA Sans"/>
                <a:sym typeface="NVIDIA Sans"/>
              </a:defRPr>
            </a:lvl4pPr>
            <a:lvl5pPr marL="0" marR="0" lvl="4" indent="0" algn="l">
              <a:lnSpc>
                <a:spcPct val="90000"/>
              </a:lnSpc>
              <a:spcBef>
                <a:spcPts val="0"/>
              </a:spcBef>
              <a:buNone/>
              <a:defRPr sz="2000" b="0" u="none">
                <a:solidFill>
                  <a:schemeClr val="dk1"/>
                </a:solidFill>
                <a:latin typeface="NVIDIA Sans"/>
                <a:ea typeface="NVIDIA Sans"/>
                <a:cs typeface="NVIDIA Sans"/>
                <a:sym typeface="NVIDIA Sans"/>
              </a:defRPr>
            </a:lvl5pPr>
            <a:lvl6pPr marL="0" marR="0" lvl="5" indent="0" algn="l">
              <a:lnSpc>
                <a:spcPct val="90000"/>
              </a:lnSpc>
              <a:spcBef>
                <a:spcPts val="0"/>
              </a:spcBef>
              <a:buNone/>
              <a:defRPr sz="2000" b="0" u="none">
                <a:solidFill>
                  <a:schemeClr val="dk1"/>
                </a:solidFill>
                <a:latin typeface="NVIDIA Sans"/>
                <a:ea typeface="NVIDIA Sans"/>
                <a:cs typeface="NVIDIA Sans"/>
                <a:sym typeface="NVIDIA Sans"/>
              </a:defRPr>
            </a:lvl6pPr>
            <a:lvl7pPr marL="0" marR="0" lvl="6" indent="0" algn="l">
              <a:lnSpc>
                <a:spcPct val="90000"/>
              </a:lnSpc>
              <a:spcBef>
                <a:spcPts val="0"/>
              </a:spcBef>
              <a:buNone/>
              <a:defRPr sz="2000" b="0" u="none">
                <a:solidFill>
                  <a:schemeClr val="dk1"/>
                </a:solidFill>
                <a:latin typeface="NVIDIA Sans"/>
                <a:ea typeface="NVIDIA Sans"/>
                <a:cs typeface="NVIDIA Sans"/>
                <a:sym typeface="NVIDIA Sans"/>
              </a:defRPr>
            </a:lvl7pPr>
            <a:lvl8pPr marL="0" marR="0" lvl="7" indent="0" algn="l">
              <a:lnSpc>
                <a:spcPct val="90000"/>
              </a:lnSpc>
              <a:spcBef>
                <a:spcPts val="0"/>
              </a:spcBef>
              <a:buNone/>
              <a:defRPr sz="2000" b="0" u="none">
                <a:solidFill>
                  <a:schemeClr val="dk1"/>
                </a:solidFill>
                <a:latin typeface="NVIDIA Sans"/>
                <a:ea typeface="NVIDIA Sans"/>
                <a:cs typeface="NVIDIA Sans"/>
                <a:sym typeface="NVIDIA Sans"/>
              </a:defRPr>
            </a:lvl8pPr>
            <a:lvl9pPr marL="0" marR="0" lvl="8" indent="0" algn="l">
              <a:lnSpc>
                <a:spcPct val="90000"/>
              </a:lnSpc>
              <a:spcBef>
                <a:spcPts val="0"/>
              </a:spcBef>
              <a:buNone/>
              <a:defRPr sz="2000" b="0" u="none">
                <a:solidFill>
                  <a:schemeClr val="dk1"/>
                </a:solidFill>
                <a:latin typeface="NVIDIA Sans"/>
                <a:ea typeface="NVIDIA Sans"/>
                <a:cs typeface="NVIDIA Sans"/>
                <a:sym typeface="NVIDIA Sans"/>
              </a:defRPr>
            </a:lvl9pPr>
          </a:lstStyle>
          <a:p>
            <a:pPr marL="0" lvl="0" indent="0" algn="l" rtl="0">
              <a:spcBef>
                <a:spcPts val="0"/>
              </a:spcBef>
              <a:spcAft>
                <a:spcPts val="0"/>
              </a:spcAft>
              <a:buNone/>
            </a:pPr>
            <a:fld id="{00000000-1234-1234-1234-123412341234}" type="slidenum">
              <a:rPr lang="en-US"/>
              <a:t>‹#›</a:t>
            </a:fld>
            <a:endParaRPr/>
          </a:p>
        </p:txBody>
      </p:sp>
      <p:sp>
        <p:nvSpPr>
          <p:cNvPr id="455" name="Google Shape;455;p38"/>
          <p:cNvSpPr txBox="1">
            <a:spLocks noGrp="1"/>
          </p:cNvSpPr>
          <p:nvPr>
            <p:ph type="subTitle" idx="2"/>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rogression">
  <p:cSld name="Progression">
    <p:spTree>
      <p:nvGrpSpPr>
        <p:cNvPr id="1" name="Shape 456"/>
        <p:cNvGrpSpPr/>
        <p:nvPr/>
      </p:nvGrpSpPr>
      <p:grpSpPr>
        <a:xfrm>
          <a:off x="0" y="0"/>
          <a:ext cx="0" cy="0"/>
          <a:chOff x="0" y="0"/>
          <a:chExt cx="0" cy="0"/>
        </a:xfrm>
      </p:grpSpPr>
      <p:sp>
        <p:nvSpPr>
          <p:cNvPr id="457" name="Google Shape;457;p39"/>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58" name="Google Shape;458;p39"/>
          <p:cNvSpPr txBox="1">
            <a:spLocks noGrp="1"/>
          </p:cNvSpPr>
          <p:nvPr>
            <p:ph type="body" idx="1"/>
          </p:nvPr>
        </p:nvSpPr>
        <p:spPr>
          <a:xfrm>
            <a:off x="27031950" y="10808208"/>
            <a:ext cx="7715250" cy="783907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59" name="Google Shape;459;p39"/>
          <p:cNvSpPr txBox="1">
            <a:spLocks noGrp="1"/>
          </p:cNvSpPr>
          <p:nvPr>
            <p:ph type="body" idx="2"/>
          </p:nvPr>
        </p:nvSpPr>
        <p:spPr>
          <a:xfrm>
            <a:off x="27031950" y="8714232"/>
            <a:ext cx="771525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60" name="Google Shape;460;p39"/>
          <p:cNvSpPr txBox="1">
            <a:spLocks noGrp="1"/>
          </p:cNvSpPr>
          <p:nvPr>
            <p:ph type="body" idx="3"/>
          </p:nvPr>
        </p:nvSpPr>
        <p:spPr>
          <a:xfrm>
            <a:off x="18630900" y="10808208"/>
            <a:ext cx="7715250" cy="783907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61" name="Google Shape;461;p39"/>
          <p:cNvSpPr txBox="1">
            <a:spLocks noGrp="1"/>
          </p:cNvSpPr>
          <p:nvPr>
            <p:ph type="body" idx="4"/>
          </p:nvPr>
        </p:nvSpPr>
        <p:spPr>
          <a:xfrm>
            <a:off x="18630900" y="8714232"/>
            <a:ext cx="771525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62" name="Google Shape;462;p39"/>
          <p:cNvSpPr txBox="1">
            <a:spLocks noGrp="1"/>
          </p:cNvSpPr>
          <p:nvPr>
            <p:ph type="body" idx="5"/>
          </p:nvPr>
        </p:nvSpPr>
        <p:spPr>
          <a:xfrm>
            <a:off x="10229850" y="10808208"/>
            <a:ext cx="7715250" cy="783907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63" name="Google Shape;463;p39"/>
          <p:cNvSpPr txBox="1">
            <a:spLocks noGrp="1"/>
          </p:cNvSpPr>
          <p:nvPr>
            <p:ph type="body" idx="6"/>
          </p:nvPr>
        </p:nvSpPr>
        <p:spPr>
          <a:xfrm>
            <a:off x="10229850" y="8714232"/>
            <a:ext cx="771525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64" name="Google Shape;464;p39"/>
          <p:cNvSpPr txBox="1">
            <a:spLocks noGrp="1"/>
          </p:cNvSpPr>
          <p:nvPr>
            <p:ph type="body" idx="7"/>
          </p:nvPr>
        </p:nvSpPr>
        <p:spPr>
          <a:xfrm>
            <a:off x="1828800" y="10808208"/>
            <a:ext cx="7715250" cy="7839075"/>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cxnSp>
        <p:nvCxnSpPr>
          <p:cNvPr id="465" name="Google Shape;465;p39"/>
          <p:cNvCxnSpPr/>
          <p:nvPr/>
        </p:nvCxnSpPr>
        <p:spPr>
          <a:xfrm>
            <a:off x="0" y="10287000"/>
            <a:ext cx="36576000" cy="0"/>
          </a:xfrm>
          <a:prstGeom prst="straightConnector1">
            <a:avLst/>
          </a:prstGeom>
          <a:noFill/>
          <a:ln w="63500" cap="flat" cmpd="sng">
            <a:solidFill>
              <a:schemeClr val="accent1"/>
            </a:solidFill>
            <a:prstDash val="solid"/>
            <a:miter lim="800000"/>
            <a:headEnd type="none" w="sm" len="sm"/>
            <a:tailEnd type="none" w="sm" len="sm"/>
          </a:ln>
        </p:spPr>
      </p:cxnSp>
      <p:sp>
        <p:nvSpPr>
          <p:cNvPr id="466" name="Google Shape;466;p39"/>
          <p:cNvSpPr txBox="1">
            <a:spLocks noGrp="1"/>
          </p:cNvSpPr>
          <p:nvPr>
            <p:ph type="body" idx="8"/>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467" name="Google Shape;467;p39"/>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8" name="Google Shape;468;p39"/>
          <p:cNvSpPr txBox="1">
            <a:spLocks noGrp="1"/>
          </p:cNvSpPr>
          <p:nvPr>
            <p:ph type="subTitle" idx="9"/>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
        <p:nvSpPr>
          <p:cNvPr id="469" name="Google Shape;469;p39"/>
          <p:cNvSpPr txBox="1">
            <a:spLocks noGrp="1"/>
          </p:cNvSpPr>
          <p:nvPr>
            <p:ph type="body" idx="13"/>
          </p:nvPr>
        </p:nvSpPr>
        <p:spPr>
          <a:xfrm>
            <a:off x="1828800" y="8714232"/>
            <a:ext cx="6035100" cy="1200300"/>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470"/>
        <p:cNvGrpSpPr/>
        <p:nvPr/>
      </p:nvGrpSpPr>
      <p:grpSpPr>
        <a:xfrm>
          <a:off x="0" y="0"/>
          <a:ext cx="0" cy="0"/>
          <a:chOff x="0" y="0"/>
          <a:chExt cx="0" cy="0"/>
        </a:xfrm>
      </p:grpSpPr>
      <p:sp>
        <p:nvSpPr>
          <p:cNvPr id="471" name="Google Shape;471;p40"/>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72" name="Google Shape;472;p40"/>
          <p:cNvSpPr txBox="1">
            <a:spLocks noGrp="1"/>
          </p:cNvSpPr>
          <p:nvPr>
            <p:ph type="body" idx="1"/>
          </p:nvPr>
        </p:nvSpPr>
        <p:spPr>
          <a:xfrm>
            <a:off x="28712160" y="10808208"/>
            <a:ext cx="6035040" cy="7836408"/>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73" name="Google Shape;473;p40"/>
          <p:cNvSpPr txBox="1">
            <a:spLocks noGrp="1"/>
          </p:cNvSpPr>
          <p:nvPr>
            <p:ph type="body" idx="2"/>
          </p:nvPr>
        </p:nvSpPr>
        <p:spPr>
          <a:xfrm>
            <a:off x="28712160"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74" name="Google Shape;474;p40"/>
          <p:cNvSpPr txBox="1">
            <a:spLocks noGrp="1"/>
          </p:cNvSpPr>
          <p:nvPr>
            <p:ph type="body" idx="3"/>
          </p:nvPr>
        </p:nvSpPr>
        <p:spPr>
          <a:xfrm>
            <a:off x="28712161"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sp>
        <p:nvSpPr>
          <p:cNvPr id="475" name="Google Shape;475;p40"/>
          <p:cNvSpPr txBox="1">
            <a:spLocks noGrp="1"/>
          </p:cNvSpPr>
          <p:nvPr>
            <p:ph type="body" idx="4"/>
          </p:nvPr>
        </p:nvSpPr>
        <p:spPr>
          <a:xfrm>
            <a:off x="21991321" y="10808208"/>
            <a:ext cx="6035040" cy="7836408"/>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76" name="Google Shape;476;p40"/>
          <p:cNvSpPr txBox="1">
            <a:spLocks noGrp="1"/>
          </p:cNvSpPr>
          <p:nvPr>
            <p:ph type="body" idx="5"/>
          </p:nvPr>
        </p:nvSpPr>
        <p:spPr>
          <a:xfrm>
            <a:off x="21991321"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77" name="Google Shape;477;p40"/>
          <p:cNvSpPr txBox="1">
            <a:spLocks noGrp="1"/>
          </p:cNvSpPr>
          <p:nvPr>
            <p:ph type="body" idx="6"/>
          </p:nvPr>
        </p:nvSpPr>
        <p:spPr>
          <a:xfrm>
            <a:off x="21991321"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sp>
        <p:nvSpPr>
          <p:cNvPr id="478" name="Google Shape;478;p40"/>
          <p:cNvSpPr txBox="1">
            <a:spLocks noGrp="1"/>
          </p:cNvSpPr>
          <p:nvPr>
            <p:ph type="body" idx="7"/>
          </p:nvPr>
        </p:nvSpPr>
        <p:spPr>
          <a:xfrm>
            <a:off x="15270480" y="10808208"/>
            <a:ext cx="6035040" cy="7836408"/>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79" name="Google Shape;479;p40"/>
          <p:cNvSpPr txBox="1">
            <a:spLocks noGrp="1"/>
          </p:cNvSpPr>
          <p:nvPr>
            <p:ph type="body" idx="8"/>
          </p:nvPr>
        </p:nvSpPr>
        <p:spPr>
          <a:xfrm>
            <a:off x="15270480"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80" name="Google Shape;480;p40"/>
          <p:cNvSpPr txBox="1">
            <a:spLocks noGrp="1"/>
          </p:cNvSpPr>
          <p:nvPr>
            <p:ph type="body" idx="9"/>
          </p:nvPr>
        </p:nvSpPr>
        <p:spPr>
          <a:xfrm>
            <a:off x="15270480"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sp>
        <p:nvSpPr>
          <p:cNvPr id="481" name="Google Shape;481;p40"/>
          <p:cNvSpPr txBox="1">
            <a:spLocks noGrp="1"/>
          </p:cNvSpPr>
          <p:nvPr>
            <p:ph type="body" idx="13"/>
          </p:nvPr>
        </p:nvSpPr>
        <p:spPr>
          <a:xfrm>
            <a:off x="8549640" y="10808208"/>
            <a:ext cx="6035040" cy="7836408"/>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82" name="Google Shape;482;p40"/>
          <p:cNvSpPr txBox="1">
            <a:spLocks noGrp="1"/>
          </p:cNvSpPr>
          <p:nvPr>
            <p:ph type="body" idx="14"/>
          </p:nvPr>
        </p:nvSpPr>
        <p:spPr>
          <a:xfrm>
            <a:off x="8549640"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83" name="Google Shape;483;p40"/>
          <p:cNvSpPr txBox="1">
            <a:spLocks noGrp="1"/>
          </p:cNvSpPr>
          <p:nvPr>
            <p:ph type="body" idx="15"/>
          </p:nvPr>
        </p:nvSpPr>
        <p:spPr>
          <a:xfrm>
            <a:off x="8549640"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sp>
        <p:nvSpPr>
          <p:cNvPr id="484" name="Google Shape;484;p40"/>
          <p:cNvSpPr txBox="1">
            <a:spLocks noGrp="1"/>
          </p:cNvSpPr>
          <p:nvPr>
            <p:ph type="body" idx="16"/>
          </p:nvPr>
        </p:nvSpPr>
        <p:spPr>
          <a:xfrm>
            <a:off x="1828800" y="10808208"/>
            <a:ext cx="6035040" cy="7836408"/>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85" name="Google Shape;485;p40"/>
          <p:cNvSpPr txBox="1">
            <a:spLocks noGrp="1"/>
          </p:cNvSpPr>
          <p:nvPr>
            <p:ph type="body" idx="17"/>
          </p:nvPr>
        </p:nvSpPr>
        <p:spPr>
          <a:xfrm>
            <a:off x="1828800"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86" name="Google Shape;486;p40"/>
          <p:cNvSpPr txBox="1">
            <a:spLocks noGrp="1"/>
          </p:cNvSpPr>
          <p:nvPr>
            <p:ph type="body" idx="18"/>
          </p:nvPr>
        </p:nvSpPr>
        <p:spPr>
          <a:xfrm>
            <a:off x="1828800"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cxnSp>
        <p:nvCxnSpPr>
          <p:cNvPr id="487" name="Google Shape;487;p40"/>
          <p:cNvCxnSpPr/>
          <p:nvPr/>
        </p:nvCxnSpPr>
        <p:spPr>
          <a:xfrm>
            <a:off x="0" y="10287000"/>
            <a:ext cx="36576000" cy="0"/>
          </a:xfrm>
          <a:prstGeom prst="straightConnector1">
            <a:avLst/>
          </a:prstGeom>
          <a:noFill/>
          <a:ln w="63500" cap="flat" cmpd="sng">
            <a:solidFill>
              <a:schemeClr val="accent1"/>
            </a:solidFill>
            <a:prstDash val="solid"/>
            <a:miter lim="800000"/>
            <a:headEnd type="none" w="sm" len="sm"/>
            <a:tailEnd type="none" w="sm" len="sm"/>
          </a:ln>
        </p:spPr>
      </p:cxnSp>
      <p:sp>
        <p:nvSpPr>
          <p:cNvPr id="488" name="Google Shape;488;p40"/>
          <p:cNvSpPr txBox="1">
            <a:spLocks noGrp="1"/>
          </p:cNvSpPr>
          <p:nvPr>
            <p:ph type="body" idx="19"/>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SzPts val="4800"/>
              <a:buChar char="•"/>
              <a:defRPr sz="4800">
                <a:solidFill>
                  <a:schemeClr val="accent6"/>
                </a:solidFill>
              </a:defRPr>
            </a:lvl2pPr>
            <a:lvl3pPr marL="1371600" lvl="2" indent="-533400" algn="l">
              <a:lnSpc>
                <a:spcPct val="90000"/>
              </a:lnSpc>
              <a:spcBef>
                <a:spcPts val="1600"/>
              </a:spcBef>
              <a:spcAft>
                <a:spcPts val="0"/>
              </a:spcAft>
              <a:buSzPts val="4800"/>
              <a:buChar char="•"/>
              <a:defRPr sz="4800">
                <a:solidFill>
                  <a:schemeClr val="accent6"/>
                </a:solidFill>
              </a:defRPr>
            </a:lvl3pPr>
            <a:lvl4pPr marL="1828800" lvl="3" indent="-533400" algn="l">
              <a:lnSpc>
                <a:spcPct val="90000"/>
              </a:lnSpc>
              <a:spcBef>
                <a:spcPts val="800"/>
              </a:spcBef>
              <a:spcAft>
                <a:spcPts val="0"/>
              </a:spcAft>
              <a:buSzPts val="4800"/>
              <a:buChar char="•"/>
              <a:defRPr sz="4800">
                <a:solidFill>
                  <a:schemeClr val="accent6"/>
                </a:solidFill>
              </a:defRPr>
            </a:lvl4pPr>
            <a:lvl5pPr marL="2286000" lvl="4" indent="-533400" algn="l">
              <a:lnSpc>
                <a:spcPct val="90000"/>
              </a:lnSpc>
              <a:spcBef>
                <a:spcPts val="800"/>
              </a:spcBef>
              <a:spcAft>
                <a:spcPts val="0"/>
              </a:spcAft>
              <a:buSzPts val="4800"/>
              <a:buChar char="•"/>
              <a:defRPr sz="4800">
                <a:solidFill>
                  <a:schemeClr val="accent6"/>
                </a:solidFill>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489" name="Google Shape;489;p40"/>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0" name="Google Shape;490;p40"/>
          <p:cNvSpPr txBox="1">
            <a:spLocks noGrp="1"/>
          </p:cNvSpPr>
          <p:nvPr>
            <p:ph type="subTitle" idx="20"/>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meline w/ Images">
  <p:cSld name="Timeline w/ Images">
    <p:spTree>
      <p:nvGrpSpPr>
        <p:cNvPr id="1" name="Shape 491"/>
        <p:cNvGrpSpPr/>
        <p:nvPr/>
      </p:nvGrpSpPr>
      <p:grpSpPr>
        <a:xfrm>
          <a:off x="0" y="0"/>
          <a:ext cx="0" cy="0"/>
          <a:chOff x="0" y="0"/>
          <a:chExt cx="0" cy="0"/>
        </a:xfrm>
      </p:grpSpPr>
      <p:sp>
        <p:nvSpPr>
          <p:cNvPr id="492" name="Google Shape;492;p41"/>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93" name="Google Shape;493;p41"/>
          <p:cNvSpPr txBox="1">
            <a:spLocks noGrp="1"/>
          </p:cNvSpPr>
          <p:nvPr>
            <p:ph type="body" idx="1"/>
          </p:nvPr>
        </p:nvSpPr>
        <p:spPr>
          <a:xfrm>
            <a:off x="28712160" y="14225837"/>
            <a:ext cx="6035040" cy="4519364"/>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94" name="Google Shape;494;p41"/>
          <p:cNvSpPr>
            <a:spLocks noGrp="1"/>
          </p:cNvSpPr>
          <p:nvPr>
            <p:ph type="pic" idx="2"/>
          </p:nvPr>
        </p:nvSpPr>
        <p:spPr>
          <a:xfrm>
            <a:off x="29032200" y="10736828"/>
            <a:ext cx="5715000" cy="3214687"/>
          </a:xfrm>
          <a:prstGeom prst="rect">
            <a:avLst/>
          </a:prstGeom>
          <a:solidFill>
            <a:schemeClr val="lt2"/>
          </a:solidFill>
          <a:ln w="9525" cap="flat" cmpd="sng">
            <a:solidFill>
              <a:schemeClr val="accent6"/>
            </a:solidFill>
            <a:prstDash val="solid"/>
            <a:round/>
            <a:headEnd type="none" w="sm" len="sm"/>
            <a:tailEnd type="none" w="sm" len="sm"/>
          </a:ln>
        </p:spPr>
      </p:sp>
      <p:sp>
        <p:nvSpPr>
          <p:cNvPr id="495" name="Google Shape;495;p41"/>
          <p:cNvSpPr txBox="1">
            <a:spLocks noGrp="1"/>
          </p:cNvSpPr>
          <p:nvPr>
            <p:ph type="body" idx="3"/>
          </p:nvPr>
        </p:nvSpPr>
        <p:spPr>
          <a:xfrm>
            <a:off x="28712160"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496" name="Google Shape;496;p41"/>
          <p:cNvSpPr txBox="1">
            <a:spLocks noGrp="1"/>
          </p:cNvSpPr>
          <p:nvPr>
            <p:ph type="body" idx="4"/>
          </p:nvPr>
        </p:nvSpPr>
        <p:spPr>
          <a:xfrm>
            <a:off x="28712161"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sp>
        <p:nvSpPr>
          <p:cNvPr id="497" name="Google Shape;497;p41"/>
          <p:cNvSpPr txBox="1">
            <a:spLocks noGrp="1"/>
          </p:cNvSpPr>
          <p:nvPr>
            <p:ph type="body" idx="5"/>
          </p:nvPr>
        </p:nvSpPr>
        <p:spPr>
          <a:xfrm>
            <a:off x="21991321" y="14225837"/>
            <a:ext cx="6035040" cy="4519364"/>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498" name="Google Shape;498;p41"/>
          <p:cNvSpPr>
            <a:spLocks noGrp="1"/>
          </p:cNvSpPr>
          <p:nvPr>
            <p:ph type="pic" idx="6"/>
          </p:nvPr>
        </p:nvSpPr>
        <p:spPr>
          <a:xfrm>
            <a:off x="22311361" y="10736828"/>
            <a:ext cx="5715000" cy="3214687"/>
          </a:xfrm>
          <a:prstGeom prst="rect">
            <a:avLst/>
          </a:prstGeom>
          <a:solidFill>
            <a:schemeClr val="lt2"/>
          </a:solidFill>
          <a:ln w="9525" cap="flat" cmpd="sng">
            <a:solidFill>
              <a:schemeClr val="accent6"/>
            </a:solidFill>
            <a:prstDash val="solid"/>
            <a:round/>
            <a:headEnd type="none" w="sm" len="sm"/>
            <a:tailEnd type="none" w="sm" len="sm"/>
          </a:ln>
        </p:spPr>
      </p:sp>
      <p:sp>
        <p:nvSpPr>
          <p:cNvPr id="499" name="Google Shape;499;p41"/>
          <p:cNvSpPr txBox="1">
            <a:spLocks noGrp="1"/>
          </p:cNvSpPr>
          <p:nvPr>
            <p:ph type="body" idx="7"/>
          </p:nvPr>
        </p:nvSpPr>
        <p:spPr>
          <a:xfrm>
            <a:off x="21991321"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500" name="Google Shape;500;p41"/>
          <p:cNvSpPr txBox="1">
            <a:spLocks noGrp="1"/>
          </p:cNvSpPr>
          <p:nvPr>
            <p:ph type="body" idx="8"/>
          </p:nvPr>
        </p:nvSpPr>
        <p:spPr>
          <a:xfrm>
            <a:off x="21991321"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sp>
        <p:nvSpPr>
          <p:cNvPr id="501" name="Google Shape;501;p41"/>
          <p:cNvSpPr txBox="1">
            <a:spLocks noGrp="1"/>
          </p:cNvSpPr>
          <p:nvPr>
            <p:ph type="body" idx="9"/>
          </p:nvPr>
        </p:nvSpPr>
        <p:spPr>
          <a:xfrm>
            <a:off x="15270480" y="14225837"/>
            <a:ext cx="6035040" cy="4519364"/>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502" name="Google Shape;502;p41"/>
          <p:cNvSpPr>
            <a:spLocks noGrp="1"/>
          </p:cNvSpPr>
          <p:nvPr>
            <p:ph type="pic" idx="13"/>
          </p:nvPr>
        </p:nvSpPr>
        <p:spPr>
          <a:xfrm>
            <a:off x="15590520" y="10736828"/>
            <a:ext cx="5715000" cy="3214687"/>
          </a:xfrm>
          <a:prstGeom prst="rect">
            <a:avLst/>
          </a:prstGeom>
          <a:solidFill>
            <a:schemeClr val="lt2"/>
          </a:solidFill>
          <a:ln w="9525" cap="flat" cmpd="sng">
            <a:solidFill>
              <a:schemeClr val="accent6"/>
            </a:solidFill>
            <a:prstDash val="solid"/>
            <a:round/>
            <a:headEnd type="none" w="sm" len="sm"/>
            <a:tailEnd type="none" w="sm" len="sm"/>
          </a:ln>
        </p:spPr>
      </p:sp>
      <p:sp>
        <p:nvSpPr>
          <p:cNvPr id="503" name="Google Shape;503;p41"/>
          <p:cNvSpPr txBox="1">
            <a:spLocks noGrp="1"/>
          </p:cNvSpPr>
          <p:nvPr>
            <p:ph type="body" idx="14"/>
          </p:nvPr>
        </p:nvSpPr>
        <p:spPr>
          <a:xfrm>
            <a:off x="15270480"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504" name="Google Shape;504;p41"/>
          <p:cNvSpPr txBox="1">
            <a:spLocks noGrp="1"/>
          </p:cNvSpPr>
          <p:nvPr>
            <p:ph type="body" idx="15"/>
          </p:nvPr>
        </p:nvSpPr>
        <p:spPr>
          <a:xfrm>
            <a:off x="15270480"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sp>
        <p:nvSpPr>
          <p:cNvPr id="505" name="Google Shape;505;p41"/>
          <p:cNvSpPr txBox="1">
            <a:spLocks noGrp="1"/>
          </p:cNvSpPr>
          <p:nvPr>
            <p:ph type="body" idx="16"/>
          </p:nvPr>
        </p:nvSpPr>
        <p:spPr>
          <a:xfrm>
            <a:off x="8549640" y="14225837"/>
            <a:ext cx="6035040" cy="4519364"/>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506" name="Google Shape;506;p41"/>
          <p:cNvSpPr>
            <a:spLocks noGrp="1"/>
          </p:cNvSpPr>
          <p:nvPr>
            <p:ph type="pic" idx="17"/>
          </p:nvPr>
        </p:nvSpPr>
        <p:spPr>
          <a:xfrm>
            <a:off x="8869680" y="10736828"/>
            <a:ext cx="5715000" cy="3214687"/>
          </a:xfrm>
          <a:prstGeom prst="rect">
            <a:avLst/>
          </a:prstGeom>
          <a:solidFill>
            <a:schemeClr val="lt2"/>
          </a:solidFill>
          <a:ln w="9525" cap="flat" cmpd="sng">
            <a:solidFill>
              <a:schemeClr val="accent6"/>
            </a:solidFill>
            <a:prstDash val="solid"/>
            <a:round/>
            <a:headEnd type="none" w="sm" len="sm"/>
            <a:tailEnd type="none" w="sm" len="sm"/>
          </a:ln>
        </p:spPr>
      </p:sp>
      <p:sp>
        <p:nvSpPr>
          <p:cNvPr id="507" name="Google Shape;507;p41"/>
          <p:cNvSpPr txBox="1">
            <a:spLocks noGrp="1"/>
          </p:cNvSpPr>
          <p:nvPr>
            <p:ph type="body" idx="18"/>
          </p:nvPr>
        </p:nvSpPr>
        <p:spPr>
          <a:xfrm>
            <a:off x="8549640"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508" name="Google Shape;508;p41"/>
          <p:cNvSpPr txBox="1">
            <a:spLocks noGrp="1"/>
          </p:cNvSpPr>
          <p:nvPr>
            <p:ph type="body" idx="19"/>
          </p:nvPr>
        </p:nvSpPr>
        <p:spPr>
          <a:xfrm>
            <a:off x="8549640"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sp>
        <p:nvSpPr>
          <p:cNvPr id="509" name="Google Shape;509;p41"/>
          <p:cNvSpPr txBox="1">
            <a:spLocks noGrp="1"/>
          </p:cNvSpPr>
          <p:nvPr>
            <p:ph type="body" idx="20"/>
          </p:nvPr>
        </p:nvSpPr>
        <p:spPr>
          <a:xfrm>
            <a:off x="1828800" y="14225837"/>
            <a:ext cx="6035040" cy="4519364"/>
          </a:xfrm>
          <a:prstGeom prst="rect">
            <a:avLst/>
          </a:prstGeom>
          <a:noFill/>
          <a:ln>
            <a:noFill/>
          </a:ln>
        </p:spPr>
        <p:txBody>
          <a:bodyPr spcFirstLastPara="1" wrap="square" lIns="320025" tIns="45700" rIns="0" bIns="45700" anchor="t" anchorCtr="0">
            <a:noAutofit/>
          </a:bodyPr>
          <a:lstStyle>
            <a:lvl1pPr marL="457200" marR="0" lvl="0" indent="-228600" algn="l">
              <a:lnSpc>
                <a:spcPct val="90000"/>
              </a:lnSpc>
              <a:spcBef>
                <a:spcPts val="3200"/>
              </a:spcBef>
              <a:spcAft>
                <a:spcPts val="0"/>
              </a:spcAft>
              <a:buClr>
                <a:schemeClr val="accent1"/>
              </a:buClr>
              <a:buSzPts val="3200"/>
              <a:buFont typeface="NVIDIA Sans"/>
              <a:buNone/>
              <a:defRPr sz="3200">
                <a:latin typeface="NVIDIA Sans"/>
                <a:ea typeface="NVIDIA Sans"/>
                <a:cs typeface="NVIDIA Sans"/>
                <a:sym typeface="NVIDIA Sans"/>
              </a:defRPr>
            </a:lvl1pPr>
            <a:lvl2pPr marL="914400" lvl="1" indent="-431800" algn="l">
              <a:lnSpc>
                <a:spcPct val="90000"/>
              </a:lnSpc>
              <a:spcBef>
                <a:spcPts val="3200"/>
              </a:spcBef>
              <a:spcAft>
                <a:spcPts val="0"/>
              </a:spcAft>
              <a:buSzPts val="3200"/>
              <a:buChar char="•"/>
              <a:defRPr sz="3200"/>
            </a:lvl2pPr>
            <a:lvl3pPr marL="1371600" lvl="2" indent="-431800" algn="l">
              <a:lnSpc>
                <a:spcPct val="90000"/>
              </a:lnSpc>
              <a:spcBef>
                <a:spcPts val="3200"/>
              </a:spcBef>
              <a:spcAft>
                <a:spcPts val="0"/>
              </a:spcAft>
              <a:buSzPts val="3200"/>
              <a:buChar char="•"/>
              <a:defRPr sz="3200"/>
            </a:lvl3pPr>
            <a:lvl4pPr marL="1828800" lvl="3" indent="-431800" algn="l">
              <a:lnSpc>
                <a:spcPct val="90000"/>
              </a:lnSpc>
              <a:spcBef>
                <a:spcPts val="3200"/>
              </a:spcBef>
              <a:spcAft>
                <a:spcPts val="0"/>
              </a:spcAft>
              <a:buSzPts val="3200"/>
              <a:buChar char="•"/>
              <a:defRPr/>
            </a:lvl4pPr>
            <a:lvl5pPr marL="2286000" lvl="4" indent="-431800" algn="l">
              <a:lnSpc>
                <a:spcPct val="90000"/>
              </a:lnSpc>
              <a:spcBef>
                <a:spcPts val="3200"/>
              </a:spcBef>
              <a:spcAft>
                <a:spcPts val="0"/>
              </a:spcAft>
              <a:buSzPts val="3200"/>
              <a:buChar char="•"/>
              <a:defRPr/>
            </a:lvl5pPr>
            <a:lvl6pPr marL="2743200" lvl="5" indent="-431800" algn="l">
              <a:lnSpc>
                <a:spcPct val="90000"/>
              </a:lnSpc>
              <a:spcBef>
                <a:spcPts val="3200"/>
              </a:spcBef>
              <a:spcAft>
                <a:spcPts val="0"/>
              </a:spcAft>
              <a:buSzPts val="3200"/>
              <a:buChar char="•"/>
              <a:defRPr/>
            </a:lvl6pPr>
            <a:lvl7pPr marL="3200400" lvl="6" indent="-431800" algn="l">
              <a:lnSpc>
                <a:spcPct val="90000"/>
              </a:lnSpc>
              <a:spcBef>
                <a:spcPts val="3200"/>
              </a:spcBef>
              <a:spcAft>
                <a:spcPts val="0"/>
              </a:spcAft>
              <a:buSzPts val="3200"/>
              <a:buChar char="•"/>
              <a:defRPr sz="3200"/>
            </a:lvl7pPr>
            <a:lvl8pPr marL="3657600" lvl="7" indent="-431800" algn="l">
              <a:lnSpc>
                <a:spcPct val="90000"/>
              </a:lnSpc>
              <a:spcBef>
                <a:spcPts val="3200"/>
              </a:spcBef>
              <a:spcAft>
                <a:spcPts val="0"/>
              </a:spcAft>
              <a:buSzPts val="3200"/>
              <a:buChar char="•"/>
              <a:defRPr sz="3200"/>
            </a:lvl8pPr>
            <a:lvl9pPr marL="4114800" lvl="8" indent="-228600" algn="l">
              <a:lnSpc>
                <a:spcPct val="90000"/>
              </a:lnSpc>
              <a:spcBef>
                <a:spcPts val="3200"/>
              </a:spcBef>
              <a:spcAft>
                <a:spcPts val="3200"/>
              </a:spcAft>
              <a:buSzPts val="3200"/>
              <a:buNone/>
              <a:defRPr sz="3200"/>
            </a:lvl9pPr>
          </a:lstStyle>
          <a:p>
            <a:endParaRPr/>
          </a:p>
        </p:txBody>
      </p:sp>
      <p:sp>
        <p:nvSpPr>
          <p:cNvPr id="510" name="Google Shape;510;p41"/>
          <p:cNvSpPr>
            <a:spLocks noGrp="1"/>
          </p:cNvSpPr>
          <p:nvPr>
            <p:ph type="pic" idx="21"/>
          </p:nvPr>
        </p:nvSpPr>
        <p:spPr>
          <a:xfrm>
            <a:off x="2148840" y="10736828"/>
            <a:ext cx="5714999" cy="3214687"/>
          </a:xfrm>
          <a:prstGeom prst="rect">
            <a:avLst/>
          </a:prstGeom>
          <a:solidFill>
            <a:schemeClr val="lt2"/>
          </a:solidFill>
          <a:ln w="9525" cap="flat" cmpd="sng">
            <a:solidFill>
              <a:schemeClr val="accent6"/>
            </a:solidFill>
            <a:prstDash val="solid"/>
            <a:round/>
            <a:headEnd type="none" w="sm" len="sm"/>
            <a:tailEnd type="none" w="sm" len="sm"/>
          </a:ln>
        </p:spPr>
      </p:sp>
      <p:sp>
        <p:nvSpPr>
          <p:cNvPr id="511" name="Google Shape;511;p41"/>
          <p:cNvSpPr txBox="1">
            <a:spLocks noGrp="1"/>
          </p:cNvSpPr>
          <p:nvPr>
            <p:ph type="body" idx="22"/>
          </p:nvPr>
        </p:nvSpPr>
        <p:spPr>
          <a:xfrm>
            <a:off x="1828800" y="8714232"/>
            <a:ext cx="6035040" cy="1200329"/>
          </a:xfrm>
          <a:prstGeom prst="rect">
            <a:avLst/>
          </a:prstGeom>
          <a:noFill/>
          <a:ln>
            <a:noFill/>
          </a:ln>
        </p:spPr>
        <p:txBody>
          <a:bodyPr spcFirstLastPara="1" wrap="square" lIns="320025" tIns="45700" rIns="0" bIns="45700" anchor="b" anchorCtr="0">
            <a:noAutofit/>
          </a:bodyPr>
          <a:lstStyle>
            <a:lvl1pPr marL="457200" marR="0" lvl="0" indent="-228600" algn="l">
              <a:lnSpc>
                <a:spcPct val="90000"/>
              </a:lnSpc>
              <a:spcBef>
                <a:spcPts val="1600"/>
              </a:spcBef>
              <a:spcAft>
                <a:spcPts val="0"/>
              </a:spcAft>
              <a:buClr>
                <a:schemeClr val="accent1"/>
              </a:buClr>
              <a:buSzPts val="4400"/>
              <a:buFont typeface="NVIDIA Sans"/>
              <a:buNone/>
              <a:defRPr>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a:lvl2pPr>
            <a:lvl3pPr marL="1371600" lvl="2" indent="-508000" algn="l">
              <a:lnSpc>
                <a:spcPct val="90000"/>
              </a:lnSpc>
              <a:spcBef>
                <a:spcPts val="1600"/>
              </a:spcBef>
              <a:spcAft>
                <a:spcPts val="0"/>
              </a:spcAft>
              <a:buSzPts val="4400"/>
              <a:buChar char="•"/>
              <a:defRPr sz="4400"/>
            </a:lvl3pPr>
            <a:lvl4pPr marL="1828800" lvl="3" indent="-508000" algn="l">
              <a:lnSpc>
                <a:spcPct val="90000"/>
              </a:lnSpc>
              <a:spcBef>
                <a:spcPts val="800"/>
              </a:spcBef>
              <a:spcAft>
                <a:spcPts val="0"/>
              </a:spcAft>
              <a:buSzPts val="4400"/>
              <a:buChar char="•"/>
              <a:defRPr sz="4400"/>
            </a:lvl4pPr>
            <a:lvl5pPr marL="2286000" lvl="4" indent="-508000" algn="l">
              <a:lnSpc>
                <a:spcPct val="90000"/>
              </a:lnSpc>
              <a:spcBef>
                <a:spcPts val="800"/>
              </a:spcBef>
              <a:spcAft>
                <a:spcPts val="0"/>
              </a:spcAft>
              <a:buSzPts val="4400"/>
              <a:buChar char="•"/>
              <a:defRPr sz="4400"/>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512" name="Google Shape;512;p41"/>
          <p:cNvSpPr txBox="1">
            <a:spLocks noGrp="1"/>
          </p:cNvSpPr>
          <p:nvPr>
            <p:ph type="body" idx="23"/>
          </p:nvPr>
        </p:nvSpPr>
        <p:spPr>
          <a:xfrm>
            <a:off x="1828800" y="7480220"/>
            <a:ext cx="6035040" cy="646331"/>
          </a:xfrm>
          <a:prstGeom prst="rect">
            <a:avLst/>
          </a:prstGeom>
          <a:noFill/>
          <a:ln>
            <a:noFill/>
          </a:ln>
        </p:spPr>
        <p:txBody>
          <a:bodyPr spcFirstLastPara="1" wrap="square" lIns="320025" tIns="45700" rIns="0" bIns="45700" anchor="b" anchorCtr="0">
            <a:noAutofit/>
          </a:bodyPr>
          <a:lstStyle>
            <a:lvl1pPr marL="457200" marR="0" lvl="0" indent="-228600" algn="l">
              <a:lnSpc>
                <a:spcPct val="100000"/>
              </a:lnSpc>
              <a:spcBef>
                <a:spcPts val="0"/>
              </a:spcBef>
              <a:spcAft>
                <a:spcPts val="0"/>
              </a:spcAft>
              <a:buSzPts val="4400"/>
              <a:buFont typeface="NVIDIA Sans"/>
              <a:buNone/>
              <a:defRPr>
                <a:solidFill>
                  <a:schemeClr val="accent1"/>
                </a:solidFill>
                <a:latin typeface="NVIDIA Sans Medium"/>
                <a:ea typeface="NVIDIA Sans Medium"/>
                <a:cs typeface="NVIDIA Sans Medium"/>
                <a:sym typeface="NVIDIA Sans Medium"/>
              </a:defRPr>
            </a:lvl1pPr>
            <a:lvl2pPr marL="914400" lvl="1" indent="-508000" algn="l">
              <a:lnSpc>
                <a:spcPct val="90000"/>
              </a:lnSpc>
              <a:spcBef>
                <a:spcPts val="1600"/>
              </a:spcBef>
              <a:spcAft>
                <a:spcPts val="0"/>
              </a:spcAft>
              <a:buSzPts val="4400"/>
              <a:buChar char="•"/>
              <a:defRPr sz="4400">
                <a:solidFill>
                  <a:schemeClr val="accent1"/>
                </a:solidFill>
              </a:defRPr>
            </a:lvl2pPr>
            <a:lvl3pPr marL="1371600" lvl="2" indent="-508000" algn="l">
              <a:lnSpc>
                <a:spcPct val="90000"/>
              </a:lnSpc>
              <a:spcBef>
                <a:spcPts val="1600"/>
              </a:spcBef>
              <a:spcAft>
                <a:spcPts val="0"/>
              </a:spcAft>
              <a:buSzPts val="4400"/>
              <a:buChar char="•"/>
              <a:defRPr sz="4400">
                <a:solidFill>
                  <a:schemeClr val="accent1"/>
                </a:solidFill>
              </a:defRPr>
            </a:lvl3pPr>
            <a:lvl4pPr marL="1828800" lvl="3" indent="-508000" algn="l">
              <a:lnSpc>
                <a:spcPct val="90000"/>
              </a:lnSpc>
              <a:spcBef>
                <a:spcPts val="800"/>
              </a:spcBef>
              <a:spcAft>
                <a:spcPts val="0"/>
              </a:spcAft>
              <a:buSzPts val="4400"/>
              <a:buChar char="•"/>
              <a:defRPr sz="4400">
                <a:solidFill>
                  <a:schemeClr val="accent1"/>
                </a:solidFill>
              </a:defRPr>
            </a:lvl4pPr>
            <a:lvl5pPr marL="2286000" lvl="4" indent="-508000" algn="l">
              <a:lnSpc>
                <a:spcPct val="90000"/>
              </a:lnSpc>
              <a:spcBef>
                <a:spcPts val="800"/>
              </a:spcBef>
              <a:spcAft>
                <a:spcPts val="0"/>
              </a:spcAft>
              <a:buSzPts val="4400"/>
              <a:buChar char="•"/>
              <a:defRPr sz="4400">
                <a:solidFill>
                  <a:schemeClr val="accent1"/>
                </a:solidFill>
              </a:defRPr>
            </a:lvl5pPr>
            <a:lvl6pPr marL="2743200" lvl="5" indent="-508000" algn="l">
              <a:lnSpc>
                <a:spcPct val="90000"/>
              </a:lnSpc>
              <a:spcBef>
                <a:spcPts val="1500"/>
              </a:spcBef>
              <a:spcAft>
                <a:spcPts val="0"/>
              </a:spcAft>
              <a:buSzPts val="4400"/>
              <a:buChar char="•"/>
              <a:defRPr sz="4400">
                <a:solidFill>
                  <a:schemeClr val="accent1"/>
                </a:solidFill>
              </a:defRPr>
            </a:lvl6pPr>
            <a:lvl7pPr marL="3200400" lvl="6" indent="-508000" algn="l">
              <a:lnSpc>
                <a:spcPct val="90000"/>
              </a:lnSpc>
              <a:spcBef>
                <a:spcPts val="1500"/>
              </a:spcBef>
              <a:spcAft>
                <a:spcPts val="0"/>
              </a:spcAft>
              <a:buSzPts val="4400"/>
              <a:buChar char="•"/>
              <a:defRPr sz="4400">
                <a:solidFill>
                  <a:schemeClr val="accent1"/>
                </a:solidFill>
              </a:defRPr>
            </a:lvl7pPr>
            <a:lvl8pPr marL="3657600" lvl="7" indent="-508000" algn="l">
              <a:lnSpc>
                <a:spcPct val="90000"/>
              </a:lnSpc>
              <a:spcBef>
                <a:spcPts val="1500"/>
              </a:spcBef>
              <a:spcAft>
                <a:spcPts val="0"/>
              </a:spcAft>
              <a:buSzPts val="4400"/>
              <a:buChar char="•"/>
              <a:defRPr sz="4400">
                <a:solidFill>
                  <a:schemeClr val="accent1"/>
                </a:solidFill>
              </a:defRPr>
            </a:lvl8pPr>
            <a:lvl9pPr marL="4114800" lvl="8" indent="-228600" algn="l">
              <a:lnSpc>
                <a:spcPct val="90000"/>
              </a:lnSpc>
              <a:spcBef>
                <a:spcPts val="1500"/>
              </a:spcBef>
              <a:spcAft>
                <a:spcPts val="0"/>
              </a:spcAft>
              <a:buSzPts val="4400"/>
              <a:buNone/>
              <a:defRPr sz="4400">
                <a:solidFill>
                  <a:schemeClr val="accent1"/>
                </a:solidFill>
              </a:defRPr>
            </a:lvl9pPr>
          </a:lstStyle>
          <a:p>
            <a:endParaRPr/>
          </a:p>
        </p:txBody>
      </p:sp>
      <p:cxnSp>
        <p:nvCxnSpPr>
          <p:cNvPr id="513" name="Google Shape;513;p41"/>
          <p:cNvCxnSpPr/>
          <p:nvPr/>
        </p:nvCxnSpPr>
        <p:spPr>
          <a:xfrm>
            <a:off x="0" y="10287000"/>
            <a:ext cx="36576000" cy="0"/>
          </a:xfrm>
          <a:prstGeom prst="straightConnector1">
            <a:avLst/>
          </a:prstGeom>
          <a:noFill/>
          <a:ln w="63500" cap="flat" cmpd="sng">
            <a:solidFill>
              <a:schemeClr val="accent1"/>
            </a:solidFill>
            <a:prstDash val="solid"/>
            <a:miter lim="800000"/>
            <a:headEnd type="none" w="sm" len="sm"/>
            <a:tailEnd type="none" w="sm" len="sm"/>
          </a:ln>
        </p:spPr>
      </p:cxnSp>
      <p:sp>
        <p:nvSpPr>
          <p:cNvPr id="514" name="Google Shape;514;p41"/>
          <p:cNvSpPr txBox="1">
            <a:spLocks noGrp="1"/>
          </p:cNvSpPr>
          <p:nvPr>
            <p:ph type="body" idx="24"/>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515" name="Google Shape;515;p41"/>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6" name="Google Shape;516;p41"/>
          <p:cNvSpPr txBox="1">
            <a:spLocks noGrp="1"/>
          </p:cNvSpPr>
          <p:nvPr>
            <p:ph type="subTitle" idx="25"/>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517"/>
        <p:cNvGrpSpPr/>
        <p:nvPr/>
      </p:nvGrpSpPr>
      <p:grpSpPr>
        <a:xfrm>
          <a:off x="0" y="0"/>
          <a:ext cx="0" cy="0"/>
          <a:chOff x="0" y="0"/>
          <a:chExt cx="0" cy="0"/>
        </a:xfrm>
      </p:grpSpPr>
      <p:pic>
        <p:nvPicPr>
          <p:cNvPr id="518" name="Google Shape;518;p42"/>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519" name="Google Shape;519;p42"/>
          <p:cNvSpPr/>
          <p:nvPr/>
        </p:nvSpPr>
        <p:spPr>
          <a:xfrm>
            <a:off x="0" y="0"/>
            <a:ext cx="19659600" cy="20574000"/>
          </a:xfrm>
          <a:prstGeom prst="rect">
            <a:avLst/>
          </a:prstGeom>
          <a:gradFill>
            <a:gsLst>
              <a:gs pos="0">
                <a:srgbClr val="FFFFFF">
                  <a:alpha val="20000"/>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NVIDIA Sans"/>
              <a:ea typeface="NVIDIA Sans"/>
              <a:cs typeface="NVIDIA Sans"/>
              <a:sym typeface="NVIDIA Sans"/>
            </a:endParaRPr>
          </a:p>
        </p:txBody>
      </p:sp>
      <p:sp>
        <p:nvSpPr>
          <p:cNvPr id="520" name="Google Shape;520;p42"/>
          <p:cNvSpPr/>
          <p:nvPr/>
        </p:nvSpPr>
        <p:spPr>
          <a:xfrm>
            <a:off x="3658247" y="17905019"/>
            <a:ext cx="3646099" cy="683416"/>
          </a:xfrm>
          <a:custGeom>
            <a:avLst/>
            <a:gdLst/>
            <a:ahLst/>
            <a:cxnLst/>
            <a:rect l="l" t="t" r="r" b="b"/>
            <a:pathLst>
              <a:path w="3646099" h="683416" extrusionOk="0">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VIDIA Sans"/>
              <a:ea typeface="NVIDIA Sans"/>
              <a:cs typeface="NVIDIA Sans"/>
              <a:sym typeface="NVIDIA Sans"/>
            </a:endParaRPr>
          </a:p>
        </p:txBody>
      </p:sp>
      <p:sp>
        <p:nvSpPr>
          <p:cNvPr id="521" name="Google Shape;521;p42"/>
          <p:cNvSpPr/>
          <p:nvPr/>
        </p:nvSpPr>
        <p:spPr>
          <a:xfrm>
            <a:off x="1828916" y="17709469"/>
            <a:ext cx="1571299" cy="1039766"/>
          </a:xfrm>
          <a:custGeom>
            <a:avLst/>
            <a:gdLst/>
            <a:ahLst/>
            <a:cxnLst/>
            <a:rect l="l" t="t" r="r" b="b"/>
            <a:pathLst>
              <a:path w="1571299" h="1039766" extrusionOk="0">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VIDIA Sans"/>
              <a:ea typeface="NVIDIA Sans"/>
              <a:cs typeface="NVIDIA Sans"/>
              <a:sym typeface="NVIDIA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Interstitial Single Image w/ QR Code">
  <p:cSld name="Interstitial Single Image w/ QR Code">
    <p:spTree>
      <p:nvGrpSpPr>
        <p:cNvPr id="1" name="Shape 522"/>
        <p:cNvGrpSpPr/>
        <p:nvPr/>
      </p:nvGrpSpPr>
      <p:grpSpPr>
        <a:xfrm>
          <a:off x="0" y="0"/>
          <a:ext cx="0" cy="0"/>
          <a:chOff x="0" y="0"/>
          <a:chExt cx="0" cy="0"/>
        </a:xfrm>
      </p:grpSpPr>
      <p:sp>
        <p:nvSpPr>
          <p:cNvPr id="523" name="Google Shape;523;p43"/>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24" name="Google Shape;524;p43"/>
          <p:cNvSpPr>
            <a:spLocks noGrp="1"/>
          </p:cNvSpPr>
          <p:nvPr>
            <p:ph type="pic" idx="2"/>
          </p:nvPr>
        </p:nvSpPr>
        <p:spPr>
          <a:xfrm>
            <a:off x="21202180" y="1828800"/>
            <a:ext cx="13545020" cy="16916399"/>
          </a:xfrm>
          <a:prstGeom prst="rect">
            <a:avLst/>
          </a:prstGeom>
          <a:solidFill>
            <a:schemeClr val="lt2"/>
          </a:solidFill>
          <a:ln w="9525" cap="flat" cmpd="sng">
            <a:solidFill>
              <a:schemeClr val="accent6"/>
            </a:solidFill>
            <a:prstDash val="solid"/>
            <a:round/>
            <a:headEnd type="none" w="sm" len="sm"/>
            <a:tailEnd type="none" w="sm" len="sm"/>
          </a:ln>
        </p:spPr>
      </p:sp>
      <p:sp>
        <p:nvSpPr>
          <p:cNvPr id="525" name="Google Shape;525;p43"/>
          <p:cNvSpPr txBox="1">
            <a:spLocks noGrp="1"/>
          </p:cNvSpPr>
          <p:nvPr>
            <p:ph type="body" idx="1"/>
          </p:nvPr>
        </p:nvSpPr>
        <p:spPr>
          <a:xfrm>
            <a:off x="6316651" y="16323353"/>
            <a:ext cx="4572000" cy="701731"/>
          </a:xfrm>
          <a:prstGeom prst="rect">
            <a:avLst/>
          </a:prstGeom>
          <a:noFill/>
          <a:ln>
            <a:noFill/>
          </a:ln>
        </p:spPr>
        <p:txBody>
          <a:bodyPr spcFirstLastPara="1" wrap="square" lIns="0" tIns="45700" rIns="0" bIns="45700" anchor="ctr" anchorCtr="0">
            <a:noAutofit/>
          </a:bodyPr>
          <a:lstStyle>
            <a:lvl1pPr marL="457200" lvl="0" indent="-228600" algn="l">
              <a:lnSpc>
                <a:spcPct val="90000"/>
              </a:lnSpc>
              <a:spcBef>
                <a:spcPts val="1600"/>
              </a:spcBef>
              <a:spcAft>
                <a:spcPts val="0"/>
              </a:spcAft>
              <a:buSzPts val="4400"/>
              <a:buNone/>
              <a:defRPr b="1" u="sng">
                <a:solidFill>
                  <a:schemeClr val="dk1"/>
                </a:solidFill>
                <a:latin typeface="NVIDIA Sans"/>
                <a:ea typeface="NVIDIA Sans"/>
                <a:cs typeface="NVIDIA Sans"/>
                <a:sym typeface="NVIDIA Sans"/>
              </a:defRPr>
            </a:lvl1pPr>
            <a:lvl2pPr marL="914400" lvl="1" indent="-508000" algn="l">
              <a:lnSpc>
                <a:spcPct val="90000"/>
              </a:lnSpc>
              <a:spcBef>
                <a:spcPts val="1600"/>
              </a:spcBef>
              <a:spcAft>
                <a:spcPts val="0"/>
              </a:spcAft>
              <a:buSzPts val="4400"/>
              <a:buChar char="•"/>
              <a:defRPr sz="4400" b="1" u="sng">
                <a:solidFill>
                  <a:schemeClr val="dk1"/>
                </a:solidFill>
                <a:latin typeface="NVIDIA Sans"/>
                <a:ea typeface="NVIDIA Sans"/>
                <a:cs typeface="NVIDIA Sans"/>
                <a:sym typeface="NVIDIA Sans"/>
              </a:defRPr>
            </a:lvl2pPr>
            <a:lvl3pPr marL="1371600" lvl="2" indent="-508000" algn="l">
              <a:lnSpc>
                <a:spcPct val="90000"/>
              </a:lnSpc>
              <a:spcBef>
                <a:spcPts val="1600"/>
              </a:spcBef>
              <a:spcAft>
                <a:spcPts val="0"/>
              </a:spcAft>
              <a:buSzPts val="4400"/>
              <a:buChar char="•"/>
              <a:defRPr sz="4400" b="1" u="sng">
                <a:solidFill>
                  <a:schemeClr val="dk1"/>
                </a:solidFill>
                <a:latin typeface="NVIDIA Sans"/>
                <a:ea typeface="NVIDIA Sans"/>
                <a:cs typeface="NVIDIA Sans"/>
                <a:sym typeface="NVIDIA Sans"/>
              </a:defRPr>
            </a:lvl3pPr>
            <a:lvl4pPr marL="1828800" lvl="3" indent="-508000" algn="l">
              <a:lnSpc>
                <a:spcPct val="90000"/>
              </a:lnSpc>
              <a:spcBef>
                <a:spcPts val="800"/>
              </a:spcBef>
              <a:spcAft>
                <a:spcPts val="0"/>
              </a:spcAft>
              <a:buSzPts val="4400"/>
              <a:buChar char="•"/>
              <a:defRPr sz="4400" b="1" u="sng">
                <a:solidFill>
                  <a:schemeClr val="dk1"/>
                </a:solidFill>
                <a:latin typeface="NVIDIA Sans"/>
                <a:ea typeface="NVIDIA Sans"/>
                <a:cs typeface="NVIDIA Sans"/>
                <a:sym typeface="NVIDIA Sans"/>
              </a:defRPr>
            </a:lvl4pPr>
            <a:lvl5pPr marL="2286000" lvl="4" indent="-508000" algn="l">
              <a:lnSpc>
                <a:spcPct val="90000"/>
              </a:lnSpc>
              <a:spcBef>
                <a:spcPts val="800"/>
              </a:spcBef>
              <a:spcAft>
                <a:spcPts val="0"/>
              </a:spcAft>
              <a:buSzPts val="4400"/>
              <a:buChar char="•"/>
              <a:defRPr sz="4400" b="1" u="sng">
                <a:solidFill>
                  <a:schemeClr val="dk1"/>
                </a:solidFill>
                <a:latin typeface="NVIDIA Sans"/>
                <a:ea typeface="NVIDIA Sans"/>
                <a:cs typeface="NVIDIA Sans"/>
                <a:sym typeface="NVIDIA Sans"/>
              </a:defRPr>
            </a:lvl5pPr>
            <a:lvl6pPr marL="2743200" lvl="5" indent="-508000" algn="l">
              <a:lnSpc>
                <a:spcPct val="90000"/>
              </a:lnSpc>
              <a:spcBef>
                <a:spcPts val="1500"/>
              </a:spcBef>
              <a:spcAft>
                <a:spcPts val="0"/>
              </a:spcAft>
              <a:buSzPts val="4400"/>
              <a:buChar char="•"/>
              <a:defRPr sz="4400"/>
            </a:lvl6pPr>
            <a:lvl7pPr marL="3200400" lvl="6" indent="-508000" algn="l">
              <a:lnSpc>
                <a:spcPct val="90000"/>
              </a:lnSpc>
              <a:spcBef>
                <a:spcPts val="1500"/>
              </a:spcBef>
              <a:spcAft>
                <a:spcPts val="0"/>
              </a:spcAft>
              <a:buSzPts val="4400"/>
              <a:buChar char="•"/>
              <a:defRPr sz="4400"/>
            </a:lvl7pPr>
            <a:lvl8pPr marL="3657600" lvl="7" indent="-508000" algn="l">
              <a:lnSpc>
                <a:spcPct val="90000"/>
              </a:lnSpc>
              <a:spcBef>
                <a:spcPts val="1500"/>
              </a:spcBef>
              <a:spcAft>
                <a:spcPts val="0"/>
              </a:spcAft>
              <a:buSzPts val="4400"/>
              <a:buChar char="•"/>
              <a:defRPr sz="4400"/>
            </a:lvl8pPr>
            <a:lvl9pPr marL="4114800" lvl="8" indent="-228600" algn="l">
              <a:lnSpc>
                <a:spcPct val="90000"/>
              </a:lnSpc>
              <a:spcBef>
                <a:spcPts val="1500"/>
              </a:spcBef>
              <a:spcAft>
                <a:spcPts val="0"/>
              </a:spcAft>
              <a:buSzPts val="4400"/>
              <a:buNone/>
              <a:defRPr sz="4400"/>
            </a:lvl9pPr>
          </a:lstStyle>
          <a:p>
            <a:endParaRPr/>
          </a:p>
        </p:txBody>
      </p:sp>
      <p:sp>
        <p:nvSpPr>
          <p:cNvPr id="526" name="Google Shape;526;p43"/>
          <p:cNvSpPr>
            <a:spLocks noGrp="1"/>
          </p:cNvSpPr>
          <p:nvPr>
            <p:ph type="pic" idx="3"/>
          </p:nvPr>
        </p:nvSpPr>
        <p:spPr>
          <a:xfrm>
            <a:off x="1426464" y="14392656"/>
            <a:ext cx="4572000" cy="4572000"/>
          </a:xfrm>
          <a:prstGeom prst="rect">
            <a:avLst/>
          </a:prstGeom>
          <a:noFill/>
          <a:ln>
            <a:noFill/>
          </a:ln>
        </p:spPr>
      </p:sp>
      <p:sp>
        <p:nvSpPr>
          <p:cNvPr id="527" name="Google Shape;527;p43"/>
          <p:cNvSpPr txBox="1">
            <a:spLocks noGrp="1"/>
          </p:cNvSpPr>
          <p:nvPr>
            <p:ph type="body" idx="4"/>
          </p:nvPr>
        </p:nvSpPr>
        <p:spPr>
          <a:xfrm>
            <a:off x="1828800" y="5943600"/>
            <a:ext cx="16459200" cy="8229600"/>
          </a:xfrm>
          <a:prstGeom prst="rect">
            <a:avLst/>
          </a:prstGeom>
          <a:noFill/>
          <a:ln>
            <a:noFill/>
          </a:ln>
        </p:spPr>
        <p:txBody>
          <a:bodyPr spcFirstLastPara="1" wrap="square" lIns="0" tIns="45700" rIns="0" bIns="45700" anchor="t" anchorCtr="0">
            <a:noAutofit/>
          </a:bodyPr>
          <a:lstStyle>
            <a:lvl1pPr marL="457200" lvl="0" indent="-482600" algn="l">
              <a:lnSpc>
                <a:spcPct val="90000"/>
              </a:lnSpc>
              <a:spcBef>
                <a:spcPts val="1600"/>
              </a:spcBef>
              <a:spcAft>
                <a:spcPts val="0"/>
              </a:spcAft>
              <a:buSzPts val="4000"/>
              <a:buChar char="•"/>
              <a:defRPr>
                <a:latin typeface="NVIDIA Sans"/>
                <a:ea typeface="NVIDIA Sans"/>
                <a:cs typeface="NVIDIA Sans"/>
                <a:sym typeface="NVIDIA Sans"/>
              </a:defRPr>
            </a:lvl1pPr>
            <a:lvl2pPr marL="914400" lvl="1" indent="-444500" algn="l">
              <a:lnSpc>
                <a:spcPct val="90000"/>
              </a:lnSpc>
              <a:spcBef>
                <a:spcPts val="1600"/>
              </a:spcBef>
              <a:spcAft>
                <a:spcPts val="0"/>
              </a:spcAft>
              <a:buSzPts val="3400"/>
              <a:buChar char="•"/>
              <a:defRPr>
                <a:latin typeface="NVIDIA Sans"/>
                <a:ea typeface="NVIDIA Sans"/>
                <a:cs typeface="NVIDIA Sans"/>
                <a:sym typeface="NVIDIA Sans"/>
              </a:defRPr>
            </a:lvl2pPr>
            <a:lvl3pPr marL="1371600" lvl="2" indent="-406400" algn="l">
              <a:lnSpc>
                <a:spcPct val="90000"/>
              </a:lnSpc>
              <a:spcBef>
                <a:spcPts val="1600"/>
              </a:spcBef>
              <a:spcAft>
                <a:spcPts val="0"/>
              </a:spcAft>
              <a:buSzPts val="2800"/>
              <a:buChar char="•"/>
              <a:defRPr>
                <a:latin typeface="NVIDIA Sans"/>
                <a:ea typeface="NVIDIA Sans"/>
                <a:cs typeface="NVIDIA Sans"/>
                <a:sym typeface="NVIDIA Sans"/>
              </a:defRPr>
            </a:lvl3pPr>
            <a:lvl4pPr marL="1828800" lvl="3" indent="-381000" algn="l">
              <a:lnSpc>
                <a:spcPct val="90000"/>
              </a:lnSpc>
              <a:spcBef>
                <a:spcPts val="800"/>
              </a:spcBef>
              <a:spcAft>
                <a:spcPts val="0"/>
              </a:spcAft>
              <a:buSzPts val="2400"/>
              <a:buChar char="•"/>
              <a:defRPr>
                <a:latin typeface="NVIDIA Sans"/>
                <a:ea typeface="NVIDIA Sans"/>
                <a:cs typeface="NVIDIA Sans"/>
                <a:sym typeface="NVIDIA Sans"/>
              </a:defRPr>
            </a:lvl4pPr>
            <a:lvl5pPr marL="2286000" lvl="4" indent="-381000" algn="l">
              <a:lnSpc>
                <a:spcPct val="90000"/>
              </a:lnSpc>
              <a:spcBef>
                <a:spcPts val="800"/>
              </a:spcBef>
              <a:spcAft>
                <a:spcPts val="0"/>
              </a:spcAft>
              <a:buSzPts val="2400"/>
              <a:buChar char="•"/>
              <a:defRPr>
                <a:latin typeface="NVIDIA Sans"/>
                <a:ea typeface="NVIDIA Sans"/>
                <a:cs typeface="NVIDIA Sans"/>
                <a:sym typeface="NVIDIA Sans"/>
              </a:defRPr>
            </a:lvl5pPr>
            <a:lvl6pPr marL="2743200" lvl="5" indent="-342900" algn="l">
              <a:lnSpc>
                <a:spcPct val="90000"/>
              </a:lnSpc>
              <a:spcBef>
                <a:spcPts val="1500"/>
              </a:spcBef>
              <a:spcAft>
                <a:spcPts val="0"/>
              </a:spcAft>
              <a:buSzPts val="1800"/>
              <a:buChar char="•"/>
              <a:defRPr/>
            </a:lvl6pPr>
            <a:lvl7pPr marL="3200400" lvl="6" indent="-342900" algn="l">
              <a:lnSpc>
                <a:spcPct val="90000"/>
              </a:lnSpc>
              <a:spcBef>
                <a:spcPts val="1500"/>
              </a:spcBef>
              <a:spcAft>
                <a:spcPts val="0"/>
              </a:spcAft>
              <a:buSzPts val="1800"/>
              <a:buChar char="•"/>
              <a:defRPr/>
            </a:lvl7pPr>
            <a:lvl8pPr marL="3657600" lvl="7" indent="-342900" algn="l">
              <a:lnSpc>
                <a:spcPct val="90000"/>
              </a:lnSpc>
              <a:spcBef>
                <a:spcPts val="1500"/>
              </a:spcBef>
              <a:spcAft>
                <a:spcPts val="0"/>
              </a:spcAft>
              <a:buSzPts val="1800"/>
              <a:buChar char="•"/>
              <a:defRPr/>
            </a:lvl8pPr>
            <a:lvl9pPr marL="4114800" lvl="8" indent="-228600" algn="l">
              <a:lnSpc>
                <a:spcPct val="90000"/>
              </a:lnSpc>
              <a:spcBef>
                <a:spcPts val="1500"/>
              </a:spcBef>
              <a:spcAft>
                <a:spcPts val="0"/>
              </a:spcAft>
              <a:buSzPts val="1800"/>
              <a:buNone/>
              <a:defRPr/>
            </a:lvl9pPr>
          </a:lstStyle>
          <a:p>
            <a:endParaRPr/>
          </a:p>
        </p:txBody>
      </p:sp>
      <p:sp>
        <p:nvSpPr>
          <p:cNvPr id="528" name="Google Shape;528;p43"/>
          <p:cNvSpPr txBox="1">
            <a:spLocks noGrp="1"/>
          </p:cNvSpPr>
          <p:nvPr>
            <p:ph type="body" idx="5"/>
          </p:nvPr>
        </p:nvSpPr>
        <p:spPr>
          <a:xfrm>
            <a:off x="1828800" y="3383280"/>
            <a:ext cx="16459200" cy="914400"/>
          </a:xfrm>
          <a:prstGeom prst="rect">
            <a:avLst/>
          </a:prstGeom>
          <a:noFill/>
          <a:ln>
            <a:noFill/>
          </a:ln>
        </p:spPr>
        <p:txBody>
          <a:bodyPr spcFirstLastPara="1" wrap="square" lIns="0" tIns="91425" rIns="0" bIns="45700" anchor="t" anchorCtr="0">
            <a:noAutofit/>
          </a:bodyPr>
          <a:lstStyle>
            <a:lvl1pPr marL="457200" lvl="0" indent="-228600" algn="l">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l">
              <a:lnSpc>
                <a:spcPct val="90000"/>
              </a:lnSpc>
              <a:spcBef>
                <a:spcPts val="1600"/>
              </a:spcBef>
              <a:spcAft>
                <a:spcPts val="0"/>
              </a:spcAft>
              <a:buClr>
                <a:schemeClr val="accent6"/>
              </a:buClr>
              <a:buSzPts val="4800"/>
              <a:buChar char="•"/>
              <a:defRPr sz="4800">
                <a:solidFill>
                  <a:schemeClr val="accent6"/>
                </a:solidFill>
              </a:defRPr>
            </a:lvl2pPr>
            <a:lvl3pPr marL="1371600" lvl="2" indent="-533400" algn="l">
              <a:lnSpc>
                <a:spcPct val="90000"/>
              </a:lnSpc>
              <a:spcBef>
                <a:spcPts val="1600"/>
              </a:spcBef>
              <a:spcAft>
                <a:spcPts val="0"/>
              </a:spcAft>
              <a:buClr>
                <a:schemeClr val="accent6"/>
              </a:buClr>
              <a:buSzPts val="4800"/>
              <a:buChar char="•"/>
              <a:defRPr sz="4800">
                <a:solidFill>
                  <a:schemeClr val="accent6"/>
                </a:solidFill>
              </a:defRPr>
            </a:lvl3pPr>
            <a:lvl4pPr marL="1828800" lvl="3" indent="-533400" algn="l">
              <a:lnSpc>
                <a:spcPct val="90000"/>
              </a:lnSpc>
              <a:spcBef>
                <a:spcPts val="800"/>
              </a:spcBef>
              <a:spcAft>
                <a:spcPts val="0"/>
              </a:spcAft>
              <a:buClr>
                <a:schemeClr val="accent6"/>
              </a:buClr>
              <a:buSzPts val="4800"/>
              <a:buChar char="•"/>
              <a:defRPr sz="4800">
                <a:solidFill>
                  <a:schemeClr val="accent6"/>
                </a:solidFill>
              </a:defRPr>
            </a:lvl4pPr>
            <a:lvl5pPr marL="2286000" lvl="4" indent="-533400" algn="l">
              <a:lnSpc>
                <a:spcPct val="90000"/>
              </a:lnSpc>
              <a:spcBef>
                <a:spcPts val="800"/>
              </a:spcBef>
              <a:spcAft>
                <a:spcPts val="0"/>
              </a:spcAft>
              <a:buClr>
                <a:schemeClr val="accent6"/>
              </a:buClr>
              <a:buSzPts val="4800"/>
              <a:buChar char="•"/>
              <a:defRPr sz="4800">
                <a:solidFill>
                  <a:schemeClr val="accent6"/>
                </a:solidFill>
              </a:defRPr>
            </a:lvl5pPr>
            <a:lvl6pPr marL="2743200" lvl="5" indent="-533400" algn="l">
              <a:lnSpc>
                <a:spcPct val="90000"/>
              </a:lnSpc>
              <a:spcBef>
                <a:spcPts val="1500"/>
              </a:spcBef>
              <a:spcAft>
                <a:spcPts val="0"/>
              </a:spcAft>
              <a:buClr>
                <a:schemeClr val="accent6"/>
              </a:buClr>
              <a:buSzPts val="4800"/>
              <a:buChar char="•"/>
              <a:defRPr sz="4800">
                <a:solidFill>
                  <a:schemeClr val="accent6"/>
                </a:solidFill>
              </a:defRPr>
            </a:lvl6pPr>
            <a:lvl7pPr marL="3200400" lvl="6" indent="-533400" algn="l">
              <a:lnSpc>
                <a:spcPct val="90000"/>
              </a:lnSpc>
              <a:spcBef>
                <a:spcPts val="1500"/>
              </a:spcBef>
              <a:spcAft>
                <a:spcPts val="0"/>
              </a:spcAft>
              <a:buClr>
                <a:schemeClr val="accent6"/>
              </a:buClr>
              <a:buSzPts val="4800"/>
              <a:buChar char="•"/>
              <a:defRPr sz="4800">
                <a:solidFill>
                  <a:schemeClr val="accent6"/>
                </a:solidFill>
              </a:defRPr>
            </a:lvl7pPr>
            <a:lvl8pPr marL="3657600" lvl="7" indent="-533400" algn="l">
              <a:lnSpc>
                <a:spcPct val="90000"/>
              </a:lnSpc>
              <a:spcBef>
                <a:spcPts val="1500"/>
              </a:spcBef>
              <a:spcAft>
                <a:spcPts val="0"/>
              </a:spcAft>
              <a:buClr>
                <a:schemeClr val="accent6"/>
              </a:buClr>
              <a:buSzPts val="4800"/>
              <a:buChar char="•"/>
              <a:defRPr sz="4800">
                <a:solidFill>
                  <a:schemeClr val="accent6"/>
                </a:solidFill>
              </a:defRPr>
            </a:lvl8pPr>
            <a:lvl9pPr marL="4114800" lvl="8" indent="-228600" algn="l">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529" name="Google Shape;529;p43"/>
          <p:cNvSpPr txBox="1">
            <a:spLocks noGrp="1"/>
          </p:cNvSpPr>
          <p:nvPr>
            <p:ph type="title"/>
          </p:nvPr>
        </p:nvSpPr>
        <p:spPr>
          <a:xfrm>
            <a:off x="1828800" y="914400"/>
            <a:ext cx="16459200" cy="2468880"/>
          </a:xfrm>
          <a:prstGeom prst="rect">
            <a:avLst/>
          </a:prstGeom>
          <a:noFill/>
          <a:ln>
            <a:noFill/>
          </a:ln>
        </p:spPr>
        <p:txBody>
          <a:bodyPr spcFirstLastPara="1" wrap="square" lIns="0" tIns="45700" rIns="0" bIns="45700" anchor="b" anchorCtr="0">
            <a:noAutofit/>
          </a:bodyPr>
          <a:lstStyle>
            <a:lvl1pPr lvl="0" algn="l">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ubtitle (Centered)">
  <p:cSld name="Title, Subtitle (Centered)">
    <p:spTree>
      <p:nvGrpSpPr>
        <p:cNvPr id="1" name="Shape 530"/>
        <p:cNvGrpSpPr/>
        <p:nvPr/>
      </p:nvGrpSpPr>
      <p:grpSpPr>
        <a:xfrm>
          <a:off x="0" y="0"/>
          <a:ext cx="0" cy="0"/>
          <a:chOff x="0" y="0"/>
          <a:chExt cx="0" cy="0"/>
        </a:xfrm>
      </p:grpSpPr>
      <p:sp>
        <p:nvSpPr>
          <p:cNvPr id="531" name="Google Shape;531;p44"/>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lvl="0" indent="0" algn="l">
              <a:lnSpc>
                <a:spcPct val="90000"/>
              </a:lnSpc>
              <a:spcBef>
                <a:spcPts val="0"/>
              </a:spcBef>
              <a:buNone/>
              <a:defRPr/>
            </a:lvl1pPr>
            <a:lvl2pPr marL="0" lvl="1" indent="0" algn="l">
              <a:lnSpc>
                <a:spcPct val="90000"/>
              </a:lnSpc>
              <a:spcBef>
                <a:spcPts val="0"/>
              </a:spcBef>
              <a:buNone/>
              <a:defRPr/>
            </a:lvl2pPr>
            <a:lvl3pPr marL="0" lvl="2" indent="0" algn="l">
              <a:lnSpc>
                <a:spcPct val="90000"/>
              </a:lnSpc>
              <a:spcBef>
                <a:spcPts val="0"/>
              </a:spcBef>
              <a:buNone/>
              <a:defRPr/>
            </a:lvl3pPr>
            <a:lvl4pPr marL="0" lvl="3" indent="0" algn="l">
              <a:lnSpc>
                <a:spcPct val="90000"/>
              </a:lnSpc>
              <a:spcBef>
                <a:spcPts val="0"/>
              </a:spcBef>
              <a:buNone/>
              <a:defRPr/>
            </a:lvl4pPr>
            <a:lvl5pPr marL="0" lvl="4" indent="0" algn="l">
              <a:lnSpc>
                <a:spcPct val="90000"/>
              </a:lnSpc>
              <a:spcBef>
                <a:spcPts val="0"/>
              </a:spcBef>
              <a:buNone/>
              <a:defRPr/>
            </a:lvl5pPr>
            <a:lvl6pPr marL="0" lvl="5" indent="0" algn="l">
              <a:lnSpc>
                <a:spcPct val="90000"/>
              </a:lnSpc>
              <a:spcBef>
                <a:spcPts val="0"/>
              </a:spcBef>
              <a:buNone/>
              <a:defRPr/>
            </a:lvl6pPr>
            <a:lvl7pPr marL="0" lvl="6" indent="0" algn="l">
              <a:lnSpc>
                <a:spcPct val="90000"/>
              </a:lnSpc>
              <a:spcBef>
                <a:spcPts val="0"/>
              </a:spcBef>
              <a:buNone/>
              <a:defRPr/>
            </a:lvl7pPr>
            <a:lvl8pPr marL="0" lvl="7" indent="0" algn="l">
              <a:lnSpc>
                <a:spcPct val="90000"/>
              </a:lnSpc>
              <a:spcBef>
                <a:spcPts val="0"/>
              </a:spcBef>
              <a:buNone/>
              <a:defRPr/>
            </a:lvl8pPr>
            <a:lvl9pPr marL="0" lvl="8" indent="0" algn="l">
              <a:lnSpc>
                <a:spcPct val="90000"/>
              </a:lnSpc>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32" name="Google Shape;532;p44"/>
          <p:cNvSpPr txBox="1">
            <a:spLocks noGrp="1"/>
          </p:cNvSpPr>
          <p:nvPr>
            <p:ph type="body" idx="1"/>
          </p:nvPr>
        </p:nvSpPr>
        <p:spPr>
          <a:xfrm>
            <a:off x="1828800" y="3383280"/>
            <a:ext cx="32918400" cy="914400"/>
          </a:xfrm>
          <a:prstGeom prst="rect">
            <a:avLst/>
          </a:prstGeom>
          <a:noFill/>
          <a:ln>
            <a:noFill/>
          </a:ln>
        </p:spPr>
        <p:txBody>
          <a:bodyPr spcFirstLastPara="1" wrap="square" lIns="0" tIns="91425" rIns="0" bIns="45700" anchor="t" anchorCtr="0">
            <a:noAutofit/>
          </a:bodyPr>
          <a:lstStyle>
            <a:lvl1pPr marL="457200" lvl="0" indent="-228600" algn="ctr">
              <a:lnSpc>
                <a:spcPct val="90000"/>
              </a:lnSpc>
              <a:spcBef>
                <a:spcPts val="0"/>
              </a:spcBef>
              <a:spcAft>
                <a:spcPts val="0"/>
              </a:spcAft>
              <a:buClr>
                <a:schemeClr val="accent6"/>
              </a:buClr>
              <a:buSzPts val="4800"/>
              <a:buFont typeface="NVIDIA Sans"/>
              <a:buNone/>
              <a:defRPr sz="4800">
                <a:solidFill>
                  <a:schemeClr val="accent6"/>
                </a:solidFill>
                <a:latin typeface="NVIDIA Sans"/>
                <a:ea typeface="NVIDIA Sans"/>
                <a:cs typeface="NVIDIA Sans"/>
                <a:sym typeface="NVIDIA Sans"/>
              </a:defRPr>
            </a:lvl1pPr>
            <a:lvl2pPr marL="914400" lvl="1" indent="-533400" algn="ctr">
              <a:lnSpc>
                <a:spcPct val="90000"/>
              </a:lnSpc>
              <a:spcBef>
                <a:spcPts val="1600"/>
              </a:spcBef>
              <a:spcAft>
                <a:spcPts val="0"/>
              </a:spcAft>
              <a:buClr>
                <a:schemeClr val="accent6"/>
              </a:buClr>
              <a:buSzPts val="4800"/>
              <a:buChar char="•"/>
              <a:defRPr sz="4800">
                <a:solidFill>
                  <a:schemeClr val="accent6"/>
                </a:solidFill>
              </a:defRPr>
            </a:lvl2pPr>
            <a:lvl3pPr marL="1371600" lvl="2" indent="-533400" algn="ctr">
              <a:lnSpc>
                <a:spcPct val="90000"/>
              </a:lnSpc>
              <a:spcBef>
                <a:spcPts val="1600"/>
              </a:spcBef>
              <a:spcAft>
                <a:spcPts val="0"/>
              </a:spcAft>
              <a:buClr>
                <a:schemeClr val="accent6"/>
              </a:buClr>
              <a:buSzPts val="4800"/>
              <a:buChar char="•"/>
              <a:defRPr sz="4800">
                <a:solidFill>
                  <a:schemeClr val="accent6"/>
                </a:solidFill>
              </a:defRPr>
            </a:lvl3pPr>
            <a:lvl4pPr marL="1828800" lvl="3" indent="-533400" algn="ctr">
              <a:lnSpc>
                <a:spcPct val="90000"/>
              </a:lnSpc>
              <a:spcBef>
                <a:spcPts val="800"/>
              </a:spcBef>
              <a:spcAft>
                <a:spcPts val="0"/>
              </a:spcAft>
              <a:buClr>
                <a:schemeClr val="accent6"/>
              </a:buClr>
              <a:buSzPts val="4800"/>
              <a:buChar char="•"/>
              <a:defRPr sz="4800">
                <a:solidFill>
                  <a:schemeClr val="accent6"/>
                </a:solidFill>
              </a:defRPr>
            </a:lvl4pPr>
            <a:lvl5pPr marL="2286000" lvl="4" indent="-533400" algn="ctr">
              <a:lnSpc>
                <a:spcPct val="90000"/>
              </a:lnSpc>
              <a:spcBef>
                <a:spcPts val="800"/>
              </a:spcBef>
              <a:spcAft>
                <a:spcPts val="0"/>
              </a:spcAft>
              <a:buClr>
                <a:schemeClr val="accent6"/>
              </a:buClr>
              <a:buSzPts val="4800"/>
              <a:buChar char="•"/>
              <a:defRPr sz="4800">
                <a:solidFill>
                  <a:schemeClr val="accent6"/>
                </a:solidFill>
              </a:defRPr>
            </a:lvl5pPr>
            <a:lvl6pPr marL="2743200" lvl="5" indent="-533400" algn="ctr">
              <a:lnSpc>
                <a:spcPct val="90000"/>
              </a:lnSpc>
              <a:spcBef>
                <a:spcPts val="1500"/>
              </a:spcBef>
              <a:spcAft>
                <a:spcPts val="0"/>
              </a:spcAft>
              <a:buClr>
                <a:schemeClr val="accent6"/>
              </a:buClr>
              <a:buSzPts val="4800"/>
              <a:buChar char="•"/>
              <a:defRPr sz="4800">
                <a:solidFill>
                  <a:schemeClr val="accent6"/>
                </a:solidFill>
              </a:defRPr>
            </a:lvl6pPr>
            <a:lvl7pPr marL="3200400" lvl="6" indent="-533400" algn="ctr">
              <a:lnSpc>
                <a:spcPct val="90000"/>
              </a:lnSpc>
              <a:spcBef>
                <a:spcPts val="1500"/>
              </a:spcBef>
              <a:spcAft>
                <a:spcPts val="0"/>
              </a:spcAft>
              <a:buClr>
                <a:schemeClr val="accent6"/>
              </a:buClr>
              <a:buSzPts val="4800"/>
              <a:buChar char="•"/>
              <a:defRPr sz="4800">
                <a:solidFill>
                  <a:schemeClr val="accent6"/>
                </a:solidFill>
              </a:defRPr>
            </a:lvl7pPr>
            <a:lvl8pPr marL="3657600" lvl="7" indent="-533400" algn="ctr">
              <a:lnSpc>
                <a:spcPct val="90000"/>
              </a:lnSpc>
              <a:spcBef>
                <a:spcPts val="1500"/>
              </a:spcBef>
              <a:spcAft>
                <a:spcPts val="0"/>
              </a:spcAft>
              <a:buClr>
                <a:schemeClr val="accent6"/>
              </a:buClr>
              <a:buSzPts val="4800"/>
              <a:buChar char="•"/>
              <a:defRPr sz="4800">
                <a:solidFill>
                  <a:schemeClr val="accent6"/>
                </a:solidFill>
              </a:defRPr>
            </a:lvl8pPr>
            <a:lvl9pPr marL="4114800" lvl="8" indent="-228600" algn="ctr">
              <a:lnSpc>
                <a:spcPct val="90000"/>
              </a:lnSpc>
              <a:spcBef>
                <a:spcPts val="1500"/>
              </a:spcBef>
              <a:spcAft>
                <a:spcPts val="0"/>
              </a:spcAft>
              <a:buClr>
                <a:schemeClr val="accent6"/>
              </a:buClr>
              <a:buSzPts val="4800"/>
              <a:buNone/>
              <a:defRPr sz="4800">
                <a:solidFill>
                  <a:schemeClr val="accent6"/>
                </a:solidFill>
              </a:defRPr>
            </a:lvl9pPr>
          </a:lstStyle>
          <a:p>
            <a:endParaRPr/>
          </a:p>
        </p:txBody>
      </p:sp>
      <p:sp>
        <p:nvSpPr>
          <p:cNvPr id="533" name="Google Shape;533;p44"/>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lvl="0" algn="ctr">
              <a:lnSpc>
                <a:spcPct val="90000"/>
              </a:lnSpc>
              <a:spcBef>
                <a:spcPts val="0"/>
              </a:spcBef>
              <a:spcAft>
                <a:spcPts val="0"/>
              </a:spcAft>
              <a:buClr>
                <a:schemeClr val="dk1"/>
              </a:buClr>
              <a:buSzPts val="8800"/>
              <a:buFont typeface="NVIDIA Sans Medium"/>
              <a:buNone/>
              <a:defRPr>
                <a:latin typeface="NVIDIA Sans Medium"/>
                <a:ea typeface="NVIDIA Sans Medium"/>
                <a:cs typeface="NVIDIA Sans Medium"/>
                <a:sym typeface="NVIDIA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4" name="Google Shape;534;p44"/>
          <p:cNvSpPr txBox="1">
            <a:spLocks noGrp="1"/>
          </p:cNvSpPr>
          <p:nvPr>
            <p:ph type="subTitle" idx="2"/>
          </p:nvPr>
        </p:nvSpPr>
        <p:spPr>
          <a:xfrm>
            <a:off x="7233850" y="19431000"/>
            <a:ext cx="21488400" cy="365700"/>
          </a:xfrm>
          <a:prstGeom prst="rect">
            <a:avLst/>
          </a:prstGeom>
        </p:spPr>
        <p:txBody>
          <a:bodyPr spcFirstLastPara="1" wrap="square" lIns="0" tIns="45700" rIns="0" bIns="45700" anchor="t" anchorCtr="0">
            <a:noAutofit/>
          </a:bodyPr>
          <a:lstStyle>
            <a:lvl1pPr lvl="0" algn="ctr">
              <a:spcBef>
                <a:spcPts val="1600"/>
              </a:spcBef>
              <a:spcAft>
                <a:spcPts val="0"/>
              </a:spcAft>
              <a:buClr>
                <a:schemeClr val="accent6"/>
              </a:buClr>
              <a:buSzPts val="2000"/>
              <a:buNone/>
              <a:defRPr sz="2000">
                <a:solidFill>
                  <a:schemeClr val="accent6"/>
                </a:solidFill>
              </a:defRPr>
            </a:lvl1pPr>
            <a:lvl2pPr lvl="1">
              <a:spcBef>
                <a:spcPts val="1600"/>
              </a:spcBef>
              <a:spcAft>
                <a:spcPts val="0"/>
              </a:spcAft>
              <a:buSzPts val="4000"/>
              <a:buNone/>
              <a:defRPr/>
            </a:lvl2pPr>
            <a:lvl3pPr lvl="2">
              <a:spcBef>
                <a:spcPts val="1600"/>
              </a:spcBef>
              <a:spcAft>
                <a:spcPts val="0"/>
              </a:spcAft>
              <a:buSzPts val="3600"/>
              <a:buNone/>
              <a:defRPr/>
            </a:lvl3pPr>
            <a:lvl4pPr lvl="3">
              <a:spcBef>
                <a:spcPts val="800"/>
              </a:spcBef>
              <a:spcAft>
                <a:spcPts val="0"/>
              </a:spcAft>
              <a:buSzPts val="3200"/>
              <a:buNone/>
              <a:defRPr/>
            </a:lvl4pPr>
            <a:lvl5pPr lvl="4">
              <a:spcBef>
                <a:spcPts val="800"/>
              </a:spcBef>
              <a:spcAft>
                <a:spcPts val="0"/>
              </a:spcAft>
              <a:buSzPts val="3200"/>
              <a:buNone/>
              <a:defRPr/>
            </a:lvl5pPr>
            <a:lvl6pPr lvl="5">
              <a:spcBef>
                <a:spcPts val="800"/>
              </a:spcBef>
              <a:spcAft>
                <a:spcPts val="0"/>
              </a:spcAft>
              <a:buSzPts val="3200"/>
              <a:buNone/>
              <a:defRPr/>
            </a:lvl6pPr>
            <a:lvl7pPr lvl="6">
              <a:spcBef>
                <a:spcPts val="800"/>
              </a:spcBef>
              <a:spcAft>
                <a:spcPts val="0"/>
              </a:spcAft>
              <a:buSzPts val="3000"/>
              <a:buNone/>
              <a:defRPr/>
            </a:lvl7pPr>
            <a:lvl8pPr lvl="7">
              <a:spcBef>
                <a:spcPts val="800"/>
              </a:spcBef>
              <a:spcAft>
                <a:spcPts val="0"/>
              </a:spcAft>
              <a:buSzPts val="3000"/>
              <a:buNone/>
              <a:defRPr/>
            </a:lvl8pPr>
            <a:lvl9pPr lvl="8">
              <a:spcBef>
                <a:spcPts val="1500"/>
              </a:spcBef>
              <a:spcAft>
                <a:spcPts val="0"/>
              </a:spcAft>
              <a:buSzPts val="30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538"/>
        <p:cNvGrpSpPr/>
        <p:nvPr/>
      </p:nvGrpSpPr>
      <p:grpSpPr>
        <a:xfrm>
          <a:off x="0" y="0"/>
          <a:ext cx="0" cy="0"/>
          <a:chOff x="0" y="0"/>
          <a:chExt cx="0" cy="0"/>
        </a:xfrm>
      </p:grpSpPr>
      <p:sp>
        <p:nvSpPr>
          <p:cNvPr id="539" name="Google Shape;539;p46"/>
          <p:cNvSpPr txBox="1">
            <a:spLocks noGrp="1"/>
          </p:cNvSpPr>
          <p:nvPr>
            <p:ph type="dt" idx="10"/>
          </p:nvPr>
        </p:nvSpPr>
        <p:spPr>
          <a:xfrm>
            <a:off x="2514600" y="19069050"/>
            <a:ext cx="8229600" cy="1095600"/>
          </a:xfrm>
          <a:prstGeom prst="rect">
            <a:avLst/>
          </a:prstGeom>
          <a:noFill/>
          <a:ln>
            <a:noFill/>
          </a:ln>
        </p:spPr>
        <p:txBody>
          <a:bodyPr spcFirstLastPara="1" wrap="square" lIns="274300" tIns="137100" rIns="274300" bIns="137100" anchor="ctr" anchorCtr="0">
            <a:noAutofit/>
          </a:bodyPr>
          <a:lstStyle>
            <a:lvl1pPr lvl="0" algn="l">
              <a:spcBef>
                <a:spcPts val="0"/>
              </a:spcBef>
              <a:spcAft>
                <a:spcPts val="0"/>
              </a:spcAft>
              <a:buSzPts val="5600"/>
              <a:buNone/>
              <a:defRPr sz="5600"/>
            </a:lvl1pPr>
            <a:lvl2pPr lvl="1" algn="l">
              <a:spcBef>
                <a:spcPts val="0"/>
              </a:spcBef>
              <a:spcAft>
                <a:spcPts val="0"/>
              </a:spcAft>
              <a:buSzPts val="5600"/>
              <a:buNone/>
              <a:defRPr sz="5600"/>
            </a:lvl2pPr>
            <a:lvl3pPr lvl="2" algn="l">
              <a:spcBef>
                <a:spcPts val="0"/>
              </a:spcBef>
              <a:spcAft>
                <a:spcPts val="0"/>
              </a:spcAft>
              <a:buSzPts val="5600"/>
              <a:buNone/>
              <a:defRPr sz="5600"/>
            </a:lvl3pPr>
            <a:lvl4pPr lvl="3" algn="l">
              <a:spcBef>
                <a:spcPts val="0"/>
              </a:spcBef>
              <a:spcAft>
                <a:spcPts val="0"/>
              </a:spcAft>
              <a:buSzPts val="5600"/>
              <a:buNone/>
              <a:defRPr sz="5600"/>
            </a:lvl4pPr>
            <a:lvl5pPr lvl="4" algn="l">
              <a:spcBef>
                <a:spcPts val="0"/>
              </a:spcBef>
              <a:spcAft>
                <a:spcPts val="0"/>
              </a:spcAft>
              <a:buSzPts val="5600"/>
              <a:buNone/>
              <a:defRPr sz="5600"/>
            </a:lvl5pPr>
            <a:lvl6pPr lvl="5" algn="l">
              <a:spcBef>
                <a:spcPts val="0"/>
              </a:spcBef>
              <a:spcAft>
                <a:spcPts val="0"/>
              </a:spcAft>
              <a:buSzPts val="5600"/>
              <a:buNone/>
              <a:defRPr sz="5600"/>
            </a:lvl6pPr>
            <a:lvl7pPr lvl="6" algn="l">
              <a:spcBef>
                <a:spcPts val="0"/>
              </a:spcBef>
              <a:spcAft>
                <a:spcPts val="0"/>
              </a:spcAft>
              <a:buSzPts val="5600"/>
              <a:buNone/>
              <a:defRPr sz="5600"/>
            </a:lvl7pPr>
            <a:lvl8pPr lvl="7" algn="l">
              <a:spcBef>
                <a:spcPts val="0"/>
              </a:spcBef>
              <a:spcAft>
                <a:spcPts val="0"/>
              </a:spcAft>
              <a:buSzPts val="5600"/>
              <a:buNone/>
              <a:defRPr sz="5600"/>
            </a:lvl8pPr>
            <a:lvl9pPr lvl="8" algn="l">
              <a:spcBef>
                <a:spcPts val="0"/>
              </a:spcBef>
              <a:spcAft>
                <a:spcPts val="0"/>
              </a:spcAft>
              <a:buSzPts val="5600"/>
              <a:buNone/>
              <a:defRPr sz="5600"/>
            </a:lvl9pPr>
          </a:lstStyle>
          <a:p>
            <a:endParaRPr/>
          </a:p>
        </p:txBody>
      </p:sp>
      <p:sp>
        <p:nvSpPr>
          <p:cNvPr id="540" name="Google Shape;540;p46"/>
          <p:cNvSpPr txBox="1">
            <a:spLocks noGrp="1"/>
          </p:cNvSpPr>
          <p:nvPr>
            <p:ph type="ftr" idx="11"/>
          </p:nvPr>
        </p:nvSpPr>
        <p:spPr>
          <a:xfrm>
            <a:off x="12115800" y="19069050"/>
            <a:ext cx="12344400" cy="1095600"/>
          </a:xfrm>
          <a:prstGeom prst="rect">
            <a:avLst/>
          </a:prstGeom>
          <a:noFill/>
          <a:ln>
            <a:noFill/>
          </a:ln>
        </p:spPr>
        <p:txBody>
          <a:bodyPr spcFirstLastPara="1" wrap="square" lIns="274300" tIns="137100" rIns="274300" bIns="137100" anchor="ctr" anchorCtr="0">
            <a:noAutofit/>
          </a:bodyPr>
          <a:lstStyle>
            <a:lvl1pPr lvl="0" algn="ctr">
              <a:spcBef>
                <a:spcPts val="0"/>
              </a:spcBef>
              <a:spcAft>
                <a:spcPts val="0"/>
              </a:spcAft>
              <a:buSzPts val="5600"/>
              <a:buNone/>
              <a:defRPr sz="5600"/>
            </a:lvl1pPr>
            <a:lvl2pPr lvl="1" algn="l">
              <a:spcBef>
                <a:spcPts val="0"/>
              </a:spcBef>
              <a:spcAft>
                <a:spcPts val="0"/>
              </a:spcAft>
              <a:buSzPts val="5600"/>
              <a:buNone/>
              <a:defRPr sz="5600"/>
            </a:lvl2pPr>
            <a:lvl3pPr lvl="2" algn="l">
              <a:spcBef>
                <a:spcPts val="0"/>
              </a:spcBef>
              <a:spcAft>
                <a:spcPts val="0"/>
              </a:spcAft>
              <a:buSzPts val="5600"/>
              <a:buNone/>
              <a:defRPr sz="5600"/>
            </a:lvl3pPr>
            <a:lvl4pPr lvl="3" algn="l">
              <a:spcBef>
                <a:spcPts val="0"/>
              </a:spcBef>
              <a:spcAft>
                <a:spcPts val="0"/>
              </a:spcAft>
              <a:buSzPts val="5600"/>
              <a:buNone/>
              <a:defRPr sz="5600"/>
            </a:lvl4pPr>
            <a:lvl5pPr lvl="4" algn="l">
              <a:spcBef>
                <a:spcPts val="0"/>
              </a:spcBef>
              <a:spcAft>
                <a:spcPts val="0"/>
              </a:spcAft>
              <a:buSzPts val="5600"/>
              <a:buNone/>
              <a:defRPr sz="5600"/>
            </a:lvl5pPr>
            <a:lvl6pPr lvl="5" algn="l">
              <a:spcBef>
                <a:spcPts val="0"/>
              </a:spcBef>
              <a:spcAft>
                <a:spcPts val="0"/>
              </a:spcAft>
              <a:buSzPts val="5600"/>
              <a:buNone/>
              <a:defRPr sz="5600"/>
            </a:lvl6pPr>
            <a:lvl7pPr lvl="6" algn="l">
              <a:spcBef>
                <a:spcPts val="0"/>
              </a:spcBef>
              <a:spcAft>
                <a:spcPts val="0"/>
              </a:spcAft>
              <a:buSzPts val="5600"/>
              <a:buNone/>
              <a:defRPr sz="5600"/>
            </a:lvl7pPr>
            <a:lvl8pPr lvl="7" algn="l">
              <a:spcBef>
                <a:spcPts val="0"/>
              </a:spcBef>
              <a:spcAft>
                <a:spcPts val="0"/>
              </a:spcAft>
              <a:buSzPts val="5600"/>
              <a:buNone/>
              <a:defRPr sz="5600"/>
            </a:lvl8pPr>
            <a:lvl9pPr lvl="8" algn="l">
              <a:spcBef>
                <a:spcPts val="0"/>
              </a:spcBef>
              <a:spcAft>
                <a:spcPts val="0"/>
              </a:spcAft>
              <a:buSzPts val="5600"/>
              <a:buNone/>
              <a:defRPr sz="5600"/>
            </a:lvl9pPr>
          </a:lstStyle>
          <a:p>
            <a:endParaRPr/>
          </a:p>
        </p:txBody>
      </p:sp>
      <p:sp>
        <p:nvSpPr>
          <p:cNvPr id="541" name="Google Shape;541;p46"/>
          <p:cNvSpPr txBox="1">
            <a:spLocks noGrp="1"/>
          </p:cNvSpPr>
          <p:nvPr>
            <p:ph type="sldNum" idx="12"/>
          </p:nvPr>
        </p:nvSpPr>
        <p:spPr>
          <a:xfrm>
            <a:off x="25831800" y="19069050"/>
            <a:ext cx="8229600" cy="1095600"/>
          </a:xfrm>
          <a:prstGeom prst="rect">
            <a:avLst/>
          </a:prstGeom>
          <a:noFill/>
          <a:ln>
            <a:noFill/>
          </a:ln>
        </p:spPr>
        <p:txBody>
          <a:bodyPr spcFirstLastPara="1" wrap="square" lIns="274300" tIns="137100" rIns="274300" bIns="1371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lnSpc>
                  <a:spcPct val="90000"/>
                </a:lnSpc>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18980761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r>
              <a:rPr lang="en-US"/>
              <a:t>Source information in NVIDIA Sans, medium gray; 20 pt</a:t>
            </a:r>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lnSpc>
                  <a:spcPct val="90000"/>
                </a:lnSpc>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22226025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6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5541394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ED41CD6C-F985-BF6A-B16A-1E069AC121AF}"/>
              </a:ext>
            </a:extLst>
          </p:cNvPr>
          <p:cNvSpPr>
            <a:spLocks noGrp="1" noRot="1" noMove="1" noResize="1" noEditPoints="1" noAdjustHandles="1" noChangeArrowheads="1" noChangeShapeType="1"/>
          </p:cNvSpPr>
          <p:nvPr userDrawn="1"/>
        </p:nvSpPr>
        <p:spPr>
          <a:xfrm>
            <a:off x="0" y="0"/>
            <a:ext cx="246888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a:t>Text goes here</a:t>
            </a:r>
          </a:p>
          <a:p>
            <a:pPr lvl="0"/>
            <a:r>
              <a:rPr lang="en-US"/>
              <a:t>Text goes here</a:t>
            </a:r>
          </a:p>
          <a:p>
            <a:pPr lvl="0"/>
            <a:r>
              <a:rPr lang="en-US"/>
              <a:t>Text goes here</a:t>
            </a:r>
          </a:p>
          <a:p>
            <a:pPr lvl="0"/>
            <a:r>
              <a:rPr lang="en-US"/>
              <a:t>Text goes here</a:t>
            </a:r>
          </a:p>
          <a:p>
            <a:pPr lvl="0"/>
            <a:r>
              <a:rPr lang="en-US"/>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a:latin typeface="+mj-lt"/>
              </a:rPr>
              <a:t>Agenda</a:t>
            </a:r>
          </a:p>
        </p:txBody>
      </p:sp>
    </p:spTree>
    <p:extLst>
      <p:ext uri="{BB962C8B-B14F-4D97-AF65-F5344CB8AC3E}">
        <p14:creationId xmlns:p14="http://schemas.microsoft.com/office/powerpoint/2010/main" val="22326589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a:t>Click to Edit Transition Title Here</a:t>
            </a:r>
          </a:p>
        </p:txBody>
      </p:sp>
    </p:spTree>
    <p:extLst>
      <p:ext uri="{BB962C8B-B14F-4D97-AF65-F5344CB8AC3E}">
        <p14:creationId xmlns:p14="http://schemas.microsoft.com/office/powerpoint/2010/main" val="40797526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a:t>Quote placeholder.”</a:t>
            </a:r>
          </a:p>
        </p:txBody>
      </p:sp>
    </p:spTree>
    <p:extLst>
      <p:ext uri="{BB962C8B-B14F-4D97-AF65-F5344CB8AC3E}">
        <p14:creationId xmlns:p14="http://schemas.microsoft.com/office/powerpoint/2010/main" val="17314240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peaker">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bg1"/>
              </a:solidFill>
              <a:latin typeface="+mj-lt"/>
            </a:endParaRPr>
          </a:p>
        </p:txBody>
      </p:sp>
      <p:sp>
        <p:nvSpPr>
          <p:cNvPr id="14" name="Occupation Placeholder 3">
            <a:extLst>
              <a:ext uri="{FF2B5EF4-FFF2-40B4-BE49-F238E27FC236}">
                <a16:creationId xmlns:a16="http://schemas.microsoft.com/office/drawing/2014/main" id="{6E7133DD-AD70-32D2-727F-8AD9173137CB}"/>
              </a:ext>
            </a:extLst>
          </p:cNvPr>
          <p:cNvSpPr>
            <a:spLocks noGrp="1"/>
          </p:cNvSpPr>
          <p:nvPr>
            <p:ph type="body" sz="quarter" idx="30" hasCustomPrompt="1"/>
          </p:nvPr>
        </p:nvSpPr>
        <p:spPr>
          <a:xfrm>
            <a:off x="15544800" y="17693639"/>
            <a:ext cx="6400800" cy="1097280"/>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a:t>Job Title, Company</a:t>
            </a:r>
          </a:p>
        </p:txBody>
      </p:sp>
      <p:sp>
        <p:nvSpPr>
          <p:cNvPr id="5" name="Name Placeholder 3">
            <a:extLst>
              <a:ext uri="{FF2B5EF4-FFF2-40B4-BE49-F238E27FC236}">
                <a16:creationId xmlns:a16="http://schemas.microsoft.com/office/drawing/2014/main" id="{D8873384-517E-CEA9-422E-A453E25275A6}"/>
              </a:ext>
            </a:extLst>
          </p:cNvPr>
          <p:cNvSpPr>
            <a:spLocks noGrp="1"/>
          </p:cNvSpPr>
          <p:nvPr>
            <p:ph type="body" sz="quarter" idx="27" hasCustomPrompt="1"/>
          </p:nvPr>
        </p:nvSpPr>
        <p:spPr>
          <a:xfrm>
            <a:off x="15544800" y="17145000"/>
            <a:ext cx="6400800" cy="548640"/>
          </a:xfrm>
        </p:spPr>
        <p:txBody>
          <a:bodyPr anchor="b"/>
          <a:lstStyle>
            <a:lvl1pPr algn="ctr">
              <a:lnSpc>
                <a:spcPct val="100000"/>
              </a:lnSpc>
              <a:spcBef>
                <a:spcPts val="0"/>
              </a:spcBef>
              <a:spcAft>
                <a:spcPts val="0"/>
              </a:spcAft>
              <a:buNone/>
              <a:defRPr sz="3200">
                <a:solidFill>
                  <a:schemeClr val="tx1"/>
                </a:solidFill>
                <a:latin typeface="+mj-lt"/>
              </a:defRPr>
            </a:lvl1pPr>
            <a:lvl2pPr>
              <a:buNone/>
              <a:defRPr/>
            </a:lvl2pPr>
            <a:lvl3pPr>
              <a:buNone/>
              <a:defRPr/>
            </a:lvl3pPr>
            <a:lvl4pPr>
              <a:buNone/>
              <a:defRPr/>
            </a:lvl4pPr>
            <a:lvl5pPr>
              <a:buNone/>
              <a:defRPr/>
            </a:lvl5pPr>
          </a:lstStyle>
          <a:p>
            <a:pPr lvl="0"/>
            <a:r>
              <a:rPr lang="en-US"/>
              <a:t>Speaker Name</a:t>
            </a:r>
          </a:p>
        </p:txBody>
      </p:sp>
      <p:sp>
        <p:nvSpPr>
          <p:cNvPr id="65" name="Picture Placeholder 3">
            <a:extLst>
              <a:ext uri="{FF2B5EF4-FFF2-40B4-BE49-F238E27FC236}">
                <a16:creationId xmlns:a16="http://schemas.microsoft.com/office/drawing/2014/main" id="{F0D2B920-68A1-0CA0-C0A2-13AC56C3C926}"/>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3" name="Occupation Placeholder 2">
            <a:extLst>
              <a:ext uri="{FF2B5EF4-FFF2-40B4-BE49-F238E27FC236}">
                <a16:creationId xmlns:a16="http://schemas.microsoft.com/office/drawing/2014/main" id="{9B2EDF7C-9BB4-AFFA-5263-F69DF29E19B3}"/>
              </a:ext>
            </a:extLst>
          </p:cNvPr>
          <p:cNvSpPr>
            <a:spLocks noGrp="1"/>
          </p:cNvSpPr>
          <p:nvPr>
            <p:ph type="body" sz="quarter" idx="29" hasCustomPrompt="1"/>
          </p:nvPr>
        </p:nvSpPr>
        <p:spPr>
          <a:xfrm>
            <a:off x="8686800" y="17693639"/>
            <a:ext cx="6400800" cy="1097280"/>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a:t>Job Title, Company</a:t>
            </a:r>
          </a:p>
        </p:txBody>
      </p:sp>
      <p:sp>
        <p:nvSpPr>
          <p:cNvPr id="4" name="Name Placeholder 2">
            <a:extLst>
              <a:ext uri="{FF2B5EF4-FFF2-40B4-BE49-F238E27FC236}">
                <a16:creationId xmlns:a16="http://schemas.microsoft.com/office/drawing/2014/main" id="{88D94481-05A0-9073-226B-969E0A0B4B1E}"/>
              </a:ext>
            </a:extLst>
          </p:cNvPr>
          <p:cNvSpPr>
            <a:spLocks noGrp="1"/>
          </p:cNvSpPr>
          <p:nvPr>
            <p:ph type="body" sz="quarter" idx="26" hasCustomPrompt="1"/>
          </p:nvPr>
        </p:nvSpPr>
        <p:spPr>
          <a:xfrm>
            <a:off x="8686800" y="17145000"/>
            <a:ext cx="6400800" cy="548640"/>
          </a:xfrm>
        </p:spPr>
        <p:txBody>
          <a:bodyPr anchor="b"/>
          <a:lstStyle>
            <a:lvl1pPr algn="ctr">
              <a:lnSpc>
                <a:spcPct val="100000"/>
              </a:lnSpc>
              <a:spcBef>
                <a:spcPts val="0"/>
              </a:spcBef>
              <a:spcAft>
                <a:spcPts val="0"/>
              </a:spcAft>
              <a:buNone/>
              <a:defRPr sz="3200">
                <a:solidFill>
                  <a:schemeClr val="tx1"/>
                </a:solidFill>
                <a:latin typeface="+mj-lt"/>
              </a:defRPr>
            </a:lvl1pPr>
            <a:lvl2pPr>
              <a:buNone/>
              <a:defRPr/>
            </a:lvl2pPr>
            <a:lvl3pPr>
              <a:buNone/>
              <a:defRPr/>
            </a:lvl3pPr>
            <a:lvl4pPr>
              <a:buNone/>
              <a:defRPr/>
            </a:lvl4pPr>
            <a:lvl5pPr>
              <a:buNone/>
              <a:defRPr/>
            </a:lvl5pPr>
          </a:lstStyle>
          <a:p>
            <a:pPr lvl="0"/>
            <a:r>
              <a:rPr lang="en-US"/>
              <a:t>Speaker Name</a:t>
            </a:r>
          </a:p>
        </p:txBody>
      </p:sp>
      <p:sp>
        <p:nvSpPr>
          <p:cNvPr id="64" name="Picture Placeholder 2">
            <a:extLst>
              <a:ext uri="{FF2B5EF4-FFF2-40B4-BE49-F238E27FC236}">
                <a16:creationId xmlns:a16="http://schemas.microsoft.com/office/drawing/2014/main" id="{0317FBB6-94F6-D0BD-45D9-365BC52443F4}"/>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2" name="Occupation Placeholder 1">
            <a:extLst>
              <a:ext uri="{FF2B5EF4-FFF2-40B4-BE49-F238E27FC236}">
                <a16:creationId xmlns:a16="http://schemas.microsoft.com/office/drawing/2014/main" id="{EC483CCE-F7AB-8E42-1CF8-A00C76CD2CD3}"/>
              </a:ext>
            </a:extLst>
          </p:cNvPr>
          <p:cNvSpPr>
            <a:spLocks noGrp="1"/>
          </p:cNvSpPr>
          <p:nvPr>
            <p:ph type="body" sz="quarter" idx="28" hasCustomPrompt="1"/>
          </p:nvPr>
        </p:nvSpPr>
        <p:spPr>
          <a:xfrm>
            <a:off x="1828800" y="17693639"/>
            <a:ext cx="6400800" cy="1097280"/>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a:t>Job Title, Company</a:t>
            </a:r>
          </a:p>
        </p:txBody>
      </p:sp>
      <p:sp>
        <p:nvSpPr>
          <p:cNvPr id="3" name="Name Placeholder 1">
            <a:extLst>
              <a:ext uri="{FF2B5EF4-FFF2-40B4-BE49-F238E27FC236}">
                <a16:creationId xmlns:a16="http://schemas.microsoft.com/office/drawing/2014/main" id="{CAAEF093-E754-D1A2-4FBF-768B0E6DFAF3}"/>
              </a:ext>
            </a:extLst>
          </p:cNvPr>
          <p:cNvSpPr>
            <a:spLocks noGrp="1"/>
          </p:cNvSpPr>
          <p:nvPr>
            <p:ph type="body" sz="quarter" idx="25" hasCustomPrompt="1"/>
          </p:nvPr>
        </p:nvSpPr>
        <p:spPr>
          <a:xfrm>
            <a:off x="1828800" y="17145000"/>
            <a:ext cx="6400800" cy="548640"/>
          </a:xfrm>
        </p:spPr>
        <p:txBody>
          <a:bodyPr anchor="b"/>
          <a:lstStyle>
            <a:lvl1pPr algn="ctr">
              <a:lnSpc>
                <a:spcPct val="100000"/>
              </a:lnSpc>
              <a:spcBef>
                <a:spcPts val="0"/>
              </a:spcBef>
              <a:spcAft>
                <a:spcPts val="0"/>
              </a:spcAft>
              <a:buNone/>
              <a:defRPr sz="3200">
                <a:solidFill>
                  <a:schemeClr val="tx1"/>
                </a:solidFill>
                <a:latin typeface="+mj-lt"/>
              </a:defRPr>
            </a:lvl1pPr>
            <a:lvl2pPr>
              <a:buNone/>
              <a:defRPr/>
            </a:lvl2pPr>
            <a:lvl3pPr>
              <a:buNone/>
              <a:defRPr/>
            </a:lvl3pPr>
            <a:lvl4pPr>
              <a:buNone/>
              <a:defRPr/>
            </a:lvl4pPr>
            <a:lvl5pPr>
              <a:buNone/>
              <a:defRPr/>
            </a:lvl5pPr>
          </a:lstStyle>
          <a:p>
            <a:pPr lvl="0"/>
            <a:r>
              <a:rPr lang="en-US"/>
              <a:t>Speaker Name</a:t>
            </a:r>
          </a:p>
        </p:txBody>
      </p:sp>
      <p:sp>
        <p:nvSpPr>
          <p:cNvPr id="63" name="Picture Placeholder 1">
            <a:extLst>
              <a:ext uri="{FF2B5EF4-FFF2-40B4-BE49-F238E27FC236}">
                <a16:creationId xmlns:a16="http://schemas.microsoft.com/office/drawing/2014/main" id="{509BCA80-3804-F312-A647-8EE711314ECE}"/>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a:t>Click icon to place image</a:t>
            </a: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a:t>Click to Edit Title Here</a:t>
            </a:r>
          </a:p>
        </p:txBody>
      </p:sp>
    </p:spTree>
    <p:extLst>
      <p:ext uri="{BB962C8B-B14F-4D97-AF65-F5344CB8AC3E}">
        <p14:creationId xmlns:p14="http://schemas.microsoft.com/office/powerpoint/2010/main" val="138009411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9938785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r>
              <a:rPr lang="en-US"/>
              <a:t>Source information in NVIDIA Sans, medium gray; 20 pt</a:t>
            </a:r>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a:latin typeface="+mn-lt"/>
              </a:defRPr>
            </a:lvl1pPr>
          </a:lstStyle>
          <a:p>
            <a:r>
              <a:rPr lang="en-US"/>
              <a:t>PT</a:t>
            </a:r>
          </a:p>
          <a:p>
            <a:r>
              <a:rPr lang="en-US"/>
              <a:t>CST</a:t>
            </a:r>
          </a:p>
          <a:p>
            <a:r>
              <a:rPr lang="en-US"/>
              <a:t>BRT</a:t>
            </a:r>
          </a:p>
          <a:p>
            <a:r>
              <a:rPr lang="en-US"/>
              <a:t>GMT</a:t>
            </a:r>
          </a:p>
          <a:p>
            <a:r>
              <a:rPr lang="en-US"/>
              <a:t>CET</a:t>
            </a:r>
          </a:p>
          <a:p>
            <a:r>
              <a:rPr lang="en-US"/>
              <a:t>IST</a:t>
            </a:r>
          </a:p>
          <a:p>
            <a:r>
              <a:rPr lang="en-US"/>
              <a:t>IST</a:t>
            </a:r>
          </a:p>
          <a:p>
            <a:r>
              <a:rPr lang="en-US"/>
              <a:t>CST</a:t>
            </a:r>
          </a:p>
          <a:p>
            <a:r>
              <a:rPr lang="en-US"/>
              <a:t>TST</a:t>
            </a:r>
          </a:p>
          <a:p>
            <a:r>
              <a:rPr lang="en-US"/>
              <a:t>JST</a:t>
            </a:r>
          </a:p>
          <a:p>
            <a:r>
              <a:rPr lang="en-US"/>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latin typeface="+mn-lt"/>
              </a:defRPr>
            </a:lvl1pPr>
          </a:lstStyle>
          <a:p>
            <a:pPr lvl="0"/>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XX:XX </a:t>
            </a:r>
            <a:r>
              <a:rPr lang="en-US" err="1"/>
              <a:t>x.m.</a:t>
            </a:r>
            <a:endParaRPr lang="en-US"/>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latin typeface="+mn-lt"/>
              </a:defRPr>
            </a:lvl1pPr>
          </a:lstStyle>
          <a:p>
            <a:pPr lvl="0"/>
            <a:r>
              <a:rPr lang="en-US"/>
              <a:t>U.S.</a:t>
            </a:r>
          </a:p>
          <a:p>
            <a:pPr lvl="0"/>
            <a:r>
              <a:rPr lang="en-US"/>
              <a:t>Mexico</a:t>
            </a:r>
          </a:p>
          <a:p>
            <a:pPr lvl="0"/>
            <a:r>
              <a:rPr lang="en-US"/>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a:t>U.K.</a:t>
            </a:r>
          </a:p>
          <a:p>
            <a:pPr lvl="0"/>
            <a:r>
              <a:rPr lang="en-US"/>
              <a:t>France</a:t>
            </a:r>
          </a:p>
          <a:p>
            <a:pPr lvl="0"/>
            <a:r>
              <a:rPr lang="en-US"/>
              <a:t>Israel</a:t>
            </a:r>
          </a:p>
          <a:p>
            <a:pPr lvl="0"/>
            <a:r>
              <a:rPr lang="en-US"/>
              <a:t>India</a:t>
            </a:r>
          </a:p>
          <a:p>
            <a:pPr lvl="0"/>
            <a:r>
              <a:rPr lang="en-US"/>
              <a:t>China</a:t>
            </a:r>
          </a:p>
          <a:p>
            <a:pPr lvl="0"/>
            <a:r>
              <a:rPr lang="en-US"/>
              <a:t>Taiwan</a:t>
            </a:r>
          </a:p>
          <a:p>
            <a:pPr lvl="0"/>
            <a:r>
              <a:rPr lang="en-US"/>
              <a:t>Japan</a:t>
            </a:r>
          </a:p>
          <a:p>
            <a:pPr lvl="0"/>
            <a:r>
              <a:rPr lang="en-US"/>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a:t>Country</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400">
                <a:solidFill>
                  <a:schemeClr val="tx1"/>
                </a:solidFill>
                <a:latin typeface="+mj-lt"/>
              </a:defRPr>
            </a:lvl1pPr>
            <a:lvl2pPr>
              <a:buNone/>
              <a:defRPr/>
            </a:lvl2pPr>
          </a:lstStyle>
          <a:p>
            <a:pPr lvl="0"/>
            <a:r>
              <a:rPr lang="en-US"/>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a:solidFill>
                  <a:srgbClr val="E52020"/>
                </a:solidFill>
                <a:latin typeface="+mj-lt"/>
              </a:rPr>
              <a:t>EMBARGO</a:t>
            </a:r>
          </a:p>
        </p:txBody>
      </p:sp>
      <p:sp>
        <p:nvSpPr>
          <p:cNvPr id="2" name="Slide Number Placeholder">
            <a:extLst>
              <a:ext uri="{FF2B5EF4-FFF2-40B4-BE49-F238E27FC236}">
                <a16:creationId xmlns:a16="http://schemas.microsoft.com/office/drawing/2014/main" id="{93D3FD34-97C0-27B8-88CF-E3F8A4DE2CB8}"/>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lnSpc>
                  <a:spcPct val="90000"/>
                </a:lnSpc>
              </a:pPr>
              <a:t>‹#›</a:t>
            </a:fld>
            <a:endParaRPr lang="en-US"/>
          </a:p>
        </p:txBody>
      </p:sp>
    </p:spTree>
    <p:extLst>
      <p:ext uri="{BB962C8B-B14F-4D97-AF65-F5344CB8AC3E}">
        <p14:creationId xmlns:p14="http://schemas.microsoft.com/office/powerpoint/2010/main" val="16814685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a:latin typeface="+mj-lt"/>
              </a:rPr>
              <a:t>Verify Font Installation</a:t>
            </a:r>
          </a:p>
        </p:txBody>
      </p:sp>
      <p:sp>
        <p:nvSpPr>
          <p:cNvPr id="2" name="Paragraph">
            <a:extLst>
              <a:ext uri="{FF2B5EF4-FFF2-40B4-BE49-F238E27FC236}">
                <a16:creationId xmlns:a16="http://schemas.microsoft.com/office/drawing/2014/main" id="{49776041-5F82-76E8-B454-11A59F18D90D}"/>
              </a:ext>
            </a:extLst>
          </p:cNvPr>
          <p:cNvSpPr txBox="1"/>
          <p:nvPr userDrawn="1"/>
        </p:nvSpPr>
        <p:spPr>
          <a:xfrm>
            <a:off x="18171887" y="4545532"/>
            <a:ext cx="16459200" cy="3927229"/>
          </a:xfrm>
          <a:prstGeom prst="rect">
            <a:avLst/>
          </a:prstGeom>
          <a:noFill/>
        </p:spPr>
        <p:txBody>
          <a:bodyPr wrap="square" anchor="b">
            <a:spAutoFit/>
          </a:bodyPr>
          <a:lstStyle/>
          <a:p>
            <a:pPr marL="0" marR="0" lvl="0" indent="0" algn="l" defTabSz="2743200" rtl="0" eaLnBrk="1" fontAlgn="auto" latinLnBrk="0" hangingPunct="1">
              <a:lnSpc>
                <a:spcPct val="90000"/>
              </a:lnSpc>
              <a:spcBef>
                <a:spcPts val="1600"/>
              </a:spcBef>
              <a:spcAft>
                <a:spcPts val="1600"/>
              </a:spcAft>
              <a:buClr>
                <a:srgbClr val="76B900"/>
              </a:buClr>
              <a:buSzTx/>
              <a:buFont typeface="NVIDIA Sans" panose="020B0503020203020204" pitchFamily="34" charset="0"/>
              <a:buChar char="​"/>
              <a:tabLst/>
              <a:defRPr/>
            </a:pPr>
            <a:r>
              <a:rPr kumimoji="0" lang="en-US" sz="4000" b="0" i="0" u="none" strike="noStrike" kern="100" cap="none" spc="0" normalizeH="0" baseline="0" noProof="0">
                <a:ln>
                  <a:noFill/>
                </a:ln>
                <a:solidFill>
                  <a:schemeClr val="tx1"/>
                </a:solidFill>
                <a:effectLst/>
                <a:uLnTx/>
                <a:uFillTx/>
                <a:latin typeface="+mn-lt"/>
                <a:ea typeface="+mn-ea"/>
                <a:cs typeface="NVIDIA Sans" panose="020B0503020203020204" pitchFamily="34" charset="0"/>
              </a:rPr>
              <a:t>Ensure NVIDIA Sans is working before proceeding</a:t>
            </a:r>
          </a:p>
          <a:p>
            <a:pPr marL="0" marR="0" lvl="0" indent="0" algn="l" defTabSz="2743200" rtl="0" eaLnBrk="1" fontAlgn="auto" latinLnBrk="0" hangingPunct="1">
              <a:lnSpc>
                <a:spcPct val="90000"/>
              </a:lnSpc>
              <a:spcBef>
                <a:spcPts val="1600"/>
              </a:spcBef>
              <a:spcAft>
                <a:spcPts val="1600"/>
              </a:spcAft>
              <a:buClr>
                <a:srgbClr val="76B900"/>
              </a:buClr>
              <a:buSzTx/>
              <a:buFont typeface="NVIDIA Sans" panose="020B0503020203020204" pitchFamily="34" charset="0"/>
              <a:buChar char="​"/>
              <a:tabLst/>
              <a:defRPr/>
            </a:pPr>
            <a:r>
              <a:rPr kumimoji="0" lang="en-US" sz="4000" b="0" i="0" u="none" strike="noStrike" kern="100" cap="none" spc="0" normalizeH="0" baseline="0" noProof="0">
                <a:ln>
                  <a:noFill/>
                </a:ln>
                <a:solidFill>
                  <a:schemeClr val="tx1"/>
                </a:solidFill>
                <a:effectLst/>
                <a:uLnTx/>
                <a:uFillTx/>
                <a:latin typeface="+mn-lt"/>
                <a:ea typeface="+mn-ea"/>
                <a:cs typeface="NVIDIA Sans" panose="020B0503020203020204" pitchFamily="34" charset="0"/>
              </a:rPr>
              <a:t>Check if the live text on the left matches the image text on the right</a:t>
            </a:r>
          </a:p>
          <a:p>
            <a:pPr marL="457200" marR="0" lvl="1" indent="-45720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sz="3400" kern="100" baseline="0" noProof="0">
                <a:solidFill>
                  <a:schemeClr val="tx1"/>
                </a:solidFill>
                <a:latin typeface="+mn-lt"/>
                <a:ea typeface="+mn-ea"/>
                <a:cs typeface="NVIDIA Sans" panose="020B0503020203020204" pitchFamily="34" charset="0"/>
              </a:rPr>
              <a:t>If not, refer to the “NVIDIA Corporate PPT Template Starter Guide” </a:t>
            </a:r>
            <a:br>
              <a:rPr lang="en-US" sz="3400" kern="100" baseline="0" noProof="0">
                <a:solidFill>
                  <a:schemeClr val="tx1"/>
                </a:solidFill>
                <a:latin typeface="+mn-lt"/>
                <a:ea typeface="+mn-ea"/>
                <a:cs typeface="NVIDIA Sans" panose="020B0503020203020204" pitchFamily="34" charset="0"/>
              </a:rPr>
            </a:br>
            <a:r>
              <a:rPr lang="en-US" sz="3400" kern="100" baseline="0" noProof="0">
                <a:solidFill>
                  <a:schemeClr val="tx1"/>
                </a:solidFill>
                <a:latin typeface="+mn-lt"/>
                <a:ea typeface="+mn-ea"/>
                <a:cs typeface="NVIDIA Sans" panose="020B0503020203020204" pitchFamily="34" charset="0"/>
              </a:rPr>
              <a:t>for font installation steps</a:t>
            </a:r>
          </a:p>
          <a:p>
            <a:pPr marL="0" marR="0" lvl="0" indent="0" algn="l" defTabSz="2743200" rtl="0" eaLnBrk="1" fontAlgn="auto" latinLnBrk="0" hangingPunct="1">
              <a:lnSpc>
                <a:spcPct val="90000"/>
              </a:lnSpc>
              <a:spcBef>
                <a:spcPts val="1600"/>
              </a:spcBef>
              <a:spcAft>
                <a:spcPts val="1600"/>
              </a:spcAft>
              <a:buClr>
                <a:srgbClr val="76B900"/>
              </a:buClr>
              <a:buSzTx/>
              <a:buFont typeface="NVIDIA Sans" panose="020B0503020203020204" pitchFamily="34" charset="0"/>
              <a:buChar char="​"/>
              <a:tabLst/>
              <a:defRPr/>
            </a:pPr>
            <a:r>
              <a:rPr kumimoji="0" lang="en-US" sz="4000" b="0" i="0" u="none" strike="noStrike" kern="100" cap="none" spc="0" normalizeH="0" baseline="0" noProof="0">
                <a:ln>
                  <a:noFill/>
                </a:ln>
                <a:solidFill>
                  <a:schemeClr val="tx1"/>
                </a:solidFill>
                <a:effectLst/>
                <a:uLnTx/>
                <a:uFillTx/>
                <a:latin typeface="+mn-lt"/>
                <a:ea typeface="+mn-ea"/>
                <a:cs typeface="NVIDIA Sans" panose="020B0503020203020204" pitchFamily="34" charset="0"/>
              </a:rPr>
              <a:t>All employees must have NVIDIA Sans installed</a:t>
            </a:r>
          </a:p>
        </p:txBody>
      </p:sp>
      <p:sp>
        <p:nvSpPr>
          <p:cNvPr id="3" name="Slide Number Placeholder">
            <a:extLst>
              <a:ext uri="{FF2B5EF4-FFF2-40B4-BE49-F238E27FC236}">
                <a16:creationId xmlns:a16="http://schemas.microsoft.com/office/drawing/2014/main" id="{74549C21-BBA3-DF75-DE6B-C9144D7DB23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lnSpc>
                  <a:spcPct val="90000"/>
                </a:lnSpc>
              </a:pPr>
              <a:t>‹#›</a:t>
            </a:fld>
            <a:endParaRPr lang="en-US"/>
          </a:p>
        </p:txBody>
      </p:sp>
    </p:spTree>
    <p:extLst>
      <p:ext uri="{BB962C8B-B14F-4D97-AF65-F5344CB8AC3E}">
        <p14:creationId xmlns:p14="http://schemas.microsoft.com/office/powerpoint/2010/main" val="6840016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lnSpc>
                  <a:spcPct val="90000"/>
                </a:lnSpc>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a:t>Click to Edit Title Here</a:t>
            </a:r>
          </a:p>
        </p:txBody>
      </p:sp>
    </p:spTree>
    <p:extLst>
      <p:ext uri="{BB962C8B-B14F-4D97-AF65-F5344CB8AC3E}">
        <p14:creationId xmlns:p14="http://schemas.microsoft.com/office/powerpoint/2010/main" val="245354886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lnSpc>
                  <a:spcPct val="90000"/>
                </a:lnSpc>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15200466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lnSpc>
                  <a:spcPct val="90000"/>
                </a:lnSpc>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39783531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lnSpc>
                  <a:spcPct val="90000"/>
                </a:lnSpc>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34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a:t>Click to Edit Title Here</a:t>
            </a:r>
          </a:p>
        </p:txBody>
      </p:sp>
    </p:spTree>
    <p:extLst>
      <p:ext uri="{BB962C8B-B14F-4D97-AF65-F5344CB8AC3E}">
        <p14:creationId xmlns:p14="http://schemas.microsoft.com/office/powerpoint/2010/main" val="31431625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lnSpc>
                  <a:spcPct val="90000"/>
                </a:lnSpc>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a:t>Click to Edit Title Here</a:t>
            </a:r>
          </a:p>
        </p:txBody>
      </p:sp>
    </p:spTree>
    <p:extLst>
      <p:ext uri="{BB962C8B-B14F-4D97-AF65-F5344CB8AC3E}">
        <p14:creationId xmlns:p14="http://schemas.microsoft.com/office/powerpoint/2010/main" val="420801382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lnSpc>
                  <a:spcPct val="90000"/>
                </a:lnSpc>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41625731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lnSpc>
                  <a:spcPct val="90000"/>
                </a:lnSpc>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en-US"/>
              <a:t>Click icon to add picture</a:t>
            </a:r>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
        <p:nvSpPr>
          <p:cNvPr id="2" name="Date Placeholder">
            <a:extLst>
              <a:ext uri="{FF2B5EF4-FFF2-40B4-BE49-F238E27FC236}">
                <a16:creationId xmlns:a16="http://schemas.microsoft.com/office/drawing/2014/main" id="{1F0DEEF0-94A0-2857-58EA-C82FD2AC65E7}"/>
              </a:ext>
            </a:extLst>
          </p:cNvPr>
          <p:cNvSpPr txBox="1">
            <a:spLocks/>
          </p:cNvSpPr>
          <p:nvPr userDrawn="1"/>
        </p:nvSpPr>
        <p:spPr>
          <a:xfrm>
            <a:off x="1828800" y="19431000"/>
            <a:ext cx="5669280" cy="369332"/>
          </a:xfrm>
          <a:prstGeom prst="rect">
            <a:avLst/>
          </a:prstGeom>
        </p:spPr>
        <p:txBody>
          <a:bodyPr vert="horz" lIns="0" tIns="45720" rIns="0" bIns="45720" rtlCol="0" anchor="ctr">
            <a:noAutofit/>
          </a:bodyPr>
          <a:lstStyle>
            <a:defPPr>
              <a:defRPr lang="en-US"/>
            </a:defPPr>
            <a:lvl1pPr marL="0" algn="l" defTabSz="457200" rtl="0" eaLnBrk="1" latinLnBrk="0" hangingPunct="1">
              <a:lnSpc>
                <a:spcPct val="90000"/>
              </a:lnSpc>
              <a:defRPr sz="2000" kern="100" baseline="0">
                <a:solidFill>
                  <a:schemeClr val="tx1"/>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cs typeface="NVIDIA Sans" panose="020B0503020203020204" pitchFamily="34" charset="0"/>
              </a:rPr>
              <a:t>NVIDIA CONFIDENTIAL. DO NOT DISTRIBUTE.</a:t>
            </a:r>
          </a:p>
        </p:txBody>
      </p:sp>
    </p:spTree>
    <p:extLst>
      <p:ext uri="{BB962C8B-B14F-4D97-AF65-F5344CB8AC3E}">
        <p14:creationId xmlns:p14="http://schemas.microsoft.com/office/powerpoint/2010/main" val="19485643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r>
              <a:rPr lang="en-US"/>
              <a:t>Source information in NVIDIA Sans, medium gray; 20 pt</a:t>
            </a:r>
          </a:p>
        </p:txBody>
      </p:sp>
      <p:sp>
        <p:nvSpPr>
          <p:cNvPr id="8" name="Slide Number Placeholder">
            <a:extLst>
              <a:ext uri="{FF2B5EF4-FFF2-40B4-BE49-F238E27FC236}">
                <a16:creationId xmlns:a16="http://schemas.microsoft.com/office/drawing/2014/main" id="{9011975B-FAFC-B87E-6EF2-4C338C8E793F}"/>
              </a:ext>
            </a:extLst>
          </p:cNvPr>
          <p:cNvSpPr>
            <a:spLocks noGrp="1"/>
          </p:cNvSpPr>
          <p:nvPr>
            <p:ph type="sldNum" sz="quarter" idx="20"/>
          </p:nvPr>
        </p:nvSpPr>
        <p:spPr/>
        <p:txBody>
          <a:bodyPr/>
          <a:lstStyle/>
          <a:p>
            <a:pPr>
              <a:lnSpc>
                <a:spcPct val="90000"/>
              </a:lnSpc>
            </a:pPr>
            <a:fld id="{5D6728F8-03AC-4059-94FB-90617981AE50}" type="slidenum">
              <a:rPr lang="en-US" smtClean="0"/>
              <a:pPr>
                <a:lnSpc>
                  <a:spcPct val="90000"/>
                </a:lnSpc>
              </a:pPr>
              <a:t>‹#›</a:t>
            </a:fld>
            <a:endParaRPr lang="en-US"/>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t">
            <a:noAutofit/>
          </a:bodyPr>
          <a:lstStyle>
            <a:lvl1pPr algn="ctr">
              <a:lnSpc>
                <a:spcPct val="100000"/>
              </a:lnSpc>
              <a:spcBef>
                <a:spcPts val="0"/>
              </a:spcBef>
              <a:spcAft>
                <a:spcPts val="0"/>
              </a:spcAft>
              <a:defRPr sz="3600" b="0">
                <a:solidFill>
                  <a:schemeClr val="tx1"/>
                </a:solidFill>
                <a:latin typeface="+mj-lt"/>
              </a:defRPr>
            </a:lvl1pPr>
            <a:lvl2pPr algn="ctr">
              <a:lnSpc>
                <a:spcPct val="100000"/>
              </a:lnSpc>
              <a:spcBef>
                <a:spcPts val="0"/>
              </a:spcBef>
              <a:spcAft>
                <a:spcPts val="0"/>
              </a:spcAft>
              <a:buNone/>
              <a:defRPr sz="2800">
                <a:solidFill>
                  <a:schemeClr val="accent6"/>
                </a:solidFill>
              </a:defRPr>
            </a:lvl2pPr>
            <a:lvl3pPr algn="ctr">
              <a:buNone/>
              <a:defRPr/>
            </a:lvl3pPr>
            <a:lvl4pPr algn="ctr">
              <a:defRPr/>
            </a:lvl4pPr>
            <a:lvl5pPr algn="ctr">
              <a:defRPr/>
            </a:lvl5pPr>
          </a:lstStyle>
          <a:p>
            <a:pPr lvl="0"/>
            <a:r>
              <a:rPr lang="en-US"/>
              <a:t>Click to Edit Chart Title</a:t>
            </a:r>
          </a:p>
          <a:p>
            <a:pPr lvl="1"/>
            <a:r>
              <a:rPr lang="en-US"/>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a:t>Click to Edit Title Here</a:t>
            </a:r>
          </a:p>
        </p:txBody>
      </p:sp>
    </p:spTree>
    <p:extLst>
      <p:ext uri="{BB962C8B-B14F-4D97-AF65-F5344CB8AC3E}">
        <p14:creationId xmlns:p14="http://schemas.microsoft.com/office/powerpoint/2010/main" val="304418205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r>
              <a:rPr lang="en-US"/>
              <a:t>Source information in NVIDIA Sans, medium gray; 20 pt</a:t>
            </a:r>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lnSpc>
                  <a:spcPct val="90000"/>
                </a:lnSpc>
              </a:pPr>
              <a:t>‹#›</a:t>
            </a:fld>
            <a:endParaRPr lang="en-US"/>
          </a:p>
        </p:txBody>
      </p:sp>
      <p:sp>
        <p:nvSpPr>
          <p:cNvPr id="18" name="Text Placeholder">
            <a:extLst>
              <a:ext uri="{FF2B5EF4-FFF2-40B4-BE49-F238E27FC236}">
                <a16:creationId xmlns:a16="http://schemas.microsoft.com/office/drawing/2014/main" id="{5CEDCC1F-86EC-FBFA-BE98-1A9728A0793C}"/>
              </a:ext>
            </a:extLst>
          </p:cNvPr>
          <p:cNvSpPr>
            <a:spLocks noGrp="1"/>
          </p:cNvSpPr>
          <p:nvPr>
            <p:ph type="body" sz="quarter" idx="17" hasCustomPrompt="1"/>
          </p:nvPr>
        </p:nvSpPr>
        <p:spPr>
          <a:xfrm>
            <a:off x="8229599" y="17981235"/>
            <a:ext cx="201168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p>
        </p:txBody>
      </p:sp>
      <p:sp>
        <p:nvSpPr>
          <p:cNvPr id="13" name="Image Text Placeholder">
            <a:extLst>
              <a:ext uri="{FF2B5EF4-FFF2-40B4-BE49-F238E27FC236}">
                <a16:creationId xmlns:a16="http://schemas.microsoft.com/office/drawing/2014/main" id="{41D00130-1DF2-BA9C-DC23-7029FBF16205}"/>
              </a:ext>
            </a:extLst>
          </p:cNvPr>
          <p:cNvSpPr>
            <a:spLocks noGrp="1"/>
          </p:cNvSpPr>
          <p:nvPr>
            <p:ph type="body" sz="quarter" idx="16" hasCustomPrompt="1"/>
          </p:nvPr>
        </p:nvSpPr>
        <p:spPr>
          <a:xfrm>
            <a:off x="8229600" y="17396460"/>
            <a:ext cx="201168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8" name="Picture Placeholder">
            <a:extLst>
              <a:ext uri="{FF2B5EF4-FFF2-40B4-BE49-F238E27FC236}">
                <a16:creationId xmlns:a16="http://schemas.microsoft.com/office/drawing/2014/main" id="{077D08DE-A296-6B3D-66F4-B3B88E42B6AD}"/>
              </a:ext>
            </a:extLst>
          </p:cNvPr>
          <p:cNvSpPr>
            <a:spLocks noGrp="1" noChangeAspect="1"/>
          </p:cNvSpPr>
          <p:nvPr>
            <p:ph type="pic" sz="quarter" idx="15" hasCustomPrompt="1"/>
          </p:nvPr>
        </p:nvSpPr>
        <p:spPr>
          <a:xfrm>
            <a:off x="8229600" y="5806440"/>
            <a:ext cx="20116800" cy="113157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a:p>
            <a:pPr lvl="0" algn="ctr">
              <a:buNone/>
            </a:pPr>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216687784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r>
              <a:rPr lang="en-US"/>
              <a:t>Source information in NVIDIA Sans, medium gray; 20 pt</a:t>
            </a:r>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lnSpc>
                  <a:spcPct val="90000"/>
                </a:lnSpc>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a:t>Click to Edit Title Here</a:t>
            </a:r>
          </a:p>
        </p:txBody>
      </p:sp>
      <p:sp>
        <p:nvSpPr>
          <p:cNvPr id="3" name="Text Placeholder">
            <a:extLst>
              <a:ext uri="{FF2B5EF4-FFF2-40B4-BE49-F238E27FC236}">
                <a16:creationId xmlns:a16="http://schemas.microsoft.com/office/drawing/2014/main" id="{8E594A6D-16D6-B0DA-3FFE-81E5D1E32DC6}"/>
              </a:ext>
            </a:extLst>
          </p:cNvPr>
          <p:cNvSpPr>
            <a:spLocks noGrp="1"/>
          </p:cNvSpPr>
          <p:nvPr>
            <p:ph type="body" sz="quarter" idx="17" hasCustomPrompt="1"/>
          </p:nvPr>
        </p:nvSpPr>
        <p:spPr>
          <a:xfrm>
            <a:off x="19552662" y="17876520"/>
            <a:ext cx="15194538"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p>
        </p:txBody>
      </p:sp>
      <p:sp>
        <p:nvSpPr>
          <p:cNvPr id="4" name="Image Text Placeholder">
            <a:extLst>
              <a:ext uri="{FF2B5EF4-FFF2-40B4-BE49-F238E27FC236}">
                <a16:creationId xmlns:a16="http://schemas.microsoft.com/office/drawing/2014/main" id="{3F342A08-A6BB-C4D1-F09D-E3F1266D9903}"/>
              </a:ext>
            </a:extLst>
          </p:cNvPr>
          <p:cNvSpPr>
            <a:spLocks noGrp="1"/>
          </p:cNvSpPr>
          <p:nvPr>
            <p:ph type="body" sz="quarter" idx="19" hasCustomPrompt="1"/>
          </p:nvPr>
        </p:nvSpPr>
        <p:spPr>
          <a:xfrm>
            <a:off x="19552663" y="17291745"/>
            <a:ext cx="15194538"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5" name="Picture Placeholder">
            <a:extLst>
              <a:ext uri="{FF2B5EF4-FFF2-40B4-BE49-F238E27FC236}">
                <a16:creationId xmlns:a16="http://schemas.microsoft.com/office/drawing/2014/main" id="{C480B95B-020B-F22F-2B19-BD9E4624B3B2}"/>
              </a:ext>
            </a:extLst>
          </p:cNvPr>
          <p:cNvSpPr>
            <a:spLocks noGrp="1" noChangeAspect="1"/>
          </p:cNvSpPr>
          <p:nvPr>
            <p:ph type="pic" sz="quarter" idx="16" hasCustomPrompt="1"/>
          </p:nvPr>
        </p:nvSpPr>
        <p:spPr>
          <a:xfrm>
            <a:off x="19552661" y="1828800"/>
            <a:ext cx="15194539" cy="1519454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Tree>
    <p:extLst>
      <p:ext uri="{BB962C8B-B14F-4D97-AF65-F5344CB8AC3E}">
        <p14:creationId xmlns:p14="http://schemas.microsoft.com/office/powerpoint/2010/main" val="38756691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r>
              <a:rPr lang="en-US"/>
              <a:t>Source information in NVIDIA Sans, medium gray; 20 pt</a:t>
            </a:r>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lnSpc>
                  <a:spcPct val="90000"/>
                </a:lnSpc>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a:t>Click to Edit Title Here</a:t>
            </a:r>
          </a:p>
        </p:txBody>
      </p:sp>
      <p:sp>
        <p:nvSpPr>
          <p:cNvPr id="3" name="Text Placeholder">
            <a:extLst>
              <a:ext uri="{FF2B5EF4-FFF2-40B4-BE49-F238E27FC236}">
                <a16:creationId xmlns:a16="http://schemas.microsoft.com/office/drawing/2014/main" id="{C5FA18F5-7CD1-451D-72A0-A3A9D38AD077}"/>
              </a:ext>
            </a:extLst>
          </p:cNvPr>
          <p:cNvSpPr>
            <a:spLocks noGrp="1"/>
          </p:cNvSpPr>
          <p:nvPr>
            <p:ph type="body" sz="quarter" idx="17" hasCustomPrompt="1"/>
          </p:nvPr>
        </p:nvSpPr>
        <p:spPr>
          <a:xfrm>
            <a:off x="19552659" y="17877270"/>
            <a:ext cx="151945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 name="Image Text Placeholder">
            <a:extLst>
              <a:ext uri="{FF2B5EF4-FFF2-40B4-BE49-F238E27FC236}">
                <a16:creationId xmlns:a16="http://schemas.microsoft.com/office/drawing/2014/main" id="{AABB28A8-3CB4-1AD5-B22B-7DFD108B543E}"/>
              </a:ext>
            </a:extLst>
          </p:cNvPr>
          <p:cNvSpPr>
            <a:spLocks noGrp="1"/>
          </p:cNvSpPr>
          <p:nvPr>
            <p:ph type="body" sz="quarter" idx="19" hasCustomPrompt="1"/>
          </p:nvPr>
        </p:nvSpPr>
        <p:spPr>
          <a:xfrm>
            <a:off x="19552660" y="17292495"/>
            <a:ext cx="151945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5" name="Picture Placeholder">
            <a:extLst>
              <a:ext uri="{FF2B5EF4-FFF2-40B4-BE49-F238E27FC236}">
                <a16:creationId xmlns:a16="http://schemas.microsoft.com/office/drawing/2014/main" id="{FF2B77B8-070C-D205-336E-064F93A5AE91}"/>
              </a:ext>
            </a:extLst>
          </p:cNvPr>
          <p:cNvSpPr>
            <a:spLocks noGrp="1" noChangeAspect="1"/>
          </p:cNvSpPr>
          <p:nvPr>
            <p:ph type="pic" sz="quarter" idx="16" hasCustomPrompt="1"/>
          </p:nvPr>
        </p:nvSpPr>
        <p:spPr>
          <a:xfrm>
            <a:off x="19552660" y="1828800"/>
            <a:ext cx="15194540" cy="15194541"/>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Tree>
    <p:extLst>
      <p:ext uri="{BB962C8B-B14F-4D97-AF65-F5344CB8AC3E}">
        <p14:creationId xmlns:p14="http://schemas.microsoft.com/office/powerpoint/2010/main" val="16592764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r>
              <a:rPr lang="en-US"/>
              <a:t>Source information in NVIDIA Sans, medium gray; 20 pt</a:t>
            </a:r>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lnSpc>
                  <a:spcPct val="90000"/>
                </a:lnSpc>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a:t>Click to Edit Title Here</a:t>
            </a:r>
          </a:p>
        </p:txBody>
      </p:sp>
    </p:spTree>
    <p:extLst>
      <p:ext uri="{BB962C8B-B14F-4D97-AF65-F5344CB8AC3E}">
        <p14:creationId xmlns:p14="http://schemas.microsoft.com/office/powerpoint/2010/main" val="233078336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lnSpc>
                  <a:spcPct val="90000"/>
                </a:lnSpc>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a:t>Click to Edit Title Here</a:t>
            </a:r>
          </a:p>
        </p:txBody>
      </p:sp>
    </p:spTree>
    <p:extLst>
      <p:ext uri="{BB962C8B-B14F-4D97-AF65-F5344CB8AC3E}">
        <p14:creationId xmlns:p14="http://schemas.microsoft.com/office/powerpoint/2010/main" val="40756117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r>
              <a:rPr lang="en-US"/>
              <a:t>Source information in NVIDIA Sans, medium gray; 20 pt</a:t>
            </a:r>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lnSpc>
                  <a:spcPct val="90000"/>
                </a:lnSpc>
              </a:pPr>
              <a:t>‹#›</a:t>
            </a:fld>
            <a:endParaRPr lang="en-US"/>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8626328" y="16572488"/>
            <a:ext cx="16120872"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8626328" y="15987713"/>
            <a:ext cx="16120872"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18626328" y="6583680"/>
            <a:ext cx="16120872" cy="9067991"/>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1828798" y="16510766"/>
            <a:ext cx="16120872"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1828799" y="15925991"/>
            <a:ext cx="16120872"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1828800" y="6583680"/>
            <a:ext cx="16120872" cy="9067991"/>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409236819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r>
              <a:rPr lang="en-US"/>
              <a:t>Source information in NVIDIA Sans, medium gray; 20 pt</a:t>
            </a:r>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lnSpc>
                  <a:spcPct val="90000"/>
                </a:lnSpc>
              </a:pPr>
              <a:t>‹#›</a:t>
            </a:fld>
            <a:endParaRPr lang="en-US"/>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8626328" y="17866935"/>
            <a:ext cx="112014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8626328" y="17282160"/>
            <a:ext cx="112014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8" name="Picture Placeholder 2">
            <a:extLst>
              <a:ext uri="{FF2B5EF4-FFF2-40B4-BE49-F238E27FC236}">
                <a16:creationId xmlns:a16="http://schemas.microsoft.com/office/drawing/2014/main" id="{98670C05-610B-5AE7-B8EF-CEFA8230E3B7}"/>
              </a:ext>
            </a:extLst>
          </p:cNvPr>
          <p:cNvSpPr>
            <a:spLocks noGrp="1" noChangeAspect="1"/>
          </p:cNvSpPr>
          <p:nvPr>
            <p:ph type="pic" sz="quarter" idx="24" hasCustomPrompt="1"/>
          </p:nvPr>
        </p:nvSpPr>
        <p:spPr>
          <a:xfrm>
            <a:off x="18626328" y="5806440"/>
            <a:ext cx="11201400" cy="11201401"/>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6748272" y="17866935"/>
            <a:ext cx="112014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6748272" y="17282160"/>
            <a:ext cx="112014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7" name="Picture Placeholder 1">
            <a:extLst>
              <a:ext uri="{FF2B5EF4-FFF2-40B4-BE49-F238E27FC236}">
                <a16:creationId xmlns:a16="http://schemas.microsoft.com/office/drawing/2014/main" id="{A77BD80D-95AC-2566-53CE-C392776BADEE}"/>
              </a:ext>
            </a:extLst>
          </p:cNvPr>
          <p:cNvSpPr>
            <a:spLocks noGrp="1" noChangeAspect="1"/>
          </p:cNvSpPr>
          <p:nvPr>
            <p:ph type="pic" sz="quarter" idx="16" hasCustomPrompt="1"/>
          </p:nvPr>
        </p:nvSpPr>
        <p:spPr>
          <a:xfrm>
            <a:off x="6748272" y="5806440"/>
            <a:ext cx="11201400" cy="11201401"/>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25459887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r>
              <a:rPr lang="en-US"/>
              <a:t>Source information in NVIDIA Sans, medium gray; 20 pt</a:t>
            </a:r>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lnSpc>
                  <a:spcPct val="90000"/>
                </a:lnSpc>
              </a:pPr>
              <a:t>‹#›</a:t>
            </a:fld>
            <a:endParaRPr lang="en-US"/>
          </a:p>
        </p:txBody>
      </p:sp>
      <p:sp>
        <p:nvSpPr>
          <p:cNvPr id="9" name="Text Placeholder 3">
            <a:extLst>
              <a:ext uri="{FF2B5EF4-FFF2-40B4-BE49-F238E27FC236}">
                <a16:creationId xmlns:a16="http://schemas.microsoft.com/office/drawing/2014/main" id="{50B1A8CD-DB45-5C72-5150-B5884E0C4788}"/>
              </a:ext>
            </a:extLst>
          </p:cNvPr>
          <p:cNvSpPr>
            <a:spLocks noGrp="1"/>
          </p:cNvSpPr>
          <p:nvPr>
            <p:ph type="body" sz="quarter" idx="24" hasCustomPrompt="1"/>
          </p:nvPr>
        </p:nvSpPr>
        <p:spPr>
          <a:xfrm>
            <a:off x="24231600" y="14455080"/>
            <a:ext cx="105156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0" name="Image Text Placeholder 3">
            <a:extLst>
              <a:ext uri="{FF2B5EF4-FFF2-40B4-BE49-F238E27FC236}">
                <a16:creationId xmlns:a16="http://schemas.microsoft.com/office/drawing/2014/main" id="{92106EDE-0FC4-9099-C4B7-1B8179006827}"/>
              </a:ext>
            </a:extLst>
          </p:cNvPr>
          <p:cNvSpPr>
            <a:spLocks noGrp="1"/>
          </p:cNvSpPr>
          <p:nvPr>
            <p:ph type="body" sz="quarter" idx="25" hasCustomPrompt="1"/>
          </p:nvPr>
        </p:nvSpPr>
        <p:spPr>
          <a:xfrm>
            <a:off x="24231600" y="13870305"/>
            <a:ext cx="105156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1" name="Picture Placeholder 3">
            <a:extLst>
              <a:ext uri="{FF2B5EF4-FFF2-40B4-BE49-F238E27FC236}">
                <a16:creationId xmlns:a16="http://schemas.microsoft.com/office/drawing/2014/main" id="{8206E261-EC1B-C37F-7D0D-F77A27BF96BB}"/>
              </a:ext>
            </a:extLst>
          </p:cNvPr>
          <p:cNvSpPr>
            <a:spLocks noGrp="1" noChangeAspect="1"/>
          </p:cNvSpPr>
          <p:nvPr>
            <p:ph type="pic" sz="quarter" idx="26" hasCustomPrompt="1"/>
          </p:nvPr>
        </p:nvSpPr>
        <p:spPr>
          <a:xfrm>
            <a:off x="24231600" y="7680960"/>
            <a:ext cx="10515600" cy="5915025"/>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3030200" y="14455080"/>
            <a:ext cx="105156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3030200" y="13870305"/>
            <a:ext cx="105156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13030200" y="7680960"/>
            <a:ext cx="10515600" cy="5915025"/>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1828798" y="14455080"/>
            <a:ext cx="105156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1828799" y="13870305"/>
            <a:ext cx="105156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1828800" y="7680960"/>
            <a:ext cx="10515600" cy="5915025"/>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358314786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r>
              <a:rPr lang="en-US"/>
              <a:t>Source information in NVIDIA Sans, medium gray; 20 pt</a:t>
            </a:r>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lnSpc>
                  <a:spcPct val="90000"/>
                </a:lnSpc>
              </a:pPr>
              <a:t>‹#›</a:t>
            </a:fld>
            <a:endParaRPr lang="en-US"/>
          </a:p>
        </p:txBody>
      </p:sp>
      <p:sp>
        <p:nvSpPr>
          <p:cNvPr id="8" name="Text Placeholder 3">
            <a:extLst>
              <a:ext uri="{FF2B5EF4-FFF2-40B4-BE49-F238E27FC236}">
                <a16:creationId xmlns:a16="http://schemas.microsoft.com/office/drawing/2014/main" id="{65D43CFD-DB35-08D1-6620-6362A4C2C302}"/>
              </a:ext>
            </a:extLst>
          </p:cNvPr>
          <p:cNvSpPr>
            <a:spLocks noGrp="1"/>
          </p:cNvSpPr>
          <p:nvPr>
            <p:ph type="body" sz="quarter" idx="24" hasCustomPrompt="1"/>
          </p:nvPr>
        </p:nvSpPr>
        <p:spPr>
          <a:xfrm>
            <a:off x="24231600" y="17181134"/>
            <a:ext cx="105156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9" name="Image Text Placeholder 3">
            <a:extLst>
              <a:ext uri="{FF2B5EF4-FFF2-40B4-BE49-F238E27FC236}">
                <a16:creationId xmlns:a16="http://schemas.microsoft.com/office/drawing/2014/main" id="{6E7E2E95-842C-D22F-C42A-E736516C8070}"/>
              </a:ext>
            </a:extLst>
          </p:cNvPr>
          <p:cNvSpPr>
            <a:spLocks noGrp="1"/>
          </p:cNvSpPr>
          <p:nvPr>
            <p:ph type="body" sz="quarter" idx="25" hasCustomPrompt="1"/>
          </p:nvPr>
        </p:nvSpPr>
        <p:spPr>
          <a:xfrm>
            <a:off x="24231600" y="16596359"/>
            <a:ext cx="105156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0" name="Picture Placeholder 3">
            <a:extLst>
              <a:ext uri="{FF2B5EF4-FFF2-40B4-BE49-F238E27FC236}">
                <a16:creationId xmlns:a16="http://schemas.microsoft.com/office/drawing/2014/main" id="{218BB391-65AD-A286-4C78-FA3FD61FDAD8}"/>
              </a:ext>
            </a:extLst>
          </p:cNvPr>
          <p:cNvSpPr>
            <a:spLocks noGrp="1" noChangeAspect="1"/>
          </p:cNvSpPr>
          <p:nvPr>
            <p:ph type="pic" sz="quarter" idx="26" hasCustomPrompt="1"/>
          </p:nvPr>
        </p:nvSpPr>
        <p:spPr>
          <a:xfrm>
            <a:off x="24231600"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3030200" y="17181134"/>
            <a:ext cx="105156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3030200" y="16596359"/>
            <a:ext cx="105156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13030200"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1828798" y="17181134"/>
            <a:ext cx="1051560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1828799" y="16596359"/>
            <a:ext cx="1051560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1828800"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12914397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r>
              <a:rPr lang="en-US"/>
              <a:t>Source information in NVIDIA Sans, medium gray; 20 pt</a:t>
            </a:r>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lnSpc>
                  <a:spcPct val="90000"/>
                </a:lnSpc>
              </a:pPr>
              <a:t>‹#›</a:t>
            </a:fld>
            <a:endParaRPr lang="en-US"/>
          </a:p>
        </p:txBody>
      </p:sp>
      <p:sp>
        <p:nvSpPr>
          <p:cNvPr id="14" name="Text Placeholder 4">
            <a:extLst>
              <a:ext uri="{FF2B5EF4-FFF2-40B4-BE49-F238E27FC236}">
                <a16:creationId xmlns:a16="http://schemas.microsoft.com/office/drawing/2014/main" id="{9B5F2A2E-F854-84DE-F335-F778F9F95068}"/>
              </a:ext>
            </a:extLst>
          </p:cNvPr>
          <p:cNvSpPr>
            <a:spLocks noGrp="1"/>
          </p:cNvSpPr>
          <p:nvPr>
            <p:ph type="body" sz="quarter" idx="27" hasCustomPrompt="1"/>
          </p:nvPr>
        </p:nvSpPr>
        <p:spPr>
          <a:xfrm>
            <a:off x="27029664" y="13658410"/>
            <a:ext cx="7717536" cy="867930"/>
          </a:xfrm>
        </p:spPr>
        <p:txBody>
          <a:bodyPr>
            <a:noAutofit/>
          </a:bodyPr>
          <a:lstStyle>
            <a:lvl1pPr algn="ctr">
              <a:lnSpc>
                <a:spcPct val="8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5" name="Image Text Placeholder 4">
            <a:extLst>
              <a:ext uri="{FF2B5EF4-FFF2-40B4-BE49-F238E27FC236}">
                <a16:creationId xmlns:a16="http://schemas.microsoft.com/office/drawing/2014/main" id="{89026A23-874F-1822-C62A-E3DD13F86F4B}"/>
              </a:ext>
            </a:extLst>
          </p:cNvPr>
          <p:cNvSpPr>
            <a:spLocks noGrp="1"/>
          </p:cNvSpPr>
          <p:nvPr>
            <p:ph type="body" sz="quarter" idx="28" hasCustomPrompt="1"/>
          </p:nvPr>
        </p:nvSpPr>
        <p:spPr>
          <a:xfrm>
            <a:off x="27029664" y="13073635"/>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6" name="Picture Placeholder 4">
            <a:extLst>
              <a:ext uri="{FF2B5EF4-FFF2-40B4-BE49-F238E27FC236}">
                <a16:creationId xmlns:a16="http://schemas.microsoft.com/office/drawing/2014/main" id="{8886A8D4-36F6-D22F-C7D0-7CBF33FDE715}"/>
              </a:ext>
            </a:extLst>
          </p:cNvPr>
          <p:cNvSpPr>
            <a:spLocks noGrp="1" noChangeAspect="1"/>
          </p:cNvSpPr>
          <p:nvPr>
            <p:ph type="pic" sz="quarter" idx="29" hasCustomPrompt="1"/>
          </p:nvPr>
        </p:nvSpPr>
        <p:spPr>
          <a:xfrm>
            <a:off x="27029664" y="845820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 name="Text Placeholder 3">
            <a:extLst>
              <a:ext uri="{FF2B5EF4-FFF2-40B4-BE49-F238E27FC236}">
                <a16:creationId xmlns:a16="http://schemas.microsoft.com/office/drawing/2014/main" id="{50B1A8CD-DB45-5C72-5150-B5884E0C4788}"/>
              </a:ext>
            </a:extLst>
          </p:cNvPr>
          <p:cNvSpPr>
            <a:spLocks noGrp="1"/>
          </p:cNvSpPr>
          <p:nvPr>
            <p:ph type="body" sz="quarter" idx="24" hasCustomPrompt="1"/>
          </p:nvPr>
        </p:nvSpPr>
        <p:spPr>
          <a:xfrm>
            <a:off x="18628614" y="13658410"/>
            <a:ext cx="7717536" cy="867930"/>
          </a:xfrm>
        </p:spPr>
        <p:txBody>
          <a:bodyPr>
            <a:noAutofit/>
          </a:bodyPr>
          <a:lstStyle>
            <a:lvl1pPr algn="ctr">
              <a:lnSpc>
                <a:spcPct val="8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0" name="Image Text Placeholder 3">
            <a:extLst>
              <a:ext uri="{FF2B5EF4-FFF2-40B4-BE49-F238E27FC236}">
                <a16:creationId xmlns:a16="http://schemas.microsoft.com/office/drawing/2014/main" id="{92106EDE-0FC4-9099-C4B7-1B8179006827}"/>
              </a:ext>
            </a:extLst>
          </p:cNvPr>
          <p:cNvSpPr>
            <a:spLocks noGrp="1"/>
          </p:cNvSpPr>
          <p:nvPr>
            <p:ph type="body" sz="quarter" idx="25" hasCustomPrompt="1"/>
          </p:nvPr>
        </p:nvSpPr>
        <p:spPr>
          <a:xfrm>
            <a:off x="18628614" y="13073635"/>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1" name="Picture Placeholder 3">
            <a:extLst>
              <a:ext uri="{FF2B5EF4-FFF2-40B4-BE49-F238E27FC236}">
                <a16:creationId xmlns:a16="http://schemas.microsoft.com/office/drawing/2014/main" id="{8206E261-EC1B-C37F-7D0D-F77A27BF96BB}"/>
              </a:ext>
            </a:extLst>
          </p:cNvPr>
          <p:cNvSpPr>
            <a:spLocks noGrp="1" noChangeAspect="1"/>
          </p:cNvSpPr>
          <p:nvPr>
            <p:ph type="pic" sz="quarter" idx="26" hasCustomPrompt="1"/>
          </p:nvPr>
        </p:nvSpPr>
        <p:spPr>
          <a:xfrm>
            <a:off x="18628614" y="845820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0227564" y="13658410"/>
            <a:ext cx="7717536" cy="867930"/>
          </a:xfrm>
        </p:spPr>
        <p:txBody>
          <a:bodyPr>
            <a:noAutofit/>
          </a:bodyPr>
          <a:lstStyle>
            <a:lvl1pPr algn="ctr">
              <a:lnSpc>
                <a:spcPct val="8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0227564" y="13073635"/>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10227564" y="845820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1828798" y="13658410"/>
            <a:ext cx="7717536" cy="867930"/>
          </a:xfrm>
        </p:spPr>
        <p:txBody>
          <a:bodyPr>
            <a:noAutofit/>
          </a:bodyPr>
          <a:lstStyle>
            <a:lvl1pPr algn="ctr">
              <a:lnSpc>
                <a:spcPct val="8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1828799" y="13073635"/>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1828800" y="845820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26708443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r>
              <a:rPr lang="en-US"/>
              <a:t>Source information in NVIDIA Sans, medium gray; 20 pt</a:t>
            </a:r>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lnSpc>
                  <a:spcPct val="90000"/>
                </a:lnSpc>
              </a:pPr>
              <a:t>‹#›</a:t>
            </a:fld>
            <a:endParaRPr lang="en-US"/>
          </a:p>
        </p:txBody>
      </p:sp>
      <p:sp>
        <p:nvSpPr>
          <p:cNvPr id="17" name="Text Placeholder 4">
            <a:extLst>
              <a:ext uri="{FF2B5EF4-FFF2-40B4-BE49-F238E27FC236}">
                <a16:creationId xmlns:a16="http://schemas.microsoft.com/office/drawing/2014/main" id="{4DF03DA9-16F3-FFAF-5D1B-AE747245538E}"/>
              </a:ext>
            </a:extLst>
          </p:cNvPr>
          <p:cNvSpPr>
            <a:spLocks noGrp="1"/>
          </p:cNvSpPr>
          <p:nvPr>
            <p:ph type="body" sz="quarter" idx="28" hasCustomPrompt="1"/>
          </p:nvPr>
        </p:nvSpPr>
        <p:spPr>
          <a:xfrm>
            <a:off x="27029664" y="15754671"/>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8" name="Image Text Placeholder 4">
            <a:extLst>
              <a:ext uri="{FF2B5EF4-FFF2-40B4-BE49-F238E27FC236}">
                <a16:creationId xmlns:a16="http://schemas.microsoft.com/office/drawing/2014/main" id="{5D84E662-6F7A-E279-4EAE-DB75E5E5ACFC}"/>
              </a:ext>
            </a:extLst>
          </p:cNvPr>
          <p:cNvSpPr>
            <a:spLocks noGrp="1"/>
          </p:cNvSpPr>
          <p:nvPr>
            <p:ph type="body" sz="quarter" idx="29" hasCustomPrompt="1"/>
          </p:nvPr>
        </p:nvSpPr>
        <p:spPr>
          <a:xfrm>
            <a:off x="27029664" y="15169896"/>
            <a:ext cx="7717536" cy="584775"/>
          </a:xfrm>
        </p:spPr>
        <p:txBody>
          <a:bodyPr anchor="t">
            <a:noAutofit/>
          </a:bodyPr>
          <a:lstStyle>
            <a:lvl1pPr algn="ctr">
              <a:lnSpc>
                <a:spcPct val="90000"/>
              </a:lnSpc>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3" name="Picture Placeholder 4">
            <a:extLst>
              <a:ext uri="{FF2B5EF4-FFF2-40B4-BE49-F238E27FC236}">
                <a16:creationId xmlns:a16="http://schemas.microsoft.com/office/drawing/2014/main" id="{E745F964-4465-E796-6B93-F52BC4E5121A}"/>
              </a:ext>
            </a:extLst>
          </p:cNvPr>
          <p:cNvSpPr>
            <a:spLocks noGrp="1" noChangeAspect="1"/>
          </p:cNvSpPr>
          <p:nvPr>
            <p:ph type="pic" sz="quarter" idx="27" hasCustomPrompt="1"/>
          </p:nvPr>
        </p:nvSpPr>
        <p:spPr>
          <a:xfrm>
            <a:off x="27029664" y="7178040"/>
            <a:ext cx="771753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8" name="Text Placeholder 3">
            <a:extLst>
              <a:ext uri="{FF2B5EF4-FFF2-40B4-BE49-F238E27FC236}">
                <a16:creationId xmlns:a16="http://schemas.microsoft.com/office/drawing/2014/main" id="{65D43CFD-DB35-08D1-6620-6362A4C2C302}"/>
              </a:ext>
            </a:extLst>
          </p:cNvPr>
          <p:cNvSpPr>
            <a:spLocks noGrp="1"/>
          </p:cNvSpPr>
          <p:nvPr>
            <p:ph type="body" sz="quarter" idx="24" hasCustomPrompt="1"/>
          </p:nvPr>
        </p:nvSpPr>
        <p:spPr>
          <a:xfrm>
            <a:off x="18628614" y="15754671"/>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9" name="Image Text Placeholder 3">
            <a:extLst>
              <a:ext uri="{FF2B5EF4-FFF2-40B4-BE49-F238E27FC236}">
                <a16:creationId xmlns:a16="http://schemas.microsoft.com/office/drawing/2014/main" id="{6E7E2E95-842C-D22F-C42A-E736516C8070}"/>
              </a:ext>
            </a:extLst>
          </p:cNvPr>
          <p:cNvSpPr>
            <a:spLocks noGrp="1"/>
          </p:cNvSpPr>
          <p:nvPr>
            <p:ph type="body" sz="quarter" idx="25" hasCustomPrompt="1"/>
          </p:nvPr>
        </p:nvSpPr>
        <p:spPr>
          <a:xfrm>
            <a:off x="18628614" y="15169896"/>
            <a:ext cx="7717536" cy="584775"/>
          </a:xfrm>
        </p:spPr>
        <p:txBody>
          <a:bodyPr anchor="t">
            <a:noAutofit/>
          </a:bodyPr>
          <a:lstStyle>
            <a:lvl1pPr algn="ctr">
              <a:lnSpc>
                <a:spcPct val="90000"/>
              </a:lnSpc>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0" name="Picture Placeholder 3">
            <a:extLst>
              <a:ext uri="{FF2B5EF4-FFF2-40B4-BE49-F238E27FC236}">
                <a16:creationId xmlns:a16="http://schemas.microsoft.com/office/drawing/2014/main" id="{218BB391-65AD-A286-4C78-FA3FD61FDAD8}"/>
              </a:ext>
            </a:extLst>
          </p:cNvPr>
          <p:cNvSpPr>
            <a:spLocks noGrp="1" noChangeAspect="1"/>
          </p:cNvSpPr>
          <p:nvPr>
            <p:ph type="pic" sz="quarter" idx="26" hasCustomPrompt="1"/>
          </p:nvPr>
        </p:nvSpPr>
        <p:spPr>
          <a:xfrm>
            <a:off x="18628614" y="7178040"/>
            <a:ext cx="771753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0227564" y="15754671"/>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0227564" y="15169896"/>
            <a:ext cx="7717536" cy="584775"/>
          </a:xfrm>
        </p:spPr>
        <p:txBody>
          <a:bodyPr anchor="t">
            <a:noAutofit/>
          </a:bodyPr>
          <a:lstStyle>
            <a:lvl1pPr algn="ctr">
              <a:lnSpc>
                <a:spcPct val="90000"/>
              </a:lnSpc>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10227564" y="7178040"/>
            <a:ext cx="771753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1828798" y="15754671"/>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1828799" y="15169896"/>
            <a:ext cx="7717536" cy="584775"/>
          </a:xfrm>
        </p:spPr>
        <p:txBody>
          <a:bodyPr anchor="t">
            <a:noAutofit/>
          </a:bodyPr>
          <a:lstStyle>
            <a:lvl1pPr algn="ctr">
              <a:lnSpc>
                <a:spcPct val="90000"/>
              </a:lnSpc>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1828800" y="7178040"/>
            <a:ext cx="771753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24219814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r>
              <a:rPr lang="en-US"/>
              <a:t>Source information in NVIDIA Sans, medium gray; 20 pt</a:t>
            </a:r>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lnSpc>
                  <a:spcPct val="90000"/>
                </a:lnSpc>
              </a:pPr>
              <a:t>‹#›</a:t>
            </a:fld>
            <a:endParaRPr lang="en-US"/>
          </a:p>
        </p:txBody>
      </p:sp>
      <p:sp>
        <p:nvSpPr>
          <p:cNvPr id="6" name="Text Placeholder 4">
            <a:extLst>
              <a:ext uri="{FF2B5EF4-FFF2-40B4-BE49-F238E27FC236}">
                <a16:creationId xmlns:a16="http://schemas.microsoft.com/office/drawing/2014/main" id="{EB0EACB5-E49F-2FC2-C67C-15F7A2EEE545}"/>
              </a:ext>
            </a:extLst>
          </p:cNvPr>
          <p:cNvSpPr>
            <a:spLocks noGrp="1"/>
          </p:cNvSpPr>
          <p:nvPr>
            <p:ph type="body" sz="quarter" idx="27" hasCustomPrompt="1"/>
          </p:nvPr>
        </p:nvSpPr>
        <p:spPr>
          <a:xfrm>
            <a:off x="27027378" y="1646811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7" name="Image Text Placeholder 4">
            <a:extLst>
              <a:ext uri="{FF2B5EF4-FFF2-40B4-BE49-F238E27FC236}">
                <a16:creationId xmlns:a16="http://schemas.microsoft.com/office/drawing/2014/main" id="{6A2BC894-4B44-D83C-A912-97CB066BCA41}"/>
              </a:ext>
            </a:extLst>
          </p:cNvPr>
          <p:cNvSpPr>
            <a:spLocks noGrp="1"/>
          </p:cNvSpPr>
          <p:nvPr>
            <p:ph type="body" sz="quarter" idx="28" hasCustomPrompt="1"/>
          </p:nvPr>
        </p:nvSpPr>
        <p:spPr>
          <a:xfrm>
            <a:off x="27027378" y="1588334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8" name="Picture Placeholder 4">
            <a:extLst>
              <a:ext uri="{FF2B5EF4-FFF2-40B4-BE49-F238E27FC236}">
                <a16:creationId xmlns:a16="http://schemas.microsoft.com/office/drawing/2014/main" id="{282541F2-2A04-9064-967B-C131CB425C8C}"/>
              </a:ext>
            </a:extLst>
          </p:cNvPr>
          <p:cNvSpPr>
            <a:spLocks noGrp="1" noChangeAspect="1"/>
          </p:cNvSpPr>
          <p:nvPr>
            <p:ph type="pic" sz="quarter" idx="29" hasCustomPrompt="1"/>
          </p:nvPr>
        </p:nvSpPr>
        <p:spPr>
          <a:xfrm>
            <a:off x="27027378" y="1126790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1" name="Text Placeholder 3">
            <a:extLst>
              <a:ext uri="{FF2B5EF4-FFF2-40B4-BE49-F238E27FC236}">
                <a16:creationId xmlns:a16="http://schemas.microsoft.com/office/drawing/2014/main" id="{E2384D87-ABEE-2368-E3D2-17F42F2AD072}"/>
              </a:ext>
            </a:extLst>
          </p:cNvPr>
          <p:cNvSpPr>
            <a:spLocks noGrp="1"/>
          </p:cNvSpPr>
          <p:nvPr>
            <p:ph type="body" sz="quarter" idx="24" hasCustomPrompt="1"/>
          </p:nvPr>
        </p:nvSpPr>
        <p:spPr>
          <a:xfrm>
            <a:off x="18626328" y="1646811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4" name="Image Text Placeholder 3">
            <a:extLst>
              <a:ext uri="{FF2B5EF4-FFF2-40B4-BE49-F238E27FC236}">
                <a16:creationId xmlns:a16="http://schemas.microsoft.com/office/drawing/2014/main" id="{8BDBED94-6C09-BE84-A848-429C407D612B}"/>
              </a:ext>
            </a:extLst>
          </p:cNvPr>
          <p:cNvSpPr>
            <a:spLocks noGrp="1"/>
          </p:cNvSpPr>
          <p:nvPr>
            <p:ph type="body" sz="quarter" idx="25" hasCustomPrompt="1"/>
          </p:nvPr>
        </p:nvSpPr>
        <p:spPr>
          <a:xfrm>
            <a:off x="18626328" y="1588334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5" name="Picture Placeholder 3">
            <a:extLst>
              <a:ext uri="{FF2B5EF4-FFF2-40B4-BE49-F238E27FC236}">
                <a16:creationId xmlns:a16="http://schemas.microsoft.com/office/drawing/2014/main" id="{568B34AA-81E7-C070-D294-4B91D1251722}"/>
              </a:ext>
            </a:extLst>
          </p:cNvPr>
          <p:cNvSpPr>
            <a:spLocks noGrp="1" noChangeAspect="1"/>
          </p:cNvSpPr>
          <p:nvPr>
            <p:ph type="pic" sz="quarter" idx="26" hasCustomPrompt="1"/>
          </p:nvPr>
        </p:nvSpPr>
        <p:spPr>
          <a:xfrm>
            <a:off x="18626328" y="1126790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6" name="Text Placeholder 2">
            <a:extLst>
              <a:ext uri="{FF2B5EF4-FFF2-40B4-BE49-F238E27FC236}">
                <a16:creationId xmlns:a16="http://schemas.microsoft.com/office/drawing/2014/main" id="{26A1F7FE-2EF8-0B1F-4637-237BE82C9A8A}"/>
              </a:ext>
            </a:extLst>
          </p:cNvPr>
          <p:cNvSpPr>
            <a:spLocks noGrp="1"/>
          </p:cNvSpPr>
          <p:nvPr>
            <p:ph type="body" sz="quarter" idx="23" hasCustomPrompt="1"/>
          </p:nvPr>
        </p:nvSpPr>
        <p:spPr>
          <a:xfrm>
            <a:off x="27027378" y="1012565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7" name="Image Text Placeholder 2">
            <a:extLst>
              <a:ext uri="{FF2B5EF4-FFF2-40B4-BE49-F238E27FC236}">
                <a16:creationId xmlns:a16="http://schemas.microsoft.com/office/drawing/2014/main" id="{D44687D5-C229-2456-8447-FE7F165D7718}"/>
              </a:ext>
            </a:extLst>
          </p:cNvPr>
          <p:cNvSpPr>
            <a:spLocks noGrp="1"/>
          </p:cNvSpPr>
          <p:nvPr>
            <p:ph type="body" sz="quarter" idx="21" hasCustomPrompt="1"/>
          </p:nvPr>
        </p:nvSpPr>
        <p:spPr>
          <a:xfrm>
            <a:off x="27027378" y="954088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8" name="Picture Placeholder 2">
            <a:extLst>
              <a:ext uri="{FF2B5EF4-FFF2-40B4-BE49-F238E27FC236}">
                <a16:creationId xmlns:a16="http://schemas.microsoft.com/office/drawing/2014/main" id="{76F7B6F0-942D-E077-7FF1-65F22007A4D7}"/>
              </a:ext>
            </a:extLst>
          </p:cNvPr>
          <p:cNvSpPr>
            <a:spLocks noGrp="1" noChangeAspect="1"/>
          </p:cNvSpPr>
          <p:nvPr>
            <p:ph type="pic" sz="quarter" idx="30" hasCustomPrompt="1"/>
          </p:nvPr>
        </p:nvSpPr>
        <p:spPr>
          <a:xfrm>
            <a:off x="27027378" y="4925449"/>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9" name="Text Placeholder 1">
            <a:extLst>
              <a:ext uri="{FF2B5EF4-FFF2-40B4-BE49-F238E27FC236}">
                <a16:creationId xmlns:a16="http://schemas.microsoft.com/office/drawing/2014/main" id="{6A5F0422-58DA-B7E6-540E-5E70309B0D17}"/>
              </a:ext>
            </a:extLst>
          </p:cNvPr>
          <p:cNvSpPr>
            <a:spLocks noGrp="1"/>
          </p:cNvSpPr>
          <p:nvPr>
            <p:ph type="body" sz="quarter" idx="22" hasCustomPrompt="1"/>
          </p:nvPr>
        </p:nvSpPr>
        <p:spPr>
          <a:xfrm>
            <a:off x="18626328" y="1012565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0" name="Image Text Placeholder 1">
            <a:extLst>
              <a:ext uri="{FF2B5EF4-FFF2-40B4-BE49-F238E27FC236}">
                <a16:creationId xmlns:a16="http://schemas.microsoft.com/office/drawing/2014/main" id="{D1836B9B-652B-FD35-D11E-96F771BAFA1F}"/>
              </a:ext>
            </a:extLst>
          </p:cNvPr>
          <p:cNvSpPr>
            <a:spLocks noGrp="1"/>
          </p:cNvSpPr>
          <p:nvPr>
            <p:ph type="body" sz="quarter" idx="20" hasCustomPrompt="1"/>
          </p:nvPr>
        </p:nvSpPr>
        <p:spPr>
          <a:xfrm>
            <a:off x="18626328" y="954088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1" name="Picture Placeholder 1">
            <a:extLst>
              <a:ext uri="{FF2B5EF4-FFF2-40B4-BE49-F238E27FC236}">
                <a16:creationId xmlns:a16="http://schemas.microsoft.com/office/drawing/2014/main" id="{DADC9D0F-1D8B-60BF-7CBE-C6092106BCD2}"/>
              </a:ext>
            </a:extLst>
          </p:cNvPr>
          <p:cNvSpPr>
            <a:spLocks noGrp="1" noChangeAspect="1"/>
          </p:cNvSpPr>
          <p:nvPr>
            <p:ph type="pic" sz="quarter" idx="18" hasCustomPrompt="1"/>
          </p:nvPr>
        </p:nvSpPr>
        <p:spPr>
          <a:xfrm>
            <a:off x="18626328" y="4925449"/>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342400206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r>
              <a:rPr lang="en-US"/>
              <a:t>Source information in NVIDIA Sans, medium gray; 20 pt</a:t>
            </a:r>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lnSpc>
                  <a:spcPct val="90000"/>
                </a:lnSpc>
              </a:pPr>
              <a:t>‹#›</a:t>
            </a:fld>
            <a:endParaRPr lang="en-US"/>
          </a:p>
        </p:txBody>
      </p:sp>
      <p:sp>
        <p:nvSpPr>
          <p:cNvPr id="6" name="Text Placeholder 4">
            <a:extLst>
              <a:ext uri="{FF2B5EF4-FFF2-40B4-BE49-F238E27FC236}">
                <a16:creationId xmlns:a16="http://schemas.microsoft.com/office/drawing/2014/main" id="{EB0EACB5-E49F-2FC2-C67C-15F7A2EEE545}"/>
              </a:ext>
            </a:extLst>
          </p:cNvPr>
          <p:cNvSpPr>
            <a:spLocks noGrp="1"/>
          </p:cNvSpPr>
          <p:nvPr>
            <p:ph type="body" sz="quarter" idx="27" hasCustomPrompt="1"/>
          </p:nvPr>
        </p:nvSpPr>
        <p:spPr>
          <a:xfrm>
            <a:off x="27027378" y="1646811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7" name="Image Text Placeholder 4">
            <a:extLst>
              <a:ext uri="{FF2B5EF4-FFF2-40B4-BE49-F238E27FC236}">
                <a16:creationId xmlns:a16="http://schemas.microsoft.com/office/drawing/2014/main" id="{6A2BC894-4B44-D83C-A912-97CB066BCA41}"/>
              </a:ext>
            </a:extLst>
          </p:cNvPr>
          <p:cNvSpPr>
            <a:spLocks noGrp="1"/>
          </p:cNvSpPr>
          <p:nvPr>
            <p:ph type="body" sz="quarter" idx="28" hasCustomPrompt="1"/>
          </p:nvPr>
        </p:nvSpPr>
        <p:spPr>
          <a:xfrm>
            <a:off x="27027378" y="1588334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8" name="Picture Placeholder 4">
            <a:extLst>
              <a:ext uri="{FF2B5EF4-FFF2-40B4-BE49-F238E27FC236}">
                <a16:creationId xmlns:a16="http://schemas.microsoft.com/office/drawing/2014/main" id="{282541F2-2A04-9064-967B-C131CB425C8C}"/>
              </a:ext>
            </a:extLst>
          </p:cNvPr>
          <p:cNvSpPr>
            <a:spLocks noGrp="1" noChangeAspect="1"/>
          </p:cNvSpPr>
          <p:nvPr>
            <p:ph type="pic" sz="quarter" idx="29" hasCustomPrompt="1"/>
          </p:nvPr>
        </p:nvSpPr>
        <p:spPr>
          <a:xfrm>
            <a:off x="27027378" y="1126790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1" name="Text Placeholder 3">
            <a:extLst>
              <a:ext uri="{FF2B5EF4-FFF2-40B4-BE49-F238E27FC236}">
                <a16:creationId xmlns:a16="http://schemas.microsoft.com/office/drawing/2014/main" id="{E2384D87-ABEE-2368-E3D2-17F42F2AD072}"/>
              </a:ext>
            </a:extLst>
          </p:cNvPr>
          <p:cNvSpPr>
            <a:spLocks noGrp="1"/>
          </p:cNvSpPr>
          <p:nvPr>
            <p:ph type="body" sz="quarter" idx="24" hasCustomPrompt="1"/>
          </p:nvPr>
        </p:nvSpPr>
        <p:spPr>
          <a:xfrm>
            <a:off x="18626328" y="1646811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4" name="Image Text Placeholder 3">
            <a:extLst>
              <a:ext uri="{FF2B5EF4-FFF2-40B4-BE49-F238E27FC236}">
                <a16:creationId xmlns:a16="http://schemas.microsoft.com/office/drawing/2014/main" id="{8BDBED94-6C09-BE84-A848-429C407D612B}"/>
              </a:ext>
            </a:extLst>
          </p:cNvPr>
          <p:cNvSpPr>
            <a:spLocks noGrp="1"/>
          </p:cNvSpPr>
          <p:nvPr>
            <p:ph type="body" sz="quarter" idx="25" hasCustomPrompt="1"/>
          </p:nvPr>
        </p:nvSpPr>
        <p:spPr>
          <a:xfrm>
            <a:off x="18626328" y="1588334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5" name="Picture Placeholder 3">
            <a:extLst>
              <a:ext uri="{FF2B5EF4-FFF2-40B4-BE49-F238E27FC236}">
                <a16:creationId xmlns:a16="http://schemas.microsoft.com/office/drawing/2014/main" id="{568B34AA-81E7-C070-D294-4B91D1251722}"/>
              </a:ext>
            </a:extLst>
          </p:cNvPr>
          <p:cNvSpPr>
            <a:spLocks noGrp="1" noChangeAspect="1"/>
          </p:cNvSpPr>
          <p:nvPr>
            <p:ph type="pic" sz="quarter" idx="26" hasCustomPrompt="1"/>
          </p:nvPr>
        </p:nvSpPr>
        <p:spPr>
          <a:xfrm>
            <a:off x="18626328" y="1126790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6" name="Text Placeholder 2">
            <a:extLst>
              <a:ext uri="{FF2B5EF4-FFF2-40B4-BE49-F238E27FC236}">
                <a16:creationId xmlns:a16="http://schemas.microsoft.com/office/drawing/2014/main" id="{26A1F7FE-2EF8-0B1F-4637-237BE82C9A8A}"/>
              </a:ext>
            </a:extLst>
          </p:cNvPr>
          <p:cNvSpPr>
            <a:spLocks noGrp="1"/>
          </p:cNvSpPr>
          <p:nvPr>
            <p:ph type="body" sz="quarter" idx="23" hasCustomPrompt="1"/>
          </p:nvPr>
        </p:nvSpPr>
        <p:spPr>
          <a:xfrm>
            <a:off x="27027378" y="1012565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7" name="Image Text Placeholder 2">
            <a:extLst>
              <a:ext uri="{FF2B5EF4-FFF2-40B4-BE49-F238E27FC236}">
                <a16:creationId xmlns:a16="http://schemas.microsoft.com/office/drawing/2014/main" id="{D44687D5-C229-2456-8447-FE7F165D7718}"/>
              </a:ext>
            </a:extLst>
          </p:cNvPr>
          <p:cNvSpPr>
            <a:spLocks noGrp="1"/>
          </p:cNvSpPr>
          <p:nvPr>
            <p:ph type="body" sz="quarter" idx="21" hasCustomPrompt="1"/>
          </p:nvPr>
        </p:nvSpPr>
        <p:spPr>
          <a:xfrm>
            <a:off x="27027378" y="954088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8" name="Picture Placeholder 2">
            <a:extLst>
              <a:ext uri="{FF2B5EF4-FFF2-40B4-BE49-F238E27FC236}">
                <a16:creationId xmlns:a16="http://schemas.microsoft.com/office/drawing/2014/main" id="{76F7B6F0-942D-E077-7FF1-65F22007A4D7}"/>
              </a:ext>
            </a:extLst>
          </p:cNvPr>
          <p:cNvSpPr>
            <a:spLocks noGrp="1" noChangeAspect="1"/>
          </p:cNvSpPr>
          <p:nvPr>
            <p:ph type="pic" sz="quarter" idx="30" hasCustomPrompt="1"/>
          </p:nvPr>
        </p:nvSpPr>
        <p:spPr>
          <a:xfrm>
            <a:off x="27027378" y="4925449"/>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9" name="Text Placeholder 1">
            <a:extLst>
              <a:ext uri="{FF2B5EF4-FFF2-40B4-BE49-F238E27FC236}">
                <a16:creationId xmlns:a16="http://schemas.microsoft.com/office/drawing/2014/main" id="{6A5F0422-58DA-B7E6-540E-5E70309B0D17}"/>
              </a:ext>
            </a:extLst>
          </p:cNvPr>
          <p:cNvSpPr>
            <a:spLocks noGrp="1"/>
          </p:cNvSpPr>
          <p:nvPr>
            <p:ph type="body" sz="quarter" idx="22" hasCustomPrompt="1"/>
          </p:nvPr>
        </p:nvSpPr>
        <p:spPr>
          <a:xfrm>
            <a:off x="18626328" y="1012565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0" name="Image Text Placeholder 1">
            <a:extLst>
              <a:ext uri="{FF2B5EF4-FFF2-40B4-BE49-F238E27FC236}">
                <a16:creationId xmlns:a16="http://schemas.microsoft.com/office/drawing/2014/main" id="{D1836B9B-652B-FD35-D11E-96F771BAFA1F}"/>
              </a:ext>
            </a:extLst>
          </p:cNvPr>
          <p:cNvSpPr>
            <a:spLocks noGrp="1"/>
          </p:cNvSpPr>
          <p:nvPr>
            <p:ph type="body" sz="quarter" idx="20" hasCustomPrompt="1"/>
          </p:nvPr>
        </p:nvSpPr>
        <p:spPr>
          <a:xfrm>
            <a:off x="18626328" y="954088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1" name="Picture Placeholder 1">
            <a:extLst>
              <a:ext uri="{FF2B5EF4-FFF2-40B4-BE49-F238E27FC236}">
                <a16:creationId xmlns:a16="http://schemas.microsoft.com/office/drawing/2014/main" id="{DADC9D0F-1D8B-60BF-7CBE-C6092106BCD2}"/>
              </a:ext>
            </a:extLst>
          </p:cNvPr>
          <p:cNvSpPr>
            <a:spLocks noGrp="1" noChangeAspect="1"/>
          </p:cNvSpPr>
          <p:nvPr>
            <p:ph type="pic" sz="quarter" idx="18" hasCustomPrompt="1"/>
          </p:nvPr>
        </p:nvSpPr>
        <p:spPr>
          <a:xfrm>
            <a:off x="18626328" y="4925449"/>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a:t>Click to Edit Title Here </a:t>
            </a:r>
          </a:p>
        </p:txBody>
      </p:sp>
    </p:spTree>
    <p:extLst>
      <p:ext uri="{BB962C8B-B14F-4D97-AF65-F5344CB8AC3E}">
        <p14:creationId xmlns:p14="http://schemas.microsoft.com/office/powerpoint/2010/main" val="7839229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r>
              <a:rPr lang="en-US"/>
              <a:t>Source information in NVIDIA Sans, medium gray; 20 pt</a:t>
            </a:r>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lnSpc>
                  <a:spcPct val="90000"/>
                </a:lnSpc>
              </a:pPr>
              <a:t>‹#›</a:t>
            </a:fld>
            <a:endParaRPr lang="en-US"/>
          </a:p>
        </p:txBody>
      </p:sp>
      <p:sp>
        <p:nvSpPr>
          <p:cNvPr id="22" name="Text Placeholder 5">
            <a:extLst>
              <a:ext uri="{FF2B5EF4-FFF2-40B4-BE49-F238E27FC236}">
                <a16:creationId xmlns:a16="http://schemas.microsoft.com/office/drawing/2014/main" id="{73A08B95-2725-F270-749E-A2655A3A8908}"/>
              </a:ext>
            </a:extLst>
          </p:cNvPr>
          <p:cNvSpPr>
            <a:spLocks noGrp="1"/>
          </p:cNvSpPr>
          <p:nvPr>
            <p:ph type="body" sz="quarter" idx="30" hasCustomPrompt="1"/>
          </p:nvPr>
        </p:nvSpPr>
        <p:spPr>
          <a:xfrm>
            <a:off x="18628614" y="17349109"/>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3" name="Image Text Placeholder 5">
            <a:extLst>
              <a:ext uri="{FF2B5EF4-FFF2-40B4-BE49-F238E27FC236}">
                <a16:creationId xmlns:a16="http://schemas.microsoft.com/office/drawing/2014/main" id="{338B4F46-E578-CF65-5544-DAF22E5F3705}"/>
              </a:ext>
            </a:extLst>
          </p:cNvPr>
          <p:cNvSpPr>
            <a:spLocks noGrp="1"/>
          </p:cNvSpPr>
          <p:nvPr>
            <p:ph type="body" sz="quarter" idx="31" hasCustomPrompt="1"/>
          </p:nvPr>
        </p:nvSpPr>
        <p:spPr>
          <a:xfrm>
            <a:off x="18628614" y="16764334"/>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4" name="Picture Placeholder 5">
            <a:extLst>
              <a:ext uri="{FF2B5EF4-FFF2-40B4-BE49-F238E27FC236}">
                <a16:creationId xmlns:a16="http://schemas.microsoft.com/office/drawing/2014/main" id="{74F811AD-2D90-F3CA-D455-EEAEA8BE8C02}"/>
              </a:ext>
            </a:extLst>
          </p:cNvPr>
          <p:cNvSpPr>
            <a:spLocks noGrp="1" noChangeAspect="1"/>
          </p:cNvSpPr>
          <p:nvPr>
            <p:ph type="pic" sz="quarter" idx="32" hasCustomPrompt="1"/>
          </p:nvPr>
        </p:nvSpPr>
        <p:spPr>
          <a:xfrm>
            <a:off x="18628614" y="12148899"/>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4" name="Text Placeholder 4">
            <a:extLst>
              <a:ext uri="{FF2B5EF4-FFF2-40B4-BE49-F238E27FC236}">
                <a16:creationId xmlns:a16="http://schemas.microsoft.com/office/drawing/2014/main" id="{9B5F2A2E-F854-84DE-F335-F778F9F95068}"/>
              </a:ext>
            </a:extLst>
          </p:cNvPr>
          <p:cNvSpPr>
            <a:spLocks noGrp="1"/>
          </p:cNvSpPr>
          <p:nvPr>
            <p:ph type="body" sz="quarter" idx="27" hasCustomPrompt="1"/>
          </p:nvPr>
        </p:nvSpPr>
        <p:spPr>
          <a:xfrm>
            <a:off x="10227564" y="17349109"/>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5" name="Image Text Placeholder 4">
            <a:extLst>
              <a:ext uri="{FF2B5EF4-FFF2-40B4-BE49-F238E27FC236}">
                <a16:creationId xmlns:a16="http://schemas.microsoft.com/office/drawing/2014/main" id="{89026A23-874F-1822-C62A-E3DD13F86F4B}"/>
              </a:ext>
            </a:extLst>
          </p:cNvPr>
          <p:cNvSpPr>
            <a:spLocks noGrp="1"/>
          </p:cNvSpPr>
          <p:nvPr>
            <p:ph type="body" sz="quarter" idx="28" hasCustomPrompt="1"/>
          </p:nvPr>
        </p:nvSpPr>
        <p:spPr>
          <a:xfrm>
            <a:off x="10227564" y="16764334"/>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6" name="Picture Placeholder 4">
            <a:extLst>
              <a:ext uri="{FF2B5EF4-FFF2-40B4-BE49-F238E27FC236}">
                <a16:creationId xmlns:a16="http://schemas.microsoft.com/office/drawing/2014/main" id="{8886A8D4-36F6-D22F-C7D0-7CBF33FDE715}"/>
              </a:ext>
            </a:extLst>
          </p:cNvPr>
          <p:cNvSpPr>
            <a:spLocks noGrp="1" noChangeAspect="1"/>
          </p:cNvSpPr>
          <p:nvPr>
            <p:ph type="pic" sz="quarter" idx="29" hasCustomPrompt="1"/>
          </p:nvPr>
        </p:nvSpPr>
        <p:spPr>
          <a:xfrm>
            <a:off x="10227564" y="12148899"/>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 name="Text Placeholder 3">
            <a:extLst>
              <a:ext uri="{FF2B5EF4-FFF2-40B4-BE49-F238E27FC236}">
                <a16:creationId xmlns:a16="http://schemas.microsoft.com/office/drawing/2014/main" id="{50B1A8CD-DB45-5C72-5150-B5884E0C4788}"/>
              </a:ext>
            </a:extLst>
          </p:cNvPr>
          <p:cNvSpPr>
            <a:spLocks noGrp="1"/>
          </p:cNvSpPr>
          <p:nvPr>
            <p:ph type="body" sz="quarter" idx="24" hasCustomPrompt="1"/>
          </p:nvPr>
        </p:nvSpPr>
        <p:spPr>
          <a:xfrm>
            <a:off x="22832569" y="11006649"/>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0" name="Image Text Placeholder 3">
            <a:extLst>
              <a:ext uri="{FF2B5EF4-FFF2-40B4-BE49-F238E27FC236}">
                <a16:creationId xmlns:a16="http://schemas.microsoft.com/office/drawing/2014/main" id="{92106EDE-0FC4-9099-C4B7-1B8179006827}"/>
              </a:ext>
            </a:extLst>
          </p:cNvPr>
          <p:cNvSpPr>
            <a:spLocks noGrp="1"/>
          </p:cNvSpPr>
          <p:nvPr>
            <p:ph type="body" sz="quarter" idx="25" hasCustomPrompt="1"/>
          </p:nvPr>
        </p:nvSpPr>
        <p:spPr>
          <a:xfrm>
            <a:off x="22832569" y="10421874"/>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1" name="Picture Placeholder 3">
            <a:extLst>
              <a:ext uri="{FF2B5EF4-FFF2-40B4-BE49-F238E27FC236}">
                <a16:creationId xmlns:a16="http://schemas.microsoft.com/office/drawing/2014/main" id="{8206E261-EC1B-C37F-7D0D-F77A27BF96BB}"/>
              </a:ext>
            </a:extLst>
          </p:cNvPr>
          <p:cNvSpPr>
            <a:spLocks noGrp="1" noChangeAspect="1"/>
          </p:cNvSpPr>
          <p:nvPr>
            <p:ph type="pic" sz="quarter" idx="26" hasCustomPrompt="1"/>
          </p:nvPr>
        </p:nvSpPr>
        <p:spPr>
          <a:xfrm>
            <a:off x="22832569"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4429232" y="11006649"/>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4429232" y="10421874"/>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14429232"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6025897" y="11006649"/>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6025897" y="10421874"/>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6025897"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8289893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r>
              <a:rPr lang="en-US"/>
              <a:t>Source information in NVIDIA Sans, medium gray; 20 pt</a:t>
            </a:r>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lnSpc>
                  <a:spcPct val="90000"/>
                </a:lnSpc>
              </a:pPr>
              <a:t>‹#›</a:t>
            </a:fld>
            <a:endParaRPr lang="en-US"/>
          </a:p>
        </p:txBody>
      </p:sp>
      <p:sp>
        <p:nvSpPr>
          <p:cNvPr id="7" name="Text Placeholder 6">
            <a:extLst>
              <a:ext uri="{FF2B5EF4-FFF2-40B4-BE49-F238E27FC236}">
                <a16:creationId xmlns:a16="http://schemas.microsoft.com/office/drawing/2014/main" id="{055AF18E-4591-536C-463D-71B46181427B}"/>
              </a:ext>
            </a:extLst>
          </p:cNvPr>
          <p:cNvSpPr>
            <a:spLocks noGrp="1"/>
          </p:cNvSpPr>
          <p:nvPr>
            <p:ph type="body" sz="quarter" idx="33" hasCustomPrompt="1"/>
          </p:nvPr>
        </p:nvSpPr>
        <p:spPr>
          <a:xfrm>
            <a:off x="22832569"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8" name="Image Text Placeholder 6">
            <a:extLst>
              <a:ext uri="{FF2B5EF4-FFF2-40B4-BE49-F238E27FC236}">
                <a16:creationId xmlns:a16="http://schemas.microsoft.com/office/drawing/2014/main" id="{5B4EEC16-EEF7-D918-1F07-A02CCE2EB518}"/>
              </a:ext>
            </a:extLst>
          </p:cNvPr>
          <p:cNvSpPr>
            <a:spLocks noGrp="1"/>
          </p:cNvSpPr>
          <p:nvPr>
            <p:ph type="body" sz="quarter" idx="34" hasCustomPrompt="1"/>
          </p:nvPr>
        </p:nvSpPr>
        <p:spPr>
          <a:xfrm>
            <a:off x="22832569"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2" name="Picture Placeholder 6">
            <a:extLst>
              <a:ext uri="{FF2B5EF4-FFF2-40B4-BE49-F238E27FC236}">
                <a16:creationId xmlns:a16="http://schemas.microsoft.com/office/drawing/2014/main" id="{11E3A3CB-F1CB-1281-1991-E73E0098FA10}"/>
              </a:ext>
            </a:extLst>
          </p:cNvPr>
          <p:cNvSpPr>
            <a:spLocks noGrp="1" noChangeAspect="1"/>
          </p:cNvSpPr>
          <p:nvPr>
            <p:ph type="pic" sz="quarter" idx="35" hasCustomPrompt="1"/>
          </p:nvPr>
        </p:nvSpPr>
        <p:spPr>
          <a:xfrm>
            <a:off x="22832569"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22" name="Text Placeholder 5">
            <a:extLst>
              <a:ext uri="{FF2B5EF4-FFF2-40B4-BE49-F238E27FC236}">
                <a16:creationId xmlns:a16="http://schemas.microsoft.com/office/drawing/2014/main" id="{73A08B95-2725-F270-749E-A2655A3A8908}"/>
              </a:ext>
            </a:extLst>
          </p:cNvPr>
          <p:cNvSpPr>
            <a:spLocks noGrp="1"/>
          </p:cNvSpPr>
          <p:nvPr>
            <p:ph type="body" sz="quarter" idx="30" hasCustomPrompt="1"/>
          </p:nvPr>
        </p:nvSpPr>
        <p:spPr>
          <a:xfrm>
            <a:off x="14429232"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3" name="Image Text Placeholder 5">
            <a:extLst>
              <a:ext uri="{FF2B5EF4-FFF2-40B4-BE49-F238E27FC236}">
                <a16:creationId xmlns:a16="http://schemas.microsoft.com/office/drawing/2014/main" id="{338B4F46-E578-CF65-5544-DAF22E5F3705}"/>
              </a:ext>
            </a:extLst>
          </p:cNvPr>
          <p:cNvSpPr>
            <a:spLocks noGrp="1"/>
          </p:cNvSpPr>
          <p:nvPr>
            <p:ph type="body" sz="quarter" idx="31" hasCustomPrompt="1"/>
          </p:nvPr>
        </p:nvSpPr>
        <p:spPr>
          <a:xfrm>
            <a:off x="14429232"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4" name="Picture Placeholder 5">
            <a:extLst>
              <a:ext uri="{FF2B5EF4-FFF2-40B4-BE49-F238E27FC236}">
                <a16:creationId xmlns:a16="http://schemas.microsoft.com/office/drawing/2014/main" id="{74F811AD-2D90-F3CA-D455-EEAEA8BE8C02}"/>
              </a:ext>
            </a:extLst>
          </p:cNvPr>
          <p:cNvSpPr>
            <a:spLocks noGrp="1" noChangeAspect="1"/>
          </p:cNvSpPr>
          <p:nvPr>
            <p:ph type="pic" sz="quarter" idx="32" hasCustomPrompt="1"/>
          </p:nvPr>
        </p:nvSpPr>
        <p:spPr>
          <a:xfrm>
            <a:off x="14429232"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4" name="Text Placeholder 4">
            <a:extLst>
              <a:ext uri="{FF2B5EF4-FFF2-40B4-BE49-F238E27FC236}">
                <a16:creationId xmlns:a16="http://schemas.microsoft.com/office/drawing/2014/main" id="{9B5F2A2E-F854-84DE-F335-F778F9F95068}"/>
              </a:ext>
            </a:extLst>
          </p:cNvPr>
          <p:cNvSpPr>
            <a:spLocks noGrp="1"/>
          </p:cNvSpPr>
          <p:nvPr>
            <p:ph type="body" sz="quarter" idx="27" hasCustomPrompt="1"/>
          </p:nvPr>
        </p:nvSpPr>
        <p:spPr>
          <a:xfrm>
            <a:off x="6025897"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5" name="Image Text Placeholder 4">
            <a:extLst>
              <a:ext uri="{FF2B5EF4-FFF2-40B4-BE49-F238E27FC236}">
                <a16:creationId xmlns:a16="http://schemas.microsoft.com/office/drawing/2014/main" id="{89026A23-874F-1822-C62A-E3DD13F86F4B}"/>
              </a:ext>
            </a:extLst>
          </p:cNvPr>
          <p:cNvSpPr>
            <a:spLocks noGrp="1"/>
          </p:cNvSpPr>
          <p:nvPr>
            <p:ph type="body" sz="quarter" idx="28" hasCustomPrompt="1"/>
          </p:nvPr>
        </p:nvSpPr>
        <p:spPr>
          <a:xfrm>
            <a:off x="6025897"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6" name="Picture Placeholder 4">
            <a:extLst>
              <a:ext uri="{FF2B5EF4-FFF2-40B4-BE49-F238E27FC236}">
                <a16:creationId xmlns:a16="http://schemas.microsoft.com/office/drawing/2014/main" id="{8886A8D4-36F6-D22F-C7D0-7CBF33FDE715}"/>
              </a:ext>
            </a:extLst>
          </p:cNvPr>
          <p:cNvSpPr>
            <a:spLocks noGrp="1" noChangeAspect="1"/>
          </p:cNvSpPr>
          <p:nvPr>
            <p:ph type="pic" sz="quarter" idx="29" hasCustomPrompt="1"/>
          </p:nvPr>
        </p:nvSpPr>
        <p:spPr>
          <a:xfrm>
            <a:off x="6025897"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 name="Text Placeholder 3">
            <a:extLst>
              <a:ext uri="{FF2B5EF4-FFF2-40B4-BE49-F238E27FC236}">
                <a16:creationId xmlns:a16="http://schemas.microsoft.com/office/drawing/2014/main" id="{50B1A8CD-DB45-5C72-5150-B5884E0C4788}"/>
              </a:ext>
            </a:extLst>
          </p:cNvPr>
          <p:cNvSpPr>
            <a:spLocks noGrp="1"/>
          </p:cNvSpPr>
          <p:nvPr>
            <p:ph type="body" sz="quarter" idx="24" hasCustomPrompt="1"/>
          </p:nvPr>
        </p:nvSpPr>
        <p:spPr>
          <a:xfrm>
            <a:off x="22832569" y="11006649"/>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0" name="Image Text Placeholder 3">
            <a:extLst>
              <a:ext uri="{FF2B5EF4-FFF2-40B4-BE49-F238E27FC236}">
                <a16:creationId xmlns:a16="http://schemas.microsoft.com/office/drawing/2014/main" id="{92106EDE-0FC4-9099-C4B7-1B8179006827}"/>
              </a:ext>
            </a:extLst>
          </p:cNvPr>
          <p:cNvSpPr>
            <a:spLocks noGrp="1"/>
          </p:cNvSpPr>
          <p:nvPr>
            <p:ph type="body" sz="quarter" idx="25" hasCustomPrompt="1"/>
          </p:nvPr>
        </p:nvSpPr>
        <p:spPr>
          <a:xfrm>
            <a:off x="22832569" y="10421874"/>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1" name="Picture Placeholder 3">
            <a:extLst>
              <a:ext uri="{FF2B5EF4-FFF2-40B4-BE49-F238E27FC236}">
                <a16:creationId xmlns:a16="http://schemas.microsoft.com/office/drawing/2014/main" id="{8206E261-EC1B-C37F-7D0D-F77A27BF96BB}"/>
              </a:ext>
            </a:extLst>
          </p:cNvPr>
          <p:cNvSpPr>
            <a:spLocks noGrp="1" noChangeAspect="1"/>
          </p:cNvSpPr>
          <p:nvPr>
            <p:ph type="pic" sz="quarter" idx="26" hasCustomPrompt="1"/>
          </p:nvPr>
        </p:nvSpPr>
        <p:spPr>
          <a:xfrm>
            <a:off x="22832569"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4429232" y="11006649"/>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4429232" y="10421874"/>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14429232"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6025897" y="11006649"/>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6025897" y="10421874"/>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6025897"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10792728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r>
              <a:rPr lang="en-US"/>
              <a:t>Source information in NVIDIA Sans, medium gray; 20 pt</a:t>
            </a:r>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lnSpc>
                  <a:spcPct val="90000"/>
                </a:lnSpc>
              </a:pPr>
              <a:t>‹#›</a:t>
            </a:fld>
            <a:endParaRPr lang="en-US"/>
          </a:p>
        </p:txBody>
      </p:sp>
      <p:sp>
        <p:nvSpPr>
          <p:cNvPr id="32" name="Text Placeholder 7">
            <a:extLst>
              <a:ext uri="{FF2B5EF4-FFF2-40B4-BE49-F238E27FC236}">
                <a16:creationId xmlns:a16="http://schemas.microsoft.com/office/drawing/2014/main" id="{65560165-0458-77EE-CA02-06E33D941FD9}"/>
              </a:ext>
            </a:extLst>
          </p:cNvPr>
          <p:cNvSpPr>
            <a:spLocks noGrp="1"/>
          </p:cNvSpPr>
          <p:nvPr>
            <p:ph type="body" sz="quarter" idx="37" hasCustomPrompt="1"/>
          </p:nvPr>
        </p:nvSpPr>
        <p:spPr>
          <a:xfrm>
            <a:off x="22832569"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3" name="Image Text Placeholder 7">
            <a:extLst>
              <a:ext uri="{FF2B5EF4-FFF2-40B4-BE49-F238E27FC236}">
                <a16:creationId xmlns:a16="http://schemas.microsoft.com/office/drawing/2014/main" id="{ECC1F981-C50F-1C41-714E-6559034E8E20}"/>
              </a:ext>
            </a:extLst>
          </p:cNvPr>
          <p:cNvSpPr>
            <a:spLocks noGrp="1"/>
          </p:cNvSpPr>
          <p:nvPr>
            <p:ph type="body" sz="quarter" idx="38" hasCustomPrompt="1"/>
          </p:nvPr>
        </p:nvSpPr>
        <p:spPr>
          <a:xfrm>
            <a:off x="22832569"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4" name="Picture Placeholder 7">
            <a:extLst>
              <a:ext uri="{FF2B5EF4-FFF2-40B4-BE49-F238E27FC236}">
                <a16:creationId xmlns:a16="http://schemas.microsoft.com/office/drawing/2014/main" id="{21BC51A6-5218-F988-C9CE-FD5CECDBCDC0}"/>
              </a:ext>
            </a:extLst>
          </p:cNvPr>
          <p:cNvSpPr>
            <a:spLocks noGrp="1" noChangeAspect="1"/>
          </p:cNvSpPr>
          <p:nvPr>
            <p:ph type="pic" sz="quarter" idx="39" hasCustomPrompt="1"/>
          </p:nvPr>
        </p:nvSpPr>
        <p:spPr>
          <a:xfrm>
            <a:off x="22832569"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35" name="Text Placeholder 6">
            <a:extLst>
              <a:ext uri="{FF2B5EF4-FFF2-40B4-BE49-F238E27FC236}">
                <a16:creationId xmlns:a16="http://schemas.microsoft.com/office/drawing/2014/main" id="{6DA9B824-47AA-EC11-6568-2014CAC46DD2}"/>
              </a:ext>
            </a:extLst>
          </p:cNvPr>
          <p:cNvSpPr>
            <a:spLocks noGrp="1"/>
          </p:cNvSpPr>
          <p:nvPr>
            <p:ph type="body" sz="quarter" idx="33" hasCustomPrompt="1"/>
          </p:nvPr>
        </p:nvSpPr>
        <p:spPr>
          <a:xfrm>
            <a:off x="14429232"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6" name="Image Text Placeholder 6">
            <a:extLst>
              <a:ext uri="{FF2B5EF4-FFF2-40B4-BE49-F238E27FC236}">
                <a16:creationId xmlns:a16="http://schemas.microsoft.com/office/drawing/2014/main" id="{FCC18102-572D-A0CE-991D-58AD110F8EAE}"/>
              </a:ext>
            </a:extLst>
          </p:cNvPr>
          <p:cNvSpPr>
            <a:spLocks noGrp="1"/>
          </p:cNvSpPr>
          <p:nvPr>
            <p:ph type="body" sz="quarter" idx="34" hasCustomPrompt="1"/>
          </p:nvPr>
        </p:nvSpPr>
        <p:spPr>
          <a:xfrm>
            <a:off x="14429232"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43" name="Picture Placeholder 6">
            <a:extLst>
              <a:ext uri="{FF2B5EF4-FFF2-40B4-BE49-F238E27FC236}">
                <a16:creationId xmlns:a16="http://schemas.microsoft.com/office/drawing/2014/main" id="{37CD74FE-7E45-C706-A51D-5A97DDF5739B}"/>
              </a:ext>
            </a:extLst>
          </p:cNvPr>
          <p:cNvSpPr>
            <a:spLocks noGrp="1" noChangeAspect="1"/>
          </p:cNvSpPr>
          <p:nvPr>
            <p:ph type="pic" sz="quarter" idx="35" hasCustomPrompt="1"/>
          </p:nvPr>
        </p:nvSpPr>
        <p:spPr>
          <a:xfrm>
            <a:off x="14429232"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4" name="Text Placeholder 5">
            <a:extLst>
              <a:ext uri="{FF2B5EF4-FFF2-40B4-BE49-F238E27FC236}">
                <a16:creationId xmlns:a16="http://schemas.microsoft.com/office/drawing/2014/main" id="{EC76CF61-D84C-A857-1B1A-00D510829B13}"/>
              </a:ext>
            </a:extLst>
          </p:cNvPr>
          <p:cNvSpPr>
            <a:spLocks noGrp="1"/>
          </p:cNvSpPr>
          <p:nvPr>
            <p:ph type="body" sz="quarter" idx="30" hasCustomPrompt="1"/>
          </p:nvPr>
        </p:nvSpPr>
        <p:spPr>
          <a:xfrm>
            <a:off x="6025897"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5" name="Image Text Placeholder 5">
            <a:extLst>
              <a:ext uri="{FF2B5EF4-FFF2-40B4-BE49-F238E27FC236}">
                <a16:creationId xmlns:a16="http://schemas.microsoft.com/office/drawing/2014/main" id="{19A4A6BB-DE8A-5146-D04F-8CE611A1547D}"/>
              </a:ext>
            </a:extLst>
          </p:cNvPr>
          <p:cNvSpPr>
            <a:spLocks noGrp="1"/>
          </p:cNvSpPr>
          <p:nvPr>
            <p:ph type="body" sz="quarter" idx="31" hasCustomPrompt="1"/>
          </p:nvPr>
        </p:nvSpPr>
        <p:spPr>
          <a:xfrm>
            <a:off x="6025897"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46" name="Picture Placeholder 5">
            <a:extLst>
              <a:ext uri="{FF2B5EF4-FFF2-40B4-BE49-F238E27FC236}">
                <a16:creationId xmlns:a16="http://schemas.microsoft.com/office/drawing/2014/main" id="{1EF75A0B-D9AE-20D0-56AB-7CE46DFC546B}"/>
              </a:ext>
            </a:extLst>
          </p:cNvPr>
          <p:cNvSpPr>
            <a:spLocks noGrp="1" noChangeAspect="1"/>
          </p:cNvSpPr>
          <p:nvPr>
            <p:ph type="pic" sz="quarter" idx="32" hasCustomPrompt="1"/>
          </p:nvPr>
        </p:nvSpPr>
        <p:spPr>
          <a:xfrm>
            <a:off x="6025897"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7" name="Text Placeholder 4">
            <a:extLst>
              <a:ext uri="{FF2B5EF4-FFF2-40B4-BE49-F238E27FC236}">
                <a16:creationId xmlns:a16="http://schemas.microsoft.com/office/drawing/2014/main" id="{A31E7074-02C8-4A35-980A-2083FDE50922}"/>
              </a:ext>
            </a:extLst>
          </p:cNvPr>
          <p:cNvSpPr>
            <a:spLocks noGrp="1"/>
          </p:cNvSpPr>
          <p:nvPr>
            <p:ph type="body" sz="quarter" idx="27" hasCustomPrompt="1"/>
          </p:nvPr>
        </p:nvSpPr>
        <p:spPr>
          <a:xfrm>
            <a:off x="27029664" y="1100664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8" name="Image Text Placeholder 4">
            <a:extLst>
              <a:ext uri="{FF2B5EF4-FFF2-40B4-BE49-F238E27FC236}">
                <a16:creationId xmlns:a16="http://schemas.microsoft.com/office/drawing/2014/main" id="{E97B19A6-2208-CDFD-ACDC-25144F70BFB3}"/>
              </a:ext>
            </a:extLst>
          </p:cNvPr>
          <p:cNvSpPr>
            <a:spLocks noGrp="1"/>
          </p:cNvSpPr>
          <p:nvPr>
            <p:ph type="body" sz="quarter" idx="28" hasCustomPrompt="1"/>
          </p:nvPr>
        </p:nvSpPr>
        <p:spPr>
          <a:xfrm>
            <a:off x="27029664" y="1042187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49" name="Picture Placeholder 4">
            <a:extLst>
              <a:ext uri="{FF2B5EF4-FFF2-40B4-BE49-F238E27FC236}">
                <a16:creationId xmlns:a16="http://schemas.microsoft.com/office/drawing/2014/main" id="{311FF215-7522-3B62-44F4-D9D6A2482E0C}"/>
              </a:ext>
            </a:extLst>
          </p:cNvPr>
          <p:cNvSpPr>
            <a:spLocks noGrp="1" noChangeAspect="1"/>
          </p:cNvSpPr>
          <p:nvPr>
            <p:ph type="pic" sz="quarter" idx="29" hasCustomPrompt="1"/>
          </p:nvPr>
        </p:nvSpPr>
        <p:spPr>
          <a:xfrm>
            <a:off x="27029664"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50" name="Text Placeholder 3">
            <a:extLst>
              <a:ext uri="{FF2B5EF4-FFF2-40B4-BE49-F238E27FC236}">
                <a16:creationId xmlns:a16="http://schemas.microsoft.com/office/drawing/2014/main" id="{05912E2C-56FA-374F-945F-BBBC42367B41}"/>
              </a:ext>
            </a:extLst>
          </p:cNvPr>
          <p:cNvSpPr>
            <a:spLocks noGrp="1"/>
          </p:cNvSpPr>
          <p:nvPr>
            <p:ph type="body" sz="quarter" idx="24" hasCustomPrompt="1"/>
          </p:nvPr>
        </p:nvSpPr>
        <p:spPr>
          <a:xfrm>
            <a:off x="18628614" y="1100664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51" name="Image Text Placeholder 3">
            <a:extLst>
              <a:ext uri="{FF2B5EF4-FFF2-40B4-BE49-F238E27FC236}">
                <a16:creationId xmlns:a16="http://schemas.microsoft.com/office/drawing/2014/main" id="{03215BF3-4F2A-4E13-5226-08DCBCA612B5}"/>
              </a:ext>
            </a:extLst>
          </p:cNvPr>
          <p:cNvSpPr>
            <a:spLocks noGrp="1"/>
          </p:cNvSpPr>
          <p:nvPr>
            <p:ph type="body" sz="quarter" idx="25" hasCustomPrompt="1"/>
          </p:nvPr>
        </p:nvSpPr>
        <p:spPr>
          <a:xfrm>
            <a:off x="18628614" y="1042187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52" name="Picture Placeholder 3">
            <a:extLst>
              <a:ext uri="{FF2B5EF4-FFF2-40B4-BE49-F238E27FC236}">
                <a16:creationId xmlns:a16="http://schemas.microsoft.com/office/drawing/2014/main" id="{8F84A290-DDF0-6219-B75E-8B1BA6DBCFE5}"/>
              </a:ext>
            </a:extLst>
          </p:cNvPr>
          <p:cNvSpPr>
            <a:spLocks noGrp="1" noChangeAspect="1"/>
          </p:cNvSpPr>
          <p:nvPr>
            <p:ph type="pic" sz="quarter" idx="26" hasCustomPrompt="1"/>
          </p:nvPr>
        </p:nvSpPr>
        <p:spPr>
          <a:xfrm>
            <a:off x="18628614"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53" name="Text Placeholder 2">
            <a:extLst>
              <a:ext uri="{FF2B5EF4-FFF2-40B4-BE49-F238E27FC236}">
                <a16:creationId xmlns:a16="http://schemas.microsoft.com/office/drawing/2014/main" id="{B69FC495-0430-3D0C-59DE-D6F4EE0EAA53}"/>
              </a:ext>
            </a:extLst>
          </p:cNvPr>
          <p:cNvSpPr>
            <a:spLocks noGrp="1"/>
          </p:cNvSpPr>
          <p:nvPr>
            <p:ph type="body" sz="quarter" idx="23" hasCustomPrompt="1"/>
          </p:nvPr>
        </p:nvSpPr>
        <p:spPr>
          <a:xfrm>
            <a:off x="10227564" y="1100664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54" name="Image Text Placeholder 2">
            <a:extLst>
              <a:ext uri="{FF2B5EF4-FFF2-40B4-BE49-F238E27FC236}">
                <a16:creationId xmlns:a16="http://schemas.microsoft.com/office/drawing/2014/main" id="{791C9960-C7F1-E726-F408-403D6E40CE0B}"/>
              </a:ext>
            </a:extLst>
          </p:cNvPr>
          <p:cNvSpPr>
            <a:spLocks noGrp="1"/>
          </p:cNvSpPr>
          <p:nvPr>
            <p:ph type="body" sz="quarter" idx="21" hasCustomPrompt="1"/>
          </p:nvPr>
        </p:nvSpPr>
        <p:spPr>
          <a:xfrm>
            <a:off x="10227564" y="1042187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55" name="Picture Placeholder 2">
            <a:extLst>
              <a:ext uri="{FF2B5EF4-FFF2-40B4-BE49-F238E27FC236}">
                <a16:creationId xmlns:a16="http://schemas.microsoft.com/office/drawing/2014/main" id="{35CDD6D4-6277-B1AF-D61C-75D143FBDA57}"/>
              </a:ext>
            </a:extLst>
          </p:cNvPr>
          <p:cNvSpPr>
            <a:spLocks noGrp="1" noChangeAspect="1"/>
          </p:cNvSpPr>
          <p:nvPr>
            <p:ph type="pic" sz="quarter" idx="19" hasCustomPrompt="1"/>
          </p:nvPr>
        </p:nvSpPr>
        <p:spPr>
          <a:xfrm>
            <a:off x="10227564"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56" name="Text Placeholder 1">
            <a:extLst>
              <a:ext uri="{FF2B5EF4-FFF2-40B4-BE49-F238E27FC236}">
                <a16:creationId xmlns:a16="http://schemas.microsoft.com/office/drawing/2014/main" id="{D44E43D3-B1CD-39A5-E338-18D260DCC117}"/>
              </a:ext>
            </a:extLst>
          </p:cNvPr>
          <p:cNvSpPr>
            <a:spLocks noGrp="1"/>
          </p:cNvSpPr>
          <p:nvPr>
            <p:ph type="body" sz="quarter" idx="22" hasCustomPrompt="1"/>
          </p:nvPr>
        </p:nvSpPr>
        <p:spPr>
          <a:xfrm>
            <a:off x="1828800" y="1100664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57" name="Image Text Placeholder 1">
            <a:extLst>
              <a:ext uri="{FF2B5EF4-FFF2-40B4-BE49-F238E27FC236}">
                <a16:creationId xmlns:a16="http://schemas.microsoft.com/office/drawing/2014/main" id="{71CA0230-CD85-4F9C-010C-A8983A0DB6E8}"/>
              </a:ext>
            </a:extLst>
          </p:cNvPr>
          <p:cNvSpPr>
            <a:spLocks noGrp="1"/>
          </p:cNvSpPr>
          <p:nvPr>
            <p:ph type="body" sz="quarter" idx="20" hasCustomPrompt="1"/>
          </p:nvPr>
        </p:nvSpPr>
        <p:spPr>
          <a:xfrm>
            <a:off x="1828801" y="1042187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58" name="Picture Placeholder 1">
            <a:extLst>
              <a:ext uri="{FF2B5EF4-FFF2-40B4-BE49-F238E27FC236}">
                <a16:creationId xmlns:a16="http://schemas.microsoft.com/office/drawing/2014/main" id="{11C4DBB0-CD52-26B8-DE91-18836ED19207}"/>
              </a:ext>
            </a:extLst>
          </p:cNvPr>
          <p:cNvSpPr>
            <a:spLocks noGrp="1" noChangeAspect="1"/>
          </p:cNvSpPr>
          <p:nvPr>
            <p:ph type="pic" sz="quarter" idx="18" hasCustomPrompt="1"/>
          </p:nvPr>
        </p:nvSpPr>
        <p:spPr>
          <a:xfrm>
            <a:off x="1828802"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90476289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r>
              <a:rPr lang="en-US"/>
              <a:t>Source information in NVIDIA Sans, medium gray; 20 pt</a:t>
            </a:r>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lnSpc>
                  <a:spcPct val="90000"/>
                </a:lnSpc>
              </a:pPr>
              <a:t>‹#›</a:t>
            </a:fld>
            <a:endParaRPr lang="en-US"/>
          </a:p>
        </p:txBody>
      </p:sp>
      <p:sp>
        <p:nvSpPr>
          <p:cNvPr id="13" name="Text Placeholder 8">
            <a:extLst>
              <a:ext uri="{FF2B5EF4-FFF2-40B4-BE49-F238E27FC236}">
                <a16:creationId xmlns:a16="http://schemas.microsoft.com/office/drawing/2014/main" id="{CD195BFC-0745-EC8A-C575-A19B731CE8CE}"/>
              </a:ext>
            </a:extLst>
          </p:cNvPr>
          <p:cNvSpPr>
            <a:spLocks noGrp="1"/>
          </p:cNvSpPr>
          <p:nvPr>
            <p:ph type="body" sz="quarter" idx="40" hasCustomPrompt="1"/>
          </p:nvPr>
        </p:nvSpPr>
        <p:spPr>
          <a:xfrm>
            <a:off x="27029664"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7" name="Image Text Placeholder 8">
            <a:extLst>
              <a:ext uri="{FF2B5EF4-FFF2-40B4-BE49-F238E27FC236}">
                <a16:creationId xmlns:a16="http://schemas.microsoft.com/office/drawing/2014/main" id="{73069B9F-9FCE-AB48-97BE-5B58BAF35230}"/>
              </a:ext>
            </a:extLst>
          </p:cNvPr>
          <p:cNvSpPr>
            <a:spLocks noGrp="1"/>
          </p:cNvSpPr>
          <p:nvPr>
            <p:ph type="body" sz="quarter" idx="41" hasCustomPrompt="1"/>
          </p:nvPr>
        </p:nvSpPr>
        <p:spPr>
          <a:xfrm>
            <a:off x="27029664"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8" name="Picture Placeholder 8">
            <a:extLst>
              <a:ext uri="{FF2B5EF4-FFF2-40B4-BE49-F238E27FC236}">
                <a16:creationId xmlns:a16="http://schemas.microsoft.com/office/drawing/2014/main" id="{18649C41-7D44-DB84-E552-C304A1C07088}"/>
              </a:ext>
            </a:extLst>
          </p:cNvPr>
          <p:cNvSpPr>
            <a:spLocks noGrp="1" noChangeAspect="1"/>
          </p:cNvSpPr>
          <p:nvPr>
            <p:ph type="pic" sz="quarter" idx="42" hasCustomPrompt="1"/>
          </p:nvPr>
        </p:nvSpPr>
        <p:spPr>
          <a:xfrm>
            <a:off x="27029664"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26" name="Text Placeholder 7">
            <a:extLst>
              <a:ext uri="{FF2B5EF4-FFF2-40B4-BE49-F238E27FC236}">
                <a16:creationId xmlns:a16="http://schemas.microsoft.com/office/drawing/2014/main" id="{BD64A03A-4955-FEA8-13F2-7FF14F9CE4D0}"/>
              </a:ext>
            </a:extLst>
          </p:cNvPr>
          <p:cNvSpPr>
            <a:spLocks noGrp="1"/>
          </p:cNvSpPr>
          <p:nvPr>
            <p:ph type="body" sz="quarter" idx="37" hasCustomPrompt="1"/>
          </p:nvPr>
        </p:nvSpPr>
        <p:spPr>
          <a:xfrm>
            <a:off x="18628614"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7" name="Image Text Placeholder 7">
            <a:extLst>
              <a:ext uri="{FF2B5EF4-FFF2-40B4-BE49-F238E27FC236}">
                <a16:creationId xmlns:a16="http://schemas.microsoft.com/office/drawing/2014/main" id="{D3C7C970-0558-EEFC-E538-9B07E5D1FFFD}"/>
              </a:ext>
            </a:extLst>
          </p:cNvPr>
          <p:cNvSpPr>
            <a:spLocks noGrp="1"/>
          </p:cNvSpPr>
          <p:nvPr>
            <p:ph type="body" sz="quarter" idx="38" hasCustomPrompt="1"/>
          </p:nvPr>
        </p:nvSpPr>
        <p:spPr>
          <a:xfrm>
            <a:off x="18628614"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8" name="Picture Placeholder 7">
            <a:extLst>
              <a:ext uri="{FF2B5EF4-FFF2-40B4-BE49-F238E27FC236}">
                <a16:creationId xmlns:a16="http://schemas.microsoft.com/office/drawing/2014/main" id="{A21BD026-3777-9B44-A3E1-15707D14D22D}"/>
              </a:ext>
            </a:extLst>
          </p:cNvPr>
          <p:cNvSpPr>
            <a:spLocks noGrp="1" noChangeAspect="1"/>
          </p:cNvSpPr>
          <p:nvPr>
            <p:ph type="pic" sz="quarter" idx="39" hasCustomPrompt="1"/>
          </p:nvPr>
        </p:nvSpPr>
        <p:spPr>
          <a:xfrm>
            <a:off x="18628614"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7" name="Text Placeholder 6">
            <a:extLst>
              <a:ext uri="{FF2B5EF4-FFF2-40B4-BE49-F238E27FC236}">
                <a16:creationId xmlns:a16="http://schemas.microsoft.com/office/drawing/2014/main" id="{055AF18E-4591-536C-463D-71B46181427B}"/>
              </a:ext>
            </a:extLst>
          </p:cNvPr>
          <p:cNvSpPr>
            <a:spLocks noGrp="1"/>
          </p:cNvSpPr>
          <p:nvPr>
            <p:ph type="body" sz="quarter" idx="33" hasCustomPrompt="1"/>
          </p:nvPr>
        </p:nvSpPr>
        <p:spPr>
          <a:xfrm>
            <a:off x="10227564"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8" name="Image Text Placeholder 6">
            <a:extLst>
              <a:ext uri="{FF2B5EF4-FFF2-40B4-BE49-F238E27FC236}">
                <a16:creationId xmlns:a16="http://schemas.microsoft.com/office/drawing/2014/main" id="{5B4EEC16-EEF7-D918-1F07-A02CCE2EB518}"/>
              </a:ext>
            </a:extLst>
          </p:cNvPr>
          <p:cNvSpPr>
            <a:spLocks noGrp="1"/>
          </p:cNvSpPr>
          <p:nvPr>
            <p:ph type="body" sz="quarter" idx="34" hasCustomPrompt="1"/>
          </p:nvPr>
        </p:nvSpPr>
        <p:spPr>
          <a:xfrm>
            <a:off x="10227564"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2" name="Picture Placeholder 6">
            <a:extLst>
              <a:ext uri="{FF2B5EF4-FFF2-40B4-BE49-F238E27FC236}">
                <a16:creationId xmlns:a16="http://schemas.microsoft.com/office/drawing/2014/main" id="{11E3A3CB-F1CB-1281-1991-E73E0098FA10}"/>
              </a:ext>
            </a:extLst>
          </p:cNvPr>
          <p:cNvSpPr>
            <a:spLocks noGrp="1" noChangeAspect="1"/>
          </p:cNvSpPr>
          <p:nvPr>
            <p:ph type="pic" sz="quarter" idx="35" hasCustomPrompt="1"/>
          </p:nvPr>
        </p:nvSpPr>
        <p:spPr>
          <a:xfrm>
            <a:off x="10227564"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22" name="Text Placeholder 5">
            <a:extLst>
              <a:ext uri="{FF2B5EF4-FFF2-40B4-BE49-F238E27FC236}">
                <a16:creationId xmlns:a16="http://schemas.microsoft.com/office/drawing/2014/main" id="{73A08B95-2725-F270-749E-A2655A3A8908}"/>
              </a:ext>
            </a:extLst>
          </p:cNvPr>
          <p:cNvSpPr>
            <a:spLocks noGrp="1"/>
          </p:cNvSpPr>
          <p:nvPr>
            <p:ph type="body" sz="quarter" idx="30" hasCustomPrompt="1"/>
          </p:nvPr>
        </p:nvSpPr>
        <p:spPr>
          <a:xfrm>
            <a:off x="1828802" y="17349107"/>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3" name="Image Text Placeholder 5">
            <a:extLst>
              <a:ext uri="{FF2B5EF4-FFF2-40B4-BE49-F238E27FC236}">
                <a16:creationId xmlns:a16="http://schemas.microsoft.com/office/drawing/2014/main" id="{338B4F46-E578-CF65-5544-DAF22E5F3705}"/>
              </a:ext>
            </a:extLst>
          </p:cNvPr>
          <p:cNvSpPr>
            <a:spLocks noGrp="1"/>
          </p:cNvSpPr>
          <p:nvPr>
            <p:ph type="body" sz="quarter" idx="31" hasCustomPrompt="1"/>
          </p:nvPr>
        </p:nvSpPr>
        <p:spPr>
          <a:xfrm>
            <a:off x="1828802" y="16764332"/>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4" name="Picture Placeholder 5">
            <a:extLst>
              <a:ext uri="{FF2B5EF4-FFF2-40B4-BE49-F238E27FC236}">
                <a16:creationId xmlns:a16="http://schemas.microsoft.com/office/drawing/2014/main" id="{74F811AD-2D90-F3CA-D455-EEAEA8BE8C02}"/>
              </a:ext>
            </a:extLst>
          </p:cNvPr>
          <p:cNvSpPr>
            <a:spLocks noGrp="1" noChangeAspect="1"/>
          </p:cNvSpPr>
          <p:nvPr>
            <p:ph type="pic" sz="quarter" idx="32" hasCustomPrompt="1"/>
          </p:nvPr>
        </p:nvSpPr>
        <p:spPr>
          <a:xfrm>
            <a:off x="1828802" y="12148898"/>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4" name="Text Placeholder 4">
            <a:extLst>
              <a:ext uri="{FF2B5EF4-FFF2-40B4-BE49-F238E27FC236}">
                <a16:creationId xmlns:a16="http://schemas.microsoft.com/office/drawing/2014/main" id="{9B5F2A2E-F854-84DE-F335-F778F9F95068}"/>
              </a:ext>
            </a:extLst>
          </p:cNvPr>
          <p:cNvSpPr>
            <a:spLocks noGrp="1"/>
          </p:cNvSpPr>
          <p:nvPr>
            <p:ph type="body" sz="quarter" idx="27" hasCustomPrompt="1"/>
          </p:nvPr>
        </p:nvSpPr>
        <p:spPr>
          <a:xfrm>
            <a:off x="27029664" y="1100664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5" name="Image Text Placeholder 4">
            <a:extLst>
              <a:ext uri="{FF2B5EF4-FFF2-40B4-BE49-F238E27FC236}">
                <a16:creationId xmlns:a16="http://schemas.microsoft.com/office/drawing/2014/main" id="{89026A23-874F-1822-C62A-E3DD13F86F4B}"/>
              </a:ext>
            </a:extLst>
          </p:cNvPr>
          <p:cNvSpPr>
            <a:spLocks noGrp="1"/>
          </p:cNvSpPr>
          <p:nvPr>
            <p:ph type="body" sz="quarter" idx="28" hasCustomPrompt="1"/>
          </p:nvPr>
        </p:nvSpPr>
        <p:spPr>
          <a:xfrm>
            <a:off x="27029664" y="1042187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6" name="Picture Placeholder 4">
            <a:extLst>
              <a:ext uri="{FF2B5EF4-FFF2-40B4-BE49-F238E27FC236}">
                <a16:creationId xmlns:a16="http://schemas.microsoft.com/office/drawing/2014/main" id="{8886A8D4-36F6-D22F-C7D0-7CBF33FDE715}"/>
              </a:ext>
            </a:extLst>
          </p:cNvPr>
          <p:cNvSpPr>
            <a:spLocks noGrp="1" noChangeAspect="1"/>
          </p:cNvSpPr>
          <p:nvPr>
            <p:ph type="pic" sz="quarter" idx="29" hasCustomPrompt="1"/>
          </p:nvPr>
        </p:nvSpPr>
        <p:spPr>
          <a:xfrm>
            <a:off x="27029664"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 name="Text Placeholder 3">
            <a:extLst>
              <a:ext uri="{FF2B5EF4-FFF2-40B4-BE49-F238E27FC236}">
                <a16:creationId xmlns:a16="http://schemas.microsoft.com/office/drawing/2014/main" id="{50B1A8CD-DB45-5C72-5150-B5884E0C4788}"/>
              </a:ext>
            </a:extLst>
          </p:cNvPr>
          <p:cNvSpPr>
            <a:spLocks noGrp="1"/>
          </p:cNvSpPr>
          <p:nvPr>
            <p:ph type="body" sz="quarter" idx="24" hasCustomPrompt="1"/>
          </p:nvPr>
        </p:nvSpPr>
        <p:spPr>
          <a:xfrm>
            <a:off x="18628614" y="1100664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0" name="Image Text Placeholder 3">
            <a:extLst>
              <a:ext uri="{FF2B5EF4-FFF2-40B4-BE49-F238E27FC236}">
                <a16:creationId xmlns:a16="http://schemas.microsoft.com/office/drawing/2014/main" id="{92106EDE-0FC4-9099-C4B7-1B8179006827}"/>
              </a:ext>
            </a:extLst>
          </p:cNvPr>
          <p:cNvSpPr>
            <a:spLocks noGrp="1"/>
          </p:cNvSpPr>
          <p:nvPr>
            <p:ph type="body" sz="quarter" idx="25" hasCustomPrompt="1"/>
          </p:nvPr>
        </p:nvSpPr>
        <p:spPr>
          <a:xfrm>
            <a:off x="18628614" y="1042187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1" name="Picture Placeholder 3">
            <a:extLst>
              <a:ext uri="{FF2B5EF4-FFF2-40B4-BE49-F238E27FC236}">
                <a16:creationId xmlns:a16="http://schemas.microsoft.com/office/drawing/2014/main" id="{8206E261-EC1B-C37F-7D0D-F77A27BF96BB}"/>
              </a:ext>
            </a:extLst>
          </p:cNvPr>
          <p:cNvSpPr>
            <a:spLocks noGrp="1" noChangeAspect="1"/>
          </p:cNvSpPr>
          <p:nvPr>
            <p:ph type="pic" sz="quarter" idx="26" hasCustomPrompt="1"/>
          </p:nvPr>
        </p:nvSpPr>
        <p:spPr>
          <a:xfrm>
            <a:off x="18628614"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10227564" y="1100664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10227564" y="1042187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10227564"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1828800" y="11006648"/>
            <a:ext cx="7717536"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1828801" y="10421873"/>
            <a:ext cx="7717536"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1828802" y="5806440"/>
            <a:ext cx="771753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324261410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r>
              <a:rPr lang="en-US"/>
              <a:t>Source information in NVIDIA Sans, medium gray; 20 pt</a:t>
            </a:r>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lnSpc>
                  <a:spcPct val="90000"/>
                </a:lnSpc>
              </a:pPr>
              <a:t>‹#›</a:t>
            </a:fld>
            <a:endParaRPr lang="en-US"/>
          </a:p>
        </p:txBody>
      </p:sp>
      <p:sp>
        <p:nvSpPr>
          <p:cNvPr id="80" name="Text Placeholder 9">
            <a:extLst>
              <a:ext uri="{FF2B5EF4-FFF2-40B4-BE49-F238E27FC236}">
                <a16:creationId xmlns:a16="http://schemas.microsoft.com/office/drawing/2014/main" id="{8B3E27AE-4C6F-62EC-C786-480924FA5B46}"/>
              </a:ext>
            </a:extLst>
          </p:cNvPr>
          <p:cNvSpPr>
            <a:spLocks noGrp="1"/>
          </p:cNvSpPr>
          <p:nvPr>
            <p:ph type="body" sz="quarter" idx="43" hasCustomPrompt="1"/>
          </p:nvPr>
        </p:nvSpPr>
        <p:spPr>
          <a:xfrm>
            <a:off x="25351741"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81" name="Image Text Placeholder 9">
            <a:extLst>
              <a:ext uri="{FF2B5EF4-FFF2-40B4-BE49-F238E27FC236}">
                <a16:creationId xmlns:a16="http://schemas.microsoft.com/office/drawing/2014/main" id="{B3AFE9F9-E3D6-AFE5-AA90-713D90446246}"/>
              </a:ext>
            </a:extLst>
          </p:cNvPr>
          <p:cNvSpPr>
            <a:spLocks noGrp="1"/>
          </p:cNvSpPr>
          <p:nvPr>
            <p:ph type="body" sz="quarter" idx="44" hasCustomPrompt="1"/>
          </p:nvPr>
        </p:nvSpPr>
        <p:spPr>
          <a:xfrm>
            <a:off x="25351741"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82" name="Picture Placeholder 9">
            <a:extLst>
              <a:ext uri="{FF2B5EF4-FFF2-40B4-BE49-F238E27FC236}">
                <a16:creationId xmlns:a16="http://schemas.microsoft.com/office/drawing/2014/main" id="{0C9E0DA8-5412-2FA6-698C-3F8330347779}"/>
              </a:ext>
            </a:extLst>
          </p:cNvPr>
          <p:cNvSpPr>
            <a:spLocks noGrp="1" noChangeAspect="1"/>
          </p:cNvSpPr>
          <p:nvPr>
            <p:ph type="pic" sz="quarter" idx="45" hasCustomPrompt="1"/>
          </p:nvPr>
        </p:nvSpPr>
        <p:spPr>
          <a:xfrm>
            <a:off x="25351741"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83" name="Text Placeholder 8">
            <a:extLst>
              <a:ext uri="{FF2B5EF4-FFF2-40B4-BE49-F238E27FC236}">
                <a16:creationId xmlns:a16="http://schemas.microsoft.com/office/drawing/2014/main" id="{4EA2773D-33E7-840E-E237-49E1CFECCADF}"/>
              </a:ext>
            </a:extLst>
          </p:cNvPr>
          <p:cNvSpPr>
            <a:spLocks noGrp="1"/>
          </p:cNvSpPr>
          <p:nvPr>
            <p:ph type="body" sz="quarter" idx="40" hasCustomPrompt="1"/>
          </p:nvPr>
        </p:nvSpPr>
        <p:spPr>
          <a:xfrm>
            <a:off x="18630900"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84" name="Image Text Placeholder 8">
            <a:extLst>
              <a:ext uri="{FF2B5EF4-FFF2-40B4-BE49-F238E27FC236}">
                <a16:creationId xmlns:a16="http://schemas.microsoft.com/office/drawing/2014/main" id="{93C4BCFC-FE58-029F-19EF-666D6E7FA28D}"/>
              </a:ext>
            </a:extLst>
          </p:cNvPr>
          <p:cNvSpPr>
            <a:spLocks noGrp="1"/>
          </p:cNvSpPr>
          <p:nvPr>
            <p:ph type="body" sz="quarter" idx="41" hasCustomPrompt="1"/>
          </p:nvPr>
        </p:nvSpPr>
        <p:spPr>
          <a:xfrm>
            <a:off x="18630900"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85" name="Picture Placeholder 8">
            <a:extLst>
              <a:ext uri="{FF2B5EF4-FFF2-40B4-BE49-F238E27FC236}">
                <a16:creationId xmlns:a16="http://schemas.microsoft.com/office/drawing/2014/main" id="{766D41BA-0DEA-DEB3-5A5F-A8F26EADE7FC}"/>
              </a:ext>
            </a:extLst>
          </p:cNvPr>
          <p:cNvSpPr>
            <a:spLocks noGrp="1" noChangeAspect="1"/>
          </p:cNvSpPr>
          <p:nvPr>
            <p:ph type="pic" sz="quarter" idx="42" hasCustomPrompt="1"/>
          </p:nvPr>
        </p:nvSpPr>
        <p:spPr>
          <a:xfrm>
            <a:off x="18630900"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86" name="Text Placeholder 7">
            <a:extLst>
              <a:ext uri="{FF2B5EF4-FFF2-40B4-BE49-F238E27FC236}">
                <a16:creationId xmlns:a16="http://schemas.microsoft.com/office/drawing/2014/main" id="{64F79046-F043-EA99-8ACF-843B7EBF10A8}"/>
              </a:ext>
            </a:extLst>
          </p:cNvPr>
          <p:cNvSpPr>
            <a:spLocks noGrp="1"/>
          </p:cNvSpPr>
          <p:nvPr>
            <p:ph type="body" sz="quarter" idx="37" hasCustomPrompt="1"/>
          </p:nvPr>
        </p:nvSpPr>
        <p:spPr>
          <a:xfrm>
            <a:off x="11910061"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87" name="Image Text Placeholder 7">
            <a:extLst>
              <a:ext uri="{FF2B5EF4-FFF2-40B4-BE49-F238E27FC236}">
                <a16:creationId xmlns:a16="http://schemas.microsoft.com/office/drawing/2014/main" id="{41560AFB-6597-6CD0-5197-3342303C4543}"/>
              </a:ext>
            </a:extLst>
          </p:cNvPr>
          <p:cNvSpPr>
            <a:spLocks noGrp="1"/>
          </p:cNvSpPr>
          <p:nvPr>
            <p:ph type="body" sz="quarter" idx="38" hasCustomPrompt="1"/>
          </p:nvPr>
        </p:nvSpPr>
        <p:spPr>
          <a:xfrm>
            <a:off x="11910061"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88" name="Picture Placeholder 7">
            <a:extLst>
              <a:ext uri="{FF2B5EF4-FFF2-40B4-BE49-F238E27FC236}">
                <a16:creationId xmlns:a16="http://schemas.microsoft.com/office/drawing/2014/main" id="{21FE98B0-681A-8160-51EE-70935ACD461A}"/>
              </a:ext>
            </a:extLst>
          </p:cNvPr>
          <p:cNvSpPr>
            <a:spLocks noGrp="1" noChangeAspect="1"/>
          </p:cNvSpPr>
          <p:nvPr>
            <p:ph type="pic" sz="quarter" idx="39" hasCustomPrompt="1"/>
          </p:nvPr>
        </p:nvSpPr>
        <p:spPr>
          <a:xfrm>
            <a:off x="11910061"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89" name="Text Placeholder 6">
            <a:extLst>
              <a:ext uri="{FF2B5EF4-FFF2-40B4-BE49-F238E27FC236}">
                <a16:creationId xmlns:a16="http://schemas.microsoft.com/office/drawing/2014/main" id="{890A9AD7-7374-EF97-5745-633689C43F40}"/>
              </a:ext>
            </a:extLst>
          </p:cNvPr>
          <p:cNvSpPr>
            <a:spLocks noGrp="1"/>
          </p:cNvSpPr>
          <p:nvPr>
            <p:ph type="body" sz="quarter" idx="33" hasCustomPrompt="1"/>
          </p:nvPr>
        </p:nvSpPr>
        <p:spPr>
          <a:xfrm>
            <a:off x="5189220"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90" name="Image Text Placeholder 6">
            <a:extLst>
              <a:ext uri="{FF2B5EF4-FFF2-40B4-BE49-F238E27FC236}">
                <a16:creationId xmlns:a16="http://schemas.microsoft.com/office/drawing/2014/main" id="{45401A17-EE1F-C655-017D-3E3D107B7E02}"/>
              </a:ext>
            </a:extLst>
          </p:cNvPr>
          <p:cNvSpPr>
            <a:spLocks noGrp="1"/>
          </p:cNvSpPr>
          <p:nvPr>
            <p:ph type="body" sz="quarter" idx="34" hasCustomPrompt="1"/>
          </p:nvPr>
        </p:nvSpPr>
        <p:spPr>
          <a:xfrm>
            <a:off x="5189220"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91" name="Picture Placeholder 6">
            <a:extLst>
              <a:ext uri="{FF2B5EF4-FFF2-40B4-BE49-F238E27FC236}">
                <a16:creationId xmlns:a16="http://schemas.microsoft.com/office/drawing/2014/main" id="{CFB8E08D-8737-B01C-7128-6C7692BCCF04}"/>
              </a:ext>
            </a:extLst>
          </p:cNvPr>
          <p:cNvSpPr>
            <a:spLocks noGrp="1" noChangeAspect="1"/>
          </p:cNvSpPr>
          <p:nvPr>
            <p:ph type="pic" sz="quarter" idx="35" hasCustomPrompt="1"/>
          </p:nvPr>
        </p:nvSpPr>
        <p:spPr>
          <a:xfrm>
            <a:off x="5189220"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2" name="Text Placeholder 5">
            <a:extLst>
              <a:ext uri="{FF2B5EF4-FFF2-40B4-BE49-F238E27FC236}">
                <a16:creationId xmlns:a16="http://schemas.microsoft.com/office/drawing/2014/main" id="{64CDA5E8-1B9B-7D77-3E69-8877DEB1BC8B}"/>
              </a:ext>
            </a:extLst>
          </p:cNvPr>
          <p:cNvSpPr>
            <a:spLocks noGrp="1"/>
          </p:cNvSpPr>
          <p:nvPr>
            <p:ph type="body" sz="quarter" idx="30" hasCustomPrompt="1"/>
          </p:nvPr>
        </p:nvSpPr>
        <p:spPr>
          <a:xfrm>
            <a:off x="28712161"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93" name="Image Text Placeholder 5">
            <a:extLst>
              <a:ext uri="{FF2B5EF4-FFF2-40B4-BE49-F238E27FC236}">
                <a16:creationId xmlns:a16="http://schemas.microsoft.com/office/drawing/2014/main" id="{FF68AD7E-707F-67FB-C20D-45907951DFB8}"/>
              </a:ext>
            </a:extLst>
          </p:cNvPr>
          <p:cNvSpPr>
            <a:spLocks noGrp="1"/>
          </p:cNvSpPr>
          <p:nvPr>
            <p:ph type="body" sz="quarter" idx="31" hasCustomPrompt="1"/>
          </p:nvPr>
        </p:nvSpPr>
        <p:spPr>
          <a:xfrm>
            <a:off x="28712161"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94" name="Picture Placeholder 5">
            <a:extLst>
              <a:ext uri="{FF2B5EF4-FFF2-40B4-BE49-F238E27FC236}">
                <a16:creationId xmlns:a16="http://schemas.microsoft.com/office/drawing/2014/main" id="{2E84F782-7FB5-EBFE-FA69-8AEE803DF8D4}"/>
              </a:ext>
            </a:extLst>
          </p:cNvPr>
          <p:cNvSpPr>
            <a:spLocks noGrp="1" noChangeAspect="1"/>
          </p:cNvSpPr>
          <p:nvPr>
            <p:ph type="pic" sz="quarter" idx="32" hasCustomPrompt="1"/>
          </p:nvPr>
        </p:nvSpPr>
        <p:spPr>
          <a:xfrm>
            <a:off x="28712161"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5" name="Text Placeholder 4">
            <a:extLst>
              <a:ext uri="{FF2B5EF4-FFF2-40B4-BE49-F238E27FC236}">
                <a16:creationId xmlns:a16="http://schemas.microsoft.com/office/drawing/2014/main" id="{1F9895EC-62D4-FA9D-27A9-4ACA56E3B847}"/>
              </a:ext>
            </a:extLst>
          </p:cNvPr>
          <p:cNvSpPr>
            <a:spLocks noGrp="1"/>
          </p:cNvSpPr>
          <p:nvPr>
            <p:ph type="body" sz="quarter" idx="27" hasCustomPrompt="1"/>
          </p:nvPr>
        </p:nvSpPr>
        <p:spPr>
          <a:xfrm>
            <a:off x="21991321"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96" name="Image Text Placeholder 4">
            <a:extLst>
              <a:ext uri="{FF2B5EF4-FFF2-40B4-BE49-F238E27FC236}">
                <a16:creationId xmlns:a16="http://schemas.microsoft.com/office/drawing/2014/main" id="{592A15FA-7F1A-A69C-D8ED-999BB4CD37A9}"/>
              </a:ext>
            </a:extLst>
          </p:cNvPr>
          <p:cNvSpPr>
            <a:spLocks noGrp="1"/>
          </p:cNvSpPr>
          <p:nvPr>
            <p:ph type="body" sz="quarter" idx="28" hasCustomPrompt="1"/>
          </p:nvPr>
        </p:nvSpPr>
        <p:spPr>
          <a:xfrm>
            <a:off x="21991321"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97" name="Picture Placeholder 4">
            <a:extLst>
              <a:ext uri="{FF2B5EF4-FFF2-40B4-BE49-F238E27FC236}">
                <a16:creationId xmlns:a16="http://schemas.microsoft.com/office/drawing/2014/main" id="{9A06F0E7-CE43-C5F6-CE8D-8F958A0DB6E3}"/>
              </a:ext>
            </a:extLst>
          </p:cNvPr>
          <p:cNvSpPr>
            <a:spLocks noGrp="1" noChangeAspect="1"/>
          </p:cNvSpPr>
          <p:nvPr>
            <p:ph type="pic" sz="quarter" idx="29" hasCustomPrompt="1"/>
          </p:nvPr>
        </p:nvSpPr>
        <p:spPr>
          <a:xfrm>
            <a:off x="21991321"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8" name="Text Placeholder 3">
            <a:extLst>
              <a:ext uri="{FF2B5EF4-FFF2-40B4-BE49-F238E27FC236}">
                <a16:creationId xmlns:a16="http://schemas.microsoft.com/office/drawing/2014/main" id="{68153D7F-1A84-55F4-0656-3775B7F8C3E9}"/>
              </a:ext>
            </a:extLst>
          </p:cNvPr>
          <p:cNvSpPr>
            <a:spLocks noGrp="1"/>
          </p:cNvSpPr>
          <p:nvPr>
            <p:ph type="body" sz="quarter" idx="24" hasCustomPrompt="1"/>
          </p:nvPr>
        </p:nvSpPr>
        <p:spPr>
          <a:xfrm>
            <a:off x="15270480"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99" name="Image Text Placeholder 3">
            <a:extLst>
              <a:ext uri="{FF2B5EF4-FFF2-40B4-BE49-F238E27FC236}">
                <a16:creationId xmlns:a16="http://schemas.microsoft.com/office/drawing/2014/main" id="{6FF34B9F-903C-4723-219B-12D162A14E35}"/>
              </a:ext>
            </a:extLst>
          </p:cNvPr>
          <p:cNvSpPr>
            <a:spLocks noGrp="1"/>
          </p:cNvSpPr>
          <p:nvPr>
            <p:ph type="body" sz="quarter" idx="25" hasCustomPrompt="1"/>
          </p:nvPr>
        </p:nvSpPr>
        <p:spPr>
          <a:xfrm>
            <a:off x="15270480"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00" name="Picture Placeholder 3">
            <a:extLst>
              <a:ext uri="{FF2B5EF4-FFF2-40B4-BE49-F238E27FC236}">
                <a16:creationId xmlns:a16="http://schemas.microsoft.com/office/drawing/2014/main" id="{C19C75A4-E23F-28D7-8D58-546E4D1460B4}"/>
              </a:ext>
            </a:extLst>
          </p:cNvPr>
          <p:cNvSpPr>
            <a:spLocks noGrp="1" noChangeAspect="1"/>
          </p:cNvSpPr>
          <p:nvPr>
            <p:ph type="pic" sz="quarter" idx="26" hasCustomPrompt="1"/>
          </p:nvPr>
        </p:nvSpPr>
        <p:spPr>
          <a:xfrm>
            <a:off x="15270480"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01" name="Text Placeholder 2">
            <a:extLst>
              <a:ext uri="{FF2B5EF4-FFF2-40B4-BE49-F238E27FC236}">
                <a16:creationId xmlns:a16="http://schemas.microsoft.com/office/drawing/2014/main" id="{E7468696-D62A-F126-682C-FC0B13991D39}"/>
              </a:ext>
            </a:extLst>
          </p:cNvPr>
          <p:cNvSpPr>
            <a:spLocks noGrp="1"/>
          </p:cNvSpPr>
          <p:nvPr>
            <p:ph type="body" sz="quarter" idx="23" hasCustomPrompt="1"/>
          </p:nvPr>
        </p:nvSpPr>
        <p:spPr>
          <a:xfrm>
            <a:off x="8549640"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02" name="Image Text Placeholder 2">
            <a:extLst>
              <a:ext uri="{FF2B5EF4-FFF2-40B4-BE49-F238E27FC236}">
                <a16:creationId xmlns:a16="http://schemas.microsoft.com/office/drawing/2014/main" id="{A891F4D4-D0A6-D2BE-F0C9-06DEBFDCDD40}"/>
              </a:ext>
            </a:extLst>
          </p:cNvPr>
          <p:cNvSpPr>
            <a:spLocks noGrp="1"/>
          </p:cNvSpPr>
          <p:nvPr>
            <p:ph type="body" sz="quarter" idx="21" hasCustomPrompt="1"/>
          </p:nvPr>
        </p:nvSpPr>
        <p:spPr>
          <a:xfrm>
            <a:off x="8549640"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03" name="Picture Placeholder 2">
            <a:extLst>
              <a:ext uri="{FF2B5EF4-FFF2-40B4-BE49-F238E27FC236}">
                <a16:creationId xmlns:a16="http://schemas.microsoft.com/office/drawing/2014/main" id="{FE60AA2E-9FAB-A1D4-58F2-6BB101460C10}"/>
              </a:ext>
            </a:extLst>
          </p:cNvPr>
          <p:cNvSpPr>
            <a:spLocks noGrp="1" noChangeAspect="1"/>
          </p:cNvSpPr>
          <p:nvPr>
            <p:ph type="pic" sz="quarter" idx="19" hasCustomPrompt="1"/>
          </p:nvPr>
        </p:nvSpPr>
        <p:spPr>
          <a:xfrm>
            <a:off x="8549640"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04" name="Text Placeholder 1">
            <a:extLst>
              <a:ext uri="{FF2B5EF4-FFF2-40B4-BE49-F238E27FC236}">
                <a16:creationId xmlns:a16="http://schemas.microsoft.com/office/drawing/2014/main" id="{2A6C42C5-ACB2-D01D-5B65-B05FE2F78D4D}"/>
              </a:ext>
            </a:extLst>
          </p:cNvPr>
          <p:cNvSpPr>
            <a:spLocks noGrp="1"/>
          </p:cNvSpPr>
          <p:nvPr>
            <p:ph type="body" sz="quarter" idx="22" hasCustomPrompt="1"/>
          </p:nvPr>
        </p:nvSpPr>
        <p:spPr>
          <a:xfrm>
            <a:off x="1828800"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05" name="Image Text Placeholder 1">
            <a:extLst>
              <a:ext uri="{FF2B5EF4-FFF2-40B4-BE49-F238E27FC236}">
                <a16:creationId xmlns:a16="http://schemas.microsoft.com/office/drawing/2014/main" id="{5E28F443-1C7C-3600-7437-ACD90DBF63A4}"/>
              </a:ext>
            </a:extLst>
          </p:cNvPr>
          <p:cNvSpPr>
            <a:spLocks noGrp="1"/>
          </p:cNvSpPr>
          <p:nvPr>
            <p:ph type="body" sz="quarter" idx="20" hasCustomPrompt="1"/>
          </p:nvPr>
        </p:nvSpPr>
        <p:spPr>
          <a:xfrm>
            <a:off x="1828800"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06" name="Picture Placeholder 1">
            <a:extLst>
              <a:ext uri="{FF2B5EF4-FFF2-40B4-BE49-F238E27FC236}">
                <a16:creationId xmlns:a16="http://schemas.microsoft.com/office/drawing/2014/main" id="{DEC1ECC9-7FE9-0EA4-E16A-58C38FF24EF1}"/>
              </a:ext>
            </a:extLst>
          </p:cNvPr>
          <p:cNvSpPr>
            <a:spLocks noGrp="1" noChangeAspect="1"/>
          </p:cNvSpPr>
          <p:nvPr>
            <p:ph type="pic" sz="quarter" idx="18" hasCustomPrompt="1"/>
          </p:nvPr>
        </p:nvSpPr>
        <p:spPr>
          <a:xfrm>
            <a:off x="1828800"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76475968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r>
              <a:rPr lang="en-US"/>
              <a:t>Source information in NVIDIA Sans, medium gray; 20 pt</a:t>
            </a:r>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lnSpc>
                  <a:spcPct val="90000"/>
                </a:lnSpc>
              </a:pPr>
              <a:t>‹#›</a:t>
            </a:fld>
            <a:endParaRPr lang="en-US"/>
          </a:p>
        </p:txBody>
      </p:sp>
      <p:sp>
        <p:nvSpPr>
          <p:cNvPr id="21" name="Text Placeholder 10">
            <a:extLst>
              <a:ext uri="{FF2B5EF4-FFF2-40B4-BE49-F238E27FC236}">
                <a16:creationId xmlns:a16="http://schemas.microsoft.com/office/drawing/2014/main" id="{7FC9B007-8521-565E-AB1A-B5A1B31AA99D}"/>
              </a:ext>
            </a:extLst>
          </p:cNvPr>
          <p:cNvSpPr>
            <a:spLocks noGrp="1"/>
          </p:cNvSpPr>
          <p:nvPr>
            <p:ph type="body" sz="quarter" idx="46" hasCustomPrompt="1"/>
          </p:nvPr>
        </p:nvSpPr>
        <p:spPr>
          <a:xfrm>
            <a:off x="28712161"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5" name="Image Text Placeholder 10">
            <a:extLst>
              <a:ext uri="{FF2B5EF4-FFF2-40B4-BE49-F238E27FC236}">
                <a16:creationId xmlns:a16="http://schemas.microsoft.com/office/drawing/2014/main" id="{DFDFC6D9-CC89-C9B7-B0C3-7CF237563742}"/>
              </a:ext>
            </a:extLst>
          </p:cNvPr>
          <p:cNvSpPr>
            <a:spLocks noGrp="1"/>
          </p:cNvSpPr>
          <p:nvPr>
            <p:ph type="body" sz="quarter" idx="47" hasCustomPrompt="1"/>
          </p:nvPr>
        </p:nvSpPr>
        <p:spPr>
          <a:xfrm>
            <a:off x="28712161"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9" name="Picture Placeholder 10">
            <a:extLst>
              <a:ext uri="{FF2B5EF4-FFF2-40B4-BE49-F238E27FC236}">
                <a16:creationId xmlns:a16="http://schemas.microsoft.com/office/drawing/2014/main" id="{233520DD-ECFF-9B92-82E2-4857215AD1D4}"/>
              </a:ext>
            </a:extLst>
          </p:cNvPr>
          <p:cNvSpPr>
            <a:spLocks noGrp="1" noChangeAspect="1"/>
          </p:cNvSpPr>
          <p:nvPr>
            <p:ph type="pic" sz="quarter" idx="48" hasCustomPrompt="1"/>
          </p:nvPr>
        </p:nvSpPr>
        <p:spPr>
          <a:xfrm>
            <a:off x="28712161"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0" name="Text Placeholder 9">
            <a:extLst>
              <a:ext uri="{FF2B5EF4-FFF2-40B4-BE49-F238E27FC236}">
                <a16:creationId xmlns:a16="http://schemas.microsoft.com/office/drawing/2014/main" id="{0EB24314-D040-FB83-A767-983B453F969B}"/>
              </a:ext>
            </a:extLst>
          </p:cNvPr>
          <p:cNvSpPr>
            <a:spLocks noGrp="1"/>
          </p:cNvSpPr>
          <p:nvPr>
            <p:ph type="body" sz="quarter" idx="43" hasCustomPrompt="1"/>
          </p:nvPr>
        </p:nvSpPr>
        <p:spPr>
          <a:xfrm>
            <a:off x="21991321"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61" name="Image Text Placeholder 9">
            <a:extLst>
              <a:ext uri="{FF2B5EF4-FFF2-40B4-BE49-F238E27FC236}">
                <a16:creationId xmlns:a16="http://schemas.microsoft.com/office/drawing/2014/main" id="{98C38057-0A98-EE09-E742-B6E84C337D91}"/>
              </a:ext>
            </a:extLst>
          </p:cNvPr>
          <p:cNvSpPr>
            <a:spLocks noGrp="1"/>
          </p:cNvSpPr>
          <p:nvPr>
            <p:ph type="body" sz="quarter" idx="44" hasCustomPrompt="1"/>
          </p:nvPr>
        </p:nvSpPr>
        <p:spPr>
          <a:xfrm>
            <a:off x="21991321"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62" name="Picture Placeholder 9">
            <a:extLst>
              <a:ext uri="{FF2B5EF4-FFF2-40B4-BE49-F238E27FC236}">
                <a16:creationId xmlns:a16="http://schemas.microsoft.com/office/drawing/2014/main" id="{5E45890E-544A-4898-73CF-789356807492}"/>
              </a:ext>
            </a:extLst>
          </p:cNvPr>
          <p:cNvSpPr>
            <a:spLocks noGrp="1" noChangeAspect="1"/>
          </p:cNvSpPr>
          <p:nvPr>
            <p:ph type="pic" sz="quarter" idx="45" hasCustomPrompt="1"/>
          </p:nvPr>
        </p:nvSpPr>
        <p:spPr>
          <a:xfrm>
            <a:off x="21991321"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3" name="Text Placeholder 8">
            <a:extLst>
              <a:ext uri="{FF2B5EF4-FFF2-40B4-BE49-F238E27FC236}">
                <a16:creationId xmlns:a16="http://schemas.microsoft.com/office/drawing/2014/main" id="{CD195BFC-0745-EC8A-C575-A19B731CE8CE}"/>
              </a:ext>
            </a:extLst>
          </p:cNvPr>
          <p:cNvSpPr>
            <a:spLocks noGrp="1"/>
          </p:cNvSpPr>
          <p:nvPr>
            <p:ph type="body" sz="quarter" idx="40" hasCustomPrompt="1"/>
          </p:nvPr>
        </p:nvSpPr>
        <p:spPr>
          <a:xfrm>
            <a:off x="15270480"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7" name="Image Text Placeholder 8">
            <a:extLst>
              <a:ext uri="{FF2B5EF4-FFF2-40B4-BE49-F238E27FC236}">
                <a16:creationId xmlns:a16="http://schemas.microsoft.com/office/drawing/2014/main" id="{73069B9F-9FCE-AB48-97BE-5B58BAF35230}"/>
              </a:ext>
            </a:extLst>
          </p:cNvPr>
          <p:cNvSpPr>
            <a:spLocks noGrp="1"/>
          </p:cNvSpPr>
          <p:nvPr>
            <p:ph type="body" sz="quarter" idx="41" hasCustomPrompt="1"/>
          </p:nvPr>
        </p:nvSpPr>
        <p:spPr>
          <a:xfrm>
            <a:off x="15270480"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8" name="Picture Placeholder 8">
            <a:extLst>
              <a:ext uri="{FF2B5EF4-FFF2-40B4-BE49-F238E27FC236}">
                <a16:creationId xmlns:a16="http://schemas.microsoft.com/office/drawing/2014/main" id="{18649C41-7D44-DB84-E552-C304A1C07088}"/>
              </a:ext>
            </a:extLst>
          </p:cNvPr>
          <p:cNvSpPr>
            <a:spLocks noGrp="1" noChangeAspect="1"/>
          </p:cNvSpPr>
          <p:nvPr>
            <p:ph type="pic" sz="quarter" idx="42" hasCustomPrompt="1"/>
          </p:nvPr>
        </p:nvSpPr>
        <p:spPr>
          <a:xfrm>
            <a:off x="15270480"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26" name="Text Placeholder 7">
            <a:extLst>
              <a:ext uri="{FF2B5EF4-FFF2-40B4-BE49-F238E27FC236}">
                <a16:creationId xmlns:a16="http://schemas.microsoft.com/office/drawing/2014/main" id="{BD64A03A-4955-FEA8-13F2-7FF14F9CE4D0}"/>
              </a:ext>
            </a:extLst>
          </p:cNvPr>
          <p:cNvSpPr>
            <a:spLocks noGrp="1"/>
          </p:cNvSpPr>
          <p:nvPr>
            <p:ph type="body" sz="quarter" idx="37" hasCustomPrompt="1"/>
          </p:nvPr>
        </p:nvSpPr>
        <p:spPr>
          <a:xfrm>
            <a:off x="8549640"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7" name="Image Text Placeholder 7">
            <a:extLst>
              <a:ext uri="{FF2B5EF4-FFF2-40B4-BE49-F238E27FC236}">
                <a16:creationId xmlns:a16="http://schemas.microsoft.com/office/drawing/2014/main" id="{D3C7C970-0558-EEFC-E538-9B07E5D1FFFD}"/>
              </a:ext>
            </a:extLst>
          </p:cNvPr>
          <p:cNvSpPr>
            <a:spLocks noGrp="1"/>
          </p:cNvSpPr>
          <p:nvPr>
            <p:ph type="body" sz="quarter" idx="38" hasCustomPrompt="1"/>
          </p:nvPr>
        </p:nvSpPr>
        <p:spPr>
          <a:xfrm>
            <a:off x="8549640"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8" name="Picture Placeholder 7">
            <a:extLst>
              <a:ext uri="{FF2B5EF4-FFF2-40B4-BE49-F238E27FC236}">
                <a16:creationId xmlns:a16="http://schemas.microsoft.com/office/drawing/2014/main" id="{A21BD026-3777-9B44-A3E1-15707D14D22D}"/>
              </a:ext>
            </a:extLst>
          </p:cNvPr>
          <p:cNvSpPr>
            <a:spLocks noGrp="1" noChangeAspect="1"/>
          </p:cNvSpPr>
          <p:nvPr>
            <p:ph type="pic" sz="quarter" idx="39" hasCustomPrompt="1"/>
          </p:nvPr>
        </p:nvSpPr>
        <p:spPr>
          <a:xfrm>
            <a:off x="8549640"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7" name="Text Placeholder 6">
            <a:extLst>
              <a:ext uri="{FF2B5EF4-FFF2-40B4-BE49-F238E27FC236}">
                <a16:creationId xmlns:a16="http://schemas.microsoft.com/office/drawing/2014/main" id="{055AF18E-4591-536C-463D-71B46181427B}"/>
              </a:ext>
            </a:extLst>
          </p:cNvPr>
          <p:cNvSpPr>
            <a:spLocks noGrp="1"/>
          </p:cNvSpPr>
          <p:nvPr>
            <p:ph type="body" sz="quarter" idx="33" hasCustomPrompt="1"/>
          </p:nvPr>
        </p:nvSpPr>
        <p:spPr>
          <a:xfrm>
            <a:off x="1828800" y="16322790"/>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8" name="Image Text Placeholder 6">
            <a:extLst>
              <a:ext uri="{FF2B5EF4-FFF2-40B4-BE49-F238E27FC236}">
                <a16:creationId xmlns:a16="http://schemas.microsoft.com/office/drawing/2014/main" id="{5B4EEC16-EEF7-D918-1F07-A02CCE2EB518}"/>
              </a:ext>
            </a:extLst>
          </p:cNvPr>
          <p:cNvSpPr>
            <a:spLocks noGrp="1"/>
          </p:cNvSpPr>
          <p:nvPr>
            <p:ph type="body" sz="quarter" idx="34" hasCustomPrompt="1"/>
          </p:nvPr>
        </p:nvSpPr>
        <p:spPr>
          <a:xfrm>
            <a:off x="1828800" y="15738015"/>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2" name="Picture Placeholder 6">
            <a:extLst>
              <a:ext uri="{FF2B5EF4-FFF2-40B4-BE49-F238E27FC236}">
                <a16:creationId xmlns:a16="http://schemas.microsoft.com/office/drawing/2014/main" id="{11E3A3CB-F1CB-1281-1991-E73E0098FA10}"/>
              </a:ext>
            </a:extLst>
          </p:cNvPr>
          <p:cNvSpPr>
            <a:spLocks noGrp="1" noChangeAspect="1"/>
          </p:cNvSpPr>
          <p:nvPr>
            <p:ph type="pic" sz="quarter" idx="35" hasCustomPrompt="1"/>
          </p:nvPr>
        </p:nvSpPr>
        <p:spPr>
          <a:xfrm>
            <a:off x="1828800" y="12068985"/>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22" name="Text Placeholder 5">
            <a:extLst>
              <a:ext uri="{FF2B5EF4-FFF2-40B4-BE49-F238E27FC236}">
                <a16:creationId xmlns:a16="http://schemas.microsoft.com/office/drawing/2014/main" id="{73A08B95-2725-F270-749E-A2655A3A8908}"/>
              </a:ext>
            </a:extLst>
          </p:cNvPr>
          <p:cNvSpPr>
            <a:spLocks noGrp="1"/>
          </p:cNvSpPr>
          <p:nvPr>
            <p:ph type="body" sz="quarter" idx="30" hasCustomPrompt="1"/>
          </p:nvPr>
        </p:nvSpPr>
        <p:spPr>
          <a:xfrm>
            <a:off x="28712161"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23" name="Image Text Placeholder 5">
            <a:extLst>
              <a:ext uri="{FF2B5EF4-FFF2-40B4-BE49-F238E27FC236}">
                <a16:creationId xmlns:a16="http://schemas.microsoft.com/office/drawing/2014/main" id="{338B4F46-E578-CF65-5544-DAF22E5F3705}"/>
              </a:ext>
            </a:extLst>
          </p:cNvPr>
          <p:cNvSpPr>
            <a:spLocks noGrp="1"/>
          </p:cNvSpPr>
          <p:nvPr>
            <p:ph type="body" sz="quarter" idx="31" hasCustomPrompt="1"/>
          </p:nvPr>
        </p:nvSpPr>
        <p:spPr>
          <a:xfrm>
            <a:off x="28712161"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24" name="Picture Placeholder 5">
            <a:extLst>
              <a:ext uri="{FF2B5EF4-FFF2-40B4-BE49-F238E27FC236}">
                <a16:creationId xmlns:a16="http://schemas.microsoft.com/office/drawing/2014/main" id="{74F811AD-2D90-F3CA-D455-EEAEA8BE8C02}"/>
              </a:ext>
            </a:extLst>
          </p:cNvPr>
          <p:cNvSpPr>
            <a:spLocks noGrp="1" noChangeAspect="1"/>
          </p:cNvSpPr>
          <p:nvPr>
            <p:ph type="pic" sz="quarter" idx="32" hasCustomPrompt="1"/>
          </p:nvPr>
        </p:nvSpPr>
        <p:spPr>
          <a:xfrm>
            <a:off x="28712161"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14" name="Text Placeholder 4">
            <a:extLst>
              <a:ext uri="{FF2B5EF4-FFF2-40B4-BE49-F238E27FC236}">
                <a16:creationId xmlns:a16="http://schemas.microsoft.com/office/drawing/2014/main" id="{9B5F2A2E-F854-84DE-F335-F778F9F95068}"/>
              </a:ext>
            </a:extLst>
          </p:cNvPr>
          <p:cNvSpPr>
            <a:spLocks noGrp="1"/>
          </p:cNvSpPr>
          <p:nvPr>
            <p:ph type="body" sz="quarter" idx="27" hasCustomPrompt="1"/>
          </p:nvPr>
        </p:nvSpPr>
        <p:spPr>
          <a:xfrm>
            <a:off x="21991321"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5" name="Image Text Placeholder 4">
            <a:extLst>
              <a:ext uri="{FF2B5EF4-FFF2-40B4-BE49-F238E27FC236}">
                <a16:creationId xmlns:a16="http://schemas.microsoft.com/office/drawing/2014/main" id="{89026A23-874F-1822-C62A-E3DD13F86F4B}"/>
              </a:ext>
            </a:extLst>
          </p:cNvPr>
          <p:cNvSpPr>
            <a:spLocks noGrp="1"/>
          </p:cNvSpPr>
          <p:nvPr>
            <p:ph type="body" sz="quarter" idx="28" hasCustomPrompt="1"/>
          </p:nvPr>
        </p:nvSpPr>
        <p:spPr>
          <a:xfrm>
            <a:off x="21991321"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6" name="Picture Placeholder 4">
            <a:extLst>
              <a:ext uri="{FF2B5EF4-FFF2-40B4-BE49-F238E27FC236}">
                <a16:creationId xmlns:a16="http://schemas.microsoft.com/office/drawing/2014/main" id="{8886A8D4-36F6-D22F-C7D0-7CBF33FDE715}"/>
              </a:ext>
            </a:extLst>
          </p:cNvPr>
          <p:cNvSpPr>
            <a:spLocks noGrp="1" noChangeAspect="1"/>
          </p:cNvSpPr>
          <p:nvPr>
            <p:ph type="pic" sz="quarter" idx="29" hasCustomPrompt="1"/>
          </p:nvPr>
        </p:nvSpPr>
        <p:spPr>
          <a:xfrm>
            <a:off x="21991321"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9" name="Text Placeholder 3">
            <a:extLst>
              <a:ext uri="{FF2B5EF4-FFF2-40B4-BE49-F238E27FC236}">
                <a16:creationId xmlns:a16="http://schemas.microsoft.com/office/drawing/2014/main" id="{50B1A8CD-DB45-5C72-5150-B5884E0C4788}"/>
              </a:ext>
            </a:extLst>
          </p:cNvPr>
          <p:cNvSpPr>
            <a:spLocks noGrp="1"/>
          </p:cNvSpPr>
          <p:nvPr>
            <p:ph type="body" sz="quarter" idx="24" hasCustomPrompt="1"/>
          </p:nvPr>
        </p:nvSpPr>
        <p:spPr>
          <a:xfrm>
            <a:off x="15270480"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10" name="Image Text Placeholder 3">
            <a:extLst>
              <a:ext uri="{FF2B5EF4-FFF2-40B4-BE49-F238E27FC236}">
                <a16:creationId xmlns:a16="http://schemas.microsoft.com/office/drawing/2014/main" id="{92106EDE-0FC4-9099-C4B7-1B8179006827}"/>
              </a:ext>
            </a:extLst>
          </p:cNvPr>
          <p:cNvSpPr>
            <a:spLocks noGrp="1"/>
          </p:cNvSpPr>
          <p:nvPr>
            <p:ph type="body" sz="quarter" idx="25" hasCustomPrompt="1"/>
          </p:nvPr>
        </p:nvSpPr>
        <p:spPr>
          <a:xfrm>
            <a:off x="15270480"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11" name="Picture Placeholder 3">
            <a:extLst>
              <a:ext uri="{FF2B5EF4-FFF2-40B4-BE49-F238E27FC236}">
                <a16:creationId xmlns:a16="http://schemas.microsoft.com/office/drawing/2014/main" id="{8206E261-EC1B-C37F-7D0D-F77A27BF96BB}"/>
              </a:ext>
            </a:extLst>
          </p:cNvPr>
          <p:cNvSpPr>
            <a:spLocks noGrp="1" noChangeAspect="1"/>
          </p:cNvSpPr>
          <p:nvPr>
            <p:ph type="pic" sz="quarter" idx="26" hasCustomPrompt="1"/>
          </p:nvPr>
        </p:nvSpPr>
        <p:spPr>
          <a:xfrm>
            <a:off x="15270480"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2" name="Text Placeholder 2">
            <a:extLst>
              <a:ext uri="{FF2B5EF4-FFF2-40B4-BE49-F238E27FC236}">
                <a16:creationId xmlns:a16="http://schemas.microsoft.com/office/drawing/2014/main" id="{D0CD8E28-0373-667B-F021-FDCD01AA8FA7}"/>
              </a:ext>
            </a:extLst>
          </p:cNvPr>
          <p:cNvSpPr>
            <a:spLocks noGrp="1"/>
          </p:cNvSpPr>
          <p:nvPr>
            <p:ph type="body" sz="quarter" idx="23" hasCustomPrompt="1"/>
          </p:nvPr>
        </p:nvSpPr>
        <p:spPr>
          <a:xfrm>
            <a:off x="8549640"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40" name="Image Text Placeholder 2">
            <a:extLst>
              <a:ext uri="{FF2B5EF4-FFF2-40B4-BE49-F238E27FC236}">
                <a16:creationId xmlns:a16="http://schemas.microsoft.com/office/drawing/2014/main" id="{6C0B2EF3-831B-6668-11CC-E3821AAAE612}"/>
              </a:ext>
            </a:extLst>
          </p:cNvPr>
          <p:cNvSpPr>
            <a:spLocks noGrp="1"/>
          </p:cNvSpPr>
          <p:nvPr>
            <p:ph type="body" sz="quarter" idx="21" hasCustomPrompt="1"/>
          </p:nvPr>
        </p:nvSpPr>
        <p:spPr>
          <a:xfrm>
            <a:off x="8549640"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8" name="Picture Placeholder 2">
            <a:extLst>
              <a:ext uri="{FF2B5EF4-FFF2-40B4-BE49-F238E27FC236}">
                <a16:creationId xmlns:a16="http://schemas.microsoft.com/office/drawing/2014/main" id="{11E69383-FB01-070F-BEE9-B41572858ECA}"/>
              </a:ext>
            </a:extLst>
          </p:cNvPr>
          <p:cNvSpPr>
            <a:spLocks noGrp="1" noChangeAspect="1"/>
          </p:cNvSpPr>
          <p:nvPr>
            <p:ph type="pic" sz="quarter" idx="19" hasCustomPrompt="1"/>
          </p:nvPr>
        </p:nvSpPr>
        <p:spPr>
          <a:xfrm>
            <a:off x="8549640"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41" name="Text Placeholder 1">
            <a:extLst>
              <a:ext uri="{FF2B5EF4-FFF2-40B4-BE49-F238E27FC236}">
                <a16:creationId xmlns:a16="http://schemas.microsoft.com/office/drawing/2014/main" id="{D623183C-ADA5-3D4D-0693-EE683949D645}"/>
              </a:ext>
            </a:extLst>
          </p:cNvPr>
          <p:cNvSpPr>
            <a:spLocks noGrp="1"/>
          </p:cNvSpPr>
          <p:nvPr>
            <p:ph type="body" sz="quarter" idx="22" hasCustomPrompt="1"/>
          </p:nvPr>
        </p:nvSpPr>
        <p:spPr>
          <a:xfrm>
            <a:off x="1828800" y="10926735"/>
            <a:ext cx="6035040" cy="867930"/>
          </a:xfrm>
        </p:spPr>
        <p:txBody>
          <a:bodyPr>
            <a:noAutofit/>
          </a:bodyPr>
          <a:lstStyle>
            <a:lvl1pPr algn="ctr">
              <a:lnSpc>
                <a:spcPct val="90000"/>
              </a:lnSpc>
              <a:spcBef>
                <a:spcPts val="0"/>
              </a:spcBef>
              <a:spcAft>
                <a:spcPts val="800"/>
              </a:spcAft>
              <a:buNone/>
              <a:defRPr sz="2800"/>
            </a:lvl1pPr>
            <a:lvl2pPr>
              <a:buNone/>
              <a:defRPr/>
            </a:lvl2pPr>
            <a:lvl3pPr>
              <a:buNone/>
              <a:defRPr/>
            </a:lvl3pPr>
            <a:lvl4pPr>
              <a:buNone/>
              <a:defRPr/>
            </a:lvl4pPr>
            <a:lvl5pPr>
              <a:buNone/>
              <a:defRPr/>
            </a:lvl5pPr>
          </a:lstStyle>
          <a:p>
            <a:pPr lvl="0"/>
            <a:r>
              <a:rPr lang="en-US"/>
              <a:t>Click to edit description</a:t>
            </a:r>
            <a:br>
              <a:rPr lang="en-US"/>
            </a:br>
            <a:endParaRPr lang="en-US"/>
          </a:p>
        </p:txBody>
      </p:sp>
      <p:sp>
        <p:nvSpPr>
          <p:cNvPr id="39" name="Image Text Placeholder 1">
            <a:extLst>
              <a:ext uri="{FF2B5EF4-FFF2-40B4-BE49-F238E27FC236}">
                <a16:creationId xmlns:a16="http://schemas.microsoft.com/office/drawing/2014/main" id="{5D41C594-A238-7707-F7A4-C6C8B09896AE}"/>
              </a:ext>
            </a:extLst>
          </p:cNvPr>
          <p:cNvSpPr>
            <a:spLocks noGrp="1"/>
          </p:cNvSpPr>
          <p:nvPr>
            <p:ph type="body" sz="quarter" idx="20" hasCustomPrompt="1"/>
          </p:nvPr>
        </p:nvSpPr>
        <p:spPr>
          <a:xfrm>
            <a:off x="1828800" y="10341960"/>
            <a:ext cx="6035040" cy="584775"/>
          </a:xfrm>
        </p:spPr>
        <p:txBody>
          <a:bodyPr anchor="t">
            <a:noAutofit/>
          </a:bodyPr>
          <a:lstStyle>
            <a:lvl1pPr algn="ctr">
              <a:lnSpc>
                <a:spcPct val="90000"/>
              </a:lnSpc>
              <a:spcBef>
                <a:spcPts val="0"/>
              </a:spcBef>
              <a:spcAft>
                <a:spcPts val="800"/>
              </a:spcAft>
              <a:buNone/>
              <a:defRPr sz="3200">
                <a:latin typeface="+mj-lt"/>
              </a:defRPr>
            </a:lvl1pPr>
            <a:lvl2pPr algn="ctr">
              <a:buNone/>
              <a:defRPr>
                <a:latin typeface="+mj-lt"/>
              </a:defRPr>
            </a:lvl2pPr>
            <a:lvl3pPr algn="ctr">
              <a:buNone/>
              <a:defRPr>
                <a:latin typeface="+mj-lt"/>
              </a:defRPr>
            </a:lvl3pPr>
            <a:lvl4pPr algn="ctr">
              <a:buNone/>
              <a:defRPr>
                <a:latin typeface="+mj-lt"/>
              </a:defRPr>
            </a:lvl4pPr>
            <a:lvl5pPr algn="ctr">
              <a:buNone/>
              <a:defRPr>
                <a:latin typeface="+mj-lt"/>
              </a:defRPr>
            </a:lvl5pPr>
          </a:lstStyle>
          <a:p>
            <a:pPr algn="ctr"/>
            <a:r>
              <a:rPr lang="en-US" sz="3200">
                <a:latin typeface="+mj-lt"/>
              </a:rPr>
              <a:t>Click to Edit Image Title</a:t>
            </a:r>
          </a:p>
        </p:txBody>
      </p:sp>
      <p:sp>
        <p:nvSpPr>
          <p:cNvPr id="37" name="Picture Placeholder 1">
            <a:extLst>
              <a:ext uri="{FF2B5EF4-FFF2-40B4-BE49-F238E27FC236}">
                <a16:creationId xmlns:a16="http://schemas.microsoft.com/office/drawing/2014/main" id="{31F3FD0D-0930-DEDB-A913-D5B6405EBA86}"/>
              </a:ext>
            </a:extLst>
          </p:cNvPr>
          <p:cNvSpPr>
            <a:spLocks noGrp="1" noChangeAspect="1"/>
          </p:cNvSpPr>
          <p:nvPr>
            <p:ph type="pic" sz="quarter" idx="18" hasCustomPrompt="1"/>
          </p:nvPr>
        </p:nvSpPr>
        <p:spPr>
          <a:xfrm>
            <a:off x="1828800" y="6672931"/>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a:t>Click icon to place image</a:t>
            </a:r>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262203256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r>
              <a:rPr lang="en-US"/>
              <a:t>Source information in NVIDIA Sans, medium gray; 20 pt</a:t>
            </a:r>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lnSpc>
                  <a:spcPct val="90000"/>
                </a:lnSpc>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a:t>Click to Edit Title Here</a:t>
            </a:r>
          </a:p>
        </p:txBody>
      </p:sp>
    </p:spTree>
    <p:extLst>
      <p:ext uri="{BB962C8B-B14F-4D97-AF65-F5344CB8AC3E}">
        <p14:creationId xmlns:p14="http://schemas.microsoft.com/office/powerpoint/2010/main" val="327436948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a:t>Click icon to place image</a:t>
            </a:r>
          </a:p>
        </p:txBody>
      </p:sp>
    </p:spTree>
    <p:extLst>
      <p:ext uri="{BB962C8B-B14F-4D97-AF65-F5344CB8AC3E}">
        <p14:creationId xmlns:p14="http://schemas.microsoft.com/office/powerpoint/2010/main" val="124733459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a:t>Click icon to place video</a:t>
            </a:r>
          </a:p>
        </p:txBody>
      </p:sp>
    </p:spTree>
    <p:extLst>
      <p:ext uri="{BB962C8B-B14F-4D97-AF65-F5344CB8AC3E}">
        <p14:creationId xmlns:p14="http://schemas.microsoft.com/office/powerpoint/2010/main" val="27281149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17" name="Media Placeholder">
            <a:extLst>
              <a:ext uri="{FF2B5EF4-FFF2-40B4-BE49-F238E27FC236}">
                <a16:creationId xmlns:a16="http://schemas.microsoft.com/office/drawing/2014/main" id="{40009700-B8EB-446E-63CF-6A960E38369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a:t>Click icon to place video</a:t>
            </a:r>
          </a:p>
        </p:txBody>
      </p:sp>
      <p:sp>
        <p:nvSpPr>
          <p:cNvPr id="9" name="Subtitle">
            <a:extLst>
              <a:ext uri="{FF2B5EF4-FFF2-40B4-BE49-F238E27FC236}">
                <a16:creationId xmlns:a16="http://schemas.microsoft.com/office/drawing/2014/main" id="{E57EA603-01C1-8CDB-4C19-F3E4CD992271}"/>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2800">
                <a:solidFill>
                  <a:schemeClr val="accent6"/>
                </a:solidFill>
                <a:latin typeface="+mn-lt"/>
              </a:defRPr>
            </a:lvl1pPr>
          </a:lstStyle>
          <a:p>
            <a:pPr lvl="0"/>
            <a:r>
              <a:rPr lang="en-US"/>
              <a:t>Optional subtitle description</a:t>
            </a:r>
          </a:p>
        </p:txBody>
      </p:sp>
      <p:sp>
        <p:nvSpPr>
          <p:cNvPr id="2" name="Title">
            <a:extLst>
              <a:ext uri="{FF2B5EF4-FFF2-40B4-BE49-F238E27FC236}">
                <a16:creationId xmlns:a16="http://schemas.microsoft.com/office/drawing/2014/main" id="{ADF94EFC-9935-80B4-0DFC-13D0654CBD17}"/>
              </a:ext>
            </a:extLst>
          </p:cNvPr>
          <p:cNvSpPr>
            <a:spLocks noGrp="1"/>
          </p:cNvSpPr>
          <p:nvPr>
            <p:ph type="title" hasCustomPrompt="1"/>
          </p:nvPr>
        </p:nvSpPr>
        <p:spPr>
          <a:xfrm>
            <a:off x="1828800" y="1828800"/>
            <a:ext cx="32918400" cy="625642"/>
          </a:xfrm>
        </p:spPr>
        <p:txBody>
          <a:bodyPr/>
          <a:lstStyle>
            <a:lvl1pPr algn="ctr">
              <a:spcAft>
                <a:spcPts val="0"/>
              </a:spcAft>
              <a:defRPr sz="3600">
                <a:latin typeface="+mj-lt"/>
              </a:defRPr>
            </a:lvl1pPr>
          </a:lstStyle>
          <a:p>
            <a:r>
              <a:rPr lang="en-US"/>
              <a:t>Demo Title Goes Here</a:t>
            </a:r>
          </a:p>
        </p:txBody>
      </p:sp>
    </p:spTree>
    <p:extLst>
      <p:ext uri="{BB962C8B-B14F-4D97-AF65-F5344CB8AC3E}">
        <p14:creationId xmlns:p14="http://schemas.microsoft.com/office/powerpoint/2010/main" val="240537637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r>
              <a:rPr lang="en-US"/>
              <a:t>Source information in NVIDIA Sans, medium gray; 20 pt</a:t>
            </a:r>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lnSpc>
                  <a:spcPct val="90000"/>
                </a:lnSpc>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198698555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r>
              <a:rPr lang="en-US"/>
              <a:t>Source information in NVIDIA Sans, medium gray; 20 pt</a:t>
            </a:r>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lnSpc>
                  <a:spcPct val="90000"/>
                </a:lnSpc>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27659442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r>
              <a:rPr lang="en-US"/>
              <a:t>Source information in NVIDIA Sans, medium gray; 20 pt</a:t>
            </a:r>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lnSpc>
                  <a:spcPct val="90000"/>
                </a:lnSpc>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4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a:t>Click to Edit Title Here</a:t>
            </a:r>
          </a:p>
        </p:txBody>
      </p:sp>
    </p:spTree>
    <p:extLst>
      <p:ext uri="{BB962C8B-B14F-4D97-AF65-F5344CB8AC3E}">
        <p14:creationId xmlns:p14="http://schemas.microsoft.com/office/powerpoint/2010/main" val="409576286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lnSpc>
                  <a:spcPct val="90000"/>
                </a:lnSpc>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a:t>Click to Edit Title Here</a:t>
            </a:r>
          </a:p>
        </p:txBody>
      </p:sp>
    </p:spTree>
    <p:extLst>
      <p:ext uri="{BB962C8B-B14F-4D97-AF65-F5344CB8AC3E}">
        <p14:creationId xmlns:p14="http://schemas.microsoft.com/office/powerpoint/2010/main" val="275339267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8895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theme" Target="../theme/theme2.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4" Type="http://schemas.openxmlformats.org/officeDocument/2006/relationships/slideLayout" Target="../slideLayouts/slideLayout89.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8" Type="http://schemas.openxmlformats.org/officeDocument/2006/relationships/slideLayout" Target="../slideLayouts/slideLayout53.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20" Type="http://schemas.openxmlformats.org/officeDocument/2006/relationships/slideLayout" Target="../slideLayouts/slideLayout65.xml"/><Relationship Id="rId41"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1"/>
          <p:cNvSpPr/>
          <p:nvPr/>
        </p:nvSpPr>
        <p:spPr>
          <a:xfrm>
            <a:off x="34543020" y="19448330"/>
            <a:ext cx="1119785" cy="209889"/>
          </a:xfrm>
          <a:custGeom>
            <a:avLst/>
            <a:gdLst/>
            <a:ahLst/>
            <a:cxnLst/>
            <a:rect l="l" t="t" r="r" b="b"/>
            <a:pathLst>
              <a:path w="1119785" h="209889" extrusionOk="0">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VIDIA Sans"/>
              <a:ea typeface="NVIDIA Sans"/>
              <a:cs typeface="NVIDIA Sans"/>
              <a:sym typeface="NVIDIA Sans"/>
            </a:endParaRPr>
          </a:p>
        </p:txBody>
      </p:sp>
      <p:sp>
        <p:nvSpPr>
          <p:cNvPr id="8" name="Google Shape;8;p1"/>
          <p:cNvSpPr/>
          <p:nvPr/>
        </p:nvSpPr>
        <p:spPr>
          <a:xfrm>
            <a:off x="33981198" y="19388273"/>
            <a:ext cx="482575" cy="319331"/>
          </a:xfrm>
          <a:custGeom>
            <a:avLst/>
            <a:gdLst/>
            <a:ahLst/>
            <a:cxnLst/>
            <a:rect l="l" t="t" r="r" b="b"/>
            <a:pathLst>
              <a:path w="482575" h="319331" extrusionOk="0">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NVIDIA Sans"/>
              <a:ea typeface="NVIDIA Sans"/>
              <a:cs typeface="NVIDIA Sans"/>
              <a:sym typeface="NVIDIA Sans"/>
            </a:endParaRPr>
          </a:p>
        </p:txBody>
      </p:sp>
      <p:sp>
        <p:nvSpPr>
          <p:cNvPr id="9" name="Google Shape;9;p1"/>
          <p:cNvSpPr txBox="1">
            <a:spLocks noGrp="1"/>
          </p:cNvSpPr>
          <p:nvPr>
            <p:ph type="sldNum" idx="12"/>
          </p:nvPr>
        </p:nvSpPr>
        <p:spPr>
          <a:xfrm>
            <a:off x="914400" y="19431000"/>
            <a:ext cx="640080" cy="369332"/>
          </a:xfrm>
          <a:prstGeom prst="rect">
            <a:avLst/>
          </a:prstGeom>
          <a:noFill/>
          <a:ln>
            <a:noFill/>
          </a:ln>
        </p:spPr>
        <p:txBody>
          <a:bodyPr spcFirstLastPara="1" wrap="square" lIns="0" tIns="45700" rIns="0" bIns="45700" anchor="ctr" anchorCtr="0">
            <a:noAutofit/>
          </a:bodyPr>
          <a:lstStyle>
            <a:lvl1pPr marL="0" marR="0" lvl="0" indent="0" algn="l" rtl="0">
              <a:lnSpc>
                <a:spcPct val="90000"/>
              </a:lnSpc>
              <a:spcBef>
                <a:spcPts val="0"/>
              </a:spcBef>
              <a:buNone/>
              <a:defRPr sz="2000" b="0" u="none">
                <a:solidFill>
                  <a:schemeClr val="dk1"/>
                </a:solidFill>
                <a:latin typeface="NVIDIA Sans"/>
                <a:ea typeface="NVIDIA Sans"/>
                <a:cs typeface="NVIDIA Sans"/>
                <a:sym typeface="NVIDIA Sans"/>
              </a:defRPr>
            </a:lvl1pPr>
            <a:lvl2pPr marL="0" marR="0" lvl="1" indent="0" algn="l" rtl="0">
              <a:lnSpc>
                <a:spcPct val="90000"/>
              </a:lnSpc>
              <a:spcBef>
                <a:spcPts val="0"/>
              </a:spcBef>
              <a:buNone/>
              <a:defRPr sz="2000" b="0" u="none">
                <a:solidFill>
                  <a:schemeClr val="dk1"/>
                </a:solidFill>
                <a:latin typeface="NVIDIA Sans"/>
                <a:ea typeface="NVIDIA Sans"/>
                <a:cs typeface="NVIDIA Sans"/>
                <a:sym typeface="NVIDIA Sans"/>
              </a:defRPr>
            </a:lvl2pPr>
            <a:lvl3pPr marL="0" marR="0" lvl="2" indent="0" algn="l" rtl="0">
              <a:lnSpc>
                <a:spcPct val="90000"/>
              </a:lnSpc>
              <a:spcBef>
                <a:spcPts val="0"/>
              </a:spcBef>
              <a:buNone/>
              <a:defRPr sz="2000" b="0" u="none">
                <a:solidFill>
                  <a:schemeClr val="dk1"/>
                </a:solidFill>
                <a:latin typeface="NVIDIA Sans"/>
                <a:ea typeface="NVIDIA Sans"/>
                <a:cs typeface="NVIDIA Sans"/>
                <a:sym typeface="NVIDIA Sans"/>
              </a:defRPr>
            </a:lvl3pPr>
            <a:lvl4pPr marL="0" marR="0" lvl="3" indent="0" algn="l" rtl="0">
              <a:lnSpc>
                <a:spcPct val="90000"/>
              </a:lnSpc>
              <a:spcBef>
                <a:spcPts val="0"/>
              </a:spcBef>
              <a:buNone/>
              <a:defRPr sz="2000" b="0" u="none">
                <a:solidFill>
                  <a:schemeClr val="dk1"/>
                </a:solidFill>
                <a:latin typeface="NVIDIA Sans"/>
                <a:ea typeface="NVIDIA Sans"/>
                <a:cs typeface="NVIDIA Sans"/>
                <a:sym typeface="NVIDIA Sans"/>
              </a:defRPr>
            </a:lvl4pPr>
            <a:lvl5pPr marL="0" marR="0" lvl="4" indent="0" algn="l" rtl="0">
              <a:lnSpc>
                <a:spcPct val="90000"/>
              </a:lnSpc>
              <a:spcBef>
                <a:spcPts val="0"/>
              </a:spcBef>
              <a:buNone/>
              <a:defRPr sz="2000" b="0" u="none">
                <a:solidFill>
                  <a:schemeClr val="dk1"/>
                </a:solidFill>
                <a:latin typeface="NVIDIA Sans"/>
                <a:ea typeface="NVIDIA Sans"/>
                <a:cs typeface="NVIDIA Sans"/>
                <a:sym typeface="NVIDIA Sans"/>
              </a:defRPr>
            </a:lvl5pPr>
            <a:lvl6pPr marL="0" marR="0" lvl="5" indent="0" algn="l" rtl="0">
              <a:lnSpc>
                <a:spcPct val="90000"/>
              </a:lnSpc>
              <a:spcBef>
                <a:spcPts val="0"/>
              </a:spcBef>
              <a:buNone/>
              <a:defRPr sz="2000" b="0" u="none">
                <a:solidFill>
                  <a:schemeClr val="dk1"/>
                </a:solidFill>
                <a:latin typeface="NVIDIA Sans"/>
                <a:ea typeface="NVIDIA Sans"/>
                <a:cs typeface="NVIDIA Sans"/>
                <a:sym typeface="NVIDIA Sans"/>
              </a:defRPr>
            </a:lvl6pPr>
            <a:lvl7pPr marL="0" marR="0" lvl="6" indent="0" algn="l" rtl="0">
              <a:lnSpc>
                <a:spcPct val="90000"/>
              </a:lnSpc>
              <a:spcBef>
                <a:spcPts val="0"/>
              </a:spcBef>
              <a:buNone/>
              <a:defRPr sz="2000" b="0" u="none">
                <a:solidFill>
                  <a:schemeClr val="dk1"/>
                </a:solidFill>
                <a:latin typeface="NVIDIA Sans"/>
                <a:ea typeface="NVIDIA Sans"/>
                <a:cs typeface="NVIDIA Sans"/>
                <a:sym typeface="NVIDIA Sans"/>
              </a:defRPr>
            </a:lvl7pPr>
            <a:lvl8pPr marL="0" marR="0" lvl="7" indent="0" algn="l" rtl="0">
              <a:lnSpc>
                <a:spcPct val="90000"/>
              </a:lnSpc>
              <a:spcBef>
                <a:spcPts val="0"/>
              </a:spcBef>
              <a:buNone/>
              <a:defRPr sz="2000" b="0" u="none">
                <a:solidFill>
                  <a:schemeClr val="dk1"/>
                </a:solidFill>
                <a:latin typeface="NVIDIA Sans"/>
                <a:ea typeface="NVIDIA Sans"/>
                <a:cs typeface="NVIDIA Sans"/>
                <a:sym typeface="NVIDIA Sans"/>
              </a:defRPr>
            </a:lvl8pPr>
            <a:lvl9pPr marL="0" marR="0" lvl="8" indent="0" algn="l" rtl="0">
              <a:lnSpc>
                <a:spcPct val="90000"/>
              </a:lnSpc>
              <a:spcBef>
                <a:spcPts val="0"/>
              </a:spcBef>
              <a:buNone/>
              <a:defRPr sz="2000" b="0" u="none">
                <a:solidFill>
                  <a:schemeClr val="dk1"/>
                </a:solidFill>
                <a:latin typeface="NVIDIA Sans"/>
                <a:ea typeface="NVIDIA Sans"/>
                <a:cs typeface="NVIDIA Sans"/>
                <a:sym typeface="NVIDIA Sans"/>
              </a:defRPr>
            </a:lvl9pPr>
          </a:lstStyle>
          <a:p>
            <a:pPr marL="0" lvl="0" indent="0" algn="l" rtl="0">
              <a:spcBef>
                <a:spcPts val="0"/>
              </a:spcBef>
              <a:spcAft>
                <a:spcPts val="0"/>
              </a:spcAft>
              <a:buNone/>
            </a:pPr>
            <a:fld id="{00000000-1234-1234-1234-123412341234}" type="slidenum">
              <a:rPr lang="en-US"/>
              <a:t>‹#›</a:t>
            </a:fld>
            <a:endParaRPr/>
          </a:p>
        </p:txBody>
      </p:sp>
      <p:sp>
        <p:nvSpPr>
          <p:cNvPr id="10" name="Google Shape;10;p1"/>
          <p:cNvSpPr txBox="1">
            <a:spLocks noGrp="1"/>
          </p:cNvSpPr>
          <p:nvPr>
            <p:ph type="body" idx="1"/>
          </p:nvPr>
        </p:nvSpPr>
        <p:spPr>
          <a:xfrm>
            <a:off x="1828800" y="5943600"/>
            <a:ext cx="32918400" cy="12801600"/>
          </a:xfrm>
          <a:prstGeom prst="rect">
            <a:avLst/>
          </a:prstGeom>
          <a:noFill/>
          <a:ln>
            <a:noFill/>
          </a:ln>
        </p:spPr>
        <p:txBody>
          <a:bodyPr spcFirstLastPara="1" wrap="square" lIns="0" tIns="45700" rIns="0" bIns="45700" anchor="t" anchorCtr="0">
            <a:noAutofit/>
          </a:bodyPr>
          <a:lstStyle>
            <a:lvl1pPr marL="457200" marR="0" lvl="0" indent="-508000" algn="l" rtl="0">
              <a:lnSpc>
                <a:spcPct val="90000"/>
              </a:lnSpc>
              <a:spcBef>
                <a:spcPts val="1600"/>
              </a:spcBef>
              <a:spcAft>
                <a:spcPts val="0"/>
              </a:spcAft>
              <a:buClr>
                <a:schemeClr val="accent1"/>
              </a:buClr>
              <a:buSzPts val="4400"/>
              <a:buFont typeface="Arial"/>
              <a:buChar char="•"/>
              <a:defRPr sz="4400" b="0" i="0" u="none" strike="noStrike" cap="none">
                <a:solidFill>
                  <a:schemeClr val="dk1"/>
                </a:solidFill>
                <a:latin typeface="NVIDIA Sans"/>
                <a:ea typeface="NVIDIA Sans"/>
                <a:cs typeface="NVIDIA Sans"/>
                <a:sym typeface="NVIDIA Sans"/>
              </a:defRPr>
            </a:lvl1pPr>
            <a:lvl2pPr marL="914400" marR="0" lvl="1" indent="-482600" algn="l" rtl="0">
              <a:lnSpc>
                <a:spcPct val="90000"/>
              </a:lnSpc>
              <a:spcBef>
                <a:spcPts val="1600"/>
              </a:spcBef>
              <a:spcAft>
                <a:spcPts val="0"/>
              </a:spcAft>
              <a:buClr>
                <a:schemeClr val="accent1"/>
              </a:buClr>
              <a:buSzPts val="4000"/>
              <a:buFont typeface="NVIDIA Sans"/>
              <a:buChar char="•"/>
              <a:defRPr sz="4000" b="0" i="0" u="none" strike="noStrike" cap="none">
                <a:solidFill>
                  <a:schemeClr val="dk1"/>
                </a:solidFill>
                <a:latin typeface="NVIDIA Sans"/>
                <a:ea typeface="NVIDIA Sans"/>
                <a:cs typeface="NVIDIA Sans"/>
                <a:sym typeface="NVIDIA Sans"/>
              </a:defRPr>
            </a:lvl2pPr>
            <a:lvl3pPr marL="1371600" marR="0" lvl="2" indent="-457200" algn="l" rtl="0">
              <a:lnSpc>
                <a:spcPct val="90000"/>
              </a:lnSpc>
              <a:spcBef>
                <a:spcPts val="1600"/>
              </a:spcBef>
              <a:spcAft>
                <a:spcPts val="0"/>
              </a:spcAft>
              <a:buClr>
                <a:schemeClr val="accent1"/>
              </a:buClr>
              <a:buSzPts val="3600"/>
              <a:buFont typeface="NVIDIA Sans"/>
              <a:buChar char="•"/>
              <a:defRPr sz="3600" b="0" i="0" u="none" strike="noStrike" cap="none">
                <a:solidFill>
                  <a:schemeClr val="dk1"/>
                </a:solidFill>
                <a:latin typeface="NVIDIA Sans"/>
                <a:ea typeface="NVIDIA Sans"/>
                <a:cs typeface="NVIDIA Sans"/>
                <a:sym typeface="NVIDIA Sans"/>
              </a:defRPr>
            </a:lvl3pPr>
            <a:lvl4pPr marL="1828800" marR="0" lvl="3" indent="-431800" algn="l" rtl="0">
              <a:lnSpc>
                <a:spcPct val="90000"/>
              </a:lnSpc>
              <a:spcBef>
                <a:spcPts val="800"/>
              </a:spcBef>
              <a:spcAft>
                <a:spcPts val="0"/>
              </a:spcAft>
              <a:buClr>
                <a:schemeClr val="accent1"/>
              </a:buClr>
              <a:buSzPts val="3200"/>
              <a:buFont typeface="NVIDIA Sans"/>
              <a:buChar char="•"/>
              <a:defRPr sz="3200" b="0" i="0" u="none" strike="noStrike" cap="none">
                <a:solidFill>
                  <a:schemeClr val="dk1"/>
                </a:solidFill>
                <a:latin typeface="NVIDIA Sans"/>
                <a:ea typeface="NVIDIA Sans"/>
                <a:cs typeface="NVIDIA Sans"/>
                <a:sym typeface="NVIDIA Sans"/>
              </a:defRPr>
            </a:lvl4pPr>
            <a:lvl5pPr marL="2286000" marR="0" lvl="4" indent="-431800" algn="l" rtl="0">
              <a:lnSpc>
                <a:spcPct val="90000"/>
              </a:lnSpc>
              <a:spcBef>
                <a:spcPts val="800"/>
              </a:spcBef>
              <a:spcAft>
                <a:spcPts val="0"/>
              </a:spcAft>
              <a:buClr>
                <a:schemeClr val="accent1"/>
              </a:buClr>
              <a:buSzPts val="3200"/>
              <a:buFont typeface="NVIDIA Sans"/>
              <a:buChar char="•"/>
              <a:defRPr sz="3200" b="0" i="0" u="none" strike="noStrike" cap="none">
                <a:solidFill>
                  <a:schemeClr val="dk1"/>
                </a:solidFill>
                <a:latin typeface="NVIDIA Sans"/>
                <a:ea typeface="NVIDIA Sans"/>
                <a:cs typeface="NVIDIA Sans"/>
                <a:sym typeface="NVIDIA Sans"/>
              </a:defRPr>
            </a:lvl5pPr>
            <a:lvl6pPr marL="2743200" marR="0" lvl="5" indent="-431800" algn="l" rtl="0">
              <a:lnSpc>
                <a:spcPct val="90000"/>
              </a:lnSpc>
              <a:spcBef>
                <a:spcPts val="800"/>
              </a:spcBef>
              <a:spcAft>
                <a:spcPts val="0"/>
              </a:spcAft>
              <a:buClr>
                <a:schemeClr val="accent1"/>
              </a:buClr>
              <a:buSzPts val="3200"/>
              <a:buFont typeface="NVIDIA Sans"/>
              <a:buChar char="•"/>
              <a:defRPr sz="3200" b="0" i="0" u="none" strike="noStrike" cap="none">
                <a:solidFill>
                  <a:schemeClr val="dk1"/>
                </a:solidFill>
                <a:latin typeface="NVIDIA Sans"/>
                <a:ea typeface="NVIDIA Sans"/>
                <a:cs typeface="NVIDIA Sans"/>
                <a:sym typeface="NVIDIA Sans"/>
              </a:defRPr>
            </a:lvl6pPr>
            <a:lvl7pPr marL="3200400" marR="0" lvl="6" indent="-419100" algn="l" rtl="0">
              <a:lnSpc>
                <a:spcPct val="90000"/>
              </a:lnSpc>
              <a:spcBef>
                <a:spcPts val="800"/>
              </a:spcBef>
              <a:spcAft>
                <a:spcPts val="0"/>
              </a:spcAft>
              <a:buClr>
                <a:schemeClr val="accent1"/>
              </a:buClr>
              <a:buSzPts val="3000"/>
              <a:buFont typeface="NVIDIA Sans"/>
              <a:buChar char="•"/>
              <a:defRPr sz="3000" b="0" i="0" u="none" strike="noStrike" cap="none">
                <a:solidFill>
                  <a:schemeClr val="dk1"/>
                </a:solidFill>
                <a:latin typeface="NVIDIA Sans"/>
                <a:ea typeface="NVIDIA Sans"/>
                <a:cs typeface="NVIDIA Sans"/>
                <a:sym typeface="NVIDIA Sans"/>
              </a:defRPr>
            </a:lvl7pPr>
            <a:lvl8pPr marL="3657600" marR="0" lvl="7" indent="-419100" algn="l" rtl="0">
              <a:lnSpc>
                <a:spcPct val="90000"/>
              </a:lnSpc>
              <a:spcBef>
                <a:spcPts val="800"/>
              </a:spcBef>
              <a:spcAft>
                <a:spcPts val="0"/>
              </a:spcAft>
              <a:buClr>
                <a:schemeClr val="accent1"/>
              </a:buClr>
              <a:buSzPts val="3000"/>
              <a:buFont typeface="NVIDIA Sans"/>
              <a:buChar char="•"/>
              <a:defRPr sz="3000" b="0" i="0" u="none" strike="noStrike" cap="none">
                <a:solidFill>
                  <a:schemeClr val="dk1"/>
                </a:solidFill>
                <a:latin typeface="NVIDIA Sans"/>
                <a:ea typeface="NVIDIA Sans"/>
                <a:cs typeface="NVIDIA Sans"/>
                <a:sym typeface="NVIDIA Sans"/>
              </a:defRPr>
            </a:lvl8pPr>
            <a:lvl9pPr marL="4114800" marR="0" lvl="8" indent="-228600" algn="l" rtl="0">
              <a:lnSpc>
                <a:spcPct val="90000"/>
              </a:lnSpc>
              <a:spcBef>
                <a:spcPts val="1500"/>
              </a:spcBef>
              <a:spcAft>
                <a:spcPts val="0"/>
              </a:spcAft>
              <a:buClr>
                <a:schemeClr val="accent1"/>
              </a:buClr>
              <a:buSzPts val="3000"/>
              <a:buFont typeface="NVIDIA Sans"/>
              <a:buNone/>
              <a:defRPr sz="3000" b="0" i="0" u="none" strike="noStrike" cap="none">
                <a:solidFill>
                  <a:schemeClr val="dk1"/>
                </a:solidFill>
                <a:latin typeface="NVIDIA Sans"/>
                <a:ea typeface="NVIDIA Sans"/>
                <a:cs typeface="NVIDIA Sans"/>
                <a:sym typeface="NVIDIA Sans"/>
              </a:defRPr>
            </a:lvl9pPr>
          </a:lstStyle>
          <a:p>
            <a:endParaRPr/>
          </a:p>
        </p:txBody>
      </p:sp>
      <p:sp>
        <p:nvSpPr>
          <p:cNvPr id="11" name="Google Shape;11;p1"/>
          <p:cNvSpPr txBox="1">
            <a:spLocks noGrp="1"/>
          </p:cNvSpPr>
          <p:nvPr>
            <p:ph type="title"/>
          </p:nvPr>
        </p:nvSpPr>
        <p:spPr>
          <a:xfrm>
            <a:off x="1828800" y="914400"/>
            <a:ext cx="32918400" cy="2468880"/>
          </a:xfrm>
          <a:prstGeom prst="rect">
            <a:avLst/>
          </a:prstGeom>
          <a:noFill/>
          <a:ln>
            <a:noFill/>
          </a:ln>
        </p:spPr>
        <p:txBody>
          <a:bodyPr spcFirstLastPara="1" wrap="square" lIns="0" tIns="45700" rIns="0" bIns="45700" anchor="b" anchorCtr="0">
            <a:noAutofit/>
          </a:bodyPr>
          <a:lstStyle>
            <a:lvl1pPr marR="0" lvl="0" algn="l" rtl="0">
              <a:lnSpc>
                <a:spcPct val="90000"/>
              </a:lnSpc>
              <a:spcBef>
                <a:spcPts val="0"/>
              </a:spcBef>
              <a:spcAft>
                <a:spcPts val="0"/>
              </a:spcAft>
              <a:buClr>
                <a:schemeClr val="dk1"/>
              </a:buClr>
              <a:buSzPts val="8800"/>
              <a:buFont typeface="NVIDIA Sans Medium"/>
              <a:buNone/>
              <a:defRPr sz="8800" b="0" i="0" u="none" strike="noStrike" cap="none">
                <a:solidFill>
                  <a:schemeClr val="dk1"/>
                </a:solidFill>
                <a:latin typeface="NVIDIA Sans Medium"/>
                <a:ea typeface="NVIDIA Sans Medium"/>
                <a:cs typeface="NVIDIA Sans Medium"/>
                <a:sym typeface="NVIDIA Sans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2" r:id="rId43"/>
    <p:sldLayoutId id="2147483696" r:id="rId44"/>
    <p:sldLayoutId id="2147483742" r:id="rId4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65151"/>
          </p15:clr>
        </p15:guide>
        <p15:guide id="2" pos="23040">
          <p15:clr>
            <a:srgbClr val="F65151"/>
          </p15:clr>
        </p15:guide>
        <p15:guide id="3" pos="1152">
          <p15:clr>
            <a:srgbClr val="F65151"/>
          </p15:clr>
        </p15:guide>
        <p15:guide id="4" pos="21888">
          <p15:clr>
            <a:srgbClr val="F65151"/>
          </p15:clr>
        </p15:guide>
        <p15:guide id="5" orient="horz">
          <p15:clr>
            <a:srgbClr val="F65151"/>
          </p15:clr>
        </p15:guide>
        <p15:guide id="6" orient="horz" pos="12960">
          <p15:clr>
            <a:srgbClr val="F65151"/>
          </p15:clr>
        </p15:guide>
        <p15:guide id="7" orient="horz" pos="1152">
          <p15:clr>
            <a:srgbClr val="F65151"/>
          </p15:clr>
        </p15:guide>
        <p15:guide id="8" orient="horz" pos="11808">
          <p15:clr>
            <a:srgbClr val="F65151"/>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lnSpc>
                  <a:spcPct val="90000"/>
                </a:lnSpc>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a:t>Click to edit paragraph text</a:t>
            </a:r>
          </a:p>
          <a:p>
            <a:pPr lvl="1"/>
            <a:r>
              <a:rPr lang="en-US"/>
              <a:t>Second level</a:t>
            </a:r>
          </a:p>
          <a:p>
            <a:pPr lvl="2"/>
            <a:r>
              <a:rPr lang="en-US"/>
              <a:t>Third level</a:t>
            </a:r>
          </a:p>
          <a:p>
            <a:pPr lvl="3"/>
            <a:r>
              <a:rPr lang="en-US"/>
              <a:t>Fourth level</a:t>
            </a:r>
          </a:p>
          <a:p>
            <a:pPr lvl="4"/>
            <a:r>
              <a:rPr lang="en-US"/>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a:t>Click to Edit Title Here</a:t>
            </a:r>
            <a:br>
              <a:rPr lang="en-US" sz="8800"/>
            </a:br>
            <a:r>
              <a:rPr lang="en-US" sz="8800"/>
              <a:t>2-lines Maximum Length</a:t>
            </a:r>
          </a:p>
        </p:txBody>
      </p:sp>
      <p:sp>
        <p:nvSpPr>
          <p:cNvPr id="5" name="Date Placeholder">
            <a:extLst>
              <a:ext uri="{FF2B5EF4-FFF2-40B4-BE49-F238E27FC236}">
                <a16:creationId xmlns:a16="http://schemas.microsoft.com/office/drawing/2014/main" id="{BC8EBFAB-0632-B6D7-FC1C-6B0227E975C2}"/>
              </a:ext>
            </a:extLst>
          </p:cNvPr>
          <p:cNvSpPr txBox="1">
            <a:spLocks/>
          </p:cNvSpPr>
          <p:nvPr userDrawn="1"/>
        </p:nvSpPr>
        <p:spPr>
          <a:xfrm>
            <a:off x="1828800" y="19431000"/>
            <a:ext cx="5669280" cy="369332"/>
          </a:xfrm>
          <a:prstGeom prst="rect">
            <a:avLst/>
          </a:prstGeom>
        </p:spPr>
        <p:txBody>
          <a:bodyPr vert="horz" lIns="0" tIns="45720" rIns="0" bIns="45720" rtlCol="0" anchor="ctr">
            <a:noAutofit/>
          </a:bodyPr>
          <a:lstStyle>
            <a:defPPr>
              <a:defRPr lang="en-US"/>
            </a:defPPr>
            <a:lvl1pPr marL="0" algn="l" defTabSz="457200" rtl="0" eaLnBrk="1" latinLnBrk="0" hangingPunct="1">
              <a:lnSpc>
                <a:spcPct val="90000"/>
              </a:lnSpc>
              <a:defRPr sz="2000" kern="100" baseline="0">
                <a:solidFill>
                  <a:schemeClr val="tx1"/>
                </a:solidFill>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cs typeface="NVIDIA Sans" panose="020B0503020203020204" pitchFamily="34" charset="0"/>
              </a:rPr>
              <a:t>NVIDIA CONFIDENTIAL. DO NOT DISTRIBUTE.</a:t>
            </a:r>
          </a:p>
        </p:txBody>
      </p:sp>
    </p:spTree>
    <p:extLst>
      <p:ext uri="{BB962C8B-B14F-4D97-AF65-F5344CB8AC3E}">
        <p14:creationId xmlns:p14="http://schemas.microsoft.com/office/powerpoint/2010/main" val="378278215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7" r:id="rId30"/>
    <p:sldLayoutId id="2147483728" r:id="rId31"/>
    <p:sldLayoutId id="2147483729" r:id="rId32"/>
    <p:sldLayoutId id="2147483730" r:id="rId33"/>
    <p:sldLayoutId id="2147483731" r:id="rId34"/>
    <p:sldLayoutId id="2147483732" r:id="rId35"/>
    <p:sldLayoutId id="2147483733" r:id="rId36"/>
    <p:sldLayoutId id="2147483734" r:id="rId37"/>
    <p:sldLayoutId id="2147483735" r:id="rId38"/>
    <p:sldLayoutId id="2147483736" r:id="rId39"/>
    <p:sldLayoutId id="2147483737" r:id="rId40"/>
    <p:sldLayoutId id="2147483738" r:id="rId41"/>
    <p:sldLayoutId id="2147483739" r:id="rId42"/>
    <p:sldLayoutId id="2147483740" r:id="rId43"/>
    <p:sldLayoutId id="2147483741" r:id="rId44"/>
  </p:sldLayoutIdLst>
  <p:hf hdr="0" ft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34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4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4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65151"/>
          </p15:clr>
        </p15:guide>
        <p15:guide id="2" pos="23040">
          <p15:clr>
            <a:srgbClr val="F65151"/>
          </p15:clr>
        </p15:guide>
        <p15:guide id="3" pos="1152">
          <p15:clr>
            <a:srgbClr val="F65151"/>
          </p15:clr>
        </p15:guide>
        <p15:guide id="4" pos="21888">
          <p15:clr>
            <a:srgbClr val="F65151"/>
          </p15:clr>
        </p15:guide>
        <p15:guide id="5" orient="horz">
          <p15:clr>
            <a:srgbClr val="F65151"/>
          </p15:clr>
        </p15:guide>
        <p15:guide id="6" orient="horz" pos="12960">
          <p15:clr>
            <a:srgbClr val="F65151"/>
          </p15:clr>
        </p15:guide>
        <p15:guide id="7" orient="horz" pos="1152">
          <p15:clr>
            <a:srgbClr val="F65151"/>
          </p15:clr>
        </p15:guide>
        <p15:guide id="8" orient="horz" pos="11808">
          <p15:clr>
            <a:srgbClr val="F65151"/>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customXml" Target="../ink/ink1.xml"/><Relationship Id="rId1" Type="http://schemas.openxmlformats.org/officeDocument/2006/relationships/slideLayout" Target="../slideLayouts/slideLayout44.xml"/><Relationship Id="rId6" Type="http://schemas.openxmlformats.org/officeDocument/2006/relationships/customXml" Target="../ink/ink3.xml"/><Relationship Id="rId11" Type="http://schemas.openxmlformats.org/officeDocument/2006/relationships/customXml" Target="../ink/ink7.xml"/><Relationship Id="rId5" Type="http://schemas.openxmlformats.org/officeDocument/2006/relationships/image" Target="../media/image15.png"/><Relationship Id="rId10" Type="http://schemas.openxmlformats.org/officeDocument/2006/relationships/customXml" Target="../ink/ink6.xml"/><Relationship Id="rId4" Type="http://schemas.openxmlformats.org/officeDocument/2006/relationships/customXml" Target="../ink/ink2.xml"/><Relationship Id="rId9" Type="http://schemas.openxmlformats.org/officeDocument/2006/relationships/customXml" Target="../ink/ink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365_755CA4F0.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39F_74C3B0CD.xml"/><Relationship Id="rId2" Type="http://schemas.openxmlformats.org/officeDocument/2006/relationships/notesSlide" Target="../notesSlides/notesSlide12.xml"/><Relationship Id="rId1" Type="http://schemas.openxmlformats.org/officeDocument/2006/relationships/slideLayout" Target="../slideLayouts/slideLayout4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9"/>
          <p:cNvSpPr txBox="1">
            <a:spLocks noGrp="1"/>
          </p:cNvSpPr>
          <p:nvPr>
            <p:ph type="body" idx="1"/>
          </p:nvPr>
        </p:nvSpPr>
        <p:spPr>
          <a:xfrm>
            <a:off x="1828800" y="16919165"/>
            <a:ext cx="16459200" cy="182880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SzPts val="4000"/>
              <a:buNone/>
            </a:pPr>
            <a:r>
              <a:rPr lang="en-US"/>
              <a:t>Mentors: Guray Ozen, </a:t>
            </a:r>
            <a:r>
              <a:rPr lang="en-US" err="1"/>
              <a:t>Kihiro</a:t>
            </a:r>
            <a:r>
              <a:rPr lang="en-US"/>
              <a:t> Bando |  Aug 18, 2026</a:t>
            </a:r>
            <a:endParaRPr/>
          </a:p>
        </p:txBody>
      </p:sp>
      <p:sp>
        <p:nvSpPr>
          <p:cNvPr id="555" name="Google Shape;555;p49"/>
          <p:cNvSpPr txBox="1">
            <a:spLocks noGrp="1"/>
          </p:cNvSpPr>
          <p:nvPr>
            <p:ph type="body" idx="2"/>
          </p:nvPr>
        </p:nvSpPr>
        <p:spPr>
          <a:xfrm>
            <a:off x="1828800" y="16002000"/>
            <a:ext cx="16459200" cy="729300"/>
          </a:xfrm>
          <a:prstGeom prst="rect">
            <a:avLst/>
          </a:prstGeom>
          <a:noFill/>
          <a:ln>
            <a:noFill/>
          </a:ln>
        </p:spPr>
        <p:txBody>
          <a:bodyPr spcFirstLastPara="1" wrap="square" lIns="0" tIns="45700" rIns="0" bIns="45700" anchor="b" anchorCtr="0">
            <a:noAutofit/>
          </a:bodyPr>
          <a:lstStyle/>
          <a:p>
            <a:pPr marL="0" lvl="0" indent="0" algn="l" rtl="0">
              <a:lnSpc>
                <a:spcPct val="90000"/>
              </a:lnSpc>
              <a:spcBef>
                <a:spcPts val="0"/>
              </a:spcBef>
              <a:spcAft>
                <a:spcPts val="0"/>
              </a:spcAft>
              <a:buSzPts val="4600"/>
              <a:buNone/>
            </a:pPr>
            <a:r>
              <a:rPr lang="en-US"/>
              <a:t>Amir Mohammad Tavakkoli</a:t>
            </a:r>
            <a:endParaRPr/>
          </a:p>
        </p:txBody>
      </p:sp>
      <p:sp>
        <p:nvSpPr>
          <p:cNvPr id="556" name="Google Shape;556;p49"/>
          <p:cNvSpPr txBox="1">
            <a:spLocks noGrp="1"/>
          </p:cNvSpPr>
          <p:nvPr>
            <p:ph type="body" idx="3"/>
          </p:nvPr>
        </p:nvSpPr>
        <p:spPr>
          <a:xfrm>
            <a:off x="1737360" y="6858000"/>
            <a:ext cx="18101144" cy="8402400"/>
          </a:xfrm>
          <a:prstGeom prst="rect">
            <a:avLst/>
          </a:prstGeom>
          <a:noFill/>
          <a:ln>
            <a:noFill/>
          </a:ln>
        </p:spPr>
        <p:txBody>
          <a:bodyPr spcFirstLastPara="1" wrap="square" lIns="0" tIns="45700" rIns="0" bIns="45700" anchor="b" anchorCtr="0">
            <a:noAutofit/>
          </a:bodyPr>
          <a:lstStyle/>
          <a:p>
            <a:pPr marL="0" lvl="0" indent="0" algn="l" rtl="0">
              <a:lnSpc>
                <a:spcPct val="90000"/>
              </a:lnSpc>
              <a:spcBef>
                <a:spcPts val="0"/>
              </a:spcBef>
              <a:spcAft>
                <a:spcPts val="0"/>
              </a:spcAft>
              <a:buSzPts val="12000"/>
              <a:buNone/>
            </a:pPr>
            <a:r>
              <a:rPr lang="en-US" err="1"/>
              <a:t>DkgDSL</a:t>
            </a:r>
            <a:r>
              <a:rPr lang="en-US"/>
              <a:t> V2 and Beyond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50"/>
          <p:cNvSpPr txBox="1">
            <a:spLocks noGrp="1"/>
          </p:cNvSpPr>
          <p:nvPr>
            <p:ph type="body" idx="1"/>
          </p:nvPr>
        </p:nvSpPr>
        <p:spPr>
          <a:xfrm>
            <a:off x="9144000" y="3200400"/>
            <a:ext cx="14173200" cy="14173200"/>
          </a:xfrm>
          <a:prstGeom prst="rect">
            <a:avLst/>
          </a:prstGeom>
          <a:noFill/>
          <a:ln>
            <a:noFill/>
          </a:ln>
        </p:spPr>
        <p:txBody>
          <a:bodyPr spcFirstLastPara="1" wrap="square" lIns="0" tIns="45700" rIns="0" bIns="45700" anchor="ctr" anchorCtr="0">
            <a:noAutofit/>
          </a:bodyPr>
          <a:lstStyle/>
          <a:p>
            <a:pPr marL="0" lvl="0" indent="0" algn="l" rtl="0">
              <a:spcBef>
                <a:spcPts val="6000"/>
              </a:spcBef>
              <a:spcAft>
                <a:spcPts val="0"/>
              </a:spcAft>
              <a:buSzPts val="5400"/>
              <a:buNone/>
            </a:pPr>
            <a:r>
              <a:rPr lang="en-US" err="1"/>
              <a:t>DkgDSL</a:t>
            </a:r>
            <a:r>
              <a:rPr lang="en-US"/>
              <a:t> v2 (aka </a:t>
            </a:r>
            <a:r>
              <a:rPr lang="en-US" err="1"/>
              <a:t>PyIR</a:t>
            </a:r>
            <a:r>
              <a:rPr lang="en-US"/>
              <a:t>)</a:t>
            </a:r>
            <a:endParaRPr/>
          </a:p>
          <a:p>
            <a:pPr marL="0" lvl="0" indent="0" algn="l" rtl="0">
              <a:spcBef>
                <a:spcPts val="6000"/>
              </a:spcBef>
              <a:spcAft>
                <a:spcPts val="0"/>
              </a:spcAft>
              <a:buSzPts val="5400"/>
              <a:buNone/>
            </a:pPr>
            <a:r>
              <a:rPr lang="en-US"/>
              <a:t>Differential Testing and Formal Proof</a:t>
            </a:r>
            <a:endParaRPr/>
          </a:p>
          <a:p>
            <a:pPr marL="0" lvl="0" indent="0" algn="l" rtl="0">
              <a:spcBef>
                <a:spcPts val="6000"/>
              </a:spcBef>
              <a:spcAft>
                <a:spcPts val="6000"/>
              </a:spcAft>
              <a:buSzPts val="5400"/>
              <a:buNone/>
            </a:pPr>
            <a:r>
              <a:rPr lang="en-US" err="1"/>
              <a:t>CUTLASSPy</a:t>
            </a:r>
            <a:endParaRPr/>
          </a:p>
        </p:txBody>
      </p:sp>
    </p:spTree>
    <p:extLst>
      <p:ext uri="{BB962C8B-B14F-4D97-AF65-F5344CB8AC3E}">
        <p14:creationId xmlns:p14="http://schemas.microsoft.com/office/powerpoint/2010/main" val="3094142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ext201"/>
          <p:cNvSpPr txBox="1"/>
          <p:nvPr/>
        </p:nvSpPr>
        <p:spPr>
          <a:xfrm>
            <a:off x="1016000" y="406400"/>
            <a:ext cx="34544000" cy="1397000"/>
          </a:xfrm>
          <a:prstGeom prst="rect">
            <a:avLst/>
          </a:prstGeom>
          <a:noFill/>
        </p:spPr>
        <p:txBody>
          <a:bodyPr wrap="square" lIns="0" tIns="0" rIns="0" bIns="0" anchor="t">
            <a:noAutofit/>
          </a:bodyPr>
          <a:lstStyle/>
          <a:p>
            <a:pPr algn="l"/>
            <a:r>
              <a:rPr lang="en-US" sz="6400">
                <a:latin typeface="NVIDIA Sans Medium"/>
                <a:cs typeface="NVIDIA Sans Medium"/>
              </a:rPr>
              <a:t>Why GPU kernels need metaprogramming</a:t>
            </a:r>
          </a:p>
        </p:txBody>
      </p:sp>
      <p:sp>
        <p:nvSpPr>
          <p:cNvPr id="205" name="Text205"/>
          <p:cNvSpPr txBox="1"/>
          <p:nvPr/>
        </p:nvSpPr>
        <p:spPr>
          <a:xfrm>
            <a:off x="1016000" y="1905000"/>
            <a:ext cx="34544000" cy="635000"/>
          </a:xfrm>
          <a:prstGeom prst="rect">
            <a:avLst/>
          </a:prstGeom>
          <a:noFill/>
        </p:spPr>
        <p:txBody>
          <a:bodyPr wrap="square" lIns="0" tIns="0" rIns="0" bIns="0" anchor="ctr">
            <a:noAutofit/>
          </a:bodyPr>
          <a:lstStyle/>
          <a:p>
            <a:pPr algn="l">
              <a:lnSpc>
                <a:spcPts val="3400"/>
              </a:lnSpc>
              <a:spcBef>
                <a:spcPts val="0"/>
              </a:spcBef>
              <a:buNone/>
            </a:pPr>
            <a:r>
              <a:rPr lang="en-US" sz="2800">
                <a:solidFill>
                  <a:srgbClr val="757575"/>
                </a:solidFill>
                <a:latin typeface="NVIDIA Sans"/>
                <a:cs typeface="NVIDIA Sans"/>
              </a:rPr>
              <a:t>Kernel authors want abstractions. GPUs cannot afford them at run time.</a:t>
            </a:r>
          </a:p>
        </p:txBody>
      </p:sp>
      <p:sp>
        <p:nvSpPr>
          <p:cNvPr id="3" name="AR1">
            <a:extLst>
              <a:ext uri="{FF2B5EF4-FFF2-40B4-BE49-F238E27FC236}">
                <a16:creationId xmlns:a16="http://schemas.microsoft.com/office/drawing/2014/main" id="{39C2E8FC-2389-E04E-B004-A41A521877F2}"/>
              </a:ext>
            </a:extLst>
          </p:cNvPr>
          <p:cNvSpPr/>
          <p:nvPr/>
        </p:nvSpPr>
        <p:spPr>
          <a:xfrm>
            <a:off x="1016000" y="4191000"/>
            <a:ext cx="34544000" cy="508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AH1">
            <a:extLst>
              <a:ext uri="{FF2B5EF4-FFF2-40B4-BE49-F238E27FC236}">
                <a16:creationId xmlns:a16="http://schemas.microsoft.com/office/drawing/2014/main" id="{90EBB818-7038-CB48-847D-0556A72471A8}"/>
              </a:ext>
            </a:extLst>
          </p:cNvPr>
          <p:cNvSpPr txBox="1"/>
          <p:nvPr/>
        </p:nvSpPr>
        <p:spPr>
          <a:xfrm>
            <a:off x="1016000" y="4521200"/>
            <a:ext cx="34544000" cy="889000"/>
          </a:xfrm>
          <a:prstGeom prst="rect">
            <a:avLst/>
          </a:prstGeom>
          <a:noFill/>
        </p:spPr>
        <p:txBody>
          <a:bodyPr vertOverflow="overflow" vert="horz" wrap="none" rtlCol="0" anchor="t" anchorCtr="0">
            <a:noAutofit/>
          </a:bodyPr>
          <a:lstStyle/>
          <a:p>
            <a:pPr algn="l">
              <a:lnSpc>
                <a:spcPts val="4200"/>
              </a:lnSpc>
              <a:spcBef>
                <a:spcPts val="0"/>
              </a:spcBef>
              <a:buNone/>
            </a:pPr>
            <a:r>
              <a:rPr lang="en-US" sz="3600" b="1">
                <a:solidFill>
                  <a:srgbClr val="76B900"/>
                </a:solidFill>
                <a:latin typeface="NVIDIA Sans"/>
                <a:cs typeface="NVIDIA Sans"/>
              </a:rPr>
              <a:t>01  </a:t>
            </a:r>
            <a:r>
              <a:rPr lang="en-US" sz="3600" b="1">
                <a:solidFill>
                  <a:srgbClr val="000000"/>
                </a:solidFill>
                <a:latin typeface="NVIDIA Sans"/>
                <a:cs typeface="NVIDIA Sans"/>
              </a:rPr>
              <a:t>Kernels are built from layers</a:t>
            </a:r>
          </a:p>
        </p:txBody>
      </p:sp>
      <p:sp>
        <p:nvSpPr>
          <p:cNvPr id="5" name="AB1">
            <a:extLst>
              <a:ext uri="{FF2B5EF4-FFF2-40B4-BE49-F238E27FC236}">
                <a16:creationId xmlns:a16="http://schemas.microsoft.com/office/drawing/2014/main" id="{D77D60BD-765A-574B-9999-5E9682FC9018}"/>
              </a:ext>
            </a:extLst>
          </p:cNvPr>
          <p:cNvSpPr txBox="1"/>
          <p:nvPr/>
        </p:nvSpPr>
        <p:spPr>
          <a:xfrm>
            <a:off x="1016000" y="5588000"/>
            <a:ext cx="34544000" cy="2540000"/>
          </a:xfrm>
          <a:prstGeom prst="rect">
            <a:avLst/>
          </a:prstGeom>
          <a:noFill/>
        </p:spPr>
        <p:txBody>
          <a:bodyPr vertOverflow="overflow" vert="horz" wrap="square" rtlCol="0" anchor="t" anchorCtr="0">
            <a:noAutofit/>
          </a:bodyPr>
          <a:lstStyle/>
          <a:p>
            <a:pPr algn="l">
              <a:lnSpc>
                <a:spcPts val="3800"/>
              </a:lnSpc>
              <a:spcBef>
                <a:spcPts val="0"/>
              </a:spcBef>
              <a:buNone/>
            </a:pPr>
            <a:r>
              <a:rPr lang="en-US" sz="3200">
                <a:solidFill>
                  <a:srgbClr val="000000"/>
                </a:solidFill>
                <a:latin typeface="NVIDIA Sans"/>
                <a:cs typeface="NVIDIA Sans"/>
              </a:rPr>
              <a:t>Tiles, layouts, atoms, pipelines.</a:t>
            </a:r>
          </a:p>
          <a:p>
            <a:pPr algn="l">
              <a:lnSpc>
                <a:spcPts val="3800"/>
              </a:lnSpc>
              <a:spcBef>
                <a:spcPts val="400"/>
              </a:spcBef>
              <a:buNone/>
            </a:pPr>
            <a:r>
              <a:rPr lang="en-US" sz="3200">
                <a:solidFill>
                  <a:srgbClr val="757575"/>
                </a:solidFill>
                <a:latin typeface="NVIDIA Sans"/>
                <a:cs typeface="NVIDIA Sans"/>
              </a:rPr>
              <a:t>Without them, every variant is hand-written.</a:t>
            </a:r>
          </a:p>
        </p:txBody>
      </p:sp>
      <p:sp>
        <p:nvSpPr>
          <p:cNvPr id="6" name="AR2">
            <a:extLst>
              <a:ext uri="{FF2B5EF4-FFF2-40B4-BE49-F238E27FC236}">
                <a16:creationId xmlns:a16="http://schemas.microsoft.com/office/drawing/2014/main" id="{B41D32F2-AE5C-5645-8A68-98E23D5A1E42}"/>
              </a:ext>
            </a:extLst>
          </p:cNvPr>
          <p:cNvSpPr/>
          <p:nvPr/>
        </p:nvSpPr>
        <p:spPr>
          <a:xfrm>
            <a:off x="1016000" y="8382000"/>
            <a:ext cx="34544000" cy="508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AH2">
            <a:extLst>
              <a:ext uri="{FF2B5EF4-FFF2-40B4-BE49-F238E27FC236}">
                <a16:creationId xmlns:a16="http://schemas.microsoft.com/office/drawing/2014/main" id="{BF671A04-A485-114F-BC71-C37D9F262CE6}"/>
              </a:ext>
            </a:extLst>
          </p:cNvPr>
          <p:cNvSpPr txBox="1"/>
          <p:nvPr/>
        </p:nvSpPr>
        <p:spPr>
          <a:xfrm>
            <a:off x="1016000" y="8712200"/>
            <a:ext cx="34544000" cy="889000"/>
          </a:xfrm>
          <a:prstGeom prst="rect">
            <a:avLst/>
          </a:prstGeom>
          <a:noFill/>
        </p:spPr>
        <p:txBody>
          <a:bodyPr vertOverflow="overflow" vert="horz" wrap="none" rtlCol="0" anchor="t" anchorCtr="0">
            <a:noAutofit/>
          </a:bodyPr>
          <a:lstStyle/>
          <a:p>
            <a:pPr algn="l">
              <a:lnSpc>
                <a:spcPts val="4200"/>
              </a:lnSpc>
              <a:spcBef>
                <a:spcPts val="0"/>
              </a:spcBef>
              <a:buNone/>
            </a:pPr>
            <a:r>
              <a:rPr lang="en-US" sz="3600" b="1">
                <a:solidFill>
                  <a:srgbClr val="76B900"/>
                </a:solidFill>
                <a:latin typeface="NVIDIA Sans"/>
                <a:cs typeface="NVIDIA Sans"/>
              </a:rPr>
              <a:t>02  </a:t>
            </a:r>
            <a:r>
              <a:rPr lang="en-US" sz="3600" b="1">
                <a:solidFill>
                  <a:srgbClr val="000000"/>
                </a:solidFill>
                <a:latin typeface="NVIDIA Sans"/>
                <a:cs typeface="NVIDIA Sans"/>
              </a:rPr>
              <a:t>The cost of abstraction on a GPU</a:t>
            </a:r>
          </a:p>
        </p:txBody>
      </p:sp>
      <p:sp>
        <p:nvSpPr>
          <p:cNvPr id="8" name="AB2">
            <a:extLst>
              <a:ext uri="{FF2B5EF4-FFF2-40B4-BE49-F238E27FC236}">
                <a16:creationId xmlns:a16="http://schemas.microsoft.com/office/drawing/2014/main" id="{7714AC80-588E-264D-9AF7-605380782486}"/>
              </a:ext>
            </a:extLst>
          </p:cNvPr>
          <p:cNvSpPr txBox="1"/>
          <p:nvPr/>
        </p:nvSpPr>
        <p:spPr>
          <a:xfrm>
            <a:off x="1016000" y="9779000"/>
            <a:ext cx="34544000" cy="2540000"/>
          </a:xfrm>
          <a:prstGeom prst="rect">
            <a:avLst/>
          </a:prstGeom>
          <a:noFill/>
        </p:spPr>
        <p:txBody>
          <a:bodyPr vertOverflow="overflow" vert="horz" wrap="square" rtlCol="0" anchor="t" anchorCtr="0">
            <a:noAutofit/>
          </a:bodyPr>
          <a:lstStyle/>
          <a:p>
            <a:pPr algn="l">
              <a:lnSpc>
                <a:spcPts val="3800"/>
              </a:lnSpc>
              <a:spcBef>
                <a:spcPts val="0"/>
              </a:spcBef>
              <a:buNone/>
            </a:pPr>
            <a:r>
              <a:rPr lang="en-US" sz="3200">
                <a:solidFill>
                  <a:srgbClr val="000000"/>
                </a:solidFill>
                <a:latin typeface="NVIDIA Sans"/>
                <a:cs typeface="NVIDIA Sans"/>
              </a:rPr>
              <a:t>A class or a dict lookup becomes a branch in the inner loop.</a:t>
            </a:r>
          </a:p>
          <a:p>
            <a:pPr algn="l">
              <a:lnSpc>
                <a:spcPts val="3800"/>
              </a:lnSpc>
              <a:spcBef>
                <a:spcPts val="400"/>
              </a:spcBef>
              <a:buNone/>
            </a:pPr>
            <a:r>
              <a:rPr lang="en-US" sz="3200">
                <a:solidFill>
                  <a:srgbClr val="757575"/>
                </a:solidFill>
                <a:latin typeface="NVIDIA Sans"/>
                <a:cs typeface="NVIDIA Sans"/>
              </a:rPr>
              <a:t>Paid on every execution.</a:t>
            </a:r>
          </a:p>
        </p:txBody>
      </p:sp>
      <p:sp>
        <p:nvSpPr>
          <p:cNvPr id="9" name="AR3">
            <a:extLst>
              <a:ext uri="{FF2B5EF4-FFF2-40B4-BE49-F238E27FC236}">
                <a16:creationId xmlns:a16="http://schemas.microsoft.com/office/drawing/2014/main" id="{29C56D74-89DA-EF41-8924-2DE0999C198F}"/>
              </a:ext>
            </a:extLst>
          </p:cNvPr>
          <p:cNvSpPr/>
          <p:nvPr/>
        </p:nvSpPr>
        <p:spPr>
          <a:xfrm>
            <a:off x="1016000" y="12573000"/>
            <a:ext cx="34544000" cy="508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AH3">
            <a:extLst>
              <a:ext uri="{FF2B5EF4-FFF2-40B4-BE49-F238E27FC236}">
                <a16:creationId xmlns:a16="http://schemas.microsoft.com/office/drawing/2014/main" id="{A40B3194-FCA5-564E-A832-46CF35737F37}"/>
              </a:ext>
            </a:extLst>
          </p:cNvPr>
          <p:cNvSpPr txBox="1"/>
          <p:nvPr/>
        </p:nvSpPr>
        <p:spPr>
          <a:xfrm>
            <a:off x="1016000" y="12903200"/>
            <a:ext cx="34544000" cy="889000"/>
          </a:xfrm>
          <a:prstGeom prst="rect">
            <a:avLst/>
          </a:prstGeom>
          <a:noFill/>
        </p:spPr>
        <p:txBody>
          <a:bodyPr vertOverflow="overflow" vert="horz" wrap="none" rtlCol="0" anchor="t" anchorCtr="0">
            <a:noAutofit/>
          </a:bodyPr>
          <a:lstStyle/>
          <a:p>
            <a:pPr algn="l">
              <a:lnSpc>
                <a:spcPts val="4200"/>
              </a:lnSpc>
              <a:spcBef>
                <a:spcPts val="0"/>
              </a:spcBef>
              <a:buNone/>
            </a:pPr>
            <a:r>
              <a:rPr lang="en-US" sz="3600" b="1">
                <a:solidFill>
                  <a:srgbClr val="76B900"/>
                </a:solidFill>
                <a:latin typeface="NVIDIA Sans"/>
                <a:cs typeface="NVIDIA Sans"/>
              </a:rPr>
              <a:t>03  </a:t>
            </a:r>
            <a:r>
              <a:rPr lang="en-US" sz="3600" b="1">
                <a:solidFill>
                  <a:srgbClr val="000000"/>
                </a:solidFill>
                <a:latin typeface="NVIDIA Sans"/>
                <a:cs typeface="NVIDIA Sans"/>
              </a:rPr>
              <a:t>So the abstraction must be gone before the kernel runs</a:t>
            </a:r>
          </a:p>
        </p:txBody>
      </p:sp>
      <p:sp>
        <p:nvSpPr>
          <p:cNvPr id="11" name="AB3">
            <a:extLst>
              <a:ext uri="{FF2B5EF4-FFF2-40B4-BE49-F238E27FC236}">
                <a16:creationId xmlns:a16="http://schemas.microsoft.com/office/drawing/2014/main" id="{6D60C331-763F-E346-B06D-9EAF96C96923}"/>
              </a:ext>
            </a:extLst>
          </p:cNvPr>
          <p:cNvSpPr txBox="1"/>
          <p:nvPr/>
        </p:nvSpPr>
        <p:spPr>
          <a:xfrm>
            <a:off x="1016000" y="13970000"/>
            <a:ext cx="34544000" cy="3048000"/>
          </a:xfrm>
          <a:prstGeom prst="rect">
            <a:avLst/>
          </a:prstGeom>
          <a:noFill/>
        </p:spPr>
        <p:txBody>
          <a:bodyPr vertOverflow="overflow" vert="horz" wrap="square" rtlCol="0" anchor="t" anchorCtr="0">
            <a:noAutofit/>
          </a:bodyPr>
          <a:lstStyle/>
          <a:p>
            <a:pPr algn="l">
              <a:lnSpc>
                <a:spcPts val="3800"/>
              </a:lnSpc>
              <a:spcBef>
                <a:spcPts val="0"/>
              </a:spcBef>
              <a:buNone/>
            </a:pPr>
            <a:r>
              <a:rPr lang="en-US" sz="3200">
                <a:solidFill>
                  <a:srgbClr val="000000"/>
                </a:solidFill>
                <a:latin typeface="NVIDIA Sans"/>
                <a:cs typeface="NVIDIA Sans"/>
              </a:rPr>
              <a:t>Metaprogramming writes the program that runs.</a:t>
            </a:r>
          </a:p>
          <a:p>
            <a:pPr algn="l">
              <a:lnSpc>
                <a:spcPts val="3800"/>
              </a:lnSpc>
              <a:spcBef>
                <a:spcPts val="400"/>
              </a:spcBef>
              <a:buNone/>
            </a:pPr>
            <a:r>
              <a:rPr lang="en-US" sz="3200">
                <a:solidFill>
                  <a:srgbClr val="757575"/>
                </a:solidFill>
                <a:latin typeface="NVIDIA Sans"/>
                <a:cs typeface="NVIDIA Sans"/>
              </a:rPr>
              <a:t>The abstraction disappears before the GPU sees it.</a:t>
            </a:r>
          </a:p>
        </p:txBody>
      </p:sp>
    </p:spTree>
    <p:extLst>
      <p:ext uri="{BB962C8B-B14F-4D97-AF65-F5344CB8AC3E}">
        <p14:creationId xmlns:p14="http://schemas.microsoft.com/office/powerpoint/2010/main" val="2135642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Text201"/>
          <p:cNvSpPr txBox="1"/>
          <p:nvPr/>
        </p:nvSpPr>
        <p:spPr>
          <a:xfrm>
            <a:off x="1016000" y="406400"/>
            <a:ext cx="34544000" cy="1397000"/>
          </a:xfrm>
          <a:prstGeom prst="rect">
            <a:avLst/>
          </a:prstGeom>
          <a:noFill/>
        </p:spPr>
        <p:txBody>
          <a:bodyPr wrap="square" lIns="0" tIns="0" rIns="0" bIns="0" anchor="t">
            <a:noAutofit/>
          </a:bodyPr>
          <a:lstStyle/>
          <a:p>
            <a:pPr algn="l"/>
            <a:r>
              <a:rPr lang="en-US" sz="6400">
                <a:latin typeface="NVIDIA Sans Medium"/>
                <a:cs typeface="NVIDIA Sans Medium"/>
              </a:rPr>
              <a:t>An example of abstraction</a:t>
            </a:r>
          </a:p>
        </p:txBody>
      </p:sp>
      <p:sp>
        <p:nvSpPr>
          <p:cNvPr id="703" name="Text703"/>
          <p:cNvSpPr txBox="1"/>
          <p:nvPr/>
        </p:nvSpPr>
        <p:spPr>
          <a:xfrm>
            <a:off x="1651000" y="5080000"/>
            <a:ext cx="15240000" cy="558800"/>
          </a:xfrm>
          <a:prstGeom prst="rect">
            <a:avLst/>
          </a:prstGeom>
          <a:noFill/>
        </p:spPr>
        <p:txBody>
          <a:bodyPr wrap="square" lIns="0" tIns="0" rIns="0" bIns="0" anchor="t">
            <a:noAutofit/>
          </a:bodyPr>
          <a:lstStyle/>
          <a:p>
            <a:pPr>
              <a:lnSpc>
                <a:spcPct val="100000"/>
              </a:lnSpc>
            </a:pPr>
            <a:r>
              <a:rPr lang="en-US" sz="2600" b="1">
                <a:solidFill>
                  <a:srgbClr val="4A4A4A"/>
                </a:solidFill>
              </a:rPr>
              <a:t>1a: Op classes you define</a:t>
            </a:r>
          </a:p>
        </p:txBody>
      </p:sp>
      <p:sp>
        <p:nvSpPr>
          <p:cNvPr id="704" name="Shape704"/>
          <p:cNvSpPr/>
          <p:nvPr/>
        </p:nvSpPr>
        <p:spPr>
          <a:xfrm>
            <a:off x="1651000" y="5740400"/>
            <a:ext cx="15748000" cy="3048000"/>
          </a:xfrm>
          <a:prstGeom prst="rect">
            <a:avLst/>
          </a:prstGeom>
          <a:solidFill>
            <a:srgbClr val="F2F2F2"/>
          </a:solidFill>
          <a:ln/>
        </p:spPr>
        <p:txBody>
          <a:bodyPr/>
          <a:lstStyle/>
          <a:p>
            <a:endParaRPr lang="en-US"/>
          </a:p>
        </p:txBody>
      </p:sp>
      <p:sp>
        <p:nvSpPr>
          <p:cNvPr id="706" name="Text706"/>
          <p:cNvSpPr txBox="1"/>
          <p:nvPr/>
        </p:nvSpPr>
        <p:spPr>
          <a:xfrm>
            <a:off x="2159000" y="5892800"/>
            <a:ext cx="14986000" cy="2743200"/>
          </a:xfrm>
          <a:prstGeom prst="rect">
            <a:avLst/>
          </a:prstGeom>
          <a:noFill/>
        </p:spPr>
        <p:txBody>
          <a:bodyPr wrap="square" lIns="0" tIns="0" rIns="0" bIns="0" anchor="t">
            <a:noAutofit/>
          </a:bodyPr>
          <a:lstStyle/>
          <a:p>
            <a:pPr>
              <a:lnSpc>
                <a:spcPct val="105000"/>
              </a:lnSpc>
            </a:pPr>
            <a:r>
              <a:rPr lang="en-US" sz="2100">
                <a:solidFill>
                  <a:srgbClr val="0000FF"/>
                </a:solidFill>
                <a:latin typeface="Consolas"/>
                <a:cs typeface="Consolas"/>
                <a:sym typeface="Consolas"/>
              </a:rPr>
              <a:t>struct</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__device__</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virtual</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apply</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const</a:t>
            </a:r>
            <a:r>
              <a:rPr lang="en-US" sz="2100">
                <a:solidFill>
                  <a:srgbClr val="1A1A1A"/>
                </a:solidFill>
                <a:latin typeface="Consolas"/>
                <a:cs typeface="Consolas"/>
                <a:sym typeface="Consolas"/>
              </a:rPr>
              <a:t> = </a:t>
            </a:r>
            <a:r>
              <a:rPr lang="en-US" sz="2100">
                <a:solidFill>
                  <a:srgbClr val="098658"/>
                </a:solidFill>
                <a:latin typeface="Consolas"/>
                <a:cs typeface="Consolas"/>
                <a:sym typeface="Consolas"/>
              </a:rPr>
              <a:t>0</a:t>
            </a:r>
            <a:r>
              <a:rPr lang="en-US" sz="2100">
                <a:solidFill>
                  <a:srgbClr val="1A1A1A"/>
                </a:solidFill>
                <a:latin typeface="Consolas"/>
                <a:cs typeface="Consolas"/>
                <a:sym typeface="Consolas"/>
              </a:rPr>
              <a:t>; };</a:t>
            </a:r>
          </a:p>
          <a:p>
            <a:pPr>
              <a:lnSpc>
                <a:spcPct val="105000"/>
              </a:lnSpc>
            </a:pPr>
            <a:r>
              <a:rPr lang="en-US" sz="2100">
                <a:solidFill>
                  <a:srgbClr val="0000FF"/>
                </a:solidFill>
                <a:latin typeface="Consolas"/>
                <a:cs typeface="Consolas"/>
                <a:sym typeface="Consolas"/>
              </a:rPr>
              <a:t>struct</a:t>
            </a:r>
            <a:r>
              <a:rPr lang="en-US" sz="2100">
                <a:solidFill>
                  <a:srgbClr val="1A1A1A"/>
                </a:solidFill>
                <a:latin typeface="Consolas"/>
                <a:cs typeface="Consolas"/>
                <a:sym typeface="Consolas"/>
              </a:rPr>
              <a:t> </a:t>
            </a:r>
            <a:r>
              <a:rPr lang="en-US" sz="2100" err="1">
                <a:solidFill>
                  <a:srgbClr val="267F99"/>
                </a:solidFill>
                <a:latin typeface="Consolas"/>
                <a:cs typeface="Consolas"/>
                <a:sym typeface="Consolas"/>
              </a:rPr>
              <a:t>AddN</a:t>
            </a:r>
            <a:r>
              <a:rPr lang="en-US" sz="2100">
                <a:solidFill>
                  <a:srgbClr val="1A1A1A"/>
                </a:solidFill>
                <a:latin typeface="Consolas"/>
                <a:cs typeface="Consolas"/>
                <a:sym typeface="Consolas"/>
              </a:rPr>
              <a:t> : </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__device__</a:t>
            </a:r>
            <a:r>
              <a:rPr lang="en-US" sz="2100">
                <a:solidFill>
                  <a:srgbClr val="1A1A1A"/>
                </a:solidFill>
                <a:latin typeface="Consolas"/>
                <a:cs typeface="Consolas"/>
                <a:sym typeface="Consolas"/>
              </a:rPr>
              <a:t> </a:t>
            </a:r>
            <a:r>
              <a:rPr lang="en-US" sz="2100" err="1">
                <a:solidFill>
                  <a:srgbClr val="267F99"/>
                </a:solidFill>
                <a:latin typeface="Consolas"/>
                <a:cs typeface="Consolas"/>
                <a:sym typeface="Consolas"/>
              </a:rPr>
              <a:t>AddN</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 {}</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__device__</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apply</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const</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override</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return</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 } };</a:t>
            </a:r>
          </a:p>
          <a:p>
            <a:pPr>
              <a:lnSpc>
                <a:spcPct val="105000"/>
              </a:lnSpc>
            </a:pPr>
            <a:r>
              <a:rPr lang="en-US" sz="2100">
                <a:solidFill>
                  <a:srgbClr val="0000FF"/>
                </a:solidFill>
                <a:latin typeface="Consolas"/>
                <a:cs typeface="Consolas"/>
                <a:sym typeface="Consolas"/>
              </a:rPr>
              <a:t>struct</a:t>
            </a:r>
            <a:r>
              <a:rPr lang="en-US" sz="2100">
                <a:solidFill>
                  <a:srgbClr val="1A1A1A"/>
                </a:solidFill>
                <a:latin typeface="Consolas"/>
                <a:cs typeface="Consolas"/>
                <a:sym typeface="Consolas"/>
              </a:rPr>
              <a:t> </a:t>
            </a:r>
            <a:r>
              <a:rPr lang="en-US" sz="2100" err="1">
                <a:solidFill>
                  <a:srgbClr val="267F99"/>
                </a:solidFill>
                <a:latin typeface="Consolas"/>
                <a:cs typeface="Consolas"/>
                <a:sym typeface="Consolas"/>
              </a:rPr>
              <a:t>MulN</a:t>
            </a:r>
            <a:r>
              <a:rPr lang="en-US" sz="2100">
                <a:solidFill>
                  <a:srgbClr val="1A1A1A"/>
                </a:solidFill>
                <a:latin typeface="Consolas"/>
                <a:cs typeface="Consolas"/>
                <a:sym typeface="Consolas"/>
              </a:rPr>
              <a:t> : </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k</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__device__</a:t>
            </a:r>
            <a:r>
              <a:rPr lang="en-US" sz="2100">
                <a:solidFill>
                  <a:srgbClr val="1A1A1A"/>
                </a:solidFill>
                <a:latin typeface="Consolas"/>
                <a:cs typeface="Consolas"/>
                <a:sym typeface="Consolas"/>
              </a:rPr>
              <a:t> </a:t>
            </a:r>
            <a:r>
              <a:rPr lang="en-US" sz="2100" err="1">
                <a:solidFill>
                  <a:srgbClr val="267F99"/>
                </a:solidFill>
                <a:latin typeface="Consolas"/>
                <a:cs typeface="Consolas"/>
                <a:sym typeface="Consolas"/>
              </a:rPr>
              <a:t>MulN</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k</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k</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k</a:t>
            </a:r>
            <a:r>
              <a:rPr lang="en-US" sz="2100">
                <a:solidFill>
                  <a:srgbClr val="1A1A1A"/>
                </a:solidFill>
                <a:latin typeface="Consolas"/>
                <a:cs typeface="Consolas"/>
                <a:sym typeface="Consolas"/>
              </a:rPr>
              <a:t>) {}</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__device__</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apply</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const</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override</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return</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k</a:t>
            </a:r>
            <a:r>
              <a:rPr lang="en-US" sz="2100">
                <a:solidFill>
                  <a:srgbClr val="1A1A1A"/>
                </a:solidFill>
                <a:latin typeface="Consolas"/>
                <a:cs typeface="Consolas"/>
                <a:sym typeface="Consolas"/>
              </a:rPr>
              <a:t>; } };</a:t>
            </a:r>
          </a:p>
        </p:txBody>
      </p:sp>
      <p:sp>
        <p:nvSpPr>
          <p:cNvPr id="707" name="Text707"/>
          <p:cNvSpPr txBox="1"/>
          <p:nvPr/>
        </p:nvSpPr>
        <p:spPr>
          <a:xfrm>
            <a:off x="1651000" y="14757400"/>
            <a:ext cx="15240000" cy="558800"/>
          </a:xfrm>
          <a:prstGeom prst="rect">
            <a:avLst/>
          </a:prstGeom>
          <a:noFill/>
        </p:spPr>
        <p:txBody>
          <a:bodyPr wrap="square" lIns="0" tIns="0" rIns="0" bIns="0" anchor="t">
            <a:noAutofit/>
          </a:bodyPr>
          <a:lstStyle/>
          <a:p>
            <a:pPr>
              <a:lnSpc>
                <a:spcPct val="100000"/>
              </a:lnSpc>
            </a:pPr>
            <a:r>
              <a:rPr lang="en-US" sz="2600" b="1">
                <a:solidFill>
                  <a:srgbClr val="4A4A4A"/>
                </a:solidFill>
              </a:rPr>
              <a:t>2: What the GPU actually runs</a:t>
            </a:r>
          </a:p>
        </p:txBody>
      </p:sp>
      <p:sp>
        <p:nvSpPr>
          <p:cNvPr id="708" name="Shape708"/>
          <p:cNvSpPr/>
          <p:nvPr/>
        </p:nvSpPr>
        <p:spPr>
          <a:xfrm>
            <a:off x="1651000" y="15367000"/>
            <a:ext cx="15748000" cy="3708400"/>
          </a:xfrm>
          <a:prstGeom prst="rect">
            <a:avLst/>
          </a:prstGeom>
          <a:solidFill>
            <a:srgbClr val="F2F2F2"/>
          </a:solidFill>
          <a:ln/>
        </p:spPr>
        <p:txBody>
          <a:bodyPr/>
          <a:lstStyle/>
          <a:p>
            <a:endParaRPr lang="en-US"/>
          </a:p>
        </p:txBody>
      </p:sp>
      <p:sp>
        <p:nvSpPr>
          <p:cNvPr id="710" name="Text710"/>
          <p:cNvSpPr txBox="1"/>
          <p:nvPr/>
        </p:nvSpPr>
        <p:spPr>
          <a:xfrm>
            <a:off x="2159000" y="15544800"/>
            <a:ext cx="14986000" cy="3200400"/>
          </a:xfrm>
          <a:prstGeom prst="rect">
            <a:avLst/>
          </a:prstGeom>
          <a:noFill/>
        </p:spPr>
        <p:txBody>
          <a:bodyPr wrap="square" lIns="0" tIns="0" rIns="0" bIns="0" anchor="t">
            <a:noAutofit/>
          </a:bodyPr>
          <a:lstStyle/>
          <a:p>
            <a:pPr>
              <a:lnSpc>
                <a:spcPct val="95000"/>
              </a:lnSpc>
            </a:pPr>
            <a:r>
              <a:rPr lang="en-US" sz="2100">
                <a:solidFill>
                  <a:srgbClr val="1A1A1A"/>
                </a:solidFill>
                <a:latin typeface="Consolas"/>
                <a:cs typeface="Consolas"/>
                <a:sym typeface="Consolas"/>
              </a:rPr>
              <a:t>  ld.global.f32 %f80, [%rd5];          </a:t>
            </a:r>
            <a:r>
              <a:rPr lang="en-US" sz="2100">
                <a:solidFill>
                  <a:srgbClr val="008000"/>
                </a:solidFill>
                <a:latin typeface="Consolas"/>
                <a:cs typeface="Consolas"/>
                <a:sym typeface="Consolas"/>
              </a:rPr>
              <a:t>// x = d[tid]</a:t>
            </a:r>
          </a:p>
          <a:p>
            <a:pPr>
              <a:lnSpc>
                <a:spcPct val="95000"/>
              </a:lnSpc>
            </a:pPr>
            <a:r>
              <a:rPr lang="en-US" sz="2100">
                <a:solidFill>
                  <a:srgbClr val="1A1A1A"/>
                </a:solidFill>
                <a:latin typeface="Consolas"/>
                <a:cs typeface="Consolas"/>
                <a:sym typeface="Consolas"/>
              </a:rPr>
              <a:t>$L__BB0_3:                             </a:t>
            </a:r>
            <a:r>
              <a:rPr lang="en-US" sz="2100">
                <a:solidFill>
                  <a:srgbClr val="008000"/>
                </a:solidFill>
                <a:latin typeface="Consolas"/>
                <a:cs typeface="Consolas"/>
                <a:sym typeface="Consolas"/>
              </a:rPr>
              <a:t>// LOOP, unrolled x16</a:t>
            </a:r>
          </a:p>
          <a:p>
            <a:pPr>
              <a:lnSpc>
                <a:spcPct val="95000"/>
              </a:lnSpc>
            </a:pPr>
            <a:r>
              <a:rPr lang="en-US" sz="2100">
                <a:solidFill>
                  <a:srgbClr val="1A1A1A"/>
                </a:solidFill>
                <a:latin typeface="Consolas"/>
                <a:cs typeface="Consolas"/>
                <a:sym typeface="Consolas"/>
              </a:rPr>
              <a:t>  ld.global.u64 %rd13, [%rd2+0];       </a:t>
            </a:r>
            <a:r>
              <a:rPr lang="en-US" sz="2100">
                <a:solidFill>
                  <a:srgbClr val="008000"/>
                </a:solidFill>
                <a:latin typeface="Consolas"/>
                <a:cs typeface="Consolas"/>
                <a:sym typeface="Consolas"/>
              </a:rPr>
              <a:t>// iter 1: load Op*</a:t>
            </a:r>
          </a:p>
          <a:p>
            <a:pPr>
              <a:lnSpc>
                <a:spcPct val="95000"/>
              </a:lnSpc>
            </a:pPr>
            <a:r>
              <a:rPr lang="en-US" sz="2100">
                <a:solidFill>
                  <a:srgbClr val="1A1A1A"/>
                </a:solidFill>
                <a:latin typeface="Consolas"/>
                <a:cs typeface="Consolas"/>
                <a:sym typeface="Consolas"/>
              </a:rPr>
              <a:t>  ld.u64 %rd14, [%rd13]; ld.u64 %rd15, [%rd14];  </a:t>
            </a:r>
            <a:r>
              <a:rPr lang="en-US" sz="2100">
                <a:solidFill>
                  <a:srgbClr val="008000"/>
                </a:solidFill>
                <a:latin typeface="Consolas"/>
                <a:cs typeface="Consolas"/>
                <a:sym typeface="Consolas"/>
              </a:rPr>
              <a:t>// vtable, apply()</a:t>
            </a:r>
          </a:p>
          <a:p>
            <a:pPr>
              <a:lnSpc>
                <a:spcPct val="95000"/>
              </a:lnSpc>
            </a:pPr>
            <a:r>
              <a:rPr lang="en-US" sz="2100">
                <a:solidFill>
                  <a:srgbClr val="1A1A1A"/>
                </a:solidFill>
                <a:latin typeface="Consolas"/>
                <a:cs typeface="Consolas"/>
                <a:sym typeface="Consolas"/>
              </a:rPr>
              <a:t>  { st.param.b64 [p0],%rd13; st.param.f32 [p1],%f80;</a:t>
            </a:r>
          </a:p>
          <a:p>
            <a:pPr>
              <a:lnSpc>
                <a:spcPct val="95000"/>
              </a:lnSpc>
            </a:pPr>
            <a:r>
              <a:rPr lang="en-US" sz="2100">
                <a:solidFill>
                  <a:srgbClr val="1A1A1A"/>
                </a:solidFill>
                <a:latin typeface="Consolas"/>
                <a:cs typeface="Consolas"/>
                <a:sym typeface="Consolas"/>
              </a:rPr>
              <a:t>    call .callprototype (retval0), %rd15, (...);   </a:t>
            </a:r>
            <a:r>
              <a:rPr lang="en-US" sz="2100">
                <a:solidFill>
                  <a:srgbClr val="008000"/>
                </a:solidFill>
                <a:latin typeface="Consolas"/>
                <a:cs typeface="Consolas"/>
                <a:sym typeface="Consolas"/>
              </a:rPr>
              <a:t>// INDIRECT</a:t>
            </a:r>
          </a:p>
          <a:p>
            <a:pPr>
              <a:lnSpc>
                <a:spcPct val="95000"/>
              </a:lnSpc>
            </a:pPr>
            <a:r>
              <a:rPr lang="en-US" sz="2100">
                <a:solidFill>
                  <a:srgbClr val="1A1A1A"/>
                </a:solidFill>
                <a:latin typeface="Consolas"/>
                <a:cs typeface="Consolas"/>
                <a:sym typeface="Consolas"/>
              </a:rPr>
              <a:t>    ld.param.f32 %f80, [retval0]; }    </a:t>
            </a:r>
            <a:r>
              <a:rPr lang="en-US" sz="2100">
                <a:solidFill>
                  <a:srgbClr val="008000"/>
                </a:solidFill>
                <a:latin typeface="Consolas"/>
                <a:cs typeface="Consolas"/>
                <a:sym typeface="Consolas"/>
              </a:rPr>
              <a:t>// … once per op, x29</a:t>
            </a:r>
          </a:p>
          <a:p>
            <a:pPr>
              <a:lnSpc>
                <a:spcPct val="95000"/>
              </a:lnSpc>
            </a:pPr>
            <a:r>
              <a:rPr lang="en-US" sz="2100">
                <a:solidFill>
                  <a:srgbClr val="1A1A1A"/>
                </a:solidFill>
                <a:latin typeface="Consolas"/>
                <a:cs typeface="Consolas"/>
                <a:sym typeface="Consolas"/>
              </a:rPr>
              <a:t>$L__BB0_13:  st.global.f32 [%rd5], %f80;  ret;  </a:t>
            </a:r>
            <a:r>
              <a:rPr lang="en-US" sz="2100">
                <a:solidFill>
                  <a:srgbClr val="008000"/>
                </a:solidFill>
                <a:latin typeface="Consolas"/>
                <a:cs typeface="Consolas"/>
                <a:sym typeface="Consolas"/>
              </a:rPr>
              <a:t>// one store at the end</a:t>
            </a:r>
          </a:p>
          <a:p>
            <a:pPr>
              <a:lnSpc>
                <a:spcPct val="95000"/>
              </a:lnSpc>
            </a:pPr>
            <a:r>
              <a:rPr lang="en-US" sz="2100">
                <a:solidFill>
                  <a:srgbClr val="C1272D"/>
                </a:solidFill>
                <a:latin typeface="Consolas"/>
                <a:cs typeface="Consolas"/>
                <a:sym typeface="Consolas"/>
              </a:rPr>
              <a:t>No inlining, no FMA folding, no fusion.</a:t>
            </a:r>
          </a:p>
        </p:txBody>
      </p:sp>
      <p:sp>
        <p:nvSpPr>
          <p:cNvPr id="711" name="Text711"/>
          <p:cNvSpPr txBox="1"/>
          <p:nvPr/>
        </p:nvSpPr>
        <p:spPr>
          <a:xfrm>
            <a:off x="19177000" y="5080000"/>
            <a:ext cx="15240000" cy="558800"/>
          </a:xfrm>
          <a:prstGeom prst="rect">
            <a:avLst/>
          </a:prstGeom>
          <a:noFill/>
        </p:spPr>
        <p:txBody>
          <a:bodyPr wrap="square" lIns="0" tIns="0" rIns="0" bIns="0" anchor="t">
            <a:noAutofit/>
          </a:bodyPr>
          <a:lstStyle/>
          <a:p>
            <a:pPr>
              <a:lnSpc>
                <a:spcPct val="100000"/>
              </a:lnSpc>
            </a:pPr>
            <a:r>
              <a:rPr lang="en-US" sz="2600" b="1">
                <a:solidFill>
                  <a:srgbClr val="4A4A4A"/>
                </a:solidFill>
              </a:rPr>
              <a:t>1a: Op classes you define</a:t>
            </a:r>
          </a:p>
        </p:txBody>
      </p:sp>
      <p:sp>
        <p:nvSpPr>
          <p:cNvPr id="712" name="Shape712"/>
          <p:cNvSpPr/>
          <p:nvPr/>
        </p:nvSpPr>
        <p:spPr>
          <a:xfrm>
            <a:off x="19177000" y="5740400"/>
            <a:ext cx="15748000" cy="3048000"/>
          </a:xfrm>
          <a:prstGeom prst="rect">
            <a:avLst/>
          </a:prstGeom>
          <a:solidFill>
            <a:srgbClr val="F2F2F2"/>
          </a:solidFill>
          <a:ln/>
        </p:spPr>
        <p:txBody>
          <a:bodyPr/>
          <a:lstStyle/>
          <a:p>
            <a:endParaRPr lang="en-US"/>
          </a:p>
        </p:txBody>
      </p:sp>
      <p:sp>
        <p:nvSpPr>
          <p:cNvPr id="714" name="Text714"/>
          <p:cNvSpPr txBox="1"/>
          <p:nvPr/>
        </p:nvSpPr>
        <p:spPr>
          <a:xfrm>
            <a:off x="19685000" y="5892800"/>
            <a:ext cx="14986000" cy="2743200"/>
          </a:xfrm>
          <a:prstGeom prst="rect">
            <a:avLst/>
          </a:prstGeom>
          <a:noFill/>
        </p:spPr>
        <p:txBody>
          <a:bodyPr wrap="square" lIns="0" tIns="0" rIns="0" bIns="0" anchor="t">
            <a:noAutofit/>
          </a:bodyPr>
          <a:lstStyle/>
          <a:p>
            <a:pPr>
              <a:lnSpc>
                <a:spcPct val="105000"/>
              </a:lnSpc>
            </a:pPr>
            <a:r>
              <a:rPr lang="en-US" sz="2100">
                <a:solidFill>
                  <a:srgbClr val="0000FF"/>
                </a:solidFill>
                <a:latin typeface="Consolas"/>
                <a:cs typeface="Consolas"/>
                <a:sym typeface="Consolas"/>
              </a:rPr>
              <a:t>class</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def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apply</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raise</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NotImplementedError</a:t>
            </a:r>
            <a:r>
              <a:rPr lang="en-US" sz="2100">
                <a:solidFill>
                  <a:srgbClr val="1A1A1A"/>
                </a:solidFill>
                <a:latin typeface="Consolas"/>
                <a:cs typeface="Consolas"/>
                <a:sym typeface="Consolas"/>
              </a:rPr>
              <a:t>  </a:t>
            </a:r>
            <a:r>
              <a:rPr lang="en-US" sz="2100">
                <a:solidFill>
                  <a:srgbClr val="008000"/>
                </a:solidFill>
                <a:latin typeface="Consolas"/>
                <a:cs typeface="Consolas"/>
                <a:sym typeface="Consolas"/>
              </a:rPr>
              <a:t># "virtual"</a:t>
            </a:r>
          </a:p>
          <a:p>
            <a:pPr>
              <a:lnSpc>
                <a:spcPct val="105000"/>
              </a:lnSpc>
            </a:pPr>
            <a:r>
              <a:rPr lang="en-US" sz="2100">
                <a:solidFill>
                  <a:srgbClr val="0000FF"/>
                </a:solidFill>
                <a:latin typeface="Consolas"/>
                <a:cs typeface="Consolas"/>
                <a:sym typeface="Consolas"/>
              </a:rPr>
              <a:t>class</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AddN</a:t>
            </a:r>
            <a:r>
              <a:rPr lang="en-US" sz="2100">
                <a:solidFill>
                  <a:srgbClr val="1A1A1A"/>
                </a:solidFill>
                <a:latin typeface="Consolas"/>
                <a:cs typeface="Consolas"/>
                <a:sym typeface="Consolas"/>
              </a:rPr>
              <a:t>(</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def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__init__</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n</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def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apply</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return</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n</a:t>
            </a:r>
          </a:p>
          <a:p>
            <a:pPr>
              <a:lnSpc>
                <a:spcPct val="105000"/>
              </a:lnSpc>
            </a:pPr>
            <a:r>
              <a:rPr lang="en-US" sz="2100">
                <a:solidFill>
                  <a:srgbClr val="0000FF"/>
                </a:solidFill>
                <a:latin typeface="Consolas"/>
                <a:cs typeface="Consolas"/>
                <a:sym typeface="Consolas"/>
              </a:rPr>
              <a:t>class</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MulN</a:t>
            </a:r>
            <a:r>
              <a:rPr lang="en-US" sz="2100">
                <a:solidFill>
                  <a:srgbClr val="1A1A1A"/>
                </a:solidFill>
                <a:latin typeface="Consolas"/>
                <a:cs typeface="Consolas"/>
                <a:sym typeface="Consolas"/>
              </a:rPr>
              <a:t>(</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def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__init__</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k</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k</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k</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def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apply</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return</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self</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k</a:t>
            </a:r>
          </a:p>
        </p:txBody>
      </p:sp>
      <p:sp>
        <p:nvSpPr>
          <p:cNvPr id="715" name="Text715"/>
          <p:cNvSpPr txBox="1"/>
          <p:nvPr/>
        </p:nvSpPr>
        <p:spPr>
          <a:xfrm>
            <a:off x="19177000" y="14757400"/>
            <a:ext cx="15240000" cy="558800"/>
          </a:xfrm>
          <a:prstGeom prst="rect">
            <a:avLst/>
          </a:prstGeom>
          <a:noFill/>
        </p:spPr>
        <p:txBody>
          <a:bodyPr wrap="square" lIns="0" tIns="0" rIns="0" bIns="0" anchor="t">
            <a:noAutofit/>
          </a:bodyPr>
          <a:lstStyle/>
          <a:p>
            <a:pPr>
              <a:lnSpc>
                <a:spcPct val="100000"/>
              </a:lnSpc>
            </a:pPr>
            <a:r>
              <a:rPr lang="en-US" sz="2600" b="1">
                <a:solidFill>
                  <a:srgbClr val="4A4A4A"/>
                </a:solidFill>
              </a:rPr>
              <a:t>2: What the GPU actually runs</a:t>
            </a:r>
          </a:p>
        </p:txBody>
      </p:sp>
      <p:sp>
        <p:nvSpPr>
          <p:cNvPr id="716" name="Shape716"/>
          <p:cNvSpPr/>
          <p:nvPr/>
        </p:nvSpPr>
        <p:spPr>
          <a:xfrm>
            <a:off x="19177000" y="15367000"/>
            <a:ext cx="15748000" cy="3708400"/>
          </a:xfrm>
          <a:prstGeom prst="rect">
            <a:avLst/>
          </a:prstGeom>
          <a:solidFill>
            <a:srgbClr val="F2F2F2"/>
          </a:solidFill>
          <a:ln/>
        </p:spPr>
        <p:txBody>
          <a:bodyPr/>
          <a:lstStyle/>
          <a:p>
            <a:endParaRPr lang="en-US"/>
          </a:p>
        </p:txBody>
      </p:sp>
      <p:sp>
        <p:nvSpPr>
          <p:cNvPr id="718" name="Text718"/>
          <p:cNvSpPr txBox="1"/>
          <p:nvPr/>
        </p:nvSpPr>
        <p:spPr>
          <a:xfrm>
            <a:off x="19685000" y="15544800"/>
            <a:ext cx="14986000" cy="3200400"/>
          </a:xfrm>
          <a:prstGeom prst="rect">
            <a:avLst/>
          </a:prstGeom>
          <a:noFill/>
        </p:spPr>
        <p:txBody>
          <a:bodyPr wrap="square" lIns="0" tIns="0" rIns="0" bIns="0" anchor="t">
            <a:noAutofit/>
          </a:bodyPr>
          <a:lstStyle/>
          <a:p>
            <a:pPr>
              <a:lnSpc>
                <a:spcPct val="95000"/>
              </a:lnSpc>
            </a:pPr>
            <a:r>
              <a:rPr lang="en-US" sz="2100">
                <a:solidFill>
                  <a:srgbClr val="1A1A1A"/>
                </a:solidFill>
                <a:latin typeface="Consolas"/>
                <a:cs typeface="Consolas"/>
                <a:sym typeface="Consolas"/>
              </a:rPr>
              <a:t>ld.global.f32 %f1, [%rd4];</a:t>
            </a:r>
          </a:p>
          <a:p>
            <a:pPr>
              <a:lnSpc>
                <a:spcPct val="95000"/>
              </a:lnSpc>
            </a:pPr>
            <a:r>
              <a:rPr lang="en-US" sz="2100">
                <a:solidFill>
                  <a:srgbClr val="1A1A1A"/>
                </a:solidFill>
                <a:latin typeface="Consolas"/>
                <a:cs typeface="Consolas"/>
                <a:sym typeface="Consolas"/>
              </a:rPr>
              <a:t>add.f32       %f2, %f1, 0f40A00000;   </a:t>
            </a:r>
            <a:r>
              <a:rPr lang="en-US" sz="2100">
                <a:solidFill>
                  <a:srgbClr val="008000"/>
                </a:solidFill>
                <a:latin typeface="Consolas"/>
                <a:cs typeface="Consolas"/>
                <a:sym typeface="Consolas"/>
              </a:rPr>
              <a:t>; x + 5</a:t>
            </a:r>
          </a:p>
          <a:p>
            <a:pPr>
              <a:lnSpc>
                <a:spcPct val="95000"/>
              </a:lnSpc>
            </a:pPr>
            <a:r>
              <a:rPr lang="en-US" sz="2100">
                <a:solidFill>
                  <a:srgbClr val="1A1A1A"/>
                </a:solidFill>
                <a:latin typeface="Consolas"/>
                <a:cs typeface="Consolas"/>
                <a:sym typeface="Consolas"/>
              </a:rPr>
              <a:t>fma.rn.f32    %f3, %f2, 0f40000000, 0fBF800000;</a:t>
            </a:r>
          </a:p>
          <a:p>
            <a:pPr>
              <a:lnSpc>
                <a:spcPct val="95000"/>
              </a:lnSpc>
            </a:pPr>
            <a:r>
              <a:rPr lang="en-US" sz="2100">
                <a:solidFill>
                  <a:srgbClr val="1A1A1A"/>
                </a:solidFill>
                <a:latin typeface="Consolas"/>
                <a:cs typeface="Consolas"/>
                <a:sym typeface="Consolas"/>
              </a:rPr>
              <a:t>    </a:t>
            </a:r>
            <a:r>
              <a:rPr lang="en-US" sz="2100">
                <a:solidFill>
                  <a:srgbClr val="008000"/>
                </a:solidFill>
                <a:latin typeface="Consolas"/>
                <a:cs typeface="Consolas"/>
                <a:sym typeface="Consolas"/>
              </a:rPr>
              <a:t>; *2 and -1 fold into one FMA: no sub emitted</a:t>
            </a:r>
          </a:p>
          <a:p>
            <a:pPr>
              <a:lnSpc>
                <a:spcPct val="95000"/>
              </a:lnSpc>
            </a:pPr>
            <a:r>
              <a:rPr lang="en-US" sz="2100">
                <a:solidFill>
                  <a:srgbClr val="1A1A1A"/>
                </a:solidFill>
                <a:latin typeface="Consolas"/>
                <a:cs typeface="Consolas"/>
                <a:sym typeface="Consolas"/>
              </a:rPr>
              <a:t>st.global.f32 [%rd4], %f3;   ret;</a:t>
            </a:r>
          </a:p>
          <a:p>
            <a:pPr>
              <a:lnSpc>
                <a:spcPct val="95000"/>
              </a:lnSpc>
            </a:pPr>
            <a:r>
              <a:rPr lang="en-US" sz="2100">
                <a:solidFill>
                  <a:srgbClr val="4C7A00"/>
                </a:solidFill>
                <a:latin typeface="Consolas"/>
                <a:cs typeface="Consolas"/>
                <a:sym typeface="Consolas"/>
              </a:rPr>
              <a:t>Three ops become two instructions.</a:t>
            </a:r>
          </a:p>
        </p:txBody>
      </p:sp>
      <p:sp>
        <p:nvSpPr>
          <p:cNvPr id="750" name="LabelKernelL"/>
          <p:cNvSpPr/>
          <p:nvPr/>
        </p:nvSpPr>
        <p:spPr>
          <a:xfrm>
            <a:off x="1651000" y="8991600"/>
            <a:ext cx="15240000" cy="558800"/>
          </a:xfrm>
          <a:prstGeom prst="rect">
            <a:avLst/>
          </a:prstGeom>
          <a:noFill/>
          <a:ln>
            <a:noFill/>
          </a:ln>
        </p:spPr>
        <p:txBody>
          <a:bodyPr wrap="square" lIns="0" tIns="0" rIns="0" bIns="0" anchor="t"/>
          <a:lstStyle/>
          <a:p>
            <a:pPr>
              <a:lnSpc>
                <a:spcPct val="100000"/>
              </a:lnSpc>
            </a:pPr>
            <a:r>
              <a:rPr lang="en-US" sz="2600" b="1">
                <a:solidFill>
                  <a:srgbClr val="4A4A4A"/>
                </a:solidFill>
              </a:rPr>
              <a:t>1b: Kernel definition</a:t>
            </a:r>
          </a:p>
        </p:txBody>
      </p:sp>
      <p:sp>
        <p:nvSpPr>
          <p:cNvPr id="751" name="CardKernelL"/>
          <p:cNvSpPr/>
          <p:nvPr/>
        </p:nvSpPr>
        <p:spPr>
          <a:xfrm>
            <a:off x="1651000" y="9652000"/>
            <a:ext cx="15748000" cy="2362200"/>
          </a:xfrm>
          <a:prstGeom prst="rect">
            <a:avLst/>
          </a:prstGeom>
          <a:solidFill>
            <a:srgbClr val="F2F2F2"/>
          </a:solidFill>
          <a:ln/>
        </p:spPr>
        <p:txBody>
          <a:bodyPr wrap="square" lIns="0" tIns="0" rIns="0" bIns="0" anchor="t"/>
          <a:lstStyle/>
          <a:p>
            <a:endParaRPr lang="en-US"/>
          </a:p>
        </p:txBody>
      </p:sp>
      <p:sp>
        <p:nvSpPr>
          <p:cNvPr id="753" name="TextKernelL"/>
          <p:cNvSpPr/>
          <p:nvPr/>
        </p:nvSpPr>
        <p:spPr>
          <a:xfrm>
            <a:off x="2159000" y="9804400"/>
            <a:ext cx="14986000" cy="2057400"/>
          </a:xfrm>
          <a:prstGeom prst="rect">
            <a:avLst/>
          </a:prstGeom>
          <a:noFill/>
          <a:ln>
            <a:noFill/>
          </a:ln>
        </p:spPr>
        <p:txBody>
          <a:bodyPr wrap="square" lIns="0" tIns="0" rIns="0" bIns="0" anchor="t"/>
          <a:lstStyle/>
          <a:p>
            <a:pPr>
              <a:lnSpc>
                <a:spcPct val="105000"/>
              </a:lnSpc>
            </a:pPr>
            <a:r>
              <a:rPr lang="en-US" sz="2100">
                <a:solidFill>
                  <a:srgbClr val="0000FF"/>
                </a:solidFill>
                <a:latin typeface="Consolas"/>
                <a:cs typeface="Consolas"/>
                <a:sym typeface="Consolas"/>
              </a:rPr>
              <a:t>__global__</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void</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fused</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d</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const</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const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ops</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int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 {</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d</a:t>
            </a:r>
            <a:r>
              <a:rPr lang="en-US" sz="2100">
                <a:solidFill>
                  <a:srgbClr val="1A1A1A"/>
                </a:solidFill>
                <a:latin typeface="Consolas"/>
                <a:cs typeface="Consolas"/>
                <a:sym typeface="Consolas"/>
              </a:rPr>
              <a:t>[</a:t>
            </a:r>
            <a:r>
              <a:rPr lang="en-US" sz="2100" err="1">
                <a:solidFill>
                  <a:srgbClr val="001080"/>
                </a:solidFill>
                <a:latin typeface="Consolas"/>
                <a:cs typeface="Consolas"/>
                <a:sym typeface="Consolas"/>
              </a:rPr>
              <a:t>threadIdx</a:t>
            </a:r>
            <a:r>
              <a:rPr lang="en-US" sz="2100" err="1">
                <a:solidFill>
                  <a:srgbClr val="1A1A1A"/>
                </a:solidFill>
                <a:latin typeface="Consolas"/>
                <a:cs typeface="Consolas"/>
                <a:sym typeface="Consolas"/>
              </a:rPr>
              <a:t>.</a:t>
            </a:r>
            <a:r>
              <a:rPr lang="en-US" sz="2100" err="1">
                <a:solidFill>
                  <a:srgbClr val="001080"/>
                </a:solidFill>
                <a:latin typeface="Consolas"/>
                <a:cs typeface="Consolas"/>
                <a:sym typeface="Consolas"/>
              </a:rPr>
              <a:t>x</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for</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int</a:t>
            </a:r>
            <a:r>
              <a:rPr lang="en-US" sz="2100">
                <a:solidFill>
                  <a:srgbClr val="1A1A1A"/>
                </a:solidFill>
                <a:latin typeface="Consolas"/>
                <a:cs typeface="Consolas"/>
                <a:sym typeface="Consolas"/>
              </a:rPr>
              <a:t> </a:t>
            </a:r>
            <a:r>
              <a:rPr lang="en-US" sz="2100" err="1">
                <a:solidFill>
                  <a:srgbClr val="001080"/>
                </a:solidFill>
                <a:latin typeface="Consolas"/>
                <a:cs typeface="Consolas"/>
                <a:sym typeface="Consolas"/>
              </a:rPr>
              <a:t>i</a:t>
            </a:r>
            <a:r>
              <a:rPr lang="en-US" sz="2100">
                <a:solidFill>
                  <a:srgbClr val="1A1A1A"/>
                </a:solidFill>
                <a:latin typeface="Consolas"/>
                <a:cs typeface="Consolas"/>
                <a:sym typeface="Consolas"/>
              </a:rPr>
              <a:t> = </a:t>
            </a:r>
            <a:r>
              <a:rPr lang="en-US" sz="2100">
                <a:solidFill>
                  <a:srgbClr val="098658"/>
                </a:solidFill>
                <a:latin typeface="Consolas"/>
                <a:cs typeface="Consolas"/>
                <a:sym typeface="Consolas"/>
              </a:rPr>
              <a:t>0</a:t>
            </a:r>
            <a:r>
              <a:rPr lang="en-US" sz="2100">
                <a:solidFill>
                  <a:srgbClr val="1A1A1A"/>
                </a:solidFill>
                <a:latin typeface="Consolas"/>
                <a:cs typeface="Consolas"/>
                <a:sym typeface="Consolas"/>
              </a:rPr>
              <a:t>; </a:t>
            </a:r>
            <a:r>
              <a:rPr lang="en-US" sz="2100" err="1">
                <a:solidFill>
                  <a:srgbClr val="001080"/>
                </a:solidFill>
                <a:latin typeface="Consolas"/>
                <a:cs typeface="Consolas"/>
                <a:sym typeface="Consolas"/>
              </a:rPr>
              <a:t>i</a:t>
            </a:r>
            <a:r>
              <a:rPr lang="en-US" sz="2100">
                <a:solidFill>
                  <a:srgbClr val="1A1A1A"/>
                </a:solidFill>
                <a:latin typeface="Consolas"/>
                <a:cs typeface="Consolas"/>
                <a:sym typeface="Consolas"/>
              </a:rPr>
              <a:t> &lt; </a:t>
            </a:r>
            <a:r>
              <a:rPr lang="en-US" sz="2100">
                <a:solidFill>
                  <a:srgbClr val="001080"/>
                </a:solidFill>
                <a:latin typeface="Consolas"/>
                <a:cs typeface="Consolas"/>
                <a:sym typeface="Consolas"/>
              </a:rPr>
              <a:t>n</a:t>
            </a:r>
            <a:r>
              <a:rPr lang="en-US" sz="2100">
                <a:solidFill>
                  <a:srgbClr val="1A1A1A"/>
                </a:solidFill>
                <a:latin typeface="Consolas"/>
                <a:cs typeface="Consolas"/>
                <a:sym typeface="Consolas"/>
              </a:rPr>
              <a:t>; ++</a:t>
            </a:r>
            <a:r>
              <a:rPr lang="en-US" sz="2100" err="1">
                <a:solidFill>
                  <a:srgbClr val="001080"/>
                </a:solidFill>
                <a:latin typeface="Consolas"/>
                <a:cs typeface="Consolas"/>
                <a:sym typeface="Consolas"/>
              </a:rPr>
              <a:t>i</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ops</a:t>
            </a:r>
            <a:r>
              <a:rPr lang="en-US" sz="2100">
                <a:solidFill>
                  <a:srgbClr val="1A1A1A"/>
                </a:solidFill>
                <a:latin typeface="Consolas"/>
                <a:cs typeface="Consolas"/>
                <a:sym typeface="Consolas"/>
              </a:rPr>
              <a:t>[</a:t>
            </a:r>
            <a:r>
              <a:rPr lang="en-US" sz="2100" err="1">
                <a:solidFill>
                  <a:srgbClr val="001080"/>
                </a:solidFill>
                <a:latin typeface="Consolas"/>
                <a:cs typeface="Consolas"/>
                <a:sym typeface="Consolas"/>
              </a:rPr>
              <a:t>i</a:t>
            </a:r>
            <a:r>
              <a:rPr lang="en-US" sz="2100">
                <a:solidFill>
                  <a:srgbClr val="1A1A1A"/>
                </a:solidFill>
                <a:latin typeface="Consolas"/>
                <a:cs typeface="Consolas"/>
                <a:sym typeface="Consolas"/>
              </a:rPr>
              <a:t>]-&gt;</a:t>
            </a:r>
            <a:r>
              <a:rPr lang="en-US" sz="2100">
                <a:solidFill>
                  <a:srgbClr val="001080"/>
                </a:solidFill>
                <a:latin typeface="Consolas"/>
                <a:cs typeface="Consolas"/>
                <a:sym typeface="Consolas"/>
              </a:rPr>
              <a:t>apply</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d</a:t>
            </a:r>
            <a:r>
              <a:rPr lang="en-US" sz="2100">
                <a:solidFill>
                  <a:srgbClr val="1A1A1A"/>
                </a:solidFill>
                <a:latin typeface="Consolas"/>
                <a:cs typeface="Consolas"/>
                <a:sym typeface="Consolas"/>
              </a:rPr>
              <a:t>[</a:t>
            </a:r>
            <a:r>
              <a:rPr lang="en-US" sz="2100" err="1">
                <a:solidFill>
                  <a:srgbClr val="001080"/>
                </a:solidFill>
                <a:latin typeface="Consolas"/>
                <a:cs typeface="Consolas"/>
                <a:sym typeface="Consolas"/>
              </a:rPr>
              <a:t>threadIdx</a:t>
            </a:r>
            <a:r>
              <a:rPr lang="en-US" sz="2100" err="1">
                <a:solidFill>
                  <a:srgbClr val="1A1A1A"/>
                </a:solidFill>
                <a:latin typeface="Consolas"/>
                <a:cs typeface="Consolas"/>
                <a:sym typeface="Consolas"/>
              </a:rPr>
              <a:t>.</a:t>
            </a:r>
            <a:r>
              <a:rPr lang="en-US" sz="2100" err="1">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a:t>
            </a:r>
          </a:p>
        </p:txBody>
      </p:sp>
      <p:sp>
        <p:nvSpPr>
          <p:cNvPr id="754" name="LabelKernelR"/>
          <p:cNvSpPr/>
          <p:nvPr/>
        </p:nvSpPr>
        <p:spPr>
          <a:xfrm>
            <a:off x="19177000" y="8991600"/>
            <a:ext cx="15240000" cy="558800"/>
          </a:xfrm>
          <a:prstGeom prst="rect">
            <a:avLst/>
          </a:prstGeom>
          <a:noFill/>
          <a:ln>
            <a:noFill/>
          </a:ln>
        </p:spPr>
        <p:txBody>
          <a:bodyPr wrap="square" lIns="0" tIns="0" rIns="0" bIns="0" anchor="t"/>
          <a:lstStyle/>
          <a:p>
            <a:pPr>
              <a:lnSpc>
                <a:spcPct val="100000"/>
              </a:lnSpc>
            </a:pPr>
            <a:r>
              <a:rPr lang="en-US" sz="2600" b="1">
                <a:solidFill>
                  <a:srgbClr val="4A4A4A"/>
                </a:solidFill>
              </a:rPr>
              <a:t>1b: Kernel definition</a:t>
            </a:r>
          </a:p>
        </p:txBody>
      </p:sp>
      <p:sp>
        <p:nvSpPr>
          <p:cNvPr id="755" name="CardKernelR"/>
          <p:cNvSpPr/>
          <p:nvPr/>
        </p:nvSpPr>
        <p:spPr>
          <a:xfrm>
            <a:off x="19177000" y="9652000"/>
            <a:ext cx="15748000" cy="2362200"/>
          </a:xfrm>
          <a:prstGeom prst="rect">
            <a:avLst/>
          </a:prstGeom>
          <a:solidFill>
            <a:srgbClr val="F2F2F2"/>
          </a:solidFill>
          <a:ln/>
        </p:spPr>
        <p:txBody>
          <a:bodyPr wrap="square" lIns="0" tIns="0" rIns="0" bIns="0" anchor="t"/>
          <a:lstStyle/>
          <a:p>
            <a:endParaRPr lang="en-US"/>
          </a:p>
        </p:txBody>
      </p:sp>
      <p:sp>
        <p:nvSpPr>
          <p:cNvPr id="757" name="TextKernelR"/>
          <p:cNvSpPr/>
          <p:nvPr/>
        </p:nvSpPr>
        <p:spPr>
          <a:xfrm>
            <a:off x="19685000" y="9804400"/>
            <a:ext cx="14986000" cy="2057400"/>
          </a:xfrm>
          <a:prstGeom prst="rect">
            <a:avLst/>
          </a:prstGeom>
          <a:noFill/>
          <a:ln>
            <a:noFill/>
          </a:ln>
        </p:spPr>
        <p:txBody>
          <a:bodyPr wrap="square" lIns="0" tIns="0" rIns="0" bIns="0" anchor="t"/>
          <a:lstStyle/>
          <a:p>
            <a:pPr>
              <a:lnSpc>
                <a:spcPct val="105000"/>
              </a:lnSpc>
            </a:pPr>
            <a:r>
              <a:rPr lang="en-US" sz="2100">
                <a:solidFill>
                  <a:srgbClr val="76B900"/>
                </a:solidFill>
                <a:latin typeface="Consolas"/>
                <a:cs typeface="Consolas"/>
                <a:sym typeface="Consolas"/>
              </a:rPr>
              <a:t>@cute.kernel</a:t>
            </a:r>
          </a:p>
          <a:p>
            <a:pPr>
              <a:lnSpc>
                <a:spcPct val="105000"/>
              </a:lnSpc>
            </a:pPr>
            <a:r>
              <a:rPr lang="en-US" sz="2100">
                <a:solidFill>
                  <a:srgbClr val="0000FF"/>
                </a:solidFill>
                <a:latin typeface="Consolas"/>
                <a:cs typeface="Consolas"/>
                <a:sym typeface="Consolas"/>
              </a:rPr>
              <a:t>def</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fused</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arr</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cutlass.Array</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ops</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cutlass.Constexpr</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tx</a:t>
            </a:r>
            <a:r>
              <a:rPr lang="en-US" sz="2100">
                <a:solidFill>
                  <a:srgbClr val="1A1A1A"/>
                </a:solidFill>
                <a:latin typeface="Consolas"/>
                <a:cs typeface="Consolas"/>
                <a:sym typeface="Consolas"/>
              </a:rPr>
              <a:t>, _, _ = </a:t>
            </a:r>
            <a:r>
              <a:rPr lang="en-US" sz="2100">
                <a:solidFill>
                  <a:srgbClr val="76B900"/>
                </a:solidFill>
                <a:latin typeface="Consolas"/>
                <a:cs typeface="Consolas"/>
                <a:sym typeface="Consolas"/>
              </a:rPr>
              <a:t>cute.arch</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thread_idx</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arr</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tx</a:t>
            </a:r>
            <a:r>
              <a:rPr lang="en-US" sz="2100">
                <a:solidFill>
                  <a:srgbClr val="1A1A1A"/>
                </a:solidFill>
                <a:latin typeface="Consolas"/>
                <a:cs typeface="Consolas"/>
                <a:sym typeface="Consolas"/>
              </a:rPr>
              <a:t>]</a:t>
            </a:r>
          </a:p>
          <a:p>
            <a:pPr>
              <a:lnSpc>
                <a:spcPct val="105000"/>
              </a:lnSpc>
            </a:pP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for</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op</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in</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ops</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op</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apply</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x</a:t>
            </a:r>
            <a:r>
              <a:rPr lang="en-US" sz="2100">
                <a:solidFill>
                  <a:srgbClr val="1A1A1A"/>
                </a:solidFill>
                <a:latin typeface="Consolas"/>
                <a:cs typeface="Consolas"/>
                <a:sym typeface="Consolas"/>
              </a:rPr>
              <a:t>)  </a:t>
            </a:r>
            <a:r>
              <a:rPr lang="en-US" sz="2100">
                <a:solidFill>
                  <a:srgbClr val="008000"/>
                </a:solidFill>
                <a:latin typeface="Consolas"/>
                <a:cs typeface="Consolas"/>
                <a:sym typeface="Consolas"/>
              </a:rPr>
              <a:t># unrolled at trace time</a:t>
            </a:r>
          </a:p>
          <a:p>
            <a:pPr>
              <a:lnSpc>
                <a:spcPct val="105000"/>
              </a:lnSpc>
            </a:pP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arr</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tx</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x</a:t>
            </a:r>
          </a:p>
        </p:txBody>
      </p:sp>
      <p:sp>
        <p:nvSpPr>
          <p:cNvPr id="760" name="LabelLaunchL"/>
          <p:cNvSpPr/>
          <p:nvPr/>
        </p:nvSpPr>
        <p:spPr>
          <a:xfrm>
            <a:off x="1651000" y="12090400"/>
            <a:ext cx="15240000" cy="558800"/>
          </a:xfrm>
          <a:prstGeom prst="rect">
            <a:avLst/>
          </a:prstGeom>
          <a:noFill/>
          <a:ln>
            <a:noFill/>
          </a:ln>
        </p:spPr>
        <p:txBody>
          <a:bodyPr wrap="square" lIns="0" tIns="0" rIns="0" bIns="0" anchor="t"/>
          <a:lstStyle/>
          <a:p>
            <a:pPr>
              <a:lnSpc>
                <a:spcPct val="100000"/>
              </a:lnSpc>
            </a:pPr>
            <a:r>
              <a:rPr lang="en-US" sz="2600" b="1">
                <a:solidFill>
                  <a:srgbClr val="4A4A4A"/>
                </a:solidFill>
              </a:rPr>
              <a:t>1c: How it is launched</a:t>
            </a:r>
          </a:p>
        </p:txBody>
      </p:sp>
      <p:sp>
        <p:nvSpPr>
          <p:cNvPr id="761" name="CardLaunchL"/>
          <p:cNvSpPr/>
          <p:nvPr/>
        </p:nvSpPr>
        <p:spPr>
          <a:xfrm>
            <a:off x="1651000" y="12750800"/>
            <a:ext cx="15748000" cy="1854200"/>
          </a:xfrm>
          <a:prstGeom prst="rect">
            <a:avLst/>
          </a:prstGeom>
          <a:solidFill>
            <a:srgbClr val="F2F2F2"/>
          </a:solidFill>
          <a:ln/>
        </p:spPr>
        <p:txBody>
          <a:bodyPr wrap="square" lIns="0" tIns="0" rIns="0" bIns="0" anchor="t"/>
          <a:lstStyle/>
          <a:p>
            <a:endParaRPr lang="en-US"/>
          </a:p>
        </p:txBody>
      </p:sp>
      <p:sp>
        <p:nvSpPr>
          <p:cNvPr id="763" name="TextLaunchL"/>
          <p:cNvSpPr/>
          <p:nvPr/>
        </p:nvSpPr>
        <p:spPr>
          <a:xfrm>
            <a:off x="2159000" y="12903200"/>
            <a:ext cx="14986000" cy="1549400"/>
          </a:xfrm>
          <a:prstGeom prst="rect">
            <a:avLst/>
          </a:prstGeom>
          <a:noFill/>
          <a:ln>
            <a:noFill/>
          </a:ln>
        </p:spPr>
        <p:txBody>
          <a:bodyPr wrap="square" lIns="0" tIns="0" rIns="0" bIns="0" anchor="t"/>
          <a:lstStyle/>
          <a:p>
            <a:pPr>
              <a:lnSpc>
                <a:spcPct val="105000"/>
              </a:lnSpc>
            </a:pPr>
            <a:r>
              <a:rPr lang="en-US" sz="2100">
                <a:solidFill>
                  <a:srgbClr val="0000FF"/>
                </a:solidFill>
                <a:latin typeface="Consolas"/>
                <a:cs typeface="Consolas"/>
                <a:sym typeface="Consolas"/>
              </a:rPr>
              <a:t>__global__</a:t>
            </a:r>
            <a:r>
              <a:rPr lang="en-US" sz="2100">
                <a:solidFill>
                  <a:srgbClr val="1A1A1A"/>
                </a:solidFill>
                <a:latin typeface="Consolas"/>
                <a:cs typeface="Consolas"/>
                <a:sym typeface="Consolas"/>
              </a:rPr>
              <a:t> </a:t>
            </a:r>
            <a:r>
              <a:rPr lang="en-US" sz="2100">
                <a:solidFill>
                  <a:srgbClr val="0000FF"/>
                </a:solidFill>
                <a:latin typeface="Consolas"/>
                <a:cs typeface="Consolas"/>
                <a:sym typeface="Consolas"/>
              </a:rPr>
              <a:t>void</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make_ops</a:t>
            </a:r>
            <a:r>
              <a:rPr lang="en-US" sz="2100">
                <a:solidFill>
                  <a:srgbClr val="1A1A1A"/>
                </a:solidFill>
                <a:latin typeface="Consolas"/>
                <a:cs typeface="Consolas"/>
                <a:sym typeface="Consolas"/>
              </a:rPr>
              <a:t>(</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ops</a:t>
            </a:r>
            <a:r>
              <a:rPr lang="en-US" sz="2100">
                <a:solidFill>
                  <a:srgbClr val="1A1A1A"/>
                </a:solidFill>
                <a:latin typeface="Consolas"/>
                <a:cs typeface="Consolas"/>
                <a:sym typeface="Consolas"/>
              </a:rPr>
              <a:t>) { </a:t>
            </a:r>
            <a:r>
              <a:rPr lang="en-US" sz="2100">
                <a:solidFill>
                  <a:srgbClr val="001080"/>
                </a:solidFill>
                <a:latin typeface="Consolas"/>
                <a:cs typeface="Consolas"/>
                <a:sym typeface="Consolas"/>
              </a:rPr>
              <a:t>ops</a:t>
            </a:r>
            <a:r>
              <a:rPr lang="en-US" sz="2100">
                <a:solidFill>
                  <a:srgbClr val="1A1A1A"/>
                </a:solidFill>
                <a:latin typeface="Consolas"/>
                <a:cs typeface="Consolas"/>
                <a:sym typeface="Consolas"/>
              </a:rPr>
              <a:t>[</a:t>
            </a:r>
            <a:r>
              <a:rPr lang="en-US" sz="2100">
                <a:solidFill>
                  <a:srgbClr val="098658"/>
                </a:solidFill>
                <a:latin typeface="Consolas"/>
                <a:cs typeface="Consolas"/>
                <a:sym typeface="Consolas"/>
              </a:rPr>
              <a:t>0</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new</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AddN</a:t>
            </a:r>
            <a:r>
              <a:rPr lang="en-US" sz="2100">
                <a:solidFill>
                  <a:srgbClr val="1A1A1A"/>
                </a:solidFill>
                <a:latin typeface="Consolas"/>
                <a:cs typeface="Consolas"/>
                <a:sym typeface="Consolas"/>
              </a:rPr>
              <a:t>(</a:t>
            </a:r>
            <a:r>
              <a:rPr lang="en-US" sz="2100">
                <a:solidFill>
                  <a:srgbClr val="098658"/>
                </a:solidFill>
                <a:latin typeface="Consolas"/>
                <a:cs typeface="Consolas"/>
                <a:sym typeface="Consolas"/>
              </a:rPr>
              <a:t>5.f</a:t>
            </a:r>
            <a:r>
              <a:rPr lang="en-US" sz="2100">
                <a:solidFill>
                  <a:srgbClr val="1A1A1A"/>
                </a:solidFill>
                <a:latin typeface="Consolas"/>
                <a:cs typeface="Consolas"/>
                <a:sym typeface="Consolas"/>
              </a:rPr>
              <a:t>); … }</a:t>
            </a:r>
          </a:p>
          <a:p>
            <a:pPr>
              <a:lnSpc>
                <a:spcPct val="105000"/>
              </a:lnSpc>
            </a:pPr>
            <a:r>
              <a:rPr lang="en-US" sz="2100">
                <a:solidFill>
                  <a:srgbClr val="0000FF"/>
                </a:solidFill>
                <a:latin typeface="Consolas"/>
                <a:cs typeface="Consolas"/>
                <a:sym typeface="Consolas"/>
              </a:rPr>
              <a:t>void</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run</a:t>
            </a:r>
            <a:r>
              <a:rPr lang="en-US" sz="2100">
                <a:solidFill>
                  <a:srgbClr val="1A1A1A"/>
                </a:solidFill>
                <a:latin typeface="Consolas"/>
                <a:cs typeface="Consolas"/>
                <a:sym typeface="Consolas"/>
              </a:rPr>
              <a:t>(</a:t>
            </a:r>
            <a:r>
              <a:rPr lang="en-US" sz="2100">
                <a:solidFill>
                  <a:srgbClr val="0000FF"/>
                </a:solidFill>
                <a:latin typeface="Consolas"/>
                <a:cs typeface="Consolas"/>
                <a:sym typeface="Consolas"/>
              </a:rPr>
              <a:t>float</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d</a:t>
            </a:r>
            <a:r>
              <a:rPr lang="en-US" sz="2100">
                <a:solidFill>
                  <a:srgbClr val="1A1A1A"/>
                </a:solidFill>
                <a:latin typeface="Consolas"/>
                <a:cs typeface="Consolas"/>
                <a:sym typeface="Consolas"/>
              </a:rPr>
              <a:t>) { </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o</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cudaMalloc</a:t>
            </a:r>
            <a:r>
              <a:rPr lang="en-US" sz="2100">
                <a:solidFill>
                  <a:srgbClr val="1A1A1A"/>
                </a:solidFill>
                <a:latin typeface="Consolas"/>
                <a:cs typeface="Consolas"/>
                <a:sym typeface="Consolas"/>
              </a:rPr>
              <a:t>(&amp;</a:t>
            </a:r>
            <a:r>
              <a:rPr lang="en-US" sz="2100">
                <a:solidFill>
                  <a:srgbClr val="001080"/>
                </a:solidFill>
                <a:latin typeface="Consolas"/>
                <a:cs typeface="Consolas"/>
                <a:sym typeface="Consolas"/>
              </a:rPr>
              <a:t>o</a:t>
            </a:r>
            <a:r>
              <a:rPr lang="en-US" sz="2100">
                <a:solidFill>
                  <a:srgbClr val="1A1A1A"/>
                </a:solidFill>
                <a:latin typeface="Consolas"/>
                <a:cs typeface="Consolas"/>
                <a:sym typeface="Consolas"/>
              </a:rPr>
              <a:t>, </a:t>
            </a:r>
            <a:r>
              <a:rPr lang="en-US" sz="2100">
                <a:solidFill>
                  <a:srgbClr val="098658"/>
                </a:solidFill>
                <a:latin typeface="Consolas"/>
                <a:cs typeface="Consolas"/>
                <a:sym typeface="Consolas"/>
              </a:rPr>
              <a:t>3</a:t>
            </a:r>
            <a:r>
              <a:rPr lang="en-US" sz="2100">
                <a:solidFill>
                  <a:srgbClr val="1A1A1A"/>
                </a:solidFill>
                <a:latin typeface="Consolas"/>
                <a:cs typeface="Consolas"/>
                <a:sym typeface="Consolas"/>
              </a:rPr>
              <a:t> * </a:t>
            </a:r>
            <a:r>
              <a:rPr lang="en-US" sz="2100">
                <a:solidFill>
                  <a:srgbClr val="0000FF"/>
                </a:solidFill>
                <a:latin typeface="Consolas"/>
                <a:cs typeface="Consolas"/>
                <a:sym typeface="Consolas"/>
              </a:rPr>
              <a:t>sizeof</a:t>
            </a:r>
            <a:r>
              <a:rPr lang="en-US" sz="2100">
                <a:solidFill>
                  <a:srgbClr val="1A1A1A"/>
                </a:solidFill>
                <a:latin typeface="Consolas"/>
                <a:cs typeface="Consolas"/>
                <a:sym typeface="Consolas"/>
              </a:rPr>
              <a:t>(</a:t>
            </a:r>
            <a:r>
              <a:rPr lang="en-US" sz="2100">
                <a:solidFill>
                  <a:srgbClr val="267F99"/>
                </a:solidFill>
                <a:latin typeface="Consolas"/>
                <a:cs typeface="Consolas"/>
                <a:sym typeface="Consolas"/>
              </a:rPr>
              <a:t>Op</a:t>
            </a:r>
            <a:r>
              <a:rPr lang="en-US" sz="2100">
                <a:solidFill>
                  <a:srgbClr val="1A1A1A"/>
                </a:solidFill>
                <a:latin typeface="Consolas"/>
                <a:cs typeface="Consolas"/>
                <a:sym typeface="Consolas"/>
              </a:rPr>
              <a:t>*));   </a:t>
            </a:r>
            <a:r>
              <a:rPr lang="en-US" sz="2100">
                <a:solidFill>
                  <a:srgbClr val="008000"/>
                </a:solidFill>
                <a:latin typeface="Consolas"/>
                <a:cs typeface="Consolas"/>
                <a:sym typeface="Consolas"/>
              </a:rPr>
              <a:t>// host</a:t>
            </a:r>
          </a:p>
          <a:p>
            <a:pPr>
              <a:lnSpc>
                <a:spcPct val="105000"/>
              </a:lnSpc>
            </a:pP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make_ops</a:t>
            </a:r>
            <a:r>
              <a:rPr lang="en-US" sz="2100">
                <a:solidFill>
                  <a:srgbClr val="1A1A1A"/>
                </a:solidFill>
                <a:latin typeface="Consolas"/>
                <a:cs typeface="Consolas"/>
                <a:sym typeface="Consolas"/>
              </a:rPr>
              <a:t>&lt;&lt;&lt;</a:t>
            </a:r>
            <a:r>
              <a:rPr lang="en-US" sz="2100">
                <a:solidFill>
                  <a:srgbClr val="098658"/>
                </a:solidFill>
                <a:latin typeface="Consolas"/>
                <a:cs typeface="Consolas"/>
                <a:sym typeface="Consolas"/>
              </a:rPr>
              <a:t>1</a:t>
            </a:r>
            <a:r>
              <a:rPr lang="en-US" sz="2100">
                <a:solidFill>
                  <a:srgbClr val="1A1A1A"/>
                </a:solidFill>
                <a:latin typeface="Consolas"/>
                <a:cs typeface="Consolas"/>
                <a:sym typeface="Consolas"/>
              </a:rPr>
              <a:t>, </a:t>
            </a:r>
            <a:r>
              <a:rPr lang="en-US" sz="2100">
                <a:solidFill>
                  <a:srgbClr val="098658"/>
                </a:solidFill>
                <a:latin typeface="Consolas"/>
                <a:cs typeface="Consolas"/>
                <a:sym typeface="Consolas"/>
              </a:rPr>
              <a:t>1</a:t>
            </a:r>
            <a:r>
              <a:rPr lang="en-US" sz="2100">
                <a:solidFill>
                  <a:srgbClr val="1A1A1A"/>
                </a:solidFill>
                <a:latin typeface="Consolas"/>
                <a:cs typeface="Consolas"/>
                <a:sym typeface="Consolas"/>
              </a:rPr>
              <a:t>&gt;&gt;&gt;(</a:t>
            </a:r>
            <a:r>
              <a:rPr lang="en-US" sz="2100">
                <a:solidFill>
                  <a:srgbClr val="001080"/>
                </a:solidFill>
                <a:latin typeface="Consolas"/>
                <a:cs typeface="Consolas"/>
                <a:sym typeface="Consolas"/>
              </a:rPr>
              <a:t>o</a:t>
            </a:r>
            <a:r>
              <a:rPr lang="en-US" sz="2100">
                <a:solidFill>
                  <a:srgbClr val="1A1A1A"/>
                </a:solidFill>
                <a:latin typeface="Consolas"/>
                <a:cs typeface="Consolas"/>
                <a:sym typeface="Consolas"/>
              </a:rPr>
              <a:t>);        </a:t>
            </a:r>
            <a:r>
              <a:rPr lang="en-US" sz="2100">
                <a:solidFill>
                  <a:srgbClr val="008000"/>
                </a:solidFill>
                <a:latin typeface="Consolas"/>
                <a:cs typeface="Consolas"/>
                <a:sym typeface="Consolas"/>
              </a:rPr>
              <a:t>// 1) construct ops ON the device</a:t>
            </a:r>
          </a:p>
          <a:p>
            <a:pPr>
              <a:lnSpc>
                <a:spcPct val="105000"/>
              </a:lnSpc>
            </a:pP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fused</a:t>
            </a:r>
            <a:r>
              <a:rPr lang="en-US" sz="2100">
                <a:solidFill>
                  <a:srgbClr val="1A1A1A"/>
                </a:solidFill>
                <a:latin typeface="Consolas"/>
                <a:cs typeface="Consolas"/>
                <a:sym typeface="Consolas"/>
              </a:rPr>
              <a:t>&lt;&lt;&lt;</a:t>
            </a:r>
            <a:r>
              <a:rPr lang="en-US" sz="2100">
                <a:solidFill>
                  <a:srgbClr val="098658"/>
                </a:solidFill>
                <a:latin typeface="Consolas"/>
                <a:cs typeface="Consolas"/>
                <a:sym typeface="Consolas"/>
              </a:rPr>
              <a:t>1</a:t>
            </a:r>
            <a:r>
              <a:rPr lang="en-US" sz="2100">
                <a:solidFill>
                  <a:srgbClr val="1A1A1A"/>
                </a:solidFill>
                <a:latin typeface="Consolas"/>
                <a:cs typeface="Consolas"/>
                <a:sym typeface="Consolas"/>
              </a:rPr>
              <a:t>, </a:t>
            </a:r>
            <a:r>
              <a:rPr lang="en-US" sz="2100">
                <a:solidFill>
                  <a:srgbClr val="098658"/>
                </a:solidFill>
                <a:latin typeface="Consolas"/>
                <a:cs typeface="Consolas"/>
                <a:sym typeface="Consolas"/>
              </a:rPr>
              <a:t>256</a:t>
            </a:r>
            <a:r>
              <a:rPr lang="en-US" sz="2100">
                <a:solidFill>
                  <a:srgbClr val="1A1A1A"/>
                </a:solidFill>
                <a:latin typeface="Consolas"/>
                <a:cs typeface="Consolas"/>
                <a:sym typeface="Consolas"/>
              </a:rPr>
              <a:t>&gt;&gt;&gt;(</a:t>
            </a:r>
            <a:r>
              <a:rPr lang="en-US" sz="2100">
                <a:solidFill>
                  <a:srgbClr val="001080"/>
                </a:solidFill>
                <a:latin typeface="Consolas"/>
                <a:cs typeface="Consolas"/>
                <a:sym typeface="Consolas"/>
              </a:rPr>
              <a:t>d</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o</a:t>
            </a:r>
            <a:r>
              <a:rPr lang="en-US" sz="2100">
                <a:solidFill>
                  <a:srgbClr val="1A1A1A"/>
                </a:solidFill>
                <a:latin typeface="Consolas"/>
                <a:cs typeface="Consolas"/>
                <a:sym typeface="Consolas"/>
              </a:rPr>
              <a:t>, </a:t>
            </a:r>
            <a:r>
              <a:rPr lang="en-US" sz="2100">
                <a:solidFill>
                  <a:srgbClr val="098658"/>
                </a:solidFill>
                <a:latin typeface="Consolas"/>
                <a:cs typeface="Consolas"/>
                <a:sym typeface="Consolas"/>
              </a:rPr>
              <a:t>3</a:t>
            </a:r>
            <a:r>
              <a:rPr lang="en-US" sz="2100">
                <a:solidFill>
                  <a:srgbClr val="1A1A1A"/>
                </a:solidFill>
                <a:latin typeface="Consolas"/>
                <a:cs typeface="Consolas"/>
                <a:sym typeface="Consolas"/>
              </a:rPr>
              <a:t>); }  </a:t>
            </a:r>
            <a:r>
              <a:rPr lang="en-US" sz="2100">
                <a:solidFill>
                  <a:srgbClr val="008000"/>
                </a:solidFill>
                <a:latin typeface="Consolas"/>
                <a:cs typeface="Consolas"/>
                <a:sym typeface="Consolas"/>
              </a:rPr>
              <a:t>// 2) op list is just a device pointer</a:t>
            </a:r>
          </a:p>
        </p:txBody>
      </p:sp>
      <p:sp>
        <p:nvSpPr>
          <p:cNvPr id="764" name="LabelLaunchR"/>
          <p:cNvSpPr/>
          <p:nvPr/>
        </p:nvSpPr>
        <p:spPr>
          <a:xfrm>
            <a:off x="19177000" y="12090400"/>
            <a:ext cx="15240000" cy="558800"/>
          </a:xfrm>
          <a:prstGeom prst="rect">
            <a:avLst/>
          </a:prstGeom>
          <a:noFill/>
          <a:ln>
            <a:noFill/>
          </a:ln>
        </p:spPr>
        <p:txBody>
          <a:bodyPr wrap="square" lIns="0" tIns="0" rIns="0" bIns="0" anchor="t"/>
          <a:lstStyle/>
          <a:p>
            <a:pPr>
              <a:lnSpc>
                <a:spcPct val="100000"/>
              </a:lnSpc>
            </a:pPr>
            <a:r>
              <a:rPr lang="en-US" sz="2600" b="1">
                <a:solidFill>
                  <a:srgbClr val="4A4A4A"/>
                </a:solidFill>
              </a:rPr>
              <a:t>1c: How it is launched</a:t>
            </a:r>
          </a:p>
        </p:txBody>
      </p:sp>
      <p:sp>
        <p:nvSpPr>
          <p:cNvPr id="765" name="CardLaunchR"/>
          <p:cNvSpPr/>
          <p:nvPr/>
        </p:nvSpPr>
        <p:spPr>
          <a:xfrm>
            <a:off x="19177000" y="12750800"/>
            <a:ext cx="15748000" cy="1854200"/>
          </a:xfrm>
          <a:prstGeom prst="rect">
            <a:avLst/>
          </a:prstGeom>
          <a:solidFill>
            <a:srgbClr val="F2F2F2"/>
          </a:solidFill>
          <a:ln/>
        </p:spPr>
        <p:txBody>
          <a:bodyPr wrap="square" lIns="0" tIns="0" rIns="0" bIns="0" anchor="t"/>
          <a:lstStyle/>
          <a:p>
            <a:endParaRPr lang="en-US"/>
          </a:p>
        </p:txBody>
      </p:sp>
      <p:sp>
        <p:nvSpPr>
          <p:cNvPr id="767" name="TextLaunchR"/>
          <p:cNvSpPr/>
          <p:nvPr/>
        </p:nvSpPr>
        <p:spPr>
          <a:xfrm>
            <a:off x="19685000" y="12903200"/>
            <a:ext cx="14986000" cy="1549400"/>
          </a:xfrm>
          <a:prstGeom prst="rect">
            <a:avLst/>
          </a:prstGeom>
          <a:noFill/>
          <a:ln>
            <a:noFill/>
          </a:ln>
        </p:spPr>
        <p:txBody>
          <a:bodyPr wrap="square" lIns="0" tIns="0" rIns="0" bIns="0" anchor="t"/>
          <a:lstStyle/>
          <a:p>
            <a:pPr>
              <a:lnSpc>
                <a:spcPct val="120000"/>
              </a:lnSpc>
            </a:pPr>
            <a:r>
              <a:rPr lang="en-US" sz="2100">
                <a:solidFill>
                  <a:srgbClr val="001080"/>
                </a:solidFill>
                <a:latin typeface="Consolas"/>
                <a:cs typeface="Consolas"/>
                <a:sym typeface="Consolas"/>
              </a:rPr>
              <a:t>ops</a:t>
            </a:r>
            <a:r>
              <a:rPr lang="en-US" sz="2100">
                <a:solidFill>
                  <a:srgbClr val="1A1A1A"/>
                </a:solidFill>
                <a:latin typeface="Consolas"/>
                <a:cs typeface="Consolas"/>
                <a:sym typeface="Consolas"/>
              </a:rPr>
              <a:t> = [</a:t>
            </a:r>
            <a:r>
              <a:rPr lang="en-US" sz="2100">
                <a:solidFill>
                  <a:srgbClr val="267F99"/>
                </a:solidFill>
                <a:latin typeface="Consolas"/>
                <a:cs typeface="Consolas"/>
                <a:sym typeface="Consolas"/>
              </a:rPr>
              <a:t>AddN</a:t>
            </a:r>
            <a:r>
              <a:rPr lang="en-US" sz="2100">
                <a:solidFill>
                  <a:srgbClr val="1A1A1A"/>
                </a:solidFill>
                <a:latin typeface="Consolas"/>
                <a:cs typeface="Consolas"/>
                <a:sym typeface="Consolas"/>
              </a:rPr>
              <a:t>(</a:t>
            </a:r>
            <a:r>
              <a:rPr lang="en-US" sz="2100">
                <a:solidFill>
                  <a:srgbClr val="098658"/>
                </a:solidFill>
                <a:latin typeface="Consolas"/>
                <a:cs typeface="Consolas"/>
                <a:sym typeface="Consolas"/>
              </a:rPr>
              <a:t>5</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MulN</a:t>
            </a:r>
            <a:r>
              <a:rPr lang="en-US" sz="2100">
                <a:solidFill>
                  <a:srgbClr val="1A1A1A"/>
                </a:solidFill>
                <a:latin typeface="Consolas"/>
                <a:cs typeface="Consolas"/>
                <a:sym typeface="Consolas"/>
              </a:rPr>
              <a:t>(</a:t>
            </a:r>
            <a:r>
              <a:rPr lang="en-US" sz="2100">
                <a:solidFill>
                  <a:srgbClr val="098658"/>
                </a:solidFill>
                <a:latin typeface="Consolas"/>
                <a:cs typeface="Consolas"/>
                <a:sym typeface="Consolas"/>
              </a:rPr>
              <a:t>2</a:t>
            </a:r>
            <a:r>
              <a:rPr lang="en-US" sz="2100">
                <a:solidFill>
                  <a:srgbClr val="1A1A1A"/>
                </a:solidFill>
                <a:latin typeface="Consolas"/>
                <a:cs typeface="Consolas"/>
                <a:sym typeface="Consolas"/>
              </a:rPr>
              <a:t>), </a:t>
            </a:r>
            <a:r>
              <a:rPr lang="en-US" sz="2100">
                <a:solidFill>
                  <a:srgbClr val="267F99"/>
                </a:solidFill>
                <a:latin typeface="Consolas"/>
                <a:cs typeface="Consolas"/>
                <a:sym typeface="Consolas"/>
              </a:rPr>
              <a:t>AddN</a:t>
            </a:r>
            <a:r>
              <a:rPr lang="en-US" sz="2100">
                <a:solidFill>
                  <a:srgbClr val="1A1A1A"/>
                </a:solidFill>
                <a:latin typeface="Consolas"/>
                <a:cs typeface="Consolas"/>
                <a:sym typeface="Consolas"/>
              </a:rPr>
              <a:t>(</a:t>
            </a:r>
            <a:r>
              <a:rPr lang="en-US" sz="2100">
                <a:solidFill>
                  <a:srgbClr val="098658"/>
                </a:solidFill>
                <a:latin typeface="Consolas"/>
                <a:cs typeface="Consolas"/>
                <a:sym typeface="Consolas"/>
              </a:rPr>
              <a:t>-1</a:t>
            </a:r>
            <a:r>
              <a:rPr lang="en-US" sz="2100">
                <a:solidFill>
                  <a:srgbClr val="1A1A1A"/>
                </a:solidFill>
                <a:latin typeface="Consolas"/>
                <a:cs typeface="Consolas"/>
                <a:sym typeface="Consolas"/>
              </a:rPr>
              <a:t>)]    </a:t>
            </a:r>
            <a:r>
              <a:rPr lang="en-US" sz="2100">
                <a:solidFill>
                  <a:srgbClr val="008000"/>
                </a:solidFill>
                <a:latin typeface="Consolas"/>
                <a:cs typeface="Consolas"/>
                <a:sym typeface="Consolas"/>
              </a:rPr>
              <a:t># plain Python list</a:t>
            </a:r>
          </a:p>
          <a:p>
            <a:pPr>
              <a:lnSpc>
                <a:spcPct val="120000"/>
              </a:lnSpc>
            </a:pPr>
            <a:r>
              <a:rPr lang="en-US" sz="2100">
                <a:solidFill>
                  <a:srgbClr val="001080"/>
                </a:solidFill>
                <a:latin typeface="Consolas"/>
                <a:cs typeface="Consolas"/>
                <a:sym typeface="Consolas"/>
              </a:rPr>
              <a:t>fused</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arr</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ops</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launch</a:t>
            </a:r>
            <a:r>
              <a:rPr lang="en-US" sz="2100">
                <a:solidFill>
                  <a:srgbClr val="1A1A1A"/>
                </a:solidFill>
                <a:latin typeface="Consolas"/>
                <a:cs typeface="Consolas"/>
                <a:sym typeface="Consolas"/>
              </a:rPr>
              <a:t>(</a:t>
            </a:r>
            <a:r>
              <a:rPr lang="en-US" sz="2100">
                <a:solidFill>
                  <a:srgbClr val="001080"/>
                </a:solidFill>
                <a:latin typeface="Consolas"/>
                <a:cs typeface="Consolas"/>
                <a:sym typeface="Consolas"/>
              </a:rPr>
              <a:t>grid</a:t>
            </a:r>
            <a:r>
              <a:rPr lang="en-US" sz="2100">
                <a:solidFill>
                  <a:srgbClr val="1A1A1A"/>
                </a:solidFill>
                <a:latin typeface="Consolas"/>
                <a:cs typeface="Consolas"/>
                <a:sym typeface="Consolas"/>
              </a:rPr>
              <a:t>=..., </a:t>
            </a:r>
            <a:r>
              <a:rPr lang="en-US" sz="2100">
                <a:solidFill>
                  <a:srgbClr val="001080"/>
                </a:solidFill>
                <a:latin typeface="Consolas"/>
                <a:cs typeface="Consolas"/>
                <a:sym typeface="Consolas"/>
              </a:rPr>
              <a:t>block</a:t>
            </a:r>
            <a:r>
              <a:rPr lang="en-US" sz="2100">
                <a:solidFill>
                  <a:srgbClr val="1A1A1A"/>
                </a:solidFill>
                <a:latin typeface="Consolas"/>
                <a:cs typeface="Consolas"/>
                <a:sym typeface="Consolas"/>
              </a:rPr>
              <a:t>=...)</a:t>
            </a:r>
          </a:p>
          <a:p>
            <a:pPr>
              <a:lnSpc>
                <a:spcPct val="120000"/>
              </a:lnSpc>
            </a:pPr>
            <a:r>
              <a:rPr lang="en-US" sz="2100">
                <a:solidFill>
                  <a:srgbClr val="1A1A1A"/>
                </a:solidFill>
                <a:latin typeface="Consolas"/>
                <a:cs typeface="Consolas"/>
                <a:sym typeface="Consolas"/>
              </a:rPr>
              <a:t>                                     </a:t>
            </a:r>
            <a:r>
              <a:rPr lang="en-US" sz="2100">
                <a:solidFill>
                  <a:srgbClr val="008000"/>
                </a:solidFill>
                <a:latin typeface="Consolas"/>
                <a:cs typeface="Consolas"/>
                <a:sym typeface="Consolas"/>
              </a:rPr>
              <a:t># ops are constant at trace time</a:t>
            </a:r>
          </a:p>
          <a:p>
            <a:pPr>
              <a:lnSpc>
                <a:spcPct val="120000"/>
              </a:lnSpc>
            </a:pPr>
            <a:r>
              <a:rPr lang="en-US" sz="2100">
                <a:solidFill>
                  <a:srgbClr val="1A1A1A"/>
                </a:solidFill>
                <a:latin typeface="Consolas"/>
                <a:cs typeface="Consolas"/>
                <a:sym typeface="Consolas"/>
              </a:rPr>
              <a:t>                                     </a:t>
            </a:r>
            <a:r>
              <a:rPr lang="en-US" sz="2100">
                <a:solidFill>
                  <a:srgbClr val="008000"/>
                </a:solidFill>
                <a:latin typeface="Consolas"/>
                <a:cs typeface="Consolas"/>
                <a:sym typeface="Consolas"/>
              </a:rPr>
              <a:t># one specialised kernel per chain</a:t>
            </a:r>
          </a:p>
        </p:txBody>
      </p:sp>
      <p:sp>
        <p:nvSpPr>
          <p:cNvPr id="810" name="PillL"/>
          <p:cNvSpPr/>
          <p:nvPr/>
        </p:nvSpPr>
        <p:spPr>
          <a:xfrm>
            <a:off x="11176000" y="14706600"/>
            <a:ext cx="6223000" cy="635000"/>
          </a:xfrm>
          <a:prstGeom prst="roundRect">
            <a:avLst/>
          </a:prstGeom>
          <a:solidFill>
            <a:srgbClr val="FDECEC"/>
          </a:solidFill>
          <a:ln>
            <a:noFill/>
          </a:ln>
        </p:spPr>
        <p:txBody>
          <a:bodyPr wrap="square" lIns="0" tIns="0" rIns="0" bIns="0" anchor="ctr"/>
          <a:lstStyle/>
          <a:p>
            <a:pPr algn="ctr">
              <a:lnSpc>
                <a:spcPct val="100000"/>
              </a:lnSpc>
            </a:pPr>
            <a:r>
              <a:rPr lang="en-US" sz="2200" b="1">
                <a:solidFill>
                  <a:srgbClr val="B3261E"/>
                </a:solidFill>
              </a:rPr>
              <a:t>621 lines PTX · 29 calls</a:t>
            </a:r>
          </a:p>
        </p:txBody>
      </p:sp>
      <p:sp>
        <p:nvSpPr>
          <p:cNvPr id="811" name="PillR"/>
          <p:cNvSpPr/>
          <p:nvPr/>
        </p:nvSpPr>
        <p:spPr>
          <a:xfrm>
            <a:off x="28702000" y="14706600"/>
            <a:ext cx="6223000" cy="635000"/>
          </a:xfrm>
          <a:prstGeom prst="roundRect">
            <a:avLst/>
          </a:prstGeom>
          <a:solidFill>
            <a:srgbClr val="EEF7E0"/>
          </a:solidFill>
          <a:ln>
            <a:noFill/>
          </a:ln>
        </p:spPr>
        <p:txBody>
          <a:bodyPr wrap="square" lIns="0" tIns="0" rIns="0" bIns="0" anchor="ctr"/>
          <a:lstStyle/>
          <a:p>
            <a:pPr algn="ctr">
              <a:lnSpc>
                <a:spcPct val="100000"/>
              </a:lnSpc>
            </a:pPr>
            <a:r>
              <a:rPr lang="en-US" sz="2200" b="1">
                <a:solidFill>
                  <a:srgbClr val="3F6B00"/>
                </a:solidFill>
              </a:rPr>
              <a:t>~12 lines PTX · 0 calls</a:t>
            </a:r>
          </a:p>
        </p:txBody>
      </p:sp>
      <p:sp>
        <p:nvSpPr>
          <p:cNvPr id="850" name="RuleL"/>
          <p:cNvSpPr/>
          <p:nvPr/>
        </p:nvSpPr>
        <p:spPr>
          <a:xfrm>
            <a:off x="1016000" y="3810000"/>
            <a:ext cx="17018000" cy="101600"/>
          </a:xfrm>
          <a:prstGeom prst="rect">
            <a:avLst/>
          </a:prstGeom>
          <a:solidFill>
            <a:srgbClr val="1A1A1A"/>
          </a:solidFill>
          <a:ln>
            <a:noFill/>
          </a:ln>
        </p:spPr>
        <p:txBody>
          <a:bodyPr wrap="square" lIns="0" tIns="0" rIns="0" bIns="0" anchor="ctr"/>
          <a:lstStyle/>
          <a:p>
            <a:endParaRPr lang="en-US"/>
          </a:p>
        </p:txBody>
      </p:sp>
      <p:sp>
        <p:nvSpPr>
          <p:cNvPr id="851" name="RuleR"/>
          <p:cNvSpPr/>
          <p:nvPr/>
        </p:nvSpPr>
        <p:spPr>
          <a:xfrm>
            <a:off x="18542000" y="3810000"/>
            <a:ext cx="17018000" cy="101600"/>
          </a:xfrm>
          <a:prstGeom prst="rect">
            <a:avLst/>
          </a:prstGeom>
          <a:solidFill>
            <a:srgbClr val="76B900"/>
          </a:solidFill>
          <a:ln>
            <a:noFill/>
          </a:ln>
        </p:spPr>
        <p:txBody>
          <a:bodyPr wrap="square" lIns="0" tIns="0" rIns="0" bIns="0" anchor="ctr"/>
          <a:lstStyle/>
          <a:p>
            <a:endParaRPr lang="en-US"/>
          </a:p>
        </p:txBody>
      </p:sp>
      <p:sp>
        <p:nvSpPr>
          <p:cNvPr id="852" name="HeadL"/>
          <p:cNvSpPr/>
          <p:nvPr/>
        </p:nvSpPr>
        <p:spPr>
          <a:xfrm>
            <a:off x="1016000" y="4013200"/>
            <a:ext cx="17018000" cy="812800"/>
          </a:xfrm>
          <a:prstGeom prst="rect">
            <a:avLst/>
          </a:prstGeom>
          <a:noFill/>
          <a:ln>
            <a:noFill/>
          </a:ln>
        </p:spPr>
        <p:txBody>
          <a:bodyPr wrap="square" lIns="0" tIns="0" rIns="0" bIns="0" anchor="ctr"/>
          <a:lstStyle/>
          <a:p>
            <a:pPr>
              <a:lnSpc>
                <a:spcPct val="100000"/>
              </a:lnSpc>
            </a:pPr>
            <a:r>
              <a:rPr lang="en-US" sz="2600" b="1">
                <a:solidFill>
                  <a:srgbClr val="6E6E6E"/>
                </a:solidFill>
              </a:rPr>
              <a:t>01  </a:t>
            </a:r>
            <a:r>
              <a:rPr lang="en-US" sz="2600" b="1">
                <a:solidFill>
                  <a:srgbClr val="1A1A1A"/>
                </a:solidFill>
              </a:rPr>
              <a:t>Without metaprogramming: C++ virtual dispatch</a:t>
            </a:r>
          </a:p>
        </p:txBody>
      </p:sp>
      <p:sp>
        <p:nvSpPr>
          <p:cNvPr id="853" name="HeadR"/>
          <p:cNvSpPr/>
          <p:nvPr/>
        </p:nvSpPr>
        <p:spPr>
          <a:xfrm>
            <a:off x="18542000" y="4013200"/>
            <a:ext cx="17018000" cy="812800"/>
          </a:xfrm>
          <a:prstGeom prst="rect">
            <a:avLst/>
          </a:prstGeom>
          <a:noFill/>
          <a:ln>
            <a:noFill/>
          </a:ln>
        </p:spPr>
        <p:txBody>
          <a:bodyPr wrap="square" lIns="0" tIns="0" rIns="0" bIns="0" anchor="ctr"/>
          <a:lstStyle/>
          <a:p>
            <a:pPr>
              <a:lnSpc>
                <a:spcPct val="100000"/>
              </a:lnSpc>
            </a:pPr>
            <a:r>
              <a:rPr lang="en-US" sz="2600" b="1">
                <a:solidFill>
                  <a:srgbClr val="76B900"/>
                </a:solidFill>
              </a:rPr>
              <a:t>02  </a:t>
            </a:r>
            <a:r>
              <a:rPr lang="en-US" sz="2600" b="1">
                <a:solidFill>
                  <a:srgbClr val="1A1A1A"/>
                </a:solidFill>
              </a:rPr>
              <a:t>With metaprogramming: Python DSL</a:t>
            </a:r>
          </a:p>
        </p:txBody>
      </p:sp>
      <p:sp>
        <p:nvSpPr>
          <p:cNvPr id="820" name="FormulaPill"/>
          <p:cNvSpPr/>
          <p:nvPr/>
        </p:nvSpPr>
        <p:spPr>
          <a:xfrm>
            <a:off x="1016000" y="2133600"/>
            <a:ext cx="5969000" cy="889000"/>
          </a:xfrm>
          <a:prstGeom prst="roundRect">
            <a:avLst/>
          </a:prstGeom>
          <a:solidFill>
            <a:srgbClr val="EEF7E0"/>
          </a:solidFill>
          <a:ln>
            <a:noFill/>
          </a:ln>
        </p:spPr>
        <p:txBody>
          <a:bodyPr wrap="none" lIns="0" tIns="0" rIns="0" bIns="0" anchor="ctr"/>
          <a:lstStyle/>
          <a:p>
            <a:pPr algn="ctr">
              <a:lnSpc>
                <a:spcPct val="100000"/>
              </a:lnSpc>
            </a:pPr>
            <a:r>
              <a:rPr lang="en-US" sz="3000" b="1">
                <a:solidFill>
                  <a:srgbClr val="3F6B00"/>
                </a:solidFill>
                <a:latin typeface="Consolas"/>
                <a:cs typeface="Consolas"/>
                <a:sym typeface="Consolas"/>
              </a:rPr>
              <a:t>x → (x + 5) × 2 − 1</a:t>
            </a:r>
          </a:p>
        </p:txBody>
      </p:sp>
    </p:spTree>
    <p:extLst>
      <p:ext uri="{BB962C8B-B14F-4D97-AF65-F5344CB8AC3E}">
        <p14:creationId xmlns:p14="http://schemas.microsoft.com/office/powerpoint/2010/main" val="265554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animEffect transition="in" filter="fade">
                                      <p:cBhvr>
                                        <p:cTn id="7" dur="400"/>
                                        <p:tgtEl>
                                          <p:spTgt spid="850"/>
                                        </p:tgtEl>
                                      </p:cBhvr>
                                    </p:animEffect>
                                  </p:childTnLst>
                                </p:cTn>
                              </p:par>
                              <p:par>
                                <p:cTn id="8" presetID="10" presetClass="entr" presetSubtype="0" fill="hold" nodeType="withEffect">
                                  <p:stCondLst>
                                    <p:cond delay="0"/>
                                  </p:stCondLst>
                                  <p:childTnLst>
                                    <p:set>
                                      <p:cBhvr>
                                        <p:cTn id="9" dur="1" fill="hold">
                                          <p:stCondLst>
                                            <p:cond delay="0"/>
                                          </p:stCondLst>
                                        </p:cTn>
                                        <p:tgtEl>
                                          <p:spTgt spid="852"/>
                                        </p:tgtEl>
                                        <p:attrNameLst>
                                          <p:attrName>style.visibility</p:attrName>
                                        </p:attrNameLst>
                                      </p:cBhvr>
                                      <p:to>
                                        <p:strVal val="visible"/>
                                      </p:to>
                                    </p:set>
                                    <p:animEffect transition="in" filter="fade">
                                      <p:cBhvr>
                                        <p:cTn id="10" dur="400"/>
                                        <p:tgtEl>
                                          <p:spTgt spid="852"/>
                                        </p:tgtEl>
                                      </p:cBhvr>
                                    </p:animEffect>
                                  </p:childTnLst>
                                </p:cTn>
                              </p:par>
                              <p:par>
                                <p:cTn id="11" presetID="10" presetClass="entr" presetSubtype="0" fill="hold" nodeType="withEffect">
                                  <p:stCondLst>
                                    <p:cond delay="0"/>
                                  </p:stCondLst>
                                  <p:childTnLst>
                                    <p:set>
                                      <p:cBhvr>
                                        <p:cTn id="12" dur="1" fill="hold">
                                          <p:stCondLst>
                                            <p:cond delay="0"/>
                                          </p:stCondLst>
                                        </p:cTn>
                                        <p:tgtEl>
                                          <p:spTgt spid="851"/>
                                        </p:tgtEl>
                                        <p:attrNameLst>
                                          <p:attrName>style.visibility</p:attrName>
                                        </p:attrNameLst>
                                      </p:cBhvr>
                                      <p:to>
                                        <p:strVal val="visible"/>
                                      </p:to>
                                    </p:set>
                                    <p:animEffect transition="in" filter="fade">
                                      <p:cBhvr>
                                        <p:cTn id="13" dur="400"/>
                                        <p:tgtEl>
                                          <p:spTgt spid="851"/>
                                        </p:tgtEl>
                                      </p:cBhvr>
                                    </p:animEffect>
                                  </p:childTnLst>
                                </p:cTn>
                              </p:par>
                              <p:par>
                                <p:cTn id="14" presetID="10" presetClass="entr" presetSubtype="0" fill="hold" nodeType="withEffect">
                                  <p:stCondLst>
                                    <p:cond delay="0"/>
                                  </p:stCondLst>
                                  <p:childTnLst>
                                    <p:set>
                                      <p:cBhvr>
                                        <p:cTn id="15" dur="1" fill="hold">
                                          <p:stCondLst>
                                            <p:cond delay="0"/>
                                          </p:stCondLst>
                                        </p:cTn>
                                        <p:tgtEl>
                                          <p:spTgt spid="853"/>
                                        </p:tgtEl>
                                        <p:attrNameLst>
                                          <p:attrName>style.visibility</p:attrName>
                                        </p:attrNameLst>
                                      </p:cBhvr>
                                      <p:to>
                                        <p:strVal val="visible"/>
                                      </p:to>
                                    </p:set>
                                    <p:animEffect transition="in" filter="fade">
                                      <p:cBhvr>
                                        <p:cTn id="16" dur="400"/>
                                        <p:tgtEl>
                                          <p:spTgt spid="853"/>
                                        </p:tgtEl>
                                      </p:cBhvr>
                                    </p:animEffect>
                                  </p:childTnLst>
                                </p:cTn>
                              </p:par>
                              <p:par>
                                <p:cTn id="17" presetID="10" presetClass="entr" presetSubtype="0" fill="hold" nodeType="withEffect">
                                  <p:stCondLst>
                                    <p:cond delay="0"/>
                                  </p:stCondLst>
                                  <p:childTnLst>
                                    <p:set>
                                      <p:cBhvr>
                                        <p:cTn id="18" dur="1" fill="hold">
                                          <p:stCondLst>
                                            <p:cond delay="0"/>
                                          </p:stCondLst>
                                        </p:cTn>
                                        <p:tgtEl>
                                          <p:spTgt spid="703"/>
                                        </p:tgtEl>
                                        <p:attrNameLst>
                                          <p:attrName>style.visibility</p:attrName>
                                        </p:attrNameLst>
                                      </p:cBhvr>
                                      <p:to>
                                        <p:strVal val="visible"/>
                                      </p:to>
                                    </p:set>
                                    <p:animEffect transition="in" filter="fade">
                                      <p:cBhvr>
                                        <p:cTn id="19" dur="400"/>
                                        <p:tgtEl>
                                          <p:spTgt spid="703"/>
                                        </p:tgtEl>
                                      </p:cBhvr>
                                    </p:animEffect>
                                  </p:childTnLst>
                                </p:cTn>
                              </p:par>
                              <p:par>
                                <p:cTn id="20" presetID="10" presetClass="entr" presetSubtype="0" fill="hold" nodeType="withEffect">
                                  <p:stCondLst>
                                    <p:cond delay="0"/>
                                  </p:stCondLst>
                                  <p:childTnLst>
                                    <p:set>
                                      <p:cBhvr>
                                        <p:cTn id="21" dur="1" fill="hold">
                                          <p:stCondLst>
                                            <p:cond delay="0"/>
                                          </p:stCondLst>
                                        </p:cTn>
                                        <p:tgtEl>
                                          <p:spTgt spid="704"/>
                                        </p:tgtEl>
                                        <p:attrNameLst>
                                          <p:attrName>style.visibility</p:attrName>
                                        </p:attrNameLst>
                                      </p:cBhvr>
                                      <p:to>
                                        <p:strVal val="visible"/>
                                      </p:to>
                                    </p:set>
                                    <p:animEffect transition="in" filter="fade">
                                      <p:cBhvr>
                                        <p:cTn id="22" dur="400"/>
                                        <p:tgtEl>
                                          <p:spTgt spid="704"/>
                                        </p:tgtEl>
                                      </p:cBhvr>
                                    </p:animEffect>
                                  </p:childTnLst>
                                </p:cTn>
                              </p:par>
                              <p:par>
                                <p:cTn id="23" presetID="10" presetClass="entr" presetSubtype="0" fill="hold" nodeType="withEffect">
                                  <p:stCondLst>
                                    <p:cond delay="0"/>
                                  </p:stCondLst>
                                  <p:childTnLst>
                                    <p:set>
                                      <p:cBhvr>
                                        <p:cTn id="24" dur="1" fill="hold">
                                          <p:stCondLst>
                                            <p:cond delay="0"/>
                                          </p:stCondLst>
                                        </p:cTn>
                                        <p:tgtEl>
                                          <p:spTgt spid="706"/>
                                        </p:tgtEl>
                                        <p:attrNameLst>
                                          <p:attrName>style.visibility</p:attrName>
                                        </p:attrNameLst>
                                      </p:cBhvr>
                                      <p:to>
                                        <p:strVal val="visible"/>
                                      </p:to>
                                    </p:set>
                                    <p:animEffect transition="in" filter="fade">
                                      <p:cBhvr>
                                        <p:cTn id="25" dur="400"/>
                                        <p:tgtEl>
                                          <p:spTgt spid="706"/>
                                        </p:tgtEl>
                                      </p:cBhvr>
                                    </p:animEffect>
                                  </p:childTnLst>
                                </p:cTn>
                              </p:par>
                              <p:par>
                                <p:cTn id="26" presetID="10" presetClass="entr" presetSubtype="0" fill="hold" nodeType="withEffect">
                                  <p:stCondLst>
                                    <p:cond delay="0"/>
                                  </p:stCondLst>
                                  <p:childTnLst>
                                    <p:set>
                                      <p:cBhvr>
                                        <p:cTn id="27" dur="1" fill="hold">
                                          <p:stCondLst>
                                            <p:cond delay="0"/>
                                          </p:stCondLst>
                                        </p:cTn>
                                        <p:tgtEl>
                                          <p:spTgt spid="711"/>
                                        </p:tgtEl>
                                        <p:attrNameLst>
                                          <p:attrName>style.visibility</p:attrName>
                                        </p:attrNameLst>
                                      </p:cBhvr>
                                      <p:to>
                                        <p:strVal val="visible"/>
                                      </p:to>
                                    </p:set>
                                    <p:animEffect transition="in" filter="fade">
                                      <p:cBhvr>
                                        <p:cTn id="28" dur="400"/>
                                        <p:tgtEl>
                                          <p:spTgt spid="711"/>
                                        </p:tgtEl>
                                      </p:cBhvr>
                                    </p:animEffect>
                                  </p:childTnLst>
                                </p:cTn>
                              </p:par>
                              <p:par>
                                <p:cTn id="29" presetID="10" presetClass="entr" presetSubtype="0" fill="hold" nodeType="withEffect">
                                  <p:stCondLst>
                                    <p:cond delay="0"/>
                                  </p:stCondLst>
                                  <p:childTnLst>
                                    <p:set>
                                      <p:cBhvr>
                                        <p:cTn id="30" dur="1" fill="hold">
                                          <p:stCondLst>
                                            <p:cond delay="0"/>
                                          </p:stCondLst>
                                        </p:cTn>
                                        <p:tgtEl>
                                          <p:spTgt spid="712"/>
                                        </p:tgtEl>
                                        <p:attrNameLst>
                                          <p:attrName>style.visibility</p:attrName>
                                        </p:attrNameLst>
                                      </p:cBhvr>
                                      <p:to>
                                        <p:strVal val="visible"/>
                                      </p:to>
                                    </p:set>
                                    <p:animEffect transition="in" filter="fade">
                                      <p:cBhvr>
                                        <p:cTn id="31" dur="400"/>
                                        <p:tgtEl>
                                          <p:spTgt spid="712"/>
                                        </p:tgtEl>
                                      </p:cBhvr>
                                    </p:animEffect>
                                  </p:childTnLst>
                                </p:cTn>
                              </p:par>
                              <p:par>
                                <p:cTn id="32" presetID="10" presetClass="entr" presetSubtype="0" fill="hold" nodeType="withEffect">
                                  <p:stCondLst>
                                    <p:cond delay="0"/>
                                  </p:stCondLst>
                                  <p:childTnLst>
                                    <p:set>
                                      <p:cBhvr>
                                        <p:cTn id="33" dur="1" fill="hold">
                                          <p:stCondLst>
                                            <p:cond delay="0"/>
                                          </p:stCondLst>
                                        </p:cTn>
                                        <p:tgtEl>
                                          <p:spTgt spid="714"/>
                                        </p:tgtEl>
                                        <p:attrNameLst>
                                          <p:attrName>style.visibility</p:attrName>
                                        </p:attrNameLst>
                                      </p:cBhvr>
                                      <p:to>
                                        <p:strVal val="visible"/>
                                      </p:to>
                                    </p:set>
                                    <p:animEffect transition="in" filter="fade">
                                      <p:cBhvr>
                                        <p:cTn id="34" dur="400"/>
                                        <p:tgtEl>
                                          <p:spTgt spid="7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50"/>
                                        </p:tgtEl>
                                        <p:attrNameLst>
                                          <p:attrName>style.visibility</p:attrName>
                                        </p:attrNameLst>
                                      </p:cBhvr>
                                      <p:to>
                                        <p:strVal val="visible"/>
                                      </p:to>
                                    </p:set>
                                    <p:animEffect transition="in" filter="fade">
                                      <p:cBhvr>
                                        <p:cTn id="39" dur="400"/>
                                        <p:tgtEl>
                                          <p:spTgt spid="750"/>
                                        </p:tgtEl>
                                      </p:cBhvr>
                                    </p:animEffect>
                                  </p:childTnLst>
                                </p:cTn>
                              </p:par>
                              <p:par>
                                <p:cTn id="40" presetID="10" presetClass="entr" presetSubtype="0" fill="hold" nodeType="withEffect">
                                  <p:stCondLst>
                                    <p:cond delay="0"/>
                                  </p:stCondLst>
                                  <p:childTnLst>
                                    <p:set>
                                      <p:cBhvr>
                                        <p:cTn id="41" dur="1" fill="hold">
                                          <p:stCondLst>
                                            <p:cond delay="0"/>
                                          </p:stCondLst>
                                        </p:cTn>
                                        <p:tgtEl>
                                          <p:spTgt spid="751"/>
                                        </p:tgtEl>
                                        <p:attrNameLst>
                                          <p:attrName>style.visibility</p:attrName>
                                        </p:attrNameLst>
                                      </p:cBhvr>
                                      <p:to>
                                        <p:strVal val="visible"/>
                                      </p:to>
                                    </p:set>
                                    <p:animEffect transition="in" filter="fade">
                                      <p:cBhvr>
                                        <p:cTn id="42" dur="400"/>
                                        <p:tgtEl>
                                          <p:spTgt spid="751"/>
                                        </p:tgtEl>
                                      </p:cBhvr>
                                    </p:animEffect>
                                  </p:childTnLst>
                                </p:cTn>
                              </p:par>
                              <p:par>
                                <p:cTn id="43" presetID="10" presetClass="entr" presetSubtype="0" fill="hold" nodeType="withEffect">
                                  <p:stCondLst>
                                    <p:cond delay="0"/>
                                  </p:stCondLst>
                                  <p:childTnLst>
                                    <p:set>
                                      <p:cBhvr>
                                        <p:cTn id="44" dur="1" fill="hold">
                                          <p:stCondLst>
                                            <p:cond delay="0"/>
                                          </p:stCondLst>
                                        </p:cTn>
                                        <p:tgtEl>
                                          <p:spTgt spid="753"/>
                                        </p:tgtEl>
                                        <p:attrNameLst>
                                          <p:attrName>style.visibility</p:attrName>
                                        </p:attrNameLst>
                                      </p:cBhvr>
                                      <p:to>
                                        <p:strVal val="visible"/>
                                      </p:to>
                                    </p:set>
                                    <p:animEffect transition="in" filter="fade">
                                      <p:cBhvr>
                                        <p:cTn id="45" dur="400"/>
                                        <p:tgtEl>
                                          <p:spTgt spid="753"/>
                                        </p:tgtEl>
                                      </p:cBhvr>
                                    </p:animEffect>
                                  </p:childTnLst>
                                </p:cTn>
                              </p:par>
                              <p:par>
                                <p:cTn id="46" presetID="10" presetClass="entr" presetSubtype="0" fill="hold" nodeType="withEffect">
                                  <p:stCondLst>
                                    <p:cond delay="0"/>
                                  </p:stCondLst>
                                  <p:childTnLst>
                                    <p:set>
                                      <p:cBhvr>
                                        <p:cTn id="47" dur="1" fill="hold">
                                          <p:stCondLst>
                                            <p:cond delay="0"/>
                                          </p:stCondLst>
                                        </p:cTn>
                                        <p:tgtEl>
                                          <p:spTgt spid="754"/>
                                        </p:tgtEl>
                                        <p:attrNameLst>
                                          <p:attrName>style.visibility</p:attrName>
                                        </p:attrNameLst>
                                      </p:cBhvr>
                                      <p:to>
                                        <p:strVal val="visible"/>
                                      </p:to>
                                    </p:set>
                                    <p:animEffect transition="in" filter="fade">
                                      <p:cBhvr>
                                        <p:cTn id="48" dur="400"/>
                                        <p:tgtEl>
                                          <p:spTgt spid="754"/>
                                        </p:tgtEl>
                                      </p:cBhvr>
                                    </p:animEffect>
                                  </p:childTnLst>
                                </p:cTn>
                              </p:par>
                              <p:par>
                                <p:cTn id="49" presetID="10" presetClass="entr" presetSubtype="0" fill="hold" nodeType="withEffect">
                                  <p:stCondLst>
                                    <p:cond delay="0"/>
                                  </p:stCondLst>
                                  <p:childTnLst>
                                    <p:set>
                                      <p:cBhvr>
                                        <p:cTn id="50" dur="1" fill="hold">
                                          <p:stCondLst>
                                            <p:cond delay="0"/>
                                          </p:stCondLst>
                                        </p:cTn>
                                        <p:tgtEl>
                                          <p:spTgt spid="755"/>
                                        </p:tgtEl>
                                        <p:attrNameLst>
                                          <p:attrName>style.visibility</p:attrName>
                                        </p:attrNameLst>
                                      </p:cBhvr>
                                      <p:to>
                                        <p:strVal val="visible"/>
                                      </p:to>
                                    </p:set>
                                    <p:animEffect transition="in" filter="fade">
                                      <p:cBhvr>
                                        <p:cTn id="51" dur="400"/>
                                        <p:tgtEl>
                                          <p:spTgt spid="755"/>
                                        </p:tgtEl>
                                      </p:cBhvr>
                                    </p:animEffect>
                                  </p:childTnLst>
                                </p:cTn>
                              </p:par>
                              <p:par>
                                <p:cTn id="52" presetID="10" presetClass="entr" presetSubtype="0" fill="hold" nodeType="withEffect">
                                  <p:stCondLst>
                                    <p:cond delay="0"/>
                                  </p:stCondLst>
                                  <p:childTnLst>
                                    <p:set>
                                      <p:cBhvr>
                                        <p:cTn id="53" dur="1" fill="hold">
                                          <p:stCondLst>
                                            <p:cond delay="0"/>
                                          </p:stCondLst>
                                        </p:cTn>
                                        <p:tgtEl>
                                          <p:spTgt spid="757"/>
                                        </p:tgtEl>
                                        <p:attrNameLst>
                                          <p:attrName>style.visibility</p:attrName>
                                        </p:attrNameLst>
                                      </p:cBhvr>
                                      <p:to>
                                        <p:strVal val="visible"/>
                                      </p:to>
                                    </p:set>
                                    <p:animEffect transition="in" filter="fade">
                                      <p:cBhvr>
                                        <p:cTn id="54" dur="400"/>
                                        <p:tgtEl>
                                          <p:spTgt spid="75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760"/>
                                        </p:tgtEl>
                                        <p:attrNameLst>
                                          <p:attrName>style.visibility</p:attrName>
                                        </p:attrNameLst>
                                      </p:cBhvr>
                                      <p:to>
                                        <p:strVal val="visible"/>
                                      </p:to>
                                    </p:set>
                                    <p:animEffect transition="in" filter="fade">
                                      <p:cBhvr>
                                        <p:cTn id="59" dur="400"/>
                                        <p:tgtEl>
                                          <p:spTgt spid="760"/>
                                        </p:tgtEl>
                                      </p:cBhvr>
                                    </p:animEffect>
                                  </p:childTnLst>
                                </p:cTn>
                              </p:par>
                              <p:par>
                                <p:cTn id="60" presetID="10" presetClass="entr" presetSubtype="0" fill="hold" nodeType="withEffect">
                                  <p:stCondLst>
                                    <p:cond delay="0"/>
                                  </p:stCondLst>
                                  <p:childTnLst>
                                    <p:set>
                                      <p:cBhvr>
                                        <p:cTn id="61" dur="1" fill="hold">
                                          <p:stCondLst>
                                            <p:cond delay="0"/>
                                          </p:stCondLst>
                                        </p:cTn>
                                        <p:tgtEl>
                                          <p:spTgt spid="761"/>
                                        </p:tgtEl>
                                        <p:attrNameLst>
                                          <p:attrName>style.visibility</p:attrName>
                                        </p:attrNameLst>
                                      </p:cBhvr>
                                      <p:to>
                                        <p:strVal val="visible"/>
                                      </p:to>
                                    </p:set>
                                    <p:animEffect transition="in" filter="fade">
                                      <p:cBhvr>
                                        <p:cTn id="62" dur="400"/>
                                        <p:tgtEl>
                                          <p:spTgt spid="761"/>
                                        </p:tgtEl>
                                      </p:cBhvr>
                                    </p:animEffect>
                                  </p:childTnLst>
                                </p:cTn>
                              </p:par>
                              <p:par>
                                <p:cTn id="63" presetID="10" presetClass="entr" presetSubtype="0" fill="hold" nodeType="withEffect">
                                  <p:stCondLst>
                                    <p:cond delay="0"/>
                                  </p:stCondLst>
                                  <p:childTnLst>
                                    <p:set>
                                      <p:cBhvr>
                                        <p:cTn id="64" dur="1" fill="hold">
                                          <p:stCondLst>
                                            <p:cond delay="0"/>
                                          </p:stCondLst>
                                        </p:cTn>
                                        <p:tgtEl>
                                          <p:spTgt spid="763"/>
                                        </p:tgtEl>
                                        <p:attrNameLst>
                                          <p:attrName>style.visibility</p:attrName>
                                        </p:attrNameLst>
                                      </p:cBhvr>
                                      <p:to>
                                        <p:strVal val="visible"/>
                                      </p:to>
                                    </p:set>
                                    <p:animEffect transition="in" filter="fade">
                                      <p:cBhvr>
                                        <p:cTn id="65" dur="400"/>
                                        <p:tgtEl>
                                          <p:spTgt spid="763"/>
                                        </p:tgtEl>
                                      </p:cBhvr>
                                    </p:animEffect>
                                  </p:childTnLst>
                                </p:cTn>
                              </p:par>
                              <p:par>
                                <p:cTn id="66" presetID="10" presetClass="entr" presetSubtype="0" fill="hold" nodeType="withEffect">
                                  <p:stCondLst>
                                    <p:cond delay="0"/>
                                  </p:stCondLst>
                                  <p:childTnLst>
                                    <p:set>
                                      <p:cBhvr>
                                        <p:cTn id="67" dur="1" fill="hold">
                                          <p:stCondLst>
                                            <p:cond delay="0"/>
                                          </p:stCondLst>
                                        </p:cTn>
                                        <p:tgtEl>
                                          <p:spTgt spid="764"/>
                                        </p:tgtEl>
                                        <p:attrNameLst>
                                          <p:attrName>style.visibility</p:attrName>
                                        </p:attrNameLst>
                                      </p:cBhvr>
                                      <p:to>
                                        <p:strVal val="visible"/>
                                      </p:to>
                                    </p:set>
                                    <p:animEffect transition="in" filter="fade">
                                      <p:cBhvr>
                                        <p:cTn id="68" dur="400"/>
                                        <p:tgtEl>
                                          <p:spTgt spid="764"/>
                                        </p:tgtEl>
                                      </p:cBhvr>
                                    </p:animEffect>
                                  </p:childTnLst>
                                </p:cTn>
                              </p:par>
                              <p:par>
                                <p:cTn id="69" presetID="10" presetClass="entr" presetSubtype="0" fill="hold" nodeType="withEffect">
                                  <p:stCondLst>
                                    <p:cond delay="0"/>
                                  </p:stCondLst>
                                  <p:childTnLst>
                                    <p:set>
                                      <p:cBhvr>
                                        <p:cTn id="70" dur="1" fill="hold">
                                          <p:stCondLst>
                                            <p:cond delay="0"/>
                                          </p:stCondLst>
                                        </p:cTn>
                                        <p:tgtEl>
                                          <p:spTgt spid="765"/>
                                        </p:tgtEl>
                                        <p:attrNameLst>
                                          <p:attrName>style.visibility</p:attrName>
                                        </p:attrNameLst>
                                      </p:cBhvr>
                                      <p:to>
                                        <p:strVal val="visible"/>
                                      </p:to>
                                    </p:set>
                                    <p:animEffect transition="in" filter="fade">
                                      <p:cBhvr>
                                        <p:cTn id="71" dur="400"/>
                                        <p:tgtEl>
                                          <p:spTgt spid="765"/>
                                        </p:tgtEl>
                                      </p:cBhvr>
                                    </p:animEffect>
                                  </p:childTnLst>
                                </p:cTn>
                              </p:par>
                              <p:par>
                                <p:cTn id="72" presetID="10" presetClass="entr" presetSubtype="0" fill="hold" nodeType="withEffect">
                                  <p:stCondLst>
                                    <p:cond delay="0"/>
                                  </p:stCondLst>
                                  <p:childTnLst>
                                    <p:set>
                                      <p:cBhvr>
                                        <p:cTn id="73" dur="1" fill="hold">
                                          <p:stCondLst>
                                            <p:cond delay="0"/>
                                          </p:stCondLst>
                                        </p:cTn>
                                        <p:tgtEl>
                                          <p:spTgt spid="767"/>
                                        </p:tgtEl>
                                        <p:attrNameLst>
                                          <p:attrName>style.visibility</p:attrName>
                                        </p:attrNameLst>
                                      </p:cBhvr>
                                      <p:to>
                                        <p:strVal val="visible"/>
                                      </p:to>
                                    </p:set>
                                    <p:animEffect transition="in" filter="fade">
                                      <p:cBhvr>
                                        <p:cTn id="74" dur="400"/>
                                        <p:tgtEl>
                                          <p:spTgt spid="76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707"/>
                                        </p:tgtEl>
                                        <p:attrNameLst>
                                          <p:attrName>style.visibility</p:attrName>
                                        </p:attrNameLst>
                                      </p:cBhvr>
                                      <p:to>
                                        <p:strVal val="visible"/>
                                      </p:to>
                                    </p:set>
                                    <p:animEffect transition="in" filter="fade">
                                      <p:cBhvr>
                                        <p:cTn id="79" dur="400"/>
                                        <p:tgtEl>
                                          <p:spTgt spid="707"/>
                                        </p:tgtEl>
                                      </p:cBhvr>
                                    </p:animEffect>
                                  </p:childTnLst>
                                </p:cTn>
                              </p:par>
                              <p:par>
                                <p:cTn id="80" presetID="10" presetClass="entr" presetSubtype="0" fill="hold" nodeType="withEffect">
                                  <p:stCondLst>
                                    <p:cond delay="0"/>
                                  </p:stCondLst>
                                  <p:childTnLst>
                                    <p:set>
                                      <p:cBhvr>
                                        <p:cTn id="81" dur="1" fill="hold">
                                          <p:stCondLst>
                                            <p:cond delay="0"/>
                                          </p:stCondLst>
                                        </p:cTn>
                                        <p:tgtEl>
                                          <p:spTgt spid="810"/>
                                        </p:tgtEl>
                                        <p:attrNameLst>
                                          <p:attrName>style.visibility</p:attrName>
                                        </p:attrNameLst>
                                      </p:cBhvr>
                                      <p:to>
                                        <p:strVal val="visible"/>
                                      </p:to>
                                    </p:set>
                                    <p:animEffect transition="in" filter="fade">
                                      <p:cBhvr>
                                        <p:cTn id="82" dur="400"/>
                                        <p:tgtEl>
                                          <p:spTgt spid="810"/>
                                        </p:tgtEl>
                                      </p:cBhvr>
                                    </p:animEffect>
                                  </p:childTnLst>
                                </p:cTn>
                              </p:par>
                              <p:par>
                                <p:cTn id="83" presetID="10" presetClass="entr" presetSubtype="0" fill="hold" nodeType="withEffect">
                                  <p:stCondLst>
                                    <p:cond delay="0"/>
                                  </p:stCondLst>
                                  <p:childTnLst>
                                    <p:set>
                                      <p:cBhvr>
                                        <p:cTn id="84" dur="1" fill="hold">
                                          <p:stCondLst>
                                            <p:cond delay="0"/>
                                          </p:stCondLst>
                                        </p:cTn>
                                        <p:tgtEl>
                                          <p:spTgt spid="708"/>
                                        </p:tgtEl>
                                        <p:attrNameLst>
                                          <p:attrName>style.visibility</p:attrName>
                                        </p:attrNameLst>
                                      </p:cBhvr>
                                      <p:to>
                                        <p:strVal val="visible"/>
                                      </p:to>
                                    </p:set>
                                    <p:animEffect transition="in" filter="fade">
                                      <p:cBhvr>
                                        <p:cTn id="85" dur="400"/>
                                        <p:tgtEl>
                                          <p:spTgt spid="708"/>
                                        </p:tgtEl>
                                      </p:cBhvr>
                                    </p:animEffect>
                                  </p:childTnLst>
                                </p:cTn>
                              </p:par>
                              <p:par>
                                <p:cTn id="86" presetID="10" presetClass="entr" presetSubtype="0" fill="hold" nodeType="withEffect">
                                  <p:stCondLst>
                                    <p:cond delay="0"/>
                                  </p:stCondLst>
                                  <p:childTnLst>
                                    <p:set>
                                      <p:cBhvr>
                                        <p:cTn id="87" dur="1" fill="hold">
                                          <p:stCondLst>
                                            <p:cond delay="0"/>
                                          </p:stCondLst>
                                        </p:cTn>
                                        <p:tgtEl>
                                          <p:spTgt spid="710"/>
                                        </p:tgtEl>
                                        <p:attrNameLst>
                                          <p:attrName>style.visibility</p:attrName>
                                        </p:attrNameLst>
                                      </p:cBhvr>
                                      <p:to>
                                        <p:strVal val="visible"/>
                                      </p:to>
                                    </p:set>
                                    <p:animEffect transition="in" filter="fade">
                                      <p:cBhvr>
                                        <p:cTn id="88" dur="400"/>
                                        <p:tgtEl>
                                          <p:spTgt spid="710"/>
                                        </p:tgtEl>
                                      </p:cBhvr>
                                    </p:animEffect>
                                  </p:childTnLst>
                                </p:cTn>
                              </p:par>
                              <p:par>
                                <p:cTn id="89" presetID="10" presetClass="entr" presetSubtype="0" fill="hold" nodeType="withEffect">
                                  <p:stCondLst>
                                    <p:cond delay="0"/>
                                  </p:stCondLst>
                                  <p:childTnLst>
                                    <p:set>
                                      <p:cBhvr>
                                        <p:cTn id="90" dur="1" fill="hold">
                                          <p:stCondLst>
                                            <p:cond delay="0"/>
                                          </p:stCondLst>
                                        </p:cTn>
                                        <p:tgtEl>
                                          <p:spTgt spid="715"/>
                                        </p:tgtEl>
                                        <p:attrNameLst>
                                          <p:attrName>style.visibility</p:attrName>
                                        </p:attrNameLst>
                                      </p:cBhvr>
                                      <p:to>
                                        <p:strVal val="visible"/>
                                      </p:to>
                                    </p:set>
                                    <p:animEffect transition="in" filter="fade">
                                      <p:cBhvr>
                                        <p:cTn id="91" dur="400"/>
                                        <p:tgtEl>
                                          <p:spTgt spid="715"/>
                                        </p:tgtEl>
                                      </p:cBhvr>
                                    </p:animEffect>
                                  </p:childTnLst>
                                </p:cTn>
                              </p:par>
                              <p:par>
                                <p:cTn id="92" presetID="10" presetClass="entr" presetSubtype="0" fill="hold" nodeType="withEffect">
                                  <p:stCondLst>
                                    <p:cond delay="0"/>
                                  </p:stCondLst>
                                  <p:childTnLst>
                                    <p:set>
                                      <p:cBhvr>
                                        <p:cTn id="93" dur="1" fill="hold">
                                          <p:stCondLst>
                                            <p:cond delay="0"/>
                                          </p:stCondLst>
                                        </p:cTn>
                                        <p:tgtEl>
                                          <p:spTgt spid="811"/>
                                        </p:tgtEl>
                                        <p:attrNameLst>
                                          <p:attrName>style.visibility</p:attrName>
                                        </p:attrNameLst>
                                      </p:cBhvr>
                                      <p:to>
                                        <p:strVal val="visible"/>
                                      </p:to>
                                    </p:set>
                                    <p:animEffect transition="in" filter="fade">
                                      <p:cBhvr>
                                        <p:cTn id="94" dur="400"/>
                                        <p:tgtEl>
                                          <p:spTgt spid="811"/>
                                        </p:tgtEl>
                                      </p:cBhvr>
                                    </p:animEffect>
                                  </p:childTnLst>
                                </p:cTn>
                              </p:par>
                              <p:par>
                                <p:cTn id="95" presetID="10" presetClass="entr" presetSubtype="0" fill="hold" nodeType="withEffect">
                                  <p:stCondLst>
                                    <p:cond delay="0"/>
                                  </p:stCondLst>
                                  <p:childTnLst>
                                    <p:set>
                                      <p:cBhvr>
                                        <p:cTn id="96" dur="1" fill="hold">
                                          <p:stCondLst>
                                            <p:cond delay="0"/>
                                          </p:stCondLst>
                                        </p:cTn>
                                        <p:tgtEl>
                                          <p:spTgt spid="716"/>
                                        </p:tgtEl>
                                        <p:attrNameLst>
                                          <p:attrName>style.visibility</p:attrName>
                                        </p:attrNameLst>
                                      </p:cBhvr>
                                      <p:to>
                                        <p:strVal val="visible"/>
                                      </p:to>
                                    </p:set>
                                    <p:animEffect transition="in" filter="fade">
                                      <p:cBhvr>
                                        <p:cTn id="97" dur="400"/>
                                        <p:tgtEl>
                                          <p:spTgt spid="716"/>
                                        </p:tgtEl>
                                      </p:cBhvr>
                                    </p:animEffect>
                                  </p:childTnLst>
                                </p:cTn>
                              </p:par>
                              <p:par>
                                <p:cTn id="98" presetID="10" presetClass="entr" presetSubtype="0" fill="hold" nodeType="withEffect">
                                  <p:stCondLst>
                                    <p:cond delay="0"/>
                                  </p:stCondLst>
                                  <p:childTnLst>
                                    <p:set>
                                      <p:cBhvr>
                                        <p:cTn id="99" dur="1" fill="hold">
                                          <p:stCondLst>
                                            <p:cond delay="0"/>
                                          </p:stCondLst>
                                        </p:cTn>
                                        <p:tgtEl>
                                          <p:spTgt spid="718"/>
                                        </p:tgtEl>
                                        <p:attrNameLst>
                                          <p:attrName>style.visibility</p:attrName>
                                        </p:attrNameLst>
                                      </p:cBhvr>
                                      <p:to>
                                        <p:strVal val="visible"/>
                                      </p:to>
                                    </p:set>
                                    <p:animEffect transition="in" filter="fade">
                                      <p:cBhvr>
                                        <p:cTn id="100" dur="400"/>
                                        <p:tgtEl>
                                          <p:spTgt spid="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2C1F2-4463-D68F-7DB7-0CD840EA109A}"/>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54364C4-E267-4E81-F286-BF7E75947183}"/>
              </a:ext>
            </a:extLst>
          </p:cNvPr>
          <p:cNvSpPr>
            <a:spLocks noGrp="1"/>
          </p:cNvSpPr>
          <p:nvPr>
            <p:ph type="title"/>
          </p:nvPr>
        </p:nvSpPr>
        <p:spPr>
          <a:xfrm>
            <a:off x="1828800" y="914400"/>
            <a:ext cx="32918400" cy="2468880"/>
          </a:xfrm>
        </p:spPr>
        <p:txBody>
          <a:bodyPr/>
          <a:lstStyle/>
          <a:p>
            <a:r>
              <a:rPr lang="en-US">
                <a:latin typeface="NVIDIA Sans Medium"/>
              </a:rPr>
              <a:t>AST Lowering</a:t>
            </a:r>
          </a:p>
        </p:txBody>
      </p:sp>
      <p:sp>
        <p:nvSpPr>
          <p:cNvPr id="5" name="Slide Number Placeholder">
            <a:extLst>
              <a:ext uri="{FF2B5EF4-FFF2-40B4-BE49-F238E27FC236}">
                <a16:creationId xmlns:a16="http://schemas.microsoft.com/office/drawing/2014/main" id="{31A75089-8702-41D7-AC50-D59BFBCCE2B7}"/>
              </a:ext>
            </a:extLst>
          </p:cNvPr>
          <p:cNvSpPr txBox="1">
            <a:spLocks/>
          </p:cNvSpPr>
          <p:nvPr/>
        </p:nvSpPr>
        <p:spPr>
          <a:xfrm>
            <a:off x="914400" y="19431000"/>
            <a:ext cx="640080" cy="369332"/>
          </a:xfrm>
          <a:prstGeom prst="rect">
            <a:avLst/>
          </a:prstGeom>
        </p:spPr>
        <p:txBody>
          <a:bodyPr vert="horz" lIns="0" tIns="45720" rIns="0" bIns="45720" rtlCol="0" anchor="ctr">
            <a:noAutofit/>
          </a:bodyPr>
          <a:lstStyle>
            <a:defPPr>
              <a:defRPr lang="en-US"/>
            </a:defPPr>
            <a:lvl1pPr marL="0" algn="l" defTabSz="457200" rtl="0" eaLnBrk="1" latinLnBrk="0" hangingPunct="1">
              <a:lnSpc>
                <a:spcPct val="90000"/>
              </a:lnSpc>
              <a:defRPr sz="2000" kern="100" baseline="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D6728F8-03AC-4059-94FB-90617981AE50}" type="slidenum">
              <a:rPr lang="en-US" smtClean="0"/>
              <a:pPr/>
              <a:t>5</a:t>
            </a:fld>
            <a:endParaRPr lang="en-US"/>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62DD8B63-1F03-AB82-AEF7-1AD1988691F7}"/>
                  </a:ext>
                </a:extLst>
              </p14:cNvPr>
              <p14:cNvContentPartPr/>
              <p14:nvPr/>
            </p14:nvContentPartPr>
            <p14:xfrm>
              <a:off x="33260136" y="13187952"/>
              <a:ext cx="20410" cy="20410"/>
            </p14:xfrm>
          </p:contentPart>
        </mc:Choice>
        <mc:Fallback xmlns="">
          <p:pic>
            <p:nvPicPr>
              <p:cNvPr id="11" name="Ink 10">
                <a:extLst>
                  <a:ext uri="{FF2B5EF4-FFF2-40B4-BE49-F238E27FC236}">
                    <a16:creationId xmlns:a16="http://schemas.microsoft.com/office/drawing/2014/main" id="{62DD8B63-1F03-AB82-AEF7-1AD1988691F7}"/>
                  </a:ext>
                </a:extLst>
              </p:cNvPr>
              <p:cNvPicPr/>
              <p:nvPr/>
            </p:nvPicPr>
            <p:blipFill>
              <a:blip r:embed="rId3"/>
              <a:stretch>
                <a:fillRect/>
              </a:stretch>
            </p:blipFill>
            <p:spPr>
              <a:xfrm>
                <a:off x="33090053" y="13017869"/>
                <a:ext cx="357175" cy="357175"/>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F1A9CAFD-EFAD-79E5-8189-8D11BA73D060}"/>
                  </a:ext>
                </a:extLst>
              </p14:cNvPr>
              <p14:cNvContentPartPr/>
              <p14:nvPr/>
            </p14:nvContentPartPr>
            <p14:xfrm>
              <a:off x="18191288" y="10402528"/>
              <a:ext cx="20410" cy="20410"/>
            </p14:xfrm>
          </p:contentPart>
        </mc:Choice>
        <mc:Fallback xmlns="">
          <p:pic>
            <p:nvPicPr>
              <p:cNvPr id="15" name="Ink 14">
                <a:extLst>
                  <a:ext uri="{FF2B5EF4-FFF2-40B4-BE49-F238E27FC236}">
                    <a16:creationId xmlns:a16="http://schemas.microsoft.com/office/drawing/2014/main" id="{F1A9CAFD-EFAD-79E5-8189-8D11BA73D060}"/>
                  </a:ext>
                </a:extLst>
              </p:cNvPr>
              <p:cNvPicPr/>
              <p:nvPr/>
            </p:nvPicPr>
            <p:blipFill>
              <a:blip r:embed="rId5"/>
              <a:stretch>
                <a:fillRect/>
              </a:stretch>
            </p:blipFill>
            <p:spPr>
              <a:xfrm>
                <a:off x="17170788" y="9382028"/>
                <a:ext cx="2041000" cy="2041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966FE467-25BC-2814-9EE0-736009A29187}"/>
                  </a:ext>
                </a:extLst>
              </p14:cNvPr>
              <p14:cNvContentPartPr/>
              <p14:nvPr/>
            </p14:nvContentPartPr>
            <p14:xfrm>
              <a:off x="25353825" y="12680953"/>
              <a:ext cx="20410" cy="20410"/>
            </p14:xfrm>
          </p:contentPart>
        </mc:Choice>
        <mc:Fallback xmlns="">
          <p:pic>
            <p:nvPicPr>
              <p:cNvPr id="16" name="Ink 15">
                <a:extLst>
                  <a:ext uri="{FF2B5EF4-FFF2-40B4-BE49-F238E27FC236}">
                    <a16:creationId xmlns:a16="http://schemas.microsoft.com/office/drawing/2014/main" id="{966FE467-25BC-2814-9EE0-736009A29187}"/>
                  </a:ext>
                </a:extLst>
              </p:cNvPr>
              <p:cNvPicPr/>
              <p:nvPr/>
            </p:nvPicPr>
            <p:blipFill>
              <a:blip r:embed="rId7"/>
              <a:stretch>
                <a:fillRect/>
              </a:stretch>
            </p:blipFill>
            <p:spPr>
              <a:xfrm>
                <a:off x="25183742" y="11660453"/>
                <a:ext cx="357175" cy="2041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31C71ED5-D6FC-EA90-F515-293834E23665}"/>
                  </a:ext>
                </a:extLst>
              </p14:cNvPr>
              <p14:cNvContentPartPr/>
              <p14:nvPr/>
            </p14:nvContentPartPr>
            <p14:xfrm>
              <a:off x="12433394" y="2378885"/>
              <a:ext cx="20410" cy="20410"/>
            </p14:xfrm>
          </p:contentPart>
        </mc:Choice>
        <mc:Fallback xmlns="">
          <p:pic>
            <p:nvPicPr>
              <p:cNvPr id="17" name="Ink 16">
                <a:extLst>
                  <a:ext uri="{FF2B5EF4-FFF2-40B4-BE49-F238E27FC236}">
                    <a16:creationId xmlns:a16="http://schemas.microsoft.com/office/drawing/2014/main" id="{31C71ED5-D6FC-EA90-F515-293834E23665}"/>
                  </a:ext>
                </a:extLst>
              </p:cNvPr>
              <p:cNvPicPr/>
              <p:nvPr/>
            </p:nvPicPr>
            <p:blipFill>
              <a:blip r:embed="rId5"/>
              <a:stretch>
                <a:fillRect/>
              </a:stretch>
            </p:blipFill>
            <p:spPr>
              <a:xfrm>
                <a:off x="11412894" y="1358385"/>
                <a:ext cx="2041000" cy="2041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C35ED0C9-9E27-6EBA-5D91-930790AC94BC}"/>
                  </a:ext>
                </a:extLst>
              </p14:cNvPr>
              <p14:cNvContentPartPr/>
              <p14:nvPr/>
            </p14:nvContentPartPr>
            <p14:xfrm>
              <a:off x="14373289" y="835962"/>
              <a:ext cx="20410" cy="20410"/>
            </p14:xfrm>
          </p:contentPart>
        </mc:Choice>
        <mc:Fallback xmlns="">
          <p:pic>
            <p:nvPicPr>
              <p:cNvPr id="18" name="Ink 17">
                <a:extLst>
                  <a:ext uri="{FF2B5EF4-FFF2-40B4-BE49-F238E27FC236}">
                    <a16:creationId xmlns:a16="http://schemas.microsoft.com/office/drawing/2014/main" id="{C35ED0C9-9E27-6EBA-5D91-930790AC94BC}"/>
                  </a:ext>
                </a:extLst>
              </p:cNvPr>
              <p:cNvPicPr/>
              <p:nvPr/>
            </p:nvPicPr>
            <p:blipFill>
              <a:blip r:embed="rId5"/>
              <a:stretch>
                <a:fillRect/>
              </a:stretch>
            </p:blipFill>
            <p:spPr>
              <a:xfrm>
                <a:off x="13352789" y="-184538"/>
                <a:ext cx="2041000" cy="2041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0BE9C3F1-7D44-FE48-ABCA-70389E3114A4}"/>
                  </a:ext>
                </a:extLst>
              </p14:cNvPr>
              <p14:cNvContentPartPr/>
              <p14:nvPr/>
            </p14:nvContentPartPr>
            <p14:xfrm>
              <a:off x="14373289" y="835962"/>
              <a:ext cx="20410" cy="20410"/>
            </p14:xfrm>
          </p:contentPart>
        </mc:Choice>
        <mc:Fallback xmlns="">
          <p:pic>
            <p:nvPicPr>
              <p:cNvPr id="19" name="Ink 18">
                <a:extLst>
                  <a:ext uri="{FF2B5EF4-FFF2-40B4-BE49-F238E27FC236}">
                    <a16:creationId xmlns:a16="http://schemas.microsoft.com/office/drawing/2014/main" id="{0BE9C3F1-7D44-FE48-ABCA-70389E3114A4}"/>
                  </a:ext>
                </a:extLst>
              </p:cNvPr>
              <p:cNvPicPr/>
              <p:nvPr/>
            </p:nvPicPr>
            <p:blipFill>
              <a:blip r:embed="rId5"/>
              <a:stretch>
                <a:fillRect/>
              </a:stretch>
            </p:blipFill>
            <p:spPr>
              <a:xfrm>
                <a:off x="13352789" y="-184538"/>
                <a:ext cx="2041000" cy="2041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F89350F0-042C-FF30-58A3-BAC150C8E026}"/>
                  </a:ext>
                </a:extLst>
              </p14:cNvPr>
              <p14:cNvContentPartPr/>
              <p14:nvPr/>
            </p14:nvContentPartPr>
            <p14:xfrm>
              <a:off x="22903293" y="17209341"/>
              <a:ext cx="20410" cy="20410"/>
            </p14:xfrm>
          </p:contentPart>
        </mc:Choice>
        <mc:Fallback xmlns="">
          <p:pic>
            <p:nvPicPr>
              <p:cNvPr id="20" name="Ink 19">
                <a:extLst>
                  <a:ext uri="{FF2B5EF4-FFF2-40B4-BE49-F238E27FC236}">
                    <a16:creationId xmlns:a16="http://schemas.microsoft.com/office/drawing/2014/main" id="{F89350F0-042C-FF30-58A3-BAC150C8E026}"/>
                  </a:ext>
                </a:extLst>
              </p:cNvPr>
              <p:cNvPicPr/>
              <p:nvPr/>
            </p:nvPicPr>
            <p:blipFill>
              <a:blip r:embed="rId5"/>
              <a:stretch>
                <a:fillRect/>
              </a:stretch>
            </p:blipFill>
            <p:spPr>
              <a:xfrm>
                <a:off x="21882793" y="16188841"/>
                <a:ext cx="2041000" cy="2041000"/>
              </a:xfrm>
              <a:prstGeom prst="rect">
                <a:avLst/>
              </a:prstGeom>
            </p:spPr>
          </p:pic>
        </mc:Fallback>
      </mc:AlternateContent>
      <p:sp>
        <p:nvSpPr>
          <p:cNvPr id="7900" name="Rule 7900">
            <a:extLst>
              <a:ext uri="{FF2B5EF4-FFF2-40B4-BE49-F238E27FC236}">
                <a16:creationId xmlns:a16="http://schemas.microsoft.com/office/drawing/2014/main" id="{2A275C90-098D-3DE7-4D5B-8D077263148C}"/>
              </a:ext>
            </a:extLst>
          </p:cNvPr>
          <p:cNvSpPr/>
          <p:nvPr/>
        </p:nvSpPr>
        <p:spPr>
          <a:xfrm>
            <a:off x="1828800" y="4953000"/>
            <a:ext cx="14986000" cy="76200"/>
          </a:xfrm>
          <a:prstGeom prst="rect">
            <a:avLst/>
          </a:prstGeom>
          <a:solidFill>
            <a:srgbClr val="D9D9D9"/>
          </a:solidFill>
          <a:ln>
            <a:noFill/>
          </a:ln>
        </p:spPr>
        <p:txBody>
          <a:bodyPr/>
          <a:lstStyle/>
          <a:p>
            <a:endParaRPr/>
          </a:p>
        </p:txBody>
      </p:sp>
      <p:sp>
        <p:nvSpPr>
          <p:cNvPr id="7902" name="Head T0">
            <a:extLst>
              <a:ext uri="{FF2B5EF4-FFF2-40B4-BE49-F238E27FC236}">
                <a16:creationId xmlns:a16="http://schemas.microsoft.com/office/drawing/2014/main" id="{1F7AE193-C8EF-C0A1-9BFB-5B9DA40F3837}"/>
              </a:ext>
            </a:extLst>
          </p:cNvPr>
          <p:cNvSpPr txBox="1"/>
          <p:nvPr/>
        </p:nvSpPr>
        <p:spPr>
          <a:xfrm>
            <a:off x="1828800" y="6070600"/>
            <a:ext cx="14986000" cy="1778000"/>
          </a:xfrm>
          <a:prstGeom prst="rect">
            <a:avLst/>
          </a:prstGeom>
          <a:noFill/>
        </p:spPr>
        <p:txBody>
          <a:bodyPr wrap="square" lIns="0" tIns="0" rIns="0" bIns="0" anchor="t">
            <a:noAutofit/>
          </a:bodyPr>
          <a:lstStyle/>
          <a:p>
            <a:pPr>
              <a:lnSpc>
                <a:spcPts val="5000"/>
              </a:lnSpc>
              <a:spcBef>
                <a:spcPts val="0"/>
              </a:spcBef>
              <a:buNone/>
            </a:pPr>
            <a:r>
              <a:rPr lang="en-US" sz="4400" b="1">
                <a:solidFill>
                  <a:srgbClr val="000000"/>
                </a:solidFill>
                <a:latin typeface="NVIDIA Sans"/>
                <a:cs typeface="NVIDIA Sans"/>
              </a:rPr>
              <a:t>Classical AST-based DSL</a:t>
            </a:r>
          </a:p>
        </p:txBody>
      </p:sp>
      <p:sp>
        <p:nvSpPr>
          <p:cNvPr id="7903" name="Body D0">
            <a:extLst>
              <a:ext uri="{FF2B5EF4-FFF2-40B4-BE49-F238E27FC236}">
                <a16:creationId xmlns:a16="http://schemas.microsoft.com/office/drawing/2014/main" id="{FFCE6FB3-870F-F5DB-2EE5-F50966296731}"/>
              </a:ext>
            </a:extLst>
          </p:cNvPr>
          <p:cNvSpPr txBox="1"/>
          <p:nvPr/>
        </p:nvSpPr>
        <p:spPr>
          <a:xfrm>
            <a:off x="1828800" y="7747000"/>
            <a:ext cx="14986000" cy="1524000"/>
          </a:xfrm>
          <a:prstGeom prst="rect">
            <a:avLst/>
          </a:prstGeom>
          <a:noFill/>
        </p:spPr>
        <p:txBody>
          <a:bodyPr wrap="square" lIns="0" tIns="0" rIns="0" bIns="0" anchor="t">
            <a:noAutofit/>
          </a:bodyPr>
          <a:lstStyle/>
          <a:p>
            <a:pPr>
              <a:lnSpc>
                <a:spcPts val="4000"/>
              </a:lnSpc>
              <a:spcBef>
                <a:spcPts val="4000"/>
              </a:spcBef>
              <a:buNone/>
            </a:pPr>
            <a:r>
              <a:rPr lang="en-US" sz="3400">
                <a:solidFill>
                  <a:srgbClr val="757575"/>
                </a:solidFill>
                <a:latin typeface="NVIDIA Sans"/>
                <a:cs typeface="NVIDIA Sans"/>
              </a:rPr>
              <a:t>Lower the Python AST straight into IR</a:t>
            </a:r>
          </a:p>
        </p:txBody>
      </p:sp>
      <p:sp>
        <p:nvSpPr>
          <p:cNvPr id="7904" name="Body P00">
            <a:extLst>
              <a:ext uri="{FF2B5EF4-FFF2-40B4-BE49-F238E27FC236}">
                <a16:creationId xmlns:a16="http://schemas.microsoft.com/office/drawing/2014/main" id="{4B640786-4038-6CC0-6533-53B218A34825}"/>
              </a:ext>
            </a:extLst>
          </p:cNvPr>
          <p:cNvSpPr txBox="1"/>
          <p:nvPr/>
        </p:nvSpPr>
        <p:spPr>
          <a:xfrm>
            <a:off x="1828800" y="9398000"/>
            <a:ext cx="14986000" cy="1651000"/>
          </a:xfrm>
          <a:prstGeom prst="rect">
            <a:avLst/>
          </a:prstGeom>
          <a:noFill/>
        </p:spPr>
        <p:txBody>
          <a:bodyPr wrap="square" lIns="0" tIns="0" rIns="0" bIns="0" anchor="t">
            <a:noAutofit/>
          </a:bodyPr>
          <a:lstStyle/>
          <a:p>
            <a:pPr>
              <a:lnSpc>
                <a:spcPts val="4000"/>
              </a:lnSpc>
              <a:spcBef>
                <a:spcPts val="4000"/>
              </a:spcBef>
              <a:buNone/>
            </a:pPr>
            <a:r>
              <a:rPr lang="en-US" sz="3400" b="1">
                <a:solidFill>
                  <a:srgbClr val="76B900"/>
                </a:solidFill>
                <a:latin typeface="NVIDIA Sans"/>
                <a:cs typeface="NVIDIA Sans"/>
              </a:rPr>
              <a:t>+  </a:t>
            </a:r>
            <a:r>
              <a:rPr lang="en-US" sz="3400">
                <a:solidFill>
                  <a:srgbClr val="000000"/>
                </a:solidFill>
                <a:latin typeface="NVIDIA Sans"/>
                <a:cs typeface="NVIDIA Sans"/>
              </a:rPr>
              <a:t>Trivial AST-to-IR transformation</a:t>
            </a:r>
          </a:p>
        </p:txBody>
      </p:sp>
      <p:sp>
        <p:nvSpPr>
          <p:cNvPr id="7905" name="Body C00">
            <a:extLst>
              <a:ext uri="{FF2B5EF4-FFF2-40B4-BE49-F238E27FC236}">
                <a16:creationId xmlns:a16="http://schemas.microsoft.com/office/drawing/2014/main" id="{677D265E-C86B-7CF7-E7EC-0CA2C3E5C08A}"/>
              </a:ext>
            </a:extLst>
          </p:cNvPr>
          <p:cNvSpPr txBox="1"/>
          <p:nvPr/>
        </p:nvSpPr>
        <p:spPr>
          <a:xfrm>
            <a:off x="1828800" y="10998200"/>
            <a:ext cx="14986000" cy="1651000"/>
          </a:xfrm>
          <a:prstGeom prst="rect">
            <a:avLst/>
          </a:prstGeom>
          <a:noFill/>
        </p:spPr>
        <p:txBody>
          <a:bodyPr wrap="square" lIns="0" tIns="0" rIns="0" bIns="0" anchor="t">
            <a:noAutofit/>
          </a:bodyPr>
          <a:lstStyle/>
          <a:p>
            <a:pPr>
              <a:lnSpc>
                <a:spcPts val="4000"/>
              </a:lnSpc>
              <a:spcBef>
                <a:spcPts val="40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Needs a whole new language design for metaprogramming</a:t>
            </a:r>
          </a:p>
        </p:txBody>
      </p:sp>
      <p:sp>
        <p:nvSpPr>
          <p:cNvPr id="7906" name="Body C01">
            <a:extLst>
              <a:ext uri="{FF2B5EF4-FFF2-40B4-BE49-F238E27FC236}">
                <a16:creationId xmlns:a16="http://schemas.microsoft.com/office/drawing/2014/main" id="{0FE4AED0-0495-AAA3-93B7-19FC7E1C3160}"/>
              </a:ext>
            </a:extLst>
          </p:cNvPr>
          <p:cNvSpPr txBox="1"/>
          <p:nvPr/>
        </p:nvSpPr>
        <p:spPr>
          <a:xfrm>
            <a:off x="1828800" y="12598400"/>
            <a:ext cx="14986000" cy="1651000"/>
          </a:xfrm>
          <a:prstGeom prst="rect">
            <a:avLst/>
          </a:prstGeom>
          <a:noFill/>
        </p:spPr>
        <p:txBody>
          <a:bodyPr wrap="square" lIns="0" tIns="0" rIns="0" bIns="0" anchor="t">
            <a:noAutofit/>
          </a:bodyPr>
          <a:lstStyle/>
          <a:p>
            <a:pPr>
              <a:lnSpc>
                <a:spcPts val="4000"/>
              </a:lnSpc>
              <a:spcBef>
                <a:spcPts val="40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Every abstraction must be built into the frontend before it can reach GPU code</a:t>
            </a:r>
          </a:p>
        </p:txBody>
      </p:sp>
      <p:sp>
        <p:nvSpPr>
          <p:cNvPr id="7907" name="Rule 7907">
            <a:extLst>
              <a:ext uri="{FF2B5EF4-FFF2-40B4-BE49-F238E27FC236}">
                <a16:creationId xmlns:a16="http://schemas.microsoft.com/office/drawing/2014/main" id="{FC91E258-78A5-3248-8FC5-49E2A8A9D3D0}"/>
              </a:ext>
            </a:extLst>
          </p:cNvPr>
          <p:cNvSpPr/>
          <p:nvPr/>
        </p:nvSpPr>
        <p:spPr>
          <a:xfrm>
            <a:off x="19761200" y="4953000"/>
            <a:ext cx="14986000" cy="76200"/>
          </a:xfrm>
          <a:prstGeom prst="rect">
            <a:avLst/>
          </a:prstGeom>
          <a:solidFill>
            <a:srgbClr val="D9D9D9"/>
          </a:solidFill>
          <a:ln>
            <a:noFill/>
          </a:ln>
        </p:spPr>
        <p:txBody>
          <a:bodyPr/>
          <a:lstStyle/>
          <a:p>
            <a:endParaRPr/>
          </a:p>
        </p:txBody>
      </p:sp>
      <p:sp>
        <p:nvSpPr>
          <p:cNvPr id="7909" name="Head T1">
            <a:extLst>
              <a:ext uri="{FF2B5EF4-FFF2-40B4-BE49-F238E27FC236}">
                <a16:creationId xmlns:a16="http://schemas.microsoft.com/office/drawing/2014/main" id="{47E3ADAE-5663-8727-7E42-48AAD7CE8033}"/>
              </a:ext>
            </a:extLst>
          </p:cNvPr>
          <p:cNvSpPr txBox="1"/>
          <p:nvPr/>
        </p:nvSpPr>
        <p:spPr>
          <a:xfrm>
            <a:off x="19761200" y="6070600"/>
            <a:ext cx="14986000" cy="1600200"/>
          </a:xfrm>
          <a:prstGeom prst="rect">
            <a:avLst/>
          </a:prstGeom>
          <a:noFill/>
        </p:spPr>
        <p:txBody>
          <a:bodyPr wrap="square" lIns="0" tIns="0" rIns="0" bIns="0" anchor="t">
            <a:noAutofit/>
          </a:bodyPr>
          <a:lstStyle/>
          <a:p>
            <a:pPr>
              <a:lnSpc>
                <a:spcPts val="5000"/>
              </a:lnSpc>
              <a:spcBef>
                <a:spcPts val="0"/>
              </a:spcBef>
              <a:buNone/>
            </a:pPr>
            <a:r>
              <a:rPr lang="en-US" sz="4400" b="1">
                <a:solidFill>
                  <a:srgbClr val="000000"/>
                </a:solidFill>
                <a:latin typeface="NVIDIA Sans"/>
                <a:cs typeface="NVIDIA Sans"/>
              </a:rPr>
              <a:t>CUDA-lang</a:t>
            </a:r>
          </a:p>
        </p:txBody>
      </p:sp>
      <p:sp>
        <p:nvSpPr>
          <p:cNvPr id="7910" name="Body D1">
            <a:extLst>
              <a:ext uri="{FF2B5EF4-FFF2-40B4-BE49-F238E27FC236}">
                <a16:creationId xmlns:a16="http://schemas.microsoft.com/office/drawing/2014/main" id="{5F7A3550-CF0B-1414-C829-C8F37C7CF79B}"/>
              </a:ext>
            </a:extLst>
          </p:cNvPr>
          <p:cNvSpPr txBox="1"/>
          <p:nvPr/>
        </p:nvSpPr>
        <p:spPr>
          <a:xfrm>
            <a:off x="19761200" y="7747000"/>
            <a:ext cx="14986000" cy="1270000"/>
          </a:xfrm>
          <a:prstGeom prst="rect">
            <a:avLst/>
          </a:prstGeom>
          <a:noFill/>
        </p:spPr>
        <p:txBody>
          <a:bodyPr wrap="square" lIns="0" tIns="0" rIns="0" bIns="0" anchor="t">
            <a:noAutofit/>
          </a:bodyPr>
          <a:lstStyle/>
          <a:p>
            <a:pPr algn="l">
              <a:lnSpc>
                <a:spcPts val="4000"/>
              </a:lnSpc>
              <a:spcBef>
                <a:spcPts val="4000"/>
              </a:spcBef>
              <a:buNone/>
            </a:pPr>
            <a:r>
              <a:rPr lang="en-US" sz="3400">
                <a:solidFill>
                  <a:srgbClr val="757575"/>
                </a:solidFill>
                <a:latin typeface="NVIDIA Sans"/>
                <a:cs typeface="NVIDIA Sans"/>
              </a:rPr>
              <a:t>NVIDIA's official Python frontend for GPU kernels</a:t>
            </a:r>
          </a:p>
        </p:txBody>
      </p:sp>
      <p:sp>
        <p:nvSpPr>
          <p:cNvPr id="7911" name="Body P10">
            <a:extLst>
              <a:ext uri="{FF2B5EF4-FFF2-40B4-BE49-F238E27FC236}">
                <a16:creationId xmlns:a16="http://schemas.microsoft.com/office/drawing/2014/main" id="{384EA53C-3719-AA32-E412-37B44D2C71D3}"/>
              </a:ext>
            </a:extLst>
          </p:cNvPr>
          <p:cNvSpPr txBox="1"/>
          <p:nvPr/>
        </p:nvSpPr>
        <p:spPr>
          <a:xfrm>
            <a:off x="19761200" y="9423400"/>
            <a:ext cx="14986000" cy="1016000"/>
          </a:xfrm>
          <a:prstGeom prst="rect">
            <a:avLst/>
          </a:prstGeom>
          <a:noFill/>
        </p:spPr>
        <p:txBody>
          <a:bodyPr wrap="square" lIns="0" tIns="0" rIns="0" bIns="0" anchor="t">
            <a:noAutofit/>
          </a:bodyPr>
          <a:lstStyle/>
          <a:p>
            <a:pPr algn="l">
              <a:lnSpc>
                <a:spcPts val="4000"/>
              </a:lnSpc>
              <a:spcBef>
                <a:spcPts val="0"/>
              </a:spcBef>
              <a:buNone/>
            </a:pPr>
            <a:r>
              <a:rPr lang="en-US" sz="3400" b="1">
                <a:solidFill>
                  <a:srgbClr val="76B900"/>
                </a:solidFill>
                <a:latin typeface="NVIDIA Sans"/>
                <a:cs typeface="NVIDIA Sans"/>
              </a:rPr>
              <a:t>01 </a:t>
            </a:r>
            <a:r>
              <a:rPr lang="en-US" sz="3400" b="1">
                <a:solidFill>
                  <a:srgbClr val="000000"/>
                </a:solidFill>
                <a:latin typeface="NVIDIA Sans"/>
                <a:cs typeface="NVIDIA Sans"/>
              </a:rPr>
              <a:t>Only what has a handler compiles</a:t>
            </a:r>
          </a:p>
        </p:txBody>
      </p:sp>
      <p:sp>
        <p:nvSpPr>
          <p:cNvPr id="7912" name="Body P11">
            <a:extLst>
              <a:ext uri="{FF2B5EF4-FFF2-40B4-BE49-F238E27FC236}">
                <a16:creationId xmlns:a16="http://schemas.microsoft.com/office/drawing/2014/main" id="{0C45A407-05D8-FBF6-1B93-E6AFCDEF16FD}"/>
              </a:ext>
            </a:extLst>
          </p:cNvPr>
          <p:cNvSpPr txBox="1"/>
          <p:nvPr/>
        </p:nvSpPr>
        <p:spPr>
          <a:xfrm>
            <a:off x="19761200" y="10515600"/>
            <a:ext cx="14986000" cy="1016000"/>
          </a:xfrm>
          <a:prstGeom prst="rect">
            <a:avLst/>
          </a:prstGeom>
          <a:noFill/>
        </p:spPr>
        <p:txBody>
          <a:bodyPr wrap="square" lIns="0" tIns="0" rIns="0" bIns="0" anchor="t">
            <a:noAutofit/>
          </a:bodyPr>
          <a:lstStyle/>
          <a:p>
            <a:pPr algn="l">
              <a:lnSpc>
                <a:spcPts val="4000"/>
              </a:lnSpc>
              <a:spcBef>
                <a:spcPts val="0"/>
              </a:spcBef>
              <a:buNone/>
            </a:pPr>
            <a:r>
              <a:rPr lang="en-US" sz="3400">
                <a:solidFill>
                  <a:srgbClr val="757575"/>
                </a:solidFill>
                <a:latin typeface="NVIDIA Sans"/>
                <a:cs typeface="NVIDIA Sans"/>
              </a:rPr>
              <a:t>The supported subset of Python is enumerated, not inherited</a:t>
            </a:r>
          </a:p>
        </p:txBody>
      </p:sp>
      <p:sp>
        <p:nvSpPr>
          <p:cNvPr id="7913" name="Body C10">
            <a:extLst>
              <a:ext uri="{FF2B5EF4-FFF2-40B4-BE49-F238E27FC236}">
                <a16:creationId xmlns:a16="http://schemas.microsoft.com/office/drawing/2014/main" id="{03DDC0D3-72E6-6084-D36F-37A0F25C1720}"/>
              </a:ext>
            </a:extLst>
          </p:cNvPr>
          <p:cNvSpPr txBox="1"/>
          <p:nvPr/>
        </p:nvSpPr>
        <p:spPr>
          <a:xfrm>
            <a:off x="19761200" y="11633200"/>
            <a:ext cx="14986000" cy="1778000"/>
          </a:xfrm>
          <a:prstGeom prst="rect">
            <a:avLst/>
          </a:prstGeom>
          <a:noFill/>
        </p:spPr>
        <p:txBody>
          <a:bodyPr wrap="square" lIns="0" tIns="0" rIns="0" bIns="0" anchor="t">
            <a:noAutofit/>
          </a:bodyPr>
          <a:lstStyle/>
          <a:p>
            <a:pPr algn="l">
              <a:lnSpc>
                <a:spcPts val="4000"/>
              </a:lnSpc>
              <a:spcBef>
                <a:spcPts val="14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Comprehensions, literals and reflection refuse</a:t>
            </a:r>
          </a:p>
          <a:p>
            <a:pPr algn="l">
              <a:lnSpc>
                <a:spcPts val="4000"/>
              </a:lnSpc>
              <a:spcBef>
                <a:spcPts val="14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Every further construct is a feature request</a:t>
            </a:r>
          </a:p>
        </p:txBody>
      </p:sp>
      <p:sp>
        <p:nvSpPr>
          <p:cNvPr id="7914" name="Body C11">
            <a:extLst>
              <a:ext uri="{FF2B5EF4-FFF2-40B4-BE49-F238E27FC236}">
                <a16:creationId xmlns:a16="http://schemas.microsoft.com/office/drawing/2014/main" id="{9CA349B1-789E-8A0D-4BC8-1EAD38AB94E7}"/>
              </a:ext>
            </a:extLst>
          </p:cNvPr>
          <p:cNvSpPr txBox="1"/>
          <p:nvPr/>
        </p:nvSpPr>
        <p:spPr>
          <a:xfrm>
            <a:off x="19761200" y="13843000"/>
            <a:ext cx="14986000" cy="1016000"/>
          </a:xfrm>
          <a:prstGeom prst="rect">
            <a:avLst/>
          </a:prstGeom>
          <a:noFill/>
        </p:spPr>
        <p:txBody>
          <a:bodyPr wrap="square" lIns="0" tIns="0" rIns="0" bIns="0" anchor="t">
            <a:noAutofit/>
          </a:bodyPr>
          <a:lstStyle/>
          <a:p>
            <a:pPr algn="l">
              <a:lnSpc>
                <a:spcPts val="4000"/>
              </a:lnSpc>
              <a:spcBef>
                <a:spcPts val="0"/>
              </a:spcBef>
              <a:buNone/>
            </a:pPr>
            <a:r>
              <a:rPr lang="en-US" sz="3400" b="1">
                <a:solidFill>
                  <a:srgbClr val="76B900"/>
                </a:solidFill>
                <a:latin typeface="NVIDIA Sans"/>
                <a:cs typeface="NVIDIA Sans"/>
              </a:rPr>
              <a:t>02 </a:t>
            </a:r>
            <a:r>
              <a:rPr lang="en-US" sz="3400" b="1">
                <a:solidFill>
                  <a:srgbClr val="000000"/>
                </a:solidFill>
                <a:latin typeface="NVIDIA Sans"/>
                <a:cs typeface="NVIDIA Sans"/>
              </a:rPr>
              <a:t>Compile-time facts are still refused</a:t>
            </a:r>
          </a:p>
        </p:txBody>
      </p:sp>
      <p:sp>
        <p:nvSpPr>
          <p:cNvPr id="7915" name="Body C12">
            <a:extLst>
              <a:ext uri="{FF2B5EF4-FFF2-40B4-BE49-F238E27FC236}">
                <a16:creationId xmlns:a16="http://schemas.microsoft.com/office/drawing/2014/main" id="{54A361AC-22EC-3986-4B62-C8F98E30F3C2}"/>
              </a:ext>
            </a:extLst>
          </p:cNvPr>
          <p:cNvSpPr txBox="1"/>
          <p:nvPr/>
        </p:nvSpPr>
        <p:spPr>
          <a:xfrm>
            <a:off x="19761200" y="14935200"/>
            <a:ext cx="14986000" cy="2667000"/>
          </a:xfrm>
          <a:prstGeom prst="rect">
            <a:avLst/>
          </a:prstGeom>
          <a:noFill/>
        </p:spPr>
        <p:txBody>
          <a:bodyPr wrap="square" lIns="0" tIns="0" rIns="0" bIns="0" anchor="t">
            <a:noAutofit/>
          </a:bodyPr>
          <a:lstStyle/>
          <a:p>
            <a:pPr algn="l">
              <a:lnSpc>
                <a:spcPts val="4000"/>
              </a:lnSpc>
              <a:spcBef>
                <a:spcPts val="14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A </a:t>
            </a:r>
            <a:r>
              <a:rPr lang="en-US" sz="3400">
                <a:solidFill>
                  <a:srgbClr val="000000"/>
                </a:solidFill>
                <a:latin typeface="Roboto Mono"/>
                <a:cs typeface="Roboto Mono"/>
              </a:rPr>
              <a:t>raise</a:t>
            </a:r>
            <a:r>
              <a:rPr lang="en-US" sz="3400">
                <a:solidFill>
                  <a:srgbClr val="000000"/>
                </a:solidFill>
                <a:latin typeface="NVIDIA Sans"/>
                <a:cs typeface="NVIDIA Sans"/>
              </a:rPr>
              <a:t> in a provably false branch still trips</a:t>
            </a:r>
          </a:p>
          <a:p>
            <a:pPr algn="l">
              <a:lnSpc>
                <a:spcPts val="4000"/>
              </a:lnSpc>
              <a:spcBef>
                <a:spcPts val="1400"/>
              </a:spcBef>
              <a:buNone/>
            </a:pPr>
            <a:r>
              <a:rPr lang="en-US" sz="3400" b="1">
                <a:solidFill>
                  <a:srgbClr val="757575"/>
                </a:solidFill>
                <a:latin typeface="NVIDIA Sans"/>
                <a:cs typeface="NVIDIA Sans"/>
              </a:rPr>
              <a:t>− </a:t>
            </a:r>
            <a:r>
              <a:rPr lang="en-US" sz="3400">
                <a:solidFill>
                  <a:srgbClr val="000000"/>
                </a:solidFill>
                <a:latin typeface="Roboto Mono"/>
                <a:cs typeface="Roboto Mono"/>
              </a:rPr>
              <a:t>break</a:t>
            </a:r>
            <a:r>
              <a:rPr lang="en-US" sz="3400">
                <a:solidFill>
                  <a:srgbClr val="000000"/>
                </a:solidFill>
                <a:latin typeface="NVIDIA Sans"/>
                <a:cs typeface="NVIDIA Sans"/>
              </a:rPr>
              <a:t> and </a:t>
            </a:r>
            <a:r>
              <a:rPr lang="en-US" sz="3400">
                <a:solidFill>
                  <a:srgbClr val="000000"/>
                </a:solidFill>
                <a:latin typeface="Roboto Mono"/>
                <a:cs typeface="Roboto Mono"/>
              </a:rPr>
              <a:t>continue</a:t>
            </a:r>
            <a:r>
              <a:rPr lang="en-US" sz="3400">
                <a:solidFill>
                  <a:srgbClr val="000000"/>
                </a:solidFill>
                <a:latin typeface="NVIDIA Sans"/>
                <a:cs typeface="NVIDIA Sans"/>
              </a:rPr>
              <a:t> inside an unrolled loop</a:t>
            </a:r>
          </a:p>
          <a:p>
            <a:pPr algn="l">
              <a:lnSpc>
                <a:spcPts val="4000"/>
              </a:lnSpc>
              <a:spcBef>
                <a:spcPts val="14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Folding checks the arguments, not the call</a:t>
            </a:r>
          </a:p>
        </p:txBody>
      </p:sp>
      <p:sp>
        <p:nvSpPr>
          <p:cNvPr id="7916" name="Body C13">
            <a:extLst>
              <a:ext uri="{FF2B5EF4-FFF2-40B4-BE49-F238E27FC236}">
                <a16:creationId xmlns:a16="http://schemas.microsoft.com/office/drawing/2014/main" id="{D7F8D8D3-1650-8D08-23E8-BEC1CAC5C735}"/>
              </a:ext>
            </a:extLst>
          </p:cNvPr>
          <p:cNvSpPr txBox="1"/>
          <p:nvPr/>
        </p:nvSpPr>
        <p:spPr>
          <a:xfrm>
            <a:off x="19761200" y="19050000"/>
            <a:ext cx="14986000" cy="254000"/>
          </a:xfrm>
          <a:prstGeom prst="rect">
            <a:avLst/>
          </a:prstGeom>
          <a:noFill/>
        </p:spPr>
        <p:txBody>
          <a:bodyPr wrap="square" lIns="0" tIns="0" rIns="0" bIns="0" anchor="t">
            <a:noAutofit/>
          </a:bodyPr>
          <a:lstStyle/>
          <a:p>
            <a:pPr algn="l">
              <a:lnSpc>
                <a:spcPts val="4000"/>
              </a:lnSpc>
              <a:spcBef>
                <a:spcPts val="0"/>
              </a:spcBef>
              <a:buNone/>
            </a:pPr>
            <a:endParaRPr lang="en-US" sz="3400"/>
          </a:p>
        </p:txBody>
      </p:sp>
      <p:sp>
        <p:nvSpPr>
          <p:cNvPr id="4" name="Text Placeholder 3">
            <a:extLst>
              <a:ext uri="{FF2B5EF4-FFF2-40B4-BE49-F238E27FC236}">
                <a16:creationId xmlns:a16="http://schemas.microsoft.com/office/drawing/2014/main" id="{BCC3A4B9-F5A0-D1F4-3427-63A818D805A2}"/>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415526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90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90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9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9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90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90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9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9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9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9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9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9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0" grpId="0" animBg="1"/>
      <p:bldP spid="7902" grpId="0"/>
      <p:bldP spid="7903" grpId="0"/>
      <p:bldP spid="7904" grpId="0"/>
      <p:bldP spid="7905" grpId="0"/>
      <p:bldP spid="7906" grpId="0"/>
      <p:bldP spid="7907" grpId="0" animBg="1"/>
      <p:bldP spid="7909" grpId="0"/>
      <p:bldP spid="7910" grpId="0"/>
      <p:bldP spid="7911" grpId="0"/>
      <p:bldP spid="7912" grpId="0"/>
      <p:bldP spid="7913" grpId="0"/>
      <p:bldP spid="7914" grpId="0"/>
      <p:bldP spid="7915" grpId="0"/>
      <p:bldP spid="79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033465C1-D8AA-6540-95DE-5636E314D10C}"/>
              </a:ext>
            </a:extLst>
          </p:cNvPr>
          <p:cNvSpPr txBox="1"/>
          <p:nvPr/>
        </p:nvSpPr>
        <p:spPr>
          <a:xfrm>
            <a:off x="1828800" y="2070100"/>
            <a:ext cx="32918400" cy="2463800"/>
          </a:xfrm>
          <a:prstGeom prst="rect">
            <a:avLst/>
          </a:prstGeom>
          <a:noFill/>
        </p:spPr>
        <p:txBody>
          <a:bodyPr vertOverflow="overflow" vert="horz" wrap="none" rtlCol="0" anchor="t" anchorCtr="0">
            <a:noAutofit/>
          </a:bodyPr>
          <a:lstStyle/>
          <a:p>
            <a:pPr algn="l"/>
            <a:r>
              <a:rPr lang="en-US" sz="7200">
                <a:latin typeface="NVIDIA Sans Medium"/>
                <a:cs typeface="NVIDIA Sans Medium"/>
              </a:rPr>
              <a:t>Tracing</a:t>
            </a:r>
          </a:p>
        </p:txBody>
      </p:sp>
      <p:sp>
        <p:nvSpPr>
          <p:cNvPr id="31" name="AHead">
            <a:extLst>
              <a:ext uri="{FF2B5EF4-FFF2-40B4-BE49-F238E27FC236}">
                <a16:creationId xmlns:a16="http://schemas.microsoft.com/office/drawing/2014/main" id="{8F2ADF17-A1E1-4840-A151-1CED32B85734}"/>
              </a:ext>
            </a:extLst>
          </p:cNvPr>
          <p:cNvSpPr txBox="1"/>
          <p:nvPr/>
        </p:nvSpPr>
        <p:spPr>
          <a:xfrm>
            <a:off x="1828800" y="6070600"/>
            <a:ext cx="14986000" cy="1600200"/>
          </a:xfrm>
          <a:prstGeom prst="rect">
            <a:avLst/>
          </a:prstGeom>
          <a:noFill/>
        </p:spPr>
        <p:txBody>
          <a:bodyPr vertOverflow="overflow" vert="horz" wrap="none" rtlCol="0" anchor="t" anchorCtr="0">
            <a:noAutofit/>
          </a:bodyPr>
          <a:lstStyle/>
          <a:p>
            <a:pPr>
              <a:lnSpc>
                <a:spcPts val="5000"/>
              </a:lnSpc>
              <a:spcBef>
                <a:spcPts val="0"/>
              </a:spcBef>
              <a:buNone/>
            </a:pPr>
            <a:r>
              <a:rPr lang="en-US" sz="4400" b="1">
                <a:solidFill>
                  <a:srgbClr val="000000"/>
                </a:solidFill>
                <a:latin typeface="NVIDIA Sans"/>
                <a:cs typeface="NVIDIA Sans"/>
              </a:rPr>
              <a:t>DkgDSL v1</a:t>
            </a:r>
          </a:p>
        </p:txBody>
      </p:sp>
      <p:sp>
        <p:nvSpPr>
          <p:cNvPr id="32" name="ALead">
            <a:extLst>
              <a:ext uri="{FF2B5EF4-FFF2-40B4-BE49-F238E27FC236}">
                <a16:creationId xmlns:a16="http://schemas.microsoft.com/office/drawing/2014/main" id="{B9E7E008-71A9-8445-B948-D4A17D11E41F}"/>
              </a:ext>
            </a:extLst>
          </p:cNvPr>
          <p:cNvSpPr txBox="1"/>
          <p:nvPr/>
        </p:nvSpPr>
        <p:spPr>
          <a:xfrm>
            <a:off x="1828800" y="7747000"/>
            <a:ext cx="14986000" cy="1270000"/>
          </a:xfrm>
          <a:prstGeom prst="rect">
            <a:avLst/>
          </a:prstGeom>
          <a:noFill/>
        </p:spPr>
        <p:txBody>
          <a:bodyPr vertOverflow="overflow" vert="horz" wrap="none" rtlCol="0" anchor="t" anchorCtr="0">
            <a:noAutofit/>
          </a:bodyPr>
          <a:lstStyle/>
          <a:p>
            <a:pPr algn="l">
              <a:lnSpc>
                <a:spcPts val="4000"/>
              </a:lnSpc>
              <a:spcBef>
                <a:spcPts val="4000"/>
              </a:spcBef>
              <a:buNone/>
            </a:pPr>
            <a:r>
              <a:rPr lang="en-US" sz="3400">
                <a:solidFill>
                  <a:srgbClr val="757575"/>
                </a:solidFill>
                <a:latin typeface="NVIDIA Sans"/>
                <a:cs typeface="NVIDIA Sans"/>
              </a:rPr>
              <a:t>Generate IR on the fly as Python executes</a:t>
            </a:r>
          </a:p>
        </p:txBody>
      </p:sp>
      <p:sp>
        <p:nvSpPr>
          <p:cNvPr id="33" name="ABody">
            <a:extLst>
              <a:ext uri="{FF2B5EF4-FFF2-40B4-BE49-F238E27FC236}">
                <a16:creationId xmlns:a16="http://schemas.microsoft.com/office/drawing/2014/main" id="{8CFDA154-1E78-8A40-822E-98C894D53225}"/>
              </a:ext>
            </a:extLst>
          </p:cNvPr>
          <p:cNvSpPr txBox="1"/>
          <p:nvPr/>
        </p:nvSpPr>
        <p:spPr>
          <a:xfrm>
            <a:off x="1828800" y="9398000"/>
            <a:ext cx="14986000" cy="8890000"/>
          </a:xfrm>
          <a:prstGeom prst="rect">
            <a:avLst/>
          </a:prstGeom>
          <a:noFill/>
        </p:spPr>
        <p:txBody>
          <a:bodyPr vertOverflow="overflow" vert="horz" wrap="square" rtlCol="0" anchor="t" anchorCtr="0">
            <a:noAutofit/>
          </a:bodyPr>
          <a:lstStyle/>
          <a:p>
            <a:pPr algn="l">
              <a:lnSpc>
                <a:spcPts val="4000"/>
              </a:lnSpc>
              <a:spcBef>
                <a:spcPts val="4000"/>
              </a:spcBef>
              <a:buNone/>
            </a:pPr>
            <a:r>
              <a:rPr lang="en-US" sz="3400" b="1">
                <a:solidFill>
                  <a:srgbClr val="76B900"/>
                </a:solidFill>
                <a:latin typeface="NVIDIA Sans"/>
                <a:cs typeface="NVIDIA Sans"/>
              </a:rPr>
              <a:t>+ </a:t>
            </a:r>
            <a:r>
              <a:rPr lang="en-US" sz="3400">
                <a:solidFill>
                  <a:srgbClr val="000000"/>
                </a:solidFill>
                <a:latin typeface="NVIDIA Sans"/>
                <a:cs typeface="NVIDIA Sans"/>
              </a:rPr>
              <a:t>Abstractions are zero-cost by design</a:t>
            </a:r>
          </a:p>
          <a:p>
            <a:pPr algn="l">
              <a:lnSpc>
                <a:spcPts val="4000"/>
              </a:lnSpc>
              <a:spcBef>
                <a:spcPts val="8600"/>
              </a:spcBef>
              <a:buNone/>
            </a:pPr>
            <a:r>
              <a:rPr lang="en-US" sz="3400" b="1">
                <a:solidFill>
                  <a:srgbClr val="76B900"/>
                </a:solidFill>
                <a:latin typeface="NVIDIA Sans"/>
                <a:cs typeface="NVIDIA Sans"/>
              </a:rPr>
              <a:t>+ </a:t>
            </a:r>
            <a:r>
              <a:rPr lang="en-US" sz="3400">
                <a:solidFill>
                  <a:srgbClr val="000000"/>
                </a:solidFill>
                <a:latin typeface="NVIDIA Sans"/>
                <a:cs typeface="NVIDIA Sans"/>
              </a:rPr>
              <a:t>Great for writing fast kernels (CuTeDSL)</a:t>
            </a:r>
          </a:p>
          <a:p>
            <a:pPr algn="l">
              <a:lnSpc>
                <a:spcPts val="4000"/>
              </a:lnSpc>
              <a:spcBef>
                <a:spcPts val="86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Struggles with Python classes</a:t>
            </a:r>
          </a:p>
          <a:p>
            <a:pPr algn="l">
              <a:lnSpc>
                <a:spcPts val="4000"/>
              </a:lnSpc>
              <a:spcBef>
                <a:spcPts val="86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Classes, dicts and lists are hard to combine</a:t>
            </a:r>
          </a:p>
          <a:p>
            <a:pPr algn="l">
              <a:lnSpc>
                <a:spcPts val="4000"/>
              </a:lnSpc>
              <a:spcBef>
                <a:spcPts val="86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Hand-written dynamic expression protocol at a time</a:t>
            </a:r>
          </a:p>
          <a:p>
            <a:pPr algn="l">
              <a:lnSpc>
                <a:spcPts val="4000"/>
              </a:lnSpc>
              <a:spcBef>
                <a:spcPts val="8600"/>
              </a:spcBef>
              <a:buNone/>
            </a:pPr>
            <a:r>
              <a:rPr lang="en-US" sz="3400" b="1">
                <a:solidFill>
                  <a:srgbClr val="757575"/>
                </a:solidFill>
                <a:latin typeface="NVIDIA Sans"/>
                <a:cs typeface="NVIDIA Sans"/>
              </a:rPr>
              <a:t>− </a:t>
            </a:r>
            <a:r>
              <a:rPr lang="en-US" sz="3400">
                <a:solidFill>
                  <a:srgbClr val="000000"/>
                </a:solidFill>
                <a:latin typeface="NVIDIA Sans"/>
                <a:cs typeface="NVIDIA Sans"/>
              </a:rPr>
              <a:t>Ordinary Python is never analyzed</a:t>
            </a:r>
          </a:p>
        </p:txBody>
      </p:sp>
      <p:sp>
        <p:nvSpPr>
          <p:cNvPr id="35" name="CHead0">
            <a:extLst>
              <a:ext uri="{FF2B5EF4-FFF2-40B4-BE49-F238E27FC236}">
                <a16:creationId xmlns:a16="http://schemas.microsoft.com/office/drawing/2014/main" id="{3DE937DB-521B-CB41-B25B-7DFF43DA5751}"/>
              </a:ext>
            </a:extLst>
          </p:cNvPr>
          <p:cNvSpPr txBox="1"/>
          <p:nvPr/>
        </p:nvSpPr>
        <p:spPr>
          <a:xfrm>
            <a:off x="1828800" y="21590000"/>
            <a:ext cx="14986000" cy="254000"/>
          </a:xfrm>
          <a:prstGeom prst="rect">
            <a:avLst/>
          </a:prstGeom>
          <a:noFill/>
        </p:spPr>
        <p:txBody>
          <a:bodyPr vertOverflow="overflow" vert="horz" wrap="none" rtlCol="0" anchor="t" anchorCtr="0">
            <a:noAutofit/>
          </a:bodyPr>
          <a:lstStyle/>
          <a:p>
            <a:pPr algn="l">
              <a:lnSpc>
                <a:spcPts val="4000"/>
              </a:lnSpc>
              <a:spcBef>
                <a:spcPts val="0"/>
              </a:spcBef>
              <a:buNone/>
            </a:pPr>
            <a:endParaRPr lang="en-US" sz="2800"/>
          </a:p>
        </p:txBody>
      </p:sp>
      <p:sp>
        <p:nvSpPr>
          <p:cNvPr id="36" name="CBody0">
            <a:extLst>
              <a:ext uri="{FF2B5EF4-FFF2-40B4-BE49-F238E27FC236}">
                <a16:creationId xmlns:a16="http://schemas.microsoft.com/office/drawing/2014/main" id="{3FAAAE20-61BB-6B4C-B0FA-59828A172115}"/>
              </a:ext>
            </a:extLst>
          </p:cNvPr>
          <p:cNvSpPr txBox="1"/>
          <p:nvPr/>
        </p:nvSpPr>
        <p:spPr>
          <a:xfrm>
            <a:off x="1828800" y="21590000"/>
            <a:ext cx="14986000" cy="254000"/>
          </a:xfrm>
          <a:prstGeom prst="rect">
            <a:avLst/>
          </a:prstGeom>
          <a:noFill/>
        </p:spPr>
        <p:txBody>
          <a:bodyPr vertOverflow="overflow" vert="horz" wrap="square" rtlCol="0" anchor="t" anchorCtr="0">
            <a:noAutofit/>
          </a:bodyPr>
          <a:lstStyle/>
          <a:p>
            <a:pPr algn="l">
              <a:lnSpc>
                <a:spcPts val="4000"/>
              </a:lnSpc>
              <a:spcBef>
                <a:spcPts val="0"/>
              </a:spcBef>
              <a:buNone/>
            </a:pPr>
            <a:endParaRPr lang="en-US" sz="2800"/>
          </a:p>
        </p:txBody>
      </p:sp>
      <p:sp>
        <p:nvSpPr>
          <p:cNvPr id="3" name="Rule1">
            <a:extLst>
              <a:ext uri="{FF2B5EF4-FFF2-40B4-BE49-F238E27FC236}">
                <a16:creationId xmlns:a16="http://schemas.microsoft.com/office/drawing/2014/main" id="{A537FC3F-2EE1-D84E-A0EF-C12200A8C035}"/>
              </a:ext>
            </a:extLst>
          </p:cNvPr>
          <p:cNvSpPr/>
          <p:nvPr/>
        </p:nvSpPr>
        <p:spPr>
          <a:xfrm>
            <a:off x="1828800" y="4953000"/>
            <a:ext cx="14986000" cy="762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ule2">
            <a:extLst>
              <a:ext uri="{FF2B5EF4-FFF2-40B4-BE49-F238E27FC236}">
                <a16:creationId xmlns:a16="http://schemas.microsoft.com/office/drawing/2014/main" id="{DBBCBBB4-4507-BF47-A032-3AFA55FC0E09}"/>
              </a:ext>
            </a:extLst>
          </p:cNvPr>
          <p:cNvSpPr/>
          <p:nvPr/>
        </p:nvSpPr>
        <p:spPr>
          <a:xfrm>
            <a:off x="1828800" y="21590000"/>
            <a:ext cx="14986000" cy="508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IntroTx">
            <a:extLst>
              <a:ext uri="{FF2B5EF4-FFF2-40B4-BE49-F238E27FC236}">
                <a16:creationId xmlns:a16="http://schemas.microsoft.com/office/drawing/2014/main" id="{7E39686E-71A4-3247-BEE9-8853A111CEF8}"/>
              </a:ext>
            </a:extLst>
          </p:cNvPr>
          <p:cNvSpPr txBox="1"/>
          <p:nvPr/>
        </p:nvSpPr>
        <p:spPr>
          <a:xfrm>
            <a:off x="1828800" y="21590000"/>
            <a:ext cx="14986000" cy="254000"/>
          </a:xfrm>
          <a:prstGeom prst="rect">
            <a:avLst/>
          </a:prstGeom>
          <a:noFill/>
        </p:spPr>
        <p:txBody>
          <a:bodyPr vertOverflow="overflow" vert="horz" wrap="square" rtlCol="0" anchor="t" anchorCtr="0">
            <a:noAutofit/>
          </a:bodyPr>
          <a:lstStyle/>
          <a:p>
            <a:pPr algn="l">
              <a:lnSpc>
                <a:spcPts val="4000"/>
              </a:lnSpc>
              <a:spcBef>
                <a:spcPts val="0"/>
              </a:spcBef>
              <a:buNone/>
            </a:pPr>
            <a:endParaRPr lang="en-US" sz="2800"/>
          </a:p>
        </p:txBody>
      </p:sp>
    </p:spTree>
    <p:extLst>
      <p:ext uri="{BB962C8B-B14F-4D97-AF65-F5344CB8AC3E}">
        <p14:creationId xmlns:p14="http://schemas.microsoft.com/office/powerpoint/2010/main" val="376365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5" grpId="0"/>
      <p:bldP spid="36" grpId="0"/>
      <p:bldP spid="3" grpId="0" animBg="1"/>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2ECC0-B6E8-6485-AFE6-27AAE80B3657}"/>
            </a:ext>
          </a:extLst>
        </p:cNvPr>
        <p:cNvGrpSpPr/>
        <p:nvPr/>
      </p:nvGrpSpPr>
      <p:grpSpPr>
        <a:xfrm>
          <a:off x="0" y="0"/>
          <a:ext cx="0" cy="0"/>
          <a:chOff x="0" y="0"/>
          <a:chExt cx="0" cy="0"/>
        </a:xfrm>
      </p:grpSpPr>
      <p:sp>
        <p:nvSpPr>
          <p:cNvPr id="5" name="PanelL">
            <a:extLst>
              <a:ext uri="{FF2B5EF4-FFF2-40B4-BE49-F238E27FC236}">
                <a16:creationId xmlns:a16="http://schemas.microsoft.com/office/drawing/2014/main" id="{23EC87B9-7DB0-602B-5EE6-0A5CED037C5D}"/>
              </a:ext>
            </a:extLst>
          </p:cNvPr>
          <p:cNvSpPr/>
          <p:nvPr/>
        </p:nvSpPr>
        <p:spPr>
          <a:xfrm>
            <a:off x="1828800" y="5080000"/>
            <a:ext cx="11684000" cy="9652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PanelR">
            <a:extLst>
              <a:ext uri="{FF2B5EF4-FFF2-40B4-BE49-F238E27FC236}">
                <a16:creationId xmlns:a16="http://schemas.microsoft.com/office/drawing/2014/main" id="{F707A8ED-2DDD-D2FA-69B2-D38E78C6B8D8}"/>
              </a:ext>
            </a:extLst>
          </p:cNvPr>
          <p:cNvSpPr/>
          <p:nvPr/>
        </p:nvSpPr>
        <p:spPr>
          <a:xfrm>
            <a:off x="14935200" y="5080000"/>
            <a:ext cx="19812000" cy="11176000"/>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ErrBg">
            <a:extLst>
              <a:ext uri="{FF2B5EF4-FFF2-40B4-BE49-F238E27FC236}">
                <a16:creationId xmlns:a16="http://schemas.microsoft.com/office/drawing/2014/main" id="{42BC5764-A5E9-92CE-9683-5B40EB1384DE}"/>
              </a:ext>
            </a:extLst>
          </p:cNvPr>
          <p:cNvSpPr/>
          <p:nvPr/>
        </p:nvSpPr>
        <p:spPr>
          <a:xfrm>
            <a:off x="1828800" y="15036800"/>
            <a:ext cx="11684000" cy="17780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uleL">
            <a:extLst>
              <a:ext uri="{FF2B5EF4-FFF2-40B4-BE49-F238E27FC236}">
                <a16:creationId xmlns:a16="http://schemas.microsoft.com/office/drawing/2014/main" id="{32DAAB65-EB91-E0C9-7D42-4D4E66045A26}"/>
              </a:ext>
            </a:extLst>
          </p:cNvPr>
          <p:cNvSpPr/>
          <p:nvPr/>
        </p:nvSpPr>
        <p:spPr>
          <a:xfrm>
            <a:off x="1828800" y="3810000"/>
            <a:ext cx="11684000" cy="101600"/>
          </a:xfrm>
          <a:prstGeom prst="rect">
            <a:avLst/>
          </a:prstGeom>
          <a:solidFill>
            <a:srgbClr val="75757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uleR">
            <a:extLst>
              <a:ext uri="{FF2B5EF4-FFF2-40B4-BE49-F238E27FC236}">
                <a16:creationId xmlns:a16="http://schemas.microsoft.com/office/drawing/2014/main" id="{050557FA-B739-EF23-F6D1-17A132F2DE62}"/>
              </a:ext>
            </a:extLst>
          </p:cNvPr>
          <p:cNvSpPr/>
          <p:nvPr/>
        </p:nvSpPr>
        <p:spPr>
          <a:xfrm>
            <a:off x="14935200" y="3810000"/>
            <a:ext cx="19812000" cy="1016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HeadL">
            <a:extLst>
              <a:ext uri="{FF2B5EF4-FFF2-40B4-BE49-F238E27FC236}">
                <a16:creationId xmlns:a16="http://schemas.microsoft.com/office/drawing/2014/main" id="{F4B48EDC-E22E-CC5C-AFF5-7999C09E664F}"/>
              </a:ext>
            </a:extLst>
          </p:cNvPr>
          <p:cNvSpPr txBox="1"/>
          <p:nvPr/>
        </p:nvSpPr>
        <p:spPr>
          <a:xfrm>
            <a:off x="1828800" y="3962400"/>
            <a:ext cx="11684000" cy="812800"/>
          </a:xfrm>
          <a:prstGeom prst="rect">
            <a:avLst/>
          </a:prstGeom>
          <a:noFill/>
        </p:spPr>
        <p:txBody>
          <a:bodyPr vertOverflow="overflow" vert="horz" wrap="square" rtlCol="0" anchor="t">
            <a:noAutofit/>
          </a:bodyPr>
          <a:lstStyle/>
          <a:p>
            <a:pPr>
              <a:lnSpc>
                <a:spcPts val="3800"/>
              </a:lnSpc>
              <a:spcBef>
                <a:spcPts val="0"/>
              </a:spcBef>
              <a:buNone/>
            </a:pPr>
            <a:r>
              <a:rPr lang="en-US" sz="3000" b="1">
                <a:solidFill>
                  <a:srgbClr val="757575"/>
                </a:solidFill>
                <a:latin typeface="NVIDIA Sans"/>
                <a:cs typeface="NVIDIA Sans"/>
              </a:rPr>
              <a:t>01  </a:t>
            </a:r>
            <a:r>
              <a:rPr lang="en-US" sz="3000" b="1">
                <a:solidFill>
                  <a:srgbClr val="000000"/>
                </a:solidFill>
                <a:latin typeface="NVIDIA Sans"/>
                <a:cs typeface="NVIDIA Sans"/>
              </a:rPr>
              <a:t>What you want to write: plain Python</a:t>
            </a:r>
          </a:p>
        </p:txBody>
      </p:sp>
      <p:sp>
        <p:nvSpPr>
          <p:cNvPr id="10" name="HeadR">
            <a:extLst>
              <a:ext uri="{FF2B5EF4-FFF2-40B4-BE49-F238E27FC236}">
                <a16:creationId xmlns:a16="http://schemas.microsoft.com/office/drawing/2014/main" id="{83261CA3-2FBE-9785-0426-FEB69F1CD3AF}"/>
              </a:ext>
            </a:extLst>
          </p:cNvPr>
          <p:cNvSpPr txBox="1"/>
          <p:nvPr/>
        </p:nvSpPr>
        <p:spPr>
          <a:xfrm>
            <a:off x="14935200" y="3962400"/>
            <a:ext cx="19812000" cy="812800"/>
          </a:xfrm>
          <a:prstGeom prst="rect">
            <a:avLst/>
          </a:prstGeom>
          <a:noFill/>
        </p:spPr>
        <p:txBody>
          <a:bodyPr vertOverflow="overflow" vert="horz" wrap="square" rtlCol="0" anchor="t">
            <a:noAutofit/>
          </a:bodyPr>
          <a:lstStyle/>
          <a:p>
            <a:pPr>
              <a:lnSpc>
                <a:spcPts val="3800"/>
              </a:lnSpc>
              <a:spcBef>
                <a:spcPts val="0"/>
              </a:spcBef>
              <a:buNone/>
            </a:pPr>
            <a:r>
              <a:rPr lang="en-US" sz="3000" b="1">
                <a:solidFill>
                  <a:srgbClr val="4A7C00"/>
                </a:solidFill>
                <a:latin typeface="NVIDIA Sans"/>
                <a:cs typeface="NVIDIA Sans"/>
              </a:rPr>
              <a:t>02  What DKGDSL v1 forces you to write</a:t>
            </a:r>
            <a:endParaRPr lang="en-US" sz="3000" b="1">
              <a:solidFill>
                <a:srgbClr val="000000"/>
              </a:solidFill>
              <a:latin typeface="NVIDIA Sans"/>
              <a:cs typeface="NVIDIA Sans"/>
            </a:endParaRPr>
          </a:p>
        </p:txBody>
      </p:sp>
      <p:sp>
        <p:nvSpPr>
          <p:cNvPr id="11" name="CodeL">
            <a:extLst>
              <a:ext uri="{FF2B5EF4-FFF2-40B4-BE49-F238E27FC236}">
                <a16:creationId xmlns:a16="http://schemas.microsoft.com/office/drawing/2014/main" id="{5BA1BC56-0989-9BD7-1C32-D87C100484AD}"/>
              </a:ext>
            </a:extLst>
          </p:cNvPr>
          <p:cNvSpPr txBox="1"/>
          <p:nvPr/>
        </p:nvSpPr>
        <p:spPr>
          <a:xfrm>
            <a:off x="2133600" y="5334000"/>
            <a:ext cx="11074400" cy="9144000"/>
          </a:xfrm>
          <a:prstGeom prst="rect">
            <a:avLst/>
          </a:prstGeom>
          <a:noFill/>
        </p:spPr>
        <p:txBody>
          <a:bodyPr vertOverflow="overflow" vert="horz" wrap="square" rtlCol="0" anchor="t">
            <a:noAutofit/>
          </a:bodyPr>
          <a:lstStyle/>
          <a:p>
            <a:pPr algn="l">
              <a:lnSpc>
                <a:spcPts val="4000"/>
              </a:lnSpc>
              <a:spcBef>
                <a:spcPts val="0"/>
              </a:spcBef>
              <a:buNone/>
            </a:pPr>
            <a:r>
              <a:rPr lang="en-US" sz="2700">
                <a:solidFill>
                  <a:srgbClr val="952FC6"/>
                </a:solidFill>
                <a:latin typeface="Roboto Mono"/>
                <a:ea typeface="Roboto Mono"/>
                <a:cs typeface="Roboto Mono"/>
              </a:rPr>
              <a:t>import</a:t>
            </a:r>
            <a:r>
              <a:rPr lang="en-US" sz="2700">
                <a:solidFill>
                  <a:srgbClr val="000000"/>
                </a:solidFill>
                <a:latin typeface="Roboto Mono"/>
                <a:ea typeface="Roboto Mono"/>
                <a:cs typeface="Roboto Mono"/>
              </a:rPr>
              <a:t> </a:t>
            </a:r>
            <a:r>
              <a:rPr lang="en-US" sz="2700">
                <a:solidFill>
                  <a:srgbClr val="0074DF"/>
                </a:solidFill>
                <a:latin typeface="Roboto Mono"/>
                <a:ea typeface="Roboto Mono"/>
                <a:cs typeface="Roboto Mono"/>
              </a:rPr>
              <a:t>cutlass</a:t>
            </a:r>
          </a:p>
          <a:p>
            <a:pPr algn="l">
              <a:lnSpc>
                <a:spcPts val="4000"/>
              </a:lnSpc>
              <a:spcBef>
                <a:spcPts val="0"/>
              </a:spcBef>
              <a:buNone/>
            </a:pPr>
            <a:r>
              <a:rPr lang="en-US" sz="2700">
                <a:solidFill>
                  <a:srgbClr val="952FC6"/>
                </a:solidFill>
                <a:latin typeface="Roboto Mono"/>
                <a:ea typeface="Roboto Mono"/>
                <a:cs typeface="Roboto Mono"/>
              </a:rPr>
              <a:t>from</a:t>
            </a:r>
            <a:r>
              <a:rPr lang="en-US" sz="2700">
                <a:solidFill>
                  <a:srgbClr val="000000"/>
                </a:solidFill>
                <a:latin typeface="Roboto Mono"/>
                <a:ea typeface="Roboto Mono"/>
                <a:cs typeface="Roboto Mono"/>
              </a:rPr>
              <a:t> </a:t>
            </a:r>
            <a:r>
              <a:rPr lang="en-US" sz="2700">
                <a:solidFill>
                  <a:srgbClr val="0074DF"/>
                </a:solidFill>
                <a:latin typeface="Roboto Mono"/>
                <a:ea typeface="Roboto Mono"/>
                <a:cs typeface="Roboto Mono"/>
              </a:rPr>
              <a:t>cutlass</a:t>
            </a:r>
            <a:r>
              <a:rPr lang="en-US" sz="2700">
                <a:solidFill>
                  <a:srgbClr val="000000"/>
                </a:solidFill>
                <a:latin typeface="Roboto Mono"/>
                <a:ea typeface="Roboto Mono"/>
                <a:cs typeface="Roboto Mono"/>
              </a:rPr>
              <a:t> </a:t>
            </a:r>
            <a:r>
              <a:rPr lang="en-US" sz="2700">
                <a:solidFill>
                  <a:srgbClr val="952FC6"/>
                </a:solidFill>
                <a:latin typeface="Roboto Mono"/>
                <a:ea typeface="Roboto Mono"/>
                <a:cs typeface="Roboto Mono"/>
              </a:rPr>
              <a:t>import</a:t>
            </a:r>
            <a:r>
              <a:rPr lang="en-US" sz="2700">
                <a:solidFill>
                  <a:srgbClr val="000000"/>
                </a:solidFill>
                <a:latin typeface="Roboto Mono"/>
                <a:ea typeface="Roboto Mono"/>
                <a:cs typeface="Roboto Mono"/>
              </a:rPr>
              <a:t> </a:t>
            </a:r>
            <a:r>
              <a:rPr lang="en-US" sz="2700">
                <a:solidFill>
                  <a:srgbClr val="0074DF"/>
                </a:solidFill>
                <a:latin typeface="Roboto Mono"/>
                <a:ea typeface="Roboto Mono"/>
                <a:cs typeface="Roboto Mono"/>
              </a:rPr>
              <a:t>cute</a:t>
            </a:r>
          </a:p>
          <a:p>
            <a:pPr algn="l">
              <a:lnSpc>
                <a:spcPts val="2200"/>
              </a:lnSpc>
              <a:spcBef>
                <a:spcPts val="0"/>
              </a:spcBef>
              <a:buNone/>
            </a:pPr>
            <a:r>
              <a:rPr lang="en-US" sz="2700">
                <a:solidFill>
                  <a:srgbClr val="000000"/>
                </a:solidFill>
                <a:latin typeface="Roboto Mono"/>
                <a:ea typeface="Roboto Mono"/>
                <a:cs typeface="Roboto Mono"/>
              </a:rPr>
              <a:t> </a:t>
            </a:r>
          </a:p>
          <a:p>
            <a:pPr algn="l">
              <a:lnSpc>
                <a:spcPts val="4000"/>
              </a:lnSpc>
              <a:spcBef>
                <a:spcPts val="0"/>
              </a:spcBef>
              <a:buNone/>
            </a:pPr>
            <a:r>
              <a:rPr lang="en-US" sz="2700">
                <a:solidFill>
                  <a:srgbClr val="952FC6"/>
                </a:solidFill>
                <a:latin typeface="Roboto Mono"/>
                <a:ea typeface="Roboto Mono"/>
                <a:cs typeface="Roboto Mono"/>
              </a:rPr>
              <a:t>class</a:t>
            </a:r>
            <a:r>
              <a:rPr lang="en-US" sz="2700">
                <a:solidFill>
                  <a:srgbClr val="000000"/>
                </a:solidFill>
                <a:latin typeface="Roboto Mono"/>
                <a:ea typeface="Roboto Mono"/>
                <a:cs typeface="Roboto Mono"/>
              </a:rPr>
              <a:t> </a:t>
            </a:r>
            <a:r>
              <a:rPr lang="en-US" sz="2700">
                <a:solidFill>
                  <a:srgbClr val="0074DF"/>
                </a:solidFill>
                <a:latin typeface="Roboto Mono"/>
                <a:ea typeface="Roboto Mono"/>
                <a:cs typeface="Roboto Mono"/>
              </a:rPr>
              <a:t>State</a:t>
            </a:r>
            <a:r>
              <a:rPr lang="en-US" sz="2700">
                <a:solidFill>
                  <a:srgbClr val="000000"/>
                </a:solidFill>
                <a:latin typeface="Roboto Mono"/>
                <a:ea typeface="Roboto Mono"/>
                <a:cs typeface="Roboto Mono"/>
              </a:rPr>
              <a:t>:</a:t>
            </a:r>
          </a:p>
          <a:p>
            <a:pPr algn="l">
              <a:lnSpc>
                <a:spcPts val="4000"/>
              </a:lnSpc>
              <a:spcBef>
                <a:spcPts val="0"/>
              </a:spcBef>
              <a:buNone/>
            </a:pPr>
            <a:r>
              <a:rPr lang="en-US" sz="2700">
                <a:solidFill>
                  <a:srgbClr val="000000"/>
                </a:solidFill>
                <a:latin typeface="Roboto Mono"/>
                <a:ea typeface="Roboto Mono"/>
                <a:cs typeface="Roboto Mono"/>
              </a:rPr>
              <a:t>    </a:t>
            </a:r>
            <a:r>
              <a:rPr lang="en-US" sz="2700">
                <a:solidFill>
                  <a:srgbClr val="952FC6"/>
                </a:solidFill>
                <a:latin typeface="Roboto Mono"/>
                <a:ea typeface="Roboto Mono"/>
                <a:cs typeface="Roboto Mono"/>
              </a:rPr>
              <a:t>def</a:t>
            </a:r>
            <a:r>
              <a:rPr lang="en-US" sz="2700">
                <a:solidFill>
                  <a:srgbClr val="000000"/>
                </a:solidFill>
                <a:latin typeface="Roboto Mono"/>
                <a:ea typeface="Roboto Mono"/>
                <a:cs typeface="Roboto Mono"/>
              </a:rPr>
              <a:t> __init__(</a:t>
            </a:r>
            <a:r>
              <a:rPr lang="en-US" sz="2700">
                <a:solidFill>
                  <a:srgbClr val="757575"/>
                </a:solidFill>
                <a:latin typeface="Roboto Mono"/>
                <a:ea typeface="Roboto Mono"/>
                <a:cs typeface="Roboto Mono"/>
              </a:rPr>
              <a:t>self</a:t>
            </a:r>
            <a:r>
              <a:rPr lang="en-US" sz="2700">
                <a:solidFill>
                  <a:srgbClr val="000000"/>
                </a:solidFill>
                <a:latin typeface="Roboto Mono"/>
                <a:ea typeface="Roboto Mono"/>
                <a:cs typeface="Roboto Mono"/>
              </a:rPr>
              <a:t>):</a:t>
            </a:r>
          </a:p>
          <a:p>
            <a:pPr algn="l">
              <a:lnSpc>
                <a:spcPts val="4000"/>
              </a:lnSpc>
              <a:spcBef>
                <a:spcPts val="0"/>
              </a:spcBef>
              <a:buNone/>
            </a:pPr>
            <a:r>
              <a:rPr lang="en-US" sz="2700">
                <a:solidFill>
                  <a:srgbClr val="000000"/>
                </a:solidFill>
                <a:latin typeface="Roboto Mono"/>
                <a:ea typeface="Roboto Mono"/>
                <a:cs typeface="Roboto Mono"/>
              </a:rPr>
              <a:t>        </a:t>
            </a:r>
            <a:r>
              <a:rPr lang="en-US" sz="2700">
                <a:solidFill>
                  <a:srgbClr val="757575"/>
                </a:solidFill>
                <a:latin typeface="Roboto Mono"/>
                <a:ea typeface="Roboto Mono"/>
                <a:cs typeface="Roboto Mono"/>
              </a:rPr>
              <a:t>self</a:t>
            </a:r>
            <a:r>
              <a:rPr lang="en-US" sz="2700">
                <a:solidFill>
                  <a:srgbClr val="000000"/>
                </a:solidFill>
                <a:latin typeface="Roboto Mono"/>
                <a:ea typeface="Roboto Mono"/>
                <a:cs typeface="Roboto Mono"/>
              </a:rPr>
              <a:t>.c    = </a:t>
            </a:r>
            <a:r>
              <a:rPr lang="en-US" sz="2700">
                <a:solidFill>
                  <a:srgbClr val="B5651D"/>
                </a:solidFill>
                <a:latin typeface="Roboto Mono"/>
                <a:ea typeface="Roboto Mono"/>
                <a:cs typeface="Roboto Mono"/>
              </a:rPr>
              <a:t>0</a:t>
            </a:r>
            <a:r>
              <a:rPr lang="en-US" sz="2700">
                <a:solidFill>
                  <a:srgbClr val="000000"/>
                </a:solidFill>
                <a:latin typeface="Roboto Mono"/>
                <a:ea typeface="Roboto Mono"/>
                <a:cs typeface="Roboto Mono"/>
              </a:rPr>
              <a:t>        </a:t>
            </a:r>
            <a:r>
              <a:rPr lang="en-US" sz="2700">
                <a:solidFill>
                  <a:srgbClr val="76B900"/>
                </a:solidFill>
                <a:latin typeface="Roboto Mono"/>
                <a:ea typeface="Roboto Mono"/>
                <a:cs typeface="Roboto Mono"/>
              </a:rPr>
              <a:t>← plain int</a:t>
            </a:r>
          </a:p>
          <a:p>
            <a:pPr algn="l">
              <a:lnSpc>
                <a:spcPts val="4000"/>
              </a:lnSpc>
              <a:spcBef>
                <a:spcPts val="0"/>
              </a:spcBef>
              <a:buNone/>
            </a:pPr>
            <a:r>
              <a:rPr lang="en-US" sz="2700">
                <a:solidFill>
                  <a:srgbClr val="000000"/>
                </a:solidFill>
                <a:latin typeface="Roboto Mono"/>
                <a:ea typeface="Roboto Mono"/>
                <a:cs typeface="Roboto Mono"/>
              </a:rPr>
              <a:t>        </a:t>
            </a:r>
            <a:r>
              <a:rPr lang="en-US" sz="2700">
                <a:solidFill>
                  <a:srgbClr val="757575"/>
                </a:solidFill>
                <a:latin typeface="Roboto Mono"/>
                <a:ea typeface="Roboto Mono"/>
                <a:cs typeface="Roboto Mono"/>
              </a:rPr>
              <a:t>self</a:t>
            </a:r>
            <a:r>
              <a:rPr lang="en-US" sz="2700">
                <a:solidFill>
                  <a:srgbClr val="000000"/>
                </a:solidFill>
                <a:latin typeface="Roboto Mono"/>
                <a:ea typeface="Roboto Mono"/>
                <a:cs typeface="Roboto Mono"/>
              </a:rPr>
              <a:t>.bins = {</a:t>
            </a:r>
            <a:r>
              <a:rPr lang="en-US" sz="2700">
                <a:solidFill>
                  <a:srgbClr val="1D6F62"/>
                </a:solidFill>
                <a:latin typeface="Roboto Mono"/>
                <a:ea typeface="Roboto Mono"/>
                <a:cs typeface="Roboto Mono"/>
              </a:rPr>
              <a:t>"hi"</a:t>
            </a:r>
            <a:r>
              <a:rPr lang="en-US" sz="2700">
                <a:solidFill>
                  <a:srgbClr val="000000"/>
                </a:solidFill>
                <a:latin typeface="Roboto Mono"/>
                <a:ea typeface="Roboto Mono"/>
                <a:cs typeface="Roboto Mono"/>
              </a:rPr>
              <a:t>: </a:t>
            </a:r>
            <a:r>
              <a:rPr lang="en-US" sz="2700">
                <a:solidFill>
                  <a:srgbClr val="B5651D"/>
                </a:solidFill>
                <a:latin typeface="Roboto Mono"/>
                <a:ea typeface="Roboto Mono"/>
                <a:cs typeface="Roboto Mono"/>
              </a:rPr>
              <a:t>0</a:t>
            </a:r>
            <a:r>
              <a:rPr lang="en-US" sz="2700">
                <a:solidFill>
                  <a:srgbClr val="000000"/>
                </a:solidFill>
                <a:latin typeface="Roboto Mono"/>
                <a:ea typeface="Roboto Mono"/>
                <a:cs typeface="Roboto Mono"/>
              </a:rPr>
              <a:t>} </a:t>
            </a:r>
            <a:r>
              <a:rPr lang="en-US" sz="2700">
                <a:solidFill>
                  <a:srgbClr val="76B900"/>
                </a:solidFill>
                <a:latin typeface="Roboto Mono"/>
                <a:ea typeface="Roboto Mono"/>
                <a:cs typeface="Roboto Mono"/>
              </a:rPr>
              <a:t>← plain dict</a:t>
            </a:r>
          </a:p>
          <a:p>
            <a:pPr algn="l">
              <a:lnSpc>
                <a:spcPts val="2200"/>
              </a:lnSpc>
              <a:spcBef>
                <a:spcPts val="0"/>
              </a:spcBef>
              <a:buNone/>
            </a:pPr>
            <a:r>
              <a:rPr lang="en-US" sz="2700">
                <a:solidFill>
                  <a:srgbClr val="000000"/>
                </a:solidFill>
                <a:latin typeface="Roboto Mono"/>
                <a:ea typeface="Roboto Mono"/>
                <a:cs typeface="Roboto Mono"/>
              </a:rPr>
              <a:t> </a:t>
            </a:r>
          </a:p>
          <a:p>
            <a:pPr algn="l">
              <a:lnSpc>
                <a:spcPts val="4000"/>
              </a:lnSpc>
              <a:spcBef>
                <a:spcPts val="0"/>
              </a:spcBef>
              <a:buNone/>
            </a:pPr>
            <a:r>
              <a:rPr lang="en-US" sz="2700">
                <a:solidFill>
                  <a:srgbClr val="0074DF"/>
                </a:solidFill>
                <a:latin typeface="Roboto Mono"/>
                <a:ea typeface="Roboto Mono"/>
                <a:cs typeface="Roboto Mono"/>
              </a:rPr>
              <a:t>@cute.jit</a:t>
            </a:r>
          </a:p>
          <a:p>
            <a:pPr algn="l">
              <a:lnSpc>
                <a:spcPts val="4000"/>
              </a:lnSpc>
              <a:spcBef>
                <a:spcPts val="0"/>
              </a:spcBef>
              <a:buNone/>
            </a:pPr>
            <a:r>
              <a:rPr lang="en-US" sz="2700">
                <a:solidFill>
                  <a:srgbClr val="952FC6"/>
                </a:solidFill>
                <a:latin typeface="Roboto Mono"/>
                <a:ea typeface="Roboto Mono"/>
                <a:cs typeface="Roboto Mono"/>
              </a:rPr>
              <a:t>def</a:t>
            </a:r>
            <a:r>
              <a:rPr lang="en-US" sz="2700">
                <a:solidFill>
                  <a:srgbClr val="000000"/>
                </a:solidFill>
                <a:latin typeface="Roboto Mono"/>
                <a:ea typeface="Roboto Mono"/>
                <a:cs typeface="Roboto Mono"/>
              </a:rPr>
              <a:t> kernel(n: </a:t>
            </a:r>
            <a:r>
              <a:rPr lang="en-US" sz="2700">
                <a:solidFill>
                  <a:srgbClr val="0074DF"/>
                </a:solidFill>
                <a:latin typeface="Roboto Mono"/>
                <a:ea typeface="Roboto Mono"/>
                <a:cs typeface="Roboto Mono"/>
              </a:rPr>
              <a:t>cutlass</a:t>
            </a:r>
            <a:r>
              <a:rPr lang="en-US" sz="2700">
                <a:solidFill>
                  <a:srgbClr val="000000"/>
                </a:solidFill>
                <a:latin typeface="Roboto Mono"/>
                <a:ea typeface="Roboto Mono"/>
                <a:cs typeface="Roboto Mono"/>
              </a:rPr>
              <a:t>.</a:t>
            </a:r>
            <a:r>
              <a:rPr lang="en-US" sz="2700">
                <a:solidFill>
                  <a:srgbClr val="0074DF"/>
                </a:solidFill>
                <a:latin typeface="Roboto Mono"/>
                <a:ea typeface="Roboto Mono"/>
                <a:cs typeface="Roboto Mono"/>
              </a:rPr>
              <a:t>Int32</a:t>
            </a:r>
            <a:r>
              <a:rPr lang="en-US" sz="2700">
                <a:solidFill>
                  <a:srgbClr val="000000"/>
                </a:solidFill>
                <a:latin typeface="Roboto Mono"/>
                <a:ea typeface="Roboto Mono"/>
                <a:cs typeface="Roboto Mono"/>
              </a:rPr>
              <a:t>,   </a:t>
            </a:r>
            <a:r>
              <a:rPr lang="en-US" sz="2700">
                <a:solidFill>
                  <a:srgbClr val="76B900"/>
                </a:solidFill>
                <a:latin typeface="Roboto Mono"/>
                <a:ea typeface="Roboto Mono"/>
                <a:cs typeface="Roboto Mono"/>
              </a:rPr>
              <a:t>← n is run-time</a:t>
            </a:r>
          </a:p>
          <a:p>
            <a:pPr algn="l">
              <a:lnSpc>
                <a:spcPts val="4000"/>
              </a:lnSpc>
              <a:spcBef>
                <a:spcPts val="0"/>
              </a:spcBef>
              <a:buNone/>
            </a:pPr>
            <a:r>
              <a:rPr lang="en-US" sz="2700">
                <a:solidFill>
                  <a:srgbClr val="000000"/>
                </a:solidFill>
                <a:latin typeface="Roboto Mono"/>
                <a:ea typeface="Roboto Mono"/>
                <a:cs typeface="Roboto Mono"/>
              </a:rPr>
              <a:t>           s: </a:t>
            </a:r>
            <a:r>
              <a:rPr lang="en-US" sz="2700">
                <a:solidFill>
                  <a:srgbClr val="0074DF"/>
                </a:solidFill>
                <a:latin typeface="Roboto Mono"/>
                <a:ea typeface="Roboto Mono"/>
                <a:cs typeface="Roboto Mono"/>
              </a:rPr>
              <a:t>cutlass</a:t>
            </a:r>
            <a:r>
              <a:rPr lang="en-US" sz="2700">
                <a:solidFill>
                  <a:srgbClr val="000000"/>
                </a:solidFill>
                <a:latin typeface="Roboto Mono"/>
                <a:ea typeface="Roboto Mono"/>
                <a:cs typeface="Roboto Mono"/>
              </a:rPr>
              <a:t>.</a:t>
            </a:r>
            <a:r>
              <a:rPr lang="en-US" sz="2700">
                <a:solidFill>
                  <a:srgbClr val="0074DF"/>
                </a:solidFill>
                <a:latin typeface="Roboto Mono"/>
                <a:ea typeface="Roboto Mono"/>
                <a:cs typeface="Roboto Mono"/>
              </a:rPr>
              <a:t>Constexpr</a:t>
            </a:r>
            <a:r>
              <a:rPr lang="en-US" sz="2700">
                <a:solidFill>
                  <a:srgbClr val="000000"/>
                </a:solidFill>
                <a:latin typeface="Roboto Mono"/>
                <a:ea typeface="Roboto Mono"/>
                <a:cs typeface="Roboto Mono"/>
              </a:rPr>
              <a:t>):</a:t>
            </a:r>
          </a:p>
          <a:p>
            <a:pPr algn="l">
              <a:lnSpc>
                <a:spcPts val="4000"/>
              </a:lnSpc>
              <a:spcBef>
                <a:spcPts val="0"/>
              </a:spcBef>
              <a:buNone/>
            </a:pPr>
            <a:r>
              <a:rPr lang="en-US" sz="2700">
                <a:solidFill>
                  <a:srgbClr val="000000"/>
                </a:solidFill>
                <a:latin typeface="Roboto Mono"/>
                <a:ea typeface="Roboto Mono"/>
                <a:cs typeface="Roboto Mono"/>
              </a:rPr>
              <a:t>    tot = </a:t>
            </a:r>
            <a:r>
              <a:rPr lang="en-US" sz="2700">
                <a:solidFill>
                  <a:srgbClr val="0074DF"/>
                </a:solidFill>
                <a:latin typeface="Roboto Mono"/>
                <a:ea typeface="Roboto Mono"/>
                <a:cs typeface="Roboto Mono"/>
              </a:rPr>
              <a:t>cutlass</a:t>
            </a:r>
            <a:r>
              <a:rPr lang="en-US" sz="2700">
                <a:solidFill>
                  <a:srgbClr val="000000"/>
                </a:solidFill>
                <a:latin typeface="Roboto Mono"/>
                <a:ea typeface="Roboto Mono"/>
                <a:cs typeface="Roboto Mono"/>
              </a:rPr>
              <a:t>.</a:t>
            </a:r>
            <a:r>
              <a:rPr lang="en-US" sz="2700">
                <a:solidFill>
                  <a:srgbClr val="0074DF"/>
                </a:solidFill>
                <a:latin typeface="Roboto Mono"/>
                <a:ea typeface="Roboto Mono"/>
                <a:cs typeface="Roboto Mono"/>
              </a:rPr>
              <a:t>Int32</a:t>
            </a:r>
            <a:r>
              <a:rPr lang="en-US" sz="2700">
                <a:solidFill>
                  <a:srgbClr val="000000"/>
                </a:solidFill>
                <a:latin typeface="Roboto Mono"/>
                <a:ea typeface="Roboto Mono"/>
                <a:cs typeface="Roboto Mono"/>
              </a:rPr>
              <a:t>(</a:t>
            </a:r>
            <a:r>
              <a:rPr lang="en-US" sz="2700">
                <a:solidFill>
                  <a:srgbClr val="B5651D"/>
                </a:solidFill>
                <a:latin typeface="Roboto Mono"/>
                <a:ea typeface="Roboto Mono"/>
                <a:cs typeface="Roboto Mono"/>
              </a:rPr>
              <a:t>0</a:t>
            </a:r>
            <a:r>
              <a:rPr lang="en-US" sz="2700">
                <a:solidFill>
                  <a:srgbClr val="000000"/>
                </a:solidFill>
                <a:latin typeface="Roboto Mono"/>
                <a:ea typeface="Roboto Mono"/>
                <a:cs typeface="Roboto Mono"/>
              </a:rPr>
              <a:t>)</a:t>
            </a:r>
          </a:p>
          <a:p>
            <a:pPr algn="l">
              <a:lnSpc>
                <a:spcPts val="4000"/>
              </a:lnSpc>
              <a:spcBef>
                <a:spcPts val="0"/>
              </a:spcBef>
              <a:buNone/>
            </a:pPr>
            <a:r>
              <a:rPr lang="en-US" sz="2700">
                <a:solidFill>
                  <a:srgbClr val="000000"/>
                </a:solidFill>
                <a:latin typeface="Roboto Mono"/>
                <a:ea typeface="Roboto Mono"/>
                <a:cs typeface="Roboto Mono"/>
              </a:rPr>
              <a:t>    </a:t>
            </a:r>
            <a:r>
              <a:rPr lang="en-US" sz="2700">
                <a:solidFill>
                  <a:srgbClr val="952FC6"/>
                </a:solidFill>
                <a:latin typeface="Roboto Mono"/>
                <a:ea typeface="Roboto Mono"/>
                <a:cs typeface="Roboto Mono"/>
              </a:rPr>
              <a:t>for</a:t>
            </a:r>
            <a:r>
              <a:rPr lang="en-US" sz="2700">
                <a:solidFill>
                  <a:srgbClr val="000000"/>
                </a:solidFill>
                <a:latin typeface="Roboto Mono"/>
                <a:ea typeface="Roboto Mono"/>
                <a:cs typeface="Roboto Mono"/>
              </a:rPr>
              <a:t> i </a:t>
            </a:r>
            <a:r>
              <a:rPr lang="en-US" sz="2700">
                <a:solidFill>
                  <a:srgbClr val="952FC6"/>
                </a:solidFill>
                <a:latin typeface="Roboto Mono"/>
                <a:ea typeface="Roboto Mono"/>
                <a:cs typeface="Roboto Mono"/>
              </a:rPr>
              <a:t>in</a:t>
            </a:r>
            <a:r>
              <a:rPr lang="en-US" sz="2700">
                <a:solidFill>
                  <a:srgbClr val="000000"/>
                </a:solidFill>
                <a:latin typeface="Roboto Mono"/>
                <a:ea typeface="Roboto Mono"/>
                <a:cs typeface="Roboto Mono"/>
              </a:rPr>
              <a:t> range(n):        </a:t>
            </a:r>
            <a:r>
              <a:rPr lang="en-US" sz="2700">
                <a:solidFill>
                  <a:srgbClr val="76B900"/>
                </a:solidFill>
                <a:latin typeface="Roboto Mono"/>
                <a:ea typeface="Roboto Mono"/>
                <a:cs typeface="Roboto Mono"/>
              </a:rPr>
              <a:t>← GPU decides passes</a:t>
            </a:r>
          </a:p>
          <a:p>
            <a:pPr algn="l">
              <a:lnSpc>
                <a:spcPts val="4000"/>
              </a:lnSpc>
              <a:spcBef>
                <a:spcPts val="0"/>
              </a:spcBef>
              <a:buNone/>
            </a:pPr>
            <a:r>
              <a:rPr lang="en-US" sz="2700">
                <a:solidFill>
                  <a:srgbClr val="000000"/>
                </a:solidFill>
                <a:latin typeface="Roboto Mono"/>
                <a:ea typeface="Roboto Mono"/>
                <a:cs typeface="Roboto Mono"/>
              </a:rPr>
              <a:t>        s.c          += </a:t>
            </a:r>
            <a:r>
              <a:rPr lang="en-US" sz="2700">
                <a:solidFill>
                  <a:srgbClr val="B5651D"/>
                </a:solidFill>
                <a:latin typeface="Roboto Mono"/>
                <a:ea typeface="Roboto Mono"/>
                <a:cs typeface="Roboto Mono"/>
              </a:rPr>
              <a:t>2</a:t>
            </a:r>
            <a:r>
              <a:rPr lang="en-US" sz="2700">
                <a:solidFill>
                  <a:srgbClr val="000000"/>
                </a:solidFill>
                <a:latin typeface="Roboto Mono"/>
                <a:ea typeface="Roboto Mono"/>
                <a:cs typeface="Roboto Mono"/>
              </a:rPr>
              <a:t>     </a:t>
            </a:r>
            <a:r>
              <a:rPr lang="en-US" sz="2700">
                <a:solidFill>
                  <a:srgbClr val="76B900"/>
                </a:solidFill>
                <a:latin typeface="Roboto Mono"/>
                <a:ea typeface="Roboto Mono"/>
                <a:cs typeface="Roboto Mono"/>
              </a:rPr>
              <a:t>← mutated on GPU</a:t>
            </a:r>
          </a:p>
          <a:p>
            <a:pPr algn="l">
              <a:lnSpc>
                <a:spcPts val="4000"/>
              </a:lnSpc>
              <a:spcBef>
                <a:spcPts val="0"/>
              </a:spcBef>
              <a:buNone/>
            </a:pPr>
            <a:r>
              <a:rPr lang="en-US" sz="2700">
                <a:solidFill>
                  <a:srgbClr val="000000"/>
                </a:solidFill>
                <a:latin typeface="Roboto Mono"/>
                <a:ea typeface="Roboto Mono"/>
                <a:cs typeface="Roboto Mono"/>
              </a:rPr>
              <a:t>        s.bins[</a:t>
            </a:r>
            <a:r>
              <a:rPr lang="en-US" sz="2700">
                <a:solidFill>
                  <a:srgbClr val="1D6F62"/>
                </a:solidFill>
                <a:latin typeface="Roboto Mono"/>
                <a:ea typeface="Roboto Mono"/>
                <a:cs typeface="Roboto Mono"/>
              </a:rPr>
              <a:t>"hi"</a:t>
            </a:r>
            <a:r>
              <a:rPr lang="en-US" sz="2700">
                <a:solidFill>
                  <a:srgbClr val="000000"/>
                </a:solidFill>
                <a:latin typeface="Roboto Mono"/>
                <a:ea typeface="Roboto Mono"/>
                <a:cs typeface="Roboto Mono"/>
              </a:rPr>
              <a:t>] += </a:t>
            </a:r>
            <a:r>
              <a:rPr lang="en-US" sz="2700">
                <a:solidFill>
                  <a:srgbClr val="B5651D"/>
                </a:solidFill>
                <a:latin typeface="Roboto Mono"/>
                <a:ea typeface="Roboto Mono"/>
                <a:cs typeface="Roboto Mono"/>
              </a:rPr>
              <a:t>1</a:t>
            </a:r>
            <a:r>
              <a:rPr lang="en-US" sz="2700">
                <a:solidFill>
                  <a:srgbClr val="000000"/>
                </a:solidFill>
                <a:latin typeface="Roboto Mono"/>
                <a:ea typeface="Roboto Mono"/>
                <a:cs typeface="Roboto Mono"/>
              </a:rPr>
              <a:t>     </a:t>
            </a:r>
            <a:r>
              <a:rPr lang="en-US" sz="2700">
                <a:solidFill>
                  <a:srgbClr val="76B900"/>
                </a:solidFill>
                <a:latin typeface="Roboto Mono"/>
                <a:ea typeface="Roboto Mono"/>
                <a:cs typeface="Roboto Mono"/>
              </a:rPr>
              <a:t>← mutated on GPU</a:t>
            </a:r>
          </a:p>
          <a:p>
            <a:pPr algn="l">
              <a:lnSpc>
                <a:spcPts val="4000"/>
              </a:lnSpc>
              <a:spcBef>
                <a:spcPts val="0"/>
              </a:spcBef>
              <a:buNone/>
            </a:pPr>
            <a:r>
              <a:rPr lang="en-US" sz="2700">
                <a:solidFill>
                  <a:srgbClr val="000000"/>
                </a:solidFill>
                <a:latin typeface="Roboto Mono"/>
                <a:ea typeface="Roboto Mono"/>
                <a:cs typeface="Roboto Mono"/>
              </a:rPr>
              <a:t>        tot          += s.c   </a:t>
            </a:r>
            <a:r>
              <a:rPr lang="en-US" sz="2700">
                <a:solidFill>
                  <a:srgbClr val="76B900"/>
                </a:solidFill>
                <a:latin typeface="Roboto Mono"/>
                <a:ea typeface="Roboto Mono"/>
                <a:cs typeface="Roboto Mono"/>
              </a:rPr>
              <a:t>← already a DSL value</a:t>
            </a:r>
          </a:p>
          <a:p>
            <a:pPr algn="l">
              <a:lnSpc>
                <a:spcPts val="2200"/>
              </a:lnSpc>
              <a:spcBef>
                <a:spcPts val="0"/>
              </a:spcBef>
              <a:buNone/>
            </a:pPr>
            <a:r>
              <a:rPr lang="en-US" sz="2700">
                <a:solidFill>
                  <a:srgbClr val="000000"/>
                </a:solidFill>
                <a:latin typeface="Roboto Mono"/>
                <a:ea typeface="Roboto Mono"/>
                <a:cs typeface="Roboto Mono"/>
              </a:rPr>
              <a:t> </a:t>
            </a:r>
          </a:p>
          <a:p>
            <a:pPr algn="l">
              <a:lnSpc>
                <a:spcPts val="4000"/>
              </a:lnSpc>
              <a:spcBef>
                <a:spcPts val="0"/>
              </a:spcBef>
              <a:buNone/>
            </a:pPr>
            <a:r>
              <a:rPr lang="en-US" sz="2700">
                <a:solidFill>
                  <a:srgbClr val="000000"/>
                </a:solidFill>
                <a:latin typeface="Roboto Mono"/>
                <a:ea typeface="Roboto Mono"/>
                <a:cs typeface="Roboto Mono"/>
              </a:rPr>
              <a:t>s = </a:t>
            </a:r>
            <a:r>
              <a:rPr lang="en-US" sz="2700">
                <a:solidFill>
                  <a:srgbClr val="0074DF"/>
                </a:solidFill>
                <a:latin typeface="Roboto Mono"/>
                <a:ea typeface="Roboto Mono"/>
                <a:cs typeface="Roboto Mono"/>
              </a:rPr>
              <a:t>State</a:t>
            </a:r>
            <a:r>
              <a:rPr lang="en-US" sz="2700">
                <a:solidFill>
                  <a:srgbClr val="000000"/>
                </a:solidFill>
                <a:latin typeface="Roboto Mono"/>
                <a:ea typeface="Roboto Mono"/>
                <a:cs typeface="Roboto Mono"/>
              </a:rPr>
              <a:t>(); kernel(</a:t>
            </a:r>
            <a:r>
              <a:rPr lang="en-US" sz="2700">
                <a:solidFill>
                  <a:srgbClr val="B5651D"/>
                </a:solidFill>
                <a:latin typeface="Roboto Mono"/>
                <a:ea typeface="Roboto Mono"/>
                <a:cs typeface="Roboto Mono"/>
              </a:rPr>
              <a:t>10</a:t>
            </a:r>
            <a:r>
              <a:rPr lang="en-US" sz="2700">
                <a:solidFill>
                  <a:srgbClr val="000000"/>
                </a:solidFill>
                <a:latin typeface="Roboto Mono"/>
                <a:ea typeface="Roboto Mono"/>
                <a:cs typeface="Roboto Mono"/>
              </a:rPr>
              <a:t>, s)</a:t>
            </a:r>
          </a:p>
        </p:txBody>
      </p:sp>
      <p:sp>
        <p:nvSpPr>
          <p:cNvPr id="12" name="CodeR">
            <a:extLst>
              <a:ext uri="{FF2B5EF4-FFF2-40B4-BE49-F238E27FC236}">
                <a16:creationId xmlns:a16="http://schemas.microsoft.com/office/drawing/2014/main" id="{096628C8-12EE-7F3C-5502-F92A7D1411D0}"/>
              </a:ext>
            </a:extLst>
          </p:cNvPr>
          <p:cNvSpPr txBox="1"/>
          <p:nvPr/>
        </p:nvSpPr>
        <p:spPr>
          <a:xfrm>
            <a:off x="15240000" y="5334000"/>
            <a:ext cx="19202400" cy="10795000"/>
          </a:xfrm>
          <a:prstGeom prst="rect">
            <a:avLst/>
          </a:prstGeom>
          <a:solidFill>
            <a:srgbClr val="F0F0F0"/>
          </a:solidFill>
          <a:ln>
            <a:noFill/>
          </a:ln>
        </p:spPr>
        <p:txBody>
          <a:bodyPr vertOverflow="overflow" vert="horz" wrap="square" rtlCol="0" anchor="t">
            <a:noAutofit/>
          </a:bodyPr>
          <a:lstStyle/>
          <a:p>
            <a:pPr>
              <a:lnSpc>
                <a:spcPts val="3700"/>
              </a:lnSpc>
              <a:spcBef>
                <a:spcPts val="0"/>
              </a:spcBef>
              <a:buNone/>
            </a:pPr>
            <a:r>
              <a:rPr lang="en-US" sz="2700">
                <a:solidFill>
                  <a:srgbClr val="952FC6"/>
                </a:solidFill>
                <a:latin typeface="Roboto Mono"/>
                <a:ea typeface="Roboto Mono"/>
                <a:cs typeface="Consolas"/>
              </a:rPr>
              <a:t>from</a:t>
            </a:r>
            <a:r>
              <a:rPr lang="en-US" sz="2700">
                <a:solidFill>
                  <a:srgbClr val="000000"/>
                </a:solidFill>
                <a:latin typeface="Roboto Mono"/>
                <a:ea typeface="Roboto Mono"/>
                <a:cs typeface="Consolas"/>
              </a:rPr>
              <a:t> </a:t>
            </a:r>
            <a:r>
              <a:rPr lang="en-US" sz="2700" err="1">
                <a:solidFill>
                  <a:srgbClr val="0074DF"/>
                </a:solidFill>
                <a:latin typeface="Roboto Mono"/>
                <a:ea typeface="Roboto Mono"/>
                <a:cs typeface="Consolas"/>
              </a:rPr>
              <a:t>cutlass</a:t>
            </a:r>
            <a:r>
              <a:rPr lang="en-US" sz="2700" err="1">
                <a:solidFill>
                  <a:srgbClr val="000000"/>
                </a:solidFill>
                <a:latin typeface="Roboto Mono"/>
                <a:ea typeface="Roboto Mono"/>
                <a:cs typeface="Consolas"/>
              </a:rPr>
              <a:t>.base_dsl.dsl</a:t>
            </a:r>
            <a:r>
              <a:rPr lang="en-US" sz="2700">
                <a:solidFill>
                  <a:srgbClr val="000000"/>
                </a:solidFill>
                <a:latin typeface="Roboto Mono"/>
                <a:ea typeface="Roboto Mono"/>
                <a:cs typeface="Consolas"/>
              </a:rPr>
              <a:t> </a:t>
            </a:r>
            <a:r>
              <a:rPr lang="en-US" sz="2700">
                <a:solidFill>
                  <a:srgbClr val="952FC6"/>
                </a:solidFill>
                <a:latin typeface="Roboto Mono"/>
                <a:ea typeface="Roboto Mono"/>
                <a:cs typeface="Consolas"/>
              </a:rPr>
              <a:t>import</a:t>
            </a: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extract_mlir_values</a:t>
            </a: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new_from_mlir_values</a:t>
            </a:r>
            <a:endParaRPr lang="en-US" sz="2700">
              <a:solidFill>
                <a:srgbClr val="000000"/>
              </a:solidFill>
              <a:latin typeface="Roboto Mono"/>
              <a:ea typeface="Roboto Mono"/>
              <a:cs typeface="Consolas"/>
            </a:endParaRPr>
          </a:p>
          <a:p>
            <a:pPr>
              <a:lnSpc>
                <a:spcPts val="2000"/>
              </a:lnSpc>
              <a:spcBef>
                <a:spcPts val="0"/>
              </a:spcBef>
              <a:buNone/>
            </a:pPr>
            <a:r>
              <a:rPr lang="en-US" sz="2700">
                <a:solidFill>
                  <a:srgbClr val="000000"/>
                </a:solidFill>
                <a:latin typeface="Roboto Mono"/>
                <a:ea typeface="Roboto Mono"/>
                <a:cs typeface="Consolas"/>
              </a:rPr>
              <a:t> </a:t>
            </a:r>
          </a:p>
          <a:p>
            <a:pPr>
              <a:lnSpc>
                <a:spcPts val="3700"/>
              </a:lnSpc>
              <a:spcBef>
                <a:spcPts val="0"/>
              </a:spcBef>
              <a:buNone/>
            </a:pPr>
            <a:r>
              <a:rPr lang="en-US" sz="2700">
                <a:solidFill>
                  <a:srgbClr val="952FC6"/>
                </a:solidFill>
                <a:latin typeface="Roboto Mono"/>
                <a:ea typeface="Roboto Mono"/>
                <a:cs typeface="Consolas"/>
              </a:rPr>
              <a:t>class</a:t>
            </a:r>
            <a:r>
              <a:rPr lang="en-US" sz="2700">
                <a:solidFill>
                  <a:srgbClr val="000000"/>
                </a:solidFill>
                <a:latin typeface="Roboto Mono"/>
                <a:ea typeface="Roboto Mono"/>
                <a:cs typeface="Consolas"/>
              </a:rPr>
              <a:t> </a:t>
            </a:r>
            <a:r>
              <a:rPr lang="en-US" sz="2700">
                <a:solidFill>
                  <a:srgbClr val="0074DF"/>
                </a:solidFill>
                <a:latin typeface="Roboto Mono"/>
                <a:ea typeface="Roboto Mono"/>
                <a:cs typeface="Consolas"/>
              </a:rPr>
              <a:t>State</a:t>
            </a:r>
            <a:r>
              <a:rPr lang="en-US" sz="2700">
                <a:solidFill>
                  <a:srgbClr val="000000"/>
                </a:solidFill>
                <a:latin typeface="Roboto Mono"/>
                <a:ea typeface="Roboto Mono"/>
                <a:cs typeface="Consolas"/>
              </a:rPr>
              <a:t>:</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952FC6"/>
                </a:solidFill>
                <a:latin typeface="Roboto Mono"/>
                <a:ea typeface="Roboto Mono"/>
                <a:cs typeface="Consolas"/>
              </a:rPr>
              <a:t>def</a:t>
            </a:r>
            <a:r>
              <a:rPr lang="en-US" sz="2700">
                <a:solidFill>
                  <a:srgbClr val="000000"/>
                </a:solidFill>
                <a:latin typeface="Roboto Mono"/>
                <a:ea typeface="Roboto Mono"/>
                <a:cs typeface="Consolas"/>
              </a:rPr>
              <a:t> __</a:t>
            </a:r>
            <a:r>
              <a:rPr lang="en-US" sz="2700" err="1">
                <a:solidFill>
                  <a:srgbClr val="000000"/>
                </a:solidFill>
                <a:latin typeface="Roboto Mono"/>
                <a:ea typeface="Roboto Mono"/>
                <a:cs typeface="Consolas"/>
              </a:rPr>
              <a:t>init</a:t>
            </a:r>
            <a:r>
              <a:rPr lang="en-US" sz="2700">
                <a:solidFill>
                  <a:srgbClr val="000000"/>
                </a:solidFill>
                <a:latin typeface="Roboto Mono"/>
                <a:ea typeface="Roboto Mono"/>
                <a:cs typeface="Consolas"/>
              </a:rPr>
              <a:t>__(</a:t>
            </a:r>
            <a:r>
              <a:rPr lang="en-US" sz="2700">
                <a:solidFill>
                  <a:srgbClr val="757575"/>
                </a:solidFill>
                <a:latin typeface="Roboto Mono"/>
                <a:ea typeface="Roboto Mono"/>
                <a:cs typeface="Consolas"/>
              </a:rPr>
              <a:t>self</a:t>
            </a:r>
            <a:r>
              <a:rPr lang="en-US" sz="2700">
                <a:solidFill>
                  <a:srgbClr val="000000"/>
                </a:solidFill>
                <a:latin typeface="Roboto Mono"/>
                <a:ea typeface="Roboto Mono"/>
                <a:cs typeface="Consolas"/>
              </a:rPr>
              <a:t>):</a:t>
            </a:r>
          </a:p>
          <a:p>
            <a:pPr>
              <a:lnSpc>
                <a:spcPts val="3700"/>
              </a:lnSpc>
              <a:spcBef>
                <a:spcPts val="0"/>
              </a:spcBef>
              <a:buNone/>
            </a:pPr>
            <a:r>
              <a:rPr lang="en-US" sz="2700">
                <a:solidFill>
                  <a:srgbClr val="000000"/>
                </a:solidFill>
                <a:latin typeface="Roboto Mono"/>
                <a:ea typeface="Roboto Mono"/>
                <a:cs typeface="Consolas"/>
              </a:rPr>
              <a:t>        </a:t>
            </a:r>
            <a:r>
              <a:rPr lang="en-US" sz="2700" err="1">
                <a:solidFill>
                  <a:srgbClr val="757575"/>
                </a:solidFill>
                <a:latin typeface="Roboto Mono"/>
                <a:ea typeface="Roboto Mono"/>
                <a:cs typeface="Consolas"/>
              </a:rPr>
              <a:t>self</a:t>
            </a:r>
            <a:r>
              <a:rPr lang="en-US" sz="2700" err="1">
                <a:solidFill>
                  <a:srgbClr val="000000"/>
                </a:solidFill>
                <a:latin typeface="Roboto Mono"/>
                <a:ea typeface="Roboto Mono"/>
                <a:cs typeface="Consolas"/>
              </a:rPr>
              <a:t>.c</a:t>
            </a:r>
            <a:r>
              <a:rPr lang="en-US" sz="2700">
                <a:solidFill>
                  <a:srgbClr val="000000"/>
                </a:solidFill>
                <a:latin typeface="Roboto Mono"/>
                <a:ea typeface="Roboto Mono"/>
                <a:cs typeface="Consolas"/>
              </a:rPr>
              <a:t>    = </a:t>
            </a:r>
            <a:r>
              <a:rPr lang="en-US" sz="2700">
                <a:solidFill>
                  <a:srgbClr val="0074DF"/>
                </a:solidFill>
                <a:latin typeface="Roboto Mono"/>
                <a:ea typeface="Roboto Mono"/>
                <a:cs typeface="Consolas"/>
              </a:rPr>
              <a:t>cutlass</a:t>
            </a:r>
            <a:r>
              <a:rPr lang="en-US" sz="2700">
                <a:solidFill>
                  <a:srgbClr val="000000"/>
                </a:solidFill>
                <a:latin typeface="Roboto Mono"/>
                <a:ea typeface="Roboto Mono"/>
                <a:cs typeface="Consolas"/>
              </a:rPr>
              <a:t>.</a:t>
            </a:r>
            <a:r>
              <a:rPr lang="en-US" sz="2700">
                <a:solidFill>
                  <a:srgbClr val="0074DF"/>
                </a:solidFill>
                <a:latin typeface="Roboto Mono"/>
                <a:ea typeface="Roboto Mono"/>
                <a:cs typeface="Consolas"/>
              </a:rPr>
              <a:t>Int32</a:t>
            </a:r>
            <a:r>
              <a:rPr lang="en-US" sz="2700">
                <a:solidFill>
                  <a:srgbClr val="000000"/>
                </a:solidFill>
                <a:latin typeface="Roboto Mono"/>
                <a:ea typeface="Roboto Mono"/>
                <a:cs typeface="Consolas"/>
              </a:rPr>
              <a:t>(</a:t>
            </a:r>
            <a:r>
              <a:rPr lang="en-US" sz="2700">
                <a:solidFill>
                  <a:srgbClr val="B5651D"/>
                </a:solidFill>
                <a:latin typeface="Roboto Mono"/>
                <a:ea typeface="Roboto Mono"/>
                <a:cs typeface="Consolas"/>
              </a:rPr>
              <a:t>0</a:t>
            </a:r>
            <a:r>
              <a:rPr lang="en-US" sz="2700">
                <a:solidFill>
                  <a:srgbClr val="000000"/>
                </a:solidFill>
                <a:latin typeface="Roboto Mono"/>
                <a:ea typeface="Roboto Mono"/>
                <a:cs typeface="Consolas"/>
              </a:rPr>
              <a:t>)          </a:t>
            </a:r>
            <a:r>
              <a:rPr lang="en-US" sz="2700">
                <a:solidFill>
                  <a:srgbClr val="4A7C00"/>
                </a:solidFill>
                <a:latin typeface="Roboto Mono"/>
                <a:ea typeface="Roboto Mono"/>
                <a:cs typeface="Consolas"/>
              </a:rPr>
              <a:t># was: 0</a:t>
            </a:r>
          </a:p>
          <a:p>
            <a:pPr>
              <a:lnSpc>
                <a:spcPts val="3700"/>
              </a:lnSpc>
              <a:spcBef>
                <a:spcPts val="0"/>
              </a:spcBef>
              <a:buNone/>
            </a:pPr>
            <a:r>
              <a:rPr lang="en-US" sz="2700">
                <a:solidFill>
                  <a:srgbClr val="000000"/>
                </a:solidFill>
                <a:latin typeface="Roboto Mono"/>
                <a:ea typeface="Roboto Mono"/>
                <a:cs typeface="Consolas"/>
              </a:rPr>
              <a:t>        </a:t>
            </a:r>
            <a:r>
              <a:rPr lang="en-US" sz="2700" err="1">
                <a:solidFill>
                  <a:srgbClr val="757575"/>
                </a:solidFill>
                <a:latin typeface="Roboto Mono"/>
                <a:ea typeface="Roboto Mono"/>
                <a:cs typeface="Consolas"/>
              </a:rPr>
              <a:t>self</a:t>
            </a:r>
            <a:r>
              <a:rPr lang="en-US" sz="2700" err="1">
                <a:solidFill>
                  <a:srgbClr val="000000"/>
                </a:solidFill>
                <a:latin typeface="Roboto Mono"/>
                <a:ea typeface="Roboto Mono"/>
                <a:cs typeface="Consolas"/>
              </a:rPr>
              <a:t>.bins</a:t>
            </a:r>
            <a:r>
              <a:rPr lang="en-US" sz="2700">
                <a:solidFill>
                  <a:srgbClr val="000000"/>
                </a:solidFill>
                <a:latin typeface="Roboto Mono"/>
                <a:ea typeface="Roboto Mono"/>
                <a:cs typeface="Consolas"/>
              </a:rPr>
              <a:t> = {</a:t>
            </a:r>
            <a:r>
              <a:rPr lang="en-US" sz="2700">
                <a:solidFill>
                  <a:srgbClr val="1D6F62"/>
                </a:solidFill>
                <a:latin typeface="Roboto Mono"/>
                <a:ea typeface="Roboto Mono"/>
                <a:cs typeface="Consolas"/>
              </a:rPr>
              <a:t>"hi"</a:t>
            </a:r>
            <a:r>
              <a:rPr lang="en-US" sz="2700">
                <a:solidFill>
                  <a:srgbClr val="000000"/>
                </a:solidFill>
                <a:latin typeface="Roboto Mono"/>
                <a:ea typeface="Roboto Mono"/>
                <a:cs typeface="Consolas"/>
              </a:rPr>
              <a:t>: </a:t>
            </a:r>
            <a:r>
              <a:rPr lang="en-US" sz="2700">
                <a:solidFill>
                  <a:srgbClr val="0074DF"/>
                </a:solidFill>
                <a:latin typeface="Roboto Mono"/>
                <a:ea typeface="Roboto Mono"/>
                <a:cs typeface="Consolas"/>
              </a:rPr>
              <a:t>cutlass</a:t>
            </a:r>
            <a:r>
              <a:rPr lang="en-US" sz="2700">
                <a:solidFill>
                  <a:srgbClr val="000000"/>
                </a:solidFill>
                <a:latin typeface="Roboto Mono"/>
                <a:ea typeface="Roboto Mono"/>
                <a:cs typeface="Consolas"/>
              </a:rPr>
              <a:t>.</a:t>
            </a:r>
            <a:r>
              <a:rPr lang="en-US" sz="2700">
                <a:solidFill>
                  <a:srgbClr val="0074DF"/>
                </a:solidFill>
                <a:latin typeface="Roboto Mono"/>
                <a:ea typeface="Roboto Mono"/>
                <a:cs typeface="Consolas"/>
              </a:rPr>
              <a:t>Int32</a:t>
            </a:r>
            <a:r>
              <a:rPr lang="en-US" sz="2700">
                <a:solidFill>
                  <a:srgbClr val="000000"/>
                </a:solidFill>
                <a:latin typeface="Roboto Mono"/>
                <a:ea typeface="Roboto Mono"/>
                <a:cs typeface="Consolas"/>
              </a:rPr>
              <a:t>(</a:t>
            </a:r>
            <a:r>
              <a:rPr lang="en-US" sz="2700">
                <a:solidFill>
                  <a:srgbClr val="B5651D"/>
                </a:solidFill>
                <a:latin typeface="Roboto Mono"/>
                <a:ea typeface="Roboto Mono"/>
                <a:cs typeface="Consolas"/>
              </a:rPr>
              <a:t>0</a:t>
            </a:r>
            <a:r>
              <a:rPr lang="en-US" sz="2700">
                <a:solidFill>
                  <a:srgbClr val="000000"/>
                </a:solidFill>
                <a:latin typeface="Roboto Mono"/>
                <a:ea typeface="Roboto Mono"/>
                <a:cs typeface="Consolas"/>
              </a:rPr>
              <a:t>)}  </a:t>
            </a:r>
            <a:r>
              <a:rPr lang="en-US" sz="2700">
                <a:solidFill>
                  <a:srgbClr val="4A7C00"/>
                </a:solidFill>
                <a:latin typeface="Roboto Mono"/>
                <a:ea typeface="Roboto Mono"/>
                <a:cs typeface="Consolas"/>
              </a:rPr>
              <a:t># was: {"hi": 0}</a:t>
            </a:r>
          </a:p>
          <a:p>
            <a:pPr>
              <a:lnSpc>
                <a:spcPts val="2000"/>
              </a:lnSpc>
              <a:spcBef>
                <a:spcPts val="0"/>
              </a:spcBef>
              <a:buNone/>
            </a:pPr>
            <a:r>
              <a:rPr lang="en-US" sz="2700">
                <a:solidFill>
                  <a:srgbClr val="000000"/>
                </a:solidFill>
                <a:latin typeface="Roboto Mono"/>
                <a:ea typeface="Roboto Mono"/>
                <a:cs typeface="Consolas"/>
              </a:rPr>
              <a:t> </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4A7C00"/>
                </a:solidFill>
                <a:latin typeface="Roboto Mono"/>
                <a:ea typeface="Roboto Mono"/>
                <a:cs typeface="Consolas"/>
              </a:rPr>
              <a:t># hand-written protocol: flatten state, in a fixed order, into the</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4A7C00"/>
                </a:solidFill>
                <a:latin typeface="Roboto Mono"/>
                <a:ea typeface="Roboto Mono"/>
                <a:cs typeface="Consolas"/>
              </a:rPr>
              <a:t># flat list of MLIR values the loop region carries</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952FC6"/>
                </a:solidFill>
                <a:latin typeface="Roboto Mono"/>
                <a:ea typeface="Roboto Mono"/>
                <a:cs typeface="Consolas"/>
              </a:rPr>
              <a:t>def</a:t>
            </a:r>
            <a:r>
              <a:rPr lang="en-US" sz="2700">
                <a:solidFill>
                  <a:srgbClr val="000000"/>
                </a:solidFill>
                <a:latin typeface="Roboto Mono"/>
                <a:ea typeface="Roboto Mono"/>
                <a:cs typeface="Consolas"/>
              </a:rPr>
              <a:t> __</a:t>
            </a:r>
            <a:r>
              <a:rPr lang="en-US" sz="2700" err="1">
                <a:solidFill>
                  <a:srgbClr val="000000"/>
                </a:solidFill>
                <a:latin typeface="Roboto Mono"/>
                <a:ea typeface="Roboto Mono"/>
                <a:cs typeface="Consolas"/>
              </a:rPr>
              <a:t>extract_mlir_values</a:t>
            </a:r>
            <a:r>
              <a:rPr lang="en-US" sz="2700">
                <a:solidFill>
                  <a:srgbClr val="000000"/>
                </a:solidFill>
                <a:latin typeface="Roboto Mono"/>
                <a:ea typeface="Roboto Mono"/>
                <a:cs typeface="Consolas"/>
              </a:rPr>
              <a:t>__(</a:t>
            </a:r>
            <a:r>
              <a:rPr lang="en-US" sz="2700">
                <a:solidFill>
                  <a:srgbClr val="757575"/>
                </a:solidFill>
                <a:latin typeface="Roboto Mono"/>
                <a:ea typeface="Roboto Mono"/>
                <a:cs typeface="Consolas"/>
              </a:rPr>
              <a:t>self</a:t>
            </a:r>
            <a:r>
              <a:rPr lang="en-US" sz="2700">
                <a:solidFill>
                  <a:srgbClr val="000000"/>
                </a:solidFill>
                <a:latin typeface="Roboto Mono"/>
                <a:ea typeface="Roboto Mono"/>
                <a:cs typeface="Consolas"/>
              </a:rPr>
              <a:t>):</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952FC6"/>
                </a:solidFill>
                <a:latin typeface="Roboto Mono"/>
                <a:ea typeface="Roboto Mono"/>
                <a:cs typeface="Consolas"/>
              </a:rPr>
              <a:t>return</a:t>
            </a: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extract_mlir_values</a:t>
            </a:r>
            <a:r>
              <a:rPr lang="en-US" sz="2700">
                <a:solidFill>
                  <a:srgbClr val="000000"/>
                </a:solidFill>
                <a:latin typeface="Roboto Mono"/>
                <a:ea typeface="Roboto Mono"/>
                <a:cs typeface="Consolas"/>
              </a:rPr>
              <a:t>(</a:t>
            </a:r>
            <a:r>
              <a:rPr lang="en-US" sz="2700" err="1">
                <a:solidFill>
                  <a:srgbClr val="757575"/>
                </a:solidFill>
                <a:latin typeface="Roboto Mono"/>
                <a:ea typeface="Roboto Mono"/>
                <a:cs typeface="Consolas"/>
              </a:rPr>
              <a:t>self</a:t>
            </a:r>
            <a:r>
              <a:rPr lang="en-US" sz="2700" err="1">
                <a:solidFill>
                  <a:srgbClr val="000000"/>
                </a:solidFill>
                <a:latin typeface="Roboto Mono"/>
                <a:ea typeface="Roboto Mono"/>
                <a:cs typeface="Consolas"/>
              </a:rPr>
              <a:t>.c</a:t>
            </a:r>
            <a:r>
              <a:rPr lang="en-US" sz="2700">
                <a:solidFill>
                  <a:srgbClr val="000000"/>
                </a:solidFill>
                <a:latin typeface="Roboto Mono"/>
                <a:ea typeface="Roboto Mono"/>
                <a:cs typeface="Consolas"/>
              </a:rPr>
              <a:t>)</a:t>
            </a:r>
          </a:p>
          <a:p>
            <a:pPr>
              <a:lnSpc>
                <a:spcPts val="3700"/>
              </a:lnSpc>
              <a:spcBef>
                <a:spcPts val="0"/>
              </a:spcBef>
              <a:buNone/>
            </a:pPr>
            <a:r>
              <a:rPr lang="en-US" sz="2700">
                <a:solidFill>
                  <a:srgbClr val="000000"/>
                </a:solidFill>
                <a:latin typeface="Roboto Mono"/>
                <a:ea typeface="Roboto Mono"/>
                <a:cs typeface="Consolas"/>
              </a:rPr>
              <a:t>                + </a:t>
            </a:r>
            <a:r>
              <a:rPr lang="en-US" sz="2700" err="1">
                <a:solidFill>
                  <a:srgbClr val="000000"/>
                </a:solidFill>
                <a:latin typeface="Roboto Mono"/>
                <a:ea typeface="Roboto Mono"/>
                <a:cs typeface="Consolas"/>
              </a:rPr>
              <a:t>extract_mlir_values</a:t>
            </a:r>
            <a:r>
              <a:rPr lang="en-US" sz="2700">
                <a:solidFill>
                  <a:srgbClr val="000000"/>
                </a:solidFill>
                <a:latin typeface="Roboto Mono"/>
                <a:ea typeface="Roboto Mono"/>
                <a:cs typeface="Consolas"/>
              </a:rPr>
              <a:t>(</a:t>
            </a:r>
            <a:r>
              <a:rPr lang="en-US" sz="2700" err="1">
                <a:solidFill>
                  <a:srgbClr val="757575"/>
                </a:solidFill>
                <a:latin typeface="Roboto Mono"/>
                <a:ea typeface="Roboto Mono"/>
                <a:cs typeface="Consolas"/>
              </a:rPr>
              <a:t>self</a:t>
            </a:r>
            <a:r>
              <a:rPr lang="en-US" sz="2700" err="1">
                <a:solidFill>
                  <a:srgbClr val="000000"/>
                </a:solidFill>
                <a:latin typeface="Roboto Mono"/>
                <a:ea typeface="Roboto Mono"/>
                <a:cs typeface="Consolas"/>
              </a:rPr>
              <a:t>.bins</a:t>
            </a:r>
            <a:r>
              <a:rPr lang="en-US" sz="2700">
                <a:solidFill>
                  <a:srgbClr val="000000"/>
                </a:solidFill>
                <a:latin typeface="Roboto Mono"/>
                <a:ea typeface="Roboto Mono"/>
                <a:cs typeface="Consolas"/>
              </a:rPr>
              <a:t>[</a:t>
            </a:r>
            <a:r>
              <a:rPr lang="en-US" sz="2700">
                <a:solidFill>
                  <a:srgbClr val="1D6F62"/>
                </a:solidFill>
                <a:latin typeface="Roboto Mono"/>
                <a:ea typeface="Roboto Mono"/>
                <a:cs typeface="Consolas"/>
              </a:rPr>
              <a:t>"hi"</a:t>
            </a:r>
            <a:r>
              <a:rPr lang="en-US" sz="2700">
                <a:solidFill>
                  <a:srgbClr val="000000"/>
                </a:solidFill>
                <a:latin typeface="Roboto Mono"/>
                <a:ea typeface="Roboto Mono"/>
                <a:cs typeface="Consolas"/>
              </a:rPr>
              <a:t>]))</a:t>
            </a:r>
          </a:p>
          <a:p>
            <a:pPr>
              <a:lnSpc>
                <a:spcPts val="2000"/>
              </a:lnSpc>
              <a:spcBef>
                <a:spcPts val="0"/>
              </a:spcBef>
              <a:buNone/>
            </a:pPr>
            <a:r>
              <a:rPr lang="en-US" sz="2700">
                <a:solidFill>
                  <a:srgbClr val="000000"/>
                </a:solidFill>
                <a:latin typeface="Roboto Mono"/>
                <a:ea typeface="Roboto Mono"/>
                <a:cs typeface="Consolas"/>
              </a:rPr>
              <a:t> </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4A7C00"/>
                </a:solidFill>
                <a:latin typeface="Roboto Mono"/>
                <a:ea typeface="Roboto Mono"/>
                <a:cs typeface="Consolas"/>
              </a:rPr>
              <a:t># rebuild the object from the loop-carried values, same order</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952FC6"/>
                </a:solidFill>
                <a:latin typeface="Roboto Mono"/>
                <a:ea typeface="Roboto Mono"/>
                <a:cs typeface="Consolas"/>
              </a:rPr>
              <a:t>def</a:t>
            </a:r>
            <a:r>
              <a:rPr lang="en-US" sz="2700">
                <a:solidFill>
                  <a:srgbClr val="000000"/>
                </a:solidFill>
                <a:latin typeface="Roboto Mono"/>
                <a:ea typeface="Roboto Mono"/>
                <a:cs typeface="Consolas"/>
              </a:rPr>
              <a:t> __</a:t>
            </a:r>
            <a:r>
              <a:rPr lang="en-US" sz="2700" err="1">
                <a:solidFill>
                  <a:srgbClr val="000000"/>
                </a:solidFill>
                <a:latin typeface="Roboto Mono"/>
                <a:ea typeface="Roboto Mono"/>
                <a:cs typeface="Consolas"/>
              </a:rPr>
              <a:t>new_from_mlir_values</a:t>
            </a:r>
            <a:r>
              <a:rPr lang="en-US" sz="2700">
                <a:solidFill>
                  <a:srgbClr val="000000"/>
                </a:solidFill>
                <a:latin typeface="Roboto Mono"/>
                <a:ea typeface="Roboto Mono"/>
                <a:cs typeface="Consolas"/>
              </a:rPr>
              <a:t>__(</a:t>
            </a:r>
            <a:r>
              <a:rPr lang="en-US" sz="2700">
                <a:solidFill>
                  <a:srgbClr val="757575"/>
                </a:solidFill>
                <a:latin typeface="Roboto Mono"/>
                <a:ea typeface="Roboto Mono"/>
                <a:cs typeface="Consolas"/>
              </a:rPr>
              <a:t>self</a:t>
            </a:r>
            <a:r>
              <a:rPr lang="en-US" sz="2700">
                <a:solidFill>
                  <a:srgbClr val="000000"/>
                </a:solidFill>
                <a:latin typeface="Roboto Mono"/>
                <a:ea typeface="Roboto Mono"/>
                <a:cs typeface="Consolas"/>
              </a:rPr>
              <a:t>, values):</a:t>
            </a:r>
          </a:p>
          <a:p>
            <a:pPr>
              <a:lnSpc>
                <a:spcPts val="3700"/>
              </a:lnSpc>
              <a:spcBef>
                <a:spcPts val="0"/>
              </a:spcBef>
              <a:buNone/>
            </a:pPr>
            <a:r>
              <a:rPr lang="en-US" sz="2700">
                <a:solidFill>
                  <a:srgbClr val="000000"/>
                </a:solidFill>
                <a:latin typeface="Roboto Mono"/>
                <a:ea typeface="Roboto Mono"/>
                <a:cs typeface="Consolas"/>
              </a:rPr>
              <a:t>        new = </a:t>
            </a:r>
            <a:r>
              <a:rPr lang="en-US" sz="2700" err="1">
                <a:solidFill>
                  <a:srgbClr val="0074DF"/>
                </a:solidFill>
                <a:latin typeface="Roboto Mono"/>
                <a:ea typeface="Roboto Mono"/>
                <a:cs typeface="Consolas"/>
              </a:rPr>
              <a:t>State</a:t>
            </a:r>
            <a:r>
              <a:rPr lang="en-US" sz="2700" err="1">
                <a:solidFill>
                  <a:srgbClr val="000000"/>
                </a:solidFill>
                <a:latin typeface="Roboto Mono"/>
                <a:ea typeface="Roboto Mono"/>
                <a:cs typeface="Consolas"/>
              </a:rPr>
              <a:t>.__new</a:t>
            </a:r>
            <a:r>
              <a:rPr lang="en-US" sz="2700">
                <a:solidFill>
                  <a:srgbClr val="000000"/>
                </a:solidFill>
                <a:latin typeface="Roboto Mono"/>
                <a:ea typeface="Roboto Mono"/>
                <a:cs typeface="Consolas"/>
              </a:rPr>
              <a:t>__(</a:t>
            </a:r>
            <a:r>
              <a:rPr lang="en-US" sz="2700">
                <a:solidFill>
                  <a:srgbClr val="0074DF"/>
                </a:solidFill>
                <a:latin typeface="Roboto Mono"/>
                <a:ea typeface="Roboto Mono"/>
                <a:cs typeface="Consolas"/>
              </a:rPr>
              <a:t>State</a:t>
            </a:r>
            <a:r>
              <a:rPr lang="en-US" sz="2700">
                <a:solidFill>
                  <a:srgbClr val="000000"/>
                </a:solidFill>
                <a:latin typeface="Roboto Mono"/>
                <a:ea typeface="Roboto Mono"/>
                <a:cs typeface="Consolas"/>
              </a:rPr>
              <a:t>)</a:t>
            </a:r>
          </a:p>
          <a:p>
            <a:pPr>
              <a:lnSpc>
                <a:spcPts val="3700"/>
              </a:lnSpc>
              <a:spcBef>
                <a:spcPts val="0"/>
              </a:spcBef>
              <a:buNone/>
            </a:pP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new.c</a:t>
            </a:r>
            <a:r>
              <a:rPr lang="en-US" sz="2700">
                <a:solidFill>
                  <a:srgbClr val="000000"/>
                </a:solidFill>
                <a:latin typeface="Roboto Mono"/>
                <a:ea typeface="Roboto Mono"/>
                <a:cs typeface="Consolas"/>
              </a:rPr>
              <a:t>    = </a:t>
            </a:r>
            <a:r>
              <a:rPr lang="en-US" sz="2700" err="1">
                <a:solidFill>
                  <a:srgbClr val="000000"/>
                </a:solidFill>
                <a:latin typeface="Roboto Mono"/>
                <a:ea typeface="Roboto Mono"/>
                <a:cs typeface="Consolas"/>
              </a:rPr>
              <a:t>new_from_mlir_values</a:t>
            </a:r>
            <a:r>
              <a:rPr lang="en-US" sz="2700">
                <a:solidFill>
                  <a:srgbClr val="000000"/>
                </a:solidFill>
                <a:latin typeface="Roboto Mono"/>
                <a:ea typeface="Roboto Mono"/>
                <a:cs typeface="Consolas"/>
              </a:rPr>
              <a:t>(</a:t>
            </a:r>
            <a:r>
              <a:rPr lang="en-US" sz="2700" err="1">
                <a:solidFill>
                  <a:srgbClr val="757575"/>
                </a:solidFill>
                <a:latin typeface="Roboto Mono"/>
                <a:ea typeface="Roboto Mono"/>
                <a:cs typeface="Consolas"/>
              </a:rPr>
              <a:t>self</a:t>
            </a:r>
            <a:r>
              <a:rPr lang="en-US" sz="2700" err="1">
                <a:solidFill>
                  <a:srgbClr val="000000"/>
                </a:solidFill>
                <a:latin typeface="Roboto Mono"/>
                <a:ea typeface="Roboto Mono"/>
                <a:cs typeface="Consolas"/>
              </a:rPr>
              <a:t>.c</a:t>
            </a:r>
            <a:r>
              <a:rPr lang="en-US" sz="2700">
                <a:solidFill>
                  <a:srgbClr val="000000"/>
                </a:solidFill>
                <a:latin typeface="Roboto Mono"/>
                <a:ea typeface="Roboto Mono"/>
                <a:cs typeface="Consolas"/>
              </a:rPr>
              <a:t>, [values[</a:t>
            </a:r>
            <a:r>
              <a:rPr lang="en-US" sz="2700">
                <a:solidFill>
                  <a:srgbClr val="B5651D"/>
                </a:solidFill>
                <a:latin typeface="Roboto Mono"/>
                <a:ea typeface="Roboto Mono"/>
                <a:cs typeface="Consolas"/>
              </a:rPr>
              <a:t>0</a:t>
            </a:r>
            <a:r>
              <a:rPr lang="en-US" sz="2700">
                <a:solidFill>
                  <a:srgbClr val="000000"/>
                </a:solidFill>
                <a:latin typeface="Roboto Mono"/>
                <a:ea typeface="Roboto Mono"/>
                <a:cs typeface="Consolas"/>
              </a:rPr>
              <a:t>]])</a:t>
            </a:r>
          </a:p>
          <a:p>
            <a:pPr>
              <a:lnSpc>
                <a:spcPts val="3700"/>
              </a:lnSpc>
              <a:spcBef>
                <a:spcPts val="0"/>
              </a:spcBef>
              <a:buNone/>
            </a:pP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new.bins</a:t>
            </a:r>
            <a:r>
              <a:rPr lang="en-US" sz="2700">
                <a:solidFill>
                  <a:srgbClr val="000000"/>
                </a:solidFill>
                <a:latin typeface="Roboto Mono"/>
                <a:ea typeface="Roboto Mono"/>
                <a:cs typeface="Consolas"/>
              </a:rPr>
              <a:t> = {</a:t>
            </a:r>
            <a:r>
              <a:rPr lang="en-US" sz="2700">
                <a:solidFill>
                  <a:srgbClr val="1D6F62"/>
                </a:solidFill>
                <a:latin typeface="Roboto Mono"/>
                <a:ea typeface="Roboto Mono"/>
                <a:cs typeface="Consolas"/>
              </a:rPr>
              <a:t>"hi"</a:t>
            </a: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new_from_mlir_values</a:t>
            </a:r>
            <a:r>
              <a:rPr lang="en-US" sz="2700">
                <a:solidFill>
                  <a:srgbClr val="000000"/>
                </a:solidFill>
                <a:latin typeface="Roboto Mono"/>
                <a:ea typeface="Roboto Mono"/>
                <a:cs typeface="Consolas"/>
              </a:rPr>
              <a:t>(</a:t>
            </a:r>
            <a:r>
              <a:rPr lang="en-US" sz="2700" err="1">
                <a:solidFill>
                  <a:srgbClr val="757575"/>
                </a:solidFill>
                <a:latin typeface="Roboto Mono"/>
                <a:ea typeface="Roboto Mono"/>
                <a:cs typeface="Consolas"/>
              </a:rPr>
              <a:t>self</a:t>
            </a:r>
            <a:r>
              <a:rPr lang="en-US" sz="2700" err="1">
                <a:solidFill>
                  <a:srgbClr val="000000"/>
                </a:solidFill>
                <a:latin typeface="Roboto Mono"/>
                <a:ea typeface="Roboto Mono"/>
                <a:cs typeface="Consolas"/>
              </a:rPr>
              <a:t>.bins</a:t>
            </a:r>
            <a:r>
              <a:rPr lang="en-US" sz="2700">
                <a:solidFill>
                  <a:srgbClr val="000000"/>
                </a:solidFill>
                <a:latin typeface="Roboto Mono"/>
                <a:ea typeface="Roboto Mono"/>
                <a:cs typeface="Consolas"/>
              </a:rPr>
              <a:t>[</a:t>
            </a:r>
            <a:r>
              <a:rPr lang="en-US" sz="2700">
                <a:solidFill>
                  <a:srgbClr val="1D6F62"/>
                </a:solidFill>
                <a:latin typeface="Roboto Mono"/>
                <a:ea typeface="Roboto Mono"/>
                <a:cs typeface="Consolas"/>
              </a:rPr>
              <a:t>"hi"</a:t>
            </a:r>
            <a:r>
              <a:rPr lang="en-US" sz="2700">
                <a:solidFill>
                  <a:srgbClr val="000000"/>
                </a:solidFill>
                <a:latin typeface="Roboto Mono"/>
                <a:ea typeface="Roboto Mono"/>
                <a:cs typeface="Consolas"/>
              </a:rPr>
              <a:t>], [values[</a:t>
            </a:r>
            <a:r>
              <a:rPr lang="en-US" sz="2700">
                <a:solidFill>
                  <a:srgbClr val="B5651D"/>
                </a:solidFill>
                <a:latin typeface="Roboto Mono"/>
                <a:ea typeface="Roboto Mono"/>
                <a:cs typeface="Consolas"/>
              </a:rPr>
              <a:t>1</a:t>
            </a:r>
            <a:r>
              <a:rPr lang="en-US" sz="2700">
                <a:solidFill>
                  <a:srgbClr val="000000"/>
                </a:solidFill>
                <a:latin typeface="Roboto Mono"/>
                <a:ea typeface="Roboto Mono"/>
                <a:cs typeface="Consolas"/>
              </a:rPr>
              <a:t>]])}</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952FC6"/>
                </a:solidFill>
                <a:latin typeface="Roboto Mono"/>
                <a:ea typeface="Roboto Mono"/>
                <a:cs typeface="Consolas"/>
              </a:rPr>
              <a:t>return</a:t>
            </a:r>
            <a:r>
              <a:rPr lang="en-US" sz="2700">
                <a:solidFill>
                  <a:srgbClr val="000000"/>
                </a:solidFill>
                <a:latin typeface="Roboto Mono"/>
                <a:ea typeface="Roboto Mono"/>
                <a:cs typeface="Consolas"/>
              </a:rPr>
              <a:t> new</a:t>
            </a:r>
          </a:p>
          <a:p>
            <a:pPr>
              <a:lnSpc>
                <a:spcPts val="2000"/>
              </a:lnSpc>
              <a:spcBef>
                <a:spcPts val="0"/>
              </a:spcBef>
              <a:buNone/>
            </a:pPr>
            <a:r>
              <a:rPr lang="en-US" sz="2700">
                <a:solidFill>
                  <a:srgbClr val="000000"/>
                </a:solidFill>
                <a:latin typeface="Roboto Mono"/>
                <a:ea typeface="Roboto Mono"/>
                <a:cs typeface="Consolas"/>
              </a:rPr>
              <a:t> </a:t>
            </a:r>
          </a:p>
          <a:p>
            <a:pPr>
              <a:lnSpc>
                <a:spcPts val="3700"/>
              </a:lnSpc>
              <a:spcBef>
                <a:spcPts val="0"/>
              </a:spcBef>
              <a:buNone/>
            </a:pPr>
            <a:r>
              <a:rPr lang="en-US" sz="2700">
                <a:solidFill>
                  <a:srgbClr val="0074DF"/>
                </a:solidFill>
                <a:latin typeface="Roboto Mono"/>
                <a:ea typeface="Roboto Mono"/>
                <a:cs typeface="Consolas"/>
              </a:rPr>
              <a:t>@</a:t>
            </a:r>
            <a:r>
              <a:rPr lang="en-US" sz="2700" err="1">
                <a:solidFill>
                  <a:srgbClr val="0074DF"/>
                </a:solidFill>
                <a:latin typeface="Roboto Mono"/>
                <a:ea typeface="Roboto Mono"/>
                <a:cs typeface="Consolas"/>
              </a:rPr>
              <a:t>cute</a:t>
            </a:r>
            <a:r>
              <a:rPr lang="en-US" sz="2700" err="1">
                <a:solidFill>
                  <a:srgbClr val="000000"/>
                </a:solidFill>
                <a:latin typeface="Roboto Mono"/>
                <a:ea typeface="Roboto Mono"/>
                <a:cs typeface="Consolas"/>
              </a:rPr>
              <a:t>.jit</a:t>
            </a:r>
            <a:endParaRPr lang="en-US" sz="2700">
              <a:solidFill>
                <a:srgbClr val="000000"/>
              </a:solidFill>
              <a:latin typeface="Roboto Mono"/>
              <a:ea typeface="Roboto Mono"/>
              <a:cs typeface="Consolas"/>
            </a:endParaRPr>
          </a:p>
          <a:p>
            <a:pPr>
              <a:lnSpc>
                <a:spcPts val="3700"/>
              </a:lnSpc>
              <a:spcBef>
                <a:spcPts val="0"/>
              </a:spcBef>
              <a:buNone/>
            </a:pPr>
            <a:r>
              <a:rPr lang="en-US" sz="2700">
                <a:solidFill>
                  <a:srgbClr val="952FC6"/>
                </a:solidFill>
                <a:latin typeface="Roboto Mono"/>
                <a:ea typeface="Roboto Mono"/>
                <a:cs typeface="Consolas"/>
              </a:rPr>
              <a:t>def</a:t>
            </a:r>
            <a:r>
              <a:rPr lang="en-US" sz="2700">
                <a:solidFill>
                  <a:srgbClr val="000000"/>
                </a:solidFill>
                <a:latin typeface="Roboto Mono"/>
                <a:ea typeface="Roboto Mono"/>
                <a:cs typeface="Consolas"/>
              </a:rPr>
              <a:t> kernel(n: </a:t>
            </a:r>
            <a:r>
              <a:rPr lang="en-US" sz="2700">
                <a:solidFill>
                  <a:srgbClr val="0074DF"/>
                </a:solidFill>
                <a:latin typeface="Roboto Mono"/>
                <a:ea typeface="Roboto Mono"/>
                <a:cs typeface="Consolas"/>
              </a:rPr>
              <a:t>cutlass</a:t>
            </a:r>
            <a:r>
              <a:rPr lang="en-US" sz="2700">
                <a:solidFill>
                  <a:srgbClr val="000000"/>
                </a:solidFill>
                <a:latin typeface="Roboto Mono"/>
                <a:ea typeface="Roboto Mono"/>
                <a:cs typeface="Consolas"/>
              </a:rPr>
              <a:t>.</a:t>
            </a:r>
            <a:r>
              <a:rPr lang="en-US" sz="2700">
                <a:solidFill>
                  <a:srgbClr val="0074DF"/>
                </a:solidFill>
                <a:latin typeface="Roboto Mono"/>
                <a:ea typeface="Roboto Mono"/>
                <a:cs typeface="Consolas"/>
              </a:rPr>
              <a:t>Int32</a:t>
            </a:r>
            <a:r>
              <a:rPr lang="en-US" sz="2700">
                <a:solidFill>
                  <a:srgbClr val="000000"/>
                </a:solidFill>
                <a:latin typeface="Roboto Mono"/>
                <a:ea typeface="Roboto Mono"/>
                <a:cs typeface="Consolas"/>
              </a:rPr>
              <a:t>, s: </a:t>
            </a:r>
            <a:r>
              <a:rPr lang="en-US" sz="2700" err="1">
                <a:solidFill>
                  <a:srgbClr val="0074DF"/>
                </a:solidFill>
                <a:latin typeface="Roboto Mono"/>
                <a:ea typeface="Roboto Mono"/>
                <a:cs typeface="Consolas"/>
              </a:rPr>
              <a:t>cutlass</a:t>
            </a:r>
            <a:r>
              <a:rPr lang="en-US" sz="2700" err="1">
                <a:solidFill>
                  <a:srgbClr val="000000"/>
                </a:solidFill>
                <a:latin typeface="Roboto Mono"/>
                <a:ea typeface="Roboto Mono"/>
                <a:cs typeface="Consolas"/>
              </a:rPr>
              <a:t>.</a:t>
            </a:r>
            <a:r>
              <a:rPr lang="en-US" sz="2700" err="1">
                <a:solidFill>
                  <a:srgbClr val="0074DF"/>
                </a:solidFill>
                <a:latin typeface="Roboto Mono"/>
                <a:ea typeface="Roboto Mono"/>
                <a:cs typeface="Consolas"/>
              </a:rPr>
              <a:t>Constexpr</a:t>
            </a:r>
            <a:r>
              <a:rPr lang="en-US" sz="2700">
                <a:solidFill>
                  <a:srgbClr val="000000"/>
                </a:solidFill>
                <a:latin typeface="Roboto Mono"/>
                <a:ea typeface="Roboto Mono"/>
                <a:cs typeface="Consolas"/>
              </a:rPr>
              <a:t>):   </a:t>
            </a:r>
            <a:r>
              <a:rPr lang="en-US" sz="2700">
                <a:solidFill>
                  <a:srgbClr val="4A7C00"/>
                </a:solidFill>
                <a:latin typeface="Roboto Mono"/>
                <a:ea typeface="Roboto Mono"/>
                <a:cs typeface="Consolas"/>
              </a:rPr>
              <a:t># loop body unchanged</a:t>
            </a:r>
          </a:p>
          <a:p>
            <a:pPr>
              <a:lnSpc>
                <a:spcPts val="3700"/>
              </a:lnSpc>
              <a:spcBef>
                <a:spcPts val="0"/>
              </a:spcBef>
              <a:buNone/>
            </a:pPr>
            <a:r>
              <a:rPr lang="en-US" sz="2700">
                <a:solidFill>
                  <a:srgbClr val="000000"/>
                </a:solidFill>
                <a:latin typeface="Roboto Mono"/>
                <a:ea typeface="Roboto Mono"/>
                <a:cs typeface="Consolas"/>
              </a:rPr>
              <a:t>    tot = </a:t>
            </a:r>
            <a:r>
              <a:rPr lang="en-US" sz="2700">
                <a:solidFill>
                  <a:srgbClr val="0074DF"/>
                </a:solidFill>
                <a:latin typeface="Roboto Mono"/>
                <a:ea typeface="Roboto Mono"/>
                <a:cs typeface="Consolas"/>
              </a:rPr>
              <a:t>cutlass</a:t>
            </a:r>
            <a:r>
              <a:rPr lang="en-US" sz="2700">
                <a:solidFill>
                  <a:srgbClr val="000000"/>
                </a:solidFill>
                <a:latin typeface="Roboto Mono"/>
                <a:ea typeface="Roboto Mono"/>
                <a:cs typeface="Consolas"/>
              </a:rPr>
              <a:t>.</a:t>
            </a:r>
            <a:r>
              <a:rPr lang="en-US" sz="2700">
                <a:solidFill>
                  <a:srgbClr val="0074DF"/>
                </a:solidFill>
                <a:latin typeface="Roboto Mono"/>
                <a:ea typeface="Roboto Mono"/>
                <a:cs typeface="Consolas"/>
              </a:rPr>
              <a:t>Int32</a:t>
            </a:r>
            <a:r>
              <a:rPr lang="en-US" sz="2700">
                <a:solidFill>
                  <a:srgbClr val="000000"/>
                </a:solidFill>
                <a:latin typeface="Roboto Mono"/>
                <a:ea typeface="Roboto Mono"/>
                <a:cs typeface="Consolas"/>
              </a:rPr>
              <a:t>(</a:t>
            </a:r>
            <a:r>
              <a:rPr lang="en-US" sz="2700">
                <a:solidFill>
                  <a:srgbClr val="B5651D"/>
                </a:solidFill>
                <a:latin typeface="Roboto Mono"/>
                <a:ea typeface="Roboto Mono"/>
                <a:cs typeface="Consolas"/>
              </a:rPr>
              <a:t>0</a:t>
            </a:r>
            <a:r>
              <a:rPr lang="en-US" sz="2700">
                <a:solidFill>
                  <a:srgbClr val="000000"/>
                </a:solidFill>
                <a:latin typeface="Roboto Mono"/>
                <a:ea typeface="Roboto Mono"/>
                <a:cs typeface="Consolas"/>
              </a:rPr>
              <a:t>)</a:t>
            </a:r>
          </a:p>
          <a:p>
            <a:pPr>
              <a:lnSpc>
                <a:spcPts val="3700"/>
              </a:lnSpc>
              <a:spcBef>
                <a:spcPts val="0"/>
              </a:spcBef>
              <a:buNone/>
            </a:pPr>
            <a:r>
              <a:rPr lang="en-US" sz="2700">
                <a:solidFill>
                  <a:srgbClr val="000000"/>
                </a:solidFill>
                <a:latin typeface="Roboto Mono"/>
                <a:ea typeface="Roboto Mono"/>
                <a:cs typeface="Consolas"/>
              </a:rPr>
              <a:t>    </a:t>
            </a:r>
            <a:r>
              <a:rPr lang="en-US" sz="2700">
                <a:solidFill>
                  <a:srgbClr val="952FC6"/>
                </a:solidFill>
                <a:latin typeface="Roboto Mono"/>
                <a:ea typeface="Roboto Mono"/>
                <a:cs typeface="Consolas"/>
              </a:rPr>
              <a:t>for</a:t>
            </a: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i</a:t>
            </a:r>
            <a:r>
              <a:rPr lang="en-US" sz="2700">
                <a:solidFill>
                  <a:srgbClr val="000000"/>
                </a:solidFill>
                <a:latin typeface="Roboto Mono"/>
                <a:ea typeface="Roboto Mono"/>
                <a:cs typeface="Consolas"/>
              </a:rPr>
              <a:t> </a:t>
            </a:r>
            <a:r>
              <a:rPr lang="en-US" sz="2700">
                <a:solidFill>
                  <a:srgbClr val="952FC6"/>
                </a:solidFill>
                <a:latin typeface="Roboto Mono"/>
                <a:ea typeface="Roboto Mono"/>
                <a:cs typeface="Consolas"/>
              </a:rPr>
              <a:t>in</a:t>
            </a:r>
            <a:r>
              <a:rPr lang="en-US" sz="2700">
                <a:solidFill>
                  <a:srgbClr val="000000"/>
                </a:solidFill>
                <a:latin typeface="Roboto Mono"/>
                <a:ea typeface="Roboto Mono"/>
                <a:cs typeface="Consolas"/>
              </a:rPr>
              <a:t> range(n):</a:t>
            </a:r>
          </a:p>
          <a:p>
            <a:pPr>
              <a:lnSpc>
                <a:spcPts val="3700"/>
              </a:lnSpc>
              <a:spcBef>
                <a:spcPts val="0"/>
              </a:spcBef>
              <a:buNone/>
            </a:pP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s.c</a:t>
            </a:r>
            <a:r>
              <a:rPr lang="en-US" sz="2700">
                <a:solidFill>
                  <a:srgbClr val="000000"/>
                </a:solidFill>
                <a:latin typeface="Roboto Mono"/>
                <a:ea typeface="Roboto Mono"/>
                <a:cs typeface="Consolas"/>
              </a:rPr>
              <a:t> += </a:t>
            </a:r>
            <a:r>
              <a:rPr lang="en-US" sz="2700">
                <a:solidFill>
                  <a:srgbClr val="B5651D"/>
                </a:solidFill>
                <a:latin typeface="Roboto Mono"/>
                <a:ea typeface="Roboto Mono"/>
                <a:cs typeface="Consolas"/>
              </a:rPr>
              <a:t>2</a:t>
            </a:r>
            <a:r>
              <a:rPr lang="en-US" sz="2700">
                <a:solidFill>
                  <a:srgbClr val="000000"/>
                </a:solidFill>
                <a:latin typeface="Roboto Mono"/>
                <a:ea typeface="Roboto Mono"/>
                <a:cs typeface="Consolas"/>
              </a:rPr>
              <a:t>;  </a:t>
            </a:r>
            <a:r>
              <a:rPr lang="en-US" sz="2700" err="1">
                <a:solidFill>
                  <a:srgbClr val="000000"/>
                </a:solidFill>
                <a:latin typeface="Roboto Mono"/>
                <a:ea typeface="Roboto Mono"/>
                <a:cs typeface="Consolas"/>
              </a:rPr>
              <a:t>s.bins</a:t>
            </a:r>
            <a:r>
              <a:rPr lang="en-US" sz="2700">
                <a:solidFill>
                  <a:srgbClr val="000000"/>
                </a:solidFill>
                <a:latin typeface="Roboto Mono"/>
                <a:ea typeface="Roboto Mono"/>
                <a:cs typeface="Consolas"/>
              </a:rPr>
              <a:t>[</a:t>
            </a:r>
            <a:r>
              <a:rPr lang="en-US" sz="2700">
                <a:solidFill>
                  <a:srgbClr val="1D6F62"/>
                </a:solidFill>
                <a:latin typeface="Roboto Mono"/>
                <a:ea typeface="Roboto Mono"/>
                <a:cs typeface="Consolas"/>
              </a:rPr>
              <a:t>"hi"</a:t>
            </a:r>
            <a:r>
              <a:rPr lang="en-US" sz="2700">
                <a:solidFill>
                  <a:srgbClr val="000000"/>
                </a:solidFill>
                <a:latin typeface="Roboto Mono"/>
                <a:ea typeface="Roboto Mono"/>
                <a:cs typeface="Consolas"/>
              </a:rPr>
              <a:t>] += </a:t>
            </a:r>
            <a:r>
              <a:rPr lang="en-US" sz="2700">
                <a:solidFill>
                  <a:srgbClr val="B5651D"/>
                </a:solidFill>
                <a:latin typeface="Roboto Mono"/>
                <a:ea typeface="Roboto Mono"/>
                <a:cs typeface="Consolas"/>
              </a:rPr>
              <a:t>1</a:t>
            </a:r>
            <a:r>
              <a:rPr lang="en-US" sz="2700">
                <a:solidFill>
                  <a:srgbClr val="000000"/>
                </a:solidFill>
                <a:latin typeface="Roboto Mono"/>
                <a:ea typeface="Roboto Mono"/>
                <a:cs typeface="Consolas"/>
              </a:rPr>
              <a:t>;  tot += </a:t>
            </a:r>
            <a:r>
              <a:rPr lang="en-US" sz="2700" err="1">
                <a:solidFill>
                  <a:srgbClr val="000000"/>
                </a:solidFill>
                <a:latin typeface="Roboto Mono"/>
                <a:ea typeface="Roboto Mono"/>
                <a:cs typeface="Consolas"/>
              </a:rPr>
              <a:t>s.c</a:t>
            </a:r>
            <a:endParaRPr lang="en-US" sz="2700">
              <a:solidFill>
                <a:srgbClr val="000000"/>
              </a:solidFill>
              <a:latin typeface="Roboto Mono"/>
              <a:ea typeface="Roboto Mono"/>
              <a:cs typeface="Consolas"/>
            </a:endParaRPr>
          </a:p>
        </p:txBody>
      </p:sp>
      <p:sp>
        <p:nvSpPr>
          <p:cNvPr id="13" name="ErrL">
            <a:extLst>
              <a:ext uri="{FF2B5EF4-FFF2-40B4-BE49-F238E27FC236}">
                <a16:creationId xmlns:a16="http://schemas.microsoft.com/office/drawing/2014/main" id="{90FC23AA-0533-C10C-F3D4-D83B47559E4F}"/>
              </a:ext>
            </a:extLst>
          </p:cNvPr>
          <p:cNvSpPr txBox="1"/>
          <p:nvPr/>
        </p:nvSpPr>
        <p:spPr>
          <a:xfrm>
            <a:off x="2184400" y="15290800"/>
            <a:ext cx="10972800" cy="1320800"/>
          </a:xfrm>
          <a:prstGeom prst="rect">
            <a:avLst/>
          </a:prstGeom>
          <a:noFill/>
        </p:spPr>
        <p:txBody>
          <a:bodyPr vertOverflow="overflow" vert="horz" wrap="square" rtlCol="0" anchor="t" anchorCtr="0">
            <a:noAutofit/>
          </a:bodyPr>
          <a:lstStyle/>
          <a:p>
            <a:pPr>
              <a:lnSpc>
                <a:spcPts val="3400"/>
              </a:lnSpc>
              <a:spcBef>
                <a:spcPts val="0"/>
              </a:spcBef>
              <a:buNone/>
            </a:pPr>
            <a:r>
              <a:rPr lang="en-US" sz="2600" b="1">
                <a:solidFill>
                  <a:srgbClr val="B3261E"/>
                </a:solidFill>
                <a:latin typeface="NVIDIA Sans"/>
                <a:cs typeface="NVIDIA Sans"/>
              </a:rPr>
              <a:t>v1 refuses this program:  </a:t>
            </a:r>
            <a:r>
              <a:rPr lang="en-US" sz="2600">
                <a:solidFill>
                  <a:srgbClr val="B3261E"/>
                </a:solidFill>
                <a:latin typeface="Consolas"/>
                <a:cs typeface="Consolas"/>
              </a:rPr>
              <a:t>error[TYPE_DYNAMIC_EXPR_UNSUPPORTED]: a `State` carried through this `for` cannot become a Runtime value</a:t>
            </a:r>
            <a:endParaRPr lang="en-US" sz="2600" b="1">
              <a:solidFill>
                <a:srgbClr val="B3261E"/>
              </a:solidFill>
              <a:latin typeface="NVIDIA Sans"/>
              <a:cs typeface="NVIDIA Sans"/>
            </a:endParaRPr>
          </a:p>
        </p:txBody>
      </p:sp>
      <p:sp>
        <p:nvSpPr>
          <p:cNvPr id="16" name="Arrow">
            <a:extLst>
              <a:ext uri="{FF2B5EF4-FFF2-40B4-BE49-F238E27FC236}">
                <a16:creationId xmlns:a16="http://schemas.microsoft.com/office/drawing/2014/main" id="{1A6BD927-1CD0-000C-5DDC-D9FD9AAB6F9E}"/>
              </a:ext>
            </a:extLst>
          </p:cNvPr>
          <p:cNvSpPr/>
          <p:nvPr/>
        </p:nvSpPr>
        <p:spPr>
          <a:xfrm>
            <a:off x="13512800" y="10160000"/>
            <a:ext cx="1219200" cy="914400"/>
          </a:xfrm>
          <a:prstGeom prst="rightArrow">
            <a:avLst/>
          </a:prstGeom>
          <a:solidFill>
            <a:srgbClr val="75757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itleTx">
            <a:extLst>
              <a:ext uri="{FF2B5EF4-FFF2-40B4-BE49-F238E27FC236}">
                <a16:creationId xmlns:a16="http://schemas.microsoft.com/office/drawing/2014/main" id="{B90FADE6-A089-C927-8BAC-00AB94C78EDE}"/>
              </a:ext>
            </a:extLst>
          </p:cNvPr>
          <p:cNvSpPr txBox="1"/>
          <p:nvPr/>
        </p:nvSpPr>
        <p:spPr>
          <a:xfrm>
            <a:off x="1828800" y="914400"/>
            <a:ext cx="32918400" cy="2463800"/>
          </a:xfrm>
          <a:prstGeom prst="rect">
            <a:avLst/>
          </a:prstGeom>
          <a:noFill/>
        </p:spPr>
        <p:txBody>
          <a:bodyPr vertOverflow="overflow" vert="horz" wrap="square" rtlCol="0" anchor="t">
            <a:noAutofit/>
          </a:bodyPr>
          <a:lstStyle/>
          <a:p>
            <a:pPr>
              <a:lnSpc>
                <a:spcPts val="9200"/>
              </a:lnSpc>
              <a:spcBef>
                <a:spcPts val="0"/>
              </a:spcBef>
              <a:buNone/>
            </a:pPr>
            <a:r>
              <a:rPr lang="en-US" sz="8800" err="1">
                <a:solidFill>
                  <a:srgbClr val="000000"/>
                </a:solidFill>
                <a:latin typeface="NVIDIA Sans Medium"/>
                <a:cs typeface="NVIDIA Sans Medium"/>
              </a:rPr>
              <a:t>DkgDSL</a:t>
            </a:r>
            <a:r>
              <a:rPr lang="en-US" sz="8800">
                <a:solidFill>
                  <a:srgbClr val="000000"/>
                </a:solidFill>
                <a:latin typeface="NVIDIA Sans Medium"/>
                <a:cs typeface="NVIDIA Sans Medium"/>
              </a:rPr>
              <a:t> v1</a:t>
            </a:r>
          </a:p>
        </p:txBody>
      </p:sp>
      <p:sp>
        <p:nvSpPr>
          <p:cNvPr id="960" name="HLBox1"/>
          <p:cNvSpPr/>
          <p:nvPr/>
        </p:nvSpPr>
        <p:spPr>
          <a:xfrm>
            <a:off x="15138400" y="5359400"/>
            <a:ext cx="19354800" cy="520700"/>
          </a:xfrm>
          <a:prstGeom prst="roundRect">
            <a:avLst>
              <a:gd name="adj" fmla="val 6000"/>
            </a:avLst>
          </a:prstGeom>
          <a:noFill/>
          <a:ln w="76200">
            <a:solidFill>
              <a:srgbClr val="76B900"/>
            </a:solidFill>
          </a:ln>
        </p:spPr>
        <p:txBody>
          <a:bodyPr/>
          <a:lstStyle/>
          <a:p>
            <a:endParaRPr/>
          </a:p>
        </p:txBody>
      </p:sp>
      <p:sp>
        <p:nvSpPr>
          <p:cNvPr id="961" name="HLBox2"/>
          <p:cNvSpPr/>
          <p:nvPr/>
        </p:nvSpPr>
        <p:spPr>
          <a:xfrm>
            <a:off x="15138400" y="7023100"/>
            <a:ext cx="19354800" cy="990600"/>
          </a:xfrm>
          <a:prstGeom prst="roundRect">
            <a:avLst>
              <a:gd name="adj" fmla="val 6000"/>
            </a:avLst>
          </a:prstGeom>
          <a:noFill/>
          <a:ln w="76200">
            <a:solidFill>
              <a:srgbClr val="76B900"/>
            </a:solidFill>
          </a:ln>
        </p:spPr>
        <p:txBody>
          <a:bodyPr/>
          <a:lstStyle/>
          <a:p>
            <a:endParaRPr/>
          </a:p>
        </p:txBody>
      </p:sp>
      <p:sp>
        <p:nvSpPr>
          <p:cNvPr id="962" name="HLBox3"/>
          <p:cNvSpPr/>
          <p:nvPr/>
        </p:nvSpPr>
        <p:spPr>
          <a:xfrm>
            <a:off x="15138400" y="8191500"/>
            <a:ext cx="19354800" cy="5524500"/>
          </a:xfrm>
          <a:prstGeom prst="roundRect">
            <a:avLst>
              <a:gd name="adj" fmla="val 6000"/>
            </a:avLst>
          </a:prstGeom>
          <a:noFill/>
          <a:ln w="76200">
            <a:solidFill>
              <a:srgbClr val="76B900"/>
            </a:solidFill>
          </a:ln>
        </p:spPr>
        <p:txBody>
          <a:bodyPr/>
          <a:lstStyle/>
          <a:p>
            <a:endParaRPr/>
          </a:p>
        </p:txBody>
      </p:sp>
    </p:spTree>
    <p:extLst>
      <p:ext uri="{BB962C8B-B14F-4D97-AF65-F5344CB8AC3E}">
        <p14:creationId xmlns:p14="http://schemas.microsoft.com/office/powerpoint/2010/main" val="166734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6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5" grpId="0" animBg="1"/>
      <p:bldP spid="7" grpId="0" animBg="1"/>
      <p:bldP spid="8" grpId="0" animBg="1"/>
      <p:bldP spid="9" grpId="0"/>
      <p:bldP spid="10" grpId="0"/>
      <p:bldP spid="11" grpId="0"/>
      <p:bldP spid="12" grpId="0" animBg="1"/>
      <p:bldP spid="13" grpId="0"/>
      <p:bldP spid="16" grpId="0" animBg="1"/>
      <p:bldP spid="960" grpId="0" animBg="1"/>
      <p:bldP spid="961" grpId="0" animBg="1"/>
      <p:bldP spid="96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Tx">
            <a:extLst>
              <a:ext uri="{FF2B5EF4-FFF2-40B4-BE49-F238E27FC236}">
                <a16:creationId xmlns:a16="http://schemas.microsoft.com/office/drawing/2014/main" id="{F577DD8D-9F2E-894D-90C3-3489A6EEA7C3}"/>
              </a:ext>
            </a:extLst>
          </p:cNvPr>
          <p:cNvSpPr txBox="1"/>
          <p:nvPr/>
        </p:nvSpPr>
        <p:spPr>
          <a:xfrm>
            <a:off x="1828800" y="914400"/>
            <a:ext cx="32918400" cy="1905000"/>
          </a:xfrm>
          <a:prstGeom prst="rect">
            <a:avLst/>
          </a:prstGeom>
          <a:noFill/>
        </p:spPr>
        <p:txBody>
          <a:bodyPr vertOverflow="overflow" vert="horz" wrap="square" rtlCol="0" anchor="t">
            <a:noAutofit/>
          </a:bodyPr>
          <a:lstStyle/>
          <a:p>
            <a:pPr algn="l"/>
            <a:r>
              <a:rPr lang="en-US" sz="8800">
                <a:latin typeface="NVIDIA Sans Medium"/>
                <a:cs typeface="NVIDIA Sans Medium"/>
              </a:rPr>
              <a:t>The Hard Part of Generating Code</a:t>
            </a:r>
          </a:p>
        </p:txBody>
      </p:sp>
      <p:sp>
        <p:nvSpPr>
          <p:cNvPr id="35" name="SubTx">
            <a:extLst>
              <a:ext uri="{FF2B5EF4-FFF2-40B4-BE49-F238E27FC236}">
                <a16:creationId xmlns:a16="http://schemas.microsoft.com/office/drawing/2014/main" id="{A526761C-BBF9-784C-B35A-BAFF3A3F9A3D}"/>
              </a:ext>
            </a:extLst>
          </p:cNvPr>
          <p:cNvSpPr txBox="1"/>
          <p:nvPr/>
        </p:nvSpPr>
        <p:spPr>
          <a:xfrm>
            <a:off x="1828800" y="3175000"/>
            <a:ext cx="32918400" cy="1143000"/>
          </a:xfrm>
          <a:prstGeom prst="rect">
            <a:avLst/>
          </a:prstGeom>
          <a:noFill/>
        </p:spPr>
        <p:txBody>
          <a:bodyPr vertOverflow="overflow" vert="horz" wrap="square" rtlCol="0" anchor="t">
            <a:noAutofit/>
          </a:bodyPr>
          <a:lstStyle/>
          <a:p>
            <a:pPr algn="l"/>
            <a:r>
              <a:rPr lang="en-US" sz="3200">
                <a:solidFill>
                  <a:srgbClr val="313131"/>
                </a:solidFill>
                <a:latin typeface="NVIDIA Sans"/>
                <a:cs typeface="NVIDIA Sans"/>
              </a:rPr>
              <a:t>Values mutated in a run-time loop. This is the promotion problem into an MLIR value.</a:t>
            </a:r>
          </a:p>
        </p:txBody>
      </p:sp>
      <p:sp>
        <p:nvSpPr>
          <p:cNvPr id="36" name="RuleL">
            <a:extLst>
              <a:ext uri="{FF2B5EF4-FFF2-40B4-BE49-F238E27FC236}">
                <a16:creationId xmlns:a16="http://schemas.microsoft.com/office/drawing/2014/main" id="{9F61C5C6-FAEB-8547-B5F4-A79059856487}"/>
              </a:ext>
            </a:extLst>
          </p:cNvPr>
          <p:cNvSpPr/>
          <p:nvPr/>
        </p:nvSpPr>
        <p:spPr>
          <a:xfrm>
            <a:off x="1828800" y="5029200"/>
            <a:ext cx="16002000" cy="76200"/>
          </a:xfrm>
          <a:prstGeom prst="rect">
            <a:avLst/>
          </a:prstGeom>
          <a:solidFill>
            <a:srgbClr val="C9C9C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HeadL">
            <a:extLst>
              <a:ext uri="{FF2B5EF4-FFF2-40B4-BE49-F238E27FC236}">
                <a16:creationId xmlns:a16="http://schemas.microsoft.com/office/drawing/2014/main" id="{799148BD-3892-C94B-BB75-73930ACABEF4}"/>
              </a:ext>
            </a:extLst>
          </p:cNvPr>
          <p:cNvSpPr txBox="1"/>
          <p:nvPr/>
        </p:nvSpPr>
        <p:spPr>
          <a:xfrm>
            <a:off x="1828800" y="5486400"/>
            <a:ext cx="16002000" cy="558800"/>
          </a:xfrm>
          <a:prstGeom prst="rect">
            <a:avLst/>
          </a:prstGeom>
          <a:noFill/>
        </p:spPr>
        <p:txBody>
          <a:bodyPr vertOverflow="overflow" vert="horz" wrap="square" rtlCol="0" anchor="t">
            <a:noAutofit/>
          </a:bodyPr>
          <a:lstStyle/>
          <a:p>
            <a:pPr algn="l"/>
            <a:r>
              <a:rPr lang="en-US" sz="2800" b="1">
                <a:solidFill>
                  <a:srgbClr val="313131"/>
                </a:solidFill>
                <a:latin typeface="NVIDIA Sans"/>
                <a:cs typeface="NVIDIA Sans"/>
              </a:rPr>
              <a:t>THE PROGRAM, FOR THESE FOUR SLIDES</a:t>
            </a:r>
          </a:p>
        </p:txBody>
      </p:sp>
      <p:sp>
        <p:nvSpPr>
          <p:cNvPr id="38" name="CodeL">
            <a:extLst>
              <a:ext uri="{FF2B5EF4-FFF2-40B4-BE49-F238E27FC236}">
                <a16:creationId xmlns:a16="http://schemas.microsoft.com/office/drawing/2014/main" id="{714855EB-FD33-4046-9C58-CFE4F040030C}"/>
              </a:ext>
            </a:extLst>
          </p:cNvPr>
          <p:cNvSpPr txBox="1"/>
          <p:nvPr/>
        </p:nvSpPr>
        <p:spPr>
          <a:xfrm>
            <a:off x="1828800" y="5969000"/>
            <a:ext cx="16510000" cy="9906000"/>
          </a:xfrm>
          <a:prstGeom prst="rect">
            <a:avLst/>
          </a:prstGeom>
          <a:noFill/>
        </p:spPr>
        <p:txBody>
          <a:bodyPr vertOverflow="overflow" vert="horz" wrap="square" rtlCol="0" anchor="t">
            <a:noAutofit/>
          </a:bodyPr>
          <a:lstStyle/>
          <a:p>
            <a:pPr algn="l">
              <a:lnSpc>
                <a:spcPts val="3600"/>
              </a:lnSpc>
              <a:spcBef>
                <a:spcPts val="0"/>
              </a:spcBef>
              <a:buNone/>
            </a:pPr>
            <a:r>
              <a:rPr lang="en-US" sz="2400">
                <a:solidFill>
                  <a:srgbClr val="952FC6"/>
                </a:solidFill>
                <a:latin typeface="Roboto Mono"/>
                <a:ea typeface="Roboto Mono"/>
                <a:cs typeface="Roboto Mono"/>
              </a:rPr>
              <a:t>import</a:t>
            </a:r>
            <a:r>
              <a:rPr lang="en-US" sz="2400">
                <a:solidFill>
                  <a:srgbClr val="000000"/>
                </a:solidFill>
                <a:latin typeface="Roboto Mono"/>
                <a:ea typeface="Roboto Mono"/>
                <a:cs typeface="Roboto Mono"/>
              </a:rPr>
              <a:t> </a:t>
            </a:r>
            <a:r>
              <a:rPr lang="en-US" sz="2400">
                <a:solidFill>
                  <a:srgbClr val="0074DF"/>
                </a:solidFill>
                <a:latin typeface="Roboto Mono"/>
                <a:ea typeface="Roboto Mono"/>
                <a:cs typeface="Roboto Mono"/>
              </a:rPr>
              <a:t>cutlass</a:t>
            </a:r>
          </a:p>
          <a:p>
            <a:pPr algn="l">
              <a:lnSpc>
                <a:spcPts val="3600"/>
              </a:lnSpc>
              <a:spcBef>
                <a:spcPts val="0"/>
              </a:spcBef>
              <a:buNone/>
            </a:pPr>
            <a:r>
              <a:rPr lang="en-US" sz="2400">
                <a:solidFill>
                  <a:srgbClr val="952FC6"/>
                </a:solidFill>
                <a:latin typeface="Roboto Mono"/>
                <a:ea typeface="Roboto Mono"/>
                <a:cs typeface="Roboto Mono"/>
              </a:rPr>
              <a:t>from</a:t>
            </a:r>
            <a:r>
              <a:rPr lang="en-US" sz="2400">
                <a:solidFill>
                  <a:srgbClr val="000000"/>
                </a:solidFill>
                <a:latin typeface="Roboto Mono"/>
                <a:ea typeface="Roboto Mono"/>
                <a:cs typeface="Roboto Mono"/>
              </a:rPr>
              <a:t> </a:t>
            </a:r>
            <a:r>
              <a:rPr lang="en-US" sz="2400">
                <a:solidFill>
                  <a:srgbClr val="0074DF"/>
                </a:solidFill>
                <a:latin typeface="Roboto Mono"/>
                <a:ea typeface="Roboto Mono"/>
                <a:cs typeface="Roboto Mono"/>
              </a:rPr>
              <a:t>cutlass</a:t>
            </a:r>
            <a:r>
              <a:rPr lang="en-US" sz="2400">
                <a:solidFill>
                  <a:srgbClr val="000000"/>
                </a:solidFill>
                <a:latin typeface="Roboto Mono"/>
                <a:ea typeface="Roboto Mono"/>
                <a:cs typeface="Roboto Mono"/>
              </a:rPr>
              <a:t> </a:t>
            </a:r>
            <a:r>
              <a:rPr lang="en-US" sz="2400">
                <a:solidFill>
                  <a:srgbClr val="952FC6"/>
                </a:solidFill>
                <a:latin typeface="Roboto Mono"/>
                <a:ea typeface="Roboto Mono"/>
                <a:cs typeface="Roboto Mono"/>
              </a:rPr>
              <a:t>import</a:t>
            </a:r>
            <a:r>
              <a:rPr lang="en-US" sz="2400">
                <a:solidFill>
                  <a:srgbClr val="000000"/>
                </a:solidFill>
                <a:latin typeface="Roboto Mono"/>
                <a:ea typeface="Roboto Mono"/>
                <a:cs typeface="Roboto Mono"/>
              </a:rPr>
              <a:t> </a:t>
            </a:r>
            <a:r>
              <a:rPr lang="en-US" sz="2400">
                <a:solidFill>
                  <a:srgbClr val="0074DF"/>
                </a:solidFill>
                <a:latin typeface="Roboto Mono"/>
                <a:ea typeface="Roboto Mono"/>
                <a:cs typeface="Roboto Mono"/>
              </a:rPr>
              <a:t>cute</a:t>
            </a:r>
          </a:p>
          <a:p>
            <a:pPr algn="l">
              <a:lnSpc>
                <a:spcPts val="2000"/>
              </a:lnSpc>
              <a:spcBef>
                <a:spcPts val="0"/>
              </a:spcBef>
              <a:buNone/>
            </a:pPr>
            <a:r>
              <a:rPr lang="en-US" sz="2400">
                <a:solidFill>
                  <a:srgbClr val="000000"/>
                </a:solidFill>
                <a:latin typeface="Roboto Mono"/>
                <a:ea typeface="Roboto Mono"/>
                <a:cs typeface="Roboto Mono"/>
              </a:rPr>
              <a:t> </a:t>
            </a:r>
          </a:p>
          <a:p>
            <a:pPr algn="l">
              <a:lnSpc>
                <a:spcPts val="3600"/>
              </a:lnSpc>
              <a:spcBef>
                <a:spcPts val="0"/>
              </a:spcBef>
              <a:buNone/>
            </a:pPr>
            <a:r>
              <a:rPr lang="en-US" sz="2400">
                <a:solidFill>
                  <a:srgbClr val="952FC6"/>
                </a:solidFill>
                <a:latin typeface="Roboto Mono"/>
                <a:ea typeface="Roboto Mono"/>
                <a:cs typeface="Roboto Mono"/>
              </a:rPr>
              <a:t>class</a:t>
            </a:r>
            <a:r>
              <a:rPr lang="en-US" sz="2400">
                <a:solidFill>
                  <a:srgbClr val="000000"/>
                </a:solidFill>
                <a:latin typeface="Roboto Mono"/>
                <a:ea typeface="Roboto Mono"/>
                <a:cs typeface="Roboto Mono"/>
              </a:rPr>
              <a:t> </a:t>
            </a:r>
            <a:r>
              <a:rPr lang="en-US" sz="2400">
                <a:solidFill>
                  <a:srgbClr val="0074DF"/>
                </a:solidFill>
                <a:latin typeface="Roboto Mono"/>
                <a:ea typeface="Roboto Mono"/>
                <a:cs typeface="Roboto Mono"/>
              </a:rPr>
              <a:t>State</a:t>
            </a:r>
            <a:r>
              <a:rPr lang="en-US" sz="2400">
                <a:solidFill>
                  <a:srgbClr val="000000"/>
                </a:solidFill>
                <a:latin typeface="Roboto Mono"/>
                <a:ea typeface="Roboto Mono"/>
                <a:cs typeface="Roboto Mono"/>
              </a:rPr>
              <a:t>:</a:t>
            </a:r>
          </a:p>
          <a:p>
            <a:pPr algn="l">
              <a:lnSpc>
                <a:spcPts val="3600"/>
              </a:lnSpc>
              <a:spcBef>
                <a:spcPts val="0"/>
              </a:spcBef>
              <a:buNone/>
            </a:pPr>
            <a:r>
              <a:rPr lang="en-US" sz="2400">
                <a:solidFill>
                  <a:srgbClr val="000000"/>
                </a:solidFill>
                <a:latin typeface="Roboto Mono"/>
                <a:ea typeface="Roboto Mono"/>
                <a:cs typeface="Roboto Mono"/>
              </a:rPr>
              <a:t>    </a:t>
            </a:r>
            <a:r>
              <a:rPr lang="en-US" sz="2400">
                <a:solidFill>
                  <a:srgbClr val="952FC6"/>
                </a:solidFill>
                <a:latin typeface="Roboto Mono"/>
                <a:ea typeface="Roboto Mono"/>
                <a:cs typeface="Roboto Mono"/>
              </a:rPr>
              <a:t>def</a:t>
            </a:r>
            <a:r>
              <a:rPr lang="en-US" sz="2400">
                <a:solidFill>
                  <a:srgbClr val="000000"/>
                </a:solidFill>
                <a:latin typeface="Roboto Mono"/>
                <a:ea typeface="Roboto Mono"/>
                <a:cs typeface="Roboto Mono"/>
              </a:rPr>
              <a:t> __init__(</a:t>
            </a:r>
            <a:r>
              <a:rPr lang="en-US" sz="2400">
                <a:solidFill>
                  <a:srgbClr val="757575"/>
                </a:solidFill>
                <a:latin typeface="Roboto Mono"/>
                <a:ea typeface="Roboto Mono"/>
                <a:cs typeface="Roboto Mono"/>
              </a:rPr>
              <a:t>self</a:t>
            </a:r>
            <a:r>
              <a:rPr lang="en-US" sz="2400">
                <a:solidFill>
                  <a:srgbClr val="000000"/>
                </a:solidFill>
                <a:latin typeface="Roboto Mono"/>
                <a:ea typeface="Roboto Mono"/>
                <a:cs typeface="Roboto Mono"/>
              </a:rPr>
              <a:t>):</a:t>
            </a:r>
          </a:p>
          <a:p>
            <a:pPr algn="l">
              <a:lnSpc>
                <a:spcPts val="3600"/>
              </a:lnSpc>
              <a:spcBef>
                <a:spcPts val="0"/>
              </a:spcBef>
              <a:buNone/>
            </a:pPr>
            <a:r>
              <a:rPr lang="en-US" sz="2400">
                <a:solidFill>
                  <a:srgbClr val="000000"/>
                </a:solidFill>
                <a:latin typeface="Roboto Mono"/>
                <a:ea typeface="Roboto Mono"/>
                <a:cs typeface="Roboto Mono"/>
              </a:rPr>
              <a:t>        </a:t>
            </a:r>
            <a:r>
              <a:rPr lang="en-US" sz="2400">
                <a:solidFill>
                  <a:srgbClr val="757575"/>
                </a:solidFill>
                <a:latin typeface="Roboto Mono"/>
                <a:ea typeface="Roboto Mono"/>
                <a:cs typeface="Roboto Mono"/>
              </a:rPr>
              <a:t>self</a:t>
            </a:r>
            <a:r>
              <a:rPr lang="en-US" sz="2400">
                <a:solidFill>
                  <a:srgbClr val="000000"/>
                </a:solidFill>
                <a:latin typeface="Roboto Mono"/>
                <a:ea typeface="Roboto Mono"/>
                <a:cs typeface="Roboto Mono"/>
              </a:rPr>
              <a:t>.c    = </a:t>
            </a:r>
            <a:r>
              <a:rPr lang="en-US" sz="2400">
                <a:solidFill>
                  <a:srgbClr val="B5651D"/>
                </a:solidFill>
                <a:latin typeface="Roboto Mono"/>
                <a:ea typeface="Roboto Mono"/>
                <a:cs typeface="Roboto Mono"/>
              </a:rPr>
              <a:t>0</a:t>
            </a:r>
            <a:r>
              <a:rPr lang="en-US" sz="2400">
                <a:solidFill>
                  <a:srgbClr val="000000"/>
                </a:solidFill>
                <a:latin typeface="Roboto Mono"/>
                <a:ea typeface="Roboto Mono"/>
                <a:cs typeface="Roboto Mono"/>
              </a:rPr>
              <a:t>          </a:t>
            </a:r>
            <a:r>
              <a:rPr lang="en-US" sz="2400">
                <a:solidFill>
                  <a:srgbClr val="757575"/>
                </a:solidFill>
                <a:latin typeface="Roboto Mono"/>
                <a:ea typeface="Roboto Mono"/>
                <a:cs typeface="Roboto Mono"/>
              </a:rPr>
              <a:t># plain int</a:t>
            </a:r>
          </a:p>
          <a:p>
            <a:pPr algn="l">
              <a:lnSpc>
                <a:spcPts val="3600"/>
              </a:lnSpc>
              <a:spcBef>
                <a:spcPts val="0"/>
              </a:spcBef>
              <a:buNone/>
            </a:pPr>
            <a:r>
              <a:rPr lang="en-US" sz="2400">
                <a:solidFill>
                  <a:srgbClr val="000000"/>
                </a:solidFill>
                <a:latin typeface="Roboto Mono"/>
                <a:ea typeface="Roboto Mono"/>
                <a:cs typeface="Roboto Mono"/>
              </a:rPr>
              <a:t>        </a:t>
            </a:r>
            <a:r>
              <a:rPr lang="en-US" sz="2400">
                <a:solidFill>
                  <a:srgbClr val="757575"/>
                </a:solidFill>
                <a:latin typeface="Roboto Mono"/>
                <a:ea typeface="Roboto Mono"/>
                <a:cs typeface="Roboto Mono"/>
              </a:rPr>
              <a:t>self</a:t>
            </a:r>
            <a:r>
              <a:rPr lang="en-US" sz="2400">
                <a:solidFill>
                  <a:srgbClr val="000000"/>
                </a:solidFill>
                <a:latin typeface="Roboto Mono"/>
                <a:ea typeface="Roboto Mono"/>
                <a:cs typeface="Roboto Mono"/>
              </a:rPr>
              <a:t>.bins = {</a:t>
            </a:r>
            <a:r>
              <a:rPr lang="en-US" sz="2400">
                <a:solidFill>
                  <a:srgbClr val="1D6F62"/>
                </a:solidFill>
                <a:latin typeface="Roboto Mono"/>
                <a:ea typeface="Roboto Mono"/>
                <a:cs typeface="Roboto Mono"/>
              </a:rPr>
              <a:t>"hi"</a:t>
            </a:r>
            <a:r>
              <a:rPr lang="en-US" sz="2400">
                <a:solidFill>
                  <a:srgbClr val="000000"/>
                </a:solidFill>
                <a:latin typeface="Roboto Mono"/>
                <a:ea typeface="Roboto Mono"/>
                <a:cs typeface="Roboto Mono"/>
              </a:rPr>
              <a:t>: </a:t>
            </a:r>
            <a:r>
              <a:rPr lang="en-US" sz="2400">
                <a:solidFill>
                  <a:srgbClr val="B5651D"/>
                </a:solidFill>
                <a:latin typeface="Roboto Mono"/>
                <a:ea typeface="Roboto Mono"/>
                <a:cs typeface="Roboto Mono"/>
              </a:rPr>
              <a:t>0</a:t>
            </a:r>
            <a:r>
              <a:rPr lang="en-US" sz="2400">
                <a:solidFill>
                  <a:srgbClr val="000000"/>
                </a:solidFill>
                <a:latin typeface="Roboto Mono"/>
                <a:ea typeface="Roboto Mono"/>
                <a:cs typeface="Roboto Mono"/>
              </a:rPr>
              <a:t>}  </a:t>
            </a:r>
            <a:r>
              <a:rPr lang="en-US" sz="2400">
                <a:solidFill>
                  <a:srgbClr val="757575"/>
                </a:solidFill>
                <a:latin typeface="Roboto Mono"/>
                <a:ea typeface="Roboto Mono"/>
                <a:cs typeface="Roboto Mono"/>
              </a:rPr>
              <a:t># plain dict</a:t>
            </a:r>
          </a:p>
          <a:p>
            <a:pPr algn="l">
              <a:lnSpc>
                <a:spcPts val="2000"/>
              </a:lnSpc>
              <a:spcBef>
                <a:spcPts val="0"/>
              </a:spcBef>
              <a:buNone/>
            </a:pPr>
            <a:r>
              <a:rPr lang="en-US" sz="2400">
                <a:solidFill>
                  <a:srgbClr val="000000"/>
                </a:solidFill>
                <a:latin typeface="Roboto Mono"/>
                <a:ea typeface="Roboto Mono"/>
                <a:cs typeface="Roboto Mono"/>
              </a:rPr>
              <a:t> </a:t>
            </a:r>
          </a:p>
          <a:p>
            <a:pPr algn="l">
              <a:lnSpc>
                <a:spcPts val="3600"/>
              </a:lnSpc>
              <a:spcBef>
                <a:spcPts val="0"/>
              </a:spcBef>
              <a:buNone/>
            </a:pPr>
            <a:r>
              <a:rPr lang="en-US" sz="2400">
                <a:solidFill>
                  <a:srgbClr val="0074DF"/>
                </a:solidFill>
                <a:latin typeface="Roboto Mono"/>
                <a:ea typeface="Roboto Mono"/>
                <a:cs typeface="Roboto Mono"/>
              </a:rPr>
              <a:t>@cute</a:t>
            </a:r>
            <a:r>
              <a:rPr lang="en-US" sz="2400">
                <a:solidFill>
                  <a:srgbClr val="000000"/>
                </a:solidFill>
                <a:latin typeface="Roboto Mono"/>
                <a:ea typeface="Roboto Mono"/>
                <a:cs typeface="Roboto Mono"/>
              </a:rPr>
              <a:t>.jit</a:t>
            </a:r>
          </a:p>
          <a:p>
            <a:pPr algn="l">
              <a:lnSpc>
                <a:spcPts val="3600"/>
              </a:lnSpc>
              <a:spcBef>
                <a:spcPts val="0"/>
              </a:spcBef>
              <a:buNone/>
            </a:pPr>
            <a:r>
              <a:rPr lang="en-US" sz="2400">
                <a:solidFill>
                  <a:srgbClr val="952FC6"/>
                </a:solidFill>
                <a:latin typeface="Roboto Mono"/>
                <a:ea typeface="Roboto Mono"/>
                <a:cs typeface="Roboto Mono"/>
              </a:rPr>
              <a:t>def</a:t>
            </a:r>
            <a:r>
              <a:rPr lang="en-US" sz="2400">
                <a:solidFill>
                  <a:srgbClr val="000000"/>
                </a:solidFill>
                <a:latin typeface="Roboto Mono"/>
                <a:ea typeface="Roboto Mono"/>
                <a:cs typeface="Roboto Mono"/>
              </a:rPr>
              <a:t> kernel(n: </a:t>
            </a:r>
            <a:r>
              <a:rPr lang="en-US" sz="2400">
                <a:solidFill>
                  <a:srgbClr val="0074DF"/>
                </a:solidFill>
                <a:latin typeface="Roboto Mono"/>
                <a:ea typeface="Roboto Mono"/>
                <a:cs typeface="Roboto Mono"/>
              </a:rPr>
              <a:t>cutlass</a:t>
            </a:r>
            <a:r>
              <a:rPr lang="en-US" sz="2400">
                <a:solidFill>
                  <a:srgbClr val="000000"/>
                </a:solidFill>
                <a:latin typeface="Roboto Mono"/>
                <a:ea typeface="Roboto Mono"/>
                <a:cs typeface="Roboto Mono"/>
              </a:rPr>
              <a:t>.</a:t>
            </a:r>
            <a:r>
              <a:rPr lang="en-US" sz="2400">
                <a:solidFill>
                  <a:srgbClr val="0074DF"/>
                </a:solidFill>
                <a:latin typeface="Roboto Mono"/>
                <a:ea typeface="Roboto Mono"/>
                <a:cs typeface="Roboto Mono"/>
              </a:rPr>
              <a:t>Int32</a:t>
            </a:r>
            <a:r>
              <a:rPr lang="en-US" sz="2400">
                <a:solidFill>
                  <a:srgbClr val="000000"/>
                </a:solidFill>
                <a:latin typeface="Roboto Mono"/>
                <a:ea typeface="Roboto Mono"/>
                <a:cs typeface="Roboto Mono"/>
              </a:rPr>
              <a:t>,</a:t>
            </a:r>
          </a:p>
          <a:p>
            <a:pPr algn="l">
              <a:lnSpc>
                <a:spcPts val="3600"/>
              </a:lnSpc>
              <a:spcBef>
                <a:spcPts val="0"/>
              </a:spcBef>
              <a:buNone/>
            </a:pPr>
            <a:r>
              <a:rPr lang="en-US" sz="2400">
                <a:solidFill>
                  <a:srgbClr val="000000"/>
                </a:solidFill>
                <a:latin typeface="Roboto Mono"/>
                <a:ea typeface="Roboto Mono"/>
                <a:cs typeface="Roboto Mono"/>
              </a:rPr>
              <a:t>           s: </a:t>
            </a:r>
            <a:r>
              <a:rPr lang="en-US" sz="2400">
                <a:solidFill>
                  <a:srgbClr val="0074DF"/>
                </a:solidFill>
                <a:latin typeface="Roboto Mono"/>
                <a:ea typeface="Roboto Mono"/>
                <a:cs typeface="Roboto Mono"/>
              </a:rPr>
              <a:t>cutlass</a:t>
            </a:r>
            <a:r>
              <a:rPr lang="en-US" sz="2400">
                <a:solidFill>
                  <a:srgbClr val="000000"/>
                </a:solidFill>
                <a:latin typeface="Roboto Mono"/>
                <a:ea typeface="Roboto Mono"/>
                <a:cs typeface="Roboto Mono"/>
              </a:rPr>
              <a:t>.</a:t>
            </a:r>
            <a:r>
              <a:rPr lang="en-US" sz="2400">
                <a:solidFill>
                  <a:srgbClr val="0074DF"/>
                </a:solidFill>
                <a:latin typeface="Roboto Mono"/>
                <a:ea typeface="Roboto Mono"/>
                <a:cs typeface="Roboto Mono"/>
              </a:rPr>
              <a:t>Constexpr</a:t>
            </a:r>
            <a:r>
              <a:rPr lang="en-US" sz="2400">
                <a:solidFill>
                  <a:srgbClr val="000000"/>
                </a:solidFill>
                <a:latin typeface="Roboto Mono"/>
                <a:ea typeface="Roboto Mono"/>
                <a:cs typeface="Roboto Mono"/>
              </a:rPr>
              <a:t>):</a:t>
            </a:r>
          </a:p>
          <a:p>
            <a:pPr algn="l">
              <a:lnSpc>
                <a:spcPts val="3600"/>
              </a:lnSpc>
              <a:spcBef>
                <a:spcPts val="0"/>
              </a:spcBef>
              <a:buNone/>
            </a:pPr>
            <a:r>
              <a:rPr lang="en-US" sz="2400">
                <a:solidFill>
                  <a:srgbClr val="000000"/>
                </a:solidFill>
                <a:latin typeface="Roboto Mono"/>
                <a:ea typeface="Roboto Mono"/>
                <a:cs typeface="Roboto Mono"/>
              </a:rPr>
              <a:t>    </a:t>
            </a:r>
            <a:r>
              <a:rPr lang="en-US" sz="2400">
                <a:solidFill>
                  <a:srgbClr val="000000"/>
                </a:solidFill>
                <a:highlight>
                  <a:srgbClr val="D7EDA8"/>
                </a:highlight>
                <a:latin typeface="Roboto Mono"/>
                <a:ea typeface="Roboto Mono"/>
                <a:cs typeface="Roboto Mono"/>
              </a:rPr>
              <a:t>tot</a:t>
            </a:r>
            <a:r>
              <a:rPr lang="en-US" sz="2400">
                <a:solidFill>
                  <a:srgbClr val="000000"/>
                </a:solidFill>
                <a:latin typeface="Roboto Mono"/>
                <a:ea typeface="Roboto Mono"/>
                <a:cs typeface="Roboto Mono"/>
              </a:rPr>
              <a:t> = </a:t>
            </a:r>
            <a:r>
              <a:rPr lang="en-US" sz="2400">
                <a:solidFill>
                  <a:srgbClr val="0074DF"/>
                </a:solidFill>
                <a:latin typeface="Roboto Mono"/>
                <a:ea typeface="Roboto Mono"/>
                <a:cs typeface="Roboto Mono"/>
              </a:rPr>
              <a:t>cutlass</a:t>
            </a:r>
            <a:r>
              <a:rPr lang="en-US" sz="2400">
                <a:solidFill>
                  <a:srgbClr val="000000"/>
                </a:solidFill>
                <a:latin typeface="Roboto Mono"/>
                <a:ea typeface="Roboto Mono"/>
                <a:cs typeface="Roboto Mono"/>
              </a:rPr>
              <a:t>.</a:t>
            </a:r>
            <a:r>
              <a:rPr lang="en-US" sz="2400">
                <a:solidFill>
                  <a:srgbClr val="0074DF"/>
                </a:solidFill>
                <a:latin typeface="Roboto Mono"/>
                <a:ea typeface="Roboto Mono"/>
                <a:cs typeface="Roboto Mono"/>
              </a:rPr>
              <a:t>Int32</a:t>
            </a:r>
            <a:r>
              <a:rPr lang="en-US" sz="2400">
                <a:solidFill>
                  <a:srgbClr val="000000"/>
                </a:solidFill>
                <a:latin typeface="Roboto Mono"/>
                <a:ea typeface="Roboto Mono"/>
                <a:cs typeface="Roboto Mono"/>
              </a:rPr>
              <a:t>(</a:t>
            </a:r>
            <a:r>
              <a:rPr lang="en-US" sz="2400">
                <a:solidFill>
                  <a:srgbClr val="B5651D"/>
                </a:solidFill>
                <a:latin typeface="Roboto Mono"/>
                <a:ea typeface="Roboto Mono"/>
                <a:cs typeface="Roboto Mono"/>
              </a:rPr>
              <a:t>0</a:t>
            </a:r>
            <a:r>
              <a:rPr lang="en-US" sz="2400">
                <a:solidFill>
                  <a:srgbClr val="000000"/>
                </a:solidFill>
                <a:latin typeface="Roboto Mono"/>
                <a:ea typeface="Roboto Mono"/>
                <a:cs typeface="Roboto Mono"/>
              </a:rPr>
              <a:t>)</a:t>
            </a:r>
          </a:p>
          <a:p>
            <a:pPr algn="l">
              <a:lnSpc>
                <a:spcPts val="3600"/>
              </a:lnSpc>
              <a:spcBef>
                <a:spcPts val="0"/>
              </a:spcBef>
              <a:buNone/>
            </a:pPr>
            <a:r>
              <a:rPr lang="en-US" sz="2400">
                <a:solidFill>
                  <a:srgbClr val="000000"/>
                </a:solidFill>
                <a:latin typeface="Roboto Mono"/>
                <a:ea typeface="Roboto Mono"/>
                <a:cs typeface="Roboto Mono"/>
              </a:rPr>
              <a:t>    </a:t>
            </a:r>
            <a:r>
              <a:rPr lang="en-US" sz="2400">
                <a:solidFill>
                  <a:srgbClr val="952FC6"/>
                </a:solidFill>
                <a:latin typeface="Roboto Mono"/>
                <a:ea typeface="Roboto Mono"/>
                <a:cs typeface="Roboto Mono"/>
              </a:rPr>
              <a:t>for</a:t>
            </a:r>
            <a:r>
              <a:rPr lang="en-US" sz="2400">
                <a:solidFill>
                  <a:srgbClr val="000000"/>
                </a:solidFill>
                <a:latin typeface="Roboto Mono"/>
                <a:ea typeface="Roboto Mono"/>
                <a:cs typeface="Roboto Mono"/>
              </a:rPr>
              <a:t> i </a:t>
            </a:r>
            <a:r>
              <a:rPr lang="en-US" sz="2400">
                <a:solidFill>
                  <a:srgbClr val="952FC6"/>
                </a:solidFill>
                <a:latin typeface="Roboto Mono"/>
                <a:ea typeface="Roboto Mono"/>
                <a:cs typeface="Roboto Mono"/>
              </a:rPr>
              <a:t>in</a:t>
            </a:r>
            <a:r>
              <a:rPr lang="en-US" sz="2400">
                <a:solidFill>
                  <a:srgbClr val="000000"/>
                </a:solidFill>
                <a:latin typeface="Roboto Mono"/>
                <a:ea typeface="Roboto Mono"/>
                <a:cs typeface="Roboto Mono"/>
              </a:rPr>
              <a:t> range(n):         </a:t>
            </a:r>
            <a:r>
              <a:rPr lang="en-US" sz="2400">
                <a:solidFill>
                  <a:srgbClr val="757575"/>
                </a:solidFill>
                <a:latin typeface="Roboto Mono"/>
                <a:ea typeface="Roboto Mono"/>
                <a:cs typeface="Roboto Mono"/>
              </a:rPr>
              <a:t># n is runtime</a:t>
            </a:r>
          </a:p>
          <a:p>
            <a:pPr algn="l">
              <a:lnSpc>
                <a:spcPts val="3600"/>
              </a:lnSpc>
              <a:spcBef>
                <a:spcPts val="0"/>
              </a:spcBef>
              <a:buNone/>
            </a:pPr>
            <a:r>
              <a:rPr lang="en-US" sz="2400">
                <a:solidFill>
                  <a:srgbClr val="000000"/>
                </a:solidFill>
                <a:latin typeface="Roboto Mono"/>
                <a:ea typeface="Roboto Mono"/>
                <a:cs typeface="Roboto Mono"/>
              </a:rPr>
              <a:t>        </a:t>
            </a:r>
            <a:r>
              <a:rPr lang="en-US" sz="2400">
                <a:solidFill>
                  <a:srgbClr val="000000"/>
                </a:solidFill>
                <a:highlight>
                  <a:srgbClr val="D7EDA8"/>
                </a:highlight>
                <a:latin typeface="Roboto Mono"/>
                <a:ea typeface="Roboto Mono"/>
                <a:cs typeface="Roboto Mono"/>
              </a:rPr>
              <a:t>s.c</a:t>
            </a:r>
            <a:r>
              <a:rPr lang="en-US" sz="2400">
                <a:solidFill>
                  <a:srgbClr val="000000"/>
                </a:solidFill>
                <a:latin typeface="Roboto Mono"/>
                <a:ea typeface="Roboto Mono"/>
                <a:cs typeface="Roboto Mono"/>
              </a:rPr>
              <a:t>          += </a:t>
            </a:r>
            <a:r>
              <a:rPr lang="en-US" sz="2400">
                <a:solidFill>
                  <a:srgbClr val="B5651D"/>
                </a:solidFill>
                <a:latin typeface="Roboto Mono"/>
                <a:ea typeface="Roboto Mono"/>
                <a:cs typeface="Roboto Mono"/>
              </a:rPr>
              <a:t>2</a:t>
            </a:r>
          </a:p>
          <a:p>
            <a:pPr algn="l">
              <a:lnSpc>
                <a:spcPts val="3600"/>
              </a:lnSpc>
              <a:spcBef>
                <a:spcPts val="0"/>
              </a:spcBef>
              <a:buNone/>
            </a:pPr>
            <a:r>
              <a:rPr lang="en-US" sz="2400">
                <a:solidFill>
                  <a:srgbClr val="000000"/>
                </a:solidFill>
                <a:latin typeface="Roboto Mono"/>
                <a:ea typeface="Roboto Mono"/>
                <a:cs typeface="Roboto Mono"/>
              </a:rPr>
              <a:t>        </a:t>
            </a:r>
            <a:r>
              <a:rPr lang="en-US" sz="2400">
                <a:solidFill>
                  <a:srgbClr val="000000"/>
                </a:solidFill>
                <a:highlight>
                  <a:srgbClr val="D7EDA8"/>
                </a:highlight>
                <a:latin typeface="Roboto Mono"/>
                <a:ea typeface="Roboto Mono"/>
                <a:cs typeface="Roboto Mono"/>
              </a:rPr>
              <a:t>s.bins</a:t>
            </a:r>
            <a:r>
              <a:rPr lang="en-US" sz="2400">
                <a:solidFill>
                  <a:srgbClr val="000000"/>
                </a:solidFill>
                <a:latin typeface="Roboto Mono"/>
                <a:ea typeface="Roboto Mono"/>
                <a:cs typeface="Roboto Mono"/>
              </a:rPr>
              <a:t>[</a:t>
            </a:r>
            <a:r>
              <a:rPr lang="en-US" sz="2400">
                <a:solidFill>
                  <a:srgbClr val="1D6F62"/>
                </a:solidFill>
                <a:latin typeface="Roboto Mono"/>
                <a:ea typeface="Roboto Mono"/>
                <a:cs typeface="Roboto Mono"/>
              </a:rPr>
              <a:t>"hi"</a:t>
            </a:r>
            <a:r>
              <a:rPr lang="en-US" sz="2400">
                <a:solidFill>
                  <a:srgbClr val="000000"/>
                </a:solidFill>
                <a:latin typeface="Roboto Mono"/>
                <a:ea typeface="Roboto Mono"/>
                <a:cs typeface="Roboto Mono"/>
              </a:rPr>
              <a:t>] += </a:t>
            </a:r>
            <a:r>
              <a:rPr lang="en-US" sz="2400">
                <a:solidFill>
                  <a:srgbClr val="B5651D"/>
                </a:solidFill>
                <a:latin typeface="Roboto Mono"/>
                <a:ea typeface="Roboto Mono"/>
                <a:cs typeface="Roboto Mono"/>
              </a:rPr>
              <a:t>1</a:t>
            </a:r>
          </a:p>
          <a:p>
            <a:pPr algn="l">
              <a:lnSpc>
                <a:spcPts val="3600"/>
              </a:lnSpc>
              <a:spcBef>
                <a:spcPts val="0"/>
              </a:spcBef>
              <a:buNone/>
            </a:pPr>
            <a:r>
              <a:rPr lang="en-US" sz="2400">
                <a:solidFill>
                  <a:srgbClr val="000000"/>
                </a:solidFill>
                <a:latin typeface="Roboto Mono"/>
                <a:ea typeface="Roboto Mono"/>
                <a:cs typeface="Roboto Mono"/>
              </a:rPr>
              <a:t>        </a:t>
            </a:r>
            <a:r>
              <a:rPr lang="en-US" sz="2400">
                <a:solidFill>
                  <a:srgbClr val="000000"/>
                </a:solidFill>
                <a:highlight>
                  <a:srgbClr val="D7EDA8"/>
                </a:highlight>
                <a:latin typeface="Roboto Mono"/>
                <a:ea typeface="Roboto Mono"/>
                <a:cs typeface="Roboto Mono"/>
              </a:rPr>
              <a:t>tot</a:t>
            </a:r>
            <a:r>
              <a:rPr lang="en-US" sz="2400">
                <a:solidFill>
                  <a:srgbClr val="000000"/>
                </a:solidFill>
                <a:latin typeface="Roboto Mono"/>
                <a:ea typeface="Roboto Mono"/>
                <a:cs typeface="Roboto Mono"/>
              </a:rPr>
              <a:t>          += </a:t>
            </a:r>
            <a:r>
              <a:rPr lang="en-US" sz="2400">
                <a:solidFill>
                  <a:srgbClr val="000000"/>
                </a:solidFill>
                <a:highlight>
                  <a:srgbClr val="D7EDA8"/>
                </a:highlight>
                <a:latin typeface="Roboto Mono"/>
                <a:ea typeface="Roboto Mono"/>
                <a:cs typeface="Roboto Mono"/>
              </a:rPr>
              <a:t>s.c</a:t>
            </a:r>
          </a:p>
          <a:p>
            <a:pPr algn="l">
              <a:lnSpc>
                <a:spcPts val="2000"/>
              </a:lnSpc>
              <a:spcBef>
                <a:spcPts val="0"/>
              </a:spcBef>
              <a:buNone/>
            </a:pPr>
            <a:r>
              <a:rPr lang="en-US" sz="2400">
                <a:solidFill>
                  <a:srgbClr val="000000"/>
                </a:solidFill>
                <a:latin typeface="Roboto Mono"/>
                <a:ea typeface="Roboto Mono"/>
                <a:cs typeface="Roboto Mono"/>
              </a:rPr>
              <a:t> </a:t>
            </a:r>
          </a:p>
          <a:p>
            <a:pPr algn="l">
              <a:lnSpc>
                <a:spcPts val="3600"/>
              </a:lnSpc>
              <a:spcBef>
                <a:spcPts val="0"/>
              </a:spcBef>
              <a:buNone/>
            </a:pPr>
            <a:r>
              <a:rPr lang="en-US" sz="2400">
                <a:solidFill>
                  <a:srgbClr val="000000"/>
                </a:solidFill>
                <a:latin typeface="Roboto Mono"/>
                <a:ea typeface="Roboto Mono"/>
                <a:cs typeface="Roboto Mono"/>
              </a:rPr>
              <a:t>s = </a:t>
            </a:r>
            <a:r>
              <a:rPr lang="en-US" sz="2400">
                <a:solidFill>
                  <a:srgbClr val="0074DF"/>
                </a:solidFill>
                <a:latin typeface="Roboto Mono"/>
                <a:ea typeface="Roboto Mono"/>
                <a:cs typeface="Roboto Mono"/>
              </a:rPr>
              <a:t>State</a:t>
            </a:r>
            <a:r>
              <a:rPr lang="en-US" sz="2400">
                <a:solidFill>
                  <a:srgbClr val="000000"/>
                </a:solidFill>
                <a:latin typeface="Roboto Mono"/>
                <a:ea typeface="Roboto Mono"/>
                <a:cs typeface="Roboto Mono"/>
              </a:rPr>
              <a:t>(); kernel(</a:t>
            </a:r>
            <a:r>
              <a:rPr lang="en-US" sz="2400">
                <a:solidFill>
                  <a:srgbClr val="B5651D"/>
                </a:solidFill>
                <a:latin typeface="Roboto Mono"/>
                <a:ea typeface="Roboto Mono"/>
                <a:cs typeface="Roboto Mono"/>
              </a:rPr>
              <a:t>10</a:t>
            </a:r>
            <a:r>
              <a:rPr lang="en-US" sz="2400">
                <a:solidFill>
                  <a:srgbClr val="000000"/>
                </a:solidFill>
                <a:latin typeface="Roboto Mono"/>
                <a:ea typeface="Roboto Mono"/>
                <a:cs typeface="Roboto Mono"/>
              </a:rPr>
              <a:t>, s)</a:t>
            </a:r>
          </a:p>
        </p:txBody>
      </p:sp>
      <p:sp>
        <p:nvSpPr>
          <p:cNvPr id="39" name="RuleR">
            <a:extLst>
              <a:ext uri="{FF2B5EF4-FFF2-40B4-BE49-F238E27FC236}">
                <a16:creationId xmlns:a16="http://schemas.microsoft.com/office/drawing/2014/main" id="{C21034EE-C49C-E04A-9F01-E67723AE440F}"/>
              </a:ext>
            </a:extLst>
          </p:cNvPr>
          <p:cNvSpPr/>
          <p:nvPr/>
        </p:nvSpPr>
        <p:spPr>
          <a:xfrm>
            <a:off x="18745200" y="5029200"/>
            <a:ext cx="160020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HeadR">
            <a:extLst>
              <a:ext uri="{FF2B5EF4-FFF2-40B4-BE49-F238E27FC236}">
                <a16:creationId xmlns:a16="http://schemas.microsoft.com/office/drawing/2014/main" id="{76F37773-DF16-E045-B80E-EB4697922732}"/>
              </a:ext>
            </a:extLst>
          </p:cNvPr>
          <p:cNvSpPr txBox="1"/>
          <p:nvPr/>
        </p:nvSpPr>
        <p:spPr>
          <a:xfrm>
            <a:off x="18745200" y="5486400"/>
            <a:ext cx="16002000" cy="558800"/>
          </a:xfrm>
          <a:prstGeom prst="rect">
            <a:avLst/>
          </a:prstGeom>
          <a:noFill/>
        </p:spPr>
        <p:txBody>
          <a:bodyPr vertOverflow="overflow" vert="horz" wrap="square" rtlCol="0" anchor="ctr" anchorCtr="0">
            <a:noAutofit/>
          </a:bodyPr>
          <a:lstStyle/>
          <a:p>
            <a:pPr algn="l"/>
            <a:r>
              <a:rPr lang="en-US" sz="2800" b="1">
                <a:solidFill>
                  <a:srgbClr val="B3261E"/>
                </a:solidFill>
                <a:latin typeface="NVIDIA Sans"/>
                <a:cs typeface="NVIDIA Sans"/>
              </a:rPr>
              <a:t>IF PROMOTION FAILS, ONLY INITIAL VALUES ARE CAPTURED</a:t>
            </a:r>
          </a:p>
        </p:txBody>
      </p:sp>
      <p:sp>
        <p:nvSpPr>
          <p:cNvPr id="3" name="RowA0">
            <a:extLst>
              <a:ext uri="{FF2B5EF4-FFF2-40B4-BE49-F238E27FC236}">
                <a16:creationId xmlns:a16="http://schemas.microsoft.com/office/drawing/2014/main" id="{37890E9B-50EE-CA45-A597-C9DF75037583}"/>
              </a:ext>
            </a:extLst>
          </p:cNvPr>
          <p:cNvSpPr/>
          <p:nvPr/>
        </p:nvSpPr>
        <p:spPr>
          <a:xfrm>
            <a:off x="18745200" y="6350000"/>
            <a:ext cx="6604000" cy="1397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owAT0">
            <a:extLst>
              <a:ext uri="{FF2B5EF4-FFF2-40B4-BE49-F238E27FC236}">
                <a16:creationId xmlns:a16="http://schemas.microsoft.com/office/drawing/2014/main" id="{26488F04-7278-B449-AEBD-BC117C66DAE8}"/>
              </a:ext>
            </a:extLst>
          </p:cNvPr>
          <p:cNvSpPr txBox="1"/>
          <p:nvPr/>
        </p:nvSpPr>
        <p:spPr>
          <a:xfrm>
            <a:off x="19050000" y="6350000"/>
            <a:ext cx="5994400" cy="1397000"/>
          </a:xfrm>
          <a:prstGeom prst="rect">
            <a:avLst/>
          </a:prstGeom>
          <a:noFill/>
        </p:spPr>
        <p:txBody>
          <a:bodyPr vertOverflow="overflow" vert="horz" wrap="square" rtlCol="0" anchor="ctr" anchorCtr="0">
            <a:noAutofit/>
          </a:bodyPr>
          <a:lstStyle/>
          <a:p>
            <a:pPr algn="l"/>
            <a:r>
              <a:rPr lang="en-US" sz="2600">
                <a:solidFill>
                  <a:srgbClr val="313131"/>
                </a:solidFill>
                <a:latin typeface="Roboto Mono"/>
                <a:ea typeface="Roboto Mono"/>
              </a:rPr>
              <a:t>s.c = 0 when tracing runs</a:t>
            </a:r>
          </a:p>
        </p:txBody>
      </p:sp>
      <p:sp>
        <p:nvSpPr>
          <p:cNvPr id="11" name="Arw0">
            <a:extLst>
              <a:ext uri="{FF2B5EF4-FFF2-40B4-BE49-F238E27FC236}">
                <a16:creationId xmlns:a16="http://schemas.microsoft.com/office/drawing/2014/main" id="{DB4A4050-130E-AC42-8C06-EE77BB79F35C}"/>
              </a:ext>
            </a:extLst>
          </p:cNvPr>
          <p:cNvSpPr/>
          <p:nvPr/>
        </p:nvSpPr>
        <p:spPr>
          <a:xfrm>
            <a:off x="25603200" y="6781800"/>
            <a:ext cx="1016000" cy="533400"/>
          </a:xfrm>
          <a:prstGeom prst="rightArrow">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wB0">
            <a:extLst>
              <a:ext uri="{FF2B5EF4-FFF2-40B4-BE49-F238E27FC236}">
                <a16:creationId xmlns:a16="http://schemas.microsoft.com/office/drawing/2014/main" id="{599F9F5D-6907-544F-9E06-9AA5073914E3}"/>
              </a:ext>
            </a:extLst>
          </p:cNvPr>
          <p:cNvSpPr/>
          <p:nvPr/>
        </p:nvSpPr>
        <p:spPr>
          <a:xfrm>
            <a:off x="26924000" y="6350000"/>
            <a:ext cx="7823200" cy="13970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owBT0">
            <a:extLst>
              <a:ext uri="{FF2B5EF4-FFF2-40B4-BE49-F238E27FC236}">
                <a16:creationId xmlns:a16="http://schemas.microsoft.com/office/drawing/2014/main" id="{62A81E2C-BA64-024B-B1E5-5B3195E996AD}"/>
              </a:ext>
            </a:extLst>
          </p:cNvPr>
          <p:cNvSpPr txBox="1"/>
          <p:nvPr/>
        </p:nvSpPr>
        <p:spPr>
          <a:xfrm>
            <a:off x="27228800" y="6350000"/>
            <a:ext cx="7213600" cy="1397000"/>
          </a:xfrm>
          <a:prstGeom prst="rect">
            <a:avLst/>
          </a:prstGeom>
          <a:noFill/>
        </p:spPr>
        <p:txBody>
          <a:bodyPr vertOverflow="overflow" vert="horz" wrap="square" rtlCol="0" anchor="ctr" anchorCtr="0">
            <a:noAutofit/>
          </a:bodyPr>
          <a:lstStyle/>
          <a:p>
            <a:pPr algn="l"/>
            <a:r>
              <a:rPr lang="en-US" sz="2600">
                <a:solidFill>
                  <a:srgbClr val="B3261E"/>
                </a:solidFill>
                <a:latin typeface="Roboto Mono"/>
                <a:ea typeface="Roboto Mono"/>
              </a:rPr>
              <a:t>folded into a constant</a:t>
            </a:r>
          </a:p>
        </p:txBody>
      </p:sp>
      <p:sp>
        <p:nvSpPr>
          <p:cNvPr id="14" name="RowA1">
            <a:extLst>
              <a:ext uri="{FF2B5EF4-FFF2-40B4-BE49-F238E27FC236}">
                <a16:creationId xmlns:a16="http://schemas.microsoft.com/office/drawing/2014/main" id="{3EA5B803-98D8-E940-9599-A2362A884252}"/>
              </a:ext>
            </a:extLst>
          </p:cNvPr>
          <p:cNvSpPr/>
          <p:nvPr/>
        </p:nvSpPr>
        <p:spPr>
          <a:xfrm>
            <a:off x="18745200" y="8128000"/>
            <a:ext cx="6604000" cy="1397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owAT1">
            <a:extLst>
              <a:ext uri="{FF2B5EF4-FFF2-40B4-BE49-F238E27FC236}">
                <a16:creationId xmlns:a16="http://schemas.microsoft.com/office/drawing/2014/main" id="{D82FFB51-90AF-3F42-BD24-E04B35E4272B}"/>
              </a:ext>
            </a:extLst>
          </p:cNvPr>
          <p:cNvSpPr txBox="1"/>
          <p:nvPr/>
        </p:nvSpPr>
        <p:spPr>
          <a:xfrm>
            <a:off x="19050000" y="8128000"/>
            <a:ext cx="5994400" cy="1397000"/>
          </a:xfrm>
          <a:prstGeom prst="rect">
            <a:avLst/>
          </a:prstGeom>
          <a:noFill/>
        </p:spPr>
        <p:txBody>
          <a:bodyPr vertOverflow="overflow" vert="horz" wrap="square" rtlCol="0" anchor="ctr" anchorCtr="0">
            <a:noAutofit/>
          </a:bodyPr>
          <a:lstStyle/>
          <a:p>
            <a:pPr algn="l"/>
            <a:r>
              <a:rPr lang="en-US" sz="2600">
                <a:solidFill>
                  <a:srgbClr val="313131"/>
                </a:solidFill>
                <a:latin typeface="Roboto Mono"/>
                <a:ea typeface="Roboto Mono"/>
              </a:rPr>
              <a:t>the loop runs n times</a:t>
            </a:r>
          </a:p>
        </p:txBody>
      </p:sp>
      <p:sp>
        <p:nvSpPr>
          <p:cNvPr id="16" name="Arw1">
            <a:extLst>
              <a:ext uri="{FF2B5EF4-FFF2-40B4-BE49-F238E27FC236}">
                <a16:creationId xmlns:a16="http://schemas.microsoft.com/office/drawing/2014/main" id="{7A6CACAE-624A-3548-B94C-60FD553B96CA}"/>
              </a:ext>
            </a:extLst>
          </p:cNvPr>
          <p:cNvSpPr/>
          <p:nvPr/>
        </p:nvSpPr>
        <p:spPr>
          <a:xfrm>
            <a:off x="25603200" y="8559800"/>
            <a:ext cx="1016000" cy="533400"/>
          </a:xfrm>
          <a:prstGeom prst="rightArrow">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owB1">
            <a:extLst>
              <a:ext uri="{FF2B5EF4-FFF2-40B4-BE49-F238E27FC236}">
                <a16:creationId xmlns:a16="http://schemas.microsoft.com/office/drawing/2014/main" id="{88145CD5-3424-2F41-8E06-2C379E99F32D}"/>
              </a:ext>
            </a:extLst>
          </p:cNvPr>
          <p:cNvSpPr/>
          <p:nvPr/>
        </p:nvSpPr>
        <p:spPr>
          <a:xfrm>
            <a:off x="26924000" y="8128000"/>
            <a:ext cx="7823200" cy="13970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owBT1">
            <a:extLst>
              <a:ext uri="{FF2B5EF4-FFF2-40B4-BE49-F238E27FC236}">
                <a16:creationId xmlns:a16="http://schemas.microsoft.com/office/drawing/2014/main" id="{98F80321-6AEC-1D47-9E60-B20F98178072}"/>
              </a:ext>
            </a:extLst>
          </p:cNvPr>
          <p:cNvSpPr txBox="1"/>
          <p:nvPr/>
        </p:nvSpPr>
        <p:spPr>
          <a:xfrm>
            <a:off x="27228800" y="8128000"/>
            <a:ext cx="7213600" cy="1397000"/>
          </a:xfrm>
          <a:prstGeom prst="rect">
            <a:avLst/>
          </a:prstGeom>
          <a:noFill/>
        </p:spPr>
        <p:txBody>
          <a:bodyPr vertOverflow="overflow" vert="horz" wrap="square" rtlCol="0" anchor="ctr" anchorCtr="0">
            <a:noAutofit/>
          </a:bodyPr>
          <a:lstStyle/>
          <a:p>
            <a:pPr algn="l"/>
            <a:r>
              <a:rPr lang="en-US" sz="2600">
                <a:solidFill>
                  <a:srgbClr val="B3261E"/>
                </a:solidFill>
                <a:latin typeface="Roboto Mono"/>
                <a:ea typeface="Roboto Mono"/>
              </a:rPr>
              <a:t>the constant never updates</a:t>
            </a:r>
          </a:p>
        </p:txBody>
      </p:sp>
      <p:sp>
        <p:nvSpPr>
          <p:cNvPr id="19" name="RowA2">
            <a:extLst>
              <a:ext uri="{FF2B5EF4-FFF2-40B4-BE49-F238E27FC236}">
                <a16:creationId xmlns:a16="http://schemas.microsoft.com/office/drawing/2014/main" id="{73E0343E-CD62-8346-9A50-5C9ED5B51DB2}"/>
              </a:ext>
            </a:extLst>
          </p:cNvPr>
          <p:cNvSpPr/>
          <p:nvPr/>
        </p:nvSpPr>
        <p:spPr>
          <a:xfrm>
            <a:off x="18745200" y="9906000"/>
            <a:ext cx="6604000" cy="1397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owAT2">
            <a:extLst>
              <a:ext uri="{FF2B5EF4-FFF2-40B4-BE49-F238E27FC236}">
                <a16:creationId xmlns:a16="http://schemas.microsoft.com/office/drawing/2014/main" id="{FC8FFE89-1FAA-A845-8111-CEB64E116219}"/>
              </a:ext>
            </a:extLst>
          </p:cNvPr>
          <p:cNvSpPr txBox="1"/>
          <p:nvPr/>
        </p:nvSpPr>
        <p:spPr>
          <a:xfrm>
            <a:off x="19050000" y="9906000"/>
            <a:ext cx="5994400" cy="1397000"/>
          </a:xfrm>
          <a:prstGeom prst="rect">
            <a:avLst/>
          </a:prstGeom>
          <a:noFill/>
        </p:spPr>
        <p:txBody>
          <a:bodyPr vertOverflow="overflow" vert="horz" wrap="square" rtlCol="0" anchor="ctr" anchorCtr="0">
            <a:noAutofit/>
          </a:bodyPr>
          <a:lstStyle/>
          <a:p>
            <a:pPr algn="l"/>
            <a:r>
              <a:rPr lang="en-US" sz="2600">
                <a:solidFill>
                  <a:srgbClr val="313131"/>
                </a:solidFill>
                <a:latin typeface="Roboto Mono"/>
                <a:ea typeface="Roboto Mono"/>
              </a:rPr>
              <a:t>tot += s.c on every trip</a:t>
            </a:r>
          </a:p>
        </p:txBody>
      </p:sp>
      <p:sp>
        <p:nvSpPr>
          <p:cNvPr id="21" name="Arw2">
            <a:extLst>
              <a:ext uri="{FF2B5EF4-FFF2-40B4-BE49-F238E27FC236}">
                <a16:creationId xmlns:a16="http://schemas.microsoft.com/office/drawing/2014/main" id="{98C4C839-8503-5C44-A5A9-566C17D11643}"/>
              </a:ext>
            </a:extLst>
          </p:cNvPr>
          <p:cNvSpPr/>
          <p:nvPr/>
        </p:nvSpPr>
        <p:spPr>
          <a:xfrm>
            <a:off x="25603200" y="10337800"/>
            <a:ext cx="1016000" cy="533400"/>
          </a:xfrm>
          <a:prstGeom prst="rightArrow">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owB2">
            <a:extLst>
              <a:ext uri="{FF2B5EF4-FFF2-40B4-BE49-F238E27FC236}">
                <a16:creationId xmlns:a16="http://schemas.microsoft.com/office/drawing/2014/main" id="{E583C1EC-E669-6745-AB5D-9400B5F98631}"/>
              </a:ext>
            </a:extLst>
          </p:cNvPr>
          <p:cNvSpPr/>
          <p:nvPr/>
        </p:nvSpPr>
        <p:spPr>
          <a:xfrm>
            <a:off x="26924000" y="9906000"/>
            <a:ext cx="7823200" cy="13970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owBT2">
            <a:extLst>
              <a:ext uri="{FF2B5EF4-FFF2-40B4-BE49-F238E27FC236}">
                <a16:creationId xmlns:a16="http://schemas.microsoft.com/office/drawing/2014/main" id="{ACB77E6C-5241-D745-93AC-A100DD289594}"/>
              </a:ext>
            </a:extLst>
          </p:cNvPr>
          <p:cNvSpPr txBox="1"/>
          <p:nvPr/>
        </p:nvSpPr>
        <p:spPr>
          <a:xfrm>
            <a:off x="27228800" y="9906000"/>
            <a:ext cx="7213600" cy="1397000"/>
          </a:xfrm>
          <a:prstGeom prst="rect">
            <a:avLst/>
          </a:prstGeom>
          <a:noFill/>
        </p:spPr>
        <p:txBody>
          <a:bodyPr vertOverflow="overflow" vert="horz" wrap="square" rtlCol="0" anchor="ctr" anchorCtr="0">
            <a:noAutofit/>
          </a:bodyPr>
          <a:lstStyle/>
          <a:p>
            <a:pPr algn="l"/>
            <a:r>
              <a:rPr lang="en-US" sz="2600">
                <a:solidFill>
                  <a:srgbClr val="B3261E"/>
                </a:solidFill>
                <a:latin typeface="Roboto Mono"/>
                <a:ea typeface="Roboto Mono"/>
              </a:rPr>
              <a:t>adds the same 0 forever</a:t>
            </a:r>
          </a:p>
        </p:txBody>
      </p:sp>
      <p:sp>
        <p:nvSpPr>
          <p:cNvPr id="24" name="Verdict">
            <a:extLst>
              <a:ext uri="{FF2B5EF4-FFF2-40B4-BE49-F238E27FC236}">
                <a16:creationId xmlns:a16="http://schemas.microsoft.com/office/drawing/2014/main" id="{111FA7C3-EC99-AE4F-B312-8A1A3100DE7B}"/>
              </a:ext>
            </a:extLst>
          </p:cNvPr>
          <p:cNvSpPr/>
          <p:nvPr/>
        </p:nvSpPr>
        <p:spPr>
          <a:xfrm>
            <a:off x="18745200" y="11811000"/>
            <a:ext cx="16002000" cy="1905000"/>
          </a:xfrm>
          <a:prstGeom prst="rect">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VerdictTx">
            <a:extLst>
              <a:ext uri="{FF2B5EF4-FFF2-40B4-BE49-F238E27FC236}">
                <a16:creationId xmlns:a16="http://schemas.microsoft.com/office/drawing/2014/main" id="{EEA0F491-E90B-2343-9C2B-E960DE6A56B3}"/>
              </a:ext>
            </a:extLst>
          </p:cNvPr>
          <p:cNvSpPr txBox="1"/>
          <p:nvPr/>
        </p:nvSpPr>
        <p:spPr>
          <a:xfrm>
            <a:off x="19202400" y="11811000"/>
            <a:ext cx="15087600" cy="1905000"/>
          </a:xfrm>
          <a:prstGeom prst="rect">
            <a:avLst/>
          </a:prstGeom>
          <a:noFill/>
        </p:spPr>
        <p:txBody>
          <a:bodyPr vertOverflow="overflow" vert="horz" wrap="square" rtlCol="0" anchor="ctr" anchorCtr="0">
            <a:noAutofit/>
          </a:bodyPr>
          <a:lstStyle/>
          <a:p>
            <a:pPr algn="l"/>
            <a:r>
              <a:rPr lang="en-US" sz="3000" b="1">
                <a:solidFill>
                  <a:srgbClr val="FFFFFF"/>
                </a:solidFill>
                <a:latin typeface="Roboto Mono"/>
                <a:ea typeface="Roboto Mono"/>
              </a:rPr>
              <a:t>kernel prints c = 4      Python prints c = 20</a:t>
            </a:r>
          </a:p>
        </p:txBody>
      </p:sp>
    </p:spTree>
    <p:extLst>
      <p:ext uri="{BB962C8B-B14F-4D97-AF65-F5344CB8AC3E}">
        <p14:creationId xmlns:p14="http://schemas.microsoft.com/office/powerpoint/2010/main" val="3956652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E528FC-2649-0F7D-5D4A-F8FAF640F268}"/>
              </a:ext>
            </a:extLst>
          </p:cNvPr>
          <p:cNvSpPr>
            <a:spLocks noGrp="1"/>
          </p:cNvSpPr>
          <p:nvPr>
            <p:ph type="title"/>
          </p:nvPr>
        </p:nvSpPr>
        <p:spPr/>
        <p:txBody>
          <a:bodyPr/>
          <a:lstStyle/>
          <a:p>
            <a:r>
              <a:rPr lang="en-US" err="1">
                <a:solidFill>
                  <a:srgbClr val="000000"/>
                </a:solidFill>
              </a:rPr>
              <a:t>DkgDSL</a:t>
            </a:r>
            <a:r>
              <a:rPr lang="en-US">
                <a:solidFill>
                  <a:srgbClr val="000000"/>
                </a:solidFill>
              </a:rPr>
              <a:t> v2: Keep Your Python</a:t>
            </a:r>
          </a:p>
        </p:txBody>
      </p:sp>
      <p:sp>
        <p:nvSpPr>
          <p:cNvPr id="15" name="Code">
            <a:extLst>
              <a:ext uri="{FF2B5EF4-FFF2-40B4-BE49-F238E27FC236}">
                <a16:creationId xmlns:a16="http://schemas.microsoft.com/office/drawing/2014/main" id="{0D027B2E-86C1-C34E-BCB1-B4E0121864EB}"/>
              </a:ext>
            </a:extLst>
          </p:cNvPr>
          <p:cNvSpPr txBox="1"/>
          <p:nvPr/>
        </p:nvSpPr>
        <p:spPr>
          <a:xfrm>
            <a:off x="11938000" y="6604000"/>
            <a:ext cx="10922000" cy="7620000"/>
          </a:xfrm>
          <a:prstGeom prst="rect">
            <a:avLst/>
          </a:prstGeom>
          <a:solidFill>
            <a:srgbClr val="F0F0F0"/>
          </a:solidFill>
          <a:ln>
            <a:noFill/>
          </a:ln>
        </p:spPr>
        <p:txBody>
          <a:bodyPr vertOverflow="overflow" vert="horz" wrap="none" rtlCol="0" anchor="t" anchorCtr="0">
            <a:noAutofit/>
          </a:bodyPr>
          <a:lstStyle/>
          <a:p>
            <a:pPr marL="0" indent="0">
              <a:lnSpc>
                <a:spcPct val="104000"/>
              </a:lnSpc>
              <a:buNone/>
            </a:pPr>
            <a:r>
              <a:rPr lang="en-US" sz="2600">
                <a:solidFill>
                  <a:srgbClr val="0074DF"/>
                </a:solidFill>
                <a:latin typeface="Roboto Mono"/>
                <a:ea typeface="Roboto Mono"/>
              </a:rPr>
              <a:t>import</a:t>
            </a:r>
            <a:r>
              <a:rPr lang="en-US" sz="2600">
                <a:solidFill>
                  <a:srgbClr val="1A1A1A"/>
                </a:solidFill>
                <a:latin typeface="Roboto Mono"/>
                <a:ea typeface="Roboto Mono"/>
              </a:rPr>
              <a:t> </a:t>
            </a:r>
            <a:r>
              <a:rPr lang="en-US" sz="2600">
                <a:solidFill>
                  <a:srgbClr val="7A2FA6"/>
                </a:solidFill>
                <a:latin typeface="Roboto Mono"/>
                <a:ea typeface="Roboto Mono"/>
              </a:rPr>
              <a:t>cutlass</a:t>
            </a:r>
          </a:p>
          <a:p>
            <a:pPr marL="0" indent="0">
              <a:lnSpc>
                <a:spcPct val="104000"/>
              </a:lnSpc>
              <a:buNone/>
            </a:pPr>
            <a:r>
              <a:rPr lang="en-US" sz="2600">
                <a:solidFill>
                  <a:srgbClr val="0074DF"/>
                </a:solidFill>
                <a:latin typeface="Roboto Mono"/>
                <a:ea typeface="Roboto Mono"/>
              </a:rPr>
              <a:t>from</a:t>
            </a:r>
            <a:r>
              <a:rPr lang="en-US" sz="2600">
                <a:solidFill>
                  <a:srgbClr val="1A1A1A"/>
                </a:solidFill>
                <a:latin typeface="Roboto Mono"/>
                <a:ea typeface="Roboto Mono"/>
              </a:rPr>
              <a:t> </a:t>
            </a:r>
            <a:r>
              <a:rPr lang="en-US" sz="2600">
                <a:solidFill>
                  <a:srgbClr val="7A2FA6"/>
                </a:solidFill>
                <a:latin typeface="Roboto Mono"/>
                <a:ea typeface="Roboto Mono"/>
              </a:rPr>
              <a:t>cutlass</a:t>
            </a:r>
            <a:r>
              <a:rPr lang="en-US" sz="2600">
                <a:solidFill>
                  <a:srgbClr val="1A1A1A"/>
                </a:solidFill>
                <a:latin typeface="Roboto Mono"/>
                <a:ea typeface="Roboto Mono"/>
              </a:rPr>
              <a:t> </a:t>
            </a:r>
            <a:r>
              <a:rPr lang="en-US" sz="2600">
                <a:solidFill>
                  <a:srgbClr val="0074DF"/>
                </a:solidFill>
                <a:latin typeface="Roboto Mono"/>
                <a:ea typeface="Roboto Mono"/>
              </a:rPr>
              <a:t>import</a:t>
            </a:r>
            <a:r>
              <a:rPr lang="en-US" sz="2600">
                <a:solidFill>
                  <a:srgbClr val="1A1A1A"/>
                </a:solidFill>
                <a:latin typeface="Roboto Mono"/>
                <a:ea typeface="Roboto Mono"/>
              </a:rPr>
              <a:t> </a:t>
            </a:r>
            <a:r>
              <a:rPr lang="en-US" sz="2600">
                <a:solidFill>
                  <a:srgbClr val="7A2FA6"/>
                </a:solidFill>
                <a:latin typeface="Roboto Mono"/>
                <a:ea typeface="Roboto Mono"/>
              </a:rPr>
              <a:t>cute</a:t>
            </a:r>
          </a:p>
          <a:p>
            <a:pPr marL="0" indent="0">
              <a:lnSpc>
                <a:spcPct val="104000"/>
              </a:lnSpc>
              <a:buNone/>
            </a:pPr>
            <a:r>
              <a:rPr lang="en-US" sz="2600">
                <a:solidFill>
                  <a:srgbClr val="1A1A1A"/>
                </a:solidFill>
                <a:latin typeface="Roboto Mono"/>
                <a:ea typeface="Roboto Mono"/>
              </a:rPr>
              <a:t> </a:t>
            </a:r>
          </a:p>
          <a:p>
            <a:pPr marL="0" indent="0">
              <a:lnSpc>
                <a:spcPct val="104000"/>
              </a:lnSpc>
              <a:buNone/>
            </a:pPr>
            <a:r>
              <a:rPr lang="en-US" sz="2600">
                <a:solidFill>
                  <a:srgbClr val="0074DF"/>
                </a:solidFill>
                <a:latin typeface="Roboto Mono"/>
                <a:ea typeface="Roboto Mono"/>
              </a:rPr>
              <a:t>class</a:t>
            </a:r>
            <a:r>
              <a:rPr lang="en-US" sz="2600">
                <a:solidFill>
                  <a:srgbClr val="1A1A1A"/>
                </a:solidFill>
                <a:latin typeface="Roboto Mono"/>
                <a:ea typeface="Roboto Mono"/>
              </a:rPr>
              <a:t> </a:t>
            </a:r>
            <a:r>
              <a:rPr lang="en-US" sz="2600">
                <a:solidFill>
                  <a:srgbClr val="7A2FA6"/>
                </a:solidFill>
                <a:latin typeface="Roboto Mono"/>
                <a:ea typeface="Roboto Mono"/>
              </a:rPr>
              <a:t>State</a:t>
            </a:r>
            <a:r>
              <a:rPr lang="en-US" sz="2600">
                <a:solidFill>
                  <a:srgbClr val="1A1A1A"/>
                </a:solidFill>
                <a:latin typeface="Roboto Mono"/>
                <a:ea typeface="Roboto Mono"/>
              </a:rPr>
              <a:t>:</a:t>
            </a:r>
          </a:p>
          <a:p>
            <a:pPr marL="0" indent="0">
              <a:lnSpc>
                <a:spcPct val="104000"/>
              </a:lnSpc>
              <a:buNone/>
            </a:pPr>
            <a:r>
              <a:rPr lang="en-US" sz="2600">
                <a:solidFill>
                  <a:srgbClr val="1A1A1A"/>
                </a:solidFill>
                <a:latin typeface="Roboto Mono"/>
                <a:ea typeface="Roboto Mono"/>
              </a:rPr>
              <a:t>    </a:t>
            </a:r>
            <a:r>
              <a:rPr lang="en-US" sz="2600">
                <a:solidFill>
                  <a:srgbClr val="0074DF"/>
                </a:solidFill>
                <a:latin typeface="Roboto Mono"/>
                <a:ea typeface="Roboto Mono"/>
              </a:rPr>
              <a:t>def</a:t>
            </a:r>
            <a:r>
              <a:rPr lang="en-US" sz="2600">
                <a:solidFill>
                  <a:srgbClr val="1A1A1A"/>
                </a:solidFill>
                <a:latin typeface="Roboto Mono"/>
                <a:ea typeface="Roboto Mono"/>
              </a:rPr>
              <a:t> __init__(</a:t>
            </a:r>
            <a:r>
              <a:rPr lang="en-US" sz="2600">
                <a:solidFill>
                  <a:srgbClr val="0074DF"/>
                </a:solidFill>
                <a:latin typeface="Roboto Mono"/>
                <a:ea typeface="Roboto Mono"/>
              </a:rPr>
              <a:t>self</a:t>
            </a:r>
            <a:r>
              <a:rPr lang="en-US" sz="2600">
                <a:solidFill>
                  <a:srgbClr val="1A1A1A"/>
                </a:solidFill>
                <a:latin typeface="Roboto Mono"/>
                <a:ea typeface="Roboto Mono"/>
              </a:rPr>
              <a:t>):</a:t>
            </a:r>
          </a:p>
          <a:p>
            <a:pPr marL="0" indent="0">
              <a:lnSpc>
                <a:spcPct val="104000"/>
              </a:lnSpc>
              <a:buNone/>
            </a:pPr>
            <a:r>
              <a:rPr lang="en-US" sz="2600">
                <a:solidFill>
                  <a:srgbClr val="1A1A1A"/>
                </a:solidFill>
                <a:latin typeface="Roboto Mono"/>
                <a:ea typeface="Roboto Mono"/>
              </a:rPr>
              <a:t>        </a:t>
            </a:r>
            <a:r>
              <a:rPr lang="en-US" sz="2600">
                <a:solidFill>
                  <a:srgbClr val="0074DF"/>
                </a:solidFill>
                <a:latin typeface="Roboto Mono"/>
                <a:ea typeface="Roboto Mono"/>
              </a:rPr>
              <a:t>self</a:t>
            </a:r>
            <a:r>
              <a:rPr lang="en-US" sz="2600">
                <a:solidFill>
                  <a:srgbClr val="1A1A1A"/>
                </a:solidFill>
                <a:latin typeface="Roboto Mono"/>
                <a:ea typeface="Roboto Mono"/>
              </a:rPr>
              <a:t>.c    = </a:t>
            </a:r>
            <a:r>
              <a:rPr lang="en-US" sz="2600">
                <a:solidFill>
                  <a:srgbClr val="C05600"/>
                </a:solidFill>
                <a:latin typeface="Roboto Mono"/>
                <a:ea typeface="Roboto Mono"/>
              </a:rPr>
              <a:t>0</a:t>
            </a:r>
            <a:r>
              <a:rPr lang="en-US" sz="2600">
                <a:solidFill>
                  <a:srgbClr val="1A1A1A"/>
                </a:solidFill>
                <a:latin typeface="Roboto Mono"/>
                <a:ea typeface="Roboto Mono"/>
              </a:rPr>
              <a:t>          # plain int</a:t>
            </a:r>
          </a:p>
          <a:p>
            <a:pPr marL="0" indent="0">
              <a:lnSpc>
                <a:spcPct val="104000"/>
              </a:lnSpc>
              <a:buNone/>
            </a:pPr>
            <a:r>
              <a:rPr lang="en-US" sz="2600">
                <a:solidFill>
                  <a:srgbClr val="1A1A1A"/>
                </a:solidFill>
                <a:latin typeface="Roboto Mono"/>
                <a:ea typeface="Roboto Mono"/>
              </a:rPr>
              <a:t>        </a:t>
            </a:r>
            <a:r>
              <a:rPr lang="en-US" sz="2600">
                <a:solidFill>
                  <a:srgbClr val="0074DF"/>
                </a:solidFill>
                <a:latin typeface="Roboto Mono"/>
                <a:ea typeface="Roboto Mono"/>
              </a:rPr>
              <a:t>self</a:t>
            </a:r>
            <a:r>
              <a:rPr lang="en-US" sz="2600">
                <a:solidFill>
                  <a:srgbClr val="1A1A1A"/>
                </a:solidFill>
                <a:latin typeface="Roboto Mono"/>
                <a:ea typeface="Roboto Mono"/>
              </a:rPr>
              <a:t>.bins = {"hi": </a:t>
            </a:r>
            <a:r>
              <a:rPr lang="en-US" sz="2600">
                <a:solidFill>
                  <a:srgbClr val="C05600"/>
                </a:solidFill>
                <a:latin typeface="Roboto Mono"/>
                <a:ea typeface="Roboto Mono"/>
              </a:rPr>
              <a:t>0</a:t>
            </a:r>
            <a:r>
              <a:rPr lang="en-US" sz="2600">
                <a:solidFill>
                  <a:srgbClr val="1A1A1A"/>
                </a:solidFill>
                <a:latin typeface="Roboto Mono"/>
                <a:ea typeface="Roboto Mono"/>
              </a:rPr>
              <a:t>}  # plain dict</a:t>
            </a:r>
          </a:p>
          <a:p>
            <a:pPr marL="0" indent="0">
              <a:lnSpc>
                <a:spcPct val="104000"/>
              </a:lnSpc>
              <a:buNone/>
            </a:pPr>
            <a:r>
              <a:rPr lang="en-US" sz="2600">
                <a:solidFill>
                  <a:srgbClr val="1A1A1A"/>
                </a:solidFill>
                <a:latin typeface="Roboto Mono"/>
                <a:ea typeface="Roboto Mono"/>
              </a:rPr>
              <a:t> </a:t>
            </a:r>
          </a:p>
          <a:p>
            <a:pPr marL="0" indent="0">
              <a:lnSpc>
                <a:spcPct val="104000"/>
              </a:lnSpc>
              <a:buNone/>
            </a:pPr>
            <a:r>
              <a:rPr lang="en-US" sz="2600">
                <a:solidFill>
                  <a:srgbClr val="1A1A1A"/>
                </a:solidFill>
                <a:latin typeface="Roboto Mono"/>
                <a:ea typeface="Roboto Mono"/>
              </a:rPr>
              <a:t>@</a:t>
            </a:r>
            <a:r>
              <a:rPr lang="en-US" sz="2600">
                <a:solidFill>
                  <a:srgbClr val="7A2FA6"/>
                </a:solidFill>
                <a:latin typeface="Roboto Mono"/>
                <a:ea typeface="Roboto Mono"/>
              </a:rPr>
              <a:t>cute</a:t>
            </a:r>
            <a:r>
              <a:rPr lang="en-US" sz="2600">
                <a:solidFill>
                  <a:srgbClr val="1A1A1A"/>
                </a:solidFill>
                <a:latin typeface="Roboto Mono"/>
                <a:ea typeface="Roboto Mono"/>
              </a:rPr>
              <a:t>.jit</a:t>
            </a:r>
          </a:p>
          <a:p>
            <a:pPr marL="0" indent="0">
              <a:lnSpc>
                <a:spcPct val="104000"/>
              </a:lnSpc>
              <a:buNone/>
            </a:pPr>
            <a:r>
              <a:rPr lang="en-US" sz="2600">
                <a:solidFill>
                  <a:srgbClr val="0074DF"/>
                </a:solidFill>
                <a:latin typeface="Roboto Mono"/>
                <a:ea typeface="Roboto Mono"/>
              </a:rPr>
              <a:t>def</a:t>
            </a:r>
            <a:r>
              <a:rPr lang="en-US" sz="2600">
                <a:solidFill>
                  <a:srgbClr val="1A1A1A"/>
                </a:solidFill>
                <a:latin typeface="Roboto Mono"/>
                <a:ea typeface="Roboto Mono"/>
              </a:rPr>
              <a:t> kernel(n: </a:t>
            </a:r>
            <a:r>
              <a:rPr lang="en-US" sz="2600">
                <a:solidFill>
                  <a:srgbClr val="7A2FA6"/>
                </a:solidFill>
                <a:latin typeface="Roboto Mono"/>
                <a:ea typeface="Roboto Mono"/>
              </a:rPr>
              <a:t>cutlass</a:t>
            </a:r>
            <a:r>
              <a:rPr lang="en-US" sz="2600">
                <a:solidFill>
                  <a:srgbClr val="1A1A1A"/>
                </a:solidFill>
                <a:latin typeface="Roboto Mono"/>
                <a:ea typeface="Roboto Mono"/>
              </a:rPr>
              <a:t>.</a:t>
            </a:r>
            <a:r>
              <a:rPr lang="en-US" sz="2600">
                <a:solidFill>
                  <a:srgbClr val="7A2FA6"/>
                </a:solidFill>
                <a:latin typeface="Roboto Mono"/>
                <a:ea typeface="Roboto Mono"/>
              </a:rPr>
              <a:t>Int32</a:t>
            </a:r>
            <a:r>
              <a:rPr lang="en-US" sz="2600">
                <a:solidFill>
                  <a:srgbClr val="1A1A1A"/>
                </a:solidFill>
                <a:latin typeface="Roboto Mono"/>
                <a:ea typeface="Roboto Mono"/>
              </a:rPr>
              <a:t>,</a:t>
            </a:r>
          </a:p>
          <a:p>
            <a:pPr marL="0" indent="0">
              <a:lnSpc>
                <a:spcPct val="104000"/>
              </a:lnSpc>
              <a:buNone/>
            </a:pPr>
            <a:r>
              <a:rPr lang="en-US" sz="2600">
                <a:solidFill>
                  <a:srgbClr val="1A1A1A"/>
                </a:solidFill>
                <a:latin typeface="Roboto Mono"/>
                <a:ea typeface="Roboto Mono"/>
              </a:rPr>
              <a:t>           s: </a:t>
            </a:r>
            <a:r>
              <a:rPr lang="en-US" sz="2600">
                <a:solidFill>
                  <a:srgbClr val="7A2FA6"/>
                </a:solidFill>
                <a:latin typeface="Roboto Mono"/>
                <a:ea typeface="Roboto Mono"/>
              </a:rPr>
              <a:t>cutlass</a:t>
            </a:r>
            <a:r>
              <a:rPr lang="en-US" sz="2600">
                <a:solidFill>
                  <a:srgbClr val="1A1A1A"/>
                </a:solidFill>
                <a:latin typeface="Roboto Mono"/>
                <a:ea typeface="Roboto Mono"/>
              </a:rPr>
              <a:t>.</a:t>
            </a:r>
            <a:r>
              <a:rPr lang="en-US" sz="2600">
                <a:solidFill>
                  <a:srgbClr val="7A2FA6"/>
                </a:solidFill>
                <a:latin typeface="Roboto Mono"/>
                <a:ea typeface="Roboto Mono"/>
              </a:rPr>
              <a:t>Constexpr</a:t>
            </a:r>
            <a:r>
              <a:rPr lang="en-US" sz="2600">
                <a:solidFill>
                  <a:srgbClr val="1A1A1A"/>
                </a:solidFill>
                <a:latin typeface="Roboto Mono"/>
                <a:ea typeface="Roboto Mono"/>
              </a:rPr>
              <a:t>):</a:t>
            </a:r>
          </a:p>
          <a:p>
            <a:pPr marL="0" indent="0">
              <a:lnSpc>
                <a:spcPct val="104000"/>
              </a:lnSpc>
              <a:buNone/>
            </a:pPr>
            <a:r>
              <a:rPr lang="en-US" sz="2600">
                <a:solidFill>
                  <a:srgbClr val="1A1A1A"/>
                </a:solidFill>
                <a:latin typeface="Roboto Mono"/>
                <a:ea typeface="Roboto Mono"/>
              </a:rPr>
              <a:t>    tot = </a:t>
            </a:r>
            <a:r>
              <a:rPr lang="en-US" sz="2600">
                <a:solidFill>
                  <a:srgbClr val="7A2FA6"/>
                </a:solidFill>
                <a:latin typeface="Roboto Mono"/>
                <a:ea typeface="Roboto Mono"/>
              </a:rPr>
              <a:t>cutlass</a:t>
            </a:r>
            <a:r>
              <a:rPr lang="en-US" sz="2600">
                <a:solidFill>
                  <a:srgbClr val="1A1A1A"/>
                </a:solidFill>
                <a:latin typeface="Roboto Mono"/>
                <a:ea typeface="Roboto Mono"/>
              </a:rPr>
              <a:t>.</a:t>
            </a:r>
            <a:r>
              <a:rPr lang="en-US" sz="2600">
                <a:solidFill>
                  <a:srgbClr val="7A2FA6"/>
                </a:solidFill>
                <a:latin typeface="Roboto Mono"/>
                <a:ea typeface="Roboto Mono"/>
              </a:rPr>
              <a:t>Int32</a:t>
            </a:r>
            <a:r>
              <a:rPr lang="en-US" sz="2600">
                <a:solidFill>
                  <a:srgbClr val="1A1A1A"/>
                </a:solidFill>
                <a:latin typeface="Roboto Mono"/>
                <a:ea typeface="Roboto Mono"/>
              </a:rPr>
              <a:t>(</a:t>
            </a:r>
            <a:r>
              <a:rPr lang="en-US" sz="2600">
                <a:solidFill>
                  <a:srgbClr val="C05600"/>
                </a:solidFill>
                <a:latin typeface="Roboto Mono"/>
                <a:ea typeface="Roboto Mono"/>
              </a:rPr>
              <a:t>0</a:t>
            </a:r>
            <a:r>
              <a:rPr lang="en-US" sz="2600">
                <a:solidFill>
                  <a:srgbClr val="1A1A1A"/>
                </a:solidFill>
                <a:latin typeface="Roboto Mono"/>
                <a:ea typeface="Roboto Mono"/>
              </a:rPr>
              <a:t>)</a:t>
            </a:r>
          </a:p>
          <a:p>
            <a:pPr marL="0" indent="0">
              <a:lnSpc>
                <a:spcPct val="104000"/>
              </a:lnSpc>
              <a:buNone/>
            </a:pPr>
            <a:r>
              <a:rPr lang="en-US" sz="2600">
                <a:solidFill>
                  <a:srgbClr val="1A1A1A"/>
                </a:solidFill>
                <a:latin typeface="Roboto Mono"/>
                <a:ea typeface="Roboto Mono"/>
              </a:rPr>
              <a:t>    </a:t>
            </a:r>
            <a:r>
              <a:rPr lang="en-US" sz="2600">
                <a:solidFill>
                  <a:srgbClr val="0074DF"/>
                </a:solidFill>
                <a:latin typeface="Roboto Mono"/>
                <a:ea typeface="Roboto Mono"/>
              </a:rPr>
              <a:t>for</a:t>
            </a:r>
            <a:r>
              <a:rPr lang="en-US" sz="2600">
                <a:solidFill>
                  <a:srgbClr val="1A1A1A"/>
                </a:solidFill>
                <a:latin typeface="Roboto Mono"/>
                <a:ea typeface="Roboto Mono"/>
              </a:rPr>
              <a:t> i </a:t>
            </a:r>
            <a:r>
              <a:rPr lang="en-US" sz="2600">
                <a:solidFill>
                  <a:srgbClr val="0074DF"/>
                </a:solidFill>
                <a:latin typeface="Roboto Mono"/>
                <a:ea typeface="Roboto Mono"/>
              </a:rPr>
              <a:t>in</a:t>
            </a:r>
            <a:r>
              <a:rPr lang="en-US" sz="2600">
                <a:solidFill>
                  <a:srgbClr val="1A1A1A"/>
                </a:solidFill>
                <a:latin typeface="Roboto Mono"/>
                <a:ea typeface="Roboto Mono"/>
              </a:rPr>
              <a:t> </a:t>
            </a:r>
            <a:r>
              <a:rPr lang="en-US" sz="2600">
                <a:solidFill>
                  <a:srgbClr val="7A2FA6"/>
                </a:solidFill>
                <a:latin typeface="Roboto Mono"/>
                <a:ea typeface="Roboto Mono"/>
              </a:rPr>
              <a:t>range</a:t>
            </a:r>
            <a:r>
              <a:rPr lang="en-US" sz="2600">
                <a:solidFill>
                  <a:srgbClr val="1A1A1A"/>
                </a:solidFill>
                <a:latin typeface="Roboto Mono"/>
                <a:ea typeface="Roboto Mono"/>
              </a:rPr>
              <a:t>(n):         # n is runtime</a:t>
            </a:r>
          </a:p>
          <a:p>
            <a:pPr marL="0" indent="0">
              <a:lnSpc>
                <a:spcPct val="104000"/>
              </a:lnSpc>
              <a:buNone/>
            </a:pPr>
            <a:r>
              <a:rPr lang="en-US" sz="2600">
                <a:solidFill>
                  <a:srgbClr val="1A1A1A"/>
                </a:solidFill>
                <a:latin typeface="Roboto Mono"/>
                <a:ea typeface="Roboto Mono"/>
              </a:rPr>
              <a:t>        s.c          += </a:t>
            </a:r>
            <a:r>
              <a:rPr lang="en-US" sz="2600">
                <a:solidFill>
                  <a:srgbClr val="C05600"/>
                </a:solidFill>
                <a:latin typeface="Roboto Mono"/>
                <a:ea typeface="Roboto Mono"/>
              </a:rPr>
              <a:t>2</a:t>
            </a:r>
          </a:p>
          <a:p>
            <a:pPr marL="0" indent="0">
              <a:lnSpc>
                <a:spcPct val="104000"/>
              </a:lnSpc>
              <a:buNone/>
            </a:pPr>
            <a:r>
              <a:rPr lang="en-US" sz="2600">
                <a:solidFill>
                  <a:srgbClr val="1A1A1A"/>
                </a:solidFill>
                <a:latin typeface="Roboto Mono"/>
                <a:ea typeface="Roboto Mono"/>
              </a:rPr>
              <a:t>        s.bins["hi"] += </a:t>
            </a:r>
            <a:r>
              <a:rPr lang="en-US" sz="2600">
                <a:solidFill>
                  <a:srgbClr val="C05600"/>
                </a:solidFill>
                <a:latin typeface="Roboto Mono"/>
                <a:ea typeface="Roboto Mono"/>
              </a:rPr>
              <a:t>1</a:t>
            </a:r>
          </a:p>
          <a:p>
            <a:pPr marL="0" indent="0">
              <a:lnSpc>
                <a:spcPct val="104000"/>
              </a:lnSpc>
              <a:buNone/>
            </a:pPr>
            <a:r>
              <a:rPr lang="en-US" sz="2600">
                <a:solidFill>
                  <a:srgbClr val="1A1A1A"/>
                </a:solidFill>
                <a:latin typeface="Roboto Mono"/>
                <a:ea typeface="Roboto Mono"/>
              </a:rPr>
              <a:t>        tot          += s.c</a:t>
            </a:r>
          </a:p>
          <a:p>
            <a:pPr marL="0" indent="0">
              <a:lnSpc>
                <a:spcPct val="104000"/>
              </a:lnSpc>
              <a:buNone/>
            </a:pPr>
            <a:r>
              <a:rPr lang="en-US" sz="2600">
                <a:solidFill>
                  <a:srgbClr val="1A1A1A"/>
                </a:solidFill>
                <a:latin typeface="Roboto Mono"/>
                <a:ea typeface="Roboto Mono"/>
              </a:rPr>
              <a:t> </a:t>
            </a:r>
          </a:p>
          <a:p>
            <a:pPr marL="0" indent="0">
              <a:lnSpc>
                <a:spcPct val="104000"/>
              </a:lnSpc>
              <a:buNone/>
            </a:pPr>
            <a:r>
              <a:rPr lang="en-US" sz="2600">
                <a:solidFill>
                  <a:srgbClr val="1A1A1A"/>
                </a:solidFill>
                <a:latin typeface="Roboto Mono"/>
                <a:ea typeface="Roboto Mono"/>
              </a:rPr>
              <a:t>s = </a:t>
            </a:r>
            <a:r>
              <a:rPr lang="en-US" sz="2600">
                <a:solidFill>
                  <a:srgbClr val="7A2FA6"/>
                </a:solidFill>
                <a:latin typeface="Roboto Mono"/>
                <a:ea typeface="Roboto Mono"/>
              </a:rPr>
              <a:t>State</a:t>
            </a:r>
            <a:r>
              <a:rPr lang="en-US" sz="2600">
                <a:solidFill>
                  <a:srgbClr val="1A1A1A"/>
                </a:solidFill>
                <a:latin typeface="Roboto Mono"/>
                <a:ea typeface="Roboto Mono"/>
              </a:rPr>
              <a:t>(); kernel(</a:t>
            </a:r>
            <a:r>
              <a:rPr lang="en-US" sz="2600">
                <a:solidFill>
                  <a:srgbClr val="C05600"/>
                </a:solidFill>
                <a:latin typeface="Roboto Mono"/>
                <a:ea typeface="Roboto Mono"/>
              </a:rPr>
              <a:t>10</a:t>
            </a:r>
            <a:r>
              <a:rPr lang="en-US" sz="2600">
                <a:solidFill>
                  <a:srgbClr val="1A1A1A"/>
                </a:solidFill>
                <a:latin typeface="Roboto Mono"/>
                <a:ea typeface="Roboto Mono"/>
              </a:rPr>
              <a:t>, s)</a:t>
            </a:r>
          </a:p>
        </p:txBody>
      </p:sp>
      <p:sp>
        <p:nvSpPr>
          <p:cNvPr id="16" name="Result">
            <a:extLst>
              <a:ext uri="{FF2B5EF4-FFF2-40B4-BE49-F238E27FC236}">
                <a16:creationId xmlns:a16="http://schemas.microsoft.com/office/drawing/2014/main" id="{A32C4B8B-EDB6-D142-874C-54CC3CB49433}"/>
              </a:ext>
            </a:extLst>
          </p:cNvPr>
          <p:cNvSpPr txBox="1"/>
          <p:nvPr/>
        </p:nvSpPr>
        <p:spPr>
          <a:xfrm>
            <a:off x="11938000" y="14478000"/>
            <a:ext cx="10922000" cy="584200"/>
          </a:xfrm>
          <a:prstGeom prst="rect">
            <a:avLst/>
          </a:prstGeom>
          <a:noFill/>
          <a:ln>
            <a:noFill/>
          </a:ln>
        </p:spPr>
        <p:txBody>
          <a:bodyPr vertOverflow="overflow" vert="horz" wrap="square" rtlCol="0" anchor="t" anchorCtr="0">
            <a:spAutoFit/>
          </a:bodyPr>
          <a:lstStyle/>
          <a:p>
            <a:pPr algn="l"/>
            <a:r>
              <a:rPr lang="en-US" sz="3200">
                <a:solidFill>
                  <a:srgbClr val="757575"/>
                </a:solidFill>
                <a:latin typeface="NVIDIA Sans"/>
                <a:cs typeface="NVIDIA Sans"/>
              </a:rPr>
              <a:t>tot = 110, c = 20, hi = 10, matching plain Python.</a:t>
            </a:r>
          </a:p>
        </p:txBody>
      </p:sp>
      <p:sp>
        <p:nvSpPr>
          <p:cNvPr id="2" name="Rule0">
            <a:extLst>
              <a:ext uri="{FF2B5EF4-FFF2-40B4-BE49-F238E27FC236}">
                <a16:creationId xmlns:a16="http://schemas.microsoft.com/office/drawing/2014/main" id="{3EE38368-887D-8D41-A666-EFE4B722848F}"/>
              </a:ext>
            </a:extLst>
          </p:cNvPr>
          <p:cNvSpPr/>
          <p:nvPr/>
        </p:nvSpPr>
        <p:spPr>
          <a:xfrm>
            <a:off x="1828800" y="4953000"/>
            <a:ext cx="9347200" cy="762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ule1">
            <a:extLst>
              <a:ext uri="{FF2B5EF4-FFF2-40B4-BE49-F238E27FC236}">
                <a16:creationId xmlns:a16="http://schemas.microsoft.com/office/drawing/2014/main" id="{542E1005-EDBC-EE41-97B3-68C3E1485BE5}"/>
              </a:ext>
            </a:extLst>
          </p:cNvPr>
          <p:cNvSpPr/>
          <p:nvPr/>
        </p:nvSpPr>
        <p:spPr>
          <a:xfrm>
            <a:off x="11938000" y="4953000"/>
            <a:ext cx="10922000" cy="762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Head0">
            <a:extLst>
              <a:ext uri="{FF2B5EF4-FFF2-40B4-BE49-F238E27FC236}">
                <a16:creationId xmlns:a16="http://schemas.microsoft.com/office/drawing/2014/main" id="{6813B866-D21C-D540-A635-F50DD587C7D4}"/>
              </a:ext>
            </a:extLst>
          </p:cNvPr>
          <p:cNvSpPr txBox="1"/>
          <p:nvPr/>
        </p:nvSpPr>
        <p:spPr>
          <a:xfrm>
            <a:off x="1828800" y="5334000"/>
            <a:ext cx="9347200" cy="774700"/>
          </a:xfrm>
          <a:prstGeom prst="rect">
            <a:avLst/>
          </a:prstGeom>
          <a:noFill/>
        </p:spPr>
        <p:txBody>
          <a:bodyPr vertOverflow="overflow" vert="horz" wrap="square" rtlCol="0" anchor="t">
            <a:spAutoFit/>
          </a:bodyPr>
          <a:lstStyle/>
          <a:p>
            <a:pPr algn="l"/>
            <a:r>
              <a:rPr lang="en-US" sz="4400" b="1" err="1">
                <a:latin typeface="NVIDIA Sans"/>
                <a:cs typeface="NVIDIA Sans"/>
              </a:rPr>
              <a:t>DkgDSL</a:t>
            </a:r>
            <a:r>
              <a:rPr lang="en-US" sz="4400" b="1">
                <a:latin typeface="NVIDIA Sans"/>
                <a:cs typeface="NVIDIA Sans"/>
              </a:rPr>
              <a:t> v2 (aka </a:t>
            </a:r>
            <a:r>
              <a:rPr lang="en-US" sz="4400" b="1" err="1">
                <a:latin typeface="NVIDIA Sans"/>
                <a:cs typeface="NVIDIA Sans"/>
              </a:rPr>
              <a:t>PyIR</a:t>
            </a:r>
            <a:r>
              <a:rPr lang="en-US" sz="4400" b="1">
                <a:latin typeface="NVIDIA Sans"/>
                <a:cs typeface="NVIDIA Sans"/>
              </a:rPr>
              <a:t>)</a:t>
            </a:r>
          </a:p>
        </p:txBody>
      </p:sp>
      <p:sp>
        <p:nvSpPr>
          <p:cNvPr id="18" name="Desc0">
            <a:extLst>
              <a:ext uri="{FF2B5EF4-FFF2-40B4-BE49-F238E27FC236}">
                <a16:creationId xmlns:a16="http://schemas.microsoft.com/office/drawing/2014/main" id="{C3C3D2B8-CFD8-0544-BBF1-05CB6A3669C0}"/>
              </a:ext>
            </a:extLst>
          </p:cNvPr>
          <p:cNvSpPr txBox="1"/>
          <p:nvPr/>
        </p:nvSpPr>
        <p:spPr>
          <a:xfrm>
            <a:off x="1828800" y="6604000"/>
            <a:ext cx="9347200" cy="2032000"/>
          </a:xfrm>
          <a:prstGeom prst="rect">
            <a:avLst/>
          </a:prstGeom>
          <a:noFill/>
        </p:spPr>
        <p:txBody>
          <a:bodyPr vertOverflow="overflow" vert="horz" wrap="square" rtlCol="0" anchor="t">
            <a:spAutoFit/>
          </a:bodyPr>
          <a:lstStyle/>
          <a:p>
            <a:pPr algn="l"/>
            <a:r>
              <a:rPr lang="en-US" sz="3400">
                <a:solidFill>
                  <a:srgbClr val="757575"/>
                </a:solidFill>
                <a:latin typeface="NVIDIA Sans"/>
                <a:cs typeface="NVIDIA Sans"/>
              </a:rPr>
              <a:t>Keep the tracer, and make ordinary Python objects survive real control flow</a:t>
            </a:r>
          </a:p>
        </p:txBody>
      </p:sp>
      <p:sp>
        <p:nvSpPr>
          <p:cNvPr id="19" name="Bullet0">
            <a:extLst>
              <a:ext uri="{FF2B5EF4-FFF2-40B4-BE49-F238E27FC236}">
                <a16:creationId xmlns:a16="http://schemas.microsoft.com/office/drawing/2014/main" id="{59DC581C-4A23-1D4F-B907-B868908059E7}"/>
              </a:ext>
            </a:extLst>
          </p:cNvPr>
          <p:cNvSpPr txBox="1"/>
          <p:nvPr/>
        </p:nvSpPr>
        <p:spPr>
          <a:xfrm>
            <a:off x="1828800" y="8890000"/>
            <a:ext cx="9347200" cy="762000"/>
          </a:xfrm>
          <a:prstGeom prst="rect">
            <a:avLst/>
          </a:prstGeom>
          <a:noFill/>
        </p:spPr>
        <p:txBody>
          <a:bodyPr vertOverflow="overflow" vert="horz" wrap="square" rtlCol="0" anchor="t">
            <a:spAutoFit/>
          </a:bodyPr>
          <a:lstStyle/>
          <a:p>
            <a:pPr marL="0" indent="0">
              <a:buNone/>
            </a:pPr>
            <a:r>
              <a:rPr lang="en-US" sz="3400" b="1">
                <a:solidFill>
                  <a:srgbClr val="76B900"/>
                </a:solidFill>
              </a:rPr>
              <a:t>+  </a:t>
            </a:r>
            <a:r>
              <a:rPr lang="en-US" sz="3400">
                <a:solidFill>
                  <a:srgbClr val="000000"/>
                </a:solidFill>
              </a:rPr>
              <a:t>Attributes, dict entries and locals become runtime state</a:t>
            </a:r>
          </a:p>
        </p:txBody>
      </p:sp>
      <p:sp>
        <p:nvSpPr>
          <p:cNvPr id="20" name="Bullet1">
            <a:extLst>
              <a:ext uri="{FF2B5EF4-FFF2-40B4-BE49-F238E27FC236}">
                <a16:creationId xmlns:a16="http://schemas.microsoft.com/office/drawing/2014/main" id="{659316EF-3675-4A41-BB6C-6DD927CBA7B2}"/>
              </a:ext>
            </a:extLst>
          </p:cNvPr>
          <p:cNvSpPr txBox="1"/>
          <p:nvPr/>
        </p:nvSpPr>
        <p:spPr>
          <a:xfrm>
            <a:off x="1828800" y="11176000"/>
            <a:ext cx="9347200" cy="762000"/>
          </a:xfrm>
          <a:prstGeom prst="rect">
            <a:avLst/>
          </a:prstGeom>
          <a:noFill/>
        </p:spPr>
        <p:txBody>
          <a:bodyPr vertOverflow="overflow" vert="horz" wrap="square" rtlCol="0" anchor="t">
            <a:spAutoFit/>
          </a:bodyPr>
          <a:lstStyle/>
          <a:p>
            <a:pPr marL="0" indent="0">
              <a:buNone/>
            </a:pPr>
            <a:r>
              <a:rPr lang="en-US" sz="3400" b="1">
                <a:solidFill>
                  <a:srgbClr val="76B900"/>
                </a:solidFill>
              </a:rPr>
              <a:t>+  </a:t>
            </a:r>
            <a:r>
              <a:rPr lang="en-US" sz="3400">
                <a:solidFill>
                  <a:srgbClr val="000000"/>
                </a:solidFill>
              </a:rPr>
              <a:t>Anything unsound refuses by name</a:t>
            </a:r>
          </a:p>
        </p:txBody>
      </p:sp>
      <p:sp>
        <p:nvSpPr>
          <p:cNvPr id="21" name="Bullet2">
            <a:extLst>
              <a:ext uri="{FF2B5EF4-FFF2-40B4-BE49-F238E27FC236}">
                <a16:creationId xmlns:a16="http://schemas.microsoft.com/office/drawing/2014/main" id="{753D7879-E08F-2943-9EB9-6EE477C4E4EB}"/>
              </a:ext>
            </a:extLst>
          </p:cNvPr>
          <p:cNvSpPr txBox="1"/>
          <p:nvPr/>
        </p:nvSpPr>
        <p:spPr>
          <a:xfrm>
            <a:off x="1828800" y="13462000"/>
            <a:ext cx="9347200" cy="762000"/>
          </a:xfrm>
          <a:prstGeom prst="rect">
            <a:avLst/>
          </a:prstGeom>
          <a:noFill/>
        </p:spPr>
        <p:txBody>
          <a:bodyPr vertOverflow="overflow" vert="horz" wrap="square" rtlCol="0" anchor="t">
            <a:spAutoFit/>
          </a:bodyPr>
          <a:lstStyle/>
          <a:p>
            <a:pPr marL="0" indent="0">
              <a:buNone/>
            </a:pPr>
            <a:r>
              <a:rPr lang="en-US" sz="3400" b="1">
                <a:solidFill>
                  <a:srgbClr val="76B900"/>
                </a:solidFill>
              </a:rPr>
              <a:t>+  </a:t>
            </a:r>
            <a:r>
              <a:rPr lang="en-US" sz="3400">
                <a:solidFill>
                  <a:srgbClr val="000000"/>
                </a:solidFill>
              </a:rPr>
              <a:t>Abstractions stay zero-cost by design</a:t>
            </a:r>
          </a:p>
        </p:txBody>
      </p:sp>
      <p:sp>
        <p:nvSpPr>
          <p:cNvPr id="22" name="Bullet3">
            <a:extLst>
              <a:ext uri="{FF2B5EF4-FFF2-40B4-BE49-F238E27FC236}">
                <a16:creationId xmlns:a16="http://schemas.microsoft.com/office/drawing/2014/main" id="{ED9D1567-66E6-B542-9F5F-D9EC40E6F02F}"/>
              </a:ext>
            </a:extLst>
          </p:cNvPr>
          <p:cNvSpPr txBox="1"/>
          <p:nvPr/>
        </p:nvSpPr>
        <p:spPr>
          <a:xfrm>
            <a:off x="1828800" y="15748000"/>
            <a:ext cx="9347200" cy="762000"/>
          </a:xfrm>
          <a:prstGeom prst="rect">
            <a:avLst/>
          </a:prstGeom>
          <a:noFill/>
        </p:spPr>
        <p:txBody>
          <a:bodyPr vertOverflow="overflow" vert="horz" wrap="square" rtlCol="0" anchor="t">
            <a:spAutoFit/>
          </a:bodyPr>
          <a:lstStyle/>
          <a:p>
            <a:pPr marL="0" indent="0">
              <a:buNone/>
            </a:pPr>
            <a:r>
              <a:rPr lang="en-US" sz="3400" b="1">
                <a:solidFill>
                  <a:srgbClr val="76B900"/>
                </a:solidFill>
              </a:rPr>
              <a:t>+  </a:t>
            </a:r>
            <a:r>
              <a:rPr lang="en-US" sz="3400">
                <a:solidFill>
                  <a:srgbClr val="000000"/>
                </a:solidFill>
              </a:rPr>
              <a:t>Reads like ordinary Python: no dynamic expression protocols</a:t>
            </a:r>
          </a:p>
        </p:txBody>
      </p:sp>
      <p:sp>
        <p:nvSpPr>
          <p:cNvPr id="23" name="Head1">
            <a:extLst>
              <a:ext uri="{FF2B5EF4-FFF2-40B4-BE49-F238E27FC236}">
                <a16:creationId xmlns:a16="http://schemas.microsoft.com/office/drawing/2014/main" id="{142F072F-F06A-2241-9854-553FA33E767F}"/>
              </a:ext>
            </a:extLst>
          </p:cNvPr>
          <p:cNvSpPr txBox="1"/>
          <p:nvPr/>
        </p:nvSpPr>
        <p:spPr>
          <a:xfrm>
            <a:off x="11938000" y="5334000"/>
            <a:ext cx="10922000" cy="1143000"/>
          </a:xfrm>
          <a:prstGeom prst="rect">
            <a:avLst/>
          </a:prstGeom>
          <a:noFill/>
        </p:spPr>
        <p:txBody>
          <a:bodyPr vertOverflow="overflow" vert="horz" wrap="square" rtlCol="0" anchor="t">
            <a:spAutoFit/>
          </a:bodyPr>
          <a:lstStyle/>
          <a:p>
            <a:pPr algn="l"/>
            <a:r>
              <a:rPr lang="en-US" sz="4400" b="1">
                <a:latin typeface="NVIDIA Sans"/>
                <a:cs typeface="NVIDIA Sans"/>
              </a:rPr>
              <a:t>What you write</a:t>
            </a:r>
          </a:p>
        </p:txBody>
      </p:sp>
      <p:sp>
        <p:nvSpPr>
          <p:cNvPr id="5" name="Head2">
            <a:extLst>
              <a:ext uri="{FF2B5EF4-FFF2-40B4-BE49-F238E27FC236}">
                <a16:creationId xmlns:a16="http://schemas.microsoft.com/office/drawing/2014/main" id="{5012D891-7D69-7C4D-9D1D-AC835AF808C3}"/>
              </a:ext>
            </a:extLst>
          </p:cNvPr>
          <p:cNvSpPr txBox="1"/>
          <p:nvPr/>
        </p:nvSpPr>
        <p:spPr>
          <a:xfrm>
            <a:off x="23622000" y="5334000"/>
            <a:ext cx="11125200" cy="1143000"/>
          </a:xfrm>
          <a:prstGeom prst="rect">
            <a:avLst/>
          </a:prstGeom>
          <a:noFill/>
        </p:spPr>
        <p:txBody>
          <a:bodyPr vertOverflow="overflow" vert="horz" wrap="none" rtlCol="0" anchor="t">
            <a:noAutofit/>
          </a:bodyPr>
          <a:lstStyle/>
          <a:p>
            <a:pPr algn="l"/>
            <a:r>
              <a:rPr lang="en-US" sz="4400" b="1">
                <a:latin typeface="NVIDIA Sans"/>
                <a:cs typeface="NVIDIA Sans"/>
              </a:rPr>
              <a:t>What the GPU needs</a:t>
            </a:r>
          </a:p>
        </p:txBody>
      </p:sp>
      <p:sp>
        <p:nvSpPr>
          <p:cNvPr id="6" name="MlirMini">
            <a:extLst>
              <a:ext uri="{FF2B5EF4-FFF2-40B4-BE49-F238E27FC236}">
                <a16:creationId xmlns:a16="http://schemas.microsoft.com/office/drawing/2014/main" id="{A2FDD5F5-F0B9-1446-9BBA-F916B1DFF02C}"/>
              </a:ext>
            </a:extLst>
          </p:cNvPr>
          <p:cNvSpPr txBox="1"/>
          <p:nvPr/>
        </p:nvSpPr>
        <p:spPr>
          <a:xfrm>
            <a:off x="23622000" y="6604000"/>
            <a:ext cx="11125200" cy="6350000"/>
          </a:xfrm>
          <a:prstGeom prst="rect">
            <a:avLst/>
          </a:prstGeom>
          <a:noFill/>
        </p:spPr>
        <p:txBody>
          <a:bodyPr vertOverflow="overflow" vert="horz" wrap="none" rtlCol="0" anchor="t" anchorCtr="0">
            <a:noAutofit/>
          </a:bodyPr>
          <a:lstStyle/>
          <a:p>
            <a:pPr algn="l">
              <a:lnSpc>
                <a:spcPts val="3400"/>
              </a:lnSpc>
              <a:spcBef>
                <a:spcPts val="0"/>
              </a:spcBef>
              <a:buNone/>
            </a:pPr>
            <a:r>
              <a:rPr lang="en-US" sz="2400">
                <a:solidFill>
                  <a:srgbClr val="0074DF"/>
                </a:solidFill>
                <a:latin typeface="Roboto Mono"/>
                <a:cs typeface="Roboto Mono"/>
              </a:rPr>
              <a:t>%0:3</a:t>
            </a:r>
            <a:r>
              <a:rPr lang="en-US" sz="2400">
                <a:solidFill>
                  <a:srgbClr val="000000"/>
                </a:solidFill>
                <a:latin typeface="Roboto Mono"/>
                <a:cs typeface="Roboto Mono"/>
              </a:rPr>
              <a:t> = </a:t>
            </a:r>
            <a:r>
              <a:rPr lang="en-US" sz="2400" b="1">
                <a:solidFill>
                  <a:srgbClr val="952FC6"/>
                </a:solidFill>
                <a:latin typeface="Roboto Mono"/>
                <a:cs typeface="Roboto Mono"/>
              </a:rPr>
              <a:t>scf.for</a:t>
            </a:r>
            <a:r>
              <a:rPr lang="en-US" sz="2400">
                <a:solidFill>
                  <a:srgbClr val="0074DF"/>
                </a:solidFill>
                <a:latin typeface="Roboto Mono"/>
                <a:cs typeface="Roboto Mono"/>
              </a:rPr>
              <a:t> %arg1 = %c0 to %arg0</a:t>
            </a:r>
          </a:p>
          <a:p>
            <a:pPr algn="l">
              <a:lnSpc>
                <a:spcPts val="3400"/>
              </a:lnSpc>
              <a:spcBef>
                <a:spcPts val="0"/>
              </a:spcBef>
              <a:buNone/>
            </a:pPr>
            <a:r>
              <a:rPr lang="en-US" sz="2400">
                <a:solidFill>
                  <a:srgbClr val="000000"/>
                </a:solidFill>
                <a:latin typeface="Roboto Mono"/>
                <a:cs typeface="Roboto Mono"/>
              </a:rPr>
              <a:t>       </a:t>
            </a:r>
            <a:r>
              <a:rPr lang="en-US" sz="2400" b="1">
                <a:solidFill>
                  <a:srgbClr val="952FC6"/>
                </a:solidFill>
                <a:latin typeface="Roboto Mono"/>
                <a:cs typeface="Roboto Mono"/>
              </a:rPr>
              <a:t>iter_args</a:t>
            </a:r>
            <a:r>
              <a:rPr lang="en-US" sz="2400">
                <a:solidFill>
                  <a:srgbClr val="0074DF"/>
                </a:solidFill>
                <a:latin typeface="Roboto Mono"/>
                <a:cs typeface="Roboto Mono"/>
              </a:rPr>
              <a:t>(%arg2 = %c0,</a:t>
            </a:r>
          </a:p>
          <a:p>
            <a:pPr algn="l">
              <a:lnSpc>
                <a:spcPts val="3400"/>
              </a:lnSpc>
              <a:spcBef>
                <a:spcPts val="0"/>
              </a:spcBef>
              <a:buNone/>
            </a:pPr>
            <a:r>
              <a:rPr lang="en-US" sz="2400">
                <a:solidFill>
                  <a:srgbClr val="0074DF"/>
                </a:solidFill>
                <a:latin typeface="Roboto Mono"/>
                <a:cs typeface="Roboto Mono"/>
              </a:rPr>
              <a:t>                 %arg3 = %c0,</a:t>
            </a:r>
          </a:p>
          <a:p>
            <a:pPr algn="l">
              <a:lnSpc>
                <a:spcPts val="3400"/>
              </a:lnSpc>
              <a:spcBef>
                <a:spcPts val="0"/>
              </a:spcBef>
              <a:buNone/>
            </a:pPr>
            <a:r>
              <a:rPr lang="en-US" sz="2400">
                <a:solidFill>
                  <a:srgbClr val="0074DF"/>
                </a:solidFill>
                <a:latin typeface="Roboto Mono"/>
                <a:cs typeface="Roboto Mono"/>
              </a:rPr>
              <a:t>                 %arg4 = %c0)</a:t>
            </a:r>
          </a:p>
          <a:p>
            <a:pPr algn="l">
              <a:lnSpc>
                <a:spcPts val="3400"/>
              </a:lnSpc>
              <a:spcBef>
                <a:spcPts val="0"/>
              </a:spcBef>
              <a:buNone/>
            </a:pPr>
            <a:r>
              <a:rPr lang="en-US" sz="2400">
                <a:solidFill>
                  <a:srgbClr val="000000"/>
                </a:solidFill>
                <a:latin typeface="Roboto Mono"/>
                <a:cs typeface="Roboto Mono"/>
              </a:rPr>
              <a:t>       -&gt; </a:t>
            </a:r>
            <a:r>
              <a:rPr lang="en-US" sz="2400">
                <a:solidFill>
                  <a:srgbClr val="757575"/>
                </a:solidFill>
                <a:latin typeface="Roboto Mono"/>
                <a:cs typeface="Roboto Mono"/>
              </a:rPr>
              <a:t>(i32, i32, i32)</a:t>
            </a:r>
            <a:r>
              <a:rPr lang="en-US" sz="2400">
                <a:solidFill>
                  <a:srgbClr val="000000"/>
                </a:solidFill>
                <a:latin typeface="Roboto Mono"/>
                <a:cs typeface="Roboto Mono"/>
              </a:rPr>
              <a:t> {</a:t>
            </a:r>
          </a:p>
          <a:p>
            <a:pPr algn="l">
              <a:lnSpc>
                <a:spcPts val="3400"/>
              </a:lnSpc>
              <a:spcBef>
                <a:spcPts val="0"/>
              </a:spcBef>
              <a:buNone/>
            </a:pPr>
            <a:r>
              <a:rPr lang="en-US" sz="2400">
                <a:solidFill>
                  <a:srgbClr val="000000"/>
                </a:solidFill>
                <a:latin typeface="Roboto Mono"/>
                <a:cs typeface="Roboto Mono"/>
              </a:rPr>
              <a:t> </a:t>
            </a:r>
          </a:p>
          <a:p>
            <a:pPr algn="l">
              <a:lnSpc>
                <a:spcPts val="3400"/>
              </a:lnSpc>
              <a:spcBef>
                <a:spcPts val="0"/>
              </a:spcBef>
              <a:buNone/>
            </a:pPr>
            <a:r>
              <a:rPr lang="en-US" sz="2400">
                <a:solidFill>
                  <a:srgbClr val="000000"/>
                </a:solidFill>
                <a:latin typeface="Roboto Mono"/>
                <a:cs typeface="Roboto Mono"/>
              </a:rPr>
              <a:t>  </a:t>
            </a:r>
            <a:r>
              <a:rPr lang="en-US" sz="2400">
                <a:solidFill>
                  <a:srgbClr val="0074DF"/>
                </a:solidFill>
                <a:latin typeface="Roboto Mono"/>
                <a:cs typeface="Roboto Mono"/>
              </a:rPr>
              <a:t>%1</a:t>
            </a:r>
            <a:r>
              <a:rPr lang="en-US" sz="2400">
                <a:solidFill>
                  <a:srgbClr val="000000"/>
                </a:solidFill>
                <a:latin typeface="Roboto Mono"/>
                <a:cs typeface="Roboto Mono"/>
              </a:rPr>
              <a:t> = </a:t>
            </a:r>
            <a:r>
              <a:rPr lang="en-US" sz="2400" b="1">
                <a:solidFill>
                  <a:srgbClr val="952FC6"/>
                </a:solidFill>
                <a:latin typeface="Roboto Mono"/>
                <a:cs typeface="Roboto Mono"/>
              </a:rPr>
              <a:t>arith.addi</a:t>
            </a:r>
            <a:r>
              <a:rPr lang="en-US" sz="2400">
                <a:solidFill>
                  <a:srgbClr val="0074DF"/>
                </a:solidFill>
                <a:latin typeface="Roboto Mono"/>
                <a:cs typeface="Roboto Mono"/>
              </a:rPr>
              <a:t> %arg4, %c2</a:t>
            </a:r>
          </a:p>
          <a:p>
            <a:pPr algn="l">
              <a:lnSpc>
                <a:spcPts val="3400"/>
              </a:lnSpc>
              <a:spcBef>
                <a:spcPts val="0"/>
              </a:spcBef>
              <a:buNone/>
            </a:pPr>
            <a:r>
              <a:rPr lang="en-US" sz="2400">
                <a:solidFill>
                  <a:srgbClr val="000000"/>
                </a:solidFill>
                <a:latin typeface="Roboto Mono"/>
                <a:cs typeface="Roboto Mono"/>
              </a:rPr>
              <a:t>  </a:t>
            </a:r>
            <a:r>
              <a:rPr lang="en-US" sz="2400">
                <a:solidFill>
                  <a:srgbClr val="0074DF"/>
                </a:solidFill>
                <a:latin typeface="Roboto Mono"/>
                <a:cs typeface="Roboto Mono"/>
              </a:rPr>
              <a:t>%2</a:t>
            </a:r>
            <a:r>
              <a:rPr lang="en-US" sz="2400">
                <a:solidFill>
                  <a:srgbClr val="000000"/>
                </a:solidFill>
                <a:latin typeface="Roboto Mono"/>
                <a:cs typeface="Roboto Mono"/>
              </a:rPr>
              <a:t> = </a:t>
            </a:r>
            <a:r>
              <a:rPr lang="en-US" sz="2400" b="1">
                <a:solidFill>
                  <a:srgbClr val="952FC6"/>
                </a:solidFill>
                <a:latin typeface="Roboto Mono"/>
                <a:cs typeface="Roboto Mono"/>
              </a:rPr>
              <a:t>arith.addi</a:t>
            </a:r>
            <a:r>
              <a:rPr lang="en-US" sz="2400">
                <a:solidFill>
                  <a:srgbClr val="0074DF"/>
                </a:solidFill>
                <a:latin typeface="Roboto Mono"/>
                <a:cs typeface="Roboto Mono"/>
              </a:rPr>
              <a:t> %arg3, %c1</a:t>
            </a:r>
          </a:p>
          <a:p>
            <a:pPr algn="l">
              <a:lnSpc>
                <a:spcPts val="3400"/>
              </a:lnSpc>
              <a:spcBef>
                <a:spcPts val="0"/>
              </a:spcBef>
              <a:buNone/>
            </a:pPr>
            <a:r>
              <a:rPr lang="en-US" sz="2400">
                <a:solidFill>
                  <a:srgbClr val="000000"/>
                </a:solidFill>
                <a:latin typeface="Roboto Mono"/>
                <a:cs typeface="Roboto Mono"/>
              </a:rPr>
              <a:t>  </a:t>
            </a:r>
            <a:r>
              <a:rPr lang="en-US" sz="2400">
                <a:solidFill>
                  <a:srgbClr val="0074DF"/>
                </a:solidFill>
                <a:latin typeface="Roboto Mono"/>
                <a:cs typeface="Roboto Mono"/>
              </a:rPr>
              <a:t>%3</a:t>
            </a:r>
            <a:r>
              <a:rPr lang="en-US" sz="2400">
                <a:solidFill>
                  <a:srgbClr val="000000"/>
                </a:solidFill>
                <a:latin typeface="Roboto Mono"/>
                <a:cs typeface="Roboto Mono"/>
              </a:rPr>
              <a:t> = </a:t>
            </a:r>
            <a:r>
              <a:rPr lang="en-US" sz="2400" b="1">
                <a:solidFill>
                  <a:srgbClr val="952FC6"/>
                </a:solidFill>
                <a:latin typeface="Roboto Mono"/>
                <a:cs typeface="Roboto Mono"/>
              </a:rPr>
              <a:t>arith.addi</a:t>
            </a:r>
            <a:r>
              <a:rPr lang="en-US" sz="2400">
                <a:solidFill>
                  <a:srgbClr val="0074DF"/>
                </a:solidFill>
                <a:latin typeface="Roboto Mono"/>
                <a:cs typeface="Roboto Mono"/>
              </a:rPr>
              <a:t> %arg2, %1</a:t>
            </a:r>
          </a:p>
          <a:p>
            <a:pPr algn="l">
              <a:lnSpc>
                <a:spcPts val="3400"/>
              </a:lnSpc>
              <a:spcBef>
                <a:spcPts val="0"/>
              </a:spcBef>
              <a:buNone/>
            </a:pPr>
            <a:r>
              <a:rPr lang="en-US" sz="2400">
                <a:solidFill>
                  <a:srgbClr val="000000"/>
                </a:solidFill>
                <a:latin typeface="Roboto Mono"/>
                <a:cs typeface="Roboto Mono"/>
              </a:rPr>
              <a:t> </a:t>
            </a:r>
          </a:p>
          <a:p>
            <a:pPr algn="l">
              <a:lnSpc>
                <a:spcPts val="3400"/>
              </a:lnSpc>
              <a:spcBef>
                <a:spcPts val="0"/>
              </a:spcBef>
              <a:buNone/>
            </a:pPr>
            <a:r>
              <a:rPr lang="en-US" sz="2400">
                <a:solidFill>
                  <a:srgbClr val="000000"/>
                </a:solidFill>
                <a:latin typeface="Roboto Mono"/>
                <a:cs typeface="Roboto Mono"/>
              </a:rPr>
              <a:t>  </a:t>
            </a:r>
            <a:r>
              <a:rPr lang="en-US" sz="2400" b="1">
                <a:solidFill>
                  <a:srgbClr val="952FC6"/>
                </a:solidFill>
                <a:latin typeface="Roboto Mono"/>
                <a:cs typeface="Roboto Mono"/>
              </a:rPr>
              <a:t>scf.yield</a:t>
            </a:r>
            <a:r>
              <a:rPr lang="en-US" sz="2400">
                <a:solidFill>
                  <a:srgbClr val="0074DF"/>
                </a:solidFill>
                <a:latin typeface="Roboto Mono"/>
                <a:cs typeface="Roboto Mono"/>
              </a:rPr>
              <a:t> %3, %2, %1</a:t>
            </a:r>
          </a:p>
          <a:p>
            <a:pPr algn="l">
              <a:lnSpc>
                <a:spcPts val="3400"/>
              </a:lnSpc>
              <a:spcBef>
                <a:spcPts val="0"/>
              </a:spcBef>
              <a:buNone/>
            </a:pPr>
            <a:r>
              <a:rPr lang="en-US" sz="2400">
                <a:solidFill>
                  <a:srgbClr val="000000"/>
                </a:solidFill>
                <a:latin typeface="Roboto Mono"/>
                <a:cs typeface="Roboto Mono"/>
              </a:rPr>
              <a:t>}</a:t>
            </a:r>
          </a:p>
        </p:txBody>
      </p:sp>
      <p:sp>
        <p:nvSpPr>
          <p:cNvPr id="7" name="Rule2">
            <a:extLst>
              <a:ext uri="{FF2B5EF4-FFF2-40B4-BE49-F238E27FC236}">
                <a16:creationId xmlns:a16="http://schemas.microsoft.com/office/drawing/2014/main" id="{54B15696-3DC7-C64B-8478-49132596D4E8}"/>
              </a:ext>
            </a:extLst>
          </p:cNvPr>
          <p:cNvSpPr/>
          <p:nvPr/>
        </p:nvSpPr>
        <p:spPr>
          <a:xfrm>
            <a:off x="23622000" y="4953000"/>
            <a:ext cx="11125200" cy="762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097115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C7F5A-31AD-35F8-68F0-38470988311A}"/>
            </a:ext>
          </a:extLst>
        </p:cNvPr>
        <p:cNvGrpSpPr/>
        <p:nvPr/>
      </p:nvGrpSpPr>
      <p:grpSpPr>
        <a:xfrm>
          <a:off x="0" y="0"/>
          <a:ext cx="0" cy="0"/>
          <a:chOff x="0" y="0"/>
          <a:chExt cx="0" cy="0"/>
        </a:xfrm>
      </p:grpSpPr>
      <p:sp>
        <p:nvSpPr>
          <p:cNvPr id="3" name="TitleTx">
            <a:extLst>
              <a:ext uri="{FF2B5EF4-FFF2-40B4-BE49-F238E27FC236}">
                <a16:creationId xmlns:a16="http://schemas.microsoft.com/office/drawing/2014/main" id="{0FEE021B-76D9-C051-CFA4-C70A4965C118}"/>
              </a:ext>
            </a:extLst>
          </p:cNvPr>
          <p:cNvSpPr txBox="1"/>
          <p:nvPr/>
        </p:nvSpPr>
        <p:spPr>
          <a:xfrm>
            <a:off x="1828800" y="914400"/>
            <a:ext cx="32918400" cy="1524000"/>
          </a:xfrm>
          <a:prstGeom prst="rect">
            <a:avLst/>
          </a:prstGeom>
          <a:noFill/>
        </p:spPr>
        <p:txBody>
          <a:bodyPr vertOverflow="overflow" vert="horz" wrap="square" rtlCol="0" anchor="t">
            <a:noAutofit/>
          </a:bodyPr>
          <a:lstStyle/>
          <a:p>
            <a:pPr>
              <a:lnSpc>
                <a:spcPts val="8400"/>
              </a:lnSpc>
              <a:spcBef>
                <a:spcPts val="0"/>
              </a:spcBef>
              <a:buNone/>
            </a:pPr>
            <a:r>
              <a:rPr lang="en-US" sz="8800" err="1">
                <a:latin typeface="NVIDIA Sans Medium"/>
                <a:cs typeface="NVIDIA Sans Medium"/>
              </a:rPr>
              <a:t>DkgDSL</a:t>
            </a:r>
            <a:r>
              <a:rPr lang="en-US" sz="8800">
                <a:latin typeface="NVIDIA Sans Medium"/>
                <a:cs typeface="NVIDIA Sans Medium"/>
              </a:rPr>
              <a:t> v2 in a Glance</a:t>
            </a:r>
          </a:p>
        </p:txBody>
      </p:sp>
      <p:sp>
        <p:nvSpPr>
          <p:cNvPr id="4" name="SubTx">
            <a:extLst>
              <a:ext uri="{FF2B5EF4-FFF2-40B4-BE49-F238E27FC236}">
                <a16:creationId xmlns:a16="http://schemas.microsoft.com/office/drawing/2014/main" id="{3CA2607E-767C-0E51-AA1F-8D06528F6EF7}"/>
              </a:ext>
            </a:extLst>
          </p:cNvPr>
          <p:cNvSpPr txBox="1"/>
          <p:nvPr/>
        </p:nvSpPr>
        <p:spPr>
          <a:xfrm>
            <a:off x="1828800" y="2489200"/>
            <a:ext cx="32918400" cy="1016000"/>
          </a:xfrm>
          <a:prstGeom prst="rect">
            <a:avLst/>
          </a:prstGeom>
          <a:noFill/>
        </p:spPr>
        <p:txBody>
          <a:bodyPr vertOverflow="overflow" vert="horz" wrap="square" rtlCol="0" anchor="t">
            <a:noAutofit/>
          </a:bodyPr>
          <a:lstStyle/>
          <a:p>
            <a:pPr>
              <a:lnSpc>
                <a:spcPts val="3900"/>
              </a:lnSpc>
              <a:spcBef>
                <a:spcPts val="0"/>
              </a:spcBef>
              <a:buNone/>
            </a:pPr>
            <a:r>
              <a:rPr lang="en-US" sz="3400">
                <a:solidFill>
                  <a:srgbClr val="757575"/>
                </a:solidFill>
                <a:latin typeface="NVIDIA Sans"/>
                <a:cs typeface="NVIDIA Sans"/>
              </a:rPr>
              <a:t>Ten ordinary Python features, one kernel body.</a:t>
            </a:r>
          </a:p>
        </p:txBody>
      </p:sp>
      <p:sp>
        <p:nvSpPr>
          <p:cNvPr id="5" name="PanelL">
            <a:extLst>
              <a:ext uri="{FF2B5EF4-FFF2-40B4-BE49-F238E27FC236}">
                <a16:creationId xmlns:a16="http://schemas.microsoft.com/office/drawing/2014/main" id="{47B7584D-56DF-7CF6-172E-D4CCCE58C357}"/>
              </a:ext>
            </a:extLst>
          </p:cNvPr>
          <p:cNvSpPr/>
          <p:nvPr/>
        </p:nvSpPr>
        <p:spPr>
          <a:xfrm>
            <a:off x="1828800" y="3810000"/>
            <a:ext cx="24130000" cy="15367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CodeL">
            <a:extLst>
              <a:ext uri="{FF2B5EF4-FFF2-40B4-BE49-F238E27FC236}">
                <a16:creationId xmlns:a16="http://schemas.microsoft.com/office/drawing/2014/main" id="{1D3B052C-2EE3-31DA-025A-5FB19EFF72C8}"/>
              </a:ext>
            </a:extLst>
          </p:cNvPr>
          <p:cNvSpPr txBox="1"/>
          <p:nvPr/>
        </p:nvSpPr>
        <p:spPr>
          <a:xfrm>
            <a:off x="2286000" y="4089400"/>
            <a:ext cx="23368000" cy="14859000"/>
          </a:xfrm>
          <a:prstGeom prst="rect">
            <a:avLst/>
          </a:prstGeom>
          <a:noFill/>
        </p:spPr>
        <p:txBody>
          <a:bodyPr vertOverflow="overflow" vert="horz" wrap="square" rtlCol="0" anchor="t">
            <a:noAutofit/>
          </a:bodyPr>
          <a:lstStyle/>
          <a:p>
            <a:pPr>
              <a:lnSpc>
                <a:spcPts val="3300"/>
              </a:lnSpc>
              <a:spcBef>
                <a:spcPts val="0"/>
              </a:spcBef>
              <a:buNone/>
            </a:pPr>
            <a:r>
              <a:rPr lang="en-US" sz="2800">
                <a:solidFill>
                  <a:srgbClr val="952FC6"/>
                </a:solidFill>
                <a:latin typeface="Roboto Mono"/>
                <a:ea typeface="Roboto Mono"/>
                <a:cs typeface="Consolas"/>
              </a:rPr>
              <a:t>class</a:t>
            </a:r>
            <a:r>
              <a:rPr lang="en-US" sz="2800">
                <a:solidFill>
                  <a:srgbClr val="000000"/>
                </a:solidFill>
                <a:latin typeface="Roboto Mono"/>
                <a:ea typeface="Roboto Mono"/>
                <a:cs typeface="Consolas"/>
              </a:rPr>
              <a:t> </a:t>
            </a:r>
            <a:r>
              <a:rPr lang="en-US" sz="2800">
                <a:solidFill>
                  <a:srgbClr val="0074DF"/>
                </a:solidFill>
                <a:latin typeface="Roboto Mono"/>
                <a:ea typeface="Roboto Mono"/>
                <a:cs typeface="Consolas"/>
              </a:rPr>
              <a:t>Counter</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plain class, plain-int fields</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def</a:t>
            </a:r>
            <a:r>
              <a:rPr lang="en-US" sz="2800">
                <a:solidFill>
                  <a:srgbClr val="000000"/>
                </a:solidFill>
                <a:latin typeface="Roboto Mono"/>
                <a:ea typeface="Roboto Mono"/>
                <a:cs typeface="Consolas"/>
              </a:rPr>
              <a:t> __init__(</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 step):</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.total = </a:t>
            </a:r>
            <a:r>
              <a:rPr lang="en-US" sz="2800">
                <a:solidFill>
                  <a:srgbClr val="B5651D"/>
                </a:solidFill>
                <a:latin typeface="Roboto Mono"/>
                <a:ea typeface="Roboto Mono"/>
                <a:cs typeface="Consolas"/>
              </a:rPr>
              <a:t>0</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.step = step</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def</a:t>
            </a:r>
            <a:r>
              <a:rPr lang="en-US" sz="2800">
                <a:solidFill>
                  <a:srgbClr val="000000"/>
                </a:solidFill>
                <a:latin typeface="Roboto Mono"/>
                <a:ea typeface="Roboto Mono"/>
                <a:cs typeface="Consolas"/>
              </a:rPr>
              <a:t> tick(</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 x):             </a:t>
            </a:r>
            <a:r>
              <a:rPr lang="en-US" sz="2800">
                <a:solidFill>
                  <a:srgbClr val="4A7C00"/>
                </a:solidFill>
                <a:latin typeface="Roboto Mono"/>
                <a:ea typeface="Roboto Mono"/>
                <a:cs typeface="Consolas"/>
              </a:rPr>
              <a:t># mutating method (self-mutation)</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.total += </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.step * x</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def</a:t>
            </a:r>
            <a:r>
              <a:rPr lang="en-US" sz="2800">
                <a:solidFill>
                  <a:srgbClr val="000000"/>
                </a:solidFill>
                <a:latin typeface="Roboto Mono"/>
                <a:ea typeface="Roboto Mono"/>
                <a:cs typeface="Consolas"/>
              </a:rPr>
              <a:t> arm(</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 bonus):          </a:t>
            </a:r>
            <a:r>
              <a:rPr lang="en-US" sz="2800">
                <a:solidFill>
                  <a:srgbClr val="4A7C00"/>
                </a:solidFill>
                <a:latin typeface="Roboto Mono"/>
                <a:ea typeface="Roboto Mono"/>
                <a:cs typeface="Consolas"/>
              </a:rPr>
              <a:t># attribute born in a method</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.boost = bonus</a:t>
            </a:r>
          </a:p>
          <a:p>
            <a:pPr>
              <a:lnSpc>
                <a:spcPts val="3300"/>
              </a:lnSpc>
              <a:spcBef>
                <a:spcPts val="1400"/>
              </a:spcBef>
              <a:buNone/>
            </a:pPr>
            <a:r>
              <a:rPr lang="en-US" sz="2800">
                <a:solidFill>
                  <a:srgbClr val="952FC6"/>
                </a:solidFill>
                <a:latin typeface="Roboto Mono"/>
                <a:ea typeface="Roboto Mono"/>
                <a:cs typeface="Consolas"/>
              </a:rPr>
              <a:t>class</a:t>
            </a:r>
            <a:r>
              <a:rPr lang="en-US" sz="2800">
                <a:solidFill>
                  <a:srgbClr val="000000"/>
                </a:solidFill>
                <a:latin typeface="Roboto Mono"/>
                <a:ea typeface="Roboto Mono"/>
                <a:cs typeface="Consolas"/>
              </a:rPr>
              <a:t> </a:t>
            </a:r>
            <a:r>
              <a:rPr lang="en-US" sz="2800">
                <a:solidFill>
                  <a:srgbClr val="0074DF"/>
                </a:solidFill>
                <a:latin typeface="Roboto Mono"/>
                <a:ea typeface="Roboto Mono"/>
                <a:cs typeface="Consolas"/>
              </a:rPr>
              <a:t>Weighted</a:t>
            </a:r>
            <a:r>
              <a:rPr lang="en-US" sz="2800">
                <a:solidFill>
                  <a:srgbClr val="000000"/>
                </a:solidFill>
                <a:latin typeface="Roboto Mono"/>
                <a:ea typeface="Roboto Mono"/>
                <a:cs typeface="Consolas"/>
              </a:rPr>
              <a:t>(</a:t>
            </a:r>
            <a:r>
              <a:rPr lang="en-US" sz="2800">
                <a:solidFill>
                  <a:srgbClr val="0074DF"/>
                </a:solidFill>
                <a:latin typeface="Roboto Mono"/>
                <a:ea typeface="Roboto Mono"/>
                <a:cs typeface="Consolas"/>
              </a:rPr>
              <a:t>Counter</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subclass</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def</a:t>
            </a:r>
            <a:r>
              <a:rPr lang="en-US" sz="2800">
                <a:solidFill>
                  <a:srgbClr val="000000"/>
                </a:solidFill>
                <a:latin typeface="Roboto Mono"/>
                <a:ea typeface="Roboto Mono"/>
                <a:cs typeface="Consolas"/>
              </a:rPr>
              <a:t> tick(</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 x):</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super</a:t>
            </a:r>
            <a:r>
              <a:rPr lang="en-US" sz="2800">
                <a:solidFill>
                  <a:srgbClr val="000000"/>
                </a:solidFill>
                <a:latin typeface="Roboto Mono"/>
                <a:ea typeface="Roboto Mono"/>
                <a:cs typeface="Consolas"/>
              </a:rPr>
              <a:t>().tick(x)            </a:t>
            </a:r>
            <a:r>
              <a:rPr lang="en-US" sz="2800">
                <a:solidFill>
                  <a:srgbClr val="4A7C00"/>
                </a:solidFill>
                <a:latin typeface="Roboto Mono"/>
                <a:ea typeface="Roboto Mono"/>
                <a:cs typeface="Consolas"/>
              </a:rPr>
              <a:t># inheritance with super()</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self</a:t>
            </a:r>
            <a:r>
              <a:rPr lang="en-US" sz="2800">
                <a:solidFill>
                  <a:srgbClr val="000000"/>
                </a:solidFill>
                <a:latin typeface="Roboto Mono"/>
                <a:ea typeface="Roboto Mono"/>
                <a:cs typeface="Consolas"/>
              </a:rPr>
              <a:t>.total += </a:t>
            </a:r>
            <a:r>
              <a:rPr lang="en-US" sz="2800">
                <a:solidFill>
                  <a:srgbClr val="B5651D"/>
                </a:solidFill>
                <a:latin typeface="Roboto Mono"/>
                <a:ea typeface="Roboto Mono"/>
                <a:cs typeface="Consolas"/>
              </a:rPr>
              <a:t>1</a:t>
            </a:r>
          </a:p>
          <a:p>
            <a:pPr>
              <a:lnSpc>
                <a:spcPts val="3300"/>
              </a:lnSpc>
              <a:spcBef>
                <a:spcPts val="1400"/>
              </a:spcBef>
              <a:buNone/>
            </a:pPr>
            <a:r>
              <a:rPr lang="en-US" sz="2800">
                <a:solidFill>
                  <a:srgbClr val="000000"/>
                </a:solidFill>
                <a:latin typeface="Roboto Mono"/>
                <a:ea typeface="Roboto Mono"/>
                <a:cs typeface="Consolas"/>
              </a:rPr>
              <a:t>@</a:t>
            </a:r>
            <a:r>
              <a:rPr lang="en-US" sz="2800">
                <a:solidFill>
                  <a:srgbClr val="0074DF"/>
                </a:solidFill>
                <a:latin typeface="Roboto Mono"/>
                <a:ea typeface="Roboto Mono"/>
                <a:cs typeface="Consolas"/>
              </a:rPr>
              <a:t>cute</a:t>
            </a:r>
            <a:r>
              <a:rPr lang="en-US" sz="2800">
                <a:solidFill>
                  <a:srgbClr val="000000"/>
                </a:solidFill>
                <a:latin typeface="Roboto Mono"/>
                <a:ea typeface="Roboto Mono"/>
                <a:cs typeface="Consolas"/>
              </a:rPr>
              <a:t>.jit</a:t>
            </a:r>
          </a:p>
          <a:p>
            <a:pPr>
              <a:lnSpc>
                <a:spcPts val="3300"/>
              </a:lnSpc>
              <a:spcBef>
                <a:spcPts val="0"/>
              </a:spcBef>
              <a:buNone/>
            </a:pPr>
            <a:r>
              <a:rPr lang="en-US" sz="2800">
                <a:solidFill>
                  <a:srgbClr val="952FC6"/>
                </a:solidFill>
                <a:latin typeface="Roboto Mono"/>
                <a:ea typeface="Roboto Mono"/>
                <a:cs typeface="Consolas"/>
              </a:rPr>
              <a:t>def</a:t>
            </a:r>
            <a:r>
              <a:rPr lang="en-US" sz="2800">
                <a:solidFill>
                  <a:srgbClr val="000000"/>
                </a:solidFill>
                <a:latin typeface="Roboto Mono"/>
                <a:ea typeface="Roboto Mono"/>
                <a:cs typeface="Consolas"/>
              </a:rPr>
              <a:t> kernel(n: </a:t>
            </a:r>
            <a:r>
              <a:rPr lang="en-US" sz="2800">
                <a:solidFill>
                  <a:srgbClr val="0074DF"/>
                </a:solidFill>
                <a:latin typeface="Roboto Mono"/>
                <a:ea typeface="Roboto Mono"/>
                <a:cs typeface="Consolas"/>
              </a:rPr>
              <a:t>cutlass</a:t>
            </a:r>
            <a:r>
              <a:rPr lang="en-US" sz="2800">
                <a:solidFill>
                  <a:srgbClr val="000000"/>
                </a:solidFill>
                <a:latin typeface="Roboto Mono"/>
                <a:ea typeface="Roboto Mono"/>
                <a:cs typeface="Consolas"/>
              </a:rPr>
              <a:t>.Int32):</a:t>
            </a:r>
          </a:p>
          <a:p>
            <a:pPr>
              <a:lnSpc>
                <a:spcPts val="3300"/>
              </a:lnSpc>
              <a:spcBef>
                <a:spcPts val="0"/>
              </a:spcBef>
              <a:buNone/>
            </a:pPr>
            <a:r>
              <a:rPr lang="en-US" sz="2800">
                <a:solidFill>
                  <a:srgbClr val="000000"/>
                </a:solidFill>
                <a:latin typeface="Roboto Mono"/>
                <a:ea typeface="Roboto Mono"/>
                <a:cs typeface="Consolas"/>
              </a:rPr>
              <a:t>    a = </a:t>
            </a:r>
            <a:r>
              <a:rPr lang="en-US" sz="2800">
                <a:solidFill>
                  <a:srgbClr val="0074DF"/>
                </a:solidFill>
                <a:latin typeface="Roboto Mono"/>
                <a:ea typeface="Roboto Mono"/>
                <a:cs typeface="Consolas"/>
              </a:rPr>
              <a:t>Counter</a:t>
            </a:r>
            <a:r>
              <a:rPr lang="en-US" sz="2800">
                <a:solidFill>
                  <a:srgbClr val="000000"/>
                </a:solidFill>
                <a:latin typeface="Roboto Mono"/>
                <a:ea typeface="Roboto Mono"/>
                <a:cs typeface="Consolas"/>
              </a:rPr>
              <a:t>(</a:t>
            </a:r>
            <a:r>
              <a:rPr lang="en-US" sz="2800">
                <a:solidFill>
                  <a:srgbClr val="B5651D"/>
                </a:solidFill>
                <a:latin typeface="Roboto Mono"/>
                <a:ea typeface="Roboto Mono"/>
                <a:cs typeface="Consolas"/>
              </a:rPr>
              <a:t>1</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attribute state through the loop</a:t>
            </a:r>
          </a:p>
          <a:p>
            <a:pPr>
              <a:lnSpc>
                <a:spcPts val="3300"/>
              </a:lnSpc>
              <a:spcBef>
                <a:spcPts val="0"/>
              </a:spcBef>
              <a:buNone/>
            </a:pPr>
            <a:r>
              <a:rPr lang="en-US" sz="2800">
                <a:solidFill>
                  <a:srgbClr val="000000"/>
                </a:solidFill>
                <a:latin typeface="Roboto Mono"/>
                <a:ea typeface="Roboto Mono"/>
                <a:cs typeface="Consolas"/>
              </a:rPr>
              <a:t>    a.arm(</a:t>
            </a:r>
            <a:r>
              <a:rPr lang="en-US" sz="2800">
                <a:solidFill>
                  <a:srgbClr val="B5651D"/>
                </a:solidFill>
                <a:latin typeface="Roboto Mono"/>
                <a:ea typeface="Roboto Mono"/>
                <a:cs typeface="Consolas"/>
              </a:rPr>
              <a:t>11</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born on the fly, before the loop</a:t>
            </a:r>
          </a:p>
          <a:p>
            <a:pPr>
              <a:lnSpc>
                <a:spcPts val="3300"/>
              </a:lnSpc>
              <a:spcBef>
                <a:spcPts val="0"/>
              </a:spcBef>
              <a:buNone/>
            </a:pPr>
            <a:r>
              <a:rPr lang="en-US" sz="2800">
                <a:solidFill>
                  <a:srgbClr val="000000"/>
                </a:solidFill>
                <a:latin typeface="Roboto Mono"/>
                <a:ea typeface="Roboto Mono"/>
                <a:cs typeface="Consolas"/>
              </a:rPr>
              <a:t>    w = </a:t>
            </a:r>
            <a:r>
              <a:rPr lang="en-US" sz="2800">
                <a:solidFill>
                  <a:srgbClr val="0074DF"/>
                </a:solidFill>
                <a:latin typeface="Roboto Mono"/>
                <a:ea typeface="Roboto Mono"/>
                <a:cs typeface="Consolas"/>
              </a:rPr>
              <a:t>Weighted</a:t>
            </a:r>
            <a:r>
              <a:rPr lang="en-US" sz="2800">
                <a:solidFill>
                  <a:srgbClr val="000000"/>
                </a:solidFill>
                <a:latin typeface="Roboto Mono"/>
                <a:ea typeface="Roboto Mono"/>
                <a:cs typeface="Consolas"/>
              </a:rPr>
              <a:t>(</a:t>
            </a:r>
            <a:r>
              <a:rPr lang="en-US" sz="2800">
                <a:solidFill>
                  <a:srgbClr val="B5651D"/>
                </a:solidFill>
                <a:latin typeface="Roboto Mono"/>
                <a:ea typeface="Roboto Mono"/>
                <a:cs typeface="Consolas"/>
              </a:rPr>
              <a:t>2</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subclass instance</a:t>
            </a:r>
          </a:p>
          <a:p>
            <a:pPr>
              <a:lnSpc>
                <a:spcPts val="3300"/>
              </a:lnSpc>
              <a:spcBef>
                <a:spcPts val="0"/>
              </a:spcBef>
              <a:buNone/>
            </a:pPr>
            <a:r>
              <a:rPr lang="en-US" sz="2800">
                <a:solidFill>
                  <a:srgbClr val="000000"/>
                </a:solidFill>
                <a:latin typeface="Roboto Mono"/>
                <a:ea typeface="Roboto Mono"/>
                <a:cs typeface="Consolas"/>
              </a:rPr>
              <a:t>    objs = [</a:t>
            </a:r>
            <a:r>
              <a:rPr lang="en-US" sz="2800">
                <a:solidFill>
                  <a:srgbClr val="0074DF"/>
                </a:solidFill>
                <a:latin typeface="Roboto Mono"/>
                <a:ea typeface="Roboto Mono"/>
                <a:cs typeface="Consolas"/>
              </a:rPr>
              <a:t>Counter</a:t>
            </a:r>
            <a:r>
              <a:rPr lang="en-US" sz="2800">
                <a:solidFill>
                  <a:srgbClr val="000000"/>
                </a:solidFill>
                <a:latin typeface="Roboto Mono"/>
                <a:ea typeface="Roboto Mono"/>
                <a:cs typeface="Consolas"/>
              </a:rPr>
              <a:t>(</a:t>
            </a:r>
            <a:r>
              <a:rPr lang="en-US" sz="2800">
                <a:solidFill>
                  <a:srgbClr val="B5651D"/>
                </a:solidFill>
                <a:latin typeface="Roboto Mono"/>
                <a:ea typeface="Roboto Mono"/>
                <a:cs typeface="Consolas"/>
              </a:rPr>
              <a:t>3</a:t>
            </a:r>
            <a:r>
              <a:rPr lang="en-US" sz="2800">
                <a:solidFill>
                  <a:srgbClr val="000000"/>
                </a:solidFill>
                <a:latin typeface="Roboto Mono"/>
                <a:ea typeface="Roboto Mono"/>
                <a:cs typeface="Consolas"/>
              </a:rPr>
              <a:t>), </a:t>
            </a:r>
            <a:r>
              <a:rPr lang="en-US" sz="2800">
                <a:solidFill>
                  <a:srgbClr val="0074DF"/>
                </a:solidFill>
                <a:latin typeface="Roboto Mono"/>
                <a:ea typeface="Roboto Mono"/>
                <a:cs typeface="Consolas"/>
              </a:rPr>
              <a:t>Counter</a:t>
            </a:r>
            <a:r>
              <a:rPr lang="en-US" sz="2800">
                <a:solidFill>
                  <a:srgbClr val="000000"/>
                </a:solidFill>
                <a:latin typeface="Roboto Mono"/>
                <a:ea typeface="Roboto Mono"/>
                <a:cs typeface="Consolas"/>
              </a:rPr>
              <a:t>(</a:t>
            </a:r>
            <a:r>
              <a:rPr lang="en-US" sz="2800">
                <a:solidFill>
                  <a:srgbClr val="B5651D"/>
                </a:solidFill>
                <a:latin typeface="Roboto Mono"/>
                <a:ea typeface="Roboto Mono"/>
                <a:cs typeface="Consolas"/>
              </a:rPr>
              <a:t>5</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trace-time list of objects</a:t>
            </a:r>
          </a:p>
          <a:p>
            <a:pPr>
              <a:lnSpc>
                <a:spcPts val="3300"/>
              </a:lnSpc>
              <a:spcBef>
                <a:spcPts val="0"/>
              </a:spcBef>
              <a:buNone/>
            </a:pPr>
            <a:r>
              <a:rPr lang="en-US" sz="2800">
                <a:solidFill>
                  <a:srgbClr val="000000"/>
                </a:solidFill>
                <a:latin typeface="Roboto Mono"/>
                <a:ea typeface="Roboto Mono"/>
                <a:cs typeface="Consolas"/>
              </a:rPr>
              <a:t>    stats = {</a:t>
            </a:r>
            <a:r>
              <a:rPr lang="en-US" sz="2800">
                <a:solidFill>
                  <a:srgbClr val="1D6F62"/>
                </a:solidFill>
                <a:latin typeface="Roboto Mono"/>
                <a:ea typeface="Roboto Mono"/>
                <a:cs typeface="Consolas"/>
              </a:rPr>
              <a:t>"acc"</a:t>
            </a:r>
            <a:r>
              <a:rPr lang="en-US" sz="2800">
                <a:solidFill>
                  <a:srgbClr val="000000"/>
                </a:solidFill>
                <a:latin typeface="Roboto Mono"/>
                <a:ea typeface="Roboto Mono"/>
                <a:cs typeface="Consolas"/>
              </a:rPr>
              <a:t>: </a:t>
            </a:r>
            <a:r>
              <a:rPr lang="en-US" sz="2800">
                <a:solidFill>
                  <a:srgbClr val="B5651D"/>
                </a:solidFill>
                <a:latin typeface="Roboto Mono"/>
                <a:ea typeface="Roboto Mono"/>
                <a:cs typeface="Consolas"/>
              </a:rPr>
              <a:t>0</a:t>
            </a:r>
            <a:r>
              <a:rPr lang="en-US" sz="2800">
                <a:solidFill>
                  <a:srgbClr val="000000"/>
                </a:solidFill>
                <a:latin typeface="Roboto Mono"/>
                <a:ea typeface="Roboto Mono"/>
                <a:cs typeface="Consolas"/>
              </a:rPr>
              <a:t>, </a:t>
            </a:r>
            <a:r>
              <a:rPr lang="en-US" sz="2800">
                <a:solidFill>
                  <a:srgbClr val="1D6F62"/>
                </a:solidFill>
                <a:latin typeface="Roboto Mono"/>
                <a:ea typeface="Roboto Mono"/>
                <a:cs typeface="Consolas"/>
              </a:rPr>
              <a:t>"hits"</a:t>
            </a:r>
            <a:r>
              <a:rPr lang="en-US" sz="2800">
                <a:solidFill>
                  <a:srgbClr val="000000"/>
                </a:solidFill>
                <a:latin typeface="Roboto Mono"/>
                <a:ea typeface="Roboto Mono"/>
                <a:cs typeface="Consolas"/>
              </a:rPr>
              <a:t>: </a:t>
            </a:r>
            <a:r>
              <a:rPr lang="en-US" sz="2800">
                <a:solidFill>
                  <a:srgbClr val="B5651D"/>
                </a:solidFill>
                <a:latin typeface="Roboto Mono"/>
                <a:ea typeface="Roboto Mono"/>
                <a:cs typeface="Consolas"/>
              </a:rPr>
              <a:t>0</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keys exist before the loop</a:t>
            </a:r>
          </a:p>
          <a:p>
            <a:pPr>
              <a:lnSpc>
                <a:spcPts val="3300"/>
              </a:lnSpc>
              <a:spcBef>
                <a:spcPts val="0"/>
              </a:spcBef>
              <a:buNone/>
            </a:pPr>
            <a:r>
              <a:rPr lang="en-US" sz="2800">
                <a:solidFill>
                  <a:srgbClr val="000000"/>
                </a:solidFill>
                <a:latin typeface="Roboto Mono"/>
                <a:ea typeface="Roboto Mono"/>
                <a:cs typeface="Consolas"/>
              </a:rPr>
              <a:t>    calls = </a:t>
            </a:r>
            <a:r>
              <a:rPr lang="en-US" sz="2800">
                <a:solidFill>
                  <a:srgbClr val="B5651D"/>
                </a:solidFill>
                <a:latin typeface="Roboto Mono"/>
                <a:ea typeface="Roboto Mono"/>
                <a:cs typeface="Consolas"/>
              </a:rPr>
              <a:t>0</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def</a:t>
            </a:r>
            <a:r>
              <a:rPr lang="en-US" sz="2800">
                <a:solidFill>
                  <a:srgbClr val="000000"/>
                </a:solidFill>
                <a:latin typeface="Roboto Mono"/>
                <a:ea typeface="Roboto Mono"/>
                <a:cs typeface="Consolas"/>
              </a:rPr>
              <a:t> note():                    </a:t>
            </a:r>
            <a:r>
              <a:rPr lang="en-US" sz="2800">
                <a:solidFill>
                  <a:srgbClr val="4A7C00"/>
                </a:solidFill>
                <a:latin typeface="Roboto Mono"/>
                <a:ea typeface="Roboto Mono"/>
                <a:cs typeface="Consolas"/>
              </a:rPr>
              <a:t># closure with nonlocal</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nonlocal</a:t>
            </a:r>
            <a:r>
              <a:rPr lang="en-US" sz="2800">
                <a:solidFill>
                  <a:srgbClr val="000000"/>
                </a:solidFill>
                <a:latin typeface="Roboto Mono"/>
                <a:ea typeface="Roboto Mono"/>
                <a:cs typeface="Consolas"/>
              </a:rPr>
              <a:t> calls</a:t>
            </a:r>
          </a:p>
          <a:p>
            <a:pPr>
              <a:lnSpc>
                <a:spcPts val="3300"/>
              </a:lnSpc>
              <a:spcBef>
                <a:spcPts val="0"/>
              </a:spcBef>
              <a:buNone/>
            </a:pPr>
            <a:r>
              <a:rPr lang="en-US" sz="2800">
                <a:solidFill>
                  <a:srgbClr val="000000"/>
                </a:solidFill>
                <a:latin typeface="Roboto Mono"/>
                <a:ea typeface="Roboto Mono"/>
                <a:cs typeface="Consolas"/>
              </a:rPr>
              <a:t>        calls += </a:t>
            </a:r>
            <a:r>
              <a:rPr lang="en-US" sz="2800">
                <a:solidFill>
                  <a:srgbClr val="B5651D"/>
                </a:solidFill>
                <a:latin typeface="Roboto Mono"/>
                <a:ea typeface="Roboto Mono"/>
                <a:cs typeface="Consolas"/>
              </a:rPr>
              <a:t>1</a:t>
            </a:r>
          </a:p>
          <a:p>
            <a:pPr>
              <a:lnSpc>
                <a:spcPts val="3300"/>
              </a:lnSpc>
              <a:spcBef>
                <a:spcPts val="0"/>
              </a:spcBef>
              <a:buNone/>
            </a:pPr>
            <a:r>
              <a:rPr lang="en-US" sz="2800">
                <a:solidFill>
                  <a:srgbClr val="000000"/>
                </a:solidFill>
                <a:latin typeface="Roboto Mono"/>
                <a:ea typeface="Roboto Mono"/>
                <a:cs typeface="Consolas"/>
              </a:rPr>
              <a:t>    peek = </a:t>
            </a:r>
            <a:r>
              <a:rPr lang="en-US" sz="2800">
                <a:solidFill>
                  <a:srgbClr val="952FC6"/>
                </a:solidFill>
                <a:latin typeface="Roboto Mono"/>
                <a:ea typeface="Roboto Mono"/>
                <a:cs typeface="Consolas"/>
              </a:rPr>
              <a:t>lambda</a:t>
            </a:r>
            <a:r>
              <a:rPr lang="en-US" sz="2800">
                <a:solidFill>
                  <a:srgbClr val="000000"/>
                </a:solidFill>
                <a:latin typeface="Roboto Mono"/>
                <a:ea typeface="Roboto Mono"/>
                <a:cs typeface="Consolas"/>
              </a:rPr>
              <a:t>: a.total + calls </a:t>
            </a:r>
            <a:r>
              <a:rPr lang="en-US" sz="2800">
                <a:solidFill>
                  <a:srgbClr val="4A7C00"/>
                </a:solidFill>
                <a:latin typeface="Roboto Mono"/>
                <a:ea typeface="Roboto Mono"/>
                <a:cs typeface="Consolas"/>
              </a:rPr>
              <a:t># lambda, read after the loop</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for</a:t>
            </a:r>
            <a:r>
              <a:rPr lang="en-US" sz="2800">
                <a:solidFill>
                  <a:srgbClr val="000000"/>
                </a:solidFill>
                <a:latin typeface="Roboto Mono"/>
                <a:ea typeface="Roboto Mono"/>
                <a:cs typeface="Consolas"/>
              </a:rPr>
              <a:t> i </a:t>
            </a:r>
            <a:r>
              <a:rPr lang="en-US" sz="2800">
                <a:solidFill>
                  <a:srgbClr val="952FC6"/>
                </a:solidFill>
                <a:latin typeface="Roboto Mono"/>
                <a:ea typeface="Roboto Mono"/>
                <a:cs typeface="Consolas"/>
              </a:rPr>
              <a:t>in</a:t>
            </a:r>
            <a:r>
              <a:rPr lang="en-US" sz="2800">
                <a:solidFill>
                  <a:srgbClr val="000000"/>
                </a:solidFill>
                <a:latin typeface="Roboto Mono"/>
                <a:ea typeface="Roboto Mono"/>
                <a:cs typeface="Consolas"/>
              </a:rPr>
              <a:t> range(n):             </a:t>
            </a:r>
            <a:r>
              <a:rPr lang="en-US" sz="2800">
                <a:solidFill>
                  <a:srgbClr val="4A7C00"/>
                </a:solidFill>
                <a:latin typeface="Roboto Mono"/>
                <a:ea typeface="Roboto Mono"/>
                <a:cs typeface="Consolas"/>
              </a:rPr>
              <a:t># trip count is the runtime arg</a:t>
            </a:r>
          </a:p>
          <a:p>
            <a:pPr>
              <a:lnSpc>
                <a:spcPts val="3300"/>
              </a:lnSpc>
              <a:spcBef>
                <a:spcPts val="0"/>
              </a:spcBef>
              <a:buNone/>
            </a:pPr>
            <a:r>
              <a:rPr lang="en-US" sz="2800">
                <a:solidFill>
                  <a:srgbClr val="000000"/>
                </a:solidFill>
                <a:latin typeface="Roboto Mono"/>
                <a:ea typeface="Roboto Mono"/>
                <a:cs typeface="Consolas"/>
              </a:rPr>
              <a:t>        a.tick(i)                  </a:t>
            </a:r>
            <a:r>
              <a:rPr lang="en-US" sz="2800">
                <a:solidFill>
                  <a:srgbClr val="4A7C00"/>
                </a:solidFill>
                <a:latin typeface="Roboto Mono"/>
                <a:ea typeface="Roboto Mono"/>
                <a:cs typeface="Consolas"/>
              </a:rPr>
              <a:t># mutating method</a:t>
            </a:r>
          </a:p>
          <a:p>
            <a:pPr>
              <a:lnSpc>
                <a:spcPts val="3300"/>
              </a:lnSpc>
              <a:spcBef>
                <a:spcPts val="0"/>
              </a:spcBef>
              <a:buNone/>
            </a:pPr>
            <a:r>
              <a:rPr lang="en-US" sz="2800">
                <a:solidFill>
                  <a:srgbClr val="000000"/>
                </a:solidFill>
                <a:latin typeface="Roboto Mono"/>
                <a:ea typeface="Roboto Mono"/>
                <a:cs typeface="Consolas"/>
              </a:rPr>
              <a:t>        a.boost += i               </a:t>
            </a:r>
            <a:r>
              <a:rPr lang="en-US" sz="2800">
                <a:solidFill>
                  <a:srgbClr val="4A7C00"/>
                </a:solidFill>
                <a:latin typeface="Roboto Mono"/>
                <a:ea typeface="Roboto Mono"/>
                <a:cs typeface="Consolas"/>
              </a:rPr>
              <a:t># the on-the-fly field, per trip</a:t>
            </a:r>
          </a:p>
          <a:p>
            <a:pPr>
              <a:lnSpc>
                <a:spcPts val="3300"/>
              </a:lnSpc>
              <a:spcBef>
                <a:spcPts val="0"/>
              </a:spcBef>
              <a:buNone/>
            </a:pPr>
            <a:r>
              <a:rPr lang="en-US" sz="2800">
                <a:solidFill>
                  <a:srgbClr val="000000"/>
                </a:solidFill>
                <a:latin typeface="Roboto Mono"/>
                <a:ea typeface="Roboto Mono"/>
                <a:cs typeface="Consolas"/>
              </a:rPr>
              <a:t>        w.tick(i)                  </a:t>
            </a:r>
            <a:r>
              <a:rPr lang="en-US" sz="2800">
                <a:solidFill>
                  <a:srgbClr val="4A7C00"/>
                </a:solidFill>
                <a:latin typeface="Roboto Mono"/>
                <a:ea typeface="Roboto Mono"/>
                <a:cs typeface="Consolas"/>
              </a:rPr>
              <a:t># subclass method into super()</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for</a:t>
            </a:r>
            <a:r>
              <a:rPr lang="en-US" sz="2800">
                <a:solidFill>
                  <a:srgbClr val="000000"/>
                </a:solidFill>
                <a:latin typeface="Roboto Mono"/>
                <a:ea typeface="Roboto Mono"/>
                <a:cs typeface="Consolas"/>
              </a:rPr>
              <a:t> o </a:t>
            </a:r>
            <a:r>
              <a:rPr lang="en-US" sz="2800">
                <a:solidFill>
                  <a:srgbClr val="952FC6"/>
                </a:solidFill>
                <a:latin typeface="Roboto Mono"/>
                <a:ea typeface="Roboto Mono"/>
                <a:cs typeface="Consolas"/>
              </a:rPr>
              <a:t>in</a:t>
            </a:r>
            <a:r>
              <a:rPr lang="en-US" sz="2800">
                <a:solidFill>
                  <a:srgbClr val="000000"/>
                </a:solidFill>
                <a:latin typeface="Roboto Mono"/>
                <a:ea typeface="Roboto Mono"/>
                <a:cs typeface="Consolas"/>
              </a:rPr>
              <a:t> objs:             </a:t>
            </a:r>
            <a:r>
              <a:rPr lang="en-US" sz="2800">
                <a:solidFill>
                  <a:srgbClr val="4A7C00"/>
                </a:solidFill>
                <a:latin typeface="Roboto Mono"/>
                <a:ea typeface="Roboto Mono"/>
                <a:cs typeface="Consolas"/>
              </a:rPr>
              <a:t># trace-time iteration</a:t>
            </a:r>
          </a:p>
          <a:p>
            <a:pPr>
              <a:lnSpc>
                <a:spcPts val="3300"/>
              </a:lnSpc>
              <a:spcBef>
                <a:spcPts val="0"/>
              </a:spcBef>
              <a:buNone/>
            </a:pPr>
            <a:r>
              <a:rPr lang="en-US" sz="2800">
                <a:solidFill>
                  <a:srgbClr val="000000"/>
                </a:solidFill>
                <a:latin typeface="Roboto Mono"/>
                <a:ea typeface="Roboto Mono"/>
                <a:cs typeface="Consolas"/>
              </a:rPr>
              <a:t>            o.total += o.step * i  </a:t>
            </a:r>
            <a:r>
              <a:rPr lang="en-US" sz="2800">
                <a:solidFill>
                  <a:srgbClr val="4A7C00"/>
                </a:solidFill>
                <a:latin typeface="Roboto Mono"/>
                <a:ea typeface="Roboto Mono"/>
                <a:cs typeface="Consolas"/>
              </a:rPr>
              <a:t># per-iteration attr mutation</a:t>
            </a:r>
          </a:p>
          <a:p>
            <a:pPr>
              <a:lnSpc>
                <a:spcPts val="3300"/>
              </a:lnSpc>
              <a:spcBef>
                <a:spcPts val="0"/>
              </a:spcBef>
              <a:buNone/>
            </a:pPr>
            <a:r>
              <a:rPr lang="en-US" sz="2800">
                <a:solidFill>
                  <a:srgbClr val="000000"/>
                </a:solidFill>
                <a:latin typeface="Roboto Mono"/>
                <a:ea typeface="Roboto Mono"/>
                <a:cs typeface="Consolas"/>
              </a:rPr>
              <a:t>        stats[</a:t>
            </a:r>
            <a:r>
              <a:rPr lang="en-US" sz="2800">
                <a:solidFill>
                  <a:srgbClr val="1D6F62"/>
                </a:solidFill>
                <a:latin typeface="Roboto Mono"/>
                <a:ea typeface="Roboto Mono"/>
                <a:cs typeface="Consolas"/>
              </a:rPr>
              <a:t>"acc"</a:t>
            </a:r>
            <a:r>
              <a:rPr lang="en-US" sz="2800">
                <a:solidFill>
                  <a:srgbClr val="000000"/>
                </a:solidFill>
                <a:latin typeface="Roboto Mono"/>
                <a:ea typeface="Roboto Mono"/>
                <a:cs typeface="Consolas"/>
              </a:rPr>
              <a:t>] += i * i      </a:t>
            </a:r>
            <a:r>
              <a:rPr lang="en-US" sz="2800">
                <a:solidFill>
                  <a:srgbClr val="4A7C00"/>
                </a:solidFill>
                <a:latin typeface="Roboto Mono"/>
                <a:ea typeface="Roboto Mono"/>
                <a:cs typeface="Consolas"/>
              </a:rPr>
              <a:t># dict value mutation</a:t>
            </a:r>
          </a:p>
          <a:p>
            <a:pPr>
              <a:lnSpc>
                <a:spcPts val="3300"/>
              </a:lnSpc>
              <a:spcBef>
                <a:spcPts val="0"/>
              </a:spcBef>
              <a:buNone/>
            </a:pP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if</a:t>
            </a:r>
            <a:r>
              <a:rPr lang="en-US" sz="2800">
                <a:solidFill>
                  <a:srgbClr val="000000"/>
                </a:solidFill>
                <a:latin typeface="Roboto Mono"/>
                <a:ea typeface="Roboto Mono"/>
                <a:cs typeface="Consolas"/>
              </a:rPr>
              <a:t> i % </a:t>
            </a:r>
            <a:r>
              <a:rPr lang="en-US" sz="2800">
                <a:solidFill>
                  <a:srgbClr val="B5651D"/>
                </a:solidFill>
                <a:latin typeface="Roboto Mono"/>
                <a:ea typeface="Roboto Mono"/>
                <a:cs typeface="Consolas"/>
              </a:rPr>
              <a:t>2</a:t>
            </a:r>
            <a:r>
              <a:rPr lang="en-US" sz="2800">
                <a:solidFill>
                  <a:srgbClr val="000000"/>
                </a:solidFill>
                <a:latin typeface="Roboto Mono"/>
                <a:ea typeface="Roboto Mono"/>
                <a:cs typeface="Consolas"/>
              </a:rPr>
              <a:t> == </a:t>
            </a:r>
            <a:r>
              <a:rPr lang="en-US" sz="2800">
                <a:solidFill>
                  <a:srgbClr val="B5651D"/>
                </a:solidFill>
                <a:latin typeface="Roboto Mono"/>
                <a:ea typeface="Roboto Mono"/>
                <a:cs typeface="Consolas"/>
              </a:rPr>
              <a:t>1</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runtime if inside the loop</a:t>
            </a:r>
          </a:p>
          <a:p>
            <a:pPr>
              <a:lnSpc>
                <a:spcPts val="3300"/>
              </a:lnSpc>
              <a:spcBef>
                <a:spcPts val="0"/>
              </a:spcBef>
              <a:buNone/>
            </a:pPr>
            <a:r>
              <a:rPr lang="en-US" sz="2800">
                <a:solidFill>
                  <a:srgbClr val="000000"/>
                </a:solidFill>
                <a:latin typeface="Roboto Mono"/>
                <a:ea typeface="Roboto Mono"/>
                <a:cs typeface="Consolas"/>
              </a:rPr>
              <a:t>            stats[</a:t>
            </a:r>
            <a:r>
              <a:rPr lang="en-US" sz="2800">
                <a:solidFill>
                  <a:srgbClr val="1D6F62"/>
                </a:solidFill>
                <a:latin typeface="Roboto Mono"/>
                <a:ea typeface="Roboto Mono"/>
                <a:cs typeface="Consolas"/>
              </a:rPr>
              <a:t>"hits"</a:t>
            </a:r>
            <a:r>
              <a:rPr lang="en-US" sz="2800">
                <a:solidFill>
                  <a:srgbClr val="000000"/>
                </a:solidFill>
                <a:latin typeface="Roboto Mono"/>
                <a:ea typeface="Roboto Mono"/>
                <a:cs typeface="Consolas"/>
              </a:rPr>
              <a:t>] += </a:t>
            </a:r>
            <a:r>
              <a:rPr lang="en-US" sz="2800">
                <a:solidFill>
                  <a:srgbClr val="B5651D"/>
                </a:solidFill>
                <a:latin typeface="Roboto Mono"/>
                <a:ea typeface="Roboto Mono"/>
                <a:cs typeface="Consolas"/>
              </a:rPr>
              <a:t>1</a:t>
            </a:r>
            <a:r>
              <a:rPr lang="en-US" sz="2800">
                <a:solidFill>
                  <a:srgbClr val="000000"/>
                </a:solidFill>
                <a:latin typeface="Roboto Mono"/>
                <a:ea typeface="Roboto Mono"/>
                <a:cs typeface="Consolas"/>
              </a:rPr>
              <a:t>     </a:t>
            </a:r>
            <a:r>
              <a:rPr lang="en-US" sz="2800">
                <a:solidFill>
                  <a:srgbClr val="4A7C00"/>
                </a:solidFill>
                <a:latin typeface="Roboto Mono"/>
                <a:ea typeface="Roboto Mono"/>
                <a:cs typeface="Consolas"/>
              </a:rPr>
              <a:t># conditional dict update</a:t>
            </a:r>
          </a:p>
          <a:p>
            <a:pPr>
              <a:lnSpc>
                <a:spcPts val="3300"/>
              </a:lnSpc>
              <a:spcBef>
                <a:spcPts val="0"/>
              </a:spcBef>
              <a:buNone/>
            </a:pPr>
            <a:r>
              <a:rPr lang="en-US" sz="2800">
                <a:solidFill>
                  <a:srgbClr val="000000"/>
                </a:solidFill>
                <a:latin typeface="Roboto Mono"/>
                <a:ea typeface="Roboto Mono"/>
                <a:cs typeface="Consolas"/>
              </a:rPr>
              <a:t>        note()                     </a:t>
            </a:r>
            <a:r>
              <a:rPr lang="en-US" sz="2800">
                <a:solidFill>
                  <a:srgbClr val="4A7C00"/>
                </a:solidFill>
                <a:latin typeface="Roboto Mono"/>
                <a:ea typeface="Roboto Mono"/>
                <a:cs typeface="Consolas"/>
              </a:rPr>
              <a:t># closure called in the loop</a:t>
            </a:r>
          </a:p>
        </p:txBody>
      </p:sp>
      <p:sp>
        <p:nvSpPr>
          <p:cNvPr id="7" name="Fbg">
            <a:extLst>
              <a:ext uri="{FF2B5EF4-FFF2-40B4-BE49-F238E27FC236}">
                <a16:creationId xmlns:a16="http://schemas.microsoft.com/office/drawing/2014/main" id="{9C3AFB4F-0E1C-94E0-24BB-7A542FF938F3}"/>
              </a:ext>
            </a:extLst>
          </p:cNvPr>
          <p:cNvSpPr/>
          <p:nvPr/>
        </p:nvSpPr>
        <p:spPr>
          <a:xfrm>
            <a:off x="26670000" y="3810000"/>
            <a:ext cx="8077200" cy="8128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Fh">
            <a:extLst>
              <a:ext uri="{FF2B5EF4-FFF2-40B4-BE49-F238E27FC236}">
                <a16:creationId xmlns:a16="http://schemas.microsoft.com/office/drawing/2014/main" id="{62104585-1CB4-DC7D-F8A4-0930235EC524}"/>
              </a:ext>
            </a:extLst>
          </p:cNvPr>
          <p:cNvSpPr txBox="1"/>
          <p:nvPr/>
        </p:nvSpPr>
        <p:spPr>
          <a:xfrm>
            <a:off x="27127200" y="4089400"/>
            <a:ext cx="7162800" cy="635000"/>
          </a:xfrm>
          <a:prstGeom prst="rect">
            <a:avLst/>
          </a:prstGeom>
          <a:noFill/>
        </p:spPr>
        <p:txBody>
          <a:bodyPr vertOverflow="overflow" vert="horz" wrap="square" rtlCol="0" anchor="t">
            <a:noAutofit/>
          </a:bodyPr>
          <a:lstStyle/>
          <a:p>
            <a:pPr algn="l"/>
            <a:r>
              <a:rPr lang="en-US" sz="2800" b="1">
                <a:solidFill>
                  <a:srgbClr val="757575"/>
                </a:solidFill>
                <a:latin typeface="NVIDIA Sans"/>
                <a:cs typeface="NVIDIA Sans"/>
              </a:rPr>
              <a:t>TEN FEATURES, ONE BODY</a:t>
            </a:r>
          </a:p>
        </p:txBody>
      </p:sp>
      <p:sp>
        <p:nvSpPr>
          <p:cNvPr id="9" name="Fb">
            <a:extLst>
              <a:ext uri="{FF2B5EF4-FFF2-40B4-BE49-F238E27FC236}">
                <a16:creationId xmlns:a16="http://schemas.microsoft.com/office/drawing/2014/main" id="{CE2F2931-6D7E-C0F1-E7DD-B316A3016D5F}"/>
              </a:ext>
            </a:extLst>
          </p:cNvPr>
          <p:cNvSpPr txBox="1"/>
          <p:nvPr/>
        </p:nvSpPr>
        <p:spPr>
          <a:xfrm>
            <a:off x="27127200" y="4851400"/>
            <a:ext cx="7162800" cy="6985000"/>
          </a:xfrm>
          <a:prstGeom prst="rect">
            <a:avLst/>
          </a:prstGeom>
          <a:noFill/>
        </p:spPr>
        <p:txBody>
          <a:bodyPr vertOverflow="overflow" vert="horz" wrap="square" rtlCol="0" anchor="t">
            <a:noAutofit/>
          </a:bodyPr>
          <a:lstStyle/>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Attribute state carried through the loop</a:t>
            </a:r>
          </a:p>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Mutating methods, self-mutation included</a:t>
            </a:r>
          </a:p>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Inheritance, with super()</a:t>
            </a:r>
          </a:p>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A field born outside __</a:t>
            </a:r>
            <a:r>
              <a:rPr lang="en-US" sz="2600" err="1">
                <a:solidFill>
                  <a:srgbClr val="313131"/>
                </a:solidFill>
                <a:latin typeface="NVIDIA Sans"/>
                <a:cs typeface="NVIDIA Sans"/>
              </a:rPr>
              <a:t>init</a:t>
            </a:r>
            <a:r>
              <a:rPr lang="en-US" sz="2600">
                <a:solidFill>
                  <a:srgbClr val="313131"/>
                </a:solidFill>
                <a:latin typeface="NVIDIA Sans"/>
                <a:cs typeface="NVIDIA Sans"/>
              </a:rPr>
              <a:t>__</a:t>
            </a:r>
          </a:p>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A trace-time list of objects</a:t>
            </a:r>
          </a:p>
          <a:p>
            <a:pPr marL="700000" indent="-700000">
              <a:lnSpc>
                <a:spcPts val="4100"/>
              </a:lnSpc>
              <a:spcBef>
                <a:spcPts val="1000"/>
              </a:spcBef>
              <a:buClr>
                <a:srgbClr val="4A7C00"/>
              </a:buClr>
              <a:buFont typeface="Arial"/>
              <a:buAutoNum type="arabicPeriod"/>
            </a:pPr>
            <a:r>
              <a:rPr lang="en-US" sz="2600" err="1">
                <a:solidFill>
                  <a:srgbClr val="313131"/>
                </a:solidFill>
                <a:latin typeface="NVIDIA Sans"/>
                <a:cs typeface="NVIDIA Sans"/>
              </a:rPr>
              <a:t>Dict</a:t>
            </a:r>
            <a:r>
              <a:rPr lang="en-US" sz="2600">
                <a:solidFill>
                  <a:srgbClr val="313131"/>
                </a:solidFill>
                <a:latin typeface="NVIDIA Sans"/>
                <a:cs typeface="NVIDIA Sans"/>
              </a:rPr>
              <a:t> value updates</a:t>
            </a:r>
          </a:p>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A runtime if in the loop</a:t>
            </a:r>
          </a:p>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A closure with nonlocal</a:t>
            </a:r>
          </a:p>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A lambda read after the loop</a:t>
            </a:r>
          </a:p>
          <a:p>
            <a:pPr marL="700000" indent="-700000">
              <a:lnSpc>
                <a:spcPts val="4100"/>
              </a:lnSpc>
              <a:spcBef>
                <a:spcPts val="1000"/>
              </a:spcBef>
              <a:buClr>
                <a:srgbClr val="4A7C00"/>
              </a:buClr>
              <a:buFont typeface="Arial"/>
              <a:buAutoNum type="arabicPeriod"/>
            </a:pPr>
            <a:r>
              <a:rPr lang="en-US" sz="2600">
                <a:solidFill>
                  <a:srgbClr val="313131"/>
                </a:solidFill>
                <a:latin typeface="NVIDIA Sans"/>
                <a:cs typeface="NVIDIA Sans"/>
              </a:rPr>
              <a:t>A runtime trip count</a:t>
            </a:r>
          </a:p>
        </p:txBody>
      </p:sp>
      <p:sp>
        <p:nvSpPr>
          <p:cNvPr id="10" name="R1bg">
            <a:extLst>
              <a:ext uri="{FF2B5EF4-FFF2-40B4-BE49-F238E27FC236}">
                <a16:creationId xmlns:a16="http://schemas.microsoft.com/office/drawing/2014/main" id="{E8CE2DC5-D305-0587-9A03-81CE8F882E28}"/>
              </a:ext>
            </a:extLst>
          </p:cNvPr>
          <p:cNvSpPr/>
          <p:nvPr/>
        </p:nvSpPr>
        <p:spPr>
          <a:xfrm>
            <a:off x="26670000" y="12065000"/>
            <a:ext cx="8077200" cy="3810000"/>
          </a:xfrm>
          <a:prstGeom prst="rect">
            <a:avLst/>
          </a:prstGeom>
          <a:solidFill>
            <a:srgbClr val="F3F8E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1bar">
            <a:extLst>
              <a:ext uri="{FF2B5EF4-FFF2-40B4-BE49-F238E27FC236}">
                <a16:creationId xmlns:a16="http://schemas.microsoft.com/office/drawing/2014/main" id="{6A82EEFE-B3D6-9F15-2901-1B3CA8B460F3}"/>
              </a:ext>
            </a:extLst>
          </p:cNvPr>
          <p:cNvSpPr/>
          <p:nvPr/>
        </p:nvSpPr>
        <p:spPr>
          <a:xfrm>
            <a:off x="26670000" y="12065000"/>
            <a:ext cx="127000" cy="3810000"/>
          </a:xfrm>
          <a:prstGeom prst="rect">
            <a:avLst/>
          </a:prstGeom>
          <a:solidFill>
            <a:srgbClr val="4A7C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1l">
            <a:extLst>
              <a:ext uri="{FF2B5EF4-FFF2-40B4-BE49-F238E27FC236}">
                <a16:creationId xmlns:a16="http://schemas.microsoft.com/office/drawing/2014/main" id="{FFC7C8C1-04A2-12DD-5E31-FED767BD251B}"/>
              </a:ext>
            </a:extLst>
          </p:cNvPr>
          <p:cNvSpPr txBox="1"/>
          <p:nvPr/>
        </p:nvSpPr>
        <p:spPr>
          <a:xfrm>
            <a:off x="27127200" y="12344400"/>
            <a:ext cx="7162800" cy="1270000"/>
          </a:xfrm>
          <a:prstGeom prst="rect">
            <a:avLst/>
          </a:prstGeom>
          <a:noFill/>
        </p:spPr>
        <p:txBody>
          <a:bodyPr vertOverflow="overflow" vert="horz" wrap="square" rtlCol="0" anchor="t">
            <a:noAutofit/>
          </a:bodyPr>
          <a:lstStyle/>
          <a:p>
            <a:pPr>
              <a:lnSpc>
                <a:spcPts val="4080"/>
              </a:lnSpc>
              <a:spcBef>
                <a:spcPts val="0"/>
              </a:spcBef>
              <a:buNone/>
            </a:pPr>
            <a:r>
              <a:rPr lang="en-US" sz="3400" b="1">
                <a:solidFill>
                  <a:srgbClr val="4A7C00"/>
                </a:solidFill>
                <a:latin typeface="NVIDIA Sans"/>
                <a:cs typeface="NVIDIA Sans"/>
              </a:rPr>
              <a:t>Plain Python and DKGDSL v2</a:t>
            </a:r>
          </a:p>
        </p:txBody>
      </p:sp>
      <p:sp>
        <p:nvSpPr>
          <p:cNvPr id="13" name="R1v">
            <a:extLst>
              <a:ext uri="{FF2B5EF4-FFF2-40B4-BE49-F238E27FC236}">
                <a16:creationId xmlns:a16="http://schemas.microsoft.com/office/drawing/2014/main" id="{54377BA8-6302-F754-7C53-FAB2D8E71BDC}"/>
              </a:ext>
            </a:extLst>
          </p:cNvPr>
          <p:cNvSpPr txBox="1"/>
          <p:nvPr/>
        </p:nvSpPr>
        <p:spPr>
          <a:xfrm>
            <a:off x="27127200" y="13665200"/>
            <a:ext cx="7162800" cy="2413000"/>
          </a:xfrm>
          <a:prstGeom prst="rect">
            <a:avLst/>
          </a:prstGeom>
          <a:noFill/>
        </p:spPr>
        <p:txBody>
          <a:bodyPr vertOverflow="overflow" vert="horz" wrap="square" rtlCol="0" anchor="t">
            <a:noAutofit/>
          </a:bodyPr>
          <a:lstStyle/>
          <a:p>
            <a:pPr>
              <a:lnSpc>
                <a:spcPts val="3300"/>
              </a:lnSpc>
              <a:spcBef>
                <a:spcPts val="0"/>
              </a:spcBef>
              <a:buNone/>
            </a:pPr>
            <a:r>
              <a:rPr lang="en-US" sz="3000">
                <a:solidFill>
                  <a:srgbClr val="313131"/>
                </a:solidFill>
                <a:latin typeface="NVIDIA Sans"/>
                <a:cs typeface="NVIDIA Sans"/>
              </a:rPr>
              <a:t>Same output</a:t>
            </a:r>
          </a:p>
          <a:p>
            <a:pPr>
              <a:lnSpc>
                <a:spcPts val="3000"/>
              </a:lnSpc>
              <a:spcBef>
                <a:spcPts val="900"/>
              </a:spcBef>
              <a:buNone/>
            </a:pPr>
            <a:r>
              <a:rPr lang="en-US" sz="2600" b="1">
                <a:solidFill>
                  <a:srgbClr val="4A7C00"/>
                </a:solidFill>
                <a:latin typeface="NVIDIA Sans"/>
                <a:cs typeface="NVIDIA Sans"/>
              </a:rPr>
              <a:t>The frontend for RTS, CTM and </a:t>
            </a:r>
            <a:r>
              <a:rPr lang="en-US" sz="2600" b="1" err="1">
                <a:solidFill>
                  <a:srgbClr val="4A7C00"/>
                </a:solidFill>
                <a:latin typeface="NVIDIA Sans"/>
                <a:cs typeface="NVIDIA Sans"/>
              </a:rPr>
              <a:t>CuTe</a:t>
            </a:r>
            <a:r>
              <a:rPr lang="en-US" sz="2600" b="1">
                <a:solidFill>
                  <a:srgbClr val="4A7C00"/>
                </a:solidFill>
                <a:latin typeface="NVIDIA Sans"/>
                <a:cs typeface="NVIDIA Sans"/>
              </a:rPr>
              <a:t> DSL kernels.</a:t>
            </a:r>
          </a:p>
        </p:txBody>
      </p:sp>
      <p:sp>
        <p:nvSpPr>
          <p:cNvPr id="18" name="R3bg">
            <a:extLst>
              <a:ext uri="{FF2B5EF4-FFF2-40B4-BE49-F238E27FC236}">
                <a16:creationId xmlns:a16="http://schemas.microsoft.com/office/drawing/2014/main" id="{A73F27FE-EE66-B125-D2F3-07D2F4446013}"/>
              </a:ext>
            </a:extLst>
          </p:cNvPr>
          <p:cNvSpPr/>
          <p:nvPr/>
        </p:nvSpPr>
        <p:spPr>
          <a:xfrm>
            <a:off x="26670000" y="16065500"/>
            <a:ext cx="8077200" cy="28575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3bar">
            <a:extLst>
              <a:ext uri="{FF2B5EF4-FFF2-40B4-BE49-F238E27FC236}">
                <a16:creationId xmlns:a16="http://schemas.microsoft.com/office/drawing/2014/main" id="{2D0EDE57-5199-9A82-2E2D-FBCBB9326A6C}"/>
              </a:ext>
            </a:extLst>
          </p:cNvPr>
          <p:cNvSpPr/>
          <p:nvPr/>
        </p:nvSpPr>
        <p:spPr>
          <a:xfrm>
            <a:off x="26670000" y="16065500"/>
            <a:ext cx="127000" cy="2857500"/>
          </a:xfrm>
          <a:prstGeom prst="rect">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3l">
            <a:extLst>
              <a:ext uri="{FF2B5EF4-FFF2-40B4-BE49-F238E27FC236}">
                <a16:creationId xmlns:a16="http://schemas.microsoft.com/office/drawing/2014/main" id="{2F097BBA-107D-574E-1482-101C54F95A2B}"/>
              </a:ext>
            </a:extLst>
          </p:cNvPr>
          <p:cNvSpPr txBox="1"/>
          <p:nvPr/>
        </p:nvSpPr>
        <p:spPr>
          <a:xfrm>
            <a:off x="27127200" y="16344900"/>
            <a:ext cx="7162800" cy="1270000"/>
          </a:xfrm>
          <a:prstGeom prst="rect">
            <a:avLst/>
          </a:prstGeom>
          <a:noFill/>
        </p:spPr>
        <p:txBody>
          <a:bodyPr vertOverflow="overflow" vert="horz" wrap="square" rtlCol="0" anchor="t">
            <a:noAutofit/>
          </a:bodyPr>
          <a:lstStyle/>
          <a:p>
            <a:pPr>
              <a:lnSpc>
                <a:spcPts val="4080"/>
              </a:lnSpc>
              <a:spcBef>
                <a:spcPts val="0"/>
              </a:spcBef>
              <a:buNone/>
            </a:pPr>
            <a:r>
              <a:rPr lang="en-US" sz="3400" b="1">
                <a:solidFill>
                  <a:srgbClr val="B3261E"/>
                </a:solidFill>
                <a:latin typeface="NVIDIA Sans"/>
                <a:cs typeface="NVIDIA Sans"/>
              </a:rPr>
              <a:t>DKGDSL v1</a:t>
            </a:r>
          </a:p>
        </p:txBody>
      </p:sp>
      <p:sp>
        <p:nvSpPr>
          <p:cNvPr id="21" name="R3v">
            <a:extLst>
              <a:ext uri="{FF2B5EF4-FFF2-40B4-BE49-F238E27FC236}">
                <a16:creationId xmlns:a16="http://schemas.microsoft.com/office/drawing/2014/main" id="{6114EA8C-2549-2CC9-C2D2-912A0E044E01}"/>
              </a:ext>
            </a:extLst>
          </p:cNvPr>
          <p:cNvSpPr txBox="1"/>
          <p:nvPr/>
        </p:nvSpPr>
        <p:spPr>
          <a:xfrm>
            <a:off x="27127200" y="17665700"/>
            <a:ext cx="7162800" cy="1397000"/>
          </a:xfrm>
          <a:prstGeom prst="rect">
            <a:avLst/>
          </a:prstGeom>
          <a:noFill/>
        </p:spPr>
        <p:txBody>
          <a:bodyPr vertOverflow="overflow" vert="horz" wrap="square" rtlCol="0" anchor="t">
            <a:noAutofit/>
          </a:bodyPr>
          <a:lstStyle/>
          <a:p>
            <a:pPr>
              <a:lnSpc>
                <a:spcPts val="3100"/>
              </a:lnSpc>
              <a:spcBef>
                <a:spcPts val="0"/>
              </a:spcBef>
              <a:buNone/>
            </a:pPr>
            <a:r>
              <a:rPr lang="en-US" sz="3000">
                <a:solidFill>
                  <a:srgbClr val="313131"/>
                </a:solidFill>
                <a:latin typeface="NVIDIA Sans"/>
                <a:cs typeface="NVIDIA Sans"/>
              </a:rPr>
              <a:t>Refused at the closure, before feature two.</a:t>
            </a:r>
          </a:p>
        </p:txBody>
      </p:sp>
      <p:sp>
        <p:nvSpPr>
          <p:cNvPr id="701" name="FBadge1"/>
          <p:cNvSpPr/>
          <p:nvPr/>
        </p:nvSpPr>
        <p:spPr>
          <a:xfrm>
            <a:off x="1879600" y="10383520"/>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1</a:t>
            </a:r>
          </a:p>
        </p:txBody>
      </p:sp>
      <p:sp>
        <p:nvSpPr>
          <p:cNvPr id="702" name="FBadge2"/>
          <p:cNvSpPr/>
          <p:nvPr/>
        </p:nvSpPr>
        <p:spPr>
          <a:xfrm>
            <a:off x="1879600" y="5836920"/>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2</a:t>
            </a:r>
          </a:p>
        </p:txBody>
      </p:sp>
      <p:sp>
        <p:nvSpPr>
          <p:cNvPr id="703" name="FBadge3"/>
          <p:cNvSpPr/>
          <p:nvPr/>
        </p:nvSpPr>
        <p:spPr>
          <a:xfrm>
            <a:off x="1879600" y="8529320"/>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3</a:t>
            </a:r>
          </a:p>
        </p:txBody>
      </p:sp>
      <p:sp>
        <p:nvSpPr>
          <p:cNvPr id="704" name="FBadge4"/>
          <p:cNvSpPr/>
          <p:nvPr/>
        </p:nvSpPr>
        <p:spPr>
          <a:xfrm>
            <a:off x="1879600" y="6675120"/>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4</a:t>
            </a:r>
          </a:p>
        </p:txBody>
      </p:sp>
      <p:sp>
        <p:nvSpPr>
          <p:cNvPr id="705" name="FBadge5"/>
          <p:cNvSpPr/>
          <p:nvPr/>
        </p:nvSpPr>
        <p:spPr>
          <a:xfrm>
            <a:off x="1879600" y="11640820"/>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5</a:t>
            </a:r>
          </a:p>
        </p:txBody>
      </p:sp>
      <p:sp>
        <p:nvSpPr>
          <p:cNvPr id="706" name="FBadge6"/>
          <p:cNvSpPr/>
          <p:nvPr/>
        </p:nvSpPr>
        <p:spPr>
          <a:xfrm>
            <a:off x="1879600" y="12059920"/>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6</a:t>
            </a:r>
          </a:p>
        </p:txBody>
      </p:sp>
      <p:sp>
        <p:nvSpPr>
          <p:cNvPr id="707" name="FBadge7"/>
          <p:cNvSpPr/>
          <p:nvPr/>
        </p:nvSpPr>
        <p:spPr>
          <a:xfrm>
            <a:off x="1879600" y="17508220"/>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7</a:t>
            </a:r>
          </a:p>
        </p:txBody>
      </p:sp>
      <p:sp>
        <p:nvSpPr>
          <p:cNvPr id="708" name="FBadge8"/>
          <p:cNvSpPr/>
          <p:nvPr/>
        </p:nvSpPr>
        <p:spPr>
          <a:xfrm>
            <a:off x="1879600" y="12898120"/>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8</a:t>
            </a:r>
          </a:p>
        </p:txBody>
      </p:sp>
      <p:sp>
        <p:nvSpPr>
          <p:cNvPr id="709" name="FBadge9"/>
          <p:cNvSpPr/>
          <p:nvPr/>
        </p:nvSpPr>
        <p:spPr>
          <a:xfrm>
            <a:off x="1879600" y="14155419"/>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9</a:t>
            </a:r>
          </a:p>
        </p:txBody>
      </p:sp>
      <p:sp>
        <p:nvSpPr>
          <p:cNvPr id="710" name="FBadge10"/>
          <p:cNvSpPr/>
          <p:nvPr/>
        </p:nvSpPr>
        <p:spPr>
          <a:xfrm>
            <a:off x="1879600" y="14574519"/>
            <a:ext cx="355600" cy="355600"/>
          </a:xfrm>
          <a:prstGeom prst="ellipse">
            <a:avLst/>
          </a:prstGeom>
          <a:solidFill>
            <a:srgbClr val="76B900"/>
          </a:solidFill>
          <a:ln>
            <a:noFill/>
          </a:ln>
        </p:spPr>
        <p:txBody>
          <a:bodyPr wrap="none" lIns="0" tIns="0" rIns="0" bIns="0" anchor="ctr"/>
          <a:lstStyle/>
          <a:p>
            <a:pPr algn="ctr"/>
            <a:r>
              <a:rPr lang="en-US" sz="1400" b="1">
                <a:solidFill>
                  <a:srgbClr val="FFFFFF"/>
                </a:solidFill>
                <a:latin typeface="NVIDIA Sans"/>
                <a:cs typeface="NVIDIA Sans"/>
              </a:rPr>
              <a:t>10</a:t>
            </a:r>
          </a:p>
        </p:txBody>
      </p:sp>
      <p:sp>
        <p:nvSpPr>
          <p:cNvPr id="740" name="FBox1_0"/>
          <p:cNvSpPr/>
          <p:nvPr/>
        </p:nvSpPr>
        <p:spPr>
          <a:xfrm>
            <a:off x="2235200" y="10345420"/>
            <a:ext cx="23418800" cy="444500"/>
          </a:xfrm>
          <a:prstGeom prst="roundRect">
            <a:avLst>
              <a:gd name="adj" fmla="val 8000"/>
            </a:avLst>
          </a:prstGeom>
          <a:noFill/>
          <a:ln w="50800">
            <a:solidFill>
              <a:srgbClr val="76B900"/>
            </a:solidFill>
          </a:ln>
        </p:spPr>
        <p:txBody>
          <a:bodyPr/>
          <a:lstStyle/>
          <a:p>
            <a:endParaRPr/>
          </a:p>
        </p:txBody>
      </p:sp>
      <p:sp>
        <p:nvSpPr>
          <p:cNvPr id="741" name="FBox1_1"/>
          <p:cNvSpPr/>
          <p:nvPr/>
        </p:nvSpPr>
        <p:spPr>
          <a:xfrm>
            <a:off x="2235200" y="14955520"/>
            <a:ext cx="23418800" cy="444500"/>
          </a:xfrm>
          <a:prstGeom prst="roundRect">
            <a:avLst>
              <a:gd name="adj" fmla="val 8000"/>
            </a:avLst>
          </a:prstGeom>
          <a:noFill/>
          <a:ln w="50800">
            <a:solidFill>
              <a:srgbClr val="76B900"/>
            </a:solidFill>
          </a:ln>
        </p:spPr>
        <p:txBody>
          <a:bodyPr/>
          <a:lstStyle/>
          <a:p>
            <a:endParaRPr/>
          </a:p>
        </p:txBody>
      </p:sp>
      <p:sp>
        <p:nvSpPr>
          <p:cNvPr id="742" name="FBox2_0"/>
          <p:cNvSpPr/>
          <p:nvPr/>
        </p:nvSpPr>
        <p:spPr>
          <a:xfrm>
            <a:off x="2235200" y="5798820"/>
            <a:ext cx="23418800" cy="863600"/>
          </a:xfrm>
          <a:prstGeom prst="roundRect">
            <a:avLst>
              <a:gd name="adj" fmla="val 8000"/>
            </a:avLst>
          </a:prstGeom>
          <a:noFill/>
          <a:ln w="50800">
            <a:solidFill>
              <a:srgbClr val="76B900"/>
            </a:solidFill>
          </a:ln>
        </p:spPr>
        <p:txBody>
          <a:bodyPr/>
          <a:lstStyle/>
          <a:p>
            <a:endParaRPr/>
          </a:p>
        </p:txBody>
      </p:sp>
      <p:sp>
        <p:nvSpPr>
          <p:cNvPr id="743" name="FBox2_1"/>
          <p:cNvSpPr/>
          <p:nvPr/>
        </p:nvSpPr>
        <p:spPr>
          <a:xfrm>
            <a:off x="2235200" y="14955520"/>
            <a:ext cx="23418800" cy="444500"/>
          </a:xfrm>
          <a:prstGeom prst="roundRect">
            <a:avLst>
              <a:gd name="adj" fmla="val 8000"/>
            </a:avLst>
          </a:prstGeom>
          <a:noFill/>
          <a:ln w="50800">
            <a:solidFill>
              <a:srgbClr val="76B900"/>
            </a:solidFill>
          </a:ln>
        </p:spPr>
        <p:txBody>
          <a:bodyPr/>
          <a:lstStyle/>
          <a:p>
            <a:endParaRPr/>
          </a:p>
        </p:txBody>
      </p:sp>
      <p:sp>
        <p:nvSpPr>
          <p:cNvPr id="744" name="FBox3_0"/>
          <p:cNvSpPr/>
          <p:nvPr/>
        </p:nvSpPr>
        <p:spPr>
          <a:xfrm>
            <a:off x="2235200" y="8072120"/>
            <a:ext cx="23418800" cy="1282700"/>
          </a:xfrm>
          <a:prstGeom prst="roundRect">
            <a:avLst>
              <a:gd name="adj" fmla="val 8000"/>
            </a:avLst>
          </a:prstGeom>
          <a:noFill/>
          <a:ln w="50800">
            <a:solidFill>
              <a:srgbClr val="76B900"/>
            </a:solidFill>
          </a:ln>
        </p:spPr>
        <p:txBody>
          <a:bodyPr/>
          <a:lstStyle/>
          <a:p>
            <a:endParaRPr/>
          </a:p>
        </p:txBody>
      </p:sp>
      <p:sp>
        <p:nvSpPr>
          <p:cNvPr id="745" name="FBox3_1"/>
          <p:cNvSpPr/>
          <p:nvPr/>
        </p:nvSpPr>
        <p:spPr>
          <a:xfrm>
            <a:off x="2235200" y="11183620"/>
            <a:ext cx="23418800" cy="444500"/>
          </a:xfrm>
          <a:prstGeom prst="roundRect">
            <a:avLst>
              <a:gd name="adj" fmla="val 8000"/>
            </a:avLst>
          </a:prstGeom>
          <a:noFill/>
          <a:ln w="50800">
            <a:solidFill>
              <a:srgbClr val="76B900"/>
            </a:solidFill>
          </a:ln>
        </p:spPr>
        <p:txBody>
          <a:bodyPr/>
          <a:lstStyle/>
          <a:p>
            <a:endParaRPr/>
          </a:p>
        </p:txBody>
      </p:sp>
      <p:sp>
        <p:nvSpPr>
          <p:cNvPr id="746" name="FBox3_2"/>
          <p:cNvSpPr/>
          <p:nvPr/>
        </p:nvSpPr>
        <p:spPr>
          <a:xfrm>
            <a:off x="2235200" y="15793720"/>
            <a:ext cx="23418800" cy="444500"/>
          </a:xfrm>
          <a:prstGeom prst="roundRect">
            <a:avLst>
              <a:gd name="adj" fmla="val 8000"/>
            </a:avLst>
          </a:prstGeom>
          <a:noFill/>
          <a:ln w="50800">
            <a:solidFill>
              <a:srgbClr val="76B900"/>
            </a:solidFill>
          </a:ln>
        </p:spPr>
        <p:txBody>
          <a:bodyPr/>
          <a:lstStyle/>
          <a:p>
            <a:endParaRPr/>
          </a:p>
        </p:txBody>
      </p:sp>
      <p:sp>
        <p:nvSpPr>
          <p:cNvPr id="747" name="FBox4_0"/>
          <p:cNvSpPr/>
          <p:nvPr/>
        </p:nvSpPr>
        <p:spPr>
          <a:xfrm>
            <a:off x="2235200" y="6637020"/>
            <a:ext cx="23418800" cy="863600"/>
          </a:xfrm>
          <a:prstGeom prst="roundRect">
            <a:avLst>
              <a:gd name="adj" fmla="val 8000"/>
            </a:avLst>
          </a:prstGeom>
          <a:noFill/>
          <a:ln w="50800">
            <a:solidFill>
              <a:srgbClr val="76B900"/>
            </a:solidFill>
          </a:ln>
        </p:spPr>
        <p:txBody>
          <a:bodyPr/>
          <a:lstStyle/>
          <a:p>
            <a:endParaRPr/>
          </a:p>
        </p:txBody>
      </p:sp>
      <p:sp>
        <p:nvSpPr>
          <p:cNvPr id="748" name="FBox4_1"/>
          <p:cNvSpPr/>
          <p:nvPr/>
        </p:nvSpPr>
        <p:spPr>
          <a:xfrm>
            <a:off x="2235200" y="10764520"/>
            <a:ext cx="23418800" cy="444500"/>
          </a:xfrm>
          <a:prstGeom prst="roundRect">
            <a:avLst>
              <a:gd name="adj" fmla="val 8000"/>
            </a:avLst>
          </a:prstGeom>
          <a:noFill/>
          <a:ln w="50800">
            <a:solidFill>
              <a:srgbClr val="76B900"/>
            </a:solidFill>
          </a:ln>
        </p:spPr>
        <p:txBody>
          <a:bodyPr/>
          <a:lstStyle/>
          <a:p>
            <a:endParaRPr/>
          </a:p>
        </p:txBody>
      </p:sp>
      <p:sp>
        <p:nvSpPr>
          <p:cNvPr id="749" name="FBox4_2"/>
          <p:cNvSpPr/>
          <p:nvPr/>
        </p:nvSpPr>
        <p:spPr>
          <a:xfrm>
            <a:off x="2235200" y="15374620"/>
            <a:ext cx="23418800" cy="444500"/>
          </a:xfrm>
          <a:prstGeom prst="roundRect">
            <a:avLst>
              <a:gd name="adj" fmla="val 8000"/>
            </a:avLst>
          </a:prstGeom>
          <a:noFill/>
          <a:ln w="50800">
            <a:solidFill>
              <a:srgbClr val="76B900"/>
            </a:solidFill>
          </a:ln>
        </p:spPr>
        <p:txBody>
          <a:bodyPr/>
          <a:lstStyle/>
          <a:p>
            <a:endParaRPr/>
          </a:p>
        </p:txBody>
      </p:sp>
      <p:sp>
        <p:nvSpPr>
          <p:cNvPr id="750" name="FBox5_0"/>
          <p:cNvSpPr/>
          <p:nvPr/>
        </p:nvSpPr>
        <p:spPr>
          <a:xfrm>
            <a:off x="2235200" y="11602720"/>
            <a:ext cx="23418800" cy="444500"/>
          </a:xfrm>
          <a:prstGeom prst="roundRect">
            <a:avLst>
              <a:gd name="adj" fmla="val 8000"/>
            </a:avLst>
          </a:prstGeom>
          <a:noFill/>
          <a:ln w="50800">
            <a:solidFill>
              <a:srgbClr val="76B900"/>
            </a:solidFill>
          </a:ln>
        </p:spPr>
        <p:txBody>
          <a:bodyPr/>
          <a:lstStyle/>
          <a:p>
            <a:endParaRPr/>
          </a:p>
        </p:txBody>
      </p:sp>
      <p:sp>
        <p:nvSpPr>
          <p:cNvPr id="751" name="FBox5_1"/>
          <p:cNvSpPr/>
          <p:nvPr/>
        </p:nvSpPr>
        <p:spPr>
          <a:xfrm>
            <a:off x="2235200" y="16212820"/>
            <a:ext cx="23418800" cy="863600"/>
          </a:xfrm>
          <a:prstGeom prst="roundRect">
            <a:avLst>
              <a:gd name="adj" fmla="val 8000"/>
            </a:avLst>
          </a:prstGeom>
          <a:noFill/>
          <a:ln w="50800">
            <a:solidFill>
              <a:srgbClr val="76B900"/>
            </a:solidFill>
          </a:ln>
        </p:spPr>
        <p:txBody>
          <a:bodyPr/>
          <a:lstStyle/>
          <a:p>
            <a:endParaRPr/>
          </a:p>
        </p:txBody>
      </p:sp>
      <p:sp>
        <p:nvSpPr>
          <p:cNvPr id="752" name="FBox6_0"/>
          <p:cNvSpPr/>
          <p:nvPr/>
        </p:nvSpPr>
        <p:spPr>
          <a:xfrm>
            <a:off x="2235200" y="12021820"/>
            <a:ext cx="23418800" cy="444500"/>
          </a:xfrm>
          <a:prstGeom prst="roundRect">
            <a:avLst>
              <a:gd name="adj" fmla="val 8000"/>
            </a:avLst>
          </a:prstGeom>
          <a:noFill/>
          <a:ln w="50800">
            <a:solidFill>
              <a:srgbClr val="76B900"/>
            </a:solidFill>
          </a:ln>
        </p:spPr>
        <p:txBody>
          <a:bodyPr/>
          <a:lstStyle/>
          <a:p>
            <a:endParaRPr/>
          </a:p>
        </p:txBody>
      </p:sp>
      <p:sp>
        <p:nvSpPr>
          <p:cNvPr id="753" name="FBox6_1"/>
          <p:cNvSpPr/>
          <p:nvPr/>
        </p:nvSpPr>
        <p:spPr>
          <a:xfrm>
            <a:off x="2235200" y="17051020"/>
            <a:ext cx="23418800" cy="444500"/>
          </a:xfrm>
          <a:prstGeom prst="roundRect">
            <a:avLst>
              <a:gd name="adj" fmla="val 8000"/>
            </a:avLst>
          </a:prstGeom>
          <a:noFill/>
          <a:ln w="50800">
            <a:solidFill>
              <a:srgbClr val="76B900"/>
            </a:solidFill>
          </a:ln>
        </p:spPr>
        <p:txBody>
          <a:bodyPr/>
          <a:lstStyle/>
          <a:p>
            <a:endParaRPr/>
          </a:p>
        </p:txBody>
      </p:sp>
      <p:sp>
        <p:nvSpPr>
          <p:cNvPr id="754" name="FBox7_0"/>
          <p:cNvSpPr/>
          <p:nvPr/>
        </p:nvSpPr>
        <p:spPr>
          <a:xfrm>
            <a:off x="2235200" y="17470120"/>
            <a:ext cx="23418800" cy="863600"/>
          </a:xfrm>
          <a:prstGeom prst="roundRect">
            <a:avLst>
              <a:gd name="adj" fmla="val 8000"/>
            </a:avLst>
          </a:prstGeom>
          <a:noFill/>
          <a:ln w="50800">
            <a:solidFill>
              <a:srgbClr val="76B900"/>
            </a:solidFill>
          </a:ln>
        </p:spPr>
        <p:txBody>
          <a:bodyPr/>
          <a:lstStyle/>
          <a:p>
            <a:endParaRPr/>
          </a:p>
        </p:txBody>
      </p:sp>
      <p:sp>
        <p:nvSpPr>
          <p:cNvPr id="755" name="FBox8_0"/>
          <p:cNvSpPr/>
          <p:nvPr/>
        </p:nvSpPr>
        <p:spPr>
          <a:xfrm>
            <a:off x="2235200" y="12440920"/>
            <a:ext cx="23418800" cy="1701800"/>
          </a:xfrm>
          <a:prstGeom prst="roundRect">
            <a:avLst>
              <a:gd name="adj" fmla="val 8000"/>
            </a:avLst>
          </a:prstGeom>
          <a:noFill/>
          <a:ln w="50800">
            <a:solidFill>
              <a:srgbClr val="76B900"/>
            </a:solidFill>
          </a:ln>
        </p:spPr>
        <p:txBody>
          <a:bodyPr/>
          <a:lstStyle/>
          <a:p>
            <a:endParaRPr/>
          </a:p>
        </p:txBody>
      </p:sp>
      <p:sp>
        <p:nvSpPr>
          <p:cNvPr id="756" name="FBox8_1"/>
          <p:cNvSpPr/>
          <p:nvPr/>
        </p:nvSpPr>
        <p:spPr>
          <a:xfrm>
            <a:off x="2235200" y="18308320"/>
            <a:ext cx="23418800" cy="444500"/>
          </a:xfrm>
          <a:prstGeom prst="roundRect">
            <a:avLst>
              <a:gd name="adj" fmla="val 8000"/>
            </a:avLst>
          </a:prstGeom>
          <a:noFill/>
          <a:ln w="50800">
            <a:solidFill>
              <a:srgbClr val="76B900"/>
            </a:solidFill>
          </a:ln>
        </p:spPr>
        <p:txBody>
          <a:bodyPr/>
          <a:lstStyle/>
          <a:p>
            <a:endParaRPr/>
          </a:p>
        </p:txBody>
      </p:sp>
      <p:sp>
        <p:nvSpPr>
          <p:cNvPr id="757" name="FBox9_0"/>
          <p:cNvSpPr/>
          <p:nvPr/>
        </p:nvSpPr>
        <p:spPr>
          <a:xfrm>
            <a:off x="2235200" y="14117320"/>
            <a:ext cx="23418800" cy="444500"/>
          </a:xfrm>
          <a:prstGeom prst="roundRect">
            <a:avLst>
              <a:gd name="adj" fmla="val 8000"/>
            </a:avLst>
          </a:prstGeom>
          <a:noFill/>
          <a:ln w="50800">
            <a:solidFill>
              <a:srgbClr val="76B900"/>
            </a:solidFill>
          </a:ln>
        </p:spPr>
        <p:txBody>
          <a:bodyPr/>
          <a:lstStyle/>
          <a:p>
            <a:endParaRPr/>
          </a:p>
        </p:txBody>
      </p:sp>
      <p:sp>
        <p:nvSpPr>
          <p:cNvPr id="758" name="FBox10_0"/>
          <p:cNvSpPr/>
          <p:nvPr/>
        </p:nvSpPr>
        <p:spPr>
          <a:xfrm>
            <a:off x="2235200" y="14536420"/>
            <a:ext cx="23418800" cy="4216400"/>
          </a:xfrm>
          <a:prstGeom prst="roundRect">
            <a:avLst>
              <a:gd name="adj" fmla="val 8000"/>
            </a:avLst>
          </a:prstGeom>
          <a:noFill/>
          <a:ln w="50800">
            <a:solidFill>
              <a:srgbClr val="76B900"/>
            </a:solidFill>
          </a:ln>
        </p:spPr>
        <p:txBody>
          <a:bodyPr/>
          <a:lstStyle/>
          <a:p>
            <a:endParaRPr/>
          </a:p>
        </p:txBody>
      </p:sp>
    </p:spTree>
    <p:extLst>
      <p:ext uri="{BB962C8B-B14F-4D97-AF65-F5344CB8AC3E}">
        <p14:creationId xmlns:p14="http://schemas.microsoft.com/office/powerpoint/2010/main" val="1969005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74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74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701"/>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7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74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743"/>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702"/>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7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4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0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744"/>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745"/>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74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70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74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4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4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0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747"/>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748"/>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749"/>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704"/>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75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5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0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750"/>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751"/>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705"/>
                                        </p:tgtEl>
                                        <p:attrNameLst>
                                          <p:attrName>style.visibility</p:attrName>
                                        </p:attrNameLst>
                                      </p:cBhvr>
                                      <p:to>
                                        <p:strVal val="hidden"/>
                                      </p:to>
                                    </p:set>
                                  </p:childTnLst>
                                </p:cTn>
                              </p:par>
                              <p:par>
                                <p:cTn id="93" presetID="1" presetClass="entr" presetSubtype="0" fill="hold" nodeType="withEffect">
                                  <p:stCondLst>
                                    <p:cond delay="0"/>
                                  </p:stCondLst>
                                  <p:childTnLst>
                                    <p:set>
                                      <p:cBhvr>
                                        <p:cTn id="94" dur="1" fill="hold">
                                          <p:stCondLst>
                                            <p:cond delay="0"/>
                                          </p:stCondLst>
                                        </p:cTn>
                                        <p:tgtEl>
                                          <p:spTgt spid="75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753"/>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70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nodeType="clickEffect">
                                  <p:stCondLst>
                                    <p:cond delay="0"/>
                                  </p:stCondLst>
                                  <p:childTnLst>
                                    <p:set>
                                      <p:cBhvr>
                                        <p:cTn id="104" dur="1" fill="hold">
                                          <p:stCondLst>
                                            <p:cond delay="0"/>
                                          </p:stCondLst>
                                        </p:cTn>
                                        <p:tgtEl>
                                          <p:spTgt spid="752"/>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753"/>
                                        </p:tgtEl>
                                        <p:attrNameLst>
                                          <p:attrName>style.visibility</p:attrName>
                                        </p:attrNameLst>
                                      </p:cBhvr>
                                      <p:to>
                                        <p:strVal val="hidden"/>
                                      </p:to>
                                    </p:set>
                                  </p:childTnLst>
                                </p:cTn>
                              </p:par>
                              <p:par>
                                <p:cTn id="107" presetID="1" presetClass="exit" presetSubtype="0" fill="hold" nodeType="withEffect">
                                  <p:stCondLst>
                                    <p:cond delay="0"/>
                                  </p:stCondLst>
                                  <p:childTnLst>
                                    <p:set>
                                      <p:cBhvr>
                                        <p:cTn id="108" dur="1" fill="hold">
                                          <p:stCondLst>
                                            <p:cond delay="0"/>
                                          </p:stCondLst>
                                        </p:cTn>
                                        <p:tgtEl>
                                          <p:spTgt spid="706"/>
                                        </p:tgtEl>
                                        <p:attrNameLst>
                                          <p:attrName>style.visibility</p:attrName>
                                        </p:attrNameLst>
                                      </p:cBhvr>
                                      <p:to>
                                        <p:strVal val="hidden"/>
                                      </p:to>
                                    </p:set>
                                  </p:childTnLst>
                                </p:cTn>
                              </p:par>
                              <p:par>
                                <p:cTn id="109" presetID="1" presetClass="entr" presetSubtype="0" fill="hold" nodeType="withEffect">
                                  <p:stCondLst>
                                    <p:cond delay="0"/>
                                  </p:stCondLst>
                                  <p:childTnLst>
                                    <p:set>
                                      <p:cBhvr>
                                        <p:cTn id="110" dur="1" fill="hold">
                                          <p:stCondLst>
                                            <p:cond delay="0"/>
                                          </p:stCondLst>
                                        </p:cTn>
                                        <p:tgtEl>
                                          <p:spTgt spid="75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70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nodeType="clickEffect">
                                  <p:stCondLst>
                                    <p:cond delay="0"/>
                                  </p:stCondLst>
                                  <p:childTnLst>
                                    <p:set>
                                      <p:cBhvr>
                                        <p:cTn id="118" dur="1" fill="hold">
                                          <p:stCondLst>
                                            <p:cond delay="0"/>
                                          </p:stCondLst>
                                        </p:cTn>
                                        <p:tgtEl>
                                          <p:spTgt spid="754"/>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707"/>
                                        </p:tgtEl>
                                        <p:attrNameLst>
                                          <p:attrName>style.visibility</p:attrName>
                                        </p:attrNameLst>
                                      </p:cBhvr>
                                      <p:to>
                                        <p:strVal val="hidden"/>
                                      </p:to>
                                    </p:set>
                                  </p:childTnLst>
                                </p:cTn>
                              </p:par>
                              <p:par>
                                <p:cTn id="121" presetID="1" presetClass="entr" presetSubtype="0" fill="hold" nodeType="withEffect">
                                  <p:stCondLst>
                                    <p:cond delay="0"/>
                                  </p:stCondLst>
                                  <p:childTnLst>
                                    <p:set>
                                      <p:cBhvr>
                                        <p:cTn id="122" dur="1" fill="hold">
                                          <p:stCondLst>
                                            <p:cond delay="0"/>
                                          </p:stCondLst>
                                        </p:cTn>
                                        <p:tgtEl>
                                          <p:spTgt spid="755"/>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756"/>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70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xit" presetSubtype="0" fill="hold" nodeType="clickEffect">
                                  <p:stCondLst>
                                    <p:cond delay="0"/>
                                  </p:stCondLst>
                                  <p:childTnLst>
                                    <p:set>
                                      <p:cBhvr>
                                        <p:cTn id="132" dur="1" fill="hold">
                                          <p:stCondLst>
                                            <p:cond delay="0"/>
                                          </p:stCondLst>
                                        </p:cTn>
                                        <p:tgtEl>
                                          <p:spTgt spid="755"/>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756"/>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708"/>
                                        </p:tgtEl>
                                        <p:attrNameLst>
                                          <p:attrName>style.visibility</p:attrName>
                                        </p:attrNameLst>
                                      </p:cBhvr>
                                      <p:to>
                                        <p:strVal val="hidden"/>
                                      </p:to>
                                    </p:set>
                                  </p:childTnLst>
                                </p:cTn>
                              </p:par>
                              <p:par>
                                <p:cTn id="137" presetID="1" presetClass="entr" presetSubtype="0" fill="hold" nodeType="withEffect">
                                  <p:stCondLst>
                                    <p:cond delay="0"/>
                                  </p:stCondLst>
                                  <p:childTnLst>
                                    <p:set>
                                      <p:cBhvr>
                                        <p:cTn id="138" dur="1" fill="hold">
                                          <p:stCondLst>
                                            <p:cond delay="0"/>
                                          </p:stCondLst>
                                        </p:cTn>
                                        <p:tgtEl>
                                          <p:spTgt spid="757"/>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709"/>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nodeType="clickEffect">
                                  <p:stCondLst>
                                    <p:cond delay="0"/>
                                  </p:stCondLst>
                                  <p:childTnLst>
                                    <p:set>
                                      <p:cBhvr>
                                        <p:cTn id="146" dur="1" fill="hold">
                                          <p:stCondLst>
                                            <p:cond delay="0"/>
                                          </p:stCondLst>
                                        </p:cTn>
                                        <p:tgtEl>
                                          <p:spTgt spid="757"/>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709"/>
                                        </p:tgtEl>
                                        <p:attrNameLst>
                                          <p:attrName>style.visibility</p:attrName>
                                        </p:attrNameLst>
                                      </p:cBhvr>
                                      <p:to>
                                        <p:strVal val="hidden"/>
                                      </p:to>
                                    </p:set>
                                  </p:childTnLst>
                                </p:cTn>
                              </p:par>
                              <p:par>
                                <p:cTn id="149" presetID="1" presetClass="entr" presetSubtype="0" fill="hold" nodeType="withEffect">
                                  <p:stCondLst>
                                    <p:cond delay="0"/>
                                  </p:stCondLst>
                                  <p:childTnLst>
                                    <p:set>
                                      <p:cBhvr>
                                        <p:cTn id="150" dur="1" fill="hold">
                                          <p:stCondLst>
                                            <p:cond delay="0"/>
                                          </p:stCondLst>
                                        </p:cTn>
                                        <p:tgtEl>
                                          <p:spTgt spid="758"/>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710"/>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5">
          <a:extLst>
            <a:ext uri="{FF2B5EF4-FFF2-40B4-BE49-F238E27FC236}">
              <a16:creationId xmlns:a16="http://schemas.microsoft.com/office/drawing/2014/main" id="{8460F42B-DFB6-A14C-45CF-E67033C978ED}"/>
            </a:ext>
          </a:extLst>
        </p:cNvPr>
        <p:cNvGrpSpPr/>
        <p:nvPr/>
      </p:nvGrpSpPr>
      <p:grpSpPr>
        <a:xfrm>
          <a:off x="0" y="0"/>
          <a:ext cx="0" cy="0"/>
          <a:chOff x="0" y="0"/>
          <a:chExt cx="0" cy="0"/>
        </a:xfrm>
      </p:grpSpPr>
      <p:sp>
        <p:nvSpPr>
          <p:cNvPr id="566" name="Google Shape;566;p51">
            <a:extLst>
              <a:ext uri="{FF2B5EF4-FFF2-40B4-BE49-F238E27FC236}">
                <a16:creationId xmlns:a16="http://schemas.microsoft.com/office/drawing/2014/main" id="{304AFFAF-7888-174F-6079-AA643E1B73BC}"/>
              </a:ext>
            </a:extLst>
          </p:cNvPr>
          <p:cNvSpPr txBox="1">
            <a:spLocks noGrp="1"/>
          </p:cNvSpPr>
          <p:nvPr>
            <p:ph type="body" idx="1"/>
          </p:nvPr>
        </p:nvSpPr>
        <p:spPr>
          <a:xfrm>
            <a:off x="17614232" y="2470666"/>
            <a:ext cx="17132968" cy="3416320"/>
          </a:xfrm>
          <a:prstGeom prst="rect">
            <a:avLst/>
          </a:prstGeom>
          <a:noFill/>
          <a:ln>
            <a:noFill/>
          </a:ln>
        </p:spPr>
        <p:txBody>
          <a:bodyPr spcFirstLastPara="1" wrap="square" lIns="0" tIns="45700" rIns="0" bIns="45700" anchor="ctr" anchorCtr="0">
            <a:noAutofit/>
          </a:bodyPr>
          <a:lstStyle/>
          <a:p>
            <a:pPr marL="0" lvl="0" indent="0" algn="l" rtl="0">
              <a:spcBef>
                <a:spcPts val="0"/>
              </a:spcBef>
              <a:spcAft>
                <a:spcPts val="0"/>
              </a:spcAft>
              <a:buSzPts val="12000"/>
              <a:buNone/>
            </a:pPr>
            <a:r>
              <a:rPr lang="en-US" err="1"/>
              <a:t>DkgDSL</a:t>
            </a:r>
            <a:r>
              <a:rPr lang="en-US"/>
              <a:t> v2</a:t>
            </a:r>
          </a:p>
        </p:txBody>
      </p:sp>
    </p:spTree>
    <p:extLst>
      <p:ext uri="{BB962C8B-B14F-4D97-AF65-F5344CB8AC3E}">
        <p14:creationId xmlns:p14="http://schemas.microsoft.com/office/powerpoint/2010/main" val="1710895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4" name="Google Shape;604;p54"/>
          <p:cNvSpPr/>
          <p:nvPr/>
        </p:nvSpPr>
        <p:spPr>
          <a:xfrm>
            <a:off x="1828800" y="12344400"/>
            <a:ext cx="5638800" cy="2921000"/>
          </a:xfrm>
          <a:prstGeom prst="rect">
            <a:avLst/>
          </a:prstGeom>
          <a:solidFill>
            <a:srgbClr val="FFFFFF"/>
          </a:solidFill>
          <a:ln w="50800" cap="flat" cmpd="sng">
            <a:solidFill>
              <a:srgbClr val="BFBFBF"/>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Consolas"/>
              <a:buNone/>
            </a:pPr>
            <a:r>
              <a:rPr lang="en-US" sz="5600" b="1">
                <a:solidFill>
                  <a:srgbClr val="111114"/>
                </a:solidFill>
                <a:latin typeface="Consolas"/>
                <a:ea typeface="Consolas"/>
                <a:cs typeface="Consolas"/>
                <a:sym typeface="Consolas"/>
              </a:rPr>
              <a:t>user.py</a:t>
            </a:r>
            <a:endParaRPr sz="4400"/>
          </a:p>
        </p:txBody>
      </p:sp>
      <p:sp>
        <p:nvSpPr>
          <p:cNvPr id="605" name="Google Shape;605;p54"/>
          <p:cNvSpPr/>
          <p:nvPr/>
        </p:nvSpPr>
        <p:spPr>
          <a:xfrm>
            <a:off x="8610600" y="12344400"/>
            <a:ext cx="5638800" cy="2921000"/>
          </a:xfrm>
          <a:prstGeom prst="rect">
            <a:avLst/>
          </a:prstGeom>
          <a:solidFill>
            <a:srgbClr val="FFFFFF"/>
          </a:solidFill>
          <a:ln w="50800" cap="flat" cmpd="sng">
            <a:solidFill>
              <a:srgbClr val="111114"/>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Arial"/>
              <a:buNone/>
            </a:pPr>
            <a:r>
              <a:rPr lang="en-US" sz="5600" b="1">
                <a:solidFill>
                  <a:srgbClr val="111114"/>
                </a:solidFill>
                <a:latin typeface="Arial"/>
                <a:ea typeface="Arial"/>
                <a:cs typeface="Arial"/>
                <a:sym typeface="Arial"/>
              </a:rPr>
              <a:t>AST-rewrite</a:t>
            </a:r>
          </a:p>
          <a:p>
            <a:pPr marL="0" marR="0" lvl="0" indent="0" algn="ctr" rtl="0">
              <a:spcBef>
                <a:spcPts val="800"/>
              </a:spcBef>
              <a:spcAft>
                <a:spcPts val="0"/>
              </a:spcAft>
              <a:buFont typeface="Arial"/>
              <a:buNone/>
            </a:pPr>
            <a:r>
              <a:rPr lang="en-US" sz="3400" b="0" spc="300">
                <a:solidFill>
                  <a:srgbClr val="757575"/>
                </a:solidFill>
                <a:latin typeface="Arial"/>
                <a:ea typeface="Arial"/>
                <a:cs typeface="Arial"/>
                <a:sym typeface="Arial"/>
              </a:rPr>
              <a:t>10,193 LOC</a:t>
            </a:r>
          </a:p>
        </p:txBody>
      </p:sp>
      <p:sp>
        <p:nvSpPr>
          <p:cNvPr id="606" name="Google Shape;606;p54"/>
          <p:cNvSpPr/>
          <p:nvPr/>
        </p:nvSpPr>
        <p:spPr>
          <a:xfrm>
            <a:off x="15036800" y="12344400"/>
            <a:ext cx="6350000" cy="2921000"/>
          </a:xfrm>
          <a:prstGeom prst="rect">
            <a:avLst/>
          </a:prstGeom>
          <a:solidFill>
            <a:srgbClr val="FFFFFF"/>
          </a:solidFill>
          <a:ln w="50800" cap="flat" cmpd="sng">
            <a:solidFill>
              <a:srgbClr val="111114"/>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Arial"/>
              <a:buNone/>
            </a:pPr>
            <a:r>
              <a:rPr lang="en-US" sz="5600" b="1">
                <a:solidFill>
                  <a:srgbClr val="111114"/>
                </a:solidFill>
                <a:latin typeface="Arial"/>
                <a:ea typeface="Arial"/>
                <a:cs typeface="Arial"/>
                <a:sym typeface="Arial"/>
              </a:rPr>
              <a:t>Tracing Runtime</a:t>
            </a:r>
          </a:p>
          <a:p>
            <a:pPr marL="0" marR="0" lvl="0" indent="0" algn="ctr" rtl="0">
              <a:spcBef>
                <a:spcPts val="800"/>
              </a:spcBef>
              <a:spcAft>
                <a:spcPts val="0"/>
              </a:spcAft>
              <a:buFont typeface="Arial"/>
              <a:buNone/>
            </a:pPr>
            <a:r>
              <a:rPr lang="en-US" sz="3400" b="0" spc="300">
                <a:solidFill>
                  <a:srgbClr val="757575"/>
                </a:solidFill>
                <a:latin typeface="Arial"/>
                <a:ea typeface="Arial"/>
                <a:cs typeface="Arial"/>
                <a:sym typeface="Arial"/>
              </a:rPr>
              <a:t>23,636 LOC</a:t>
            </a:r>
          </a:p>
        </p:txBody>
      </p:sp>
      <p:sp>
        <p:nvSpPr>
          <p:cNvPr id="607" name="Google Shape;607;p54"/>
          <p:cNvSpPr/>
          <p:nvPr/>
        </p:nvSpPr>
        <p:spPr>
          <a:xfrm>
            <a:off x="22174200" y="12344400"/>
            <a:ext cx="5638800" cy="2921000"/>
          </a:xfrm>
          <a:prstGeom prst="rect">
            <a:avLst/>
          </a:prstGeom>
          <a:solidFill>
            <a:srgbClr val="FFFFFF"/>
          </a:solidFill>
          <a:ln w="50800" cap="flat" cmpd="sng">
            <a:solidFill>
              <a:srgbClr val="111114"/>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Arial"/>
              <a:buNone/>
            </a:pPr>
            <a:r>
              <a:rPr lang="en-US" sz="5600" b="1" err="1">
                <a:solidFill>
                  <a:srgbClr val="111114"/>
                </a:solidFill>
                <a:latin typeface="Arial"/>
                <a:ea typeface="Arial"/>
                <a:cs typeface="Arial"/>
                <a:sym typeface="Arial"/>
              </a:rPr>
              <a:t>PyIR</a:t>
            </a:r>
            <a:r>
              <a:rPr lang="en-US" sz="5600" b="1">
                <a:solidFill>
                  <a:srgbClr val="111114"/>
                </a:solidFill>
                <a:latin typeface="Arial"/>
                <a:ea typeface="Arial"/>
                <a:cs typeface="Arial"/>
                <a:sym typeface="Arial"/>
              </a:rPr>
              <a:t> dialect</a:t>
            </a:r>
          </a:p>
          <a:p>
            <a:pPr marL="0" marR="0" lvl="0" indent="0" algn="ctr" rtl="0">
              <a:spcBef>
                <a:spcPts val="800"/>
              </a:spcBef>
              <a:spcAft>
                <a:spcPts val="0"/>
              </a:spcAft>
              <a:buFont typeface="Arial"/>
              <a:buNone/>
            </a:pPr>
            <a:r>
              <a:rPr lang="en-US" sz="3400" b="0" spc="300">
                <a:solidFill>
                  <a:srgbClr val="757575"/>
                </a:solidFill>
                <a:latin typeface="Arial"/>
                <a:ea typeface="Arial"/>
                <a:cs typeface="Arial"/>
                <a:sym typeface="Arial"/>
              </a:rPr>
              <a:t>3,219 LOC</a:t>
            </a:r>
          </a:p>
        </p:txBody>
      </p:sp>
      <p:sp>
        <p:nvSpPr>
          <p:cNvPr id="608" name="Google Shape;608;p54"/>
          <p:cNvSpPr/>
          <p:nvPr/>
        </p:nvSpPr>
        <p:spPr>
          <a:xfrm>
            <a:off x="28956000" y="12344400"/>
            <a:ext cx="5638800" cy="2921000"/>
          </a:xfrm>
          <a:prstGeom prst="rect">
            <a:avLst/>
          </a:prstGeom>
          <a:solidFill>
            <a:srgbClr val="FFFFFF"/>
          </a:solidFill>
          <a:ln w="50800" cap="flat" cmpd="sng">
            <a:solidFill>
              <a:srgbClr val="111114"/>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Arial"/>
              <a:buNone/>
            </a:pPr>
            <a:r>
              <a:rPr lang="en-US" sz="5600" b="1">
                <a:solidFill>
                  <a:srgbClr val="111114"/>
                </a:solidFill>
                <a:latin typeface="Arial"/>
                <a:ea typeface="Arial"/>
                <a:cs typeface="Arial"/>
                <a:sym typeface="Arial"/>
              </a:rPr>
              <a:t>regular MLIR</a:t>
            </a:r>
            <a:endParaRPr sz="4400"/>
          </a:p>
        </p:txBody>
      </p:sp>
      <p:sp>
        <p:nvSpPr>
          <p:cNvPr id="609" name="Google Shape;609;p54"/>
          <p:cNvSpPr/>
          <p:nvPr/>
        </p:nvSpPr>
        <p:spPr>
          <a:xfrm>
            <a:off x="7696200" y="13614400"/>
            <a:ext cx="685800" cy="381000"/>
          </a:xfrm>
          <a:prstGeom prst="rightArrow">
            <a:avLst>
              <a:gd name="adj1" fmla="val 50000"/>
              <a:gd name="adj2" fmla="val 50000"/>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10" name="Google Shape;610;p54"/>
          <p:cNvSpPr/>
          <p:nvPr/>
        </p:nvSpPr>
        <p:spPr>
          <a:xfrm>
            <a:off x="14300200" y="13614400"/>
            <a:ext cx="685800" cy="381000"/>
          </a:xfrm>
          <a:prstGeom prst="rightArrow">
            <a:avLst>
              <a:gd name="adj1" fmla="val 50000"/>
              <a:gd name="adj2" fmla="val 50000"/>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11" name="Google Shape;611;p54"/>
          <p:cNvSpPr/>
          <p:nvPr/>
        </p:nvSpPr>
        <p:spPr>
          <a:xfrm>
            <a:off x="21437600" y="13614400"/>
            <a:ext cx="685800" cy="381000"/>
          </a:xfrm>
          <a:prstGeom prst="rightArrow">
            <a:avLst>
              <a:gd name="adj1" fmla="val 50000"/>
              <a:gd name="adj2" fmla="val 50000"/>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12" name="Google Shape;612;p54"/>
          <p:cNvSpPr/>
          <p:nvPr/>
        </p:nvSpPr>
        <p:spPr>
          <a:xfrm>
            <a:off x="28041600" y="13614400"/>
            <a:ext cx="685800" cy="381000"/>
          </a:xfrm>
          <a:prstGeom prst="rightArrow">
            <a:avLst>
              <a:gd name="adj1" fmla="val 50000"/>
              <a:gd name="adj2" fmla="val 50000"/>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13" name="Google Shape;613;p54"/>
          <p:cNvSpPr txBox="1"/>
          <p:nvPr/>
        </p:nvSpPr>
        <p:spPr>
          <a:xfrm>
            <a:off x="1828800" y="11303000"/>
            <a:ext cx="5638800" cy="686400"/>
          </a:xfrm>
          <a:prstGeom prst="rect">
            <a:avLst/>
          </a:prstGeom>
          <a:noFill/>
          <a:ln>
            <a:noFill/>
          </a:ln>
        </p:spPr>
        <p:txBody>
          <a:bodyPr spcFirstLastPara="1" wrap="square" lIns="274300" tIns="137100" rIns="274300" bIns="137100" anchor="t" anchorCtr="0">
            <a:noAutofit/>
          </a:bodyPr>
          <a:lstStyle/>
          <a:p>
            <a:pPr marL="0" marR="0" lvl="0" indent="0" algn="ctr" rtl="0">
              <a:spcBef>
                <a:spcPts val="0"/>
              </a:spcBef>
              <a:spcAft>
                <a:spcPts val="0"/>
              </a:spcAft>
              <a:buClr>
                <a:srgbClr val="4A4A4F"/>
              </a:buClr>
              <a:buSzPts val="3600"/>
              <a:buFont typeface="Arial"/>
              <a:buNone/>
            </a:pPr>
            <a:r>
              <a:rPr lang="en-US" sz="3600" b="1">
                <a:solidFill>
                  <a:srgbClr val="4A4A4F"/>
                </a:solidFill>
                <a:latin typeface="Arial"/>
                <a:ea typeface="Arial"/>
                <a:cs typeface="Arial"/>
                <a:sym typeface="Arial"/>
              </a:rPr>
              <a:t>INPUT</a:t>
            </a:r>
            <a:endParaRPr sz="4400"/>
          </a:p>
        </p:txBody>
      </p:sp>
      <p:sp>
        <p:nvSpPr>
          <p:cNvPr id="617" name="Google Shape;617;p54"/>
          <p:cNvSpPr/>
          <p:nvPr/>
        </p:nvSpPr>
        <p:spPr>
          <a:xfrm>
            <a:off x="8610600" y="12115800"/>
            <a:ext cx="5638800" cy="114000"/>
          </a:xfrm>
          <a:prstGeom prst="rect">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18" name="Google Shape;618;p54"/>
          <p:cNvSpPr/>
          <p:nvPr/>
        </p:nvSpPr>
        <p:spPr>
          <a:xfrm>
            <a:off x="15036800" y="12115800"/>
            <a:ext cx="6350000" cy="114000"/>
          </a:xfrm>
          <a:prstGeom prst="rect">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19" name="Google Shape;619;p54"/>
          <p:cNvSpPr/>
          <p:nvPr/>
        </p:nvSpPr>
        <p:spPr>
          <a:xfrm>
            <a:off x="22174200" y="12115800"/>
            <a:ext cx="12421200" cy="114000"/>
          </a:xfrm>
          <a:prstGeom prst="rect">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20" name="Google Shape;620;p54"/>
          <p:cNvSpPr/>
          <p:nvPr/>
        </p:nvSpPr>
        <p:spPr>
          <a:xfrm>
            <a:off x="1828800" y="12115800"/>
            <a:ext cx="5638800" cy="114000"/>
          </a:xfrm>
          <a:prstGeom prst="rect">
            <a:avLst/>
          </a:prstGeom>
          <a:solidFill>
            <a:srgbClr val="BFBFBF"/>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21" name="Google Shape;621;p54"/>
          <p:cNvSpPr/>
          <p:nvPr/>
        </p:nvSpPr>
        <p:spPr>
          <a:xfrm>
            <a:off x="8610600" y="15519400"/>
            <a:ext cx="1066800" cy="114000"/>
          </a:xfrm>
          <a:prstGeom prst="rect">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22" name="Google Shape;622;p54"/>
          <p:cNvSpPr/>
          <p:nvPr/>
        </p:nvSpPr>
        <p:spPr>
          <a:xfrm>
            <a:off x="15392400" y="15519400"/>
            <a:ext cx="1066800" cy="114000"/>
          </a:xfrm>
          <a:prstGeom prst="rect">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23" name="Google Shape;623;p54"/>
          <p:cNvSpPr/>
          <p:nvPr/>
        </p:nvSpPr>
        <p:spPr>
          <a:xfrm>
            <a:off x="22174200" y="15519400"/>
            <a:ext cx="1066800" cy="114000"/>
          </a:xfrm>
          <a:prstGeom prst="rect">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624" name="Google Shape;624;p54"/>
          <p:cNvSpPr txBox="1"/>
          <p:nvPr/>
        </p:nvSpPr>
        <p:spPr>
          <a:xfrm>
            <a:off x="8610600" y="15925800"/>
            <a:ext cx="5638800" cy="2032000"/>
          </a:xfrm>
          <a:prstGeom prst="rect">
            <a:avLst/>
          </a:prstGeom>
          <a:noFill/>
          <a:ln>
            <a:noFill/>
          </a:ln>
        </p:spPr>
        <p:txBody>
          <a:bodyPr spcFirstLastPara="1" wrap="square" lIns="274300" tIns="137100" rIns="274300" bIns="137100" anchor="t" anchorCtr="0">
            <a:noAutofit/>
          </a:bodyPr>
          <a:lstStyle/>
          <a:p>
            <a:pPr marL="0" marR="0" lvl="0" indent="0" algn="l" rtl="0">
              <a:lnSpc>
                <a:spcPct val="126666"/>
              </a:lnSpc>
              <a:spcBef>
                <a:spcPts val="0"/>
              </a:spcBef>
              <a:spcAft>
                <a:spcPts val="0"/>
              </a:spcAft>
              <a:buClr>
                <a:srgbClr val="4A4A4F"/>
              </a:buClr>
              <a:buSzPts val="4400"/>
              <a:buFont typeface="Arial"/>
              <a:buNone/>
            </a:pPr>
            <a:r>
              <a:rPr lang="en-US" sz="2800">
                <a:solidFill>
                  <a:srgbClr val="4A7300"/>
                </a:solidFill>
                <a:latin typeface="NVIDIA Sans"/>
                <a:cs typeface="NVIDIA Sans"/>
              </a:rPr>
              <a:t>Callbacks into ordinary Python</a:t>
            </a:r>
            <a:endParaRPr sz="2800">
              <a:solidFill>
                <a:srgbClr val="4A7300"/>
              </a:solidFill>
              <a:latin typeface="NVIDIA Sans"/>
              <a:cs typeface="NVIDIA Sans"/>
            </a:endParaRPr>
          </a:p>
        </p:txBody>
      </p:sp>
      <p:sp>
        <p:nvSpPr>
          <p:cNvPr id="625" name="Google Shape;625;p54"/>
          <p:cNvSpPr txBox="1"/>
          <p:nvPr/>
        </p:nvSpPr>
        <p:spPr>
          <a:xfrm>
            <a:off x="15392400" y="15925800"/>
            <a:ext cx="5638800" cy="2032000"/>
          </a:xfrm>
          <a:prstGeom prst="rect">
            <a:avLst/>
          </a:prstGeom>
          <a:noFill/>
          <a:ln>
            <a:noFill/>
          </a:ln>
        </p:spPr>
        <p:txBody>
          <a:bodyPr spcFirstLastPara="1" wrap="square" lIns="274300" tIns="137100" rIns="274300" bIns="137100" anchor="t" anchorCtr="0">
            <a:noAutofit/>
          </a:bodyPr>
          <a:lstStyle/>
          <a:p>
            <a:pPr marL="0" marR="0" lvl="0" indent="0" algn="l" rtl="0">
              <a:lnSpc>
                <a:spcPct val="126666"/>
              </a:lnSpc>
              <a:spcBef>
                <a:spcPts val="0"/>
              </a:spcBef>
              <a:spcAft>
                <a:spcPts val="0"/>
              </a:spcAft>
              <a:buClr>
                <a:srgbClr val="4A4A4F"/>
              </a:buClr>
              <a:buSzPts val="4400"/>
              <a:buFont typeface="Arial"/>
              <a:buNone/>
            </a:pPr>
            <a:r>
              <a:rPr lang="en-US" sz="2800">
                <a:solidFill>
                  <a:srgbClr val="4A7300"/>
                </a:solidFill>
                <a:latin typeface="NVIDIA Sans"/>
                <a:cs typeface="NVIDIA Sans"/>
              </a:rPr>
              <a:t>Side effects are tracked</a:t>
            </a:r>
            <a:endParaRPr sz="2800">
              <a:solidFill>
                <a:srgbClr val="4A7300"/>
              </a:solidFill>
              <a:latin typeface="NVIDIA Sans"/>
              <a:cs typeface="NVIDIA Sans"/>
            </a:endParaRPr>
          </a:p>
        </p:txBody>
      </p:sp>
      <p:sp>
        <p:nvSpPr>
          <p:cNvPr id="626" name="Google Shape;626;p54"/>
          <p:cNvSpPr txBox="1"/>
          <p:nvPr/>
        </p:nvSpPr>
        <p:spPr>
          <a:xfrm>
            <a:off x="22174200" y="15925800"/>
            <a:ext cx="5638800" cy="2032000"/>
          </a:xfrm>
          <a:prstGeom prst="rect">
            <a:avLst/>
          </a:prstGeom>
          <a:noFill/>
          <a:ln>
            <a:noFill/>
          </a:ln>
        </p:spPr>
        <p:txBody>
          <a:bodyPr spcFirstLastPara="1" wrap="square" lIns="274300" tIns="137100" rIns="274300" bIns="137100" anchor="t" anchorCtr="0">
            <a:noAutofit/>
          </a:bodyPr>
          <a:lstStyle/>
          <a:p>
            <a:pPr marL="0" marR="0" lvl="0" indent="0" algn="l" rtl="0">
              <a:lnSpc>
                <a:spcPct val="126666"/>
              </a:lnSpc>
              <a:spcBef>
                <a:spcPts val="0"/>
              </a:spcBef>
              <a:spcAft>
                <a:spcPts val="0"/>
              </a:spcAft>
              <a:buClr>
                <a:srgbClr val="4A4A4F"/>
              </a:buClr>
              <a:buSzPts val="4400"/>
              <a:buFont typeface="Arial"/>
              <a:buNone/>
            </a:pPr>
            <a:r>
              <a:rPr lang="en-US" sz="2800">
                <a:solidFill>
                  <a:srgbClr val="4A7300"/>
                </a:solidFill>
                <a:latin typeface="NVIDIA Sans"/>
                <a:cs typeface="NVIDIA Sans"/>
              </a:rPr>
              <a:t>Non-SSA dialect, lowered to SSA via mem2reg</a:t>
            </a:r>
            <a:endParaRPr sz="2800">
              <a:solidFill>
                <a:srgbClr val="4A7300"/>
              </a:solidFill>
              <a:latin typeface="NVIDIA Sans"/>
              <a:cs typeface="NVIDIA Sans"/>
            </a:endParaRPr>
          </a:p>
        </p:txBody>
      </p:sp>
      <p:sp>
        <p:nvSpPr>
          <p:cNvPr id="628" name="Google Shape;628;p54"/>
          <p:cNvSpPr txBox="1"/>
          <p:nvPr/>
        </p:nvSpPr>
        <p:spPr>
          <a:xfrm>
            <a:off x="1828800" y="914400"/>
            <a:ext cx="32918400" cy="2463800"/>
          </a:xfrm>
          <a:prstGeom prst="rect">
            <a:avLst/>
          </a:prstGeom>
          <a:noFill/>
          <a:ln>
            <a:noFill/>
          </a:ln>
        </p:spPr>
        <p:txBody>
          <a:bodyPr spcFirstLastPara="1" wrap="square" lIns="0" tIns="0" rIns="0" bIns="0" anchor="b" anchorCtr="0">
            <a:noAutofit/>
          </a:bodyPr>
          <a:lstStyle/>
          <a:p>
            <a:pPr lvl="0">
              <a:buClr>
                <a:srgbClr val="111114"/>
              </a:buClr>
              <a:buSzPts val="7200"/>
            </a:pPr>
            <a:r>
              <a:rPr lang="en-US" sz="8800" err="1">
                <a:latin typeface="NVIDIA Sans Medium"/>
                <a:ea typeface="NVIDIA Sans Medium"/>
                <a:cs typeface="NVIDIA Sans Medium"/>
                <a:sym typeface="NVIDIA Sans Medium"/>
              </a:rPr>
              <a:t>DkgDSL</a:t>
            </a:r>
            <a:r>
              <a:rPr lang="en-US" sz="8800">
                <a:latin typeface="NVIDIA Sans Medium"/>
                <a:ea typeface="NVIDIA Sans Medium"/>
                <a:cs typeface="NVIDIA Sans Medium"/>
                <a:sym typeface="NVIDIA Sans Medium"/>
              </a:rPr>
              <a:t> v1 vs v2</a:t>
            </a:r>
            <a:endParaRPr lang="en-US" sz="8800">
              <a:latin typeface="NVIDIA Sans Medium"/>
              <a:cs typeface="NVIDIA Sans Medium"/>
            </a:endParaRPr>
          </a:p>
        </p:txBody>
      </p:sp>
      <p:sp>
        <p:nvSpPr>
          <p:cNvPr id="2" name="V1Label">
            <a:extLst>
              <a:ext uri="{FF2B5EF4-FFF2-40B4-BE49-F238E27FC236}">
                <a16:creationId xmlns:a16="http://schemas.microsoft.com/office/drawing/2014/main" id="{A78644F9-187E-C14C-964C-C6580B2917F3}"/>
              </a:ext>
            </a:extLst>
          </p:cNvPr>
          <p:cNvSpPr txBox="1"/>
          <p:nvPr/>
        </p:nvSpPr>
        <p:spPr>
          <a:xfrm>
            <a:off x="1828800" y="4070200"/>
            <a:ext cx="32918400" cy="558800"/>
          </a:xfrm>
          <a:prstGeom prst="rect">
            <a:avLst/>
          </a:prstGeom>
          <a:noFill/>
        </p:spPr>
        <p:txBody>
          <a:bodyPr vertOverflow="overflow" vert="horz" wrap="square" rtlCol="0" anchor="t">
            <a:spAutoFit/>
          </a:bodyPr>
          <a:lstStyle/>
          <a:p>
            <a:pPr algn="l"/>
            <a:r>
              <a:rPr lang="en-US" sz="3000">
                <a:solidFill>
                  <a:srgbClr val="313131"/>
                </a:solidFill>
                <a:latin typeface="NVIDIA Sans"/>
                <a:cs typeface="NVIDIA Sans"/>
              </a:rPr>
              <a:t>v1   ·   AST rewrite and tracing only: no dialect of its own</a:t>
            </a:r>
          </a:p>
        </p:txBody>
      </p:sp>
      <p:sp>
        <p:nvSpPr>
          <p:cNvPr id="11" name="V2Label">
            <a:extLst>
              <a:ext uri="{FF2B5EF4-FFF2-40B4-BE49-F238E27FC236}">
                <a16:creationId xmlns:a16="http://schemas.microsoft.com/office/drawing/2014/main" id="{F4A15CCB-E983-1F4C-AD5B-C94F761840FC}"/>
              </a:ext>
            </a:extLst>
          </p:cNvPr>
          <p:cNvSpPr txBox="1"/>
          <p:nvPr/>
        </p:nvSpPr>
        <p:spPr>
          <a:xfrm>
            <a:off x="1828800" y="10160000"/>
            <a:ext cx="32918400" cy="635000"/>
          </a:xfrm>
          <a:prstGeom prst="rect">
            <a:avLst/>
          </a:prstGeom>
          <a:noFill/>
        </p:spPr>
        <p:txBody>
          <a:bodyPr vertOverflow="overflow" vert="horz" wrap="square" rtlCol="0" anchor="t">
            <a:spAutoFit/>
          </a:bodyPr>
          <a:lstStyle/>
          <a:p>
            <a:pPr algn="l"/>
            <a:r>
              <a:rPr lang="en-US" sz="3000">
                <a:solidFill>
                  <a:srgbClr val="4A7300"/>
                </a:solidFill>
                <a:latin typeface="NVIDIA Sans"/>
                <a:cs typeface="NVIDIA Sans"/>
              </a:rPr>
              <a:t>v2   ·   the same front half, plus a dialect it can lower on its own terms</a:t>
            </a:r>
          </a:p>
        </p:txBody>
      </p:sp>
      <p:sp>
        <p:nvSpPr>
          <p:cNvPr id="13" name="V1None">
            <a:extLst>
              <a:ext uri="{FF2B5EF4-FFF2-40B4-BE49-F238E27FC236}">
                <a16:creationId xmlns:a16="http://schemas.microsoft.com/office/drawing/2014/main" id="{FE384702-585F-5645-ABD9-A553BD1FBAA1}"/>
              </a:ext>
            </a:extLst>
          </p:cNvPr>
          <p:cNvSpPr txBox="1"/>
          <p:nvPr/>
        </p:nvSpPr>
        <p:spPr>
          <a:xfrm>
            <a:off x="21513800" y="5410200"/>
            <a:ext cx="7315200" cy="523220"/>
          </a:xfrm>
          <a:prstGeom prst="rect">
            <a:avLst/>
          </a:prstGeom>
          <a:noFill/>
        </p:spPr>
        <p:txBody>
          <a:bodyPr vertOverflow="overflow" vert="horz" wrap="square" rtlCol="0" anchor="ctr" anchorCtr="0">
            <a:spAutoFit/>
          </a:bodyPr>
          <a:lstStyle/>
          <a:p>
            <a:pPr algn="ctr">
              <a:buNone/>
            </a:pPr>
            <a:r>
              <a:rPr lang="en-US" sz="2800" i="1">
                <a:solidFill>
                  <a:srgbClr val="313131"/>
                </a:solidFill>
              </a:rPr>
              <a:t>no dialect of its own</a:t>
            </a:r>
          </a:p>
        </p:txBody>
      </p:sp>
      <p:sp>
        <p:nvSpPr>
          <p:cNvPr id="9604" name="V1 user"/>
          <p:cNvSpPr/>
          <p:nvPr/>
        </p:nvSpPr>
        <p:spPr>
          <a:xfrm>
            <a:off x="1828800" y="5111600"/>
            <a:ext cx="5638800" cy="2921000"/>
          </a:xfrm>
          <a:prstGeom prst="rect">
            <a:avLst/>
          </a:prstGeom>
          <a:solidFill>
            <a:srgbClr val="FFFFFF"/>
          </a:solidFill>
          <a:ln w="50800" cap="flat" cmpd="sng">
            <a:solidFill>
              <a:srgbClr val="BFBFBF"/>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Consolas"/>
              <a:buNone/>
            </a:pPr>
            <a:r>
              <a:rPr lang="en-US" sz="5600" b="1">
                <a:solidFill>
                  <a:srgbClr val="111114"/>
                </a:solidFill>
                <a:latin typeface="Consolas"/>
                <a:ea typeface="Consolas"/>
                <a:cs typeface="Consolas"/>
                <a:sym typeface="Consolas"/>
              </a:rPr>
              <a:t>user.py</a:t>
            </a:r>
            <a:endParaRPr sz="4400"/>
          </a:p>
        </p:txBody>
      </p:sp>
      <p:sp>
        <p:nvSpPr>
          <p:cNvPr id="9605" name="V1 ast"/>
          <p:cNvSpPr/>
          <p:nvPr/>
        </p:nvSpPr>
        <p:spPr>
          <a:xfrm>
            <a:off x="8610600" y="5111600"/>
            <a:ext cx="5638800" cy="2921000"/>
          </a:xfrm>
          <a:prstGeom prst="rect">
            <a:avLst/>
          </a:prstGeom>
          <a:solidFill>
            <a:srgbClr val="FFFFFF"/>
          </a:solidFill>
          <a:ln w="50800" cap="flat" cmpd="sng">
            <a:solidFill>
              <a:srgbClr val="111114"/>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Arial"/>
              <a:buNone/>
            </a:pPr>
            <a:r>
              <a:rPr lang="en-US" sz="5600" b="1">
                <a:solidFill>
                  <a:srgbClr val="111114"/>
                </a:solidFill>
                <a:latin typeface="Arial"/>
                <a:ea typeface="Arial"/>
                <a:cs typeface="Arial"/>
                <a:sym typeface="Arial"/>
              </a:rPr>
              <a:t>AST-rewrite</a:t>
            </a:r>
          </a:p>
          <a:p>
            <a:pPr marL="0" marR="0" lvl="0" indent="0" algn="ctr" rtl="0">
              <a:spcBef>
                <a:spcPts val="800"/>
              </a:spcBef>
              <a:spcAft>
                <a:spcPts val="0"/>
              </a:spcAft>
              <a:buFont typeface="Arial"/>
              <a:buNone/>
            </a:pPr>
            <a:r>
              <a:rPr lang="en-US" sz="3400" b="0" spc="300">
                <a:solidFill>
                  <a:srgbClr val="757575"/>
                </a:solidFill>
                <a:latin typeface="Arial"/>
                <a:ea typeface="Arial"/>
                <a:cs typeface="Arial"/>
                <a:sym typeface="Arial"/>
              </a:rPr>
              <a:t>4,138 LOC</a:t>
            </a:r>
          </a:p>
        </p:txBody>
      </p:sp>
      <p:sp>
        <p:nvSpPr>
          <p:cNvPr id="9606" name="V1 trace"/>
          <p:cNvSpPr/>
          <p:nvPr/>
        </p:nvSpPr>
        <p:spPr>
          <a:xfrm>
            <a:off x="15036800" y="5111600"/>
            <a:ext cx="6350000" cy="2921000"/>
          </a:xfrm>
          <a:prstGeom prst="rect">
            <a:avLst/>
          </a:prstGeom>
          <a:solidFill>
            <a:srgbClr val="FFFFFF"/>
          </a:solidFill>
          <a:ln w="50800" cap="flat" cmpd="sng">
            <a:solidFill>
              <a:srgbClr val="111114"/>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Arial"/>
              <a:buNone/>
            </a:pPr>
            <a:r>
              <a:rPr lang="en-US" sz="5600" b="1">
                <a:solidFill>
                  <a:srgbClr val="111114"/>
                </a:solidFill>
                <a:latin typeface="Arial"/>
                <a:ea typeface="Arial"/>
                <a:cs typeface="Arial"/>
                <a:sym typeface="Arial"/>
              </a:rPr>
              <a:t>Tracing Runtime</a:t>
            </a:r>
          </a:p>
          <a:p>
            <a:pPr marL="0" marR="0" lvl="0" indent="0" algn="ctr" rtl="0">
              <a:spcBef>
                <a:spcPts val="800"/>
              </a:spcBef>
              <a:spcAft>
                <a:spcPts val="0"/>
              </a:spcAft>
              <a:buFont typeface="Arial"/>
              <a:buNone/>
            </a:pPr>
            <a:r>
              <a:rPr lang="en-US" sz="3400" b="0" spc="300">
                <a:solidFill>
                  <a:srgbClr val="757575"/>
                </a:solidFill>
                <a:latin typeface="Arial"/>
                <a:ea typeface="Arial"/>
                <a:cs typeface="Arial"/>
                <a:sym typeface="Arial"/>
              </a:rPr>
              <a:t>8,508 LOC</a:t>
            </a:r>
          </a:p>
        </p:txBody>
      </p:sp>
      <p:sp>
        <p:nvSpPr>
          <p:cNvPr id="9608" name="V1 mlir"/>
          <p:cNvSpPr/>
          <p:nvPr/>
        </p:nvSpPr>
        <p:spPr>
          <a:xfrm>
            <a:off x="28956000" y="5111600"/>
            <a:ext cx="5638800" cy="2921000"/>
          </a:xfrm>
          <a:prstGeom prst="rect">
            <a:avLst/>
          </a:prstGeom>
          <a:solidFill>
            <a:srgbClr val="FFFFFF"/>
          </a:solidFill>
          <a:ln w="50800" cap="flat" cmpd="sng">
            <a:solidFill>
              <a:srgbClr val="111114"/>
            </a:solidFill>
            <a:prstDash val="solid"/>
            <a:miter lim="8000"/>
            <a:headEnd type="none" w="sm" len="sm"/>
            <a:tailEnd type="none" w="sm" len="sm"/>
          </a:ln>
        </p:spPr>
        <p:txBody>
          <a:bodyPr spcFirstLastPara="1" wrap="square" lIns="274300" tIns="137100" rIns="274300" bIns="137100" anchor="ctr" anchorCtr="0">
            <a:noAutofit/>
          </a:bodyPr>
          <a:lstStyle/>
          <a:p>
            <a:pPr marL="0" marR="0" lvl="0" indent="0" algn="ctr" rtl="0">
              <a:spcBef>
                <a:spcPts val="0"/>
              </a:spcBef>
              <a:spcAft>
                <a:spcPts val="0"/>
              </a:spcAft>
              <a:buClr>
                <a:srgbClr val="111114"/>
              </a:buClr>
              <a:buSzPts val="5600"/>
              <a:buFont typeface="Arial"/>
              <a:buNone/>
            </a:pPr>
            <a:r>
              <a:rPr lang="en-US" sz="5600" b="1">
                <a:solidFill>
                  <a:srgbClr val="111114"/>
                </a:solidFill>
                <a:latin typeface="Arial"/>
                <a:ea typeface="Arial"/>
                <a:cs typeface="Arial"/>
                <a:sym typeface="Arial"/>
              </a:rPr>
              <a:t>regular MLIR</a:t>
            </a:r>
            <a:endParaRPr sz="4400"/>
          </a:p>
        </p:txBody>
      </p:sp>
      <p:sp>
        <p:nvSpPr>
          <p:cNvPr id="9609" name="V1 arr0"/>
          <p:cNvSpPr/>
          <p:nvPr/>
        </p:nvSpPr>
        <p:spPr>
          <a:xfrm>
            <a:off x="7696200" y="6375400"/>
            <a:ext cx="685800" cy="381000"/>
          </a:xfrm>
          <a:prstGeom prst="rightArrow">
            <a:avLst>
              <a:gd name="adj1" fmla="val 50000"/>
              <a:gd name="adj2" fmla="val 50000"/>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9610" name="V1 arr1"/>
          <p:cNvSpPr/>
          <p:nvPr/>
        </p:nvSpPr>
        <p:spPr>
          <a:xfrm>
            <a:off x="14300200" y="6375400"/>
            <a:ext cx="685800" cy="381000"/>
          </a:xfrm>
          <a:prstGeom prst="rightArrow">
            <a:avLst>
              <a:gd name="adj1" fmla="val 50000"/>
              <a:gd name="adj2" fmla="val 50000"/>
            </a:avLst>
          </a:prstGeom>
          <a:solidFill>
            <a:srgbClr val="76B900"/>
          </a:solidFill>
          <a:ln>
            <a:noFill/>
          </a:ln>
        </p:spPr>
        <p:txBody>
          <a:bodyPr spcFirstLastPara="1" wrap="square" lIns="274300" tIns="137100" rIns="274300" bIns="137100" anchor="t" anchorCtr="0">
            <a:noAutofit/>
          </a:bodyPr>
          <a:lstStyle/>
          <a:p>
            <a:pPr marL="0" marR="0" lvl="0" indent="0" algn="l" rtl="0">
              <a:spcBef>
                <a:spcPts val="0"/>
              </a:spcBef>
              <a:spcAft>
                <a:spcPts val="0"/>
              </a:spcAft>
              <a:buNone/>
            </a:pPr>
            <a:endParaRPr sz="5600">
              <a:solidFill>
                <a:schemeClr val="lt1"/>
              </a:solidFill>
              <a:latin typeface="Arial"/>
              <a:ea typeface="Arial"/>
              <a:cs typeface="Arial"/>
              <a:sym typeface="Arial"/>
            </a:endParaRPr>
          </a:p>
        </p:txBody>
      </p:sp>
      <p:sp>
        <p:nvSpPr>
          <p:cNvPr id="4" name="V1Rule678">
            <a:extLst>
              <a:ext uri="{FF2B5EF4-FFF2-40B4-BE49-F238E27FC236}">
                <a16:creationId xmlns:a16="http://schemas.microsoft.com/office/drawing/2014/main" id="{05D553C2-5E3B-9247-8EF8-68911C52901B}"/>
              </a:ext>
            </a:extLst>
          </p:cNvPr>
          <p:cNvSpPr/>
          <p:nvPr/>
        </p:nvSpPr>
        <p:spPr>
          <a:xfrm>
            <a:off x="8610600" y="4857600"/>
            <a:ext cx="5638800" cy="1143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V1Rule1212">
            <a:extLst>
              <a:ext uri="{FF2B5EF4-FFF2-40B4-BE49-F238E27FC236}">
                <a16:creationId xmlns:a16="http://schemas.microsoft.com/office/drawing/2014/main" id="{ACA82D7A-2FF7-5E46-B633-6DE2085B346D}"/>
              </a:ext>
            </a:extLst>
          </p:cNvPr>
          <p:cNvSpPr/>
          <p:nvPr/>
        </p:nvSpPr>
        <p:spPr>
          <a:xfrm>
            <a:off x="15036800" y="4857600"/>
            <a:ext cx="6350000" cy="1143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V1LongArrow">
            <a:extLst>
              <a:ext uri="{FF2B5EF4-FFF2-40B4-BE49-F238E27FC236}">
                <a16:creationId xmlns:a16="http://schemas.microsoft.com/office/drawing/2014/main" id="{A864C650-5227-694C-9906-AB9B591C545F}"/>
              </a:ext>
            </a:extLst>
          </p:cNvPr>
          <p:cNvSpPr/>
          <p:nvPr/>
        </p:nvSpPr>
        <p:spPr>
          <a:xfrm>
            <a:off x="21513800" y="6337300"/>
            <a:ext cx="7315200" cy="431800"/>
          </a:xfrm>
          <a:prstGeom prst="rightArrow">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7650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0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6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60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60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6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6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0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0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1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1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2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2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2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2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 grpId="0" animBg="1"/>
      <p:bldP spid="605" grpId="0" animBg="1"/>
      <p:bldP spid="606" grpId="0" animBg="1"/>
      <p:bldP spid="607" grpId="0" animBg="1"/>
      <p:bldP spid="608" grpId="0" animBg="1"/>
      <p:bldP spid="609" grpId="0" animBg="1"/>
      <p:bldP spid="610" grpId="0" animBg="1"/>
      <p:bldP spid="611" grpId="0" animBg="1"/>
      <p:bldP spid="612" grpId="0" animBg="1"/>
      <p:bldP spid="613" grpId="0"/>
      <p:bldP spid="617" grpId="0" animBg="1"/>
      <p:bldP spid="618" grpId="0" animBg="1"/>
      <p:bldP spid="619" grpId="0" animBg="1"/>
      <p:bldP spid="620" grpId="0" animBg="1"/>
      <p:bldP spid="621" grpId="0" animBg="1"/>
      <p:bldP spid="622" grpId="0" animBg="1"/>
      <p:bldP spid="623" grpId="0" animBg="1"/>
      <p:bldP spid="624" grpId="0"/>
      <p:bldP spid="625" grpId="0"/>
      <p:bldP spid="626" grpId="0"/>
      <p:bldP spid="2" grpId="0"/>
      <p:bldP spid="11" grpId="0"/>
      <p:bldP spid="13" grpId="0"/>
      <p:bldP spid="9604" grpId="0" animBg="1"/>
      <p:bldP spid="9605" grpId="0" animBg="1"/>
      <p:bldP spid="9606" grpId="0" animBg="1"/>
      <p:bldP spid="9608" grpId="0" animBg="1"/>
      <p:bldP spid="9609" grpId="0" animBg="1"/>
      <p:bldP spid="9610" grpId="0" animBg="1"/>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D4758-3A18-FD6B-303C-3CC93828278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0330BE-1759-D5B3-D1F4-90E12744F2BC}"/>
              </a:ext>
            </a:extLst>
          </p:cNvPr>
          <p:cNvSpPr>
            <a:spLocks noGrp="1"/>
          </p:cNvSpPr>
          <p:nvPr>
            <p:ph type="body" sz="quarter" idx="13"/>
          </p:nvPr>
        </p:nvSpPr>
        <p:spPr>
          <a:xfrm>
            <a:off x="1828800" y="6096000"/>
            <a:ext cx="32918400" cy="10414000"/>
          </a:xfrm>
        </p:spPr>
        <p:txBody>
          <a:bodyPr wrap="none" lIns="0" tIns="0" rIns="0" bIns="0"/>
          <a:lstStyle/>
          <a:p>
            <a:pPr>
              <a:lnSpc>
                <a:spcPts val="4400"/>
              </a:lnSpc>
              <a:spcBef>
                <a:spcPts val="0"/>
              </a:spcBef>
              <a:spcAft>
                <a:spcPts val="0"/>
              </a:spcAft>
            </a:pPr>
            <a:r>
              <a:rPr sz="3000" b="1">
                <a:solidFill>
                  <a:srgbClr val="952FC6"/>
                </a:solidFill>
                <a:latin typeface="Roboto Mono"/>
              </a:rPr>
              <a:t>import</a:t>
            </a:r>
            <a:r>
              <a:rPr sz="3000">
                <a:solidFill>
                  <a:srgbClr val="000000"/>
                </a:solidFill>
                <a:latin typeface="Roboto Mono"/>
              </a:rPr>
              <a:t> cutlass</a:t>
            </a:r>
          </a:p>
          <a:p>
            <a:pPr>
              <a:lnSpc>
                <a:spcPts val="4400"/>
              </a:lnSpc>
              <a:spcBef>
                <a:spcPts val="0"/>
              </a:spcBef>
              <a:spcAft>
                <a:spcPts val="0"/>
              </a:spcAft>
            </a:pPr>
            <a:r>
              <a:rPr sz="3000" b="1">
                <a:solidFill>
                  <a:srgbClr val="952FC6"/>
                </a:solidFill>
                <a:latin typeface="Roboto Mono"/>
              </a:rPr>
              <a:t>from</a:t>
            </a:r>
            <a:r>
              <a:rPr sz="3000">
                <a:solidFill>
                  <a:srgbClr val="000000"/>
                </a:solidFill>
                <a:latin typeface="Roboto Mono"/>
              </a:rPr>
              <a:t> cutlass </a:t>
            </a:r>
            <a:r>
              <a:rPr sz="3000" b="1">
                <a:solidFill>
                  <a:srgbClr val="952FC6"/>
                </a:solidFill>
                <a:latin typeface="Roboto Mono"/>
              </a:rPr>
              <a:t>import</a:t>
            </a:r>
            <a:r>
              <a:rPr sz="3000">
                <a:solidFill>
                  <a:srgbClr val="000000"/>
                </a:solidFill>
                <a:latin typeface="Roboto Mono"/>
              </a:rPr>
              <a:t> cute</a:t>
            </a:r>
          </a:p>
          <a:p>
            <a:pPr>
              <a:lnSpc>
                <a:spcPts val="4400"/>
              </a:lnSpc>
              <a:spcBef>
                <a:spcPts val="0"/>
              </a:spcBef>
              <a:spcAft>
                <a:spcPts val="0"/>
              </a:spcAft>
            </a:pPr>
            <a:r>
              <a:rPr sz="3000">
                <a:solidFill>
                  <a:srgbClr val="000000"/>
                </a:solidFill>
                <a:latin typeface="Roboto Mono"/>
              </a:rPr>
              <a:t> </a:t>
            </a:r>
          </a:p>
          <a:p>
            <a:pPr>
              <a:lnSpc>
                <a:spcPts val="4400"/>
              </a:lnSpc>
              <a:spcBef>
                <a:spcPts val="0"/>
              </a:spcBef>
              <a:spcAft>
                <a:spcPts val="0"/>
              </a:spcAft>
            </a:pPr>
            <a:r>
              <a:rPr sz="3000" b="1">
                <a:solidFill>
                  <a:srgbClr val="952FC6"/>
                </a:solidFill>
                <a:latin typeface="Roboto Mono"/>
              </a:rPr>
              <a:t>class</a:t>
            </a:r>
            <a:r>
              <a:rPr sz="3000">
                <a:solidFill>
                  <a:srgbClr val="000000"/>
                </a:solidFill>
                <a:latin typeface="Roboto Mono"/>
              </a:rPr>
              <a:t> </a:t>
            </a:r>
            <a:r>
              <a:rPr sz="3000">
                <a:solidFill>
                  <a:srgbClr val="0074DF"/>
                </a:solidFill>
                <a:latin typeface="Roboto Mono"/>
              </a:rPr>
              <a:t>State</a:t>
            </a:r>
            <a:r>
              <a:rPr sz="3000">
                <a:solidFill>
                  <a:srgbClr val="000000"/>
                </a:solidFill>
                <a:latin typeface="Roboto Mono"/>
              </a:rPr>
              <a:t>:</a:t>
            </a:r>
          </a:p>
          <a:p>
            <a:pPr>
              <a:lnSpc>
                <a:spcPts val="4400"/>
              </a:lnSpc>
              <a:spcBef>
                <a:spcPts val="0"/>
              </a:spcBef>
              <a:spcAft>
                <a:spcPts val="0"/>
              </a:spcAft>
            </a:pPr>
            <a:r>
              <a:rPr sz="3000">
                <a:solidFill>
                  <a:srgbClr val="000000"/>
                </a:solidFill>
                <a:latin typeface="Roboto Mono"/>
              </a:rPr>
              <a:t>    </a:t>
            </a:r>
            <a:r>
              <a:rPr sz="3000" b="1">
                <a:solidFill>
                  <a:srgbClr val="952FC6"/>
                </a:solidFill>
                <a:latin typeface="Roboto Mono"/>
              </a:rPr>
              <a:t>def</a:t>
            </a:r>
            <a:r>
              <a:rPr sz="3000">
                <a:solidFill>
                  <a:srgbClr val="000000"/>
                </a:solidFill>
                <a:latin typeface="Roboto Mono"/>
              </a:rPr>
              <a:t> </a:t>
            </a:r>
            <a:r>
              <a:rPr sz="3000">
                <a:solidFill>
                  <a:srgbClr val="0074DF"/>
                </a:solidFill>
                <a:latin typeface="Roboto Mono"/>
              </a:rPr>
              <a:t>__init__</a:t>
            </a:r>
            <a:r>
              <a:rPr sz="3000">
                <a:solidFill>
                  <a:srgbClr val="000000"/>
                </a:solidFill>
                <a:latin typeface="Roboto Mono"/>
              </a:rPr>
              <a:t>(</a:t>
            </a:r>
            <a:r>
              <a:rPr sz="3000">
                <a:solidFill>
                  <a:srgbClr val="0074DF"/>
                </a:solidFill>
                <a:latin typeface="Roboto Mono"/>
              </a:rPr>
              <a:t>self</a:t>
            </a:r>
            <a:r>
              <a:rPr sz="3000">
                <a:solidFill>
                  <a:srgbClr val="000000"/>
                </a:solidFill>
                <a:latin typeface="Roboto Mono"/>
              </a:rPr>
              <a:t>):</a:t>
            </a:r>
          </a:p>
          <a:p>
            <a:pPr>
              <a:lnSpc>
                <a:spcPts val="4400"/>
              </a:lnSpc>
              <a:spcBef>
                <a:spcPts val="0"/>
              </a:spcBef>
              <a:spcAft>
                <a:spcPts val="0"/>
              </a:spcAft>
            </a:pPr>
            <a:r>
              <a:rPr sz="3000">
                <a:solidFill>
                  <a:srgbClr val="000000"/>
                </a:solidFill>
                <a:latin typeface="Roboto Mono"/>
              </a:rPr>
              <a:t>        </a:t>
            </a:r>
            <a:r>
              <a:rPr sz="3000" b="1">
                <a:solidFill>
                  <a:srgbClr val="000000"/>
                </a:solidFill>
                <a:highlight>
                  <a:srgbClr val="FFE08A"/>
                </a:highlight>
                <a:latin typeface="Roboto Mono"/>
              </a:rPr>
              <a:t>self.c</a:t>
            </a:r>
            <a:r>
              <a:rPr sz="3000">
                <a:solidFill>
                  <a:srgbClr val="000000"/>
                </a:solidFill>
                <a:latin typeface="Roboto Mono"/>
              </a:rPr>
              <a:t>    = </a:t>
            </a:r>
            <a:r>
              <a:rPr sz="3000">
                <a:solidFill>
                  <a:srgbClr val="1DBBA4"/>
                </a:solidFill>
                <a:latin typeface="Roboto Mono"/>
              </a:rPr>
              <a:t>0</a:t>
            </a:r>
            <a:r>
              <a:rPr sz="3000">
                <a:solidFill>
                  <a:srgbClr val="000000"/>
                </a:solidFill>
                <a:latin typeface="Roboto Mono"/>
              </a:rPr>
              <a:t>                                 </a:t>
            </a:r>
            <a:r>
              <a:rPr sz="3000">
                <a:solidFill>
                  <a:srgbClr val="76B900"/>
                </a:solidFill>
                <a:latin typeface="Roboto Mono"/>
              </a:rPr>
              <a:t>← a plain Python int</a:t>
            </a:r>
          </a:p>
          <a:p>
            <a:pPr>
              <a:lnSpc>
                <a:spcPts val="4400"/>
              </a:lnSpc>
              <a:spcBef>
                <a:spcPts val="0"/>
              </a:spcBef>
              <a:spcAft>
                <a:spcPts val="0"/>
              </a:spcAft>
            </a:pPr>
            <a:r>
              <a:rPr sz="3000">
                <a:solidFill>
                  <a:srgbClr val="000000"/>
                </a:solidFill>
                <a:latin typeface="Roboto Mono"/>
              </a:rPr>
              <a:t>        </a:t>
            </a:r>
            <a:r>
              <a:rPr sz="3000" b="1">
                <a:solidFill>
                  <a:srgbClr val="000000"/>
                </a:solidFill>
                <a:highlight>
                  <a:srgbClr val="FFE08A"/>
                </a:highlight>
                <a:latin typeface="Roboto Mono"/>
              </a:rPr>
              <a:t>self.bins</a:t>
            </a:r>
            <a:r>
              <a:rPr sz="3000">
                <a:solidFill>
                  <a:srgbClr val="000000"/>
                </a:solidFill>
                <a:latin typeface="Roboto Mono"/>
              </a:rPr>
              <a:t> = {</a:t>
            </a:r>
            <a:r>
              <a:rPr sz="3000">
                <a:solidFill>
                  <a:srgbClr val="EF9100"/>
                </a:solidFill>
                <a:latin typeface="Roboto Mono"/>
              </a:rPr>
              <a:t>"hi"</a:t>
            </a:r>
            <a:r>
              <a:rPr sz="3000">
                <a:solidFill>
                  <a:srgbClr val="000000"/>
                </a:solidFill>
                <a:latin typeface="Roboto Mono"/>
              </a:rPr>
              <a:t>: </a:t>
            </a:r>
            <a:r>
              <a:rPr sz="3000">
                <a:solidFill>
                  <a:srgbClr val="1DBBA4"/>
                </a:solidFill>
                <a:latin typeface="Roboto Mono"/>
              </a:rPr>
              <a:t>0</a:t>
            </a:r>
            <a:r>
              <a:rPr sz="3000">
                <a:solidFill>
                  <a:srgbClr val="000000"/>
                </a:solidFill>
                <a:latin typeface="Roboto Mono"/>
              </a:rPr>
              <a:t>}                         </a:t>
            </a:r>
            <a:r>
              <a:rPr sz="3000">
                <a:solidFill>
                  <a:srgbClr val="76B900"/>
                </a:solidFill>
                <a:latin typeface="Roboto Mono"/>
              </a:rPr>
              <a:t>← a plain Python dict</a:t>
            </a:r>
          </a:p>
          <a:p>
            <a:pPr>
              <a:lnSpc>
                <a:spcPts val="4400"/>
              </a:lnSpc>
              <a:spcBef>
                <a:spcPts val="0"/>
              </a:spcBef>
              <a:spcAft>
                <a:spcPts val="0"/>
              </a:spcAft>
            </a:pPr>
            <a:r>
              <a:rPr sz="3000">
                <a:solidFill>
                  <a:srgbClr val="000000"/>
                </a:solidFill>
                <a:latin typeface="Roboto Mono"/>
              </a:rPr>
              <a:t> </a:t>
            </a:r>
          </a:p>
          <a:p>
            <a:pPr>
              <a:lnSpc>
                <a:spcPts val="4400"/>
              </a:lnSpc>
              <a:spcBef>
                <a:spcPts val="0"/>
              </a:spcBef>
              <a:spcAft>
                <a:spcPts val="0"/>
              </a:spcAft>
            </a:pPr>
            <a:r>
              <a:rPr sz="3000">
                <a:solidFill>
                  <a:srgbClr val="000000"/>
                </a:solidFill>
                <a:latin typeface="Roboto Mono"/>
              </a:rPr>
              <a:t>@cute.jit</a:t>
            </a:r>
          </a:p>
          <a:p>
            <a:pPr>
              <a:lnSpc>
                <a:spcPts val="4400"/>
              </a:lnSpc>
              <a:spcBef>
                <a:spcPts val="0"/>
              </a:spcBef>
              <a:spcAft>
                <a:spcPts val="0"/>
              </a:spcAft>
            </a:pPr>
            <a:r>
              <a:rPr sz="3000" b="1">
                <a:solidFill>
                  <a:srgbClr val="952FC6"/>
                </a:solidFill>
                <a:latin typeface="Roboto Mono"/>
              </a:rPr>
              <a:t>def</a:t>
            </a:r>
            <a:r>
              <a:rPr sz="3000">
                <a:solidFill>
                  <a:srgbClr val="000000"/>
                </a:solidFill>
                <a:latin typeface="Roboto Mono"/>
              </a:rPr>
              <a:t> </a:t>
            </a:r>
            <a:r>
              <a:rPr sz="3000">
                <a:solidFill>
                  <a:srgbClr val="0074DF"/>
                </a:solidFill>
                <a:latin typeface="Roboto Mono"/>
              </a:rPr>
              <a:t>kernel</a:t>
            </a:r>
            <a:r>
              <a:rPr sz="3000">
                <a:solidFill>
                  <a:srgbClr val="000000"/>
                </a:solidFill>
                <a:latin typeface="Roboto Mono"/>
              </a:rPr>
              <a:t>(n: cutlass.Int32, s: cutlass.Constexpr):   </a:t>
            </a:r>
            <a:r>
              <a:rPr sz="3000">
                <a:solidFill>
                  <a:srgbClr val="76B900"/>
                </a:solidFill>
                <a:latin typeface="Roboto Mono"/>
              </a:rPr>
              <a:t>← n is a run-time value</a:t>
            </a:r>
          </a:p>
          <a:p>
            <a:pPr>
              <a:lnSpc>
                <a:spcPts val="4400"/>
              </a:lnSpc>
              <a:spcBef>
                <a:spcPts val="0"/>
              </a:spcBef>
              <a:spcAft>
                <a:spcPts val="0"/>
              </a:spcAft>
            </a:pPr>
            <a:r>
              <a:rPr sz="3000">
                <a:solidFill>
                  <a:srgbClr val="000000"/>
                </a:solidFill>
                <a:latin typeface="Roboto Mono"/>
              </a:rPr>
              <a:t>    tot = cutlass.Int32(</a:t>
            </a:r>
            <a:r>
              <a:rPr sz="3000">
                <a:solidFill>
                  <a:srgbClr val="1DBBA4"/>
                </a:solidFill>
                <a:latin typeface="Roboto Mono"/>
              </a:rPr>
              <a:t>0</a:t>
            </a:r>
            <a:r>
              <a:rPr sz="3000">
                <a:solidFill>
                  <a:srgbClr val="000000"/>
                </a:solidFill>
                <a:latin typeface="Roboto Mono"/>
              </a:rPr>
              <a:t>)</a:t>
            </a:r>
          </a:p>
          <a:p>
            <a:pPr>
              <a:lnSpc>
                <a:spcPts val="4400"/>
              </a:lnSpc>
              <a:spcBef>
                <a:spcPts val="0"/>
              </a:spcBef>
              <a:spcAft>
                <a:spcPts val="0"/>
              </a:spcAft>
            </a:pPr>
            <a:r>
              <a:rPr sz="3000">
                <a:solidFill>
                  <a:srgbClr val="000000"/>
                </a:solidFill>
                <a:latin typeface="Roboto Mono"/>
              </a:rPr>
              <a:t>    </a:t>
            </a:r>
            <a:r>
              <a:rPr sz="3000" b="1">
                <a:solidFill>
                  <a:srgbClr val="952FC6"/>
                </a:solidFill>
                <a:latin typeface="Roboto Mono"/>
              </a:rPr>
              <a:t>for</a:t>
            </a:r>
            <a:r>
              <a:rPr sz="3000">
                <a:solidFill>
                  <a:srgbClr val="000000"/>
                </a:solidFill>
                <a:latin typeface="Roboto Mono"/>
              </a:rPr>
              <a:t> i </a:t>
            </a:r>
            <a:r>
              <a:rPr sz="3000" b="1">
                <a:solidFill>
                  <a:srgbClr val="952FC6"/>
                </a:solidFill>
                <a:latin typeface="Roboto Mono"/>
              </a:rPr>
              <a:t>in</a:t>
            </a:r>
            <a:r>
              <a:rPr sz="3000">
                <a:solidFill>
                  <a:srgbClr val="000000"/>
                </a:solidFill>
                <a:latin typeface="Roboto Mono"/>
              </a:rPr>
              <a:t> range(n):                                </a:t>
            </a:r>
            <a:r>
              <a:rPr sz="3000">
                <a:solidFill>
                  <a:srgbClr val="76B900"/>
                </a:solidFill>
                <a:latin typeface="Roboto Mono"/>
              </a:rPr>
              <a:t>← the GPU decides how many passes</a:t>
            </a:r>
          </a:p>
          <a:p>
            <a:pPr>
              <a:lnSpc>
                <a:spcPts val="4400"/>
              </a:lnSpc>
              <a:spcBef>
                <a:spcPts val="0"/>
              </a:spcBef>
              <a:spcAft>
                <a:spcPts val="0"/>
              </a:spcAft>
            </a:pPr>
            <a:r>
              <a:rPr sz="3000">
                <a:solidFill>
                  <a:srgbClr val="000000"/>
                </a:solidFill>
                <a:latin typeface="Roboto Mono"/>
              </a:rPr>
              <a:t>        </a:t>
            </a:r>
            <a:r>
              <a:rPr sz="3000" b="1">
                <a:solidFill>
                  <a:srgbClr val="000000"/>
                </a:solidFill>
                <a:highlight>
                  <a:srgbClr val="FFE08A"/>
                </a:highlight>
                <a:latin typeface="Roboto Mono"/>
              </a:rPr>
              <a:t>s.c</a:t>
            </a:r>
            <a:r>
              <a:rPr sz="3000">
                <a:solidFill>
                  <a:srgbClr val="000000"/>
                </a:solidFill>
                <a:latin typeface="Roboto Mono"/>
              </a:rPr>
              <a:t>          += </a:t>
            </a:r>
            <a:r>
              <a:rPr sz="3000">
                <a:solidFill>
                  <a:srgbClr val="1DBBA4"/>
                </a:solidFill>
                <a:latin typeface="Roboto Mono"/>
              </a:rPr>
              <a:t>2</a:t>
            </a:r>
            <a:r>
              <a:rPr sz="3000">
                <a:solidFill>
                  <a:srgbClr val="000000"/>
                </a:solidFill>
                <a:latin typeface="Roboto Mono"/>
              </a:rPr>
              <a:t>                             </a:t>
            </a:r>
            <a:r>
              <a:rPr sz="3000">
                <a:solidFill>
                  <a:srgbClr val="76B900"/>
                </a:solidFill>
                <a:latin typeface="Roboto Mono"/>
              </a:rPr>
              <a:t>← mutated inside GPU control flow</a:t>
            </a:r>
          </a:p>
          <a:p>
            <a:pPr>
              <a:lnSpc>
                <a:spcPts val="4400"/>
              </a:lnSpc>
              <a:spcBef>
                <a:spcPts val="0"/>
              </a:spcBef>
              <a:spcAft>
                <a:spcPts val="0"/>
              </a:spcAft>
            </a:pPr>
            <a:r>
              <a:rPr sz="3000">
                <a:solidFill>
                  <a:srgbClr val="000000"/>
                </a:solidFill>
                <a:latin typeface="Roboto Mono"/>
              </a:rPr>
              <a:t>        </a:t>
            </a:r>
            <a:r>
              <a:rPr sz="3000" b="1">
                <a:solidFill>
                  <a:srgbClr val="000000"/>
                </a:solidFill>
                <a:highlight>
                  <a:srgbClr val="FFE08A"/>
                </a:highlight>
                <a:latin typeface="Roboto Mono"/>
              </a:rPr>
              <a:t>s.bins[</a:t>
            </a:r>
            <a:r>
              <a:rPr sz="3000" b="1">
                <a:solidFill>
                  <a:srgbClr val="EF9100"/>
                </a:solidFill>
                <a:highlight>
                  <a:srgbClr val="FFE08A"/>
                </a:highlight>
                <a:latin typeface="Roboto Mono"/>
              </a:rPr>
              <a:t>"hi"</a:t>
            </a:r>
            <a:r>
              <a:rPr sz="3000" b="1">
                <a:solidFill>
                  <a:srgbClr val="000000"/>
                </a:solidFill>
                <a:highlight>
                  <a:srgbClr val="FFE08A"/>
                </a:highlight>
                <a:latin typeface="Roboto Mono"/>
              </a:rPr>
              <a:t>]</a:t>
            </a:r>
            <a:r>
              <a:rPr sz="3000">
                <a:solidFill>
                  <a:srgbClr val="000000"/>
                </a:solidFill>
                <a:latin typeface="Roboto Mono"/>
              </a:rPr>
              <a:t> += </a:t>
            </a:r>
            <a:r>
              <a:rPr sz="3000">
                <a:solidFill>
                  <a:srgbClr val="1DBBA4"/>
                </a:solidFill>
                <a:latin typeface="Roboto Mono"/>
              </a:rPr>
              <a:t>1</a:t>
            </a:r>
            <a:r>
              <a:rPr sz="3000">
                <a:solidFill>
                  <a:srgbClr val="000000"/>
                </a:solidFill>
                <a:latin typeface="Roboto Mono"/>
              </a:rPr>
              <a:t>                             </a:t>
            </a:r>
            <a:r>
              <a:rPr sz="3000">
                <a:solidFill>
                  <a:srgbClr val="76B900"/>
                </a:solidFill>
                <a:latin typeface="Roboto Mono"/>
              </a:rPr>
              <a:t>← mutated inside GPU control flow</a:t>
            </a:r>
          </a:p>
          <a:p>
            <a:pPr>
              <a:lnSpc>
                <a:spcPts val="4400"/>
              </a:lnSpc>
              <a:spcBef>
                <a:spcPts val="0"/>
              </a:spcBef>
              <a:spcAft>
                <a:spcPts val="0"/>
              </a:spcAft>
            </a:pPr>
            <a:r>
              <a:rPr sz="3000">
                <a:solidFill>
                  <a:srgbClr val="000000"/>
                </a:solidFill>
                <a:latin typeface="Roboto Mono"/>
              </a:rPr>
              <a:t>        tot          += s.c                           </a:t>
            </a:r>
            <a:r>
              <a:rPr sz="3000">
                <a:solidFill>
                  <a:srgbClr val="76B900"/>
                </a:solidFill>
                <a:latin typeface="Roboto Mono"/>
              </a:rPr>
              <a:t>← already a DSL value, carries itself</a:t>
            </a:r>
          </a:p>
          <a:p>
            <a:pPr>
              <a:lnSpc>
                <a:spcPts val="4400"/>
              </a:lnSpc>
              <a:spcBef>
                <a:spcPts val="0"/>
              </a:spcBef>
              <a:spcAft>
                <a:spcPts val="0"/>
              </a:spcAft>
            </a:pPr>
            <a:r>
              <a:rPr sz="3000">
                <a:solidFill>
                  <a:srgbClr val="000000"/>
                </a:solidFill>
                <a:latin typeface="Roboto Mono"/>
              </a:rPr>
              <a:t> </a:t>
            </a:r>
          </a:p>
          <a:p>
            <a:pPr>
              <a:lnSpc>
                <a:spcPts val="4400"/>
              </a:lnSpc>
              <a:spcBef>
                <a:spcPts val="0"/>
              </a:spcBef>
              <a:spcAft>
                <a:spcPts val="0"/>
              </a:spcAft>
            </a:pPr>
            <a:r>
              <a:rPr sz="3000">
                <a:solidFill>
                  <a:srgbClr val="000000"/>
                </a:solidFill>
                <a:latin typeface="Roboto Mono"/>
              </a:rPr>
              <a:t>s = State()</a:t>
            </a:r>
          </a:p>
          <a:p>
            <a:pPr>
              <a:lnSpc>
                <a:spcPts val="4400"/>
              </a:lnSpc>
              <a:spcBef>
                <a:spcPts val="0"/>
              </a:spcBef>
              <a:spcAft>
                <a:spcPts val="0"/>
              </a:spcAft>
            </a:pPr>
            <a:r>
              <a:rPr sz="3000">
                <a:solidFill>
                  <a:srgbClr val="000000"/>
                </a:solidFill>
                <a:latin typeface="Roboto Mono"/>
              </a:rPr>
              <a:t>kernel(</a:t>
            </a:r>
            <a:r>
              <a:rPr sz="3000">
                <a:solidFill>
                  <a:srgbClr val="1DBBA4"/>
                </a:solidFill>
                <a:latin typeface="Roboto Mono"/>
              </a:rPr>
              <a:t>10</a:t>
            </a:r>
            <a:r>
              <a:rPr sz="3000">
                <a:solidFill>
                  <a:srgbClr val="000000"/>
                </a:solidFill>
                <a:latin typeface="Roboto Mono"/>
              </a:rPr>
              <a:t>, s)</a:t>
            </a:r>
          </a:p>
        </p:txBody>
      </p:sp>
      <p:sp>
        <p:nvSpPr>
          <p:cNvPr id="3" name="Text Placeholder 2">
            <a:extLst>
              <a:ext uri="{FF2B5EF4-FFF2-40B4-BE49-F238E27FC236}">
                <a16:creationId xmlns:a16="http://schemas.microsoft.com/office/drawing/2014/main" id="{65E3DF43-F8D4-FEDA-03A3-38DD54195800}"/>
              </a:ext>
            </a:extLst>
          </p:cNvPr>
          <p:cNvSpPr>
            <a:spLocks noGrp="1"/>
          </p:cNvSpPr>
          <p:nvPr>
            <p:ph type="body" sz="quarter" idx="14"/>
          </p:nvPr>
        </p:nvSpPr>
        <p:spPr/>
        <p:txBody>
          <a:bodyPr/>
          <a:lstStyle/>
          <a:p>
            <a:r>
              <a:rPr lang="en-US" sz="4400">
                <a:latin typeface="NVIDIA Sans"/>
                <a:cs typeface="NVIDIA Sans"/>
              </a:rPr>
              <a:t>The two highlighted values are plain Python, mutated inside a loop the GPU controls</a:t>
            </a:r>
            <a:endParaRPr sz="4400">
              <a:latin typeface="NVIDIA Sans"/>
              <a:cs typeface="NVIDIA Sans"/>
            </a:endParaRPr>
          </a:p>
        </p:txBody>
      </p:sp>
      <p:sp>
        <p:nvSpPr>
          <p:cNvPr id="4" name="Title 3">
            <a:extLst>
              <a:ext uri="{FF2B5EF4-FFF2-40B4-BE49-F238E27FC236}">
                <a16:creationId xmlns:a16="http://schemas.microsoft.com/office/drawing/2014/main" id="{A97EEF42-4367-B9C3-5D21-088168914B8A}"/>
              </a:ext>
            </a:extLst>
          </p:cNvPr>
          <p:cNvSpPr>
            <a:spLocks noGrp="1"/>
          </p:cNvSpPr>
          <p:nvPr>
            <p:ph type="title"/>
          </p:nvPr>
        </p:nvSpPr>
        <p:spPr>
          <a:xfrm>
            <a:off x="1828800" y="1600200"/>
            <a:ext cx="32918400" cy="1727200"/>
          </a:xfrm>
        </p:spPr>
        <p:txBody>
          <a:bodyPr/>
          <a:lstStyle/>
          <a:p>
            <a:r>
              <a:t>The Python File We Write</a:t>
            </a:r>
          </a:p>
        </p:txBody>
      </p:sp>
      <p:sp>
        <p:nvSpPr>
          <p:cNvPr id="5" name="TextBox 4">
            <a:extLst>
              <a:ext uri="{FF2B5EF4-FFF2-40B4-BE49-F238E27FC236}">
                <a16:creationId xmlns:a16="http://schemas.microsoft.com/office/drawing/2014/main" id="{9CFF6E23-EFAB-A1BF-BFCD-41746C6CDB56}"/>
              </a:ext>
            </a:extLst>
          </p:cNvPr>
          <p:cNvSpPr txBox="1"/>
          <p:nvPr/>
        </p:nvSpPr>
        <p:spPr>
          <a:xfrm>
            <a:off x="1828800" y="18562320"/>
            <a:ext cx="3291840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000" b="0" i="0" u="none" strike="noStrike" kern="1200" cap="none" spc="0" normalizeH="0" baseline="0" noProof="0">
                <a:ln>
                  <a:noFill/>
                </a:ln>
                <a:solidFill>
                  <a:srgbClr val="A7A7A7"/>
                </a:solidFill>
                <a:effectLst/>
                <a:uLnTx/>
                <a:uFillTx/>
                <a:latin typeface="Roboto Mono"/>
                <a:ea typeface="+mn-ea"/>
                <a:cs typeface="+mn-cs"/>
              </a:rPr>
              <a:t>stage 0 — source</a:t>
            </a:r>
          </a:p>
        </p:txBody>
      </p:sp>
      <p:sp>
        <p:nvSpPr>
          <p:cNvPr id="100" name="Label Left">
            <a:extLst>
              <a:ext uri="{FF2B5EF4-FFF2-40B4-BE49-F238E27FC236}">
                <a16:creationId xmlns:a16="http://schemas.microsoft.com/office/drawing/2014/main" id="{BF4ED8C7-ECE8-D7D7-206B-4455BEA11BC1}"/>
              </a:ext>
            </a:extLst>
          </p:cNvPr>
          <p:cNvSpPr txBox="1"/>
          <p:nvPr/>
        </p:nvSpPr>
        <p:spPr>
          <a:xfrm>
            <a:off x="1828800" y="4978400"/>
            <a:ext cx="32918400" cy="558800"/>
          </a:xfrm>
          <a:prstGeom prst="rect">
            <a:avLst/>
          </a:prstGeom>
          <a:noFill/>
        </p:spPr>
        <p:txBody>
          <a:bodyPr wrap="square" lIns="0" tIns="0" rIns="0" bIns="0" anchor="t">
            <a:noAutofit/>
          </a:bodyPr>
          <a:lstStyle/>
          <a:p>
            <a:pPr>
              <a:lnSpc>
                <a:spcPts val="3600"/>
              </a:lnSpc>
              <a:buNone/>
            </a:pPr>
            <a:r>
              <a:rPr lang="en-US" sz="3200" b="1">
                <a:solidFill>
                  <a:srgbClr val="757575"/>
                </a:solidFill>
                <a:latin typeface="NVIDIA Sans"/>
                <a:cs typeface="NVIDIA Sans"/>
              </a:rPr>
              <a:t>YOU WRITE THIS</a:t>
            </a:r>
          </a:p>
        </p:txBody>
      </p:sp>
      <p:sp>
        <p:nvSpPr>
          <p:cNvPr id="103" name="Rule 103">
            <a:extLst>
              <a:ext uri="{FF2B5EF4-FFF2-40B4-BE49-F238E27FC236}">
                <a16:creationId xmlns:a16="http://schemas.microsoft.com/office/drawing/2014/main" id="{4AB85AE1-3517-080F-EB1B-86034FCE3871}"/>
              </a:ext>
            </a:extLst>
          </p:cNvPr>
          <p:cNvSpPr/>
          <p:nvPr/>
        </p:nvSpPr>
        <p:spPr>
          <a:xfrm>
            <a:off x="1828800" y="5638800"/>
            <a:ext cx="32918400" cy="38100"/>
          </a:xfrm>
          <a:prstGeom prst="rect">
            <a:avLst/>
          </a:prstGeom>
          <a:solidFill>
            <a:srgbClr val="76B900"/>
          </a:solidFill>
          <a:ln>
            <a:noFill/>
          </a:ln>
        </p:spPr>
        <p:txBody>
          <a:bodyPr/>
          <a:lstStyle/>
          <a:p>
            <a:endParaRPr/>
          </a:p>
        </p:txBody>
      </p:sp>
      <p:sp>
        <p:nvSpPr>
          <p:cNvPr id="6" name="StageTag">
            <a:extLst>
              <a:ext uri="{FF2B5EF4-FFF2-40B4-BE49-F238E27FC236}">
                <a16:creationId xmlns:a16="http://schemas.microsoft.com/office/drawing/2014/main" id="{F2B11BCA-E351-A558-5A97-329D60BDA590}"/>
              </a:ext>
            </a:extLst>
          </p:cNvPr>
          <p:cNvSpPr txBox="1"/>
          <p:nvPr/>
        </p:nvSpPr>
        <p:spPr>
          <a:xfrm>
            <a:off x="1828800" y="787400"/>
            <a:ext cx="20320000" cy="7366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400" b="1" kern="100">
                <a:solidFill>
                  <a:srgbClr val="76B900"/>
                </a:solidFill>
                <a:latin typeface="NVIDIA Sans"/>
                <a:cs typeface="NVIDIA Sans"/>
              </a:rPr>
              <a:t>INPUT  ·  what the user writes</a:t>
            </a:r>
          </a:p>
        </p:txBody>
      </p:sp>
      <p:sp>
        <p:nvSpPr>
          <p:cNvPr id="7" name="Problem">
            <a:extLst>
              <a:ext uri="{FF2B5EF4-FFF2-40B4-BE49-F238E27FC236}">
                <a16:creationId xmlns:a16="http://schemas.microsoft.com/office/drawing/2014/main" id="{FD3B4328-0C38-0E47-9F52-58CF694928D6}"/>
              </a:ext>
            </a:extLst>
          </p:cNvPr>
          <p:cNvSpPr txBox="1"/>
          <p:nvPr/>
        </p:nvSpPr>
        <p:spPr>
          <a:xfrm>
            <a:off x="1828800" y="16637000"/>
            <a:ext cx="32918400" cy="535531"/>
          </a:xfrm>
          <a:prstGeom prst="rect">
            <a:avLst/>
          </a:prstGeom>
          <a:noFill/>
        </p:spPr>
        <p:txBody>
          <a:bodyPr vertOverflow="overflow" vert="horz" wrap="square" rtlCol="0" anchor="t">
            <a:spAutoFit/>
          </a:bodyPr>
          <a:lstStyle/>
          <a:p>
            <a:pPr algn="l">
              <a:lnSpc>
                <a:spcPct val="90000"/>
              </a:lnSpc>
              <a:spcBef>
                <a:spcPts val="800"/>
              </a:spcBef>
              <a:spcAft>
                <a:spcPts val="800"/>
              </a:spcAft>
            </a:pPr>
            <a:r>
              <a:rPr lang="en-US" sz="3200" kern="100">
                <a:solidFill>
                  <a:srgbClr val="313131"/>
                </a:solidFill>
                <a:latin typeface="NVIDIA Sans"/>
                <a:cs typeface="NVIDIA Sans"/>
              </a:rPr>
              <a:t>Tracing runs the loop body once. The GPU runs it n times. A plain Python int and a </a:t>
            </a:r>
            <a:r>
              <a:rPr lang="en-US" sz="3200" kern="100" err="1">
                <a:solidFill>
                  <a:srgbClr val="313131"/>
                </a:solidFill>
                <a:latin typeface="NVIDIA Sans"/>
                <a:cs typeface="NVIDIA Sans"/>
              </a:rPr>
              <a:t>dict</a:t>
            </a:r>
            <a:r>
              <a:rPr lang="en-US" sz="3200" kern="100">
                <a:solidFill>
                  <a:srgbClr val="313131"/>
                </a:solidFill>
                <a:latin typeface="NVIDIA Sans"/>
                <a:cs typeface="NVIDIA Sans"/>
              </a:rPr>
              <a:t> entry have nowhere to live between those passes</a:t>
            </a:r>
          </a:p>
        </p:txBody>
      </p:sp>
    </p:spTree>
    <p:extLst>
      <p:ext uri="{BB962C8B-B14F-4D97-AF65-F5344CB8AC3E}">
        <p14:creationId xmlns:p14="http://schemas.microsoft.com/office/powerpoint/2010/main" val="75413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unCard">
            <a:extLst>
              <a:ext uri="{FF2B5EF4-FFF2-40B4-BE49-F238E27FC236}">
                <a16:creationId xmlns:a16="http://schemas.microsoft.com/office/drawing/2014/main" id="{E3CAD616-461B-CB4E-944B-939E063C3BCD}"/>
              </a:ext>
            </a:extLst>
          </p:cNvPr>
          <p:cNvSpPr/>
          <p:nvPr/>
        </p:nvSpPr>
        <p:spPr>
          <a:xfrm>
            <a:off x="21463000" y="16560800"/>
            <a:ext cx="13284200" cy="1397000"/>
          </a:xfrm>
          <a:prstGeom prst="roundRect">
            <a:avLst/>
          </a:prstGeom>
          <a:solidFill>
            <a:srgbClr val="EDF6D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2" name="Text Placeholder 1"/>
          <p:cNvSpPr>
            <a:spLocks noGrp="1"/>
          </p:cNvSpPr>
          <p:nvPr>
            <p:ph type="body" sz="quarter" idx="13"/>
          </p:nvPr>
        </p:nvSpPr>
        <p:spPr>
          <a:xfrm>
            <a:off x="1828800" y="4953000"/>
            <a:ext cx="32918400" cy="13589000"/>
          </a:xfrm>
        </p:spPr>
        <p:txBody>
          <a:bodyPr wrap="none" lIns="0" tIns="0" rIns="0" bIns="0" anchor="ctr"/>
          <a:lstStyle/>
          <a:p>
            <a:pPr marL="0" indent="0">
              <a:lnSpc>
                <a:spcPts val="3500"/>
              </a:lnSpc>
              <a:spcBef>
                <a:spcPts val="0"/>
              </a:spcBef>
              <a:spcAft>
                <a:spcPts val="0"/>
              </a:spcAft>
              <a:buNone/>
            </a:pPr>
            <a:r>
              <a:rPr lang="en-US" sz="2500" b="1">
                <a:solidFill>
                  <a:srgbClr val="952FC6"/>
                </a:solidFill>
                <a:latin typeface="Roboto Mono"/>
                <a:cs typeface="Roboto Mono"/>
              </a:rPr>
              <a:t>def</a:t>
            </a:r>
            <a:r>
              <a:rPr lang="en-US" sz="2500">
                <a:solidFill>
                  <a:srgbClr val="000000"/>
                </a:solidFill>
                <a:latin typeface="Roboto Mono"/>
                <a:cs typeface="Roboto Mono"/>
              </a:rPr>
              <a:t> </a:t>
            </a:r>
            <a:r>
              <a:rPr lang="en-US" sz="2500">
                <a:solidFill>
                  <a:srgbClr val="0074DF"/>
                </a:solidFill>
                <a:latin typeface="Roboto Mono"/>
                <a:cs typeface="Roboto Mono"/>
              </a:rPr>
              <a:t>kernel</a:t>
            </a:r>
            <a:r>
              <a:rPr lang="en-US" sz="2500">
                <a:solidFill>
                  <a:srgbClr val="000000"/>
                </a:solidFill>
                <a:latin typeface="Roboto Mono"/>
                <a:cs typeface="Roboto Mono"/>
              </a:rPr>
              <a:t>(n, s):</a:t>
            </a:r>
          </a:p>
          <a:p>
            <a:pPr marL="0" indent="0">
              <a:lnSpc>
                <a:spcPts val="3500"/>
              </a:lnSpc>
              <a:spcBef>
                <a:spcPts val="0"/>
              </a:spcBef>
              <a:spcAft>
                <a:spcPts val="0"/>
              </a:spcAft>
              <a:buNone/>
            </a:pPr>
            <a:r>
              <a:rPr lang="en-US" sz="2500">
                <a:solidFill>
                  <a:srgbClr val="000000"/>
                </a:solidFill>
                <a:latin typeface="Roboto Mono"/>
                <a:cs typeface="Roboto Mono"/>
              </a:rPr>
              <a:t>    __pyir_runtime__ = __base_dsl__.pyir_runtime</a:t>
            </a:r>
          </a:p>
          <a:p>
            <a:pPr marL="0" indent="0">
              <a:lnSpc>
                <a:spcPts val="3500"/>
              </a:lnSpc>
              <a:spcBef>
                <a:spcPts val="0"/>
              </a:spcBef>
              <a:spcAft>
                <a:spcPts val="0"/>
              </a:spcAft>
              <a:buNone/>
            </a:pPr>
            <a:r>
              <a:rPr lang="en-US" sz="2500">
                <a:solidFill>
                  <a:srgbClr val="000000"/>
                </a:solidFill>
                <a:latin typeface="Roboto Mono"/>
                <a:cs typeface="Roboto Mono"/>
              </a:rPr>
              <a:t>    n = __pyir_runtime__.pyir_bind_param(</a:t>
            </a:r>
            <a:r>
              <a:rPr lang="en-US" sz="2500">
                <a:solidFill>
                  <a:srgbClr val="EF9100"/>
                </a:solidFill>
                <a:latin typeface="Roboto Mono"/>
                <a:cs typeface="Roboto Mono"/>
              </a:rPr>
              <a:t>'n'</a:t>
            </a:r>
            <a:r>
              <a:rPr lang="en-US" sz="2500">
                <a:solidFill>
                  <a:srgbClr val="000000"/>
                </a:solidFill>
                <a:latin typeface="Roboto Mono"/>
                <a:cs typeface="Roboto Mono"/>
              </a:rPr>
              <a:t>, n)</a:t>
            </a:r>
          </a:p>
          <a:p>
            <a:pPr marL="0" indent="0">
              <a:lnSpc>
                <a:spcPts val="3500"/>
              </a:lnSpc>
              <a:spcBef>
                <a:spcPts val="0"/>
              </a:spcBef>
              <a:spcAft>
                <a:spcPts val="0"/>
              </a:spcAft>
              <a:buNone/>
            </a:pPr>
            <a:r>
              <a:rPr lang="en-US" sz="2500">
                <a:solidFill>
                  <a:srgbClr val="000000"/>
                </a:solidFill>
                <a:latin typeface="Roboto Mono"/>
                <a:cs typeface="Roboto Mono"/>
              </a:rPr>
              <a:t>    s = __pyir_runtime__.pyir_bind_param(</a:t>
            </a:r>
            <a:r>
              <a:rPr lang="en-US" sz="2500">
                <a:solidFill>
                  <a:srgbClr val="EF9100"/>
                </a:solidFill>
                <a:latin typeface="Roboto Mono"/>
                <a:cs typeface="Roboto Mono"/>
              </a:rPr>
              <a:t>'s'</a:t>
            </a:r>
            <a:r>
              <a:rPr lang="en-US" sz="2500">
                <a:solidFill>
                  <a:srgbClr val="000000"/>
                </a:solidFill>
                <a:latin typeface="Roboto Mono"/>
                <a:cs typeface="Roboto Mono"/>
              </a:rPr>
              <a:t>, s)</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b="1">
                <a:solidFill>
                  <a:srgbClr val="952FC6"/>
                </a:solidFill>
                <a:latin typeface="Roboto Mono"/>
                <a:cs typeface="Roboto Mono"/>
              </a:rPr>
              <a:t>try</a:t>
            </a:r>
            <a:r>
              <a:rPr lang="en-US" sz="2500">
                <a:solidFill>
                  <a:srgbClr val="000000"/>
                </a:solidFill>
                <a:latin typeface="Roboto Mono"/>
                <a:cs typeface="Roboto Mono"/>
              </a:rPr>
              <a:t>:</a:t>
            </a:r>
          </a:p>
          <a:p>
            <a:pPr marL="0" indent="0">
              <a:lnSpc>
                <a:spcPts val="3500"/>
              </a:lnSpc>
              <a:spcBef>
                <a:spcPts val="0"/>
              </a:spcBef>
              <a:spcAft>
                <a:spcPts val="0"/>
              </a:spcAft>
              <a:buNone/>
            </a:pPr>
            <a:r>
              <a:rPr lang="en-US" sz="2500">
                <a:solidFill>
                  <a:srgbClr val="000000"/>
                </a:solidFill>
                <a:latin typeface="Roboto Mono"/>
                <a:cs typeface="Roboto Mono"/>
              </a:rPr>
              <a:t>        tot = __pyir_runtime__.pyir_assign(</a:t>
            </a:r>
            <a:r>
              <a:rPr lang="en-US" sz="2500">
                <a:solidFill>
                  <a:srgbClr val="EF9100"/>
                </a:solidFill>
                <a:latin typeface="Roboto Mono"/>
                <a:cs typeface="Roboto Mono"/>
              </a:rPr>
              <a:t>'tot'</a:t>
            </a:r>
            <a:r>
              <a:rPr lang="en-US" sz="2500">
                <a:solidFill>
                  <a:srgbClr val="000000"/>
                </a:solidFill>
                <a:latin typeface="Roboto Mono"/>
                <a:cs typeface="Roboto Mono"/>
              </a:rPr>
              <a:t>, </a:t>
            </a:r>
            <a:r>
              <a:rPr lang="en-US" sz="2500" b="1">
                <a:solidFill>
                  <a:srgbClr val="952FC6"/>
                </a:solidFill>
                <a:latin typeface="Roboto Mono"/>
                <a:cs typeface="Roboto Mono"/>
              </a:rPr>
              <a:t>None</a:t>
            </a:r>
            <a:r>
              <a:rPr lang="en-US" sz="2500">
                <a:solidFill>
                  <a:srgbClr val="000000"/>
                </a:solidFill>
                <a:latin typeface="Roboto Mono"/>
                <a:cs typeface="Roboto Mono"/>
              </a:rPr>
              <a:t>, tot, rhs_ctor=cutlass.Int32)</a:t>
            </a:r>
          </a:p>
          <a:p>
            <a:pPr marL="0" indent="0">
              <a:lnSpc>
                <a:spcPts val="3500"/>
              </a:lnSpc>
              <a:spcBef>
                <a:spcPts val="0"/>
              </a:spcBef>
              <a:spcAft>
                <a:spcPts val="0"/>
              </a:spcAft>
              <a:buNone/>
            </a:pPr>
            <a:r>
              <a:rPr lang="en-US" sz="2500">
                <a:solidFill>
                  <a:srgbClr val="000000"/>
                </a:solidFill>
                <a:latin typeface="Roboto Mono"/>
                <a:cs typeface="Roboto Mono"/>
              </a:rPr>
              <a:t>        @__base_dsl__.ast_helpers.loop_selector(</a:t>
            </a:r>
            <a:r>
              <a:rPr lang="en-US" sz="2500">
                <a:solidFill>
                  <a:srgbClr val="1DBBA4"/>
                </a:solidFill>
                <a:latin typeface="Roboto Mono"/>
                <a:cs typeface="Roboto Mono"/>
              </a:rPr>
              <a:t>0</a:t>
            </a:r>
            <a:r>
              <a:rPr lang="en-US" sz="2500">
                <a:solidFill>
                  <a:srgbClr val="000000"/>
                </a:solidFill>
                <a:latin typeface="Roboto Mono"/>
                <a:cs typeface="Roboto Mono"/>
              </a:rPr>
              <a:t>, n, </a:t>
            </a:r>
            <a:r>
              <a:rPr lang="en-US" sz="2500">
                <a:solidFill>
                  <a:srgbClr val="1DBBA4"/>
                </a:solidFill>
                <a:latin typeface="Roboto Mono"/>
                <a:cs typeface="Roboto Mono"/>
              </a:rPr>
              <a:t>1</a:t>
            </a:r>
            <a:r>
              <a:rPr lang="en-US" sz="2500">
                <a:solidFill>
                  <a:srgbClr val="000000"/>
                </a:solidFill>
                <a:latin typeface="Roboto Mono"/>
                <a:cs typeface="Roboto Mono"/>
              </a:rPr>
              <a:t>, ...,</a:t>
            </a:r>
          </a:p>
          <a:p>
            <a:pPr marL="0" indent="0">
              <a:lnSpc>
                <a:spcPts val="3500"/>
              </a:lnSpc>
              <a:spcBef>
                <a:spcPts val="0"/>
              </a:spcBef>
              <a:spcAft>
                <a:spcPts val="0"/>
              </a:spcAft>
              <a:buNone/>
            </a:pPr>
            <a:r>
              <a:rPr lang="en-US" sz="2500">
                <a:solidFill>
                  <a:srgbClr val="000000"/>
                </a:solidFill>
                <a:latin typeface="Roboto Mono"/>
                <a:cs typeface="Roboto Mono"/>
              </a:rPr>
              <a:t>            write_args_names=[</a:t>
            </a:r>
            <a:r>
              <a:rPr lang="en-US" sz="2500">
                <a:solidFill>
                  <a:srgbClr val="EF9100"/>
                </a:solidFill>
                <a:latin typeface="Roboto Mono"/>
                <a:cs typeface="Roboto Mono"/>
              </a:rPr>
              <a:t>'s'</a:t>
            </a:r>
            <a:r>
              <a:rPr lang="en-US" sz="2500">
                <a:solidFill>
                  <a:srgbClr val="000000"/>
                </a:solidFill>
                <a:latin typeface="Roboto Mono"/>
                <a:cs typeface="Roboto Mono"/>
              </a:rPr>
              <a:t>, </a:t>
            </a:r>
            <a:r>
              <a:rPr lang="en-US" sz="2500">
                <a:solidFill>
                  <a:srgbClr val="EF9100"/>
                </a:solidFill>
                <a:latin typeface="Roboto Mono"/>
                <a:cs typeface="Roboto Mono"/>
              </a:rPr>
              <a:t>'tot'</a:t>
            </a:r>
            <a:r>
              <a:rPr lang="en-US" sz="2500">
                <a:solidFill>
                  <a:srgbClr val="000000"/>
                </a:solidFill>
                <a:latin typeface="Roboto Mono"/>
                <a:cs typeface="Roboto Mono"/>
              </a:rPr>
              <a:t>])           </a:t>
            </a:r>
            <a:r>
              <a:rPr lang="en-US" sz="2500">
                <a:solidFill>
                  <a:srgbClr val="76B900"/>
                </a:solidFill>
                <a:latin typeface="Roboto Mono"/>
                <a:cs typeface="Roboto Mono"/>
              </a:rPr>
              <a:t># the locals the loop writes</a:t>
            </a:r>
          </a:p>
          <a:p>
            <a:pPr marL="0" indent="0">
              <a:lnSpc>
                <a:spcPts val="3500"/>
              </a:lnSpc>
              <a:spcBef>
                <a:spcPts val="0"/>
              </a:spcBef>
              <a:spcAft>
                <a:spcPts val="0"/>
              </a:spcAft>
              <a:buNone/>
            </a:pPr>
            <a:r>
              <a:rPr lang="en-US" sz="2500">
                <a:solidFill>
                  <a:srgbClr val="000000"/>
                </a:solidFill>
                <a:latin typeface="Roboto Mono"/>
                <a:cs typeface="Roboto Mono"/>
              </a:rPr>
              <a:t>        @__pyir_runtime__.pyir_tag_region_attr_writes(((</a:t>
            </a:r>
            <a:r>
              <a:rPr lang="en-US" sz="2500">
                <a:solidFill>
                  <a:srgbClr val="EF9100"/>
                </a:solidFill>
                <a:latin typeface="Roboto Mono"/>
                <a:cs typeface="Roboto Mono"/>
              </a:rPr>
              <a:t>'s'</a:t>
            </a:r>
            <a:r>
              <a:rPr lang="en-US" sz="2500">
                <a:solidFill>
                  <a:srgbClr val="000000"/>
                </a:solidFill>
                <a:latin typeface="Roboto Mono"/>
                <a:cs typeface="Roboto Mono"/>
              </a:rPr>
              <a:t>,</a:t>
            </a:r>
            <a:r>
              <a:rPr lang="en-US" sz="2500">
                <a:solidFill>
                  <a:srgbClr val="EF9100"/>
                </a:solidFill>
                <a:latin typeface="Roboto Mono"/>
                <a:cs typeface="Roboto Mono"/>
              </a:rPr>
              <a:t>'c'</a:t>
            </a:r>
            <a:r>
              <a:rPr lang="en-US" sz="2500">
                <a:solidFill>
                  <a:srgbClr val="000000"/>
                </a:solidFill>
                <a:latin typeface="Roboto Mono"/>
                <a:cs typeface="Roboto Mono"/>
              </a:rPr>
              <a:t>),), ())  </a:t>
            </a:r>
            <a:r>
              <a:rPr lang="en-US" sz="2500">
                <a:solidFill>
                  <a:srgbClr val="76B900"/>
                </a:solidFill>
                <a:latin typeface="Roboto Mono"/>
                <a:cs typeface="Roboto Mono"/>
              </a:rPr>
              <a:t># the attributes</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b="1">
                <a:solidFill>
                  <a:srgbClr val="952FC6"/>
                </a:solidFill>
                <a:latin typeface="Roboto Mono"/>
                <a:cs typeface="Roboto Mono"/>
              </a:rPr>
              <a:t>def</a:t>
            </a:r>
            <a:r>
              <a:rPr lang="en-US" sz="2500">
                <a:solidFill>
                  <a:srgbClr val="000000"/>
                </a:solidFill>
                <a:latin typeface="Roboto Mono"/>
                <a:cs typeface="Roboto Mono"/>
              </a:rPr>
              <a:t> </a:t>
            </a:r>
            <a:r>
              <a:rPr lang="en-US" sz="2500">
                <a:solidFill>
                  <a:srgbClr val="0074DF"/>
                </a:solidFill>
                <a:latin typeface="Roboto Mono"/>
                <a:cs typeface="Roboto Mono"/>
              </a:rPr>
              <a:t>loop_body_0</a:t>
            </a:r>
            <a:r>
              <a:rPr lang="en-US" sz="2500">
                <a:solidFill>
                  <a:srgbClr val="000000"/>
                </a:solidFill>
                <a:latin typeface="Roboto Mono"/>
                <a:cs typeface="Roboto Mono"/>
              </a:rPr>
              <a:t>(i, s, tot):</a:t>
            </a:r>
          </a:p>
          <a:p>
            <a:pPr marL="0" indent="0">
              <a:lnSpc>
                <a:spcPts val="3500"/>
              </a:lnSpc>
              <a:spcBef>
                <a:spcPts val="0"/>
              </a:spcBef>
              <a:spcAft>
                <a:spcPts val="0"/>
              </a:spcAft>
              <a:buNone/>
            </a:pPr>
            <a:r>
              <a:rPr lang="en-US" sz="2500">
                <a:solidFill>
                  <a:srgbClr val="000000"/>
                </a:solidFill>
                <a:latin typeface="Roboto Mono"/>
                <a:cs typeface="Roboto Mono"/>
              </a:rPr>
              <a:t>            s   = __pyir_runtime__.pyir_promote_loop_body_arg(</a:t>
            </a:r>
            <a:r>
              <a:rPr lang="en-US" sz="2500">
                <a:solidFill>
                  <a:srgbClr val="EF9100"/>
                </a:solidFill>
                <a:latin typeface="Roboto Mono"/>
                <a:cs typeface="Roboto Mono"/>
              </a:rPr>
              <a:t>'s'</a:t>
            </a:r>
            <a:r>
              <a:rPr lang="en-US" sz="2500">
                <a:solidFill>
                  <a:srgbClr val="000000"/>
                </a:solidFill>
                <a:latin typeface="Roboto Mono"/>
                <a:cs typeface="Roboto Mono"/>
              </a:rPr>
              <a:t>, s, ...)</a:t>
            </a:r>
          </a:p>
          <a:p>
            <a:pPr marL="0" indent="0">
              <a:lnSpc>
                <a:spcPts val="3500"/>
              </a:lnSpc>
              <a:spcBef>
                <a:spcPts val="0"/>
              </a:spcBef>
              <a:spcAft>
                <a:spcPts val="0"/>
              </a:spcAft>
              <a:buNone/>
            </a:pPr>
            <a:r>
              <a:rPr lang="en-US" sz="2500">
                <a:solidFill>
                  <a:srgbClr val="000000"/>
                </a:solidFill>
                <a:latin typeface="Roboto Mono"/>
                <a:cs typeface="Roboto Mono"/>
              </a:rPr>
              <a:t>            tot = __pyir_runtime__.pyir_promote_loop_body_arg(</a:t>
            </a:r>
            <a:r>
              <a:rPr lang="en-US" sz="2500">
                <a:solidFill>
                  <a:srgbClr val="EF9100"/>
                </a:solidFill>
                <a:latin typeface="Roboto Mono"/>
                <a:cs typeface="Roboto Mono"/>
              </a:rPr>
              <a:t>'tot'</a:t>
            </a:r>
            <a:r>
              <a:rPr lang="en-US" sz="2500">
                <a:solidFill>
                  <a:srgbClr val="000000"/>
                </a:solidFill>
                <a:latin typeface="Roboto Mono"/>
                <a:cs typeface="Roboto Mono"/>
              </a:rPr>
              <a:t>, tot, ...)</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a:solidFill>
                  <a:srgbClr val="76B900"/>
                </a:solidFill>
                <a:latin typeface="Roboto Mono"/>
                <a:cs typeface="Roboto Mono"/>
              </a:rPr>
              <a:t># s.c += 2</a:t>
            </a:r>
          </a:p>
          <a:p>
            <a:pPr marL="0" indent="0">
              <a:lnSpc>
                <a:spcPts val="3500"/>
              </a:lnSpc>
              <a:spcBef>
                <a:spcPts val="0"/>
              </a:spcBef>
              <a:spcAft>
                <a:spcPts val="0"/>
              </a:spcAft>
              <a:buNone/>
            </a:pPr>
            <a:r>
              <a:rPr lang="en-US" sz="2500">
                <a:solidFill>
                  <a:srgbClr val="000000"/>
                </a:solidFill>
                <a:latin typeface="Roboto Mono"/>
                <a:cs typeface="Roboto Mono"/>
              </a:rPr>
              <a:t>            s.c = __pyir_runtime__.pyir_read(</a:t>
            </a:r>
            <a:r>
              <a:rPr lang="en-US" sz="2500">
                <a:solidFill>
                  <a:srgbClr val="EF9100"/>
                </a:solidFill>
                <a:latin typeface="Roboto Mono"/>
                <a:cs typeface="Roboto Mono"/>
              </a:rPr>
              <a:t>'s.c'</a:t>
            </a:r>
            <a:r>
              <a:rPr lang="en-US" sz="2500">
                <a:solidFill>
                  <a:srgbClr val="000000"/>
                </a:solidFill>
                <a:latin typeface="Roboto Mono"/>
                <a:cs typeface="Roboto Mono"/>
              </a:rPr>
              <a:t>, s.c, owner=s, slot_name=</a:t>
            </a:r>
            <a:r>
              <a:rPr lang="en-US" sz="2500">
                <a:solidFill>
                  <a:srgbClr val="EF9100"/>
                </a:solidFill>
                <a:latin typeface="Roboto Mono"/>
                <a:cs typeface="Roboto Mono"/>
              </a:rPr>
              <a:t>'c'</a:t>
            </a:r>
            <a:r>
              <a:rPr lang="en-US" sz="2500">
                <a:solidFill>
                  <a:srgbClr val="000000"/>
                </a:solidFill>
                <a:latin typeface="Roboto Mono"/>
                <a:cs typeface="Roboto Mono"/>
              </a:rPr>
              <a:t>)   </a:t>
            </a:r>
            <a:r>
              <a:rPr lang="en-US" sz="2500">
                <a:solidFill>
                  <a:srgbClr val="76B900"/>
                </a:solidFill>
                <a:latin typeface="Roboto Mono"/>
                <a:cs typeface="Roboto Mono"/>
              </a:rPr>
              <a:t># READ</a:t>
            </a:r>
          </a:p>
          <a:p>
            <a:pPr marL="0" indent="0">
              <a:lnSpc>
                <a:spcPts val="3500"/>
              </a:lnSpc>
              <a:spcBef>
                <a:spcPts val="0"/>
              </a:spcBef>
              <a:spcAft>
                <a:spcPts val="0"/>
              </a:spcAft>
              <a:buNone/>
            </a:pPr>
            <a:r>
              <a:rPr lang="en-US" sz="2500">
                <a:solidFill>
                  <a:srgbClr val="000000"/>
                </a:solidFill>
                <a:latin typeface="Roboto Mono"/>
                <a:cs typeface="Roboto Mono"/>
              </a:rPr>
              <a:t>            _pyir_old_1 = s.c</a:t>
            </a:r>
          </a:p>
          <a:p>
            <a:pPr marL="0" indent="0">
              <a:lnSpc>
                <a:spcPts val="3500"/>
              </a:lnSpc>
              <a:spcBef>
                <a:spcPts val="0"/>
              </a:spcBef>
              <a:spcAft>
                <a:spcPts val="0"/>
              </a:spcAft>
              <a:buNone/>
            </a:pPr>
            <a:r>
              <a:rPr lang="en-US" sz="2500">
                <a:solidFill>
                  <a:srgbClr val="000000"/>
                </a:solidFill>
                <a:latin typeface="Roboto Mono"/>
                <a:cs typeface="Roboto Mono"/>
              </a:rPr>
              <a:t>            s.c = __pyir_runtime__._pyir_inplace_binop(</a:t>
            </a:r>
            <a:r>
              <a:rPr lang="en-US" sz="2500">
                <a:solidFill>
                  <a:srgbClr val="EF9100"/>
                </a:solidFill>
                <a:latin typeface="Roboto Mono"/>
                <a:cs typeface="Roboto Mono"/>
              </a:rPr>
              <a:t>'add'</a:t>
            </a:r>
            <a:r>
              <a:rPr lang="en-US" sz="2500">
                <a:solidFill>
                  <a:srgbClr val="000000"/>
                </a:solidFill>
                <a:latin typeface="Roboto Mono"/>
                <a:cs typeface="Roboto Mono"/>
              </a:rPr>
              <a:t>, s.c, </a:t>
            </a:r>
            <a:r>
              <a:rPr lang="en-US" sz="2500">
                <a:solidFill>
                  <a:srgbClr val="1DBBA4"/>
                </a:solidFill>
                <a:latin typeface="Roboto Mono"/>
                <a:cs typeface="Roboto Mono"/>
              </a:rPr>
              <a:t>2</a:t>
            </a:r>
            <a:r>
              <a:rPr lang="en-US" sz="2500">
                <a:solidFill>
                  <a:srgbClr val="000000"/>
                </a:solidFill>
                <a:latin typeface="Roboto Mono"/>
                <a:cs typeface="Roboto Mono"/>
              </a:rPr>
              <a:t>)</a:t>
            </a:r>
          </a:p>
          <a:p>
            <a:pPr marL="0" indent="0">
              <a:lnSpc>
                <a:spcPts val="3500"/>
              </a:lnSpc>
              <a:spcBef>
                <a:spcPts val="0"/>
              </a:spcBef>
              <a:spcAft>
                <a:spcPts val="0"/>
              </a:spcAft>
              <a:buNone/>
            </a:pPr>
            <a:r>
              <a:rPr lang="en-US" sz="2500">
                <a:solidFill>
                  <a:srgbClr val="000000"/>
                </a:solidFill>
                <a:latin typeface="Roboto Mono"/>
                <a:cs typeface="Roboto Mono"/>
              </a:rPr>
              <a:t>            s.c = __pyir_runtime__.pyir_assign(</a:t>
            </a:r>
            <a:r>
              <a:rPr lang="en-US" sz="2500">
                <a:solidFill>
                  <a:srgbClr val="EF9100"/>
                </a:solidFill>
                <a:latin typeface="Roboto Mono"/>
                <a:cs typeface="Roboto Mono"/>
              </a:rPr>
              <a:t>'s.c'</a:t>
            </a:r>
            <a:r>
              <a:rPr lang="en-US" sz="2500">
                <a:solidFill>
                  <a:srgbClr val="000000"/>
                </a:solidFill>
                <a:latin typeface="Roboto Mono"/>
                <a:cs typeface="Roboto Mono"/>
              </a:rPr>
              <a:t>, _pyir_old_1, s.c, owner=s)   </a:t>
            </a:r>
            <a:r>
              <a:rPr lang="en-US" sz="2500">
                <a:solidFill>
                  <a:srgbClr val="76B900"/>
                </a:solidFill>
                <a:latin typeface="Roboto Mono"/>
                <a:cs typeface="Roboto Mono"/>
              </a:rPr>
              <a:t># WRITE</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a:solidFill>
                  <a:srgbClr val="76B900"/>
                </a:solidFill>
                <a:latin typeface="Roboto Mono"/>
                <a:cs typeface="Roboto Mono"/>
              </a:rPr>
              <a:t># s.bins["hi"] += 1</a:t>
            </a:r>
          </a:p>
          <a:p>
            <a:pPr marL="0" indent="0">
              <a:lnSpc>
                <a:spcPts val="3500"/>
              </a:lnSpc>
              <a:spcBef>
                <a:spcPts val="0"/>
              </a:spcBef>
              <a:spcAft>
                <a:spcPts val="0"/>
              </a:spcAft>
              <a:buNone/>
            </a:pPr>
            <a:r>
              <a:rPr lang="en-US" sz="2500">
                <a:solidFill>
                  <a:srgbClr val="000000"/>
                </a:solidFill>
                <a:latin typeface="Roboto Mono"/>
                <a:cs typeface="Roboto Mono"/>
              </a:rPr>
              <a:t>            _pyir_cont_3 = s.bins</a:t>
            </a:r>
          </a:p>
          <a:p>
            <a:pPr marL="0" indent="0">
              <a:lnSpc>
                <a:spcPts val="3500"/>
              </a:lnSpc>
              <a:spcBef>
                <a:spcPts val="0"/>
              </a:spcBef>
              <a:spcAft>
                <a:spcPts val="0"/>
              </a:spcAft>
              <a:buNone/>
            </a:pPr>
            <a:r>
              <a:rPr lang="en-US" sz="2500">
                <a:solidFill>
                  <a:srgbClr val="000000"/>
                </a:solidFill>
                <a:latin typeface="Roboto Mono"/>
                <a:cs typeface="Roboto Mono"/>
              </a:rPr>
              <a:t>            _pyir_sub_old_2 = __pyir_runtime__._pyir_pre_subscript_assign(</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a:solidFill>
                  <a:srgbClr val="EF9100"/>
                </a:solidFill>
                <a:latin typeface="Roboto Mono"/>
                <a:cs typeface="Roboto Mono"/>
              </a:rPr>
              <a:t>"s.bins['hi']"</a:t>
            </a:r>
            <a:r>
              <a:rPr lang="en-US" sz="2500">
                <a:solidFill>
                  <a:srgbClr val="000000"/>
                </a:solidFill>
                <a:latin typeface="Roboto Mono"/>
                <a:cs typeface="Roboto Mono"/>
              </a:rPr>
              <a:t>, _pyir_cont_3, </a:t>
            </a:r>
            <a:r>
              <a:rPr lang="en-US" sz="2500">
                <a:solidFill>
                  <a:srgbClr val="EF9100"/>
                </a:solidFill>
                <a:latin typeface="Roboto Mono"/>
                <a:cs typeface="Roboto Mono"/>
              </a:rPr>
              <a:t>'hi'</a:t>
            </a:r>
            <a:r>
              <a:rPr lang="en-US" sz="2500">
                <a:solidFill>
                  <a:srgbClr val="000000"/>
                </a:solidFill>
                <a:latin typeface="Roboto Mono"/>
                <a:cs typeface="Roboto Mono"/>
              </a:rPr>
              <a:t>)      </a:t>
            </a:r>
            <a:r>
              <a:rPr lang="en-US" sz="2500">
                <a:solidFill>
                  <a:srgbClr val="76B900"/>
                </a:solidFill>
                <a:latin typeface="Roboto Mono"/>
                <a:cs typeface="Roboto Mono"/>
              </a:rPr>
              <a:t># the key is only known now</a:t>
            </a:r>
          </a:p>
          <a:p>
            <a:pPr marL="0" indent="0">
              <a:lnSpc>
                <a:spcPts val="3500"/>
              </a:lnSpc>
              <a:spcBef>
                <a:spcPts val="0"/>
              </a:spcBef>
              <a:spcAft>
                <a:spcPts val="0"/>
              </a:spcAft>
              <a:buNone/>
            </a:pPr>
            <a:r>
              <a:rPr lang="en-US" sz="2500">
                <a:solidFill>
                  <a:srgbClr val="000000"/>
                </a:solidFill>
                <a:latin typeface="Roboto Mono"/>
                <a:cs typeface="Roboto Mono"/>
              </a:rPr>
              <a:t>            _pyir_cont_3[</a:t>
            </a:r>
            <a:r>
              <a:rPr lang="en-US" sz="2500">
                <a:solidFill>
                  <a:srgbClr val="EF9100"/>
                </a:solidFill>
                <a:latin typeface="Roboto Mono"/>
                <a:cs typeface="Roboto Mono"/>
              </a:rPr>
              <a:t>'hi'</a:t>
            </a:r>
            <a:r>
              <a:rPr lang="en-US" sz="2500">
                <a:solidFill>
                  <a:srgbClr val="000000"/>
                </a:solidFill>
                <a:latin typeface="Roboto Mono"/>
                <a:cs typeface="Roboto Mono"/>
              </a:rPr>
              <a:t>] = __pyir_runtime__._pyir_inplace_binop(</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a:solidFill>
                  <a:srgbClr val="EF9100"/>
                </a:solidFill>
                <a:latin typeface="Roboto Mono"/>
                <a:cs typeface="Roboto Mono"/>
              </a:rPr>
              <a:t>'add'</a:t>
            </a:r>
            <a:r>
              <a:rPr lang="en-US" sz="2500">
                <a:solidFill>
                  <a:srgbClr val="000000"/>
                </a:solidFill>
                <a:latin typeface="Roboto Mono"/>
                <a:cs typeface="Roboto Mono"/>
              </a:rPr>
              <a:t>, _pyir_cont_3[</a:t>
            </a:r>
            <a:r>
              <a:rPr lang="en-US" sz="2500">
                <a:solidFill>
                  <a:srgbClr val="EF9100"/>
                </a:solidFill>
                <a:latin typeface="Roboto Mono"/>
                <a:cs typeface="Roboto Mono"/>
              </a:rPr>
              <a:t>'hi'</a:t>
            </a:r>
            <a:r>
              <a:rPr lang="en-US" sz="2500">
                <a:solidFill>
                  <a:srgbClr val="000000"/>
                </a:solidFill>
                <a:latin typeface="Roboto Mono"/>
                <a:cs typeface="Roboto Mono"/>
              </a:rPr>
              <a:t>], </a:t>
            </a:r>
            <a:r>
              <a:rPr lang="en-US" sz="2500">
                <a:solidFill>
                  <a:srgbClr val="1DBBA4"/>
                </a:solidFill>
                <a:latin typeface="Roboto Mono"/>
                <a:cs typeface="Roboto Mono"/>
              </a:rPr>
              <a:t>1</a:t>
            </a:r>
            <a:r>
              <a:rPr lang="en-US" sz="2500">
                <a:solidFill>
                  <a:srgbClr val="000000"/>
                </a:solidFill>
                <a:latin typeface="Roboto Mono"/>
                <a:cs typeface="Roboto Mono"/>
              </a:rPr>
              <a:t>)</a:t>
            </a:r>
          </a:p>
          <a:p>
            <a:pPr marL="0" indent="0">
              <a:lnSpc>
                <a:spcPts val="3500"/>
              </a:lnSpc>
              <a:spcBef>
                <a:spcPts val="0"/>
              </a:spcBef>
              <a:spcAft>
                <a:spcPts val="0"/>
              </a:spcAft>
              <a:buNone/>
            </a:pPr>
            <a:r>
              <a:rPr lang="en-US" sz="2500">
                <a:solidFill>
                  <a:srgbClr val="000000"/>
                </a:solidFill>
                <a:latin typeface="Roboto Mono"/>
                <a:cs typeface="Roboto Mono"/>
              </a:rPr>
              <a:t>            _pyir_cont_3[</a:t>
            </a:r>
            <a:r>
              <a:rPr lang="en-US" sz="2500">
                <a:solidFill>
                  <a:srgbClr val="EF9100"/>
                </a:solidFill>
                <a:latin typeface="Roboto Mono"/>
                <a:cs typeface="Roboto Mono"/>
              </a:rPr>
              <a:t>'hi'</a:t>
            </a:r>
            <a:r>
              <a:rPr lang="en-US" sz="2500">
                <a:solidFill>
                  <a:srgbClr val="000000"/>
                </a:solidFill>
                <a:latin typeface="Roboto Mono"/>
                <a:cs typeface="Roboto Mono"/>
              </a:rPr>
              <a:t>] = __pyir_runtime__.pyir_assign(</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a:solidFill>
                  <a:srgbClr val="EF9100"/>
                </a:solidFill>
                <a:latin typeface="Roboto Mono"/>
                <a:cs typeface="Roboto Mono"/>
              </a:rPr>
              <a:t>"s.bins['hi']"</a:t>
            </a:r>
            <a:r>
              <a:rPr lang="en-US" sz="2500">
                <a:solidFill>
                  <a:srgbClr val="000000"/>
                </a:solidFill>
                <a:latin typeface="Roboto Mono"/>
                <a:cs typeface="Roboto Mono"/>
              </a:rPr>
              <a:t>, _pyir_sub_old_2, _pyir_cont_3[</a:t>
            </a:r>
            <a:r>
              <a:rPr lang="en-US" sz="2500">
                <a:solidFill>
                  <a:srgbClr val="EF9100"/>
                </a:solidFill>
                <a:latin typeface="Roboto Mono"/>
                <a:cs typeface="Roboto Mono"/>
              </a:rPr>
              <a:t>'hi'</a:t>
            </a:r>
            <a:r>
              <a:rPr lang="en-US" sz="2500">
                <a:solidFill>
                  <a:srgbClr val="000000"/>
                </a:solidFill>
                <a:latin typeface="Roboto Mono"/>
                <a:cs typeface="Roboto Mono"/>
              </a:rPr>
              <a:t>], owner=_pyir_cont_3)</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a:solidFill>
                  <a:srgbClr val="76B900"/>
                </a:solidFill>
                <a:latin typeface="Roboto Mono"/>
                <a:cs typeface="Roboto Mono"/>
              </a:rPr>
              <a:t># tot += s.c</a:t>
            </a:r>
          </a:p>
          <a:p>
            <a:pPr marL="0" indent="0">
              <a:lnSpc>
                <a:spcPts val="3500"/>
              </a:lnSpc>
              <a:spcBef>
                <a:spcPts val="0"/>
              </a:spcBef>
              <a:spcAft>
                <a:spcPts val="0"/>
              </a:spcAft>
              <a:buNone/>
            </a:pPr>
            <a:r>
              <a:rPr lang="en-US" sz="2500">
                <a:solidFill>
                  <a:srgbClr val="000000"/>
                </a:solidFill>
                <a:latin typeface="Roboto Mono"/>
                <a:cs typeface="Roboto Mono"/>
              </a:rPr>
              <a:t>            ...                 </a:t>
            </a:r>
            <a:r>
              <a:rPr lang="en-US" sz="2500">
                <a:solidFill>
                  <a:srgbClr val="76B900"/>
                </a:solidFill>
                <a:latin typeface="Roboto Mono"/>
                <a:cs typeface="Roboto Mono"/>
              </a:rPr>
              <a:t># read, add, assign, exactly as above</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b="1">
                <a:solidFill>
                  <a:srgbClr val="952FC6"/>
                </a:solidFill>
                <a:latin typeface="Roboto Mono"/>
                <a:cs typeface="Roboto Mono"/>
              </a:rPr>
              <a:t>return</a:t>
            </a:r>
            <a:r>
              <a:rPr lang="en-US" sz="2500">
                <a:solidFill>
                  <a:srgbClr val="000000"/>
                </a:solidFill>
                <a:latin typeface="Roboto Mono"/>
                <a:cs typeface="Roboto Mono"/>
              </a:rPr>
              <a:t> [s, tot]</a:t>
            </a:r>
          </a:p>
          <a:p>
            <a:pPr marL="0" indent="0">
              <a:lnSpc>
                <a:spcPts val="3500"/>
              </a:lnSpc>
              <a:spcBef>
                <a:spcPts val="0"/>
              </a:spcBef>
              <a:spcAft>
                <a:spcPts val="0"/>
              </a:spcAft>
              <a:buNone/>
            </a:pPr>
            <a:r>
              <a:rPr lang="en-US" sz="2500">
                <a:solidFill>
                  <a:srgbClr val="000000"/>
                </a:solidFill>
                <a:latin typeface="Roboto Mono"/>
                <a:cs typeface="Roboto Mono"/>
              </a:rPr>
              <a:t>        s, tot = loop_body_0</a:t>
            </a:r>
          </a:p>
          <a:p>
            <a:pPr marL="0" indent="0">
              <a:lnSpc>
                <a:spcPts val="3500"/>
              </a:lnSpc>
              <a:spcBef>
                <a:spcPts val="0"/>
              </a:spcBef>
              <a:spcAft>
                <a:spcPts val="0"/>
              </a:spcAft>
              <a:buNone/>
            </a:pPr>
            <a:r>
              <a:rPr lang="en-US" sz="2500">
                <a:solidFill>
                  <a:srgbClr val="000000"/>
                </a:solidFill>
                <a:latin typeface="Roboto Mono"/>
                <a:cs typeface="Roboto Mono"/>
              </a:rPr>
              <a:t>    </a:t>
            </a:r>
            <a:r>
              <a:rPr lang="en-US" sz="2500" b="1">
                <a:solidFill>
                  <a:srgbClr val="952FC6"/>
                </a:solidFill>
                <a:latin typeface="Roboto Mono"/>
                <a:cs typeface="Roboto Mono"/>
              </a:rPr>
              <a:t>finally</a:t>
            </a:r>
            <a:r>
              <a:rPr lang="en-US" sz="2500">
                <a:solidFill>
                  <a:srgbClr val="000000"/>
                </a:solidFill>
                <a:latin typeface="Roboto Mono"/>
                <a:cs typeface="Roboto Mono"/>
              </a:rPr>
              <a:t>:</a:t>
            </a:r>
          </a:p>
          <a:p>
            <a:pPr marL="0" indent="0">
              <a:lnSpc>
                <a:spcPts val="3500"/>
              </a:lnSpc>
              <a:spcBef>
                <a:spcPts val="0"/>
              </a:spcBef>
              <a:spcAft>
                <a:spcPts val="0"/>
              </a:spcAft>
              <a:buNone/>
            </a:pPr>
            <a:r>
              <a:rPr lang="en-US" sz="2500">
                <a:solidFill>
                  <a:srgbClr val="000000"/>
                </a:solidFill>
                <a:latin typeface="Roboto Mono"/>
                <a:cs typeface="Roboto Mono"/>
              </a:rPr>
              <a:t>        __pyir_runtime__.pyir_exit_fn()</a:t>
            </a:r>
          </a:p>
        </p:txBody>
      </p:sp>
      <p:sp>
        <p:nvSpPr>
          <p:cNvPr id="3" name="Text Placeholder 2"/>
          <p:cNvSpPr>
            <a:spLocks noGrp="1"/>
          </p:cNvSpPr>
          <p:nvPr>
            <p:ph type="body" sz="quarter" idx="14"/>
          </p:nvPr>
        </p:nvSpPr>
        <p:spPr/>
        <p:txBody>
          <a:bodyPr/>
          <a:lstStyle/>
          <a:p>
            <a:r>
              <a:rPr lang="en-US">
                <a:solidFill>
                  <a:srgbClr val="A7A7A7"/>
                </a:solidFill>
                <a:latin typeface="NVIDIA Sans"/>
                <a:cs typeface="NVIDIA Sans"/>
              </a:rPr>
              <a:t>Before tracing every read and write becomes an explicit call</a:t>
            </a:r>
          </a:p>
        </p:txBody>
      </p:sp>
      <p:sp>
        <p:nvSpPr>
          <p:cNvPr id="4" name="Title 3"/>
          <p:cNvSpPr>
            <a:spLocks noGrp="1"/>
          </p:cNvSpPr>
          <p:nvPr>
            <p:ph type="title"/>
          </p:nvPr>
        </p:nvSpPr>
        <p:spPr>
          <a:xfrm>
            <a:off x="1828800" y="1600200"/>
            <a:ext cx="32918400" cy="1727200"/>
          </a:xfrm>
        </p:spPr>
        <p:txBody>
          <a:bodyPr/>
          <a:lstStyle/>
          <a:p>
            <a:r>
              <a:rPr lang="en-US"/>
              <a:t>AST rewrite</a:t>
            </a:r>
          </a:p>
        </p:txBody>
      </p:sp>
      <p:sp>
        <p:nvSpPr>
          <p:cNvPr id="6" name="G1brk">
            <a:extLst>
              <a:ext uri="{FF2B5EF4-FFF2-40B4-BE49-F238E27FC236}">
                <a16:creationId xmlns:a16="http://schemas.microsoft.com/office/drawing/2014/main" id="{C0041670-FF72-1F42-8045-3197A310CF11}"/>
              </a:ext>
            </a:extLst>
          </p:cNvPr>
          <p:cNvSpPr/>
          <p:nvPr/>
        </p:nvSpPr>
        <p:spPr>
          <a:xfrm>
            <a:off x="21463000" y="5386070"/>
            <a:ext cx="152400" cy="1291587"/>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7" name="G1led">
            <a:extLst>
              <a:ext uri="{FF2B5EF4-FFF2-40B4-BE49-F238E27FC236}">
                <a16:creationId xmlns:a16="http://schemas.microsoft.com/office/drawing/2014/main" id="{FE81AEB1-9ED7-8043-B20A-30F7E396BC51}"/>
              </a:ext>
            </a:extLst>
          </p:cNvPr>
          <p:cNvSpPr/>
          <p:nvPr/>
        </p:nvSpPr>
        <p:spPr>
          <a:xfrm>
            <a:off x="19812000" y="5968363"/>
            <a:ext cx="1651000" cy="127000"/>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8" name="G1h">
            <a:extLst>
              <a:ext uri="{FF2B5EF4-FFF2-40B4-BE49-F238E27FC236}">
                <a16:creationId xmlns:a16="http://schemas.microsoft.com/office/drawing/2014/main" id="{88B244E7-F835-AB4F-A629-57BA18C9B8CB}"/>
              </a:ext>
            </a:extLst>
          </p:cNvPr>
          <p:cNvSpPr txBox="1"/>
          <p:nvPr/>
        </p:nvSpPr>
        <p:spPr>
          <a:xfrm>
            <a:off x="21844000" y="5105400"/>
            <a:ext cx="12903200" cy="7112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400" b="1" kern="100">
                <a:solidFill>
                  <a:srgbClr val="4A7C00"/>
                </a:solidFill>
                <a:latin typeface="NVIDIA Sans"/>
                <a:cs typeface="NVIDIA Sans"/>
              </a:rPr>
              <a:t>Parameters bound by name</a:t>
            </a:r>
          </a:p>
        </p:txBody>
      </p:sp>
      <p:sp>
        <p:nvSpPr>
          <p:cNvPr id="9" name="G1b">
            <a:extLst>
              <a:ext uri="{FF2B5EF4-FFF2-40B4-BE49-F238E27FC236}">
                <a16:creationId xmlns:a16="http://schemas.microsoft.com/office/drawing/2014/main" id="{F965BD37-9138-C344-8297-9058E1484E36}"/>
              </a:ext>
            </a:extLst>
          </p:cNvPr>
          <p:cNvSpPr txBox="1"/>
          <p:nvPr/>
        </p:nvSpPr>
        <p:spPr>
          <a:xfrm>
            <a:off x="21844000" y="5892800"/>
            <a:ext cx="12903200" cy="15240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000" kern="100">
                <a:solidFill>
                  <a:srgbClr val="313131"/>
                </a:solidFill>
                <a:latin typeface="NVIDIA Sans"/>
                <a:cs typeface="NVIDIA Sans"/>
              </a:rPr>
              <a:t>Every argument enters through pyir_bind_param, so the tracer knows what it is looking at.</a:t>
            </a:r>
          </a:p>
        </p:txBody>
      </p:sp>
      <p:sp>
        <p:nvSpPr>
          <p:cNvPr id="10" name="G2brk">
            <a:extLst>
              <a:ext uri="{FF2B5EF4-FFF2-40B4-BE49-F238E27FC236}">
                <a16:creationId xmlns:a16="http://schemas.microsoft.com/office/drawing/2014/main" id="{00E39A1D-A36E-1A43-BF75-2F3F5D2E9AFC}"/>
              </a:ext>
            </a:extLst>
          </p:cNvPr>
          <p:cNvSpPr/>
          <p:nvPr/>
        </p:nvSpPr>
        <p:spPr>
          <a:xfrm>
            <a:off x="21463000" y="7602219"/>
            <a:ext cx="152400" cy="1734820"/>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11" name="G2led">
            <a:extLst>
              <a:ext uri="{FF2B5EF4-FFF2-40B4-BE49-F238E27FC236}">
                <a16:creationId xmlns:a16="http://schemas.microsoft.com/office/drawing/2014/main" id="{58B72649-4BCB-8B4E-98D2-0B7E7D5177B0}"/>
              </a:ext>
            </a:extLst>
          </p:cNvPr>
          <p:cNvSpPr/>
          <p:nvPr/>
        </p:nvSpPr>
        <p:spPr>
          <a:xfrm>
            <a:off x="19812000" y="8406129"/>
            <a:ext cx="1651000" cy="127000"/>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12" name="G2h">
            <a:extLst>
              <a:ext uri="{FF2B5EF4-FFF2-40B4-BE49-F238E27FC236}">
                <a16:creationId xmlns:a16="http://schemas.microsoft.com/office/drawing/2014/main" id="{9960D2D3-887F-F543-BF3E-29BC8BCDE7DF}"/>
              </a:ext>
            </a:extLst>
          </p:cNvPr>
          <p:cNvSpPr txBox="1"/>
          <p:nvPr/>
        </p:nvSpPr>
        <p:spPr>
          <a:xfrm>
            <a:off x="21844000" y="7543800"/>
            <a:ext cx="12903200" cy="7112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400" b="1" kern="100">
                <a:solidFill>
                  <a:srgbClr val="4A7C00"/>
                </a:solidFill>
                <a:latin typeface="NVIDIA Sans"/>
                <a:cs typeface="NVIDIA Sans"/>
              </a:rPr>
              <a:t>The loop becomes a function</a:t>
            </a:r>
          </a:p>
        </p:txBody>
      </p:sp>
      <p:sp>
        <p:nvSpPr>
          <p:cNvPr id="13" name="G2b">
            <a:extLst>
              <a:ext uri="{FF2B5EF4-FFF2-40B4-BE49-F238E27FC236}">
                <a16:creationId xmlns:a16="http://schemas.microsoft.com/office/drawing/2014/main" id="{BA678AAF-A0DC-2349-818E-3D153527E3F0}"/>
              </a:ext>
            </a:extLst>
          </p:cNvPr>
          <p:cNvSpPr txBox="1"/>
          <p:nvPr/>
        </p:nvSpPr>
        <p:spPr>
          <a:xfrm>
            <a:off x="21844000" y="8331200"/>
            <a:ext cx="12903200" cy="15240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000" kern="100">
                <a:solidFill>
                  <a:srgbClr val="313131"/>
                </a:solidFill>
                <a:latin typeface="NVIDIA Sans"/>
                <a:cs typeface="NVIDIA Sans"/>
              </a:rPr>
              <a:t>loop_selector declares the locals the loop writes; the tag beside it declares the attributes.</a:t>
            </a:r>
          </a:p>
        </p:txBody>
      </p:sp>
      <p:sp>
        <p:nvSpPr>
          <p:cNvPr id="14" name="G3brk">
            <a:extLst>
              <a:ext uri="{FF2B5EF4-FFF2-40B4-BE49-F238E27FC236}">
                <a16:creationId xmlns:a16="http://schemas.microsoft.com/office/drawing/2014/main" id="{02BF77AD-30C6-DF4D-A538-FF628DADE447}"/>
              </a:ext>
            </a:extLst>
          </p:cNvPr>
          <p:cNvSpPr/>
          <p:nvPr/>
        </p:nvSpPr>
        <p:spPr>
          <a:xfrm>
            <a:off x="21463000" y="10704830"/>
            <a:ext cx="152400" cy="1734820"/>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15" name="G3led">
            <a:extLst>
              <a:ext uri="{FF2B5EF4-FFF2-40B4-BE49-F238E27FC236}">
                <a16:creationId xmlns:a16="http://schemas.microsoft.com/office/drawing/2014/main" id="{37F992DE-88D3-1148-B210-A197617D14E7}"/>
              </a:ext>
            </a:extLst>
          </p:cNvPr>
          <p:cNvSpPr/>
          <p:nvPr/>
        </p:nvSpPr>
        <p:spPr>
          <a:xfrm>
            <a:off x="19812000" y="11508740"/>
            <a:ext cx="1651000" cy="127000"/>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16" name="G3h">
            <a:extLst>
              <a:ext uri="{FF2B5EF4-FFF2-40B4-BE49-F238E27FC236}">
                <a16:creationId xmlns:a16="http://schemas.microsoft.com/office/drawing/2014/main" id="{2D322C9A-453D-0246-9FEA-001B15B8BFCB}"/>
              </a:ext>
            </a:extLst>
          </p:cNvPr>
          <p:cNvSpPr txBox="1"/>
          <p:nvPr/>
        </p:nvSpPr>
        <p:spPr>
          <a:xfrm>
            <a:off x="21844000" y="10655300"/>
            <a:ext cx="12903200" cy="7112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400" b="1" kern="100">
                <a:solidFill>
                  <a:srgbClr val="4A7C00"/>
                </a:solidFill>
                <a:latin typeface="NVIDIA Sans"/>
                <a:cs typeface="NVIDIA Sans"/>
              </a:rPr>
              <a:t>Every read and write is recorded</a:t>
            </a:r>
          </a:p>
        </p:txBody>
      </p:sp>
      <p:sp>
        <p:nvSpPr>
          <p:cNvPr id="17" name="G3b">
            <a:extLst>
              <a:ext uri="{FF2B5EF4-FFF2-40B4-BE49-F238E27FC236}">
                <a16:creationId xmlns:a16="http://schemas.microsoft.com/office/drawing/2014/main" id="{CEC28606-4178-594A-80FB-271B82CE5C69}"/>
              </a:ext>
            </a:extLst>
          </p:cNvPr>
          <p:cNvSpPr txBox="1"/>
          <p:nvPr/>
        </p:nvSpPr>
        <p:spPr>
          <a:xfrm>
            <a:off x="21844000" y="11442700"/>
            <a:ext cx="12903200" cy="15240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000" kern="100">
                <a:solidFill>
                  <a:srgbClr val="313131"/>
                </a:solidFill>
                <a:latin typeface="NVIDIA Sans"/>
                <a:cs typeface="NVIDIA Sans"/>
              </a:rPr>
              <a:t>One += becomes pyir_read, an inplace binop, and pyir_assign that names the slot and its owner.</a:t>
            </a:r>
          </a:p>
        </p:txBody>
      </p:sp>
      <p:sp>
        <p:nvSpPr>
          <p:cNvPr id="18" name="G4brk">
            <a:extLst>
              <a:ext uri="{FF2B5EF4-FFF2-40B4-BE49-F238E27FC236}">
                <a16:creationId xmlns:a16="http://schemas.microsoft.com/office/drawing/2014/main" id="{8C85FF5B-44EC-9C48-AEA8-2FE1B3F2C957}"/>
              </a:ext>
            </a:extLst>
          </p:cNvPr>
          <p:cNvSpPr/>
          <p:nvPr/>
        </p:nvSpPr>
        <p:spPr>
          <a:xfrm>
            <a:off x="21463000" y="12920978"/>
            <a:ext cx="152400" cy="3064510"/>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19" name="G4led">
            <a:extLst>
              <a:ext uri="{FF2B5EF4-FFF2-40B4-BE49-F238E27FC236}">
                <a16:creationId xmlns:a16="http://schemas.microsoft.com/office/drawing/2014/main" id="{8AA53DF4-A1CB-604D-B7B7-5B9B1B5BF4E3}"/>
              </a:ext>
            </a:extLst>
          </p:cNvPr>
          <p:cNvSpPr/>
          <p:nvPr/>
        </p:nvSpPr>
        <p:spPr>
          <a:xfrm>
            <a:off x="19812000" y="14389733"/>
            <a:ext cx="1651000" cy="127000"/>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20" name="G4h">
            <a:extLst>
              <a:ext uri="{FF2B5EF4-FFF2-40B4-BE49-F238E27FC236}">
                <a16:creationId xmlns:a16="http://schemas.microsoft.com/office/drawing/2014/main" id="{BF948B94-6E25-7D48-96EB-538793864FD4}"/>
              </a:ext>
            </a:extLst>
          </p:cNvPr>
          <p:cNvSpPr txBox="1"/>
          <p:nvPr/>
        </p:nvSpPr>
        <p:spPr>
          <a:xfrm>
            <a:off x="21844000" y="13550900"/>
            <a:ext cx="12903200" cy="7112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400" b="1" kern="100">
                <a:solidFill>
                  <a:srgbClr val="4A7C00"/>
                </a:solidFill>
                <a:latin typeface="NVIDIA Sans"/>
                <a:cs typeface="NVIDIA Sans"/>
              </a:rPr>
              <a:t>Subscripts capture the key first</a:t>
            </a:r>
          </a:p>
        </p:txBody>
      </p:sp>
      <p:sp>
        <p:nvSpPr>
          <p:cNvPr id="21" name="G4b">
            <a:extLst>
              <a:ext uri="{FF2B5EF4-FFF2-40B4-BE49-F238E27FC236}">
                <a16:creationId xmlns:a16="http://schemas.microsoft.com/office/drawing/2014/main" id="{D5D63F66-A04A-1249-97C5-879007A8C76F}"/>
              </a:ext>
            </a:extLst>
          </p:cNvPr>
          <p:cNvSpPr txBox="1"/>
          <p:nvPr/>
        </p:nvSpPr>
        <p:spPr>
          <a:xfrm>
            <a:off x="21844000" y="14338300"/>
            <a:ext cx="12903200" cy="15240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3000" kern="100">
                <a:solidFill>
                  <a:srgbClr val="313131"/>
                </a:solidFill>
                <a:latin typeface="NVIDIA Sans"/>
                <a:cs typeface="NVIDIA Sans"/>
              </a:rPr>
              <a:t>The container and key are pinned before the update, because the key is only known at that moment.</a:t>
            </a:r>
          </a:p>
        </p:txBody>
      </p:sp>
      <p:sp>
        <p:nvSpPr>
          <p:cNvPr id="970" name="HLBoxG1"/>
          <p:cNvSpPr/>
          <p:nvPr/>
        </p:nvSpPr>
        <p:spPr>
          <a:xfrm>
            <a:off x="1524000" y="5386070"/>
            <a:ext cx="18288000" cy="1291587"/>
          </a:xfrm>
          <a:prstGeom prst="roundRect">
            <a:avLst>
              <a:gd name="adj" fmla="val 6000"/>
            </a:avLst>
          </a:prstGeom>
          <a:noFill/>
          <a:ln w="76200">
            <a:solidFill>
              <a:srgbClr val="76B900"/>
            </a:solidFill>
          </a:ln>
        </p:spPr>
        <p:txBody>
          <a:bodyPr/>
          <a:lstStyle/>
          <a:p>
            <a:endParaRPr/>
          </a:p>
        </p:txBody>
      </p:sp>
      <p:sp>
        <p:nvSpPr>
          <p:cNvPr id="971" name="HLBoxG2"/>
          <p:cNvSpPr/>
          <p:nvPr/>
        </p:nvSpPr>
        <p:spPr>
          <a:xfrm>
            <a:off x="1524000" y="7602219"/>
            <a:ext cx="18288000" cy="1734820"/>
          </a:xfrm>
          <a:prstGeom prst="roundRect">
            <a:avLst>
              <a:gd name="adj" fmla="val 6000"/>
            </a:avLst>
          </a:prstGeom>
          <a:noFill/>
          <a:ln w="76200">
            <a:solidFill>
              <a:srgbClr val="76B900"/>
            </a:solidFill>
          </a:ln>
        </p:spPr>
        <p:txBody>
          <a:bodyPr/>
          <a:lstStyle/>
          <a:p>
            <a:endParaRPr/>
          </a:p>
        </p:txBody>
      </p:sp>
      <p:sp>
        <p:nvSpPr>
          <p:cNvPr id="972" name="HLBoxG3"/>
          <p:cNvSpPr/>
          <p:nvPr/>
        </p:nvSpPr>
        <p:spPr>
          <a:xfrm>
            <a:off x="1524000" y="10704830"/>
            <a:ext cx="18288000" cy="1734820"/>
          </a:xfrm>
          <a:prstGeom prst="roundRect">
            <a:avLst>
              <a:gd name="adj" fmla="val 6000"/>
            </a:avLst>
          </a:prstGeom>
          <a:noFill/>
          <a:ln w="76200">
            <a:solidFill>
              <a:srgbClr val="76B900"/>
            </a:solidFill>
          </a:ln>
        </p:spPr>
        <p:txBody>
          <a:bodyPr/>
          <a:lstStyle/>
          <a:p>
            <a:endParaRPr/>
          </a:p>
        </p:txBody>
      </p:sp>
      <p:sp>
        <p:nvSpPr>
          <p:cNvPr id="973" name="HLBoxG4"/>
          <p:cNvSpPr/>
          <p:nvPr/>
        </p:nvSpPr>
        <p:spPr>
          <a:xfrm>
            <a:off x="1524000" y="12920978"/>
            <a:ext cx="18288000" cy="3064510"/>
          </a:xfrm>
          <a:prstGeom prst="roundRect">
            <a:avLst>
              <a:gd name="adj" fmla="val 6000"/>
            </a:avLst>
          </a:prstGeom>
          <a:noFill/>
          <a:ln w="76200">
            <a:solidFill>
              <a:srgbClr val="76B900"/>
            </a:solidFill>
          </a:ln>
        </p:spPr>
        <p:txBody>
          <a:bodyPr/>
          <a:lstStyle/>
          <a:p>
            <a:endParaRPr/>
          </a:p>
        </p:txBody>
      </p:sp>
      <p:sp>
        <p:nvSpPr>
          <p:cNvPr id="23" name="RunBar">
            <a:extLst>
              <a:ext uri="{FF2B5EF4-FFF2-40B4-BE49-F238E27FC236}">
                <a16:creationId xmlns:a16="http://schemas.microsoft.com/office/drawing/2014/main" id="{2CB97427-A2A1-0642-98BD-C502CA388BE0}"/>
              </a:ext>
            </a:extLst>
          </p:cNvPr>
          <p:cNvSpPr/>
          <p:nvPr/>
        </p:nvSpPr>
        <p:spPr>
          <a:xfrm>
            <a:off x="21463000" y="16560800"/>
            <a:ext cx="152400" cy="1397000"/>
          </a:xfrm>
          <a:prstGeom prst="rect">
            <a:avLst/>
          </a:prstGeom>
          <a:solidFill>
            <a:srgbClr val="76B9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24" name="RunTx">
            <a:extLst>
              <a:ext uri="{FF2B5EF4-FFF2-40B4-BE49-F238E27FC236}">
                <a16:creationId xmlns:a16="http://schemas.microsoft.com/office/drawing/2014/main" id="{4E74DC43-BB78-9547-8250-CE9F98891BA9}"/>
              </a:ext>
            </a:extLst>
          </p:cNvPr>
          <p:cNvSpPr txBox="1"/>
          <p:nvPr/>
        </p:nvSpPr>
        <p:spPr>
          <a:xfrm>
            <a:off x="22021800" y="16789400"/>
            <a:ext cx="12344400" cy="990600"/>
          </a:xfrm>
          <a:prstGeom prst="rect">
            <a:avLst/>
          </a:prstGeom>
          <a:noFill/>
        </p:spPr>
        <p:txBody>
          <a:bodyPr vertOverflow="overflow" vert="horz" wrap="square" rtlCol="0" anchor="ctr" anchorCtr="0">
            <a:noAutofit/>
          </a:bodyPr>
          <a:lstStyle/>
          <a:p>
            <a:pPr algn="l">
              <a:lnSpc>
                <a:spcPts val="3400"/>
              </a:lnSpc>
              <a:buNone/>
            </a:pPr>
            <a:r>
              <a:rPr lang="en-US" sz="2400">
                <a:solidFill>
                  <a:srgbClr val="313131"/>
                </a:solidFill>
                <a:latin typeface="NVIDIA Sans"/>
                <a:cs typeface="NVIDIA Sans"/>
              </a:rPr>
              <a:t>The AST is rewritten once, ahead of execution. After that the program runs on the </a:t>
            </a:r>
            <a:r>
              <a:rPr lang="en-US" sz="2400">
                <a:solidFill>
                  <a:srgbClr val="4E7D00"/>
                </a:solidFill>
                <a:latin typeface="NVIDIA Sans"/>
                <a:cs typeface="NVIDIA Sans"/>
              </a:rPr>
              <a:t>normal Python interpreter</a:t>
            </a:r>
            <a:r>
              <a:rPr lang="en-US" sz="2400">
                <a:solidFill>
                  <a:srgbClr val="313131"/>
                </a:solidFill>
                <a:latin typeface="NVIDIA Sans"/>
                <a:cs typeface="NVIDIA Sans"/>
              </a:rPr>
              <a:t>.</a:t>
            </a:r>
          </a:p>
        </p:txBody>
      </p:sp>
    </p:spTree>
    <p:extLst>
      <p:ext uri="{BB962C8B-B14F-4D97-AF65-F5344CB8AC3E}">
        <p14:creationId xmlns:p14="http://schemas.microsoft.com/office/powerpoint/2010/main" val="1420230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7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7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7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animBg="1"/>
      <p:bldP spid="11" grpId="0" animBg="1"/>
      <p:bldP spid="12" grpId="0"/>
      <p:bldP spid="13" grpId="0"/>
      <p:bldP spid="14" grpId="0" animBg="1"/>
      <p:bldP spid="15" grpId="0" animBg="1"/>
      <p:bldP spid="16" grpId="0"/>
      <p:bldP spid="17" grpId="0"/>
      <p:bldP spid="18" grpId="0" animBg="1"/>
      <p:bldP spid="19" grpId="0" animBg="1"/>
      <p:bldP spid="20" grpId="0"/>
      <p:bldP spid="21" grpId="0"/>
      <p:bldP spid="970" grpId="0" animBg="1"/>
      <p:bldP spid="971" grpId="0" animBg="1"/>
      <p:bldP spid="972" grpId="0" animBg="1"/>
      <p:bldP spid="973" grpId="0" animBg="1"/>
      <p:bldP spid="23" grpId="0" animBg="1"/>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1828800" y="5842000"/>
            <a:ext cx="15875000" cy="12700000"/>
          </a:xfrm>
        </p:spPr>
        <p:txBody>
          <a:bodyPr wrap="none" lIns="0" tIns="0" rIns="0" bIns="0" anchor="t" anchorCtr="0">
            <a:noAutofit/>
          </a:bodyPr>
          <a:lstStyle/>
          <a:p>
            <a:pPr>
              <a:lnSpc>
                <a:spcPts val="3800"/>
              </a:lnSpc>
              <a:spcBef>
                <a:spcPts val="0"/>
              </a:spcBef>
              <a:buNone/>
            </a:pPr>
            <a:r>
              <a:rPr lang="en-US" sz="2800">
                <a:solidFill>
                  <a:srgbClr val="952FC6"/>
                </a:solidFill>
                <a:latin typeface="Roboto Mono"/>
                <a:cs typeface="Roboto Mono"/>
              </a:rPr>
              <a:t>module</a:t>
            </a:r>
            <a:r>
              <a:rPr lang="en-US" sz="2800">
                <a:solidFill>
                  <a:srgbClr val="000000"/>
                </a:solidFill>
                <a:latin typeface="Roboto Mono"/>
                <a:cs typeface="Roboto Mono"/>
              </a:rPr>
              <a:t> </a:t>
            </a:r>
            <a:r>
              <a:rPr lang="en-US" sz="2800">
                <a:solidFill>
                  <a:srgbClr val="952FC6"/>
                </a:solidFill>
                <a:latin typeface="Roboto Mono"/>
                <a:cs typeface="Roboto Mono"/>
              </a:rPr>
              <a:t>attributes</a:t>
            </a:r>
            <a:r>
              <a:rPr lang="en-US" sz="2800">
                <a:solidFill>
                  <a:srgbClr val="000000"/>
                </a:solidFill>
                <a:latin typeface="Roboto Mono"/>
                <a:cs typeface="Roboto Mono"/>
              </a:rPr>
              <a:t> {gpu.container_module} {</a:t>
            </a:r>
          </a:p>
          <a:p>
            <a:pPr>
              <a:lnSpc>
                <a:spcPts val="38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func.func</a:t>
            </a:r>
            <a:r>
              <a:rPr lang="en-US" sz="2800">
                <a:solidFill>
                  <a:srgbClr val="000000"/>
                </a:solidFill>
                <a:latin typeface="Roboto Mono"/>
                <a:cs typeface="Roboto Mono"/>
              </a:rPr>
              <a:t> </a:t>
            </a:r>
            <a:r>
              <a:rPr lang="en-US" sz="2800">
                <a:solidFill>
                  <a:srgbClr val="0074DF"/>
                </a:solidFill>
                <a:latin typeface="Roboto Mono"/>
                <a:cs typeface="Roboto Mono"/>
              </a:rPr>
              <a:t>@kernel</a:t>
            </a:r>
            <a:r>
              <a:rPr lang="en-US" sz="2800">
                <a:solidFill>
                  <a:srgbClr val="000000"/>
                </a:solidFill>
                <a:latin typeface="Roboto Mono"/>
                <a:cs typeface="Roboto Mono"/>
              </a:rPr>
              <a:t>(</a:t>
            </a:r>
            <a:r>
              <a:rPr lang="en-US" sz="2800">
                <a:solidFill>
                  <a:srgbClr val="0074DF"/>
                </a:solidFill>
                <a:latin typeface="Roboto Mono"/>
                <a:cs typeface="Roboto Mono"/>
              </a:rPr>
              <a:t>%arg0</a:t>
            </a:r>
            <a:r>
              <a:rPr lang="en-US" sz="2800">
                <a:solidFill>
                  <a:srgbClr val="000000"/>
                </a:solidFill>
                <a:latin typeface="Roboto Mono"/>
                <a:cs typeface="Roboto Mono"/>
              </a:rPr>
              <a:t>: </a:t>
            </a:r>
            <a:r>
              <a:rPr lang="en-US" sz="2800">
                <a:solidFill>
                  <a:srgbClr val="1DBBA4"/>
                </a:solidFill>
                <a:latin typeface="Roboto Mono"/>
                <a:cs typeface="Roboto Mono"/>
              </a:rPr>
              <a:t>i32</a:t>
            </a:r>
            <a:r>
              <a:rPr lang="en-US" sz="2800">
                <a:solidFill>
                  <a:srgbClr val="000000"/>
                </a:solidFill>
                <a:latin typeface="Roboto Mono"/>
                <a:cs typeface="Roboto Mono"/>
              </a:rPr>
              <a:t>) -&gt; </a:t>
            </a:r>
            <a:r>
              <a:rPr lang="en-US" sz="2800">
                <a:solidFill>
                  <a:srgbClr val="1DBBA4"/>
                </a:solidFill>
                <a:latin typeface="Roboto Mono"/>
                <a:cs typeface="Roboto Mono"/>
              </a:rPr>
              <a:t>i32</a:t>
            </a:r>
            <a:r>
              <a:rPr lang="en-US" sz="2800">
                <a:solidFill>
                  <a:srgbClr val="000000"/>
                </a:solidFill>
                <a:latin typeface="Roboto Mono"/>
                <a:cs typeface="Roboto Mono"/>
              </a:rPr>
              <a:t> {</a:t>
            </a:r>
          </a:p>
          <a:p>
            <a:pPr>
              <a:lnSpc>
                <a:spcPts val="3800"/>
              </a:lnSpc>
              <a:spcBef>
                <a:spcPts val="0"/>
              </a:spcBef>
              <a:buNone/>
            </a:pPr>
            <a:r>
              <a:rPr lang="en-US" sz="2800">
                <a:solidFill>
                  <a:srgbClr val="000000"/>
                </a:solidFill>
                <a:latin typeface="Roboto Mono"/>
                <a:cs typeface="Roboto Mono"/>
              </a:rPr>
              <a:t>    </a:t>
            </a:r>
            <a:r>
              <a:rPr lang="en-US" sz="2800">
                <a:solidFill>
                  <a:srgbClr val="0074DF"/>
                </a:solidFill>
                <a:latin typeface="Roboto Mono"/>
                <a:cs typeface="Roboto Mono"/>
              </a:rPr>
              <a:t>%0</a:t>
            </a:r>
            <a:r>
              <a:rPr lang="en-US" sz="2800">
                <a:solidFill>
                  <a:srgbClr val="000000"/>
                </a:solidFill>
                <a:latin typeface="Roboto Mono"/>
                <a:cs typeface="Roboto Mono"/>
              </a:rPr>
              <a:t> = </a:t>
            </a:r>
            <a:r>
              <a:rPr lang="en-US" sz="2800">
                <a:solidFill>
                  <a:srgbClr val="952FC6"/>
                </a:solidFill>
                <a:latin typeface="Roboto Mono"/>
                <a:cs typeface="Roboto Mono"/>
              </a:rPr>
              <a:t>pyir.ref</a:t>
            </a:r>
            <a:r>
              <a:rPr lang="en-US" sz="2800">
                <a:solidFill>
                  <a:srgbClr val="000000"/>
                </a:solidFill>
                <a:latin typeface="Roboto Mono"/>
                <a:cs typeface="Roboto Mono"/>
              </a:rPr>
              <a:t> </a:t>
            </a:r>
            <a:r>
              <a:rPr lang="en-US" sz="2800">
                <a:solidFill>
                  <a:srgbClr val="0074DF"/>
                </a:solidFill>
                <a:latin typeface="Roboto Mono"/>
                <a:cs typeface="Roboto Mono"/>
              </a:rPr>
              <a:t>%c0_i32</a:t>
            </a:r>
            <a:r>
              <a:rPr lang="en-US" sz="2800">
                <a:solidFill>
                  <a:srgbClr val="000000"/>
                </a:solidFill>
                <a:latin typeface="Roboto Mono"/>
                <a:cs typeface="Roboto Mono"/>
              </a:rPr>
              <a:t>               </a:t>
            </a:r>
            <a:r>
              <a:rPr lang="en-US" sz="2800">
                <a:solidFill>
                  <a:srgbClr val="6E6E73"/>
                </a:solidFill>
                <a:latin typeface="Roboto Mono"/>
                <a:cs typeface="Roboto Mono"/>
              </a:rPr>
              <a:t>// tot</a:t>
            </a:r>
          </a:p>
          <a:p>
            <a:pPr>
              <a:lnSpc>
                <a:spcPts val="3800"/>
              </a:lnSpc>
              <a:spcBef>
                <a:spcPts val="0"/>
              </a:spcBef>
              <a:buNone/>
            </a:pPr>
            <a:r>
              <a:rPr lang="en-US" sz="2800">
                <a:solidFill>
                  <a:srgbClr val="000000"/>
                </a:solidFill>
                <a:latin typeface="Roboto Mono"/>
                <a:cs typeface="Roboto Mono"/>
              </a:rPr>
              <a:t>    </a:t>
            </a:r>
            <a:r>
              <a:rPr lang="en-US" sz="2800">
                <a:solidFill>
                  <a:srgbClr val="0074DF"/>
                </a:solidFill>
                <a:latin typeface="Roboto Mono"/>
                <a:cs typeface="Roboto Mono"/>
              </a:rPr>
              <a:t>%1</a:t>
            </a:r>
            <a:r>
              <a:rPr lang="en-US" sz="2800">
                <a:solidFill>
                  <a:srgbClr val="000000"/>
                </a:solidFill>
                <a:latin typeface="Roboto Mono"/>
                <a:cs typeface="Roboto Mono"/>
              </a:rPr>
              <a:t> = </a:t>
            </a:r>
            <a:r>
              <a:rPr lang="en-US" sz="2800">
                <a:solidFill>
                  <a:srgbClr val="952FC6"/>
                </a:solidFill>
                <a:latin typeface="Roboto Mono"/>
                <a:cs typeface="Roboto Mono"/>
              </a:rPr>
              <a:t>pyir.ref</a:t>
            </a:r>
            <a:r>
              <a:rPr lang="en-US" sz="2800">
                <a:solidFill>
                  <a:srgbClr val="000000"/>
                </a:solidFill>
                <a:latin typeface="Roboto Mono"/>
                <a:cs typeface="Roboto Mono"/>
              </a:rPr>
              <a:t> </a:t>
            </a:r>
            <a:r>
              <a:rPr lang="en-US" sz="2800">
                <a:solidFill>
                  <a:srgbClr val="0074DF"/>
                </a:solidFill>
                <a:latin typeface="Roboto Mono"/>
                <a:cs typeface="Roboto Mono"/>
              </a:rPr>
              <a:t>%c0_i32_0</a:t>
            </a:r>
            <a:r>
              <a:rPr lang="en-US" sz="2800">
                <a:solidFill>
                  <a:srgbClr val="000000"/>
                </a:solidFill>
                <a:latin typeface="Roboto Mono"/>
                <a:cs typeface="Roboto Mono"/>
              </a:rPr>
              <a:t>             </a:t>
            </a:r>
            <a:r>
              <a:rPr lang="en-US" sz="2800">
                <a:solidFill>
                  <a:srgbClr val="6E6E73"/>
                </a:solidFill>
                <a:latin typeface="Roboto Mono"/>
                <a:cs typeface="Roboto Mono"/>
              </a:rPr>
              <a:t>// s.bins[hi]</a:t>
            </a:r>
          </a:p>
          <a:p>
            <a:pPr>
              <a:lnSpc>
                <a:spcPts val="3800"/>
              </a:lnSpc>
              <a:spcBef>
                <a:spcPts val="0"/>
              </a:spcBef>
              <a:buNone/>
            </a:pPr>
            <a:r>
              <a:rPr lang="en-US" sz="2800">
                <a:solidFill>
                  <a:srgbClr val="000000"/>
                </a:solidFill>
                <a:latin typeface="Roboto Mono"/>
                <a:cs typeface="Roboto Mono"/>
              </a:rPr>
              <a:t>    </a:t>
            </a:r>
            <a:r>
              <a:rPr lang="en-US" sz="2800">
                <a:solidFill>
                  <a:srgbClr val="0074DF"/>
                </a:solidFill>
                <a:latin typeface="Roboto Mono"/>
                <a:cs typeface="Roboto Mono"/>
              </a:rPr>
              <a:t>%2</a:t>
            </a:r>
            <a:r>
              <a:rPr lang="en-US" sz="2800">
                <a:solidFill>
                  <a:srgbClr val="000000"/>
                </a:solidFill>
                <a:latin typeface="Roboto Mono"/>
                <a:cs typeface="Roboto Mono"/>
              </a:rPr>
              <a:t> = </a:t>
            </a:r>
            <a:r>
              <a:rPr lang="en-US" sz="2800">
                <a:solidFill>
                  <a:srgbClr val="952FC6"/>
                </a:solidFill>
                <a:latin typeface="Roboto Mono"/>
                <a:cs typeface="Roboto Mono"/>
              </a:rPr>
              <a:t>pyir.ref</a:t>
            </a:r>
            <a:r>
              <a:rPr lang="en-US" sz="2800">
                <a:solidFill>
                  <a:srgbClr val="000000"/>
                </a:solidFill>
                <a:latin typeface="Roboto Mono"/>
                <a:cs typeface="Roboto Mono"/>
              </a:rPr>
              <a:t> </a:t>
            </a:r>
            <a:r>
              <a:rPr lang="en-US" sz="2800">
                <a:solidFill>
                  <a:srgbClr val="0074DF"/>
                </a:solidFill>
                <a:latin typeface="Roboto Mono"/>
                <a:cs typeface="Roboto Mono"/>
              </a:rPr>
              <a:t>%c0_i32_1</a:t>
            </a:r>
            <a:r>
              <a:rPr lang="en-US" sz="2800">
                <a:solidFill>
                  <a:srgbClr val="000000"/>
                </a:solidFill>
                <a:latin typeface="Roboto Mono"/>
                <a:cs typeface="Roboto Mono"/>
              </a:rPr>
              <a:t>             </a:t>
            </a:r>
            <a:r>
              <a:rPr lang="en-US" sz="2800">
                <a:solidFill>
                  <a:srgbClr val="6E6E73"/>
                </a:solidFill>
                <a:latin typeface="Roboto Mono"/>
                <a:cs typeface="Roboto Mono"/>
              </a:rPr>
              <a:t>// s.c</a:t>
            </a:r>
          </a:p>
          <a:p>
            <a:pPr>
              <a:lnSpc>
                <a:spcPts val="1800"/>
              </a:lnSpc>
              <a:spcBef>
                <a:spcPts val="0"/>
              </a:spcBef>
              <a:buNone/>
            </a:pPr>
            <a:endParaRPr lang="en-US" sz="2800"/>
          </a:p>
          <a:p>
            <a:pPr>
              <a:lnSpc>
                <a:spcPts val="38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scf.for</a:t>
            </a:r>
            <a:r>
              <a:rPr lang="en-US" sz="2800">
                <a:solidFill>
                  <a:srgbClr val="000000"/>
                </a:solidFill>
                <a:latin typeface="Roboto Mono"/>
                <a:cs typeface="Roboto Mono"/>
              </a:rPr>
              <a:t> </a:t>
            </a:r>
            <a:r>
              <a:rPr lang="en-US" sz="2800">
                <a:solidFill>
                  <a:srgbClr val="0074DF"/>
                </a:solidFill>
                <a:latin typeface="Roboto Mono"/>
                <a:cs typeface="Roboto Mono"/>
              </a:rPr>
              <a:t>%arg1</a:t>
            </a:r>
            <a:r>
              <a:rPr lang="en-US" sz="2800">
                <a:solidFill>
                  <a:srgbClr val="000000"/>
                </a:solidFill>
                <a:latin typeface="Roboto Mono"/>
                <a:cs typeface="Roboto Mono"/>
              </a:rPr>
              <a:t> = </a:t>
            </a:r>
            <a:r>
              <a:rPr lang="en-US" sz="2800">
                <a:solidFill>
                  <a:srgbClr val="0074DF"/>
                </a:solidFill>
                <a:latin typeface="Roboto Mono"/>
                <a:cs typeface="Roboto Mono"/>
              </a:rPr>
              <a:t>%c0</a:t>
            </a:r>
            <a:r>
              <a:rPr lang="en-US" sz="2800">
                <a:solidFill>
                  <a:srgbClr val="000000"/>
                </a:solidFill>
                <a:latin typeface="Roboto Mono"/>
                <a:cs typeface="Roboto Mono"/>
              </a:rPr>
              <a:t> </a:t>
            </a:r>
            <a:r>
              <a:rPr lang="en-US" sz="2800">
                <a:solidFill>
                  <a:srgbClr val="952FC6"/>
                </a:solidFill>
                <a:latin typeface="Roboto Mono"/>
                <a:cs typeface="Roboto Mono"/>
              </a:rPr>
              <a:t>to</a:t>
            </a:r>
            <a:r>
              <a:rPr lang="en-US" sz="2800">
                <a:solidFill>
                  <a:srgbClr val="000000"/>
                </a:solidFill>
                <a:latin typeface="Roboto Mono"/>
                <a:cs typeface="Roboto Mono"/>
              </a:rPr>
              <a:t> </a:t>
            </a:r>
            <a:r>
              <a:rPr lang="en-US" sz="2800">
                <a:solidFill>
                  <a:srgbClr val="0074DF"/>
                </a:solidFill>
                <a:latin typeface="Roboto Mono"/>
                <a:cs typeface="Roboto Mono"/>
              </a:rPr>
              <a:t>%arg0</a:t>
            </a:r>
            <a:r>
              <a:rPr lang="en-US" sz="2800">
                <a:solidFill>
                  <a:srgbClr val="000000"/>
                </a:solidFill>
                <a:latin typeface="Roboto Mono"/>
                <a:cs typeface="Roboto Mono"/>
              </a:rPr>
              <a:t> {      </a:t>
            </a:r>
            <a:r>
              <a:rPr lang="en-US" sz="2800">
                <a:solidFill>
                  <a:srgbClr val="EF9100"/>
                </a:solidFill>
                <a:latin typeface="Roboto Mono"/>
                <a:cs typeface="Roboto Mono"/>
              </a:rPr>
              <a:t>← no iter_args</a:t>
            </a:r>
          </a:p>
          <a:p>
            <a:pPr>
              <a:lnSpc>
                <a:spcPts val="3800"/>
              </a:lnSpc>
              <a:spcBef>
                <a:spcPts val="0"/>
              </a:spcBef>
              <a:buNone/>
            </a:pPr>
            <a:r>
              <a:rPr lang="en-US" sz="2800">
                <a:solidFill>
                  <a:srgbClr val="000000"/>
                </a:solidFill>
                <a:latin typeface="Roboto Mono"/>
                <a:cs typeface="Roboto Mono"/>
              </a:rPr>
              <a:t>      </a:t>
            </a:r>
            <a:r>
              <a:rPr lang="en-US" sz="2800">
                <a:solidFill>
                  <a:srgbClr val="0074DF"/>
                </a:solidFill>
                <a:latin typeface="Roboto Mono"/>
                <a:cs typeface="Roboto Mono"/>
              </a:rPr>
              <a:t>%6</a:t>
            </a:r>
            <a:r>
              <a:rPr lang="en-US" sz="2800">
                <a:solidFill>
                  <a:srgbClr val="000000"/>
                </a:solidFill>
                <a:latin typeface="Roboto Mono"/>
                <a:cs typeface="Roboto Mono"/>
              </a:rPr>
              <a:t> = </a:t>
            </a:r>
            <a:r>
              <a:rPr lang="en-US" sz="2800">
                <a:solidFill>
                  <a:srgbClr val="952FC6"/>
                </a:solidFill>
                <a:latin typeface="Roboto Mono"/>
                <a:cs typeface="Roboto Mono"/>
              </a:rPr>
              <a:t>pyir.load</a:t>
            </a:r>
            <a:r>
              <a:rPr lang="en-US" sz="2800">
                <a:solidFill>
                  <a:srgbClr val="000000"/>
                </a:solidFill>
                <a:latin typeface="Roboto Mono"/>
                <a:cs typeface="Roboto Mono"/>
              </a:rPr>
              <a:t> </a:t>
            </a:r>
            <a:r>
              <a:rPr lang="en-US" sz="2800">
                <a:solidFill>
                  <a:srgbClr val="0074DF"/>
                </a:solidFill>
                <a:latin typeface="Roboto Mono"/>
                <a:cs typeface="Roboto Mono"/>
              </a:rPr>
              <a:t>%2</a:t>
            </a:r>
            <a:r>
              <a:rPr lang="en-US" sz="2800">
                <a:solidFill>
                  <a:srgbClr val="000000"/>
                </a:solidFill>
                <a:latin typeface="Roboto Mono"/>
                <a:cs typeface="Roboto Mono"/>
              </a:rPr>
              <a:t> : &lt;</a:t>
            </a:r>
            <a:r>
              <a:rPr lang="en-US" sz="2800">
                <a:solidFill>
                  <a:srgbClr val="1DBBA4"/>
                </a:solidFill>
                <a:latin typeface="Roboto Mono"/>
                <a:cs typeface="Roboto Mono"/>
              </a:rPr>
              <a:t>i32</a:t>
            </a:r>
            <a:r>
              <a:rPr lang="en-US" sz="2800">
                <a:solidFill>
                  <a:srgbClr val="000000"/>
                </a:solidFill>
                <a:latin typeface="Roboto Mono"/>
                <a:cs typeface="Roboto Mono"/>
              </a:rPr>
              <a:t>&gt;         </a:t>
            </a:r>
            <a:r>
              <a:rPr lang="en-US" sz="2800">
                <a:solidFill>
                  <a:srgbClr val="EF9100"/>
                </a:solidFill>
                <a:latin typeface="Roboto Mono"/>
                <a:cs typeface="Roboto Mono"/>
              </a:rPr>
              <a:t>← read = load</a:t>
            </a:r>
          </a:p>
          <a:p>
            <a:pPr>
              <a:lnSpc>
                <a:spcPts val="3800"/>
              </a:lnSpc>
              <a:spcBef>
                <a:spcPts val="0"/>
              </a:spcBef>
              <a:buNone/>
            </a:pPr>
            <a:r>
              <a:rPr lang="en-US" sz="2800">
                <a:solidFill>
                  <a:srgbClr val="000000"/>
                </a:solidFill>
                <a:latin typeface="Roboto Mono"/>
                <a:cs typeface="Roboto Mono"/>
              </a:rPr>
              <a:t>      </a:t>
            </a:r>
            <a:r>
              <a:rPr lang="en-US" sz="2800">
                <a:solidFill>
                  <a:srgbClr val="0074DF"/>
                </a:solidFill>
                <a:latin typeface="Roboto Mono"/>
                <a:cs typeface="Roboto Mono"/>
              </a:rPr>
              <a:t>%8</a:t>
            </a:r>
            <a:r>
              <a:rPr lang="en-US" sz="2800">
                <a:solidFill>
                  <a:srgbClr val="000000"/>
                </a:solidFill>
                <a:latin typeface="Roboto Mono"/>
                <a:cs typeface="Roboto Mono"/>
              </a:rPr>
              <a:t> = </a:t>
            </a:r>
            <a:r>
              <a:rPr lang="en-US" sz="2800">
                <a:solidFill>
                  <a:srgbClr val="952FC6"/>
                </a:solidFill>
                <a:latin typeface="Roboto Mono"/>
                <a:cs typeface="Roboto Mono"/>
              </a:rPr>
              <a:t>arith.addi</a:t>
            </a:r>
            <a:r>
              <a:rPr lang="en-US" sz="2800">
                <a:solidFill>
                  <a:srgbClr val="000000"/>
                </a:solidFill>
                <a:latin typeface="Roboto Mono"/>
                <a:cs typeface="Roboto Mono"/>
              </a:rPr>
              <a:t> </a:t>
            </a:r>
            <a:r>
              <a:rPr lang="en-US" sz="2800">
                <a:solidFill>
                  <a:srgbClr val="0074DF"/>
                </a:solidFill>
                <a:latin typeface="Roboto Mono"/>
                <a:cs typeface="Roboto Mono"/>
              </a:rPr>
              <a:t>%7</a:t>
            </a:r>
            <a:r>
              <a:rPr lang="en-US" sz="2800">
                <a:solidFill>
                  <a:srgbClr val="000000"/>
                </a:solidFill>
                <a:latin typeface="Roboto Mono"/>
                <a:cs typeface="Roboto Mono"/>
              </a:rPr>
              <a:t>, </a:t>
            </a:r>
            <a:r>
              <a:rPr lang="en-US" sz="2800">
                <a:solidFill>
                  <a:srgbClr val="0074DF"/>
                </a:solidFill>
                <a:latin typeface="Roboto Mono"/>
                <a:cs typeface="Roboto Mono"/>
              </a:rPr>
              <a:t>%c2_i32</a:t>
            </a:r>
          </a:p>
          <a:p>
            <a:pPr>
              <a:lnSpc>
                <a:spcPts val="38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pyir.store</a:t>
            </a:r>
            <a:r>
              <a:rPr lang="en-US" sz="2800">
                <a:solidFill>
                  <a:srgbClr val="000000"/>
                </a:solidFill>
                <a:latin typeface="Roboto Mono"/>
                <a:cs typeface="Roboto Mono"/>
              </a:rPr>
              <a:t> </a:t>
            </a:r>
            <a:r>
              <a:rPr lang="en-US" sz="2800">
                <a:solidFill>
                  <a:srgbClr val="0074DF"/>
                </a:solidFill>
                <a:latin typeface="Roboto Mono"/>
                <a:cs typeface="Roboto Mono"/>
              </a:rPr>
              <a:t>%8</a:t>
            </a:r>
            <a:r>
              <a:rPr lang="en-US" sz="2800">
                <a:solidFill>
                  <a:srgbClr val="000000"/>
                </a:solidFill>
                <a:latin typeface="Roboto Mono"/>
                <a:cs typeface="Roboto Mono"/>
              </a:rPr>
              <a:t>, </a:t>
            </a:r>
            <a:r>
              <a:rPr lang="en-US" sz="2800">
                <a:solidFill>
                  <a:srgbClr val="0074DF"/>
                </a:solidFill>
                <a:latin typeface="Roboto Mono"/>
                <a:cs typeface="Roboto Mono"/>
              </a:rPr>
              <a:t>%2</a:t>
            </a:r>
            <a:r>
              <a:rPr lang="en-US" sz="2800">
                <a:solidFill>
                  <a:srgbClr val="000000"/>
                </a:solidFill>
                <a:latin typeface="Roboto Mono"/>
                <a:cs typeface="Roboto Mono"/>
              </a:rPr>
              <a:t> : &lt;</a:t>
            </a:r>
            <a:r>
              <a:rPr lang="en-US" sz="2800">
                <a:solidFill>
                  <a:srgbClr val="1DBBA4"/>
                </a:solidFill>
                <a:latin typeface="Roboto Mono"/>
                <a:cs typeface="Roboto Mono"/>
              </a:rPr>
              <a:t>i32</a:t>
            </a:r>
            <a:r>
              <a:rPr lang="en-US" sz="2800">
                <a:solidFill>
                  <a:srgbClr val="000000"/>
                </a:solidFill>
                <a:latin typeface="Roboto Mono"/>
                <a:cs typeface="Roboto Mono"/>
              </a:rPr>
              <a:t>&gt;         </a:t>
            </a:r>
            <a:r>
              <a:rPr lang="en-US" sz="2800">
                <a:solidFill>
                  <a:srgbClr val="EF9100"/>
                </a:solidFill>
                <a:latin typeface="Roboto Mono"/>
                <a:cs typeface="Roboto Mono"/>
              </a:rPr>
              <a:t>← write = store</a:t>
            </a:r>
          </a:p>
          <a:p>
            <a:pPr>
              <a:lnSpc>
                <a:spcPts val="3800"/>
              </a:lnSpc>
              <a:spcBef>
                <a:spcPts val="0"/>
              </a:spcBef>
              <a:buNone/>
            </a:pPr>
            <a:r>
              <a:rPr lang="en-US" sz="2800">
                <a:solidFill>
                  <a:srgbClr val="000000"/>
                </a:solidFill>
                <a:latin typeface="Roboto Mono"/>
                <a:cs typeface="Roboto Mono"/>
              </a:rPr>
              <a:t>      </a:t>
            </a:r>
            <a:r>
              <a:rPr lang="en-US" sz="2800">
                <a:solidFill>
                  <a:srgbClr val="0074DF"/>
                </a:solidFill>
                <a:latin typeface="Roboto Mono"/>
                <a:cs typeface="Roboto Mono"/>
              </a:rPr>
              <a:t>%10</a:t>
            </a:r>
            <a:r>
              <a:rPr lang="en-US" sz="2800">
                <a:solidFill>
                  <a:srgbClr val="000000"/>
                </a:solidFill>
                <a:latin typeface="Roboto Mono"/>
                <a:cs typeface="Roboto Mono"/>
              </a:rPr>
              <a:t> = </a:t>
            </a:r>
            <a:r>
              <a:rPr lang="en-US" sz="2800">
                <a:solidFill>
                  <a:srgbClr val="952FC6"/>
                </a:solidFill>
                <a:latin typeface="Roboto Mono"/>
                <a:cs typeface="Roboto Mono"/>
              </a:rPr>
              <a:t>pyir.load</a:t>
            </a:r>
            <a:r>
              <a:rPr lang="en-US" sz="2800">
                <a:solidFill>
                  <a:srgbClr val="000000"/>
                </a:solidFill>
                <a:latin typeface="Roboto Mono"/>
                <a:cs typeface="Roboto Mono"/>
              </a:rPr>
              <a:t> </a:t>
            </a:r>
            <a:r>
              <a:rPr lang="en-US" sz="2800">
                <a:solidFill>
                  <a:srgbClr val="0074DF"/>
                </a:solidFill>
                <a:latin typeface="Roboto Mono"/>
                <a:cs typeface="Roboto Mono"/>
              </a:rPr>
              <a:t>%1</a:t>
            </a:r>
            <a:r>
              <a:rPr lang="en-US" sz="2800">
                <a:solidFill>
                  <a:srgbClr val="000000"/>
                </a:solidFill>
                <a:latin typeface="Roboto Mono"/>
                <a:cs typeface="Roboto Mono"/>
              </a:rPr>
              <a:t> : &lt;</a:t>
            </a:r>
            <a:r>
              <a:rPr lang="en-US" sz="2800">
                <a:solidFill>
                  <a:srgbClr val="1DBBA4"/>
                </a:solidFill>
                <a:latin typeface="Roboto Mono"/>
                <a:cs typeface="Roboto Mono"/>
              </a:rPr>
              <a:t>i32</a:t>
            </a:r>
            <a:r>
              <a:rPr lang="en-US" sz="2800">
                <a:solidFill>
                  <a:srgbClr val="000000"/>
                </a:solidFill>
                <a:latin typeface="Roboto Mono"/>
                <a:cs typeface="Roboto Mono"/>
              </a:rPr>
              <a:t>&gt;</a:t>
            </a:r>
          </a:p>
          <a:p>
            <a:pPr>
              <a:lnSpc>
                <a:spcPts val="3800"/>
              </a:lnSpc>
              <a:spcBef>
                <a:spcPts val="0"/>
              </a:spcBef>
              <a:buNone/>
            </a:pPr>
            <a:r>
              <a:rPr lang="en-US" sz="2800">
                <a:solidFill>
                  <a:srgbClr val="000000"/>
                </a:solidFill>
                <a:latin typeface="Roboto Mono"/>
                <a:cs typeface="Roboto Mono"/>
              </a:rPr>
              <a:t>      </a:t>
            </a:r>
            <a:r>
              <a:rPr lang="en-US" sz="2800">
                <a:solidFill>
                  <a:srgbClr val="0074DF"/>
                </a:solidFill>
                <a:latin typeface="Roboto Mono"/>
                <a:cs typeface="Roboto Mono"/>
              </a:rPr>
              <a:t>%11</a:t>
            </a:r>
            <a:r>
              <a:rPr lang="en-US" sz="2800">
                <a:solidFill>
                  <a:srgbClr val="000000"/>
                </a:solidFill>
                <a:latin typeface="Roboto Mono"/>
                <a:cs typeface="Roboto Mono"/>
              </a:rPr>
              <a:t> = </a:t>
            </a:r>
            <a:r>
              <a:rPr lang="en-US" sz="2800">
                <a:solidFill>
                  <a:srgbClr val="952FC6"/>
                </a:solidFill>
                <a:latin typeface="Roboto Mono"/>
                <a:cs typeface="Roboto Mono"/>
              </a:rPr>
              <a:t>arith.addi</a:t>
            </a:r>
            <a:r>
              <a:rPr lang="en-US" sz="2800">
                <a:solidFill>
                  <a:srgbClr val="000000"/>
                </a:solidFill>
                <a:latin typeface="Roboto Mono"/>
                <a:cs typeface="Roboto Mono"/>
              </a:rPr>
              <a:t> </a:t>
            </a:r>
            <a:r>
              <a:rPr lang="en-US" sz="2800">
                <a:solidFill>
                  <a:srgbClr val="0074DF"/>
                </a:solidFill>
                <a:latin typeface="Roboto Mono"/>
                <a:cs typeface="Roboto Mono"/>
              </a:rPr>
              <a:t>%10</a:t>
            </a:r>
            <a:r>
              <a:rPr lang="en-US" sz="2800">
                <a:solidFill>
                  <a:srgbClr val="000000"/>
                </a:solidFill>
                <a:latin typeface="Roboto Mono"/>
                <a:cs typeface="Roboto Mono"/>
              </a:rPr>
              <a:t>, </a:t>
            </a:r>
            <a:r>
              <a:rPr lang="en-US" sz="2800">
                <a:solidFill>
                  <a:srgbClr val="0074DF"/>
                </a:solidFill>
                <a:latin typeface="Roboto Mono"/>
                <a:cs typeface="Roboto Mono"/>
              </a:rPr>
              <a:t>%c1_i32</a:t>
            </a:r>
          </a:p>
          <a:p>
            <a:pPr>
              <a:lnSpc>
                <a:spcPts val="38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pyir.store</a:t>
            </a:r>
            <a:r>
              <a:rPr lang="en-US" sz="2800">
                <a:solidFill>
                  <a:srgbClr val="000000"/>
                </a:solidFill>
                <a:latin typeface="Roboto Mono"/>
                <a:cs typeface="Roboto Mono"/>
              </a:rPr>
              <a:t> </a:t>
            </a:r>
            <a:r>
              <a:rPr lang="en-US" sz="2800">
                <a:solidFill>
                  <a:srgbClr val="0074DF"/>
                </a:solidFill>
                <a:latin typeface="Roboto Mono"/>
                <a:cs typeface="Roboto Mono"/>
              </a:rPr>
              <a:t>%11</a:t>
            </a:r>
            <a:r>
              <a:rPr lang="en-US" sz="2800">
                <a:solidFill>
                  <a:srgbClr val="000000"/>
                </a:solidFill>
                <a:latin typeface="Roboto Mono"/>
                <a:cs typeface="Roboto Mono"/>
              </a:rPr>
              <a:t>, </a:t>
            </a:r>
            <a:r>
              <a:rPr lang="en-US" sz="2800">
                <a:solidFill>
                  <a:srgbClr val="0074DF"/>
                </a:solidFill>
                <a:latin typeface="Roboto Mono"/>
                <a:cs typeface="Roboto Mono"/>
              </a:rPr>
              <a:t>%1</a:t>
            </a:r>
            <a:r>
              <a:rPr lang="en-US" sz="2800">
                <a:solidFill>
                  <a:srgbClr val="000000"/>
                </a:solidFill>
                <a:latin typeface="Roboto Mono"/>
                <a:cs typeface="Roboto Mono"/>
              </a:rPr>
              <a:t> : &lt;</a:t>
            </a:r>
            <a:r>
              <a:rPr lang="en-US" sz="2800">
                <a:solidFill>
                  <a:srgbClr val="1DBBA4"/>
                </a:solidFill>
                <a:latin typeface="Roboto Mono"/>
                <a:cs typeface="Roboto Mono"/>
              </a:rPr>
              <a:t>i32</a:t>
            </a:r>
            <a:r>
              <a:rPr lang="en-US" sz="2800">
                <a:solidFill>
                  <a:srgbClr val="000000"/>
                </a:solidFill>
                <a:latin typeface="Roboto Mono"/>
                <a:cs typeface="Roboto Mono"/>
              </a:rPr>
              <a:t>&gt;</a:t>
            </a:r>
          </a:p>
          <a:p>
            <a:pPr>
              <a:lnSpc>
                <a:spcPts val="3800"/>
              </a:lnSpc>
              <a:spcBef>
                <a:spcPts val="0"/>
              </a:spcBef>
              <a:buNone/>
            </a:pPr>
            <a:r>
              <a:rPr lang="en-US" sz="2800">
                <a:solidFill>
                  <a:srgbClr val="000000"/>
                </a:solidFill>
                <a:latin typeface="Roboto Mono"/>
                <a:cs typeface="Roboto Mono"/>
              </a:rPr>
              <a:t>      …                                 </a:t>
            </a:r>
            <a:r>
              <a:rPr lang="en-US" sz="2800">
                <a:solidFill>
                  <a:srgbClr val="6E6E73"/>
                </a:solidFill>
                <a:latin typeface="Roboto Mono"/>
                <a:cs typeface="Roboto Mono"/>
              </a:rPr>
              <a:t>// tot: same three ops</a:t>
            </a:r>
          </a:p>
          <a:p>
            <a:pPr>
              <a:lnSpc>
                <a:spcPts val="3800"/>
              </a:lnSpc>
              <a:spcBef>
                <a:spcPts val="0"/>
              </a:spcBef>
              <a:buNone/>
            </a:pPr>
            <a:r>
              <a:rPr lang="en-US" sz="2800">
                <a:solidFill>
                  <a:srgbClr val="000000"/>
                </a:solidFill>
                <a:latin typeface="Roboto Mono"/>
                <a:cs typeface="Roboto Mono"/>
              </a:rPr>
              <a:t>    }</a:t>
            </a:r>
          </a:p>
          <a:p>
            <a:pPr>
              <a:lnSpc>
                <a:spcPts val="3800"/>
              </a:lnSpc>
              <a:spcBef>
                <a:spcPts val="0"/>
              </a:spcBef>
              <a:buNone/>
            </a:pPr>
            <a:r>
              <a:rPr lang="en-US" sz="2800">
                <a:solidFill>
                  <a:srgbClr val="000000"/>
                </a:solidFill>
                <a:latin typeface="Roboto Mono"/>
                <a:cs typeface="Roboto Mono"/>
              </a:rPr>
              <a:t>    </a:t>
            </a:r>
            <a:r>
              <a:rPr lang="en-US" sz="2800">
                <a:solidFill>
                  <a:srgbClr val="0074DF"/>
                </a:solidFill>
                <a:latin typeface="Roboto Mono"/>
                <a:cs typeface="Roboto Mono"/>
              </a:rPr>
              <a:t>%3</a:t>
            </a:r>
            <a:r>
              <a:rPr lang="en-US" sz="2800">
                <a:solidFill>
                  <a:srgbClr val="000000"/>
                </a:solidFill>
                <a:latin typeface="Roboto Mono"/>
                <a:cs typeface="Roboto Mono"/>
              </a:rPr>
              <a:t> = </a:t>
            </a:r>
            <a:r>
              <a:rPr lang="en-US" sz="2800">
                <a:solidFill>
                  <a:srgbClr val="952FC6"/>
                </a:solidFill>
                <a:latin typeface="Roboto Mono"/>
                <a:cs typeface="Roboto Mono"/>
              </a:rPr>
              <a:t>pyir.load</a:t>
            </a:r>
            <a:r>
              <a:rPr lang="en-US" sz="2800">
                <a:solidFill>
                  <a:srgbClr val="000000"/>
                </a:solidFill>
                <a:latin typeface="Roboto Mono"/>
                <a:cs typeface="Roboto Mono"/>
              </a:rPr>
              <a:t> </a:t>
            </a:r>
            <a:r>
              <a:rPr lang="en-US" sz="2800">
                <a:solidFill>
                  <a:srgbClr val="0074DF"/>
                </a:solidFill>
                <a:latin typeface="Roboto Mono"/>
                <a:cs typeface="Roboto Mono"/>
              </a:rPr>
              <a:t>%2</a:t>
            </a:r>
            <a:r>
              <a:rPr lang="en-US" sz="2800">
                <a:solidFill>
                  <a:srgbClr val="000000"/>
                </a:solidFill>
                <a:latin typeface="Roboto Mono"/>
                <a:cs typeface="Roboto Mono"/>
              </a:rPr>
              <a:t> : &lt;</a:t>
            </a:r>
            <a:r>
              <a:rPr lang="en-US" sz="2800">
                <a:solidFill>
                  <a:srgbClr val="1DBBA4"/>
                </a:solidFill>
                <a:latin typeface="Roboto Mono"/>
                <a:cs typeface="Roboto Mono"/>
              </a:rPr>
              <a:t>i32</a:t>
            </a:r>
            <a:r>
              <a:rPr lang="en-US" sz="2800">
                <a:solidFill>
                  <a:srgbClr val="000000"/>
                </a:solidFill>
                <a:latin typeface="Roboto Mono"/>
                <a:cs typeface="Roboto Mono"/>
              </a:rPr>
              <a:t>&gt;</a:t>
            </a:r>
          </a:p>
          <a:p>
            <a:pPr>
              <a:lnSpc>
                <a:spcPts val="3800"/>
              </a:lnSpc>
              <a:spcBef>
                <a:spcPts val="0"/>
              </a:spcBef>
              <a:buNone/>
            </a:pPr>
            <a:r>
              <a:rPr lang="en-US" sz="2800">
                <a:solidFill>
                  <a:srgbClr val="000000"/>
                </a:solidFill>
                <a:latin typeface="Roboto Mono"/>
                <a:cs typeface="Roboto Mono"/>
              </a:rPr>
              <a:t>    …                                   </a:t>
            </a:r>
            <a:r>
              <a:rPr lang="en-US" sz="2800">
                <a:solidFill>
                  <a:srgbClr val="6E6E73"/>
                </a:solidFill>
                <a:latin typeface="Roboto Mono"/>
                <a:cs typeface="Roboto Mono"/>
              </a:rPr>
              <a:t>// the other two, read back</a:t>
            </a:r>
          </a:p>
          <a:p>
            <a:pPr>
              <a:lnSpc>
                <a:spcPts val="38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return</a:t>
            </a:r>
            <a:r>
              <a:rPr lang="en-US" sz="2800">
                <a:solidFill>
                  <a:srgbClr val="000000"/>
                </a:solidFill>
                <a:latin typeface="Roboto Mono"/>
                <a:cs typeface="Roboto Mono"/>
              </a:rPr>
              <a:t> </a:t>
            </a:r>
            <a:r>
              <a:rPr lang="en-US" sz="2800">
                <a:solidFill>
                  <a:srgbClr val="0074DF"/>
                </a:solidFill>
                <a:latin typeface="Roboto Mono"/>
                <a:cs typeface="Roboto Mono"/>
              </a:rPr>
              <a:t>%c0_i32_3</a:t>
            </a:r>
            <a:r>
              <a:rPr lang="en-US" sz="2800">
                <a:solidFill>
                  <a:srgbClr val="000000"/>
                </a:solidFill>
                <a:latin typeface="Roboto Mono"/>
                <a:cs typeface="Roboto Mono"/>
              </a:rPr>
              <a:t> : </a:t>
            </a:r>
            <a:r>
              <a:rPr lang="en-US" sz="2800">
                <a:solidFill>
                  <a:srgbClr val="1DBBA4"/>
                </a:solidFill>
                <a:latin typeface="Roboto Mono"/>
                <a:cs typeface="Roboto Mono"/>
              </a:rPr>
              <a:t>i32</a:t>
            </a:r>
          </a:p>
          <a:p>
            <a:pPr>
              <a:lnSpc>
                <a:spcPts val="3800"/>
              </a:lnSpc>
              <a:spcBef>
                <a:spcPts val="0"/>
              </a:spcBef>
              <a:buNone/>
            </a:pPr>
            <a:r>
              <a:rPr lang="en-US" sz="2800">
                <a:solidFill>
                  <a:srgbClr val="000000"/>
                </a:solidFill>
                <a:latin typeface="Roboto Mono"/>
                <a:cs typeface="Roboto Mono"/>
              </a:rPr>
              <a:t>  }</a:t>
            </a:r>
          </a:p>
          <a:p>
            <a:pPr>
              <a:lnSpc>
                <a:spcPts val="3800"/>
              </a:lnSpc>
              <a:spcBef>
                <a:spcPts val="0"/>
              </a:spcBef>
              <a:buNone/>
            </a:pPr>
            <a:r>
              <a:rPr lang="en-US" sz="2800">
                <a:solidFill>
                  <a:srgbClr val="000000"/>
                </a:solidFill>
                <a:latin typeface="Roboto Mono"/>
                <a:cs typeface="Roboto Mono"/>
              </a:rPr>
              <a:t>}</a:t>
            </a:r>
          </a:p>
        </p:txBody>
      </p:sp>
      <p:sp>
        <p:nvSpPr>
          <p:cNvPr id="3" name="Text Placeholder 2"/>
          <p:cNvSpPr>
            <a:spLocks noGrp="1"/>
          </p:cNvSpPr>
          <p:nvPr>
            <p:ph type="body" sz="quarter" idx="14"/>
          </p:nvPr>
        </p:nvSpPr>
        <p:spPr/>
        <p:txBody>
          <a:bodyPr/>
          <a:lstStyle/>
          <a:p>
            <a:r>
              <a:rPr lang="en-US"/>
              <a:t>Every read and write became a pyir op, and each mutated value now lives in a cell</a:t>
            </a:r>
          </a:p>
        </p:txBody>
      </p:sp>
      <p:sp>
        <p:nvSpPr>
          <p:cNvPr id="4" name="Title 3"/>
          <p:cNvSpPr>
            <a:spLocks noGrp="1"/>
          </p:cNvSpPr>
          <p:nvPr>
            <p:ph type="title"/>
          </p:nvPr>
        </p:nvSpPr>
        <p:spPr>
          <a:xfrm>
            <a:off x="1828800" y="914400"/>
            <a:ext cx="32918400" cy="2463800"/>
          </a:xfrm>
        </p:spPr>
        <p:txBody>
          <a:bodyPr/>
          <a:lstStyle/>
          <a:p>
            <a:r>
              <a:rPr lang="en-US"/>
              <a:t>The MLIR Tracing Produces</a:t>
            </a:r>
          </a:p>
        </p:txBody>
      </p:sp>
      <p:sp>
        <p:nvSpPr>
          <p:cNvPr id="17" name="OpsTblH">
            <a:extLst>
              <a:ext uri="{FF2B5EF4-FFF2-40B4-BE49-F238E27FC236}">
                <a16:creationId xmlns:a16="http://schemas.microsoft.com/office/drawing/2014/main" id="{1E9F31BE-2229-F445-9680-8200D49BF885}"/>
              </a:ext>
            </a:extLst>
          </p:cNvPr>
          <p:cNvSpPr txBox="1"/>
          <p:nvPr/>
        </p:nvSpPr>
        <p:spPr>
          <a:xfrm>
            <a:off x="20091400" y="4953000"/>
            <a:ext cx="15875000" cy="558800"/>
          </a:xfrm>
          <a:prstGeom prst="rect">
            <a:avLst/>
          </a:prstGeom>
          <a:noFill/>
        </p:spPr>
        <p:txBody>
          <a:bodyPr vertOverflow="overflow" vert="horz" wrap="square" rtlCol="0" anchor="t">
            <a:noAutofit/>
          </a:bodyPr>
          <a:lstStyle/>
          <a:p>
            <a:pPr algn="l">
              <a:lnSpc>
                <a:spcPct val="90000"/>
              </a:lnSpc>
              <a:spcBef>
                <a:spcPts val="800"/>
              </a:spcBef>
              <a:spcAft>
                <a:spcPts val="800"/>
              </a:spcAft>
            </a:pPr>
            <a:r>
              <a:rPr lang="en-US" sz="2600" b="1" kern="100">
                <a:solidFill>
                  <a:srgbClr val="757575"/>
                </a:solidFill>
                <a:latin typeface="NVIDIA Sans"/>
                <a:cs typeface="NVIDIA Sans"/>
              </a:rPr>
              <a:t>THE THREE DIALECT OPS</a:t>
            </a:r>
          </a:p>
        </p:txBody>
      </p:sp>
      <p:graphicFrame>
        <p:nvGraphicFramePr>
          <p:cNvPr id="19" name="OpsTbl">
            <a:extLst>
              <a:ext uri="{FF2B5EF4-FFF2-40B4-BE49-F238E27FC236}">
                <a16:creationId xmlns:a16="http://schemas.microsoft.com/office/drawing/2014/main" id="{277448E8-AF99-4846-A492-E80C0CADFBB0}"/>
              </a:ext>
            </a:extLst>
          </p:cNvPr>
          <p:cNvGraphicFramePr>
            <a:graphicFrameLocks noGrp="1"/>
          </p:cNvGraphicFramePr>
          <p:nvPr/>
        </p:nvGraphicFramePr>
        <p:xfrm>
          <a:off x="20091400" y="5740400"/>
          <a:ext cx="15875000" cy="2743200"/>
        </p:xfrm>
        <a:graphic>
          <a:graphicData uri="http://schemas.openxmlformats.org/drawingml/2006/table">
            <a:tbl>
              <a:tblPr firstRow="1" bandRow="1">
                <a:tableStyleId>{5FC34824-C322-4EAF-908F-AC0DC8227AF9}</a:tableStyleId>
              </a:tblPr>
              <a:tblGrid>
                <a:gridCol w="5969000">
                  <a:extLst>
                    <a:ext uri="{9D8B030D-6E8A-4147-A177-3AD203B41FA5}">
                      <a16:colId xmlns:a16="http://schemas.microsoft.com/office/drawing/2014/main" val="1676343406"/>
                    </a:ext>
                  </a:extLst>
                </a:gridCol>
                <a:gridCol w="9906000">
                  <a:extLst>
                    <a:ext uri="{9D8B030D-6E8A-4147-A177-3AD203B41FA5}">
                      <a16:colId xmlns:a16="http://schemas.microsoft.com/office/drawing/2014/main" val="2333012185"/>
                    </a:ext>
                  </a:extLst>
                </a:gridCol>
              </a:tblGrid>
              <a:tr h="914400">
                <a:tc>
                  <a:txBody>
                    <a:bodyPr/>
                    <a:lstStyle/>
                    <a:p>
                      <a:pPr algn="l"/>
                      <a:r>
                        <a:rPr lang="en-US" sz="2600" b="1">
                          <a:solidFill>
                            <a:srgbClr val="952FC6"/>
                          </a:solidFill>
                          <a:latin typeface="Roboto Mono"/>
                          <a:ea typeface="Roboto Mono"/>
                        </a:rPr>
                        <a:t>pyir.ref</a:t>
                      </a:r>
                    </a:p>
                  </a:txBody>
                  <a:tcPr anchor="ctr">
                    <a:solidFill>
                      <a:srgbClr val="F7F7F7"/>
                    </a:solidFill>
                  </a:tcPr>
                </a:tc>
                <a:tc>
                  <a:txBody>
                    <a:bodyPr/>
                    <a:lstStyle/>
                    <a:p>
                      <a:pPr algn="l"/>
                      <a:r>
                        <a:rPr lang="en-US" sz="2600" b="0">
                          <a:solidFill>
                            <a:srgbClr val="313131"/>
                          </a:solidFill>
                          <a:latin typeface="NVIDIA Sans"/>
                          <a:cs typeface="NVIDIA Sans"/>
                        </a:rPr>
                        <a:t>one cell per place</a:t>
                      </a:r>
                    </a:p>
                  </a:txBody>
                  <a:tcPr anchor="ctr">
                    <a:solidFill>
                      <a:srgbClr val="F7F7F7"/>
                    </a:solidFill>
                  </a:tcPr>
                </a:tc>
                <a:extLst>
                  <a:ext uri="{0D108BD9-81ED-4DB2-BD59-A6C34878D82A}">
                    <a16:rowId xmlns:a16="http://schemas.microsoft.com/office/drawing/2014/main" val="3097261787"/>
                  </a:ext>
                </a:extLst>
              </a:tr>
              <a:tr h="914400">
                <a:tc>
                  <a:txBody>
                    <a:bodyPr/>
                    <a:lstStyle/>
                    <a:p>
                      <a:pPr algn="l"/>
                      <a:r>
                        <a:rPr lang="en-US" sz="2600" b="1">
                          <a:solidFill>
                            <a:srgbClr val="952FC6"/>
                          </a:solidFill>
                          <a:latin typeface="Roboto Mono"/>
                          <a:ea typeface="Roboto Mono"/>
                        </a:rPr>
                        <a:t>pyir.load</a:t>
                      </a:r>
                    </a:p>
                  </a:txBody>
                  <a:tcPr anchor="ctr">
                    <a:solidFill>
                      <a:srgbClr val="FFFFFF"/>
                    </a:solidFill>
                  </a:tcPr>
                </a:tc>
                <a:tc>
                  <a:txBody>
                    <a:bodyPr/>
                    <a:lstStyle/>
                    <a:p>
                      <a:pPr algn="l"/>
                      <a:r>
                        <a:rPr lang="en-US" sz="2600" b="0">
                          <a:solidFill>
                            <a:srgbClr val="313131"/>
                          </a:solidFill>
                          <a:latin typeface="NVIDIA Sans"/>
                          <a:cs typeface="NVIDIA Sans"/>
                        </a:rPr>
                        <a:t>read that cell</a:t>
                      </a:r>
                    </a:p>
                  </a:txBody>
                  <a:tcPr anchor="ctr">
                    <a:solidFill>
                      <a:srgbClr val="FFFFFF"/>
                    </a:solidFill>
                  </a:tcPr>
                </a:tc>
                <a:extLst>
                  <a:ext uri="{0D108BD9-81ED-4DB2-BD59-A6C34878D82A}">
                    <a16:rowId xmlns:a16="http://schemas.microsoft.com/office/drawing/2014/main" val="1981023684"/>
                  </a:ext>
                </a:extLst>
              </a:tr>
              <a:tr h="914400">
                <a:tc>
                  <a:txBody>
                    <a:bodyPr/>
                    <a:lstStyle/>
                    <a:p>
                      <a:pPr algn="l"/>
                      <a:r>
                        <a:rPr lang="en-US" sz="2600" b="1">
                          <a:solidFill>
                            <a:srgbClr val="952FC6"/>
                          </a:solidFill>
                          <a:latin typeface="Roboto Mono"/>
                          <a:ea typeface="Roboto Mono"/>
                        </a:rPr>
                        <a:t>pyir.store</a:t>
                      </a:r>
                    </a:p>
                  </a:txBody>
                  <a:tcPr anchor="ctr">
                    <a:solidFill>
                      <a:srgbClr val="F7F7F7"/>
                    </a:solidFill>
                  </a:tcPr>
                </a:tc>
                <a:tc>
                  <a:txBody>
                    <a:bodyPr/>
                    <a:lstStyle/>
                    <a:p>
                      <a:pPr algn="l"/>
                      <a:r>
                        <a:rPr lang="en-US" sz="2600" b="0">
                          <a:solidFill>
                            <a:srgbClr val="313131"/>
                          </a:solidFill>
                          <a:latin typeface="NVIDIA Sans"/>
                          <a:cs typeface="NVIDIA Sans"/>
                        </a:rPr>
                        <a:t>write it back</a:t>
                      </a:r>
                    </a:p>
                  </a:txBody>
                  <a:tcPr anchor="ctr">
                    <a:solidFill>
                      <a:srgbClr val="F7F7F7"/>
                    </a:solidFill>
                  </a:tcPr>
                </a:tc>
                <a:extLst>
                  <a:ext uri="{0D108BD9-81ED-4DB2-BD59-A6C34878D82A}">
                    <a16:rowId xmlns:a16="http://schemas.microsoft.com/office/drawing/2014/main" val="3080193395"/>
                  </a:ext>
                </a:extLst>
              </a:tr>
            </a:tbl>
          </a:graphicData>
        </a:graphic>
      </p:graphicFrame>
      <p:sp>
        <p:nvSpPr>
          <p:cNvPr id="11" name="PromoH">
            <a:extLst>
              <a:ext uri="{FF2B5EF4-FFF2-40B4-BE49-F238E27FC236}">
                <a16:creationId xmlns:a16="http://schemas.microsoft.com/office/drawing/2014/main" id="{13E323F9-3C8E-7C45-BB2D-F125B25B1B91}"/>
              </a:ext>
            </a:extLst>
          </p:cNvPr>
          <p:cNvSpPr txBox="1"/>
          <p:nvPr/>
        </p:nvSpPr>
        <p:spPr>
          <a:xfrm>
            <a:off x="20091400" y="10515600"/>
            <a:ext cx="15875000" cy="762000"/>
          </a:xfrm>
          <a:prstGeom prst="rect">
            <a:avLst/>
          </a:prstGeom>
          <a:noFill/>
        </p:spPr>
        <p:txBody>
          <a:bodyPr vertOverflow="overflow" vert="horz" wrap="none" rtlCol="0" anchor="t">
            <a:noAutofit/>
          </a:bodyPr>
          <a:lstStyle/>
          <a:p>
            <a:pPr algn="l"/>
            <a:r>
              <a:rPr lang="en-US" sz="3200" b="1">
                <a:solidFill>
                  <a:srgbClr val="1A1A1A"/>
                </a:solidFill>
                <a:latin typeface="NVIDIA Sans"/>
                <a:cs typeface="NVIDIA Sans"/>
              </a:rPr>
              <a:t>The next problem</a:t>
            </a:r>
          </a:p>
        </p:txBody>
      </p:sp>
      <p:sp>
        <p:nvSpPr>
          <p:cNvPr id="12" name="PromoTx">
            <a:extLst>
              <a:ext uri="{FF2B5EF4-FFF2-40B4-BE49-F238E27FC236}">
                <a16:creationId xmlns:a16="http://schemas.microsoft.com/office/drawing/2014/main" id="{11F72FE2-A548-474E-8F96-2D6A03441CBE}"/>
              </a:ext>
            </a:extLst>
          </p:cNvPr>
          <p:cNvSpPr txBox="1"/>
          <p:nvPr/>
        </p:nvSpPr>
        <p:spPr>
          <a:xfrm>
            <a:off x="20091400" y="11430000"/>
            <a:ext cx="15875000" cy="2032000"/>
          </a:xfrm>
          <a:prstGeom prst="rect">
            <a:avLst/>
          </a:prstGeom>
          <a:noFill/>
        </p:spPr>
        <p:txBody>
          <a:bodyPr vertOverflow="overflow" vert="horz" wrap="square" rtlCol="0" anchor="t" anchorCtr="0">
            <a:noAutofit/>
          </a:bodyPr>
          <a:lstStyle/>
          <a:p>
            <a:pPr algn="l">
              <a:lnSpc>
                <a:spcPts val="3800"/>
              </a:lnSpc>
              <a:buNone/>
            </a:pPr>
            <a:r>
              <a:rPr lang="en-US" sz="3000">
                <a:solidFill>
                  <a:srgbClr val="313131"/>
                </a:solidFill>
                <a:latin typeface="NVIDIA Sans"/>
                <a:cs typeface="NVIDIA Sans"/>
              </a:rPr>
              <a:t>Every mutated value still sits behind a cell. Turning cells into SSA values is </a:t>
            </a:r>
            <a:r>
              <a:rPr lang="en-US" sz="3000" b="1">
                <a:solidFill>
                  <a:srgbClr val="4E7D00"/>
                </a:solidFill>
                <a:latin typeface="NVIDIA Sans"/>
                <a:cs typeface="NVIDIA Sans"/>
              </a:rPr>
              <a:t>promotion</a:t>
            </a:r>
            <a:r>
              <a:rPr lang="en-US" sz="3000">
                <a:solidFill>
                  <a:srgbClr val="313131"/>
                </a:solidFill>
                <a:latin typeface="NVIDIA Sans"/>
                <a:cs typeface="NVIDIA Sans"/>
              </a:rPr>
              <a:t>.</a:t>
            </a:r>
          </a:p>
        </p:txBody>
      </p:sp>
      <p:sp>
        <p:nvSpPr>
          <p:cNvPr id="5" name="PromoRule">
            <a:extLst>
              <a:ext uri="{FF2B5EF4-FFF2-40B4-BE49-F238E27FC236}">
                <a16:creationId xmlns:a16="http://schemas.microsoft.com/office/drawing/2014/main" id="{03B74592-D802-C54D-8572-3A6C37D653A3}"/>
              </a:ext>
            </a:extLst>
          </p:cNvPr>
          <p:cNvSpPr/>
          <p:nvPr/>
        </p:nvSpPr>
        <p:spPr>
          <a:xfrm>
            <a:off x="20091400" y="10160000"/>
            <a:ext cx="15875000" cy="50800"/>
          </a:xfrm>
          <a:prstGeom prst="rect">
            <a:avLst/>
          </a:prstGeom>
          <a:solidFill>
            <a:srgbClr val="D9D9D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rIns="0" rtlCol="0" anchor="t"/>
          <a:lstStyle/>
          <a:p>
            <a:pPr algn="ctr"/>
            <a:endParaRPr lang="en-US" sz="3200">
              <a:solidFill>
                <a:schemeClr val="tx1"/>
              </a:solidFill>
            </a:endParaRPr>
          </a:p>
        </p:txBody>
      </p:sp>
      <p:sp>
        <p:nvSpPr>
          <p:cNvPr id="7" name="StepH2">
            <a:extLst>
              <a:ext uri="{FF2B5EF4-FFF2-40B4-BE49-F238E27FC236}">
                <a16:creationId xmlns:a16="http://schemas.microsoft.com/office/drawing/2014/main" id="{BC88A873-FA3F-E14E-B865-032F70E0526B}"/>
              </a:ext>
            </a:extLst>
          </p:cNvPr>
          <p:cNvSpPr txBox="1"/>
          <p:nvPr/>
        </p:nvSpPr>
        <p:spPr>
          <a:xfrm>
            <a:off x="1828800" y="4953000"/>
            <a:ext cx="15875000" cy="635000"/>
          </a:xfrm>
          <a:prstGeom prst="rect">
            <a:avLst/>
          </a:prstGeom>
          <a:noFill/>
        </p:spPr>
        <p:txBody>
          <a:bodyPr vertOverflow="overflow" vert="horz" wrap="none" rtlCol="0" anchor="t">
            <a:noAutofit/>
          </a:bodyPr>
          <a:lstStyle/>
          <a:p>
            <a:pPr algn="l">
              <a:lnSpc>
                <a:spcPct val="90000"/>
              </a:lnSpc>
              <a:spcBef>
                <a:spcPts val="800"/>
              </a:spcBef>
              <a:spcAft>
                <a:spcPts val="800"/>
              </a:spcAft>
            </a:pPr>
            <a:r>
              <a:rPr lang="en-US" sz="2800" b="1" kern="100">
                <a:solidFill>
                  <a:srgbClr val="76B900"/>
                </a:solidFill>
                <a:latin typeface="NVIDIA Sans"/>
                <a:cs typeface="NVIDIA Sans"/>
              </a:rPr>
              <a:t>STEP 02  ·  OUT OF TRACING</a:t>
            </a:r>
          </a:p>
        </p:txBody>
      </p:sp>
    </p:spTree>
    <p:extLst>
      <p:ext uri="{BB962C8B-B14F-4D97-AF65-F5344CB8AC3E}">
        <p14:creationId xmlns:p14="http://schemas.microsoft.com/office/powerpoint/2010/main" val="158541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2F95C-5669-5B69-4F7A-5EE9AC830D8F}"/>
            </a:ext>
          </a:extLst>
        </p:cNvPr>
        <p:cNvGrpSpPr/>
        <p:nvPr/>
      </p:nvGrpSpPr>
      <p:grpSpPr>
        <a:xfrm>
          <a:off x="0" y="0"/>
          <a:ext cx="0" cy="0"/>
          <a:chOff x="0" y="0"/>
          <a:chExt cx="0" cy="0"/>
        </a:xfrm>
      </p:grpSpPr>
      <p:sp>
        <p:nvSpPr>
          <p:cNvPr id="2" name="TitleTx">
            <a:extLst>
              <a:ext uri="{FF2B5EF4-FFF2-40B4-BE49-F238E27FC236}">
                <a16:creationId xmlns:a16="http://schemas.microsoft.com/office/drawing/2014/main" id="{3121DBB8-AA82-9FEF-18D3-26B5144D086D}"/>
              </a:ext>
            </a:extLst>
          </p:cNvPr>
          <p:cNvSpPr txBox="1"/>
          <p:nvPr/>
        </p:nvSpPr>
        <p:spPr>
          <a:xfrm>
            <a:off x="1828800" y="914400"/>
            <a:ext cx="32918400" cy="2463800"/>
          </a:xfrm>
          <a:prstGeom prst="rect">
            <a:avLst/>
          </a:prstGeom>
          <a:noFill/>
        </p:spPr>
        <p:txBody>
          <a:bodyPr vertOverflow="overflow" vert="horz" wrap="square" rtlCol="0" anchor="t">
            <a:noAutofit/>
          </a:bodyPr>
          <a:lstStyle/>
          <a:p>
            <a:pPr algn="l"/>
            <a:r>
              <a:rPr lang="en-US" sz="8800">
                <a:latin typeface="NVIDIA Sans Medium"/>
                <a:cs typeface="NVIDIA Sans Medium"/>
              </a:rPr>
              <a:t>What Gets Promoted, and What Does Not</a:t>
            </a:r>
          </a:p>
        </p:txBody>
      </p:sp>
      <p:sp>
        <p:nvSpPr>
          <p:cNvPr id="5" name="SubTx">
            <a:extLst>
              <a:ext uri="{FF2B5EF4-FFF2-40B4-BE49-F238E27FC236}">
                <a16:creationId xmlns:a16="http://schemas.microsoft.com/office/drawing/2014/main" id="{C7E8F471-2EAF-92CF-C397-37068B2C4639}"/>
              </a:ext>
            </a:extLst>
          </p:cNvPr>
          <p:cNvSpPr txBox="1"/>
          <p:nvPr/>
        </p:nvSpPr>
        <p:spPr>
          <a:xfrm>
            <a:off x="1828800" y="3378200"/>
            <a:ext cx="32918400" cy="914400"/>
          </a:xfrm>
          <a:prstGeom prst="rect">
            <a:avLst/>
          </a:prstGeom>
          <a:noFill/>
        </p:spPr>
        <p:txBody>
          <a:bodyPr vertOverflow="overflow" vert="horz" wrap="square" rtlCol="0" anchor="t">
            <a:noAutofit/>
          </a:bodyPr>
          <a:lstStyle/>
          <a:p>
            <a:pPr algn="l"/>
            <a:r>
              <a:rPr lang="en-US" sz="3200">
                <a:solidFill>
                  <a:srgbClr val="313131"/>
                </a:solidFill>
                <a:latin typeface="NVIDIA Sans"/>
                <a:cs typeface="NVIDIA Sans"/>
              </a:rPr>
              <a:t>Promotion gives a value a cell, reached through the three pyir ops. Where the value is used decides whether it needs one.</a:t>
            </a:r>
          </a:p>
        </p:txBody>
      </p:sp>
      <p:sp>
        <p:nvSpPr>
          <p:cNvPr id="8" name="NoteZ">
            <a:extLst>
              <a:ext uri="{FF2B5EF4-FFF2-40B4-BE49-F238E27FC236}">
                <a16:creationId xmlns:a16="http://schemas.microsoft.com/office/drawing/2014/main" id="{BE760447-11F0-8A3D-2DEE-807B59E47D75}"/>
              </a:ext>
            </a:extLst>
          </p:cNvPr>
          <p:cNvSpPr txBox="1"/>
          <p:nvPr/>
        </p:nvSpPr>
        <p:spPr>
          <a:xfrm>
            <a:off x="1828800" y="17780000"/>
            <a:ext cx="32918400" cy="1397000"/>
          </a:xfrm>
          <a:prstGeom prst="rect">
            <a:avLst/>
          </a:prstGeom>
          <a:noFill/>
        </p:spPr>
        <p:txBody>
          <a:bodyPr vertOverflow="overflow" vert="horz" wrap="square" rtlCol="0" anchor="t">
            <a:noAutofit/>
          </a:bodyPr>
          <a:lstStyle/>
          <a:p>
            <a:pPr algn="l"/>
            <a:r>
              <a:rPr lang="en-US" sz="3400">
                <a:solidFill>
                  <a:srgbClr val="313131"/>
                </a:solidFill>
                <a:latin typeface="NVIDIA Sans"/>
                <a:cs typeface="NVIDIA Sans"/>
              </a:rPr>
              <a:t>Promote only where run time needs the value: everything else stays ordinary Python, and anything unsound is refused by name.</a:t>
            </a:r>
          </a:p>
        </p:txBody>
      </p:sp>
      <p:graphicFrame>
        <p:nvGraphicFramePr>
          <p:cNvPr id="900" name="MatrixR0">
            <a:extLst>
              <a:ext uri="{FF2B5EF4-FFF2-40B4-BE49-F238E27FC236}">
                <a16:creationId xmlns:a16="http://schemas.microsoft.com/office/drawing/2014/main" id="{C2E9348B-4B6D-CAD9-4892-4A509E51D88C}"/>
              </a:ext>
            </a:extLst>
          </p:cNvPr>
          <p:cNvGraphicFramePr>
            <a:graphicFrameLocks noGrp="1"/>
          </p:cNvGraphicFramePr>
          <p:nvPr>
            <p:extLst>
              <p:ext uri="{D42A27DB-BD31-4B8C-83A1-F6EECF244321}">
                <p14:modId xmlns:p14="http://schemas.microsoft.com/office/powerpoint/2010/main" val="890471606"/>
              </p:ext>
            </p:extLst>
          </p:nvPr>
        </p:nvGraphicFramePr>
        <p:xfrm>
          <a:off x="1828800" y="4953000"/>
          <a:ext cx="32918400" cy="1066800"/>
        </p:xfrm>
        <a:graphic>
          <a:graphicData uri="http://schemas.openxmlformats.org/drawingml/2006/table">
            <a:tbl>
              <a:tblPr firstRow="1" bandRow="1">
                <a:tableStyleId>{5FC34824-C322-4EAF-908F-AC0DC8227AF9}</a:tableStyleId>
              </a:tblPr>
              <a:tblGrid>
                <a:gridCol w="3302000">
                  <a:extLst>
                    <a:ext uri="{9D8B030D-6E8A-4147-A177-3AD203B41FA5}">
                      <a16:colId xmlns:a16="http://schemas.microsoft.com/office/drawing/2014/main" val="1481931755"/>
                    </a:ext>
                  </a:extLst>
                </a:gridCol>
                <a:gridCol w="3810000">
                  <a:extLst>
                    <a:ext uri="{9D8B030D-6E8A-4147-A177-3AD203B41FA5}">
                      <a16:colId xmlns:a16="http://schemas.microsoft.com/office/drawing/2014/main" val="3931202335"/>
                    </a:ext>
                  </a:extLst>
                </a:gridCol>
                <a:gridCol w="3556000">
                  <a:extLst>
                    <a:ext uri="{9D8B030D-6E8A-4147-A177-3AD203B41FA5}">
                      <a16:colId xmlns:a16="http://schemas.microsoft.com/office/drawing/2014/main" val="3175478855"/>
                    </a:ext>
                  </a:extLst>
                </a:gridCol>
                <a:gridCol w="2032000">
                  <a:extLst>
                    <a:ext uri="{9D8B030D-6E8A-4147-A177-3AD203B41FA5}">
                      <a16:colId xmlns:a16="http://schemas.microsoft.com/office/drawing/2014/main" val="3579218030"/>
                    </a:ext>
                  </a:extLst>
                </a:gridCol>
                <a:gridCol w="9144000">
                  <a:extLst>
                    <a:ext uri="{9D8B030D-6E8A-4147-A177-3AD203B41FA5}">
                      <a16:colId xmlns:a16="http://schemas.microsoft.com/office/drawing/2014/main" val="4176123773"/>
                    </a:ext>
                  </a:extLst>
                </a:gridCol>
                <a:gridCol w="11074400">
                  <a:extLst>
                    <a:ext uri="{9D8B030D-6E8A-4147-A177-3AD203B41FA5}">
                      <a16:colId xmlns:a16="http://schemas.microsoft.com/office/drawing/2014/main" val="4098756232"/>
                    </a:ext>
                  </a:extLst>
                </a:gridCol>
              </a:tblGrid>
              <a:tr h="1066800">
                <a:tc>
                  <a:txBody>
                    <a:bodyPr/>
                    <a:lstStyle/>
                    <a:p>
                      <a:pPr algn="l"/>
                      <a:r>
                        <a:rPr lang="en-US" sz="2800" b="1">
                          <a:solidFill>
                            <a:srgbClr val="757575"/>
                          </a:solidFill>
                          <a:latin typeface="NVIDIA Sans"/>
                          <a:cs typeface="NVIDIA Sans"/>
                        </a:rPr>
                        <a:t>Action</a:t>
                      </a:r>
                    </a:p>
                  </a:txBody>
                  <a:tcPr anchor="ctr">
                    <a:solidFill>
                      <a:srgbClr val="FFFFFF"/>
                    </a:solidFill>
                  </a:tcPr>
                </a:tc>
                <a:tc>
                  <a:txBody>
                    <a:bodyPr/>
                    <a:lstStyle/>
                    <a:p>
                      <a:pPr algn="l"/>
                      <a:r>
                        <a:rPr lang="en-US" sz="2800" b="1">
                          <a:solidFill>
                            <a:srgbClr val="757575"/>
                          </a:solidFill>
                          <a:latin typeface="NVIDIA Sans"/>
                          <a:cs typeface="NVIDIA Sans"/>
                        </a:rPr>
                        <a:t>Location</a:t>
                      </a:r>
                    </a:p>
                  </a:txBody>
                  <a:tcPr anchor="ctr">
                    <a:solidFill>
                      <a:srgbClr val="FFFFFF"/>
                    </a:solidFill>
                  </a:tcPr>
                </a:tc>
                <a:tc>
                  <a:txBody>
                    <a:bodyPr/>
                    <a:lstStyle/>
                    <a:p>
                      <a:pPr algn="l"/>
                      <a:r>
                        <a:rPr lang="en-US" sz="2800" b="1">
                          <a:solidFill>
                            <a:srgbClr val="757575"/>
                          </a:solidFill>
                          <a:latin typeface="NVIDIA Sans"/>
                          <a:cs typeface="NVIDIA Sans"/>
                        </a:rPr>
                        <a:t>Evaluated By</a:t>
                      </a:r>
                    </a:p>
                  </a:txBody>
                  <a:tcPr anchor="ctr">
                    <a:solidFill>
                      <a:srgbClr val="FFFFFF"/>
                    </a:solidFill>
                  </a:tcPr>
                </a:tc>
                <a:tc>
                  <a:txBody>
                    <a:bodyPr/>
                    <a:lstStyle/>
                    <a:p>
                      <a:pPr algn="l"/>
                      <a:r>
                        <a:rPr lang="en-US" sz="2800" b="1">
                          <a:solidFill>
                            <a:srgbClr val="757575"/>
                          </a:solidFill>
                          <a:latin typeface="NVIDIA Sans"/>
                          <a:cs typeface="NVIDIA Sans"/>
                        </a:rPr>
                        <a:t>Answer</a:t>
                      </a:r>
                    </a:p>
                  </a:txBody>
                  <a:tcPr anchor="ctr">
                    <a:solidFill>
                      <a:srgbClr val="FFFFFF"/>
                    </a:solidFill>
                  </a:tcPr>
                </a:tc>
                <a:tc>
                  <a:txBody>
                    <a:bodyPr/>
                    <a:lstStyle/>
                    <a:p>
                      <a:pPr algn="l"/>
                      <a:r>
                        <a:rPr lang="en-US" sz="2800" b="1">
                          <a:solidFill>
                            <a:srgbClr val="757575"/>
                          </a:solidFill>
                          <a:latin typeface="NVIDIA Sans"/>
                          <a:cs typeface="NVIDIA Sans"/>
                        </a:rPr>
                        <a:t>Python</a:t>
                      </a:r>
                    </a:p>
                  </a:txBody>
                  <a:tcPr anchor="ctr">
                    <a:solidFill>
                      <a:srgbClr val="FFFFFF"/>
                    </a:solidFill>
                  </a:tcPr>
                </a:tc>
                <a:tc>
                  <a:txBody>
                    <a:bodyPr/>
                    <a:lstStyle/>
                    <a:p>
                      <a:pPr algn="l"/>
                      <a:r>
                        <a:rPr lang="en-US" sz="2800" b="1">
                          <a:solidFill>
                            <a:srgbClr val="757575"/>
                          </a:solidFill>
                          <a:latin typeface="NVIDIA Sans"/>
                          <a:cs typeface="NVIDIA Sans"/>
                        </a:rPr>
                        <a:t>Generated IR</a:t>
                      </a:r>
                    </a:p>
                  </a:txBody>
                  <a:tcPr anchor="ctr">
                    <a:solidFill>
                      <a:srgbClr val="FFFFFF"/>
                    </a:solidFill>
                  </a:tcPr>
                </a:tc>
                <a:extLst>
                  <a:ext uri="{0D108BD9-81ED-4DB2-BD59-A6C34878D82A}">
                    <a16:rowId xmlns:a16="http://schemas.microsoft.com/office/drawing/2014/main" val="1510758630"/>
                  </a:ext>
                </a:extLst>
              </a:tr>
            </a:tbl>
          </a:graphicData>
        </a:graphic>
      </p:graphicFrame>
      <p:graphicFrame>
        <p:nvGraphicFramePr>
          <p:cNvPr id="901" name="MatrixR1">
            <a:extLst>
              <a:ext uri="{FF2B5EF4-FFF2-40B4-BE49-F238E27FC236}">
                <a16:creationId xmlns:a16="http://schemas.microsoft.com/office/drawing/2014/main" id="{C2E9348B-4B6D-CAD9-4892-4A509E51D88C}"/>
              </a:ext>
            </a:extLst>
          </p:cNvPr>
          <p:cNvGraphicFramePr>
            <a:graphicFrameLocks noGrp="1"/>
          </p:cNvGraphicFramePr>
          <p:nvPr>
            <p:extLst>
              <p:ext uri="{D42A27DB-BD31-4B8C-83A1-F6EECF244321}">
                <p14:modId xmlns:p14="http://schemas.microsoft.com/office/powerpoint/2010/main" val="1135373502"/>
              </p:ext>
            </p:extLst>
          </p:nvPr>
        </p:nvGraphicFramePr>
        <p:xfrm>
          <a:off x="1828800" y="6019800"/>
          <a:ext cx="32918400" cy="2260600"/>
        </p:xfrm>
        <a:graphic>
          <a:graphicData uri="http://schemas.openxmlformats.org/drawingml/2006/table">
            <a:tbl>
              <a:tblPr>
                <a:tableStyleId>{5FC34824-C322-4EAF-908F-AC0DC8227AF9}</a:tableStyleId>
              </a:tblPr>
              <a:tblGrid>
                <a:gridCol w="3302000">
                  <a:extLst>
                    <a:ext uri="{9D8B030D-6E8A-4147-A177-3AD203B41FA5}">
                      <a16:colId xmlns:a16="http://schemas.microsoft.com/office/drawing/2014/main" val="1481931755"/>
                    </a:ext>
                  </a:extLst>
                </a:gridCol>
                <a:gridCol w="3810000">
                  <a:extLst>
                    <a:ext uri="{9D8B030D-6E8A-4147-A177-3AD203B41FA5}">
                      <a16:colId xmlns:a16="http://schemas.microsoft.com/office/drawing/2014/main" val="3931202335"/>
                    </a:ext>
                  </a:extLst>
                </a:gridCol>
                <a:gridCol w="3556000">
                  <a:extLst>
                    <a:ext uri="{9D8B030D-6E8A-4147-A177-3AD203B41FA5}">
                      <a16:colId xmlns:a16="http://schemas.microsoft.com/office/drawing/2014/main" val="3313868647"/>
                    </a:ext>
                  </a:extLst>
                </a:gridCol>
                <a:gridCol w="2032000">
                  <a:extLst>
                    <a:ext uri="{9D8B030D-6E8A-4147-A177-3AD203B41FA5}">
                      <a16:colId xmlns:a16="http://schemas.microsoft.com/office/drawing/2014/main" val="3579218030"/>
                    </a:ext>
                  </a:extLst>
                </a:gridCol>
                <a:gridCol w="9144000">
                  <a:extLst>
                    <a:ext uri="{9D8B030D-6E8A-4147-A177-3AD203B41FA5}">
                      <a16:colId xmlns:a16="http://schemas.microsoft.com/office/drawing/2014/main" val="4176123773"/>
                    </a:ext>
                  </a:extLst>
                </a:gridCol>
                <a:gridCol w="11074400">
                  <a:extLst>
                    <a:ext uri="{9D8B030D-6E8A-4147-A177-3AD203B41FA5}">
                      <a16:colId xmlns:a16="http://schemas.microsoft.com/office/drawing/2014/main" val="4098756232"/>
                    </a:ext>
                  </a:extLst>
                </a:gridCol>
              </a:tblGrid>
              <a:tr h="2260600">
                <a:tc>
                  <a:txBody>
                    <a:bodyPr/>
                    <a:lstStyle/>
                    <a:p>
                      <a:pPr algn="l"/>
                      <a:r>
                        <a:rPr lang="en-US" sz="2400">
                          <a:solidFill>
                            <a:srgbClr val="313131"/>
                          </a:solidFill>
                          <a:latin typeface="NVIDIA Sans"/>
                          <a:cs typeface="NVIDIA Sans"/>
                        </a:rPr>
                        <a:t>Read</a:t>
                      </a:r>
                    </a:p>
                  </a:txBody>
                  <a:tcPr anchor="ctr">
                    <a:solidFill>
                      <a:srgbClr val="FFFFFF"/>
                    </a:solidFill>
                  </a:tcPr>
                </a:tc>
                <a:tc>
                  <a:txBody>
                    <a:bodyPr/>
                    <a:lstStyle/>
                    <a:p>
                      <a:pPr algn="l"/>
                      <a:r>
                        <a:rPr lang="en-US" sz="2200">
                          <a:solidFill>
                            <a:srgbClr val="313131"/>
                          </a:solidFill>
                          <a:latin typeface="NVIDIA Sans"/>
                          <a:cs typeface="NVIDIA Sans"/>
                        </a:rPr>
                        <a:t>Outside control flow</a:t>
                      </a:r>
                    </a:p>
                  </a:txBody>
                  <a:tcPr anchor="ctr">
                    <a:solidFill>
                      <a:srgbClr val="FFFFFF"/>
                    </a:solidFill>
                  </a:tcPr>
                </a:tc>
                <a:tc>
                  <a:txBody>
                    <a:bodyPr/>
                    <a:lstStyle/>
                    <a:p>
                      <a:pPr algn="l"/>
                      <a:r>
                        <a:rPr lang="en-US" sz="2000" b="1">
                          <a:solidFill>
                            <a:srgbClr val="757575"/>
                          </a:solidFill>
                          <a:latin typeface="NVIDIA Sans"/>
                          <a:cs typeface="NVIDIA Sans"/>
                        </a:rPr>
                        <a:t>Python interpreter</a:t>
                      </a:r>
                    </a:p>
                  </a:txBody>
                  <a:tcPr anchor="ctr">
                    <a:solidFill>
                      <a:srgbClr val="FFFFFF"/>
                    </a:solidFill>
                  </a:tcPr>
                </a:tc>
                <a:tc>
                  <a:txBody>
                    <a:bodyPr/>
                    <a:lstStyle/>
                    <a:p>
                      <a:pPr algn="l"/>
                      <a:r>
                        <a:rPr lang="en-US" sz="2400" b="1">
                          <a:solidFill>
                            <a:srgbClr val="757575"/>
                          </a:solidFill>
                          <a:latin typeface="NVIDIA Sans"/>
                          <a:cs typeface="NVIDIA Sans"/>
                        </a:rPr>
                        <a:t>Leave it</a:t>
                      </a:r>
                    </a:p>
                  </a:txBody>
                  <a:tcPr anchor="ctr">
                    <a:solidFill>
                      <a:srgbClr val="FFFFFF"/>
                    </a:solidFill>
                  </a:tcPr>
                </a:tc>
                <a:tc>
                  <a:txBody>
                    <a:bodyPr/>
                    <a:lstStyle/>
                    <a:p>
                      <a:pPr algn="l"/>
                      <a:r>
                        <a:rPr lang="en-US" sz="2400">
                          <a:solidFill>
                            <a:srgbClr val="000000"/>
                          </a:solidFill>
                          <a:latin typeface="Roboto Mono"/>
                          <a:cs typeface="Roboto Mono"/>
                        </a:rPr>
                        <a:t>y = </a:t>
                      </a:r>
                      <a:r>
                        <a:rPr lang="en-US" sz="2400">
                          <a:solidFill>
                            <a:srgbClr val="000000"/>
                          </a:solidFill>
                          <a:highlight>
                            <a:srgbClr val="D7EDA8"/>
                          </a:highlight>
                          <a:latin typeface="Roboto Mono"/>
                          <a:cs typeface="Roboto Mono"/>
                        </a:rPr>
                        <a:t>s.c</a:t>
                      </a:r>
                      <a:r>
                        <a:rPr lang="en-US" sz="2400">
                          <a:solidFill>
                            <a:srgbClr val="000000"/>
                          </a:solidFill>
                          <a:latin typeface="Roboto Mono"/>
                          <a:cs typeface="Roboto Mono"/>
                        </a:rPr>
                        <a:t> * </a:t>
                      </a:r>
                      <a:r>
                        <a:rPr lang="en-US" sz="2400">
                          <a:solidFill>
                            <a:srgbClr val="B5651D"/>
                          </a:solidFill>
                          <a:latin typeface="Roboto Mono"/>
                          <a:cs typeface="Roboto Mono"/>
                        </a:rPr>
                        <a:t>2</a:t>
                      </a:r>
                      <a:br>
                        <a:rPr lang="en-US" sz="2400"/>
                      </a:br>
                      <a:r>
                        <a:rPr lang="en-US" sz="2400">
                          <a:solidFill>
                            <a:srgbClr val="952FC6"/>
                          </a:solidFill>
                          <a:latin typeface="Roboto Mono"/>
                          <a:cs typeface="Roboto Mono"/>
                        </a:rPr>
                        <a:t>for</a:t>
                      </a:r>
                      <a:r>
                        <a:rPr lang="en-US" sz="2400">
                          <a:solidFill>
                            <a:srgbClr val="000000"/>
                          </a:solidFill>
                          <a:latin typeface="Roboto Mono"/>
                          <a:cs typeface="Roboto Mono"/>
                        </a:rPr>
                        <a:t> i </a:t>
                      </a:r>
                      <a:r>
                        <a:rPr lang="en-US" sz="2400">
                          <a:solidFill>
                            <a:srgbClr val="952FC6"/>
                          </a:solidFill>
                          <a:latin typeface="Roboto Mono"/>
                          <a:cs typeface="Roboto Mono"/>
                        </a:rPr>
                        <a:t>in</a:t>
                      </a:r>
                      <a:r>
                        <a:rPr lang="en-US" sz="2400">
                          <a:solidFill>
                            <a:srgbClr val="000000"/>
                          </a:solidFill>
                          <a:latin typeface="Roboto Mono"/>
                          <a:cs typeface="Roboto Mono"/>
                        </a:rPr>
                        <a:t> </a:t>
                      </a:r>
                      <a:r>
                        <a:rPr lang="en-US" sz="2400">
                          <a:solidFill>
                            <a:srgbClr val="952FC6"/>
                          </a:solidFill>
                          <a:latin typeface="Roboto Mono"/>
                          <a:cs typeface="Roboto Mono"/>
                        </a:rPr>
                        <a:t>range</a:t>
                      </a:r>
                      <a:r>
                        <a:rPr lang="en-US" sz="2400">
                          <a:solidFill>
                            <a:srgbClr val="5A5A5A"/>
                          </a:solidFill>
                          <a:latin typeface="Roboto Mono"/>
                          <a:cs typeface="Roboto Mono"/>
                        </a:rPr>
                        <a:t>(n)</a:t>
                      </a:r>
                      <a:r>
                        <a:rPr lang="en-US" sz="2400">
                          <a:solidFill>
                            <a:srgbClr val="000000"/>
                          </a:solidFill>
                          <a:latin typeface="Roboto Mono"/>
                          <a:cs typeface="Roboto Mono"/>
                        </a:rPr>
                        <a:t>: ...</a:t>
                      </a:r>
                    </a:p>
                  </a:txBody>
                  <a:tcPr anchor="ctr">
                    <a:solidFill>
                      <a:srgbClr val="FFFFFF"/>
                    </a:solidFill>
                  </a:tcPr>
                </a:tc>
                <a:tc>
                  <a:txBody>
                    <a:bodyPr/>
                    <a:lstStyle/>
                    <a:p>
                      <a:pPr algn="l"/>
                      <a:r>
                        <a:rPr lang="en-US" sz="2400">
                          <a:solidFill>
                            <a:srgbClr val="000000"/>
                          </a:solidFill>
                          <a:latin typeface="Roboto Mono"/>
                          <a:cs typeface="Roboto Mono"/>
                        </a:rPr>
                        <a:t>y = </a:t>
                      </a:r>
                      <a:r>
                        <a:rPr lang="en-US" sz="2400">
                          <a:solidFill>
                            <a:srgbClr val="B5651D"/>
                          </a:solidFill>
                          <a:latin typeface="Roboto Mono"/>
                          <a:cs typeface="Roboto Mono"/>
                        </a:rPr>
                        <a:t>0</a:t>
                      </a:r>
                      <a:r>
                        <a:rPr lang="en-US" sz="2400">
                          <a:solidFill>
                            <a:srgbClr val="000000"/>
                          </a:solidFill>
                          <a:latin typeface="Roboto Mono"/>
                          <a:cs typeface="Roboto Mono"/>
                        </a:rPr>
                        <a:t>, folded while tracing</a:t>
                      </a:r>
                      <a:br>
                        <a:rPr lang="en-US" sz="2400"/>
                      </a:br>
                      <a:r>
                        <a:rPr lang="en-US" sz="2400">
                          <a:solidFill>
                            <a:srgbClr val="5A5A5A"/>
                          </a:solidFill>
                          <a:latin typeface="Roboto Mono"/>
                          <a:cs typeface="Roboto Mono"/>
                        </a:rPr>
                        <a:t>(nothing generated for y)</a:t>
                      </a:r>
                    </a:p>
                  </a:txBody>
                  <a:tcPr anchor="ctr">
                    <a:solidFill>
                      <a:srgbClr val="FFFFFF"/>
                    </a:solidFill>
                  </a:tcPr>
                </a:tc>
                <a:extLst>
                  <a:ext uri="{0D108BD9-81ED-4DB2-BD59-A6C34878D82A}">
                    <a16:rowId xmlns:a16="http://schemas.microsoft.com/office/drawing/2014/main" val="409767773"/>
                  </a:ext>
                </a:extLst>
              </a:tr>
            </a:tbl>
          </a:graphicData>
        </a:graphic>
      </p:graphicFrame>
      <p:graphicFrame>
        <p:nvGraphicFramePr>
          <p:cNvPr id="902" name="MatrixR2">
            <a:extLst>
              <a:ext uri="{FF2B5EF4-FFF2-40B4-BE49-F238E27FC236}">
                <a16:creationId xmlns:a16="http://schemas.microsoft.com/office/drawing/2014/main" id="{C2E9348B-4B6D-CAD9-4892-4A509E51D88C}"/>
              </a:ext>
            </a:extLst>
          </p:cNvPr>
          <p:cNvGraphicFramePr>
            <a:graphicFrameLocks noGrp="1"/>
          </p:cNvGraphicFramePr>
          <p:nvPr>
            <p:extLst>
              <p:ext uri="{D42A27DB-BD31-4B8C-83A1-F6EECF244321}">
                <p14:modId xmlns:p14="http://schemas.microsoft.com/office/powerpoint/2010/main" val="1540534695"/>
              </p:ext>
            </p:extLst>
          </p:nvPr>
        </p:nvGraphicFramePr>
        <p:xfrm>
          <a:off x="1828800" y="8280400"/>
          <a:ext cx="32918400" cy="2260600"/>
        </p:xfrm>
        <a:graphic>
          <a:graphicData uri="http://schemas.openxmlformats.org/drawingml/2006/table">
            <a:tbl>
              <a:tblPr>
                <a:tableStyleId>{5FC34824-C322-4EAF-908F-AC0DC8227AF9}</a:tableStyleId>
              </a:tblPr>
              <a:tblGrid>
                <a:gridCol w="3302000">
                  <a:extLst>
                    <a:ext uri="{9D8B030D-6E8A-4147-A177-3AD203B41FA5}">
                      <a16:colId xmlns:a16="http://schemas.microsoft.com/office/drawing/2014/main" val="1481931755"/>
                    </a:ext>
                  </a:extLst>
                </a:gridCol>
                <a:gridCol w="3810000">
                  <a:extLst>
                    <a:ext uri="{9D8B030D-6E8A-4147-A177-3AD203B41FA5}">
                      <a16:colId xmlns:a16="http://schemas.microsoft.com/office/drawing/2014/main" val="3931202335"/>
                    </a:ext>
                  </a:extLst>
                </a:gridCol>
                <a:gridCol w="3556000">
                  <a:extLst>
                    <a:ext uri="{9D8B030D-6E8A-4147-A177-3AD203B41FA5}">
                      <a16:colId xmlns:a16="http://schemas.microsoft.com/office/drawing/2014/main" val="2356006624"/>
                    </a:ext>
                  </a:extLst>
                </a:gridCol>
                <a:gridCol w="2032000">
                  <a:extLst>
                    <a:ext uri="{9D8B030D-6E8A-4147-A177-3AD203B41FA5}">
                      <a16:colId xmlns:a16="http://schemas.microsoft.com/office/drawing/2014/main" val="3579218030"/>
                    </a:ext>
                  </a:extLst>
                </a:gridCol>
                <a:gridCol w="9144000">
                  <a:extLst>
                    <a:ext uri="{9D8B030D-6E8A-4147-A177-3AD203B41FA5}">
                      <a16:colId xmlns:a16="http://schemas.microsoft.com/office/drawing/2014/main" val="4176123773"/>
                    </a:ext>
                  </a:extLst>
                </a:gridCol>
                <a:gridCol w="11074400">
                  <a:extLst>
                    <a:ext uri="{9D8B030D-6E8A-4147-A177-3AD203B41FA5}">
                      <a16:colId xmlns:a16="http://schemas.microsoft.com/office/drawing/2014/main" val="4098756232"/>
                    </a:ext>
                  </a:extLst>
                </a:gridCol>
              </a:tblGrid>
              <a:tr h="2260600">
                <a:tc>
                  <a:txBody>
                    <a:bodyPr/>
                    <a:lstStyle/>
                    <a:p>
                      <a:pPr algn="l"/>
                      <a:r>
                        <a:rPr lang="en-US" sz="2400">
                          <a:solidFill>
                            <a:srgbClr val="313131"/>
                          </a:solidFill>
                          <a:latin typeface="NVIDIA Sans"/>
                          <a:cs typeface="NVIDIA Sans"/>
                        </a:rPr>
                        <a:t>Write</a:t>
                      </a:r>
                    </a:p>
                  </a:txBody>
                  <a:tcPr anchor="ctr">
                    <a:solidFill>
                      <a:srgbClr val="F7F7F7"/>
                    </a:solidFill>
                  </a:tcPr>
                </a:tc>
                <a:tc>
                  <a:txBody>
                    <a:bodyPr/>
                    <a:lstStyle/>
                    <a:p>
                      <a:pPr algn="l"/>
                      <a:r>
                        <a:rPr lang="en-US" sz="2200">
                          <a:solidFill>
                            <a:srgbClr val="313131"/>
                          </a:solidFill>
                          <a:latin typeface="NVIDIA Sans"/>
                          <a:cs typeface="NVIDIA Sans"/>
                        </a:rPr>
                        <a:t>Outside control flow</a:t>
                      </a:r>
                    </a:p>
                  </a:txBody>
                  <a:tcPr anchor="ctr">
                    <a:solidFill>
                      <a:srgbClr val="F7F7F7"/>
                    </a:solidFill>
                  </a:tcPr>
                </a:tc>
                <a:tc>
                  <a:txBody>
                    <a:bodyPr/>
                    <a:lstStyle/>
                    <a:p>
                      <a:pPr algn="l"/>
                      <a:r>
                        <a:rPr lang="en-US" sz="2000" b="1">
                          <a:solidFill>
                            <a:srgbClr val="757575"/>
                          </a:solidFill>
                          <a:latin typeface="NVIDIA Sans"/>
                          <a:cs typeface="NVIDIA Sans"/>
                        </a:rPr>
                        <a:t>Python interpreter</a:t>
                      </a:r>
                    </a:p>
                  </a:txBody>
                  <a:tcPr anchor="ctr">
                    <a:solidFill>
                      <a:srgbClr val="F7F7F7"/>
                    </a:solidFill>
                  </a:tcPr>
                </a:tc>
                <a:tc>
                  <a:txBody>
                    <a:bodyPr/>
                    <a:lstStyle/>
                    <a:p>
                      <a:pPr algn="l"/>
                      <a:r>
                        <a:rPr lang="en-US" sz="2400" b="1">
                          <a:solidFill>
                            <a:srgbClr val="757575"/>
                          </a:solidFill>
                          <a:latin typeface="NVIDIA Sans"/>
                          <a:cs typeface="NVIDIA Sans"/>
                        </a:rPr>
                        <a:t>Leave it</a:t>
                      </a:r>
                    </a:p>
                  </a:txBody>
                  <a:tcPr anchor="ctr">
                    <a:solidFill>
                      <a:srgbClr val="F7F7F7"/>
                    </a:solidFill>
                  </a:tcPr>
                </a:tc>
                <a:tc>
                  <a:txBody>
                    <a:bodyPr/>
                    <a:lstStyle/>
                    <a:p>
                      <a:pPr algn="l"/>
                      <a:r>
                        <a:rPr lang="en-US" sz="2400">
                          <a:solidFill>
                            <a:srgbClr val="000000"/>
                          </a:solidFill>
                          <a:highlight>
                            <a:srgbClr val="D7EDA8"/>
                          </a:highlight>
                          <a:latin typeface="Roboto Mono"/>
                          <a:cs typeface="Roboto Mono"/>
                        </a:rPr>
                        <a:t>s.c</a:t>
                      </a:r>
                      <a:r>
                        <a:rPr lang="en-US" sz="2400">
                          <a:solidFill>
                            <a:srgbClr val="000000"/>
                          </a:solidFill>
                          <a:latin typeface="Roboto Mono"/>
                          <a:cs typeface="Roboto Mono"/>
                        </a:rPr>
                        <a:t> += </a:t>
                      </a:r>
                      <a:r>
                        <a:rPr lang="en-US" sz="2400">
                          <a:solidFill>
                            <a:srgbClr val="B5651D"/>
                          </a:solidFill>
                          <a:latin typeface="Roboto Mono"/>
                          <a:cs typeface="Roboto Mono"/>
                        </a:rPr>
                        <a:t>4</a:t>
                      </a:r>
                      <a:br>
                        <a:rPr lang="en-US" sz="2400"/>
                      </a:br>
                      <a:r>
                        <a:rPr lang="en-US" sz="2400">
                          <a:solidFill>
                            <a:srgbClr val="952FC6"/>
                          </a:solidFill>
                          <a:latin typeface="Roboto Mono"/>
                          <a:cs typeface="Roboto Mono"/>
                        </a:rPr>
                        <a:t>for</a:t>
                      </a:r>
                      <a:r>
                        <a:rPr lang="en-US" sz="2400">
                          <a:solidFill>
                            <a:srgbClr val="000000"/>
                          </a:solidFill>
                          <a:latin typeface="Roboto Mono"/>
                          <a:cs typeface="Roboto Mono"/>
                        </a:rPr>
                        <a:t> i </a:t>
                      </a:r>
                      <a:r>
                        <a:rPr lang="en-US" sz="2400">
                          <a:solidFill>
                            <a:srgbClr val="952FC6"/>
                          </a:solidFill>
                          <a:latin typeface="Roboto Mono"/>
                          <a:cs typeface="Roboto Mono"/>
                        </a:rPr>
                        <a:t>in</a:t>
                      </a:r>
                      <a:r>
                        <a:rPr lang="en-US" sz="2400">
                          <a:solidFill>
                            <a:srgbClr val="000000"/>
                          </a:solidFill>
                          <a:latin typeface="Roboto Mono"/>
                          <a:cs typeface="Roboto Mono"/>
                        </a:rPr>
                        <a:t> </a:t>
                      </a:r>
                      <a:r>
                        <a:rPr lang="en-US" sz="2400">
                          <a:solidFill>
                            <a:srgbClr val="952FC6"/>
                          </a:solidFill>
                          <a:latin typeface="Roboto Mono"/>
                          <a:cs typeface="Roboto Mono"/>
                        </a:rPr>
                        <a:t>range</a:t>
                      </a:r>
                      <a:r>
                        <a:rPr lang="en-US" sz="2400">
                          <a:solidFill>
                            <a:srgbClr val="5A5A5A"/>
                          </a:solidFill>
                          <a:latin typeface="Roboto Mono"/>
                          <a:cs typeface="Roboto Mono"/>
                        </a:rPr>
                        <a:t>(n)</a:t>
                      </a:r>
                      <a:r>
                        <a:rPr lang="en-US" sz="2400">
                          <a:solidFill>
                            <a:srgbClr val="000000"/>
                          </a:solidFill>
                          <a:latin typeface="Roboto Mono"/>
                          <a:cs typeface="Roboto Mono"/>
                        </a:rPr>
                        <a:t>:</a:t>
                      </a:r>
                      <a:br>
                        <a:rPr lang="en-US" sz="2400"/>
                      </a:br>
                      <a:r>
                        <a:rPr lang="en-US" sz="2400">
                          <a:solidFill>
                            <a:srgbClr val="000000"/>
                          </a:solidFill>
                          <a:latin typeface="Roboto Mono"/>
                          <a:cs typeface="Roboto Mono"/>
                        </a:rPr>
                        <a:t>    tot += </a:t>
                      </a:r>
                      <a:r>
                        <a:rPr lang="en-US" sz="2400">
                          <a:solidFill>
                            <a:srgbClr val="000000"/>
                          </a:solidFill>
                          <a:highlight>
                            <a:srgbClr val="D7EDA8"/>
                          </a:highlight>
                          <a:latin typeface="Roboto Mono"/>
                          <a:cs typeface="Roboto Mono"/>
                        </a:rPr>
                        <a:t>s.c</a:t>
                      </a:r>
                    </a:p>
                  </a:txBody>
                  <a:tcPr anchor="ctr">
                    <a:solidFill>
                      <a:srgbClr val="F7F7F7"/>
                    </a:solidFill>
                  </a:tcPr>
                </a:tc>
                <a:tc>
                  <a:txBody>
                    <a:bodyPr/>
                    <a:lstStyle/>
                    <a:p>
                      <a:pPr algn="l"/>
                      <a:r>
                        <a:rPr lang="en-US" sz="2400">
                          <a:solidFill>
                            <a:srgbClr val="0074DF"/>
                          </a:solidFill>
                          <a:latin typeface="Roboto Mono"/>
                          <a:cs typeface="Roboto Mono"/>
                        </a:rPr>
                        <a:t>%c4</a:t>
                      </a:r>
                      <a:r>
                        <a:rPr lang="en-US" sz="2400">
                          <a:solidFill>
                            <a:srgbClr val="000000"/>
                          </a:solidFill>
                          <a:latin typeface="Roboto Mono"/>
                          <a:cs typeface="Roboto Mono"/>
                        </a:rPr>
                        <a:t> = </a:t>
                      </a:r>
                      <a:r>
                        <a:rPr lang="en-US" sz="2400">
                          <a:solidFill>
                            <a:srgbClr val="952FC6"/>
                          </a:solidFill>
                          <a:latin typeface="Roboto Mono"/>
                          <a:cs typeface="Roboto Mono"/>
                        </a:rPr>
                        <a:t>arith.constant</a:t>
                      </a:r>
                      <a:r>
                        <a:rPr lang="en-US" sz="2400">
                          <a:solidFill>
                            <a:srgbClr val="000000"/>
                          </a:solidFill>
                          <a:latin typeface="Roboto Mono"/>
                          <a:cs typeface="Roboto Mono"/>
                        </a:rPr>
                        <a:t> </a:t>
                      </a:r>
                      <a:r>
                        <a:rPr lang="en-US" sz="2400">
                          <a:solidFill>
                            <a:srgbClr val="B5651D"/>
                          </a:solidFill>
                          <a:latin typeface="Roboto Mono"/>
                          <a:cs typeface="Roboto Mono"/>
                        </a:rPr>
                        <a:t>4</a:t>
                      </a:r>
                      <a:br>
                        <a:rPr lang="en-US" sz="2400"/>
                      </a:br>
                      <a:r>
                        <a:rPr lang="en-US" sz="2400">
                          <a:solidFill>
                            <a:srgbClr val="952FC6"/>
                          </a:solidFill>
                          <a:latin typeface="Roboto Mono"/>
                          <a:cs typeface="Roboto Mono"/>
                        </a:rPr>
                        <a:t>scf.for</a:t>
                      </a:r>
                      <a:r>
                        <a:rPr lang="en-US" sz="2400">
                          <a:solidFill>
                            <a:srgbClr val="000000"/>
                          </a:solidFill>
                          <a:latin typeface="Roboto Mono"/>
                          <a:cs typeface="Roboto Mono"/>
                        </a:rPr>
                        <a:t> </a:t>
                      </a:r>
                      <a:r>
                        <a:rPr lang="en-US" sz="2400">
                          <a:solidFill>
                            <a:srgbClr val="0074DF"/>
                          </a:solidFill>
                          <a:latin typeface="Roboto Mono"/>
                          <a:cs typeface="Roboto Mono"/>
                        </a:rPr>
                        <a:t>%i</a:t>
                      </a:r>
                      <a:r>
                        <a:rPr lang="en-US" sz="2400">
                          <a:solidFill>
                            <a:srgbClr val="000000"/>
                          </a:solidFill>
                          <a:latin typeface="Roboto Mono"/>
                          <a:cs typeface="Roboto Mono"/>
                        </a:rPr>
                        <a:t> = </a:t>
                      </a:r>
                      <a:r>
                        <a:rPr lang="en-US" sz="2400">
                          <a:solidFill>
                            <a:srgbClr val="0074DF"/>
                          </a:solidFill>
                          <a:latin typeface="Roboto Mono"/>
                          <a:cs typeface="Roboto Mono"/>
                        </a:rPr>
                        <a:t>%c0</a:t>
                      </a:r>
                      <a:r>
                        <a:rPr lang="en-US" sz="2400">
                          <a:solidFill>
                            <a:srgbClr val="000000"/>
                          </a:solidFill>
                          <a:latin typeface="Roboto Mono"/>
                          <a:cs typeface="Roboto Mono"/>
                        </a:rPr>
                        <a:t> </a:t>
                      </a:r>
                      <a:r>
                        <a:rPr lang="en-US" sz="2400">
                          <a:solidFill>
                            <a:srgbClr val="952FC6"/>
                          </a:solidFill>
                          <a:latin typeface="Roboto Mono"/>
                          <a:cs typeface="Roboto Mono"/>
                        </a:rPr>
                        <a:t>to</a:t>
                      </a:r>
                      <a:r>
                        <a:rPr lang="en-US" sz="2400">
                          <a:solidFill>
                            <a:srgbClr val="000000"/>
                          </a:solidFill>
                          <a:latin typeface="Roboto Mono"/>
                          <a:cs typeface="Roboto Mono"/>
                        </a:rPr>
                        <a:t> </a:t>
                      </a:r>
                      <a:r>
                        <a:rPr lang="en-US" sz="2400">
                          <a:solidFill>
                            <a:srgbClr val="0074DF"/>
                          </a:solidFill>
                          <a:latin typeface="Roboto Mono"/>
                          <a:cs typeface="Roboto Mono"/>
                        </a:rPr>
                        <a:t>%n</a:t>
                      </a:r>
                      <a:r>
                        <a:rPr lang="en-US" sz="2400">
                          <a:solidFill>
                            <a:srgbClr val="000000"/>
                          </a:solidFill>
                          <a:latin typeface="Roboto Mono"/>
                          <a:cs typeface="Roboto Mono"/>
                        </a:rPr>
                        <a:t> {</a:t>
                      </a:r>
                      <a:br>
                        <a:rPr lang="en-US" sz="2400"/>
                      </a:br>
                      <a:r>
                        <a:rPr lang="en-US" sz="2400">
                          <a:solidFill>
                            <a:srgbClr val="000000"/>
                          </a:solidFill>
                          <a:latin typeface="Roboto Mono"/>
                          <a:cs typeface="Roboto Mono"/>
                        </a:rPr>
                        <a:t>  </a:t>
                      </a:r>
                      <a:r>
                        <a:rPr lang="en-US" sz="2400">
                          <a:solidFill>
                            <a:srgbClr val="0074DF"/>
                          </a:solidFill>
                          <a:latin typeface="Roboto Mono"/>
                          <a:cs typeface="Roboto Mono"/>
                        </a:rPr>
                        <a:t>%a</a:t>
                      </a:r>
                      <a:r>
                        <a:rPr lang="en-US" sz="2400">
                          <a:solidFill>
                            <a:srgbClr val="000000"/>
                          </a:solidFill>
                          <a:latin typeface="Roboto Mono"/>
                          <a:cs typeface="Roboto Mono"/>
                        </a:rPr>
                        <a:t> = </a:t>
                      </a:r>
                      <a:r>
                        <a:rPr lang="en-US" sz="2400">
                          <a:solidFill>
                            <a:srgbClr val="952FC6"/>
                          </a:solidFill>
                          <a:latin typeface="Roboto Mono"/>
                          <a:cs typeface="Roboto Mono"/>
                        </a:rPr>
                        <a:t>arith.addi</a:t>
                      </a:r>
                      <a:r>
                        <a:rPr lang="en-US" sz="2400">
                          <a:solidFill>
                            <a:srgbClr val="000000"/>
                          </a:solidFill>
                          <a:latin typeface="Roboto Mono"/>
                          <a:cs typeface="Roboto Mono"/>
                        </a:rPr>
                        <a:t> </a:t>
                      </a:r>
                      <a:r>
                        <a:rPr lang="en-US" sz="2400">
                          <a:solidFill>
                            <a:srgbClr val="0074DF"/>
                          </a:solidFill>
                          <a:latin typeface="Roboto Mono"/>
                          <a:cs typeface="Roboto Mono"/>
                        </a:rPr>
                        <a:t>%acc</a:t>
                      </a:r>
                      <a:r>
                        <a:rPr lang="en-US" sz="2400">
                          <a:solidFill>
                            <a:srgbClr val="000000"/>
                          </a:solidFill>
                          <a:latin typeface="Roboto Mono"/>
                          <a:cs typeface="Roboto Mono"/>
                        </a:rPr>
                        <a:t>, </a:t>
                      </a:r>
                      <a:r>
                        <a:rPr lang="en-US" sz="2400">
                          <a:solidFill>
                            <a:srgbClr val="0074DF"/>
                          </a:solidFill>
                          <a:latin typeface="Roboto Mono"/>
                          <a:cs typeface="Roboto Mono"/>
                        </a:rPr>
                        <a:t>%c4</a:t>
                      </a:r>
                      <a:br>
                        <a:rPr lang="en-US" sz="2400"/>
                      </a:br>
                      <a:r>
                        <a:rPr lang="en-US" sz="2400">
                          <a:solidFill>
                            <a:srgbClr val="000000"/>
                          </a:solidFill>
                          <a:latin typeface="Roboto Mono"/>
                          <a:cs typeface="Roboto Mono"/>
                        </a:rPr>
                        <a:t>}</a:t>
                      </a:r>
                    </a:p>
                  </a:txBody>
                  <a:tcPr anchor="ctr">
                    <a:solidFill>
                      <a:srgbClr val="F7F7F7"/>
                    </a:solidFill>
                  </a:tcPr>
                </a:tc>
                <a:extLst>
                  <a:ext uri="{0D108BD9-81ED-4DB2-BD59-A6C34878D82A}">
                    <a16:rowId xmlns:a16="http://schemas.microsoft.com/office/drawing/2014/main" val="476685079"/>
                  </a:ext>
                </a:extLst>
              </a:tr>
            </a:tbl>
          </a:graphicData>
        </a:graphic>
      </p:graphicFrame>
      <p:graphicFrame>
        <p:nvGraphicFramePr>
          <p:cNvPr id="903" name="MatrixR3">
            <a:extLst>
              <a:ext uri="{FF2B5EF4-FFF2-40B4-BE49-F238E27FC236}">
                <a16:creationId xmlns:a16="http://schemas.microsoft.com/office/drawing/2014/main" id="{C2E9348B-4B6D-CAD9-4892-4A509E51D88C}"/>
              </a:ext>
            </a:extLst>
          </p:cNvPr>
          <p:cNvGraphicFramePr>
            <a:graphicFrameLocks noGrp="1"/>
          </p:cNvGraphicFramePr>
          <p:nvPr>
            <p:extLst>
              <p:ext uri="{D42A27DB-BD31-4B8C-83A1-F6EECF244321}">
                <p14:modId xmlns:p14="http://schemas.microsoft.com/office/powerpoint/2010/main" val="1531564539"/>
              </p:ext>
            </p:extLst>
          </p:nvPr>
        </p:nvGraphicFramePr>
        <p:xfrm>
          <a:off x="1828800" y="10541000"/>
          <a:ext cx="32918400" cy="2260600"/>
        </p:xfrm>
        <a:graphic>
          <a:graphicData uri="http://schemas.openxmlformats.org/drawingml/2006/table">
            <a:tbl>
              <a:tblPr>
                <a:tableStyleId>{5FC34824-C322-4EAF-908F-AC0DC8227AF9}</a:tableStyleId>
              </a:tblPr>
              <a:tblGrid>
                <a:gridCol w="3302000">
                  <a:extLst>
                    <a:ext uri="{9D8B030D-6E8A-4147-A177-3AD203B41FA5}">
                      <a16:colId xmlns:a16="http://schemas.microsoft.com/office/drawing/2014/main" val="1481931755"/>
                    </a:ext>
                  </a:extLst>
                </a:gridCol>
                <a:gridCol w="3810000">
                  <a:extLst>
                    <a:ext uri="{9D8B030D-6E8A-4147-A177-3AD203B41FA5}">
                      <a16:colId xmlns:a16="http://schemas.microsoft.com/office/drawing/2014/main" val="3931202335"/>
                    </a:ext>
                  </a:extLst>
                </a:gridCol>
                <a:gridCol w="3556000">
                  <a:extLst>
                    <a:ext uri="{9D8B030D-6E8A-4147-A177-3AD203B41FA5}">
                      <a16:colId xmlns:a16="http://schemas.microsoft.com/office/drawing/2014/main" val="3375904810"/>
                    </a:ext>
                  </a:extLst>
                </a:gridCol>
                <a:gridCol w="2032000">
                  <a:extLst>
                    <a:ext uri="{9D8B030D-6E8A-4147-A177-3AD203B41FA5}">
                      <a16:colId xmlns:a16="http://schemas.microsoft.com/office/drawing/2014/main" val="3579218030"/>
                    </a:ext>
                  </a:extLst>
                </a:gridCol>
                <a:gridCol w="9144000">
                  <a:extLst>
                    <a:ext uri="{9D8B030D-6E8A-4147-A177-3AD203B41FA5}">
                      <a16:colId xmlns:a16="http://schemas.microsoft.com/office/drawing/2014/main" val="4176123773"/>
                    </a:ext>
                  </a:extLst>
                </a:gridCol>
                <a:gridCol w="11074400">
                  <a:extLst>
                    <a:ext uri="{9D8B030D-6E8A-4147-A177-3AD203B41FA5}">
                      <a16:colId xmlns:a16="http://schemas.microsoft.com/office/drawing/2014/main" val="4098756232"/>
                    </a:ext>
                  </a:extLst>
                </a:gridCol>
              </a:tblGrid>
              <a:tr h="2260600">
                <a:tc>
                  <a:txBody>
                    <a:bodyPr/>
                    <a:lstStyle/>
                    <a:p>
                      <a:pPr algn="l"/>
                      <a:r>
                        <a:rPr lang="en-US" sz="2400">
                          <a:solidFill>
                            <a:srgbClr val="313131"/>
                          </a:solidFill>
                          <a:latin typeface="NVIDIA Sans"/>
                          <a:cs typeface="NVIDIA Sans"/>
                        </a:rPr>
                        <a:t>Read</a:t>
                      </a:r>
                    </a:p>
                  </a:txBody>
                  <a:tcPr anchor="ctr">
                    <a:solidFill>
                      <a:srgbClr val="FFFFFF"/>
                    </a:solidFill>
                  </a:tcPr>
                </a:tc>
                <a:tc>
                  <a:txBody>
                    <a:bodyPr/>
                    <a:lstStyle/>
                    <a:p>
                      <a:pPr algn="l"/>
                      <a:r>
                        <a:rPr lang="en-US" sz="2200">
                          <a:solidFill>
                            <a:srgbClr val="313131"/>
                          </a:solidFill>
                          <a:latin typeface="NVIDIA Sans"/>
                          <a:cs typeface="NVIDIA Sans"/>
                        </a:rPr>
                        <a:t>Inside control flow</a:t>
                      </a:r>
                    </a:p>
                  </a:txBody>
                  <a:tcPr anchor="ctr">
                    <a:solidFill>
                      <a:srgbClr val="FFFFFF"/>
                    </a:solidFill>
                  </a:tcPr>
                </a:tc>
                <a:tc>
                  <a:txBody>
                    <a:bodyPr/>
                    <a:lstStyle/>
                    <a:p>
                      <a:pPr algn="l"/>
                      <a:r>
                        <a:rPr lang="en-US" sz="2000" b="1">
                          <a:solidFill>
                            <a:srgbClr val="757575"/>
                          </a:solidFill>
                          <a:latin typeface="NVIDIA Sans"/>
                          <a:cs typeface="NVIDIA Sans"/>
                        </a:rPr>
                        <a:t>MLIR</a:t>
                      </a:r>
                    </a:p>
                  </a:txBody>
                  <a:tcPr anchor="ctr">
                    <a:solidFill>
                      <a:srgbClr val="FFFFFF"/>
                    </a:solidFill>
                  </a:tcPr>
                </a:tc>
                <a:tc>
                  <a:txBody>
                    <a:bodyPr/>
                    <a:lstStyle/>
                    <a:p>
                      <a:pPr algn="l"/>
                      <a:r>
                        <a:rPr lang="en-US" sz="2400" b="1">
                          <a:solidFill>
                            <a:srgbClr val="757575"/>
                          </a:solidFill>
                          <a:latin typeface="NVIDIA Sans"/>
                          <a:cs typeface="NVIDIA Sans"/>
                        </a:rPr>
                        <a:t>Leave it</a:t>
                      </a:r>
                    </a:p>
                  </a:txBody>
                  <a:tcPr anchor="ctr">
                    <a:solidFill>
                      <a:srgbClr val="FFFFFF"/>
                    </a:solidFill>
                  </a:tcPr>
                </a:tc>
                <a:tc>
                  <a:txBody>
                    <a:bodyPr/>
                    <a:lstStyle/>
                    <a:p>
                      <a:pPr algn="l"/>
                      <a:r>
                        <a:rPr lang="en-US" sz="2400">
                          <a:solidFill>
                            <a:srgbClr val="952FC6"/>
                          </a:solidFill>
                          <a:latin typeface="Roboto Mono"/>
                          <a:cs typeface="Roboto Mono"/>
                        </a:rPr>
                        <a:t>for</a:t>
                      </a:r>
                      <a:r>
                        <a:rPr lang="en-US" sz="2400">
                          <a:solidFill>
                            <a:srgbClr val="000000"/>
                          </a:solidFill>
                          <a:latin typeface="Roboto Mono"/>
                          <a:cs typeface="Roboto Mono"/>
                        </a:rPr>
                        <a:t> i </a:t>
                      </a:r>
                      <a:r>
                        <a:rPr lang="en-US" sz="2400">
                          <a:solidFill>
                            <a:srgbClr val="952FC6"/>
                          </a:solidFill>
                          <a:latin typeface="Roboto Mono"/>
                          <a:cs typeface="Roboto Mono"/>
                        </a:rPr>
                        <a:t>in</a:t>
                      </a:r>
                      <a:r>
                        <a:rPr lang="en-US" sz="2400">
                          <a:solidFill>
                            <a:srgbClr val="000000"/>
                          </a:solidFill>
                          <a:latin typeface="Roboto Mono"/>
                          <a:cs typeface="Roboto Mono"/>
                        </a:rPr>
                        <a:t> </a:t>
                      </a:r>
                      <a:r>
                        <a:rPr lang="en-US" sz="2400">
                          <a:solidFill>
                            <a:srgbClr val="952FC6"/>
                          </a:solidFill>
                          <a:latin typeface="Roboto Mono"/>
                          <a:cs typeface="Roboto Mono"/>
                        </a:rPr>
                        <a:t>range</a:t>
                      </a:r>
                      <a:r>
                        <a:rPr lang="en-US" sz="2400">
                          <a:solidFill>
                            <a:srgbClr val="5A5A5A"/>
                          </a:solidFill>
                          <a:latin typeface="Roboto Mono"/>
                          <a:cs typeface="Roboto Mono"/>
                        </a:rPr>
                        <a:t>(n)</a:t>
                      </a:r>
                      <a:r>
                        <a:rPr lang="en-US" sz="2400">
                          <a:solidFill>
                            <a:srgbClr val="000000"/>
                          </a:solidFill>
                          <a:latin typeface="Roboto Mono"/>
                          <a:cs typeface="Roboto Mono"/>
                        </a:rPr>
                        <a:t>:</a:t>
                      </a:r>
                      <a:br>
                        <a:rPr lang="en-US" sz="2400"/>
                      </a:br>
                      <a:r>
                        <a:rPr lang="en-US" sz="2400">
                          <a:solidFill>
                            <a:srgbClr val="000000"/>
                          </a:solidFill>
                          <a:latin typeface="Roboto Mono"/>
                          <a:cs typeface="Roboto Mono"/>
                        </a:rPr>
                        <a:t>    tot += </a:t>
                      </a:r>
                      <a:r>
                        <a:rPr lang="en-US" sz="2400">
                          <a:solidFill>
                            <a:srgbClr val="000000"/>
                          </a:solidFill>
                          <a:highlight>
                            <a:srgbClr val="D7EDA8"/>
                          </a:highlight>
                          <a:latin typeface="Roboto Mono"/>
                          <a:cs typeface="Roboto Mono"/>
                        </a:rPr>
                        <a:t>s.c</a:t>
                      </a:r>
                    </a:p>
                  </a:txBody>
                  <a:tcPr anchor="ctr">
                    <a:solidFill>
                      <a:srgbClr val="FFFFFF"/>
                    </a:solidFill>
                  </a:tcPr>
                </a:tc>
                <a:tc>
                  <a:txBody>
                    <a:bodyPr/>
                    <a:lstStyle/>
                    <a:p>
                      <a:pPr algn="l"/>
                      <a:r>
                        <a:rPr lang="en-US" sz="2400">
                          <a:solidFill>
                            <a:srgbClr val="0074DF"/>
                          </a:solidFill>
                          <a:latin typeface="Roboto Mono"/>
                          <a:cs typeface="Roboto Mono"/>
                        </a:rPr>
                        <a:t>%c0</a:t>
                      </a:r>
                      <a:r>
                        <a:rPr lang="en-US" sz="2400">
                          <a:solidFill>
                            <a:srgbClr val="000000"/>
                          </a:solidFill>
                          <a:latin typeface="Roboto Mono"/>
                          <a:cs typeface="Roboto Mono"/>
                        </a:rPr>
                        <a:t> = </a:t>
                      </a:r>
                      <a:r>
                        <a:rPr lang="en-US" sz="2400">
                          <a:solidFill>
                            <a:srgbClr val="952FC6"/>
                          </a:solidFill>
                          <a:latin typeface="Roboto Mono"/>
                          <a:cs typeface="Roboto Mono"/>
                        </a:rPr>
                        <a:t>arith.constant</a:t>
                      </a:r>
                      <a:r>
                        <a:rPr lang="en-US" sz="2400">
                          <a:solidFill>
                            <a:srgbClr val="000000"/>
                          </a:solidFill>
                          <a:latin typeface="Roboto Mono"/>
                          <a:cs typeface="Roboto Mono"/>
                        </a:rPr>
                        <a:t> </a:t>
                      </a:r>
                      <a:r>
                        <a:rPr lang="en-US" sz="2400">
                          <a:solidFill>
                            <a:srgbClr val="B5651D"/>
                          </a:solidFill>
                          <a:latin typeface="Roboto Mono"/>
                          <a:cs typeface="Roboto Mono"/>
                        </a:rPr>
                        <a:t>0</a:t>
                      </a:r>
                      <a:br>
                        <a:rPr lang="en-US" sz="2400"/>
                      </a:br>
                      <a:r>
                        <a:rPr lang="en-US" sz="2400">
                          <a:solidFill>
                            <a:srgbClr val="952FC6"/>
                          </a:solidFill>
                          <a:latin typeface="Roboto Mono"/>
                          <a:cs typeface="Roboto Mono"/>
                        </a:rPr>
                        <a:t>scf.for</a:t>
                      </a:r>
                      <a:r>
                        <a:rPr lang="en-US" sz="2400">
                          <a:solidFill>
                            <a:srgbClr val="000000"/>
                          </a:solidFill>
                          <a:latin typeface="Roboto Mono"/>
                          <a:cs typeface="Roboto Mono"/>
                        </a:rPr>
                        <a:t> </a:t>
                      </a:r>
                      <a:r>
                        <a:rPr lang="en-US" sz="2400">
                          <a:solidFill>
                            <a:srgbClr val="0074DF"/>
                          </a:solidFill>
                          <a:latin typeface="Roboto Mono"/>
                          <a:cs typeface="Roboto Mono"/>
                        </a:rPr>
                        <a:t>%i</a:t>
                      </a:r>
                      <a:r>
                        <a:rPr lang="en-US" sz="2400">
                          <a:solidFill>
                            <a:srgbClr val="000000"/>
                          </a:solidFill>
                          <a:latin typeface="Roboto Mono"/>
                          <a:cs typeface="Roboto Mono"/>
                        </a:rPr>
                        <a:t> = </a:t>
                      </a:r>
                      <a:r>
                        <a:rPr lang="en-US" sz="2400">
                          <a:solidFill>
                            <a:srgbClr val="0074DF"/>
                          </a:solidFill>
                          <a:latin typeface="Roboto Mono"/>
                          <a:cs typeface="Roboto Mono"/>
                        </a:rPr>
                        <a:t>%c0</a:t>
                      </a:r>
                      <a:r>
                        <a:rPr lang="en-US" sz="2400">
                          <a:solidFill>
                            <a:srgbClr val="000000"/>
                          </a:solidFill>
                          <a:latin typeface="Roboto Mono"/>
                          <a:cs typeface="Roboto Mono"/>
                        </a:rPr>
                        <a:t> </a:t>
                      </a:r>
                      <a:r>
                        <a:rPr lang="en-US" sz="2400">
                          <a:solidFill>
                            <a:srgbClr val="952FC6"/>
                          </a:solidFill>
                          <a:latin typeface="Roboto Mono"/>
                          <a:cs typeface="Roboto Mono"/>
                        </a:rPr>
                        <a:t>to</a:t>
                      </a:r>
                      <a:r>
                        <a:rPr lang="en-US" sz="2400">
                          <a:solidFill>
                            <a:srgbClr val="000000"/>
                          </a:solidFill>
                          <a:latin typeface="Roboto Mono"/>
                          <a:cs typeface="Roboto Mono"/>
                        </a:rPr>
                        <a:t> </a:t>
                      </a:r>
                      <a:r>
                        <a:rPr lang="en-US" sz="2400">
                          <a:solidFill>
                            <a:srgbClr val="0074DF"/>
                          </a:solidFill>
                          <a:latin typeface="Roboto Mono"/>
                          <a:cs typeface="Roboto Mono"/>
                        </a:rPr>
                        <a:t>%n</a:t>
                      </a:r>
                      <a:r>
                        <a:rPr lang="en-US" sz="2400">
                          <a:solidFill>
                            <a:srgbClr val="000000"/>
                          </a:solidFill>
                          <a:latin typeface="Roboto Mono"/>
                          <a:cs typeface="Roboto Mono"/>
                        </a:rPr>
                        <a:t> {</a:t>
                      </a:r>
                      <a:br>
                        <a:rPr lang="en-US" sz="2400"/>
                      </a:br>
                      <a:r>
                        <a:rPr lang="en-US" sz="2400">
                          <a:solidFill>
                            <a:srgbClr val="000000"/>
                          </a:solidFill>
                          <a:latin typeface="Roboto Mono"/>
                          <a:cs typeface="Roboto Mono"/>
                        </a:rPr>
                        <a:t>  </a:t>
                      </a:r>
                      <a:r>
                        <a:rPr lang="en-US" sz="2400">
                          <a:solidFill>
                            <a:srgbClr val="0074DF"/>
                          </a:solidFill>
                          <a:latin typeface="Roboto Mono"/>
                          <a:cs typeface="Roboto Mono"/>
                        </a:rPr>
                        <a:t>%a</a:t>
                      </a:r>
                      <a:r>
                        <a:rPr lang="en-US" sz="2400">
                          <a:solidFill>
                            <a:srgbClr val="000000"/>
                          </a:solidFill>
                          <a:latin typeface="Roboto Mono"/>
                          <a:cs typeface="Roboto Mono"/>
                        </a:rPr>
                        <a:t> = </a:t>
                      </a:r>
                      <a:r>
                        <a:rPr lang="en-US" sz="2400">
                          <a:solidFill>
                            <a:srgbClr val="952FC6"/>
                          </a:solidFill>
                          <a:latin typeface="Roboto Mono"/>
                          <a:cs typeface="Roboto Mono"/>
                        </a:rPr>
                        <a:t>arith.addi</a:t>
                      </a:r>
                      <a:r>
                        <a:rPr lang="en-US" sz="2400">
                          <a:solidFill>
                            <a:srgbClr val="000000"/>
                          </a:solidFill>
                          <a:latin typeface="Roboto Mono"/>
                          <a:cs typeface="Roboto Mono"/>
                        </a:rPr>
                        <a:t> </a:t>
                      </a:r>
                      <a:r>
                        <a:rPr lang="en-US" sz="2400">
                          <a:solidFill>
                            <a:srgbClr val="0074DF"/>
                          </a:solidFill>
                          <a:latin typeface="Roboto Mono"/>
                          <a:cs typeface="Roboto Mono"/>
                        </a:rPr>
                        <a:t>%acc</a:t>
                      </a:r>
                      <a:r>
                        <a:rPr lang="en-US" sz="2400">
                          <a:solidFill>
                            <a:srgbClr val="000000"/>
                          </a:solidFill>
                          <a:latin typeface="Roboto Mono"/>
                          <a:cs typeface="Roboto Mono"/>
                        </a:rPr>
                        <a:t>, </a:t>
                      </a:r>
                      <a:r>
                        <a:rPr lang="en-US" sz="2400">
                          <a:solidFill>
                            <a:srgbClr val="0074DF"/>
                          </a:solidFill>
                          <a:latin typeface="Roboto Mono"/>
                          <a:cs typeface="Roboto Mono"/>
                        </a:rPr>
                        <a:t>%c0</a:t>
                      </a:r>
                      <a:br>
                        <a:rPr lang="en-US" sz="2400"/>
                      </a:br>
                      <a:r>
                        <a:rPr lang="en-US" sz="2400">
                          <a:solidFill>
                            <a:srgbClr val="000000"/>
                          </a:solidFill>
                          <a:latin typeface="Roboto Mono"/>
                          <a:cs typeface="Roboto Mono"/>
                        </a:rPr>
                        <a:t>}</a:t>
                      </a:r>
                    </a:p>
                  </a:txBody>
                  <a:tcPr anchor="ctr">
                    <a:solidFill>
                      <a:srgbClr val="FFFFFF"/>
                    </a:solidFill>
                  </a:tcPr>
                </a:tc>
                <a:extLst>
                  <a:ext uri="{0D108BD9-81ED-4DB2-BD59-A6C34878D82A}">
                    <a16:rowId xmlns:a16="http://schemas.microsoft.com/office/drawing/2014/main" val="2327446742"/>
                  </a:ext>
                </a:extLst>
              </a:tr>
            </a:tbl>
          </a:graphicData>
        </a:graphic>
      </p:graphicFrame>
      <p:graphicFrame>
        <p:nvGraphicFramePr>
          <p:cNvPr id="904" name="MatrixR4">
            <a:extLst>
              <a:ext uri="{FF2B5EF4-FFF2-40B4-BE49-F238E27FC236}">
                <a16:creationId xmlns:a16="http://schemas.microsoft.com/office/drawing/2014/main" id="{C2E9348B-4B6D-CAD9-4892-4A509E51D88C}"/>
              </a:ext>
            </a:extLst>
          </p:cNvPr>
          <p:cNvGraphicFramePr>
            <a:graphicFrameLocks noGrp="1"/>
          </p:cNvGraphicFramePr>
          <p:nvPr>
            <p:extLst>
              <p:ext uri="{D42A27DB-BD31-4B8C-83A1-F6EECF244321}">
                <p14:modId xmlns:p14="http://schemas.microsoft.com/office/powerpoint/2010/main" val="3563415816"/>
              </p:ext>
            </p:extLst>
          </p:nvPr>
        </p:nvGraphicFramePr>
        <p:xfrm>
          <a:off x="1828800" y="12801600"/>
          <a:ext cx="32918400" cy="2286000"/>
        </p:xfrm>
        <a:graphic>
          <a:graphicData uri="http://schemas.openxmlformats.org/drawingml/2006/table">
            <a:tbl>
              <a:tblPr>
                <a:tableStyleId>{5FC34824-C322-4EAF-908F-AC0DC8227AF9}</a:tableStyleId>
              </a:tblPr>
              <a:tblGrid>
                <a:gridCol w="3302000">
                  <a:extLst>
                    <a:ext uri="{9D8B030D-6E8A-4147-A177-3AD203B41FA5}">
                      <a16:colId xmlns:a16="http://schemas.microsoft.com/office/drawing/2014/main" val="1481931755"/>
                    </a:ext>
                  </a:extLst>
                </a:gridCol>
                <a:gridCol w="3810000">
                  <a:extLst>
                    <a:ext uri="{9D8B030D-6E8A-4147-A177-3AD203B41FA5}">
                      <a16:colId xmlns:a16="http://schemas.microsoft.com/office/drawing/2014/main" val="3931202335"/>
                    </a:ext>
                  </a:extLst>
                </a:gridCol>
                <a:gridCol w="3556000">
                  <a:extLst>
                    <a:ext uri="{9D8B030D-6E8A-4147-A177-3AD203B41FA5}">
                      <a16:colId xmlns:a16="http://schemas.microsoft.com/office/drawing/2014/main" val="2729597392"/>
                    </a:ext>
                  </a:extLst>
                </a:gridCol>
                <a:gridCol w="2032000">
                  <a:extLst>
                    <a:ext uri="{9D8B030D-6E8A-4147-A177-3AD203B41FA5}">
                      <a16:colId xmlns:a16="http://schemas.microsoft.com/office/drawing/2014/main" val="3579218030"/>
                    </a:ext>
                  </a:extLst>
                </a:gridCol>
                <a:gridCol w="9144000">
                  <a:extLst>
                    <a:ext uri="{9D8B030D-6E8A-4147-A177-3AD203B41FA5}">
                      <a16:colId xmlns:a16="http://schemas.microsoft.com/office/drawing/2014/main" val="4176123773"/>
                    </a:ext>
                  </a:extLst>
                </a:gridCol>
                <a:gridCol w="11074400">
                  <a:extLst>
                    <a:ext uri="{9D8B030D-6E8A-4147-A177-3AD203B41FA5}">
                      <a16:colId xmlns:a16="http://schemas.microsoft.com/office/drawing/2014/main" val="4098756232"/>
                    </a:ext>
                  </a:extLst>
                </a:gridCol>
              </a:tblGrid>
              <a:tr h="2260600">
                <a:tc>
                  <a:txBody>
                    <a:bodyPr/>
                    <a:lstStyle/>
                    <a:p>
                      <a:pPr algn="l"/>
                      <a:r>
                        <a:rPr lang="en-US" sz="2400">
                          <a:solidFill>
                            <a:srgbClr val="313131"/>
                          </a:solidFill>
                          <a:latin typeface="NVIDIA Sans"/>
                          <a:cs typeface="NVIDIA Sans"/>
                        </a:rPr>
                        <a:t>Write</a:t>
                      </a:r>
                    </a:p>
                  </a:txBody>
                  <a:tcPr anchor="ctr">
                    <a:solidFill>
                      <a:srgbClr val="F7F7F7"/>
                    </a:solidFill>
                  </a:tcPr>
                </a:tc>
                <a:tc>
                  <a:txBody>
                    <a:bodyPr/>
                    <a:lstStyle/>
                    <a:p>
                      <a:pPr algn="l"/>
                      <a:r>
                        <a:rPr lang="en-US" sz="2200">
                          <a:solidFill>
                            <a:srgbClr val="313131"/>
                          </a:solidFill>
                          <a:latin typeface="NVIDIA Sans"/>
                          <a:cs typeface="NVIDIA Sans"/>
                        </a:rPr>
                        <a:t>Inside control flow</a:t>
                      </a:r>
                    </a:p>
                  </a:txBody>
                  <a:tcPr anchor="ctr">
                    <a:solidFill>
                      <a:srgbClr val="F7F7F7"/>
                    </a:solidFill>
                  </a:tcPr>
                </a:tc>
                <a:tc>
                  <a:txBody>
                    <a:bodyPr/>
                    <a:lstStyle/>
                    <a:p>
                      <a:pPr algn="l"/>
                      <a:r>
                        <a:rPr lang="en-US" sz="2000" b="1">
                          <a:solidFill>
                            <a:srgbClr val="757575"/>
                          </a:solidFill>
                          <a:latin typeface="NVIDIA Sans"/>
                          <a:cs typeface="NVIDIA Sans"/>
                        </a:rPr>
                        <a:t>MLIR</a:t>
                      </a:r>
                    </a:p>
                  </a:txBody>
                  <a:tcPr anchor="ctr">
                    <a:solidFill>
                      <a:srgbClr val="F7F7F7"/>
                    </a:solidFill>
                  </a:tcPr>
                </a:tc>
                <a:tc>
                  <a:txBody>
                    <a:bodyPr/>
                    <a:lstStyle/>
                    <a:p>
                      <a:pPr algn="l"/>
                      <a:r>
                        <a:rPr lang="en-US" sz="2400" b="1">
                          <a:solidFill>
                            <a:srgbClr val="76B900"/>
                          </a:solidFill>
                          <a:latin typeface="NVIDIA Sans"/>
                          <a:cs typeface="NVIDIA Sans"/>
                        </a:rPr>
                        <a:t>Promote</a:t>
                      </a:r>
                    </a:p>
                  </a:txBody>
                  <a:tcPr anchor="ctr">
                    <a:solidFill>
                      <a:srgbClr val="F7F7F7"/>
                    </a:solidFill>
                  </a:tcPr>
                </a:tc>
                <a:tc>
                  <a:txBody>
                    <a:bodyPr/>
                    <a:lstStyle/>
                    <a:p>
                      <a:pPr algn="l"/>
                      <a:r>
                        <a:rPr lang="en-US" sz="2400">
                          <a:solidFill>
                            <a:srgbClr val="952FC6"/>
                          </a:solidFill>
                          <a:latin typeface="Roboto Mono"/>
                          <a:cs typeface="Roboto Mono"/>
                        </a:rPr>
                        <a:t>for</a:t>
                      </a:r>
                      <a:r>
                        <a:rPr lang="en-US" sz="2400">
                          <a:solidFill>
                            <a:srgbClr val="000000"/>
                          </a:solidFill>
                          <a:latin typeface="Roboto Mono"/>
                          <a:cs typeface="Roboto Mono"/>
                        </a:rPr>
                        <a:t> i </a:t>
                      </a:r>
                      <a:r>
                        <a:rPr lang="en-US" sz="2400">
                          <a:solidFill>
                            <a:srgbClr val="952FC6"/>
                          </a:solidFill>
                          <a:latin typeface="Roboto Mono"/>
                          <a:cs typeface="Roboto Mono"/>
                        </a:rPr>
                        <a:t>in</a:t>
                      </a:r>
                      <a:r>
                        <a:rPr lang="en-US" sz="2400">
                          <a:solidFill>
                            <a:srgbClr val="000000"/>
                          </a:solidFill>
                          <a:latin typeface="Roboto Mono"/>
                          <a:cs typeface="Roboto Mono"/>
                        </a:rPr>
                        <a:t> </a:t>
                      </a:r>
                      <a:r>
                        <a:rPr lang="en-US" sz="2400">
                          <a:solidFill>
                            <a:srgbClr val="952FC6"/>
                          </a:solidFill>
                          <a:latin typeface="Roboto Mono"/>
                          <a:cs typeface="Roboto Mono"/>
                        </a:rPr>
                        <a:t>range</a:t>
                      </a:r>
                      <a:r>
                        <a:rPr lang="en-US" sz="2400">
                          <a:solidFill>
                            <a:srgbClr val="5A5A5A"/>
                          </a:solidFill>
                          <a:latin typeface="Roboto Mono"/>
                          <a:cs typeface="Roboto Mono"/>
                        </a:rPr>
                        <a:t>(n)</a:t>
                      </a:r>
                      <a:r>
                        <a:rPr lang="en-US" sz="2400">
                          <a:solidFill>
                            <a:srgbClr val="000000"/>
                          </a:solidFill>
                          <a:latin typeface="Roboto Mono"/>
                          <a:cs typeface="Roboto Mono"/>
                        </a:rPr>
                        <a:t>:</a:t>
                      </a:r>
                      <a:br>
                        <a:rPr lang="en-US" sz="2400"/>
                      </a:br>
                      <a:r>
                        <a:rPr lang="en-US" sz="2400">
                          <a:solidFill>
                            <a:srgbClr val="000000"/>
                          </a:solidFill>
                          <a:latin typeface="Roboto Mono"/>
                          <a:cs typeface="Roboto Mono"/>
                        </a:rPr>
                        <a:t>    </a:t>
                      </a:r>
                      <a:r>
                        <a:rPr lang="en-US" sz="2400">
                          <a:solidFill>
                            <a:srgbClr val="000000"/>
                          </a:solidFill>
                          <a:highlight>
                            <a:srgbClr val="D7EDA8"/>
                          </a:highlight>
                          <a:latin typeface="Roboto Mono"/>
                          <a:cs typeface="Roboto Mono"/>
                        </a:rPr>
                        <a:t>s.c</a:t>
                      </a:r>
                      <a:r>
                        <a:rPr lang="en-US" sz="2400">
                          <a:solidFill>
                            <a:srgbClr val="000000"/>
                          </a:solidFill>
                          <a:latin typeface="Roboto Mono"/>
                          <a:cs typeface="Roboto Mono"/>
                        </a:rPr>
                        <a:t>          += </a:t>
                      </a:r>
                      <a:r>
                        <a:rPr lang="en-US" sz="2400">
                          <a:solidFill>
                            <a:srgbClr val="B5651D"/>
                          </a:solidFill>
                          <a:latin typeface="Roboto Mono"/>
                          <a:cs typeface="Roboto Mono"/>
                        </a:rPr>
                        <a:t>2</a:t>
                      </a:r>
                      <a:br>
                        <a:rPr lang="en-US" sz="2400"/>
                      </a:br>
                      <a:r>
                        <a:rPr lang="en-US" sz="2400">
                          <a:solidFill>
                            <a:srgbClr val="000000"/>
                          </a:solidFill>
                          <a:latin typeface="Roboto Mono"/>
                          <a:cs typeface="Roboto Mono"/>
                        </a:rPr>
                        <a:t>    s.bins[</a:t>
                      </a:r>
                      <a:r>
                        <a:rPr lang="en-US" sz="2400">
                          <a:solidFill>
                            <a:srgbClr val="1D6F62"/>
                          </a:solidFill>
                          <a:latin typeface="Roboto Mono"/>
                          <a:cs typeface="Roboto Mono"/>
                        </a:rPr>
                        <a:t>"hi"</a:t>
                      </a:r>
                      <a:r>
                        <a:rPr lang="en-US" sz="2400">
                          <a:solidFill>
                            <a:srgbClr val="000000"/>
                          </a:solidFill>
                          <a:latin typeface="Roboto Mono"/>
                          <a:cs typeface="Roboto Mono"/>
                        </a:rPr>
                        <a:t>] += </a:t>
                      </a:r>
                      <a:r>
                        <a:rPr lang="en-US" sz="2400">
                          <a:solidFill>
                            <a:srgbClr val="B5651D"/>
                          </a:solidFill>
                          <a:latin typeface="Roboto Mono"/>
                          <a:cs typeface="Roboto Mono"/>
                        </a:rPr>
                        <a:t>1</a:t>
                      </a:r>
                    </a:p>
                  </a:txBody>
                  <a:tcPr anchor="ctr">
                    <a:solidFill>
                      <a:srgbClr val="F7F7F7"/>
                    </a:solidFill>
                  </a:tcPr>
                </a:tc>
                <a:tc>
                  <a:txBody>
                    <a:bodyPr/>
                    <a:lstStyle/>
                    <a:p>
                      <a:pPr algn="l"/>
                      <a:r>
                        <a:rPr lang="en-US" sz="2400">
                          <a:solidFill>
                            <a:srgbClr val="0074DF"/>
                          </a:solidFill>
                          <a:latin typeface="Roboto Mono"/>
                          <a:cs typeface="Roboto Mono"/>
                        </a:rPr>
                        <a:t>%c</a:t>
                      </a:r>
                      <a:r>
                        <a:rPr lang="en-US" sz="2400">
                          <a:solidFill>
                            <a:srgbClr val="000000"/>
                          </a:solidFill>
                          <a:latin typeface="Roboto Mono"/>
                          <a:cs typeface="Roboto Mono"/>
                        </a:rPr>
                        <a:t> = </a:t>
                      </a:r>
                      <a:r>
                        <a:rPr lang="en-US" sz="2400">
                          <a:solidFill>
                            <a:srgbClr val="952FC6"/>
                          </a:solidFill>
                          <a:latin typeface="Roboto Mono"/>
                          <a:cs typeface="Roboto Mono"/>
                        </a:rPr>
                        <a:t>pyir.ref</a:t>
                      </a:r>
                      <a:r>
                        <a:rPr lang="en-US" sz="2400">
                          <a:solidFill>
                            <a:srgbClr val="000000"/>
                          </a:solidFill>
                          <a:latin typeface="Roboto Mono"/>
                          <a:cs typeface="Roboto Mono"/>
                        </a:rPr>
                        <a:t> </a:t>
                      </a:r>
                      <a:r>
                        <a:rPr lang="en-US" sz="2400">
                          <a:solidFill>
                            <a:srgbClr val="0074DF"/>
                          </a:solidFill>
                          <a:latin typeface="Roboto Mono"/>
                          <a:cs typeface="Roboto Mono"/>
                        </a:rPr>
                        <a:t>%c0</a:t>
                      </a:r>
                      <a:r>
                        <a:rPr lang="en-US" sz="2400">
                          <a:solidFill>
                            <a:srgbClr val="000000"/>
                          </a:solidFill>
                          <a:latin typeface="Roboto Mono"/>
                          <a:cs typeface="Roboto Mono"/>
                        </a:rPr>
                        <a:t> : </a:t>
                      </a:r>
                      <a:r>
                        <a:rPr lang="en-US" sz="2400">
                          <a:solidFill>
                            <a:srgbClr val="757575"/>
                          </a:solidFill>
                          <a:latin typeface="Roboto Mono"/>
                          <a:cs typeface="Roboto Mono"/>
                        </a:rPr>
                        <a:t>i32</a:t>
                      </a:r>
                      <a:br>
                        <a:rPr lang="en-US" sz="2400"/>
                      </a:br>
                      <a:r>
                        <a:rPr lang="en-US" sz="2400">
                          <a:solidFill>
                            <a:srgbClr val="952FC6"/>
                          </a:solidFill>
                          <a:latin typeface="Roboto Mono"/>
                          <a:cs typeface="Roboto Mono"/>
                        </a:rPr>
                        <a:t>scf.for</a:t>
                      </a:r>
                      <a:r>
                        <a:rPr lang="en-US" sz="2400">
                          <a:solidFill>
                            <a:srgbClr val="000000"/>
                          </a:solidFill>
                          <a:latin typeface="Roboto Mono"/>
                          <a:cs typeface="Roboto Mono"/>
                        </a:rPr>
                        <a:t> </a:t>
                      </a:r>
                      <a:r>
                        <a:rPr lang="en-US" sz="2400">
                          <a:solidFill>
                            <a:srgbClr val="0074DF"/>
                          </a:solidFill>
                          <a:latin typeface="Roboto Mono"/>
                          <a:cs typeface="Roboto Mono"/>
                        </a:rPr>
                        <a:t>%i</a:t>
                      </a:r>
                      <a:r>
                        <a:rPr lang="en-US" sz="2400">
                          <a:solidFill>
                            <a:srgbClr val="000000"/>
                          </a:solidFill>
                          <a:latin typeface="Roboto Mono"/>
                          <a:cs typeface="Roboto Mono"/>
                        </a:rPr>
                        <a:t> = </a:t>
                      </a:r>
                      <a:r>
                        <a:rPr lang="en-US" sz="2400">
                          <a:solidFill>
                            <a:srgbClr val="0074DF"/>
                          </a:solidFill>
                          <a:latin typeface="Roboto Mono"/>
                          <a:cs typeface="Roboto Mono"/>
                        </a:rPr>
                        <a:t>%c0</a:t>
                      </a:r>
                      <a:r>
                        <a:rPr lang="en-US" sz="2400">
                          <a:solidFill>
                            <a:srgbClr val="000000"/>
                          </a:solidFill>
                          <a:latin typeface="Roboto Mono"/>
                          <a:cs typeface="Roboto Mono"/>
                        </a:rPr>
                        <a:t> </a:t>
                      </a:r>
                      <a:r>
                        <a:rPr lang="en-US" sz="2400">
                          <a:solidFill>
                            <a:srgbClr val="952FC6"/>
                          </a:solidFill>
                          <a:latin typeface="Roboto Mono"/>
                          <a:cs typeface="Roboto Mono"/>
                        </a:rPr>
                        <a:t>to</a:t>
                      </a:r>
                      <a:r>
                        <a:rPr lang="en-US" sz="2400">
                          <a:solidFill>
                            <a:srgbClr val="000000"/>
                          </a:solidFill>
                          <a:latin typeface="Roboto Mono"/>
                          <a:cs typeface="Roboto Mono"/>
                        </a:rPr>
                        <a:t> </a:t>
                      </a:r>
                      <a:r>
                        <a:rPr lang="en-US" sz="2400">
                          <a:solidFill>
                            <a:srgbClr val="0074DF"/>
                          </a:solidFill>
                          <a:latin typeface="Roboto Mono"/>
                          <a:cs typeface="Roboto Mono"/>
                        </a:rPr>
                        <a:t>%n</a:t>
                      </a:r>
                      <a:r>
                        <a:rPr lang="en-US" sz="2400">
                          <a:solidFill>
                            <a:srgbClr val="000000"/>
                          </a:solidFill>
                          <a:latin typeface="Roboto Mono"/>
                          <a:cs typeface="Roboto Mono"/>
                        </a:rPr>
                        <a:t> {</a:t>
                      </a:r>
                      <a:br>
                        <a:rPr lang="en-US" sz="2400"/>
                      </a:br>
                      <a:r>
                        <a:rPr lang="en-US" sz="2400">
                          <a:solidFill>
                            <a:srgbClr val="000000"/>
                          </a:solidFill>
                          <a:latin typeface="Roboto Mono"/>
                          <a:cs typeface="Roboto Mono"/>
                        </a:rPr>
                        <a:t>  </a:t>
                      </a:r>
                      <a:r>
                        <a:rPr lang="en-US" sz="2400">
                          <a:solidFill>
                            <a:srgbClr val="0074DF"/>
                          </a:solidFill>
                          <a:latin typeface="Roboto Mono"/>
                          <a:cs typeface="Roboto Mono"/>
                        </a:rPr>
                        <a:t>%v</a:t>
                      </a:r>
                      <a:r>
                        <a:rPr lang="en-US" sz="2400">
                          <a:solidFill>
                            <a:srgbClr val="000000"/>
                          </a:solidFill>
                          <a:latin typeface="Roboto Mono"/>
                          <a:cs typeface="Roboto Mono"/>
                        </a:rPr>
                        <a:t> = </a:t>
                      </a:r>
                      <a:r>
                        <a:rPr lang="en-US" sz="2400">
                          <a:solidFill>
                            <a:srgbClr val="952FC6"/>
                          </a:solidFill>
                          <a:latin typeface="Roboto Mono"/>
                          <a:cs typeface="Roboto Mono"/>
                        </a:rPr>
                        <a:t>pyir.load</a:t>
                      </a:r>
                      <a:r>
                        <a:rPr lang="en-US" sz="2400">
                          <a:solidFill>
                            <a:srgbClr val="000000"/>
                          </a:solidFill>
                          <a:latin typeface="Roboto Mono"/>
                          <a:cs typeface="Roboto Mono"/>
                        </a:rPr>
                        <a:t> </a:t>
                      </a:r>
                      <a:r>
                        <a:rPr lang="en-US" sz="2400">
                          <a:solidFill>
                            <a:srgbClr val="0074DF"/>
                          </a:solidFill>
                          <a:latin typeface="Roboto Mono"/>
                          <a:cs typeface="Roboto Mono"/>
                        </a:rPr>
                        <a:t>%c</a:t>
                      </a:r>
                      <a:r>
                        <a:rPr lang="en-US" sz="2400">
                          <a:solidFill>
                            <a:srgbClr val="000000"/>
                          </a:solidFill>
                          <a:latin typeface="Roboto Mono"/>
                          <a:cs typeface="Roboto Mono"/>
                        </a:rPr>
                        <a:t> : </a:t>
                      </a:r>
                      <a:r>
                        <a:rPr lang="en-US" sz="2400">
                          <a:solidFill>
                            <a:srgbClr val="757575"/>
                          </a:solidFill>
                          <a:latin typeface="Roboto Mono"/>
                          <a:cs typeface="Roboto Mono"/>
                        </a:rPr>
                        <a:t>&lt;i32&gt;</a:t>
                      </a:r>
                      <a:br>
                        <a:rPr lang="en-US" sz="2400"/>
                      </a:br>
                      <a:r>
                        <a:rPr lang="en-US" sz="2400">
                          <a:solidFill>
                            <a:srgbClr val="000000"/>
                          </a:solidFill>
                          <a:latin typeface="Roboto Mono"/>
                          <a:cs typeface="Roboto Mono"/>
                        </a:rPr>
                        <a:t>  </a:t>
                      </a:r>
                      <a:r>
                        <a:rPr lang="en-US" sz="2400">
                          <a:solidFill>
                            <a:srgbClr val="0074DF"/>
                          </a:solidFill>
                          <a:latin typeface="Roboto Mono"/>
                          <a:cs typeface="Roboto Mono"/>
                        </a:rPr>
                        <a:t>%n2</a:t>
                      </a:r>
                      <a:r>
                        <a:rPr lang="en-US" sz="2400">
                          <a:solidFill>
                            <a:srgbClr val="000000"/>
                          </a:solidFill>
                          <a:latin typeface="Roboto Mono"/>
                          <a:cs typeface="Roboto Mono"/>
                        </a:rPr>
                        <a:t> = </a:t>
                      </a:r>
                      <a:r>
                        <a:rPr lang="en-US" sz="2400">
                          <a:solidFill>
                            <a:srgbClr val="952FC6"/>
                          </a:solidFill>
                          <a:latin typeface="Roboto Mono"/>
                          <a:cs typeface="Roboto Mono"/>
                        </a:rPr>
                        <a:t>arith.addi</a:t>
                      </a:r>
                      <a:r>
                        <a:rPr lang="en-US" sz="2400">
                          <a:solidFill>
                            <a:srgbClr val="000000"/>
                          </a:solidFill>
                          <a:latin typeface="Roboto Mono"/>
                          <a:cs typeface="Roboto Mono"/>
                        </a:rPr>
                        <a:t> </a:t>
                      </a:r>
                      <a:r>
                        <a:rPr lang="en-US" sz="2400">
                          <a:solidFill>
                            <a:srgbClr val="0074DF"/>
                          </a:solidFill>
                          <a:latin typeface="Roboto Mono"/>
                          <a:cs typeface="Roboto Mono"/>
                        </a:rPr>
                        <a:t>%v</a:t>
                      </a:r>
                      <a:r>
                        <a:rPr lang="en-US" sz="2400">
                          <a:solidFill>
                            <a:srgbClr val="000000"/>
                          </a:solidFill>
                          <a:latin typeface="Roboto Mono"/>
                          <a:cs typeface="Roboto Mono"/>
                        </a:rPr>
                        <a:t>, </a:t>
                      </a:r>
                      <a:r>
                        <a:rPr lang="en-US" sz="2400">
                          <a:solidFill>
                            <a:srgbClr val="0074DF"/>
                          </a:solidFill>
                          <a:latin typeface="Roboto Mono"/>
                          <a:cs typeface="Roboto Mono"/>
                        </a:rPr>
                        <a:t>%c2</a:t>
                      </a:r>
                      <a:br>
                        <a:rPr lang="en-US" sz="2400"/>
                      </a:br>
                      <a:r>
                        <a:rPr lang="en-US" sz="2400">
                          <a:solidFill>
                            <a:srgbClr val="000000"/>
                          </a:solidFill>
                          <a:latin typeface="Roboto Mono"/>
                          <a:cs typeface="Roboto Mono"/>
                        </a:rPr>
                        <a:t>  </a:t>
                      </a:r>
                      <a:r>
                        <a:rPr lang="en-US" sz="2400">
                          <a:solidFill>
                            <a:srgbClr val="952FC6"/>
                          </a:solidFill>
                          <a:latin typeface="Roboto Mono"/>
                          <a:cs typeface="Roboto Mono"/>
                        </a:rPr>
                        <a:t>pyir.store</a:t>
                      </a:r>
                      <a:r>
                        <a:rPr lang="en-US" sz="2400">
                          <a:solidFill>
                            <a:srgbClr val="000000"/>
                          </a:solidFill>
                          <a:latin typeface="Roboto Mono"/>
                          <a:cs typeface="Roboto Mono"/>
                        </a:rPr>
                        <a:t> </a:t>
                      </a:r>
                      <a:r>
                        <a:rPr lang="en-US" sz="2400">
                          <a:solidFill>
                            <a:srgbClr val="0074DF"/>
                          </a:solidFill>
                          <a:latin typeface="Roboto Mono"/>
                          <a:cs typeface="Roboto Mono"/>
                        </a:rPr>
                        <a:t>%n2</a:t>
                      </a:r>
                      <a:r>
                        <a:rPr lang="en-US" sz="2400">
                          <a:solidFill>
                            <a:srgbClr val="000000"/>
                          </a:solidFill>
                          <a:latin typeface="Roboto Mono"/>
                          <a:cs typeface="Roboto Mono"/>
                        </a:rPr>
                        <a:t>, </a:t>
                      </a:r>
                      <a:r>
                        <a:rPr lang="en-US" sz="2400">
                          <a:solidFill>
                            <a:srgbClr val="0074DF"/>
                          </a:solidFill>
                          <a:latin typeface="Roboto Mono"/>
                          <a:cs typeface="Roboto Mono"/>
                        </a:rPr>
                        <a:t>%c</a:t>
                      </a:r>
                      <a:r>
                        <a:rPr lang="en-US" sz="2400">
                          <a:solidFill>
                            <a:srgbClr val="000000"/>
                          </a:solidFill>
                          <a:latin typeface="Roboto Mono"/>
                          <a:cs typeface="Roboto Mono"/>
                        </a:rPr>
                        <a:t> : </a:t>
                      </a:r>
                      <a:r>
                        <a:rPr lang="en-US" sz="2400">
                          <a:solidFill>
                            <a:srgbClr val="757575"/>
                          </a:solidFill>
                          <a:latin typeface="Roboto Mono"/>
                          <a:cs typeface="Roboto Mono"/>
                        </a:rPr>
                        <a:t>&lt;i32&gt;</a:t>
                      </a:r>
                      <a:br>
                        <a:rPr lang="en-US" sz="2400"/>
                      </a:br>
                      <a:r>
                        <a:rPr lang="en-US" sz="2400">
                          <a:solidFill>
                            <a:srgbClr val="000000"/>
                          </a:solidFill>
                          <a:latin typeface="Roboto Mono"/>
                          <a:cs typeface="Roboto Mono"/>
                        </a:rPr>
                        <a:t>}</a:t>
                      </a:r>
                    </a:p>
                  </a:txBody>
                  <a:tcPr anchor="ctr">
                    <a:solidFill>
                      <a:srgbClr val="F7F7F7"/>
                    </a:solidFill>
                  </a:tcPr>
                </a:tc>
                <a:extLst>
                  <a:ext uri="{0D108BD9-81ED-4DB2-BD59-A6C34878D82A}">
                    <a16:rowId xmlns:a16="http://schemas.microsoft.com/office/drawing/2014/main" val="3056232877"/>
                  </a:ext>
                </a:extLst>
              </a:tr>
            </a:tbl>
          </a:graphicData>
        </a:graphic>
      </p:graphicFrame>
      <p:graphicFrame>
        <p:nvGraphicFramePr>
          <p:cNvPr id="905" name="MatrixR5">
            <a:extLst>
              <a:ext uri="{FF2B5EF4-FFF2-40B4-BE49-F238E27FC236}">
                <a16:creationId xmlns:a16="http://schemas.microsoft.com/office/drawing/2014/main" id="{C2E9348B-4B6D-CAD9-4892-4A509E51D88C}"/>
              </a:ext>
            </a:extLst>
          </p:cNvPr>
          <p:cNvGraphicFramePr>
            <a:graphicFrameLocks noGrp="1"/>
          </p:cNvGraphicFramePr>
          <p:nvPr>
            <p:extLst>
              <p:ext uri="{D42A27DB-BD31-4B8C-83A1-F6EECF244321}">
                <p14:modId xmlns:p14="http://schemas.microsoft.com/office/powerpoint/2010/main" val="2812224973"/>
              </p:ext>
            </p:extLst>
          </p:nvPr>
        </p:nvGraphicFramePr>
        <p:xfrm>
          <a:off x="1828800" y="15062200"/>
          <a:ext cx="32918400" cy="2260600"/>
        </p:xfrm>
        <a:graphic>
          <a:graphicData uri="http://schemas.openxmlformats.org/drawingml/2006/table">
            <a:tbl>
              <a:tblPr>
                <a:tableStyleId>{5FC34824-C322-4EAF-908F-AC0DC8227AF9}</a:tableStyleId>
              </a:tblPr>
              <a:tblGrid>
                <a:gridCol w="3302000">
                  <a:extLst>
                    <a:ext uri="{9D8B030D-6E8A-4147-A177-3AD203B41FA5}">
                      <a16:colId xmlns:a16="http://schemas.microsoft.com/office/drawing/2014/main" val="1481931755"/>
                    </a:ext>
                  </a:extLst>
                </a:gridCol>
                <a:gridCol w="3810000">
                  <a:extLst>
                    <a:ext uri="{9D8B030D-6E8A-4147-A177-3AD203B41FA5}">
                      <a16:colId xmlns:a16="http://schemas.microsoft.com/office/drawing/2014/main" val="3931202335"/>
                    </a:ext>
                  </a:extLst>
                </a:gridCol>
                <a:gridCol w="3556000">
                  <a:extLst>
                    <a:ext uri="{9D8B030D-6E8A-4147-A177-3AD203B41FA5}">
                      <a16:colId xmlns:a16="http://schemas.microsoft.com/office/drawing/2014/main" val="319156220"/>
                    </a:ext>
                  </a:extLst>
                </a:gridCol>
                <a:gridCol w="2032000">
                  <a:extLst>
                    <a:ext uri="{9D8B030D-6E8A-4147-A177-3AD203B41FA5}">
                      <a16:colId xmlns:a16="http://schemas.microsoft.com/office/drawing/2014/main" val="3579218030"/>
                    </a:ext>
                  </a:extLst>
                </a:gridCol>
                <a:gridCol w="9144000">
                  <a:extLst>
                    <a:ext uri="{9D8B030D-6E8A-4147-A177-3AD203B41FA5}">
                      <a16:colId xmlns:a16="http://schemas.microsoft.com/office/drawing/2014/main" val="4176123773"/>
                    </a:ext>
                  </a:extLst>
                </a:gridCol>
                <a:gridCol w="11074400">
                  <a:extLst>
                    <a:ext uri="{9D8B030D-6E8A-4147-A177-3AD203B41FA5}">
                      <a16:colId xmlns:a16="http://schemas.microsoft.com/office/drawing/2014/main" val="4098756232"/>
                    </a:ext>
                  </a:extLst>
                </a:gridCol>
              </a:tblGrid>
              <a:tr h="2260600">
                <a:tc>
                  <a:txBody>
                    <a:bodyPr/>
                    <a:lstStyle/>
                    <a:p>
                      <a:pPr algn="l"/>
                      <a:r>
                        <a:rPr lang="en-US" sz="2400">
                          <a:solidFill>
                            <a:srgbClr val="313131"/>
                          </a:solidFill>
                          <a:latin typeface="NVIDIA Sans"/>
                          <a:cs typeface="NVIDIA Sans"/>
                        </a:rPr>
                        <a:t>Write (str)</a:t>
                      </a:r>
                    </a:p>
                  </a:txBody>
                  <a:tcPr anchor="ctr">
                    <a:solidFill>
                      <a:srgbClr val="FFFFFF"/>
                    </a:solidFill>
                  </a:tcPr>
                </a:tc>
                <a:tc>
                  <a:txBody>
                    <a:bodyPr/>
                    <a:lstStyle/>
                    <a:p>
                      <a:pPr algn="l"/>
                      <a:r>
                        <a:rPr lang="en-US" sz="2200">
                          <a:solidFill>
                            <a:srgbClr val="313131"/>
                          </a:solidFill>
                          <a:latin typeface="NVIDIA Sans"/>
                          <a:cs typeface="NVIDIA Sans"/>
                        </a:rPr>
                        <a:t>Inside control flow</a:t>
                      </a:r>
                    </a:p>
                  </a:txBody>
                  <a:tcPr anchor="ctr">
                    <a:solidFill>
                      <a:srgbClr val="FFFFFF"/>
                    </a:solidFill>
                  </a:tcPr>
                </a:tc>
                <a:tc>
                  <a:txBody>
                    <a:bodyPr/>
                    <a:lstStyle/>
                    <a:p>
                      <a:pPr algn="l"/>
                      <a:r>
                        <a:rPr lang="en-US" sz="2000" b="1">
                          <a:solidFill>
                            <a:srgbClr val="757575"/>
                          </a:solidFill>
                          <a:latin typeface="NVIDIA Sans"/>
                          <a:cs typeface="NVIDIA Sans"/>
                        </a:rPr>
                        <a:t>MLIR</a:t>
                      </a:r>
                    </a:p>
                  </a:txBody>
                  <a:tcPr anchor="ctr">
                    <a:solidFill>
                      <a:srgbClr val="FFFFFF"/>
                    </a:solidFill>
                  </a:tcPr>
                </a:tc>
                <a:tc>
                  <a:txBody>
                    <a:bodyPr/>
                    <a:lstStyle/>
                    <a:p>
                      <a:pPr algn="l"/>
                      <a:r>
                        <a:rPr lang="en-US" sz="2400" b="1">
                          <a:solidFill>
                            <a:srgbClr val="B3261E"/>
                          </a:solidFill>
                          <a:latin typeface="NVIDIA Sans"/>
                          <a:cs typeface="NVIDIA Sans"/>
                        </a:rPr>
                        <a:t>Refuse</a:t>
                      </a:r>
                    </a:p>
                  </a:txBody>
                  <a:tcPr anchor="ctr">
                    <a:solidFill>
                      <a:srgbClr val="FFFFFF"/>
                    </a:solidFill>
                  </a:tcPr>
                </a:tc>
                <a:tc>
                  <a:txBody>
                    <a:bodyPr/>
                    <a:lstStyle/>
                    <a:p>
                      <a:pPr algn="l"/>
                      <a:r>
                        <a:rPr lang="en-US" sz="2400">
                          <a:solidFill>
                            <a:srgbClr val="952FC6"/>
                          </a:solidFill>
                          <a:latin typeface="Roboto Mono"/>
                          <a:cs typeface="Roboto Mono"/>
                        </a:rPr>
                        <a:t>for</a:t>
                      </a:r>
                      <a:r>
                        <a:rPr lang="en-US" sz="2400">
                          <a:solidFill>
                            <a:srgbClr val="000000"/>
                          </a:solidFill>
                          <a:latin typeface="Roboto Mono"/>
                          <a:cs typeface="Roboto Mono"/>
                        </a:rPr>
                        <a:t> i </a:t>
                      </a:r>
                      <a:r>
                        <a:rPr lang="en-US" sz="2400">
                          <a:solidFill>
                            <a:srgbClr val="952FC6"/>
                          </a:solidFill>
                          <a:latin typeface="Roboto Mono"/>
                          <a:cs typeface="Roboto Mono"/>
                        </a:rPr>
                        <a:t>in</a:t>
                      </a:r>
                      <a:r>
                        <a:rPr lang="en-US" sz="2400">
                          <a:solidFill>
                            <a:srgbClr val="000000"/>
                          </a:solidFill>
                          <a:latin typeface="Roboto Mono"/>
                          <a:cs typeface="Roboto Mono"/>
                        </a:rPr>
                        <a:t> </a:t>
                      </a:r>
                      <a:r>
                        <a:rPr lang="en-US" sz="2400">
                          <a:solidFill>
                            <a:srgbClr val="952FC6"/>
                          </a:solidFill>
                          <a:latin typeface="Roboto Mono"/>
                          <a:cs typeface="Roboto Mono"/>
                        </a:rPr>
                        <a:t>range</a:t>
                      </a:r>
                      <a:r>
                        <a:rPr lang="en-US" sz="2400">
                          <a:solidFill>
                            <a:srgbClr val="5A5A5A"/>
                          </a:solidFill>
                          <a:latin typeface="Roboto Mono"/>
                          <a:cs typeface="Roboto Mono"/>
                        </a:rPr>
                        <a:t>(n)</a:t>
                      </a:r>
                      <a:r>
                        <a:rPr lang="en-US" sz="2400">
                          <a:solidFill>
                            <a:srgbClr val="000000"/>
                          </a:solidFill>
                          <a:latin typeface="Roboto Mono"/>
                          <a:cs typeface="Roboto Mono"/>
                        </a:rPr>
                        <a:t>:</a:t>
                      </a:r>
                      <a:br>
                        <a:rPr lang="en-US" sz="2400"/>
                      </a:br>
                      <a:r>
                        <a:rPr lang="en-US" sz="2400">
                          <a:solidFill>
                            <a:srgbClr val="000000"/>
                          </a:solidFill>
                          <a:latin typeface="Roboto Mono"/>
                          <a:cs typeface="Roboto Mono"/>
                        </a:rPr>
                        <a:t>    s.tag = s.tag + </a:t>
                      </a:r>
                      <a:r>
                        <a:rPr lang="en-US" sz="2400">
                          <a:solidFill>
                            <a:srgbClr val="1D6F62"/>
                          </a:solidFill>
                          <a:latin typeface="Roboto Mono"/>
                          <a:cs typeface="Roboto Mono"/>
                        </a:rPr>
                        <a:t>"x"</a:t>
                      </a:r>
                    </a:p>
                  </a:txBody>
                  <a:tcPr anchor="ctr">
                    <a:solidFill>
                      <a:srgbClr val="FFFFFF"/>
                    </a:solidFill>
                  </a:tcPr>
                </a:tc>
                <a:tc>
                  <a:txBody>
                    <a:bodyPr/>
                    <a:lstStyle/>
                    <a:p>
                      <a:pPr algn="l"/>
                      <a:r>
                        <a:rPr lang="en-US" sz="2400">
                          <a:solidFill>
                            <a:srgbClr val="B3261E"/>
                          </a:solidFill>
                          <a:latin typeface="Roboto Mono"/>
                          <a:cs typeface="Roboto Mono"/>
                        </a:rPr>
                        <a:t>error[PHASE_MUTATE_PYTHON]</a:t>
                      </a:r>
                      <a:br>
                        <a:rPr lang="en-US" sz="2400"/>
                      </a:br>
                      <a:r>
                        <a:rPr lang="en-US" sz="2400">
                          <a:solidFill>
                            <a:srgbClr val="5A5A5A"/>
                          </a:solidFill>
                          <a:latin typeface="Roboto Mono"/>
                          <a:cs typeface="Roboto Mono"/>
                        </a:rPr>
                        <a:t>(nothing generated)</a:t>
                      </a:r>
                    </a:p>
                  </a:txBody>
                  <a:tcPr anchor="ctr">
                    <a:solidFill>
                      <a:srgbClr val="FFFFFF"/>
                    </a:solidFill>
                  </a:tcPr>
                </a:tc>
                <a:extLst>
                  <a:ext uri="{0D108BD9-81ED-4DB2-BD59-A6C34878D82A}">
                    <a16:rowId xmlns:a16="http://schemas.microsoft.com/office/drawing/2014/main" val="2119400436"/>
                  </a:ext>
                </a:extLst>
              </a:tr>
            </a:tbl>
          </a:graphicData>
        </a:graphic>
      </p:graphicFrame>
    </p:spTree>
    <p:extLst>
      <p:ext uri="{BB962C8B-B14F-4D97-AF65-F5344CB8AC3E}">
        <p14:creationId xmlns:p14="http://schemas.microsoft.com/office/powerpoint/2010/main" val="73305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Card">
            <a:extLst>
              <a:ext uri="{FF2B5EF4-FFF2-40B4-BE49-F238E27FC236}">
                <a16:creationId xmlns:a16="http://schemas.microsoft.com/office/drawing/2014/main" id="{52416D89-355C-AD41-9550-B30F1E67075F}"/>
              </a:ext>
            </a:extLst>
          </p:cNvPr>
          <p:cNvSpPr/>
          <p:nvPr/>
        </p:nvSpPr>
        <p:spPr>
          <a:xfrm>
            <a:off x="1828800" y="18034000"/>
            <a:ext cx="32918400" cy="1168400"/>
          </a:xfrm>
          <a:prstGeom prst="roundRect">
            <a:avLst/>
          </a:prstGeom>
          <a:solidFill>
            <a:srgbClr val="EDF6D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itleTx">
            <a:extLst>
              <a:ext uri="{FF2B5EF4-FFF2-40B4-BE49-F238E27FC236}">
                <a16:creationId xmlns:a16="http://schemas.microsoft.com/office/drawing/2014/main" id="{D37A3014-7B5A-CE4A-BAB5-FE48095A0CC1}"/>
              </a:ext>
            </a:extLst>
          </p:cNvPr>
          <p:cNvSpPr txBox="1"/>
          <p:nvPr/>
        </p:nvSpPr>
        <p:spPr>
          <a:xfrm>
            <a:off x="1828800" y="914400"/>
            <a:ext cx="32918400" cy="1905000"/>
          </a:xfrm>
          <a:prstGeom prst="rect">
            <a:avLst/>
          </a:prstGeom>
          <a:noFill/>
        </p:spPr>
        <p:txBody>
          <a:bodyPr vertOverflow="overflow" vert="horz" wrap="square" rtlCol="0" anchor="t">
            <a:noAutofit/>
          </a:bodyPr>
          <a:lstStyle/>
          <a:p>
            <a:pPr algn="l"/>
            <a:r>
              <a:rPr lang="en-US" sz="8800">
                <a:latin typeface="NVIDIA Sans Medium"/>
                <a:cs typeface="NVIDIA Sans Medium"/>
              </a:rPr>
              <a:t>How Promotion Happens</a:t>
            </a:r>
          </a:p>
        </p:txBody>
      </p:sp>
      <p:sp>
        <p:nvSpPr>
          <p:cNvPr id="8" name="SubTx">
            <a:extLst>
              <a:ext uri="{FF2B5EF4-FFF2-40B4-BE49-F238E27FC236}">
                <a16:creationId xmlns:a16="http://schemas.microsoft.com/office/drawing/2014/main" id="{6EA9FB01-F4D3-184B-91B3-42965FA153B8}"/>
              </a:ext>
            </a:extLst>
          </p:cNvPr>
          <p:cNvSpPr txBox="1"/>
          <p:nvPr/>
        </p:nvSpPr>
        <p:spPr>
          <a:xfrm>
            <a:off x="1828800" y="2895600"/>
            <a:ext cx="32918400" cy="1371600"/>
          </a:xfrm>
          <a:prstGeom prst="rect">
            <a:avLst/>
          </a:prstGeom>
          <a:noFill/>
        </p:spPr>
        <p:txBody>
          <a:bodyPr vertOverflow="overflow" vert="horz" wrap="square" rtlCol="0" anchor="t">
            <a:noAutofit/>
          </a:bodyPr>
          <a:lstStyle/>
          <a:p>
            <a:pPr algn="l"/>
            <a:r>
              <a:rPr lang="en-US" sz="3200">
                <a:solidFill>
                  <a:srgbClr val="313131"/>
                </a:solidFill>
                <a:latin typeface="NVIDIA Sans"/>
                <a:cs typeface="NVIDIA Sans"/>
              </a:rPr>
              <a:t>Promoting tot, s.c and s.bins['hi']: five moves, and where each lands in the generated code</a:t>
            </a:r>
          </a:p>
        </p:txBody>
      </p:sp>
      <p:sp>
        <p:nvSpPr>
          <p:cNvPr id="9" name="PyCard">
            <a:extLst>
              <a:ext uri="{FF2B5EF4-FFF2-40B4-BE49-F238E27FC236}">
                <a16:creationId xmlns:a16="http://schemas.microsoft.com/office/drawing/2014/main" id="{86DF53D3-1738-D640-96A3-D53138A73105}"/>
              </a:ext>
            </a:extLst>
          </p:cNvPr>
          <p:cNvSpPr/>
          <p:nvPr/>
        </p:nvSpPr>
        <p:spPr>
          <a:xfrm>
            <a:off x="1828800" y="4826000"/>
            <a:ext cx="12700000" cy="5080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PyH">
            <a:extLst>
              <a:ext uri="{FF2B5EF4-FFF2-40B4-BE49-F238E27FC236}">
                <a16:creationId xmlns:a16="http://schemas.microsoft.com/office/drawing/2014/main" id="{14E41155-F283-8546-B280-9BC0B0A26DB1}"/>
              </a:ext>
            </a:extLst>
          </p:cNvPr>
          <p:cNvSpPr txBox="1"/>
          <p:nvPr/>
        </p:nvSpPr>
        <p:spPr>
          <a:xfrm>
            <a:off x="2286000" y="5156200"/>
            <a:ext cx="11785600" cy="711200"/>
          </a:xfrm>
          <a:prstGeom prst="rect">
            <a:avLst/>
          </a:prstGeom>
          <a:noFill/>
        </p:spPr>
        <p:txBody>
          <a:bodyPr vertOverflow="overflow" vert="horz" wrap="square" rtlCol="0" anchor="t">
            <a:noAutofit/>
          </a:bodyPr>
          <a:lstStyle/>
          <a:p>
            <a:pPr algn="l"/>
            <a:r>
              <a:rPr lang="en-US" sz="2800" b="1">
                <a:solidFill>
                  <a:srgbClr val="313131"/>
                </a:solidFill>
                <a:latin typeface="NVIDIA Sans"/>
                <a:cs typeface="NVIDIA Sans"/>
              </a:rPr>
              <a:t>THE PROGRAM</a:t>
            </a:r>
          </a:p>
        </p:txBody>
      </p:sp>
      <p:sp>
        <p:nvSpPr>
          <p:cNvPr id="11" name="PyCode">
            <a:extLst>
              <a:ext uri="{FF2B5EF4-FFF2-40B4-BE49-F238E27FC236}">
                <a16:creationId xmlns:a16="http://schemas.microsoft.com/office/drawing/2014/main" id="{AB5158D7-C281-FD49-8348-744551CBD542}"/>
              </a:ext>
            </a:extLst>
          </p:cNvPr>
          <p:cNvSpPr txBox="1"/>
          <p:nvPr/>
        </p:nvSpPr>
        <p:spPr>
          <a:xfrm>
            <a:off x="2286000" y="6019800"/>
            <a:ext cx="11785600" cy="3810000"/>
          </a:xfrm>
          <a:prstGeom prst="rect">
            <a:avLst/>
          </a:prstGeom>
          <a:noFill/>
        </p:spPr>
        <p:txBody>
          <a:bodyPr vertOverflow="overflow" vert="horz" wrap="square" rtlCol="0" anchor="t">
            <a:noAutofit/>
          </a:bodyPr>
          <a:lstStyle/>
          <a:p>
            <a:pPr algn="l">
              <a:lnSpc>
                <a:spcPts val="3800"/>
              </a:lnSpc>
              <a:spcBef>
                <a:spcPts val="0"/>
              </a:spcBef>
              <a:buNone/>
            </a:pPr>
            <a:r>
              <a:rPr lang="en-US" sz="2800">
                <a:solidFill>
                  <a:srgbClr val="000000"/>
                </a:solidFill>
                <a:latin typeface="Roboto Mono"/>
                <a:ea typeface="Roboto Mono"/>
                <a:cs typeface="Consolas"/>
              </a:rPr>
              <a:t>s   = State()             </a:t>
            </a:r>
            <a:r>
              <a:rPr lang="en-US" sz="2800">
                <a:solidFill>
                  <a:srgbClr val="33590A"/>
                </a:solidFill>
                <a:latin typeface="Roboto Mono"/>
                <a:ea typeface="Roboto Mono"/>
                <a:cs typeface="Consolas"/>
              </a:rPr>
              <a:t># s.c = 0, s.bins = {"hi": 0}</a:t>
            </a:r>
          </a:p>
          <a:p>
            <a:pPr algn="l">
              <a:lnSpc>
                <a:spcPts val="3800"/>
              </a:lnSpc>
              <a:spcBef>
                <a:spcPts val="0"/>
              </a:spcBef>
              <a:buNone/>
            </a:pPr>
            <a:r>
              <a:rPr lang="en-US" sz="2800">
                <a:solidFill>
                  <a:srgbClr val="000000"/>
                </a:solidFill>
                <a:latin typeface="Roboto Mono"/>
                <a:ea typeface="Roboto Mono"/>
                <a:cs typeface="Consolas"/>
              </a:rPr>
              <a:t>tot = cutlass.Int32(</a:t>
            </a:r>
            <a:r>
              <a:rPr lang="en-US" sz="2800">
                <a:solidFill>
                  <a:srgbClr val="B5651D"/>
                </a:solidFill>
                <a:latin typeface="Roboto Mono"/>
                <a:ea typeface="Roboto Mono"/>
                <a:cs typeface="Consolas"/>
              </a:rPr>
              <a:t>0</a:t>
            </a:r>
            <a:r>
              <a:rPr lang="en-US" sz="2800">
                <a:solidFill>
                  <a:srgbClr val="000000"/>
                </a:solidFill>
                <a:latin typeface="Roboto Mono"/>
                <a:ea typeface="Roboto Mono"/>
                <a:cs typeface="Consolas"/>
              </a:rPr>
              <a:t>)    </a:t>
            </a:r>
            <a:r>
              <a:rPr lang="en-US" sz="2800">
                <a:solidFill>
                  <a:srgbClr val="33590A"/>
                </a:solidFill>
                <a:latin typeface="Roboto Mono"/>
                <a:ea typeface="Roboto Mono"/>
                <a:cs typeface="Consolas"/>
              </a:rPr>
              <a:t># runtime from birth</a:t>
            </a:r>
          </a:p>
          <a:p>
            <a:pPr algn="l">
              <a:lnSpc>
                <a:spcPts val="3800"/>
              </a:lnSpc>
              <a:spcBef>
                <a:spcPts val="0"/>
              </a:spcBef>
              <a:buNone/>
            </a:pPr>
            <a:r>
              <a:rPr lang="en-US" sz="2800">
                <a:solidFill>
                  <a:srgbClr val="952FC6"/>
                </a:solidFill>
                <a:latin typeface="Roboto Mono"/>
                <a:ea typeface="Roboto Mono"/>
                <a:cs typeface="Consolas"/>
              </a:rPr>
              <a:t>for</a:t>
            </a:r>
            <a:r>
              <a:rPr lang="en-US" sz="2800">
                <a:solidFill>
                  <a:srgbClr val="000000"/>
                </a:solidFill>
                <a:latin typeface="Roboto Mono"/>
                <a:ea typeface="Roboto Mono"/>
                <a:cs typeface="Consolas"/>
              </a:rPr>
              <a:t> i </a:t>
            </a:r>
            <a:r>
              <a:rPr lang="en-US" sz="2800">
                <a:solidFill>
                  <a:srgbClr val="952FC6"/>
                </a:solidFill>
                <a:latin typeface="Roboto Mono"/>
                <a:ea typeface="Roboto Mono"/>
                <a:cs typeface="Consolas"/>
              </a:rPr>
              <a:t>in</a:t>
            </a:r>
            <a:r>
              <a:rPr lang="en-US" sz="2800">
                <a:solidFill>
                  <a:srgbClr val="000000"/>
                </a:solidFill>
                <a:latin typeface="Roboto Mono"/>
                <a:ea typeface="Roboto Mono"/>
                <a:cs typeface="Consolas"/>
              </a:rPr>
              <a:t> </a:t>
            </a:r>
            <a:r>
              <a:rPr lang="en-US" sz="2800">
                <a:solidFill>
                  <a:srgbClr val="952FC6"/>
                </a:solidFill>
                <a:latin typeface="Roboto Mono"/>
                <a:ea typeface="Roboto Mono"/>
                <a:cs typeface="Consolas"/>
              </a:rPr>
              <a:t>range</a:t>
            </a:r>
            <a:r>
              <a:rPr lang="en-US" sz="2800">
                <a:solidFill>
                  <a:srgbClr val="000000"/>
                </a:solidFill>
                <a:latin typeface="Roboto Mono"/>
                <a:ea typeface="Roboto Mono"/>
                <a:cs typeface="Consolas"/>
              </a:rPr>
              <a:t>(n):</a:t>
            </a:r>
          </a:p>
          <a:p>
            <a:pPr algn="l">
              <a:lnSpc>
                <a:spcPts val="3800"/>
              </a:lnSpc>
              <a:spcBef>
                <a:spcPts val="0"/>
              </a:spcBef>
              <a:buNone/>
            </a:pPr>
            <a:r>
              <a:rPr lang="en-US" sz="2800">
                <a:solidFill>
                  <a:srgbClr val="000000"/>
                </a:solidFill>
                <a:latin typeface="Roboto Mono"/>
                <a:ea typeface="Roboto Mono"/>
                <a:cs typeface="Consolas"/>
              </a:rPr>
              <a:t>    s.c          += </a:t>
            </a:r>
            <a:r>
              <a:rPr lang="en-US" sz="2800">
                <a:solidFill>
                  <a:srgbClr val="B5651D"/>
                </a:solidFill>
                <a:latin typeface="Roboto Mono"/>
                <a:ea typeface="Roboto Mono"/>
                <a:cs typeface="Consolas"/>
              </a:rPr>
              <a:t>2</a:t>
            </a:r>
          </a:p>
          <a:p>
            <a:pPr algn="l">
              <a:lnSpc>
                <a:spcPts val="3800"/>
              </a:lnSpc>
              <a:spcBef>
                <a:spcPts val="0"/>
              </a:spcBef>
              <a:buNone/>
            </a:pPr>
            <a:r>
              <a:rPr lang="en-US" sz="2800">
                <a:solidFill>
                  <a:srgbClr val="000000"/>
                </a:solidFill>
                <a:latin typeface="Roboto Mono"/>
                <a:ea typeface="Roboto Mono"/>
                <a:cs typeface="Consolas"/>
              </a:rPr>
              <a:t>    s.bins[</a:t>
            </a:r>
            <a:r>
              <a:rPr lang="en-US" sz="2800">
                <a:solidFill>
                  <a:srgbClr val="1D6F62"/>
                </a:solidFill>
                <a:latin typeface="Roboto Mono"/>
                <a:ea typeface="Roboto Mono"/>
                <a:cs typeface="Consolas"/>
              </a:rPr>
              <a:t>"hi"</a:t>
            </a:r>
            <a:r>
              <a:rPr lang="en-US" sz="2800">
                <a:solidFill>
                  <a:srgbClr val="000000"/>
                </a:solidFill>
                <a:latin typeface="Roboto Mono"/>
                <a:ea typeface="Roboto Mono"/>
                <a:cs typeface="Consolas"/>
              </a:rPr>
              <a:t>] += </a:t>
            </a:r>
            <a:r>
              <a:rPr lang="en-US" sz="2800">
                <a:solidFill>
                  <a:srgbClr val="B5651D"/>
                </a:solidFill>
                <a:latin typeface="Roboto Mono"/>
                <a:ea typeface="Roboto Mono"/>
                <a:cs typeface="Consolas"/>
              </a:rPr>
              <a:t>1</a:t>
            </a:r>
          </a:p>
          <a:p>
            <a:pPr algn="l">
              <a:lnSpc>
                <a:spcPts val="3800"/>
              </a:lnSpc>
              <a:spcBef>
                <a:spcPts val="0"/>
              </a:spcBef>
              <a:buNone/>
            </a:pPr>
            <a:r>
              <a:rPr lang="en-US" sz="2800">
                <a:solidFill>
                  <a:srgbClr val="000000"/>
                </a:solidFill>
                <a:latin typeface="Roboto Mono"/>
                <a:ea typeface="Roboto Mono"/>
                <a:cs typeface="Consolas"/>
              </a:rPr>
              <a:t>    tot          += s.c</a:t>
            </a:r>
          </a:p>
        </p:txBody>
      </p:sp>
      <p:sp>
        <p:nvSpPr>
          <p:cNvPr id="12" name="StepCard">
            <a:extLst>
              <a:ext uri="{FF2B5EF4-FFF2-40B4-BE49-F238E27FC236}">
                <a16:creationId xmlns:a16="http://schemas.microsoft.com/office/drawing/2014/main" id="{206CE3E6-6409-734D-BE1D-09FA23C14E4B}"/>
              </a:ext>
            </a:extLst>
          </p:cNvPr>
          <p:cNvSpPr/>
          <p:nvPr/>
        </p:nvSpPr>
        <p:spPr>
          <a:xfrm>
            <a:off x="1828800" y="10414000"/>
            <a:ext cx="12700000" cy="7366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StepH">
            <a:extLst>
              <a:ext uri="{FF2B5EF4-FFF2-40B4-BE49-F238E27FC236}">
                <a16:creationId xmlns:a16="http://schemas.microsoft.com/office/drawing/2014/main" id="{370AD2DC-F041-D742-BD5B-262A2672887D}"/>
              </a:ext>
            </a:extLst>
          </p:cNvPr>
          <p:cNvSpPr txBox="1"/>
          <p:nvPr/>
        </p:nvSpPr>
        <p:spPr>
          <a:xfrm>
            <a:off x="2286000" y="10744200"/>
            <a:ext cx="11785600" cy="711200"/>
          </a:xfrm>
          <a:prstGeom prst="rect">
            <a:avLst/>
          </a:prstGeom>
          <a:noFill/>
        </p:spPr>
        <p:txBody>
          <a:bodyPr vertOverflow="overflow" vert="horz" wrap="square" rtlCol="0" anchor="t">
            <a:noAutofit/>
          </a:bodyPr>
          <a:lstStyle/>
          <a:p>
            <a:pPr algn="l"/>
            <a:r>
              <a:rPr lang="en-US" sz="2800" b="1">
                <a:solidFill>
                  <a:srgbClr val="313131"/>
                </a:solidFill>
                <a:latin typeface="NVIDIA Sans"/>
                <a:cs typeface="NVIDIA Sans"/>
              </a:rPr>
              <a:t>THE FIVE MOVES</a:t>
            </a:r>
          </a:p>
        </p:txBody>
      </p:sp>
      <p:sp>
        <p:nvSpPr>
          <p:cNvPr id="14" name="StepB">
            <a:extLst>
              <a:ext uri="{FF2B5EF4-FFF2-40B4-BE49-F238E27FC236}">
                <a16:creationId xmlns:a16="http://schemas.microsoft.com/office/drawing/2014/main" id="{E0B58523-5463-7740-B869-AE56BD3B9536}"/>
              </a:ext>
            </a:extLst>
          </p:cNvPr>
          <p:cNvSpPr txBox="1"/>
          <p:nvPr/>
        </p:nvSpPr>
        <p:spPr>
          <a:xfrm>
            <a:off x="2286000" y="11684000"/>
            <a:ext cx="11785600" cy="5588000"/>
          </a:xfrm>
          <a:prstGeom prst="rect">
            <a:avLst/>
          </a:prstGeom>
          <a:noFill/>
        </p:spPr>
        <p:txBody>
          <a:bodyPr vertOverflow="overflow" vert="horz" wrap="square" rtlCol="0" anchor="t">
            <a:noAutofit/>
          </a:bodyPr>
          <a:lstStyle/>
          <a:p>
            <a:pPr algn="l">
              <a:lnSpc>
                <a:spcPts val="8000"/>
              </a:lnSpc>
              <a:spcBef>
                <a:spcPts val="0"/>
              </a:spcBef>
              <a:buNone/>
            </a:pPr>
            <a:r>
              <a:rPr lang="en-US" sz="3200" b="1">
                <a:solidFill>
                  <a:srgbClr val="76B900"/>
                </a:solidFill>
                <a:latin typeface="NVIDIA Sans"/>
              </a:rPr>
              <a:t>1   </a:t>
            </a:r>
            <a:r>
              <a:rPr lang="en-US" sz="3200">
                <a:solidFill>
                  <a:srgbClr val="313131"/>
                </a:solidFill>
                <a:latin typeface="NVIDIA Sans"/>
              </a:rPr>
              <a:t>detect the write</a:t>
            </a:r>
          </a:p>
          <a:p>
            <a:pPr algn="l">
              <a:lnSpc>
                <a:spcPts val="8000"/>
              </a:lnSpc>
              <a:spcBef>
                <a:spcPts val="0"/>
              </a:spcBef>
              <a:buNone/>
            </a:pPr>
            <a:r>
              <a:rPr lang="en-US" sz="3200" b="1">
                <a:solidFill>
                  <a:srgbClr val="76B900"/>
                </a:solidFill>
                <a:latin typeface="NVIDIA Sans"/>
              </a:rPr>
              <a:t>2   </a:t>
            </a:r>
            <a:r>
              <a:rPr lang="en-US" sz="3200">
                <a:solidFill>
                  <a:srgbClr val="313131"/>
                </a:solidFill>
                <a:latin typeface="NVIDIA Sans"/>
              </a:rPr>
              <a:t>create the cell from the pre-write value</a:t>
            </a:r>
          </a:p>
          <a:p>
            <a:pPr algn="l">
              <a:lnSpc>
                <a:spcPts val="8000"/>
              </a:lnSpc>
              <a:spcBef>
                <a:spcPts val="0"/>
              </a:spcBef>
              <a:buNone/>
            </a:pPr>
            <a:r>
              <a:rPr lang="en-US" sz="3200" b="1">
                <a:solidFill>
                  <a:srgbClr val="76B900"/>
                </a:solidFill>
                <a:latin typeface="NVIDIA Sans"/>
              </a:rPr>
              <a:t>3   </a:t>
            </a:r>
            <a:r>
              <a:rPr lang="en-US" sz="3200">
                <a:solidFill>
                  <a:srgbClr val="313131"/>
                </a:solidFill>
                <a:latin typeface="NVIDIA Sans"/>
              </a:rPr>
              <a:t>store where the write happened</a:t>
            </a:r>
          </a:p>
          <a:p>
            <a:pPr algn="l">
              <a:lnSpc>
                <a:spcPts val="8000"/>
              </a:lnSpc>
              <a:spcBef>
                <a:spcPts val="0"/>
              </a:spcBef>
              <a:buNone/>
            </a:pPr>
            <a:r>
              <a:rPr lang="en-US" sz="3200" b="1">
                <a:solidFill>
                  <a:srgbClr val="76B900"/>
                </a:solidFill>
                <a:latin typeface="NVIDIA Sans"/>
              </a:rPr>
              <a:t>4   </a:t>
            </a:r>
            <a:r>
              <a:rPr lang="en-US" sz="3200">
                <a:solidFill>
                  <a:srgbClr val="313131"/>
                </a:solidFill>
                <a:latin typeface="NVIDIA Sans"/>
              </a:rPr>
              <a:t>re-point reads already emitted</a:t>
            </a:r>
          </a:p>
          <a:p>
            <a:pPr algn="l">
              <a:lnSpc>
                <a:spcPts val="8000"/>
              </a:lnSpc>
              <a:spcBef>
                <a:spcPts val="0"/>
              </a:spcBef>
              <a:buNone/>
            </a:pPr>
            <a:r>
              <a:rPr lang="en-US" sz="3200" b="1">
                <a:solidFill>
                  <a:srgbClr val="76B900"/>
                </a:solidFill>
                <a:latin typeface="NVIDIA Sans"/>
              </a:rPr>
              <a:t>5   </a:t>
            </a:r>
            <a:r>
              <a:rPr lang="en-US" sz="3200">
                <a:solidFill>
                  <a:srgbClr val="313131"/>
                </a:solidFill>
                <a:latin typeface="NVIDIA Sans"/>
              </a:rPr>
              <a:t>or refuse, by name, at the line</a:t>
            </a:r>
          </a:p>
        </p:txBody>
      </p:sp>
      <p:sp>
        <p:nvSpPr>
          <p:cNvPr id="15" name="IRCard">
            <a:extLst>
              <a:ext uri="{FF2B5EF4-FFF2-40B4-BE49-F238E27FC236}">
                <a16:creationId xmlns:a16="http://schemas.microsoft.com/office/drawing/2014/main" id="{1835EDF8-E7F1-4E47-9671-9C2ACFE2507B}"/>
              </a:ext>
            </a:extLst>
          </p:cNvPr>
          <p:cNvSpPr/>
          <p:nvPr/>
        </p:nvSpPr>
        <p:spPr>
          <a:xfrm>
            <a:off x="14986000" y="4826000"/>
            <a:ext cx="19761200" cy="12954000"/>
          </a:xfrm>
          <a:prstGeom prst="rect">
            <a:avLst/>
          </a:prstGeom>
          <a:solidFill>
            <a:srgbClr val="F3F8E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IRH">
            <a:extLst>
              <a:ext uri="{FF2B5EF4-FFF2-40B4-BE49-F238E27FC236}">
                <a16:creationId xmlns:a16="http://schemas.microsoft.com/office/drawing/2014/main" id="{5DA4FF53-4CB1-C144-B36F-6114156571BF}"/>
              </a:ext>
            </a:extLst>
          </p:cNvPr>
          <p:cNvSpPr txBox="1"/>
          <p:nvPr/>
        </p:nvSpPr>
        <p:spPr>
          <a:xfrm>
            <a:off x="15443200" y="5156200"/>
            <a:ext cx="18846800" cy="711200"/>
          </a:xfrm>
          <a:prstGeom prst="rect">
            <a:avLst/>
          </a:prstGeom>
          <a:noFill/>
        </p:spPr>
        <p:txBody>
          <a:bodyPr vertOverflow="overflow" vert="horz" wrap="square" rtlCol="0" anchor="t">
            <a:noAutofit/>
          </a:bodyPr>
          <a:lstStyle/>
          <a:p>
            <a:pPr algn="l"/>
            <a:r>
              <a:rPr lang="en-US" sz="2800" b="1">
                <a:solidFill>
                  <a:srgbClr val="76B900"/>
                </a:solidFill>
                <a:latin typeface="NVIDIA Sans"/>
                <a:cs typeface="NVIDIA Sans"/>
              </a:rPr>
              <a:t>GENERATED IR, BY MOVE</a:t>
            </a:r>
          </a:p>
        </p:txBody>
      </p:sp>
      <p:sp>
        <p:nvSpPr>
          <p:cNvPr id="17" name="IRCode">
            <a:extLst>
              <a:ext uri="{FF2B5EF4-FFF2-40B4-BE49-F238E27FC236}">
                <a16:creationId xmlns:a16="http://schemas.microsoft.com/office/drawing/2014/main" id="{5773B006-1D29-5140-8CDD-F17395906F0D}"/>
              </a:ext>
            </a:extLst>
          </p:cNvPr>
          <p:cNvSpPr txBox="1"/>
          <p:nvPr/>
        </p:nvSpPr>
        <p:spPr>
          <a:xfrm>
            <a:off x="15443200" y="6019800"/>
            <a:ext cx="18846800" cy="11176000"/>
          </a:xfrm>
          <a:prstGeom prst="rect">
            <a:avLst/>
          </a:prstGeom>
          <a:noFill/>
        </p:spPr>
        <p:txBody>
          <a:bodyPr vertOverflow="overflow" vert="horz" wrap="square" rtlCol="0" anchor="t">
            <a:noAutofit/>
          </a:bodyPr>
          <a:lstStyle/>
          <a:p>
            <a:pPr algn="l">
              <a:lnSpc>
                <a:spcPts val="3600"/>
              </a:lnSpc>
              <a:spcBef>
                <a:spcPts val="0"/>
              </a:spcBef>
              <a:buNone/>
            </a:pPr>
            <a:r>
              <a:rPr lang="en-US" sz="2600">
                <a:solidFill>
                  <a:srgbClr val="0074DF"/>
                </a:solidFill>
                <a:latin typeface="Roboto Mono"/>
                <a:ea typeface="Roboto Mono"/>
                <a:cs typeface="Consolas"/>
              </a:rPr>
              <a:t>%a</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pyir.ref</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%c0</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i32</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2  tot</a:t>
            </a:r>
          </a:p>
          <a:p>
            <a:pPr algn="l">
              <a:lnSpc>
                <a:spcPts val="3600"/>
              </a:lnSpc>
              <a:spcBef>
                <a:spcPts val="0"/>
              </a:spcBef>
              <a:buNone/>
            </a:pPr>
            <a:r>
              <a:rPr lang="en-US" sz="2600">
                <a:solidFill>
                  <a:srgbClr val="0074DF"/>
                </a:solidFill>
                <a:latin typeface="Roboto Mono"/>
                <a:ea typeface="Roboto Mono"/>
                <a:cs typeface="Consolas"/>
              </a:rPr>
              <a:t>%b</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pyir.ref</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%c0</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i32</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2  bins["hi"]</a:t>
            </a:r>
          </a:p>
          <a:p>
            <a:pPr algn="l">
              <a:lnSpc>
                <a:spcPts val="3600"/>
              </a:lnSpc>
              <a:spcBef>
                <a:spcPts val="0"/>
              </a:spcBef>
              <a:buNone/>
            </a:pPr>
            <a:r>
              <a:rPr lang="en-US" sz="2600">
                <a:solidFill>
                  <a:srgbClr val="0074DF"/>
                </a:solidFill>
                <a:latin typeface="Roboto Mono"/>
                <a:ea typeface="Roboto Mono"/>
                <a:cs typeface="Consolas"/>
              </a:rPr>
              <a:t>%c</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pyir.ref</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%c0</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i32</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2  s.c</a:t>
            </a:r>
          </a:p>
          <a:p>
            <a:pPr algn="l">
              <a:lnSpc>
                <a:spcPts val="3600"/>
              </a:lnSpc>
              <a:spcBef>
                <a:spcPts val="0"/>
              </a:spcBef>
              <a:buNone/>
            </a:pPr>
            <a:r>
              <a:rPr lang="en-US" sz="2600">
                <a:solidFill>
                  <a:srgbClr val="952FC6"/>
                </a:solidFill>
                <a:latin typeface="Roboto Mono"/>
                <a:ea typeface="Roboto Mono"/>
                <a:cs typeface="Consolas"/>
              </a:rPr>
              <a:t>scf.for</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%i</a:t>
            </a:r>
            <a:r>
              <a:rPr lang="en-US" sz="2600">
                <a:solidFill>
                  <a:srgbClr val="000000"/>
                </a:solidFill>
                <a:latin typeface="Roboto Mono"/>
                <a:ea typeface="Roboto Mono"/>
                <a:cs typeface="Consolas"/>
              </a:rPr>
              <a:t> = </a:t>
            </a:r>
            <a:r>
              <a:rPr lang="en-US" sz="2600">
                <a:solidFill>
                  <a:srgbClr val="0074DF"/>
                </a:solidFill>
                <a:latin typeface="Roboto Mono"/>
                <a:ea typeface="Roboto Mono"/>
                <a:cs typeface="Consolas"/>
              </a:rPr>
              <a:t>%c0</a:t>
            </a:r>
            <a:r>
              <a:rPr lang="en-US" sz="2600">
                <a:solidFill>
                  <a:srgbClr val="000000"/>
                </a:solidFill>
                <a:latin typeface="Roboto Mono"/>
                <a:ea typeface="Roboto Mono"/>
                <a:cs typeface="Consolas"/>
              </a:rPr>
              <a:t> </a:t>
            </a:r>
            <a:r>
              <a:rPr lang="en-US" sz="2600">
                <a:solidFill>
                  <a:srgbClr val="952FC6"/>
                </a:solidFill>
                <a:latin typeface="Roboto Mono"/>
                <a:ea typeface="Roboto Mono"/>
                <a:cs typeface="Consolas"/>
              </a:rPr>
              <a:t>to</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%n</a:t>
            </a:r>
            <a:r>
              <a:rPr lang="en-US" sz="2600">
                <a:solidFill>
                  <a:srgbClr val="000000"/>
                </a:solidFill>
                <a:latin typeface="Roboto Mono"/>
                <a:ea typeface="Roboto Mono"/>
                <a:cs typeface="Consolas"/>
              </a:rPr>
              <a:t> {</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%1</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pyir.load</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%c</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&lt;i32&gt;</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4</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%2</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arith.addi</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%1</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%c2</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1  s.c += 2</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952FC6"/>
                </a:solidFill>
                <a:latin typeface="Roboto Mono"/>
                <a:ea typeface="Roboto Mono"/>
                <a:cs typeface="Consolas"/>
              </a:rPr>
              <a:t>pyir.store</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%2</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%c</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&lt;i32&gt;</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3</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%3</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pyir.load</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%b</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&lt;i32&gt;</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4</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%4</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arith.addi</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%3</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%c1</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1  hi += 1</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952FC6"/>
                </a:solidFill>
                <a:latin typeface="Roboto Mono"/>
                <a:ea typeface="Roboto Mono"/>
                <a:cs typeface="Consolas"/>
              </a:rPr>
              <a:t>pyir.store</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%4</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%b</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&lt;i32&gt;</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3</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%5</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pyir.load</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%a</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&lt;i32&gt;</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4</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%6</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arith.addi</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%5</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%2</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1  tot += new c</a:t>
            </a:r>
          </a:p>
          <a:p>
            <a:pPr algn="l">
              <a:lnSpc>
                <a:spcPts val="3600"/>
              </a:lnSpc>
              <a:spcBef>
                <a:spcPts val="0"/>
              </a:spcBef>
              <a:buNone/>
            </a:pPr>
            <a:r>
              <a:rPr lang="en-US" sz="2600">
                <a:solidFill>
                  <a:srgbClr val="000000"/>
                </a:solidFill>
                <a:latin typeface="Roboto Mono"/>
                <a:ea typeface="Roboto Mono"/>
                <a:cs typeface="Consolas"/>
              </a:rPr>
              <a:t>  </a:t>
            </a:r>
            <a:r>
              <a:rPr lang="en-US" sz="2600">
                <a:solidFill>
                  <a:srgbClr val="952FC6"/>
                </a:solidFill>
                <a:latin typeface="Roboto Mono"/>
                <a:ea typeface="Roboto Mono"/>
                <a:cs typeface="Consolas"/>
              </a:rPr>
              <a:t>pyir.store</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%6</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%a</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&lt;i32&gt;</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3</a:t>
            </a:r>
          </a:p>
          <a:p>
            <a:pPr algn="l">
              <a:lnSpc>
                <a:spcPts val="3600"/>
              </a:lnSpc>
              <a:spcBef>
                <a:spcPts val="0"/>
              </a:spcBef>
              <a:buNone/>
            </a:pPr>
            <a:r>
              <a:rPr lang="en-US" sz="2600">
                <a:solidFill>
                  <a:srgbClr val="000000"/>
                </a:solidFill>
                <a:latin typeface="Roboto Mono"/>
                <a:ea typeface="Roboto Mono"/>
                <a:cs typeface="Consolas"/>
              </a:rPr>
              <a:t>}</a:t>
            </a:r>
          </a:p>
          <a:p>
            <a:pPr algn="l">
              <a:lnSpc>
                <a:spcPts val="3600"/>
              </a:lnSpc>
              <a:spcBef>
                <a:spcPts val="0"/>
              </a:spcBef>
              <a:buNone/>
            </a:pPr>
            <a:r>
              <a:rPr lang="en-US" sz="2600">
                <a:solidFill>
                  <a:srgbClr val="0074DF"/>
                </a:solidFill>
                <a:latin typeface="Roboto Mono"/>
                <a:ea typeface="Roboto Mono"/>
                <a:cs typeface="Consolas"/>
              </a:rPr>
              <a:t>%out</a:t>
            </a:r>
            <a:r>
              <a:rPr lang="en-US" sz="2600">
                <a:solidFill>
                  <a:srgbClr val="000000"/>
                </a:solidFill>
                <a:latin typeface="Roboto Mono"/>
                <a:ea typeface="Roboto Mono"/>
                <a:cs typeface="Consolas"/>
              </a:rPr>
              <a:t> = </a:t>
            </a:r>
            <a:r>
              <a:rPr lang="en-US" sz="2600">
                <a:solidFill>
                  <a:srgbClr val="952FC6"/>
                </a:solidFill>
                <a:latin typeface="Roboto Mono"/>
                <a:ea typeface="Roboto Mono"/>
                <a:cs typeface="Consolas"/>
              </a:rPr>
              <a:t>pyir.load</a:t>
            </a:r>
            <a:r>
              <a:rPr lang="en-US" sz="2600">
                <a:solidFill>
                  <a:srgbClr val="000000"/>
                </a:solidFill>
                <a:latin typeface="Roboto Mono"/>
                <a:ea typeface="Roboto Mono"/>
                <a:cs typeface="Consolas"/>
              </a:rPr>
              <a:t> </a:t>
            </a:r>
            <a:r>
              <a:rPr lang="en-US" sz="2600">
                <a:solidFill>
                  <a:srgbClr val="0074DF"/>
                </a:solidFill>
                <a:latin typeface="Roboto Mono"/>
                <a:ea typeface="Roboto Mono"/>
                <a:cs typeface="Consolas"/>
              </a:rPr>
              <a:t>%a</a:t>
            </a:r>
            <a:r>
              <a:rPr lang="en-US" sz="2600">
                <a:solidFill>
                  <a:srgbClr val="000000"/>
                </a:solidFill>
                <a:latin typeface="Roboto Mono"/>
                <a:ea typeface="Roboto Mono"/>
                <a:cs typeface="Consolas"/>
              </a:rPr>
              <a:t> : </a:t>
            </a:r>
            <a:r>
              <a:rPr lang="en-US" sz="2600">
                <a:solidFill>
                  <a:srgbClr val="757575"/>
                </a:solidFill>
                <a:latin typeface="Roboto Mono"/>
                <a:ea typeface="Roboto Mono"/>
                <a:cs typeface="Consolas"/>
              </a:rPr>
              <a:t>&lt;i32&gt;</a:t>
            </a:r>
            <a:r>
              <a:rPr lang="en-US" sz="2600">
                <a:solidFill>
                  <a:srgbClr val="000000"/>
                </a:solidFill>
                <a:latin typeface="Roboto Mono"/>
                <a:ea typeface="Roboto Mono"/>
                <a:cs typeface="Consolas"/>
              </a:rPr>
              <a:t>    </a:t>
            </a:r>
            <a:r>
              <a:rPr lang="en-US" sz="2600">
                <a:solidFill>
                  <a:srgbClr val="33590A"/>
                </a:solidFill>
                <a:latin typeface="Roboto Mono"/>
                <a:ea typeface="Roboto Mono"/>
                <a:cs typeface="Consolas"/>
              </a:rPr>
              <a:t>// 4  tot, after</a:t>
            </a:r>
          </a:p>
        </p:txBody>
      </p:sp>
      <p:sp>
        <p:nvSpPr>
          <p:cNvPr id="3" name="QBar">
            <a:extLst>
              <a:ext uri="{FF2B5EF4-FFF2-40B4-BE49-F238E27FC236}">
                <a16:creationId xmlns:a16="http://schemas.microsoft.com/office/drawing/2014/main" id="{1562B753-0EBD-0044-AE57-3FD8DAB49878}"/>
              </a:ext>
            </a:extLst>
          </p:cNvPr>
          <p:cNvSpPr/>
          <p:nvPr/>
        </p:nvSpPr>
        <p:spPr>
          <a:xfrm>
            <a:off x="1828800" y="18034000"/>
            <a:ext cx="152400" cy="11684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QTx">
            <a:extLst>
              <a:ext uri="{FF2B5EF4-FFF2-40B4-BE49-F238E27FC236}">
                <a16:creationId xmlns:a16="http://schemas.microsoft.com/office/drawing/2014/main" id="{B5D9A113-A3D1-9E41-A999-8DB3C34BDEEF}"/>
              </a:ext>
            </a:extLst>
          </p:cNvPr>
          <p:cNvSpPr txBox="1"/>
          <p:nvPr/>
        </p:nvSpPr>
        <p:spPr>
          <a:xfrm>
            <a:off x="2438400" y="18262600"/>
            <a:ext cx="31750000" cy="762000"/>
          </a:xfrm>
          <a:prstGeom prst="rect">
            <a:avLst/>
          </a:prstGeom>
          <a:noFill/>
        </p:spPr>
        <p:txBody>
          <a:bodyPr vertOverflow="overflow" vert="horz" wrap="none" rtlCol="0" anchor="ctr" anchorCtr="0">
            <a:noAutofit/>
          </a:bodyPr>
          <a:lstStyle/>
          <a:p>
            <a:pPr algn="l">
              <a:lnSpc>
                <a:spcPts val="3600"/>
              </a:lnSpc>
              <a:buNone/>
            </a:pPr>
            <a:r>
              <a:rPr lang="en-US" sz="3000">
                <a:solidFill>
                  <a:srgbClr val="313131"/>
                </a:solidFill>
                <a:latin typeface="NVIDIA Sans"/>
                <a:cs typeface="NVIDIA Sans"/>
              </a:rPr>
              <a:t>The question now is how to strip these non-SSA semantics and turn them into </a:t>
            </a:r>
            <a:r>
              <a:rPr lang="en-US" sz="3000">
                <a:solidFill>
                  <a:srgbClr val="4E7D00"/>
                </a:solidFill>
                <a:latin typeface="NVIDIA Sans"/>
                <a:cs typeface="NVIDIA Sans"/>
              </a:rPr>
              <a:t>SSA values</a:t>
            </a:r>
            <a:r>
              <a:rPr lang="en-US" sz="3000">
                <a:solidFill>
                  <a:srgbClr val="313131"/>
                </a:solidFill>
                <a:latin typeface="NVIDIA Sans"/>
                <a:cs typeface="NVIDIA Sans"/>
              </a:rPr>
              <a:t>.</a:t>
            </a:r>
          </a:p>
        </p:txBody>
      </p:sp>
    </p:spTree>
    <p:extLst>
      <p:ext uri="{BB962C8B-B14F-4D97-AF65-F5344CB8AC3E}">
        <p14:creationId xmlns:p14="http://schemas.microsoft.com/office/powerpoint/2010/main" val="3939505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xEl>
                                              <p:pRg st="3" end="3"/>
                                            </p:txEl>
                                          </p:spTgt>
                                        </p:tgtEl>
                                        <p:attrNameLst>
                                          <p:attrName>style.visibility</p:attrName>
                                        </p:attrNameLst>
                                      </p:cBhvr>
                                      <p:to>
                                        <p:strVal val="visible"/>
                                      </p:to>
                                    </p:set>
                                    <p:animEffect transition="in" filter="fade">
                                      <p:cBhvr>
                                        <p:cTn id="10" dur="500"/>
                                        <p:tgtEl>
                                          <p:spTgt spid="17">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xEl>
                                              <p:pRg st="5" end="5"/>
                                            </p:txEl>
                                          </p:spTgt>
                                        </p:tgtEl>
                                        <p:attrNameLst>
                                          <p:attrName>style.visibility</p:attrName>
                                        </p:attrNameLst>
                                      </p:cBhvr>
                                      <p:to>
                                        <p:strVal val="visible"/>
                                      </p:to>
                                    </p:set>
                                    <p:animEffect transition="in" filter="fade">
                                      <p:cBhvr>
                                        <p:cTn id="13" dur="500"/>
                                        <p:tgtEl>
                                          <p:spTgt spid="17">
                                            <p:txEl>
                                              <p:pRg st="5" end="5"/>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xEl>
                                              <p:pRg st="8" end="8"/>
                                            </p:txEl>
                                          </p:spTgt>
                                        </p:tgtEl>
                                        <p:attrNameLst>
                                          <p:attrName>style.visibility</p:attrName>
                                        </p:attrNameLst>
                                      </p:cBhvr>
                                      <p:to>
                                        <p:strVal val="visible"/>
                                      </p:to>
                                    </p:set>
                                    <p:animEffect transition="in" filter="fade">
                                      <p:cBhvr>
                                        <p:cTn id="16" dur="500"/>
                                        <p:tgtEl>
                                          <p:spTgt spid="17">
                                            <p:txEl>
                                              <p:pRg st="8" end="8"/>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xEl>
                                              <p:pRg st="11" end="11"/>
                                            </p:txEl>
                                          </p:spTgt>
                                        </p:tgtEl>
                                        <p:attrNameLst>
                                          <p:attrName>style.visibility</p:attrName>
                                        </p:attrNameLst>
                                      </p:cBhvr>
                                      <p:to>
                                        <p:strVal val="visible"/>
                                      </p:to>
                                    </p:set>
                                    <p:animEffect transition="in" filter="fade">
                                      <p:cBhvr>
                                        <p:cTn id="19" dur="500"/>
                                        <p:tgtEl>
                                          <p:spTgt spid="17">
                                            <p:txEl>
                                              <p:pRg st="11" end="1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xEl>
                                              <p:pRg st="13" end="13"/>
                                            </p:txEl>
                                          </p:spTgt>
                                        </p:tgtEl>
                                        <p:attrNameLst>
                                          <p:attrName>style.visibility</p:attrName>
                                        </p:attrNameLst>
                                      </p:cBhvr>
                                      <p:to>
                                        <p:strVal val="visible"/>
                                      </p:to>
                                    </p:set>
                                    <p:animEffect transition="in" filter="fade">
                                      <p:cBhvr>
                                        <p:cTn id="22" dur="500"/>
                                        <p:tgtEl>
                                          <p:spTgt spid="17">
                                            <p:txEl>
                                              <p:pRg st="13" end="1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animEffect transition="in" filter="fade">
                                      <p:cBhvr>
                                        <p:cTn id="27" dur="500"/>
                                        <p:tgtEl>
                                          <p:spTgt spid="14">
                                            <p:txEl>
                                              <p:pRg st="1" end="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xEl>
                                              <p:pRg st="0" end="0"/>
                                            </p:txEl>
                                          </p:spTgt>
                                        </p:tgtEl>
                                        <p:attrNameLst>
                                          <p:attrName>style.visibility</p:attrName>
                                        </p:attrNameLst>
                                      </p:cBhvr>
                                      <p:to>
                                        <p:strVal val="visible"/>
                                      </p:to>
                                    </p:set>
                                    <p:animEffect transition="in" filter="fade">
                                      <p:cBhvr>
                                        <p:cTn id="30" dur="500"/>
                                        <p:tgtEl>
                                          <p:spTgt spid="17">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xEl>
                                              <p:pRg st="1" end="1"/>
                                            </p:txEl>
                                          </p:spTgt>
                                        </p:tgtEl>
                                        <p:attrNameLst>
                                          <p:attrName>style.visibility</p:attrName>
                                        </p:attrNameLst>
                                      </p:cBhvr>
                                      <p:to>
                                        <p:strVal val="visible"/>
                                      </p:to>
                                    </p:set>
                                    <p:animEffect transition="in" filter="fade">
                                      <p:cBhvr>
                                        <p:cTn id="33" dur="500"/>
                                        <p:tgtEl>
                                          <p:spTgt spid="17">
                                            <p:txEl>
                                              <p:pRg st="1" end="1"/>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xEl>
                                              <p:pRg st="2" end="2"/>
                                            </p:txEl>
                                          </p:spTgt>
                                        </p:tgtEl>
                                        <p:attrNameLst>
                                          <p:attrName>style.visibility</p:attrName>
                                        </p:attrNameLst>
                                      </p:cBhvr>
                                      <p:to>
                                        <p:strVal val="visible"/>
                                      </p:to>
                                    </p:set>
                                    <p:animEffect transition="in" filter="fade">
                                      <p:cBhvr>
                                        <p:cTn id="36" dur="500"/>
                                        <p:tgtEl>
                                          <p:spTgt spid="17">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xEl>
                                              <p:pRg st="2" end="2"/>
                                            </p:txEl>
                                          </p:spTgt>
                                        </p:tgtEl>
                                        <p:attrNameLst>
                                          <p:attrName>style.visibility</p:attrName>
                                        </p:attrNameLst>
                                      </p:cBhvr>
                                      <p:to>
                                        <p:strVal val="visible"/>
                                      </p:to>
                                    </p:set>
                                    <p:animEffect transition="in" filter="fade">
                                      <p:cBhvr>
                                        <p:cTn id="41" dur="500"/>
                                        <p:tgtEl>
                                          <p:spTgt spid="14">
                                            <p:txEl>
                                              <p:pRg st="2" end="2"/>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xEl>
                                              <p:pRg st="6" end="6"/>
                                            </p:txEl>
                                          </p:spTgt>
                                        </p:tgtEl>
                                        <p:attrNameLst>
                                          <p:attrName>style.visibility</p:attrName>
                                        </p:attrNameLst>
                                      </p:cBhvr>
                                      <p:to>
                                        <p:strVal val="visible"/>
                                      </p:to>
                                    </p:set>
                                    <p:animEffect transition="in" filter="fade">
                                      <p:cBhvr>
                                        <p:cTn id="44" dur="500"/>
                                        <p:tgtEl>
                                          <p:spTgt spid="17">
                                            <p:txEl>
                                              <p:pRg st="6" end="6"/>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xEl>
                                              <p:pRg st="9" end="9"/>
                                            </p:txEl>
                                          </p:spTgt>
                                        </p:tgtEl>
                                        <p:attrNameLst>
                                          <p:attrName>style.visibility</p:attrName>
                                        </p:attrNameLst>
                                      </p:cBhvr>
                                      <p:to>
                                        <p:strVal val="visible"/>
                                      </p:to>
                                    </p:set>
                                    <p:animEffect transition="in" filter="fade">
                                      <p:cBhvr>
                                        <p:cTn id="47" dur="500"/>
                                        <p:tgtEl>
                                          <p:spTgt spid="17">
                                            <p:txEl>
                                              <p:pRg st="9" end="9"/>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xEl>
                                              <p:pRg st="12" end="12"/>
                                            </p:txEl>
                                          </p:spTgt>
                                        </p:tgtEl>
                                        <p:attrNameLst>
                                          <p:attrName>style.visibility</p:attrName>
                                        </p:attrNameLst>
                                      </p:cBhvr>
                                      <p:to>
                                        <p:strVal val="visible"/>
                                      </p:to>
                                    </p:set>
                                    <p:animEffect transition="in" filter="fade">
                                      <p:cBhvr>
                                        <p:cTn id="50" dur="500"/>
                                        <p:tgtEl>
                                          <p:spTgt spid="17">
                                            <p:txEl>
                                              <p:pRg st="12" end="1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4">
                                            <p:txEl>
                                              <p:pRg st="3" end="3"/>
                                            </p:txEl>
                                          </p:spTgt>
                                        </p:tgtEl>
                                        <p:attrNameLst>
                                          <p:attrName>style.visibility</p:attrName>
                                        </p:attrNameLst>
                                      </p:cBhvr>
                                      <p:to>
                                        <p:strVal val="visible"/>
                                      </p:to>
                                    </p:set>
                                    <p:animEffect transition="in" filter="fade">
                                      <p:cBhvr>
                                        <p:cTn id="55" dur="500"/>
                                        <p:tgtEl>
                                          <p:spTgt spid="14">
                                            <p:txEl>
                                              <p:pRg st="3" end="3"/>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7">
                                            <p:txEl>
                                              <p:pRg st="4" end="4"/>
                                            </p:txEl>
                                          </p:spTgt>
                                        </p:tgtEl>
                                        <p:attrNameLst>
                                          <p:attrName>style.visibility</p:attrName>
                                        </p:attrNameLst>
                                      </p:cBhvr>
                                      <p:to>
                                        <p:strVal val="visible"/>
                                      </p:to>
                                    </p:set>
                                    <p:animEffect transition="in" filter="fade">
                                      <p:cBhvr>
                                        <p:cTn id="58" dur="500"/>
                                        <p:tgtEl>
                                          <p:spTgt spid="17">
                                            <p:txEl>
                                              <p:pRg st="4" end="4"/>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7">
                                            <p:txEl>
                                              <p:pRg st="7" end="7"/>
                                            </p:txEl>
                                          </p:spTgt>
                                        </p:tgtEl>
                                        <p:attrNameLst>
                                          <p:attrName>style.visibility</p:attrName>
                                        </p:attrNameLst>
                                      </p:cBhvr>
                                      <p:to>
                                        <p:strVal val="visible"/>
                                      </p:to>
                                    </p:set>
                                    <p:animEffect transition="in" filter="fade">
                                      <p:cBhvr>
                                        <p:cTn id="61" dur="500"/>
                                        <p:tgtEl>
                                          <p:spTgt spid="17">
                                            <p:txEl>
                                              <p:pRg st="7" end="7"/>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7">
                                            <p:txEl>
                                              <p:pRg st="10" end="10"/>
                                            </p:txEl>
                                          </p:spTgt>
                                        </p:tgtEl>
                                        <p:attrNameLst>
                                          <p:attrName>style.visibility</p:attrName>
                                        </p:attrNameLst>
                                      </p:cBhvr>
                                      <p:to>
                                        <p:strVal val="visible"/>
                                      </p:to>
                                    </p:set>
                                    <p:animEffect transition="in" filter="fade">
                                      <p:cBhvr>
                                        <p:cTn id="64" dur="500"/>
                                        <p:tgtEl>
                                          <p:spTgt spid="17">
                                            <p:txEl>
                                              <p:pRg st="10" end="10"/>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7">
                                            <p:txEl>
                                              <p:pRg st="14" end="14"/>
                                            </p:txEl>
                                          </p:spTgt>
                                        </p:tgtEl>
                                        <p:attrNameLst>
                                          <p:attrName>style.visibility</p:attrName>
                                        </p:attrNameLst>
                                      </p:cBhvr>
                                      <p:to>
                                        <p:strVal val="visible"/>
                                      </p:to>
                                    </p:set>
                                    <p:animEffect transition="in" filter="fade">
                                      <p:cBhvr>
                                        <p:cTn id="67" dur="500"/>
                                        <p:tgtEl>
                                          <p:spTgt spid="17">
                                            <p:txEl>
                                              <p:pRg st="14"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4">
                                            <p:txEl>
                                              <p:pRg st="4" end="4"/>
                                            </p:txEl>
                                          </p:spTgt>
                                        </p:tgtEl>
                                        <p:attrNameLst>
                                          <p:attrName>style.visibility</p:attrName>
                                        </p:attrNameLst>
                                      </p:cBhvr>
                                      <p:to>
                                        <p:strVal val="visible"/>
                                      </p:to>
                                    </p:set>
                                    <p:animEffect transition="in" filter="fade">
                                      <p:cBhvr>
                                        <p:cTn id="72" dur="500"/>
                                        <p:tgtEl>
                                          <p:spTgt spid="14">
                                            <p:txEl>
                                              <p:pRg st="4" end="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build="p"/>
      <p:bldP spid="17" grpId="0" build="p"/>
      <p:bldP spid="3" grpId="0" animBg="1"/>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8273C06D-79BB-454E-8F13-364C060D9A72}"/>
              </a:ext>
            </a:extLst>
          </p:cNvPr>
          <p:cNvSpPr txBox="1"/>
          <p:nvPr/>
        </p:nvSpPr>
        <p:spPr>
          <a:xfrm>
            <a:off x="1828800" y="914400"/>
            <a:ext cx="32918400" cy="1905000"/>
          </a:xfrm>
          <a:prstGeom prst="rect">
            <a:avLst/>
          </a:prstGeom>
          <a:noFill/>
        </p:spPr>
        <p:txBody>
          <a:bodyPr vertOverflow="overflow" vert="horz" wrap="square" rtlCol="0" anchor="t">
            <a:noAutofit/>
          </a:bodyPr>
          <a:lstStyle/>
          <a:p>
            <a:pPr algn="l"/>
            <a:r>
              <a:rPr lang="en-US" sz="8800">
                <a:latin typeface="NVIDIA Sans Medium"/>
                <a:cs typeface="NVIDIA Sans Medium"/>
              </a:rPr>
              <a:t>This Problem is a Compiler Problem</a:t>
            </a:r>
          </a:p>
        </p:txBody>
      </p:sp>
      <p:sp>
        <p:nvSpPr>
          <p:cNvPr id="3" name="SubTx">
            <a:extLst>
              <a:ext uri="{FF2B5EF4-FFF2-40B4-BE49-F238E27FC236}">
                <a16:creationId xmlns:a16="http://schemas.microsoft.com/office/drawing/2014/main" id="{CD324E09-51B7-9445-9FF8-71483F2A3C3F}"/>
              </a:ext>
            </a:extLst>
          </p:cNvPr>
          <p:cNvSpPr txBox="1"/>
          <p:nvPr/>
        </p:nvSpPr>
        <p:spPr>
          <a:xfrm>
            <a:off x="1828800" y="3175000"/>
            <a:ext cx="32918400" cy="812800"/>
          </a:xfrm>
          <a:prstGeom prst="rect">
            <a:avLst/>
          </a:prstGeom>
          <a:noFill/>
        </p:spPr>
        <p:txBody>
          <a:bodyPr vertOverflow="overflow" vert="horz" wrap="square" rtlCol="0" anchor="t">
            <a:noAutofit/>
          </a:bodyPr>
          <a:lstStyle/>
          <a:p>
            <a:pPr algn="l">
              <a:lnSpc>
                <a:spcPts val="3600"/>
              </a:lnSpc>
              <a:buNone/>
            </a:pPr>
            <a:r>
              <a:rPr lang="en-US" sz="2800">
                <a:solidFill>
                  <a:srgbClr val="1A1A1A"/>
                </a:solidFill>
                <a:latin typeface="NVIDIA Sans"/>
                <a:cs typeface="NVIDIA Sans"/>
              </a:rPr>
              <a:t>Mem2Reg, also known as SSA construction: </a:t>
            </a:r>
            <a:r>
              <a:rPr lang="en-US" sz="2800">
                <a:solidFill>
                  <a:srgbClr val="313131"/>
                </a:solidFill>
                <a:latin typeface="NVIDIA Sans"/>
                <a:cs typeface="NVIDIA Sans"/>
              </a:rPr>
              <a:t>promote non-escaping stack slots into SSA values.</a:t>
            </a:r>
          </a:p>
        </p:txBody>
      </p:sp>
      <p:sp>
        <p:nvSpPr>
          <p:cNvPr id="4" name="Rule0">
            <a:extLst>
              <a:ext uri="{FF2B5EF4-FFF2-40B4-BE49-F238E27FC236}">
                <a16:creationId xmlns:a16="http://schemas.microsoft.com/office/drawing/2014/main" id="{E6E6CB62-F789-3648-8FAD-59A0B973EDB5}"/>
              </a:ext>
            </a:extLst>
          </p:cNvPr>
          <p:cNvSpPr/>
          <p:nvPr/>
        </p:nvSpPr>
        <p:spPr>
          <a:xfrm>
            <a:off x="1828800" y="4699000"/>
            <a:ext cx="16002000" cy="76200"/>
          </a:xfrm>
          <a:prstGeom prst="rect">
            <a:avLst/>
          </a:prstGeom>
          <a:solidFill>
            <a:srgbClr val="31313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Head0">
            <a:extLst>
              <a:ext uri="{FF2B5EF4-FFF2-40B4-BE49-F238E27FC236}">
                <a16:creationId xmlns:a16="http://schemas.microsoft.com/office/drawing/2014/main" id="{2F309D36-C77C-4947-8B06-8384DA5ACD13}"/>
              </a:ext>
            </a:extLst>
          </p:cNvPr>
          <p:cNvSpPr txBox="1"/>
          <p:nvPr/>
        </p:nvSpPr>
        <p:spPr>
          <a:xfrm>
            <a:off x="1828800" y="5080000"/>
            <a:ext cx="16002000" cy="609600"/>
          </a:xfrm>
          <a:prstGeom prst="rect">
            <a:avLst/>
          </a:prstGeom>
          <a:noFill/>
        </p:spPr>
        <p:txBody>
          <a:bodyPr vertOverflow="overflow" vert="horz" wrap="square" rtlCol="0" anchor="t">
            <a:noAutofit/>
          </a:bodyPr>
          <a:lstStyle/>
          <a:p>
            <a:pPr algn="l"/>
            <a:r>
              <a:rPr lang="en-US" sz="2800" b="1">
                <a:solidFill>
                  <a:srgbClr val="313131"/>
                </a:solidFill>
                <a:latin typeface="NVIDIA Sans"/>
                <a:cs typeface="NVIDIA Sans"/>
              </a:rPr>
              <a:t>BEFORE MEM2REG</a:t>
            </a:r>
          </a:p>
        </p:txBody>
      </p:sp>
      <p:sp>
        <p:nvSpPr>
          <p:cNvPr id="7" name="Note0">
            <a:extLst>
              <a:ext uri="{FF2B5EF4-FFF2-40B4-BE49-F238E27FC236}">
                <a16:creationId xmlns:a16="http://schemas.microsoft.com/office/drawing/2014/main" id="{F41C5E62-0D75-5B4E-8D69-8F3252C7C4D9}"/>
              </a:ext>
            </a:extLst>
          </p:cNvPr>
          <p:cNvSpPr txBox="1"/>
          <p:nvPr/>
        </p:nvSpPr>
        <p:spPr>
          <a:xfrm>
            <a:off x="1828800" y="10477500"/>
            <a:ext cx="16002000" cy="711200"/>
          </a:xfrm>
          <a:prstGeom prst="rect">
            <a:avLst/>
          </a:prstGeom>
          <a:noFill/>
        </p:spPr>
        <p:txBody>
          <a:bodyPr vertOverflow="overflow" vert="horz" wrap="square" rtlCol="0" anchor="t">
            <a:noAutofit/>
          </a:bodyPr>
          <a:lstStyle/>
          <a:p>
            <a:pPr algn="l"/>
            <a:r>
              <a:rPr lang="en-US" sz="2800">
                <a:latin typeface="NVIDIA Sans"/>
                <a:cs typeface="NVIDIA Sans"/>
              </a:rPr>
              <a:t>One slot in memory, with a store and a load on every trip.</a:t>
            </a:r>
          </a:p>
        </p:txBody>
      </p:sp>
      <p:sp>
        <p:nvSpPr>
          <p:cNvPr id="12" name="Rule2">
            <a:extLst>
              <a:ext uri="{FF2B5EF4-FFF2-40B4-BE49-F238E27FC236}">
                <a16:creationId xmlns:a16="http://schemas.microsoft.com/office/drawing/2014/main" id="{3E2FDA97-6B7C-564B-A6B3-FD9294638914}"/>
              </a:ext>
            </a:extLst>
          </p:cNvPr>
          <p:cNvSpPr/>
          <p:nvPr/>
        </p:nvSpPr>
        <p:spPr>
          <a:xfrm>
            <a:off x="18745200" y="4699000"/>
            <a:ext cx="160020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Head2">
            <a:extLst>
              <a:ext uri="{FF2B5EF4-FFF2-40B4-BE49-F238E27FC236}">
                <a16:creationId xmlns:a16="http://schemas.microsoft.com/office/drawing/2014/main" id="{8E205C45-6D4D-BA44-B0FD-6835E2464960}"/>
              </a:ext>
            </a:extLst>
          </p:cNvPr>
          <p:cNvSpPr txBox="1"/>
          <p:nvPr/>
        </p:nvSpPr>
        <p:spPr>
          <a:xfrm>
            <a:off x="18745200" y="5080000"/>
            <a:ext cx="16002000" cy="609600"/>
          </a:xfrm>
          <a:prstGeom prst="rect">
            <a:avLst/>
          </a:prstGeom>
          <a:noFill/>
        </p:spPr>
        <p:txBody>
          <a:bodyPr vertOverflow="overflow" vert="horz" wrap="square" rtlCol="0" anchor="t">
            <a:noAutofit/>
          </a:bodyPr>
          <a:lstStyle/>
          <a:p>
            <a:pPr algn="l"/>
            <a:r>
              <a:rPr lang="en-US" sz="2800" b="1">
                <a:solidFill>
                  <a:srgbClr val="76B900"/>
                </a:solidFill>
                <a:latin typeface="NVIDIA Sans"/>
                <a:cs typeface="NVIDIA Sans"/>
              </a:rPr>
              <a:t>AFTER MEM2REG</a:t>
            </a:r>
          </a:p>
        </p:txBody>
      </p:sp>
      <p:sp>
        <p:nvSpPr>
          <p:cNvPr id="19" name="Rounded Rectangle 18">
            <a:extLst>
              <a:ext uri="{FF2B5EF4-FFF2-40B4-BE49-F238E27FC236}">
                <a16:creationId xmlns:a16="http://schemas.microsoft.com/office/drawing/2014/main" id="{1DB749C6-E15C-8C4E-A9B7-9BADF22F495F}"/>
              </a:ext>
            </a:extLst>
          </p:cNvPr>
          <p:cNvSpPr/>
          <p:nvPr/>
        </p:nvSpPr>
        <p:spPr>
          <a:xfrm>
            <a:off x="1828800" y="8331200"/>
            <a:ext cx="3302000" cy="1219200"/>
          </a:xfrm>
          <a:prstGeom prst="roundRect">
            <a:avLst/>
          </a:prstGeom>
          <a:solidFill>
            <a:srgbClr val="FFFFFF"/>
          </a:solidFill>
          <a:ln w="38100" cap="flat" cmpd="sng" algn="ctr">
            <a:solidFill>
              <a:srgbClr val="31313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sz="2600" b="1">
                <a:solidFill>
                  <a:srgbClr val="1A1A1A"/>
                </a:solidFill>
                <a:latin typeface="Consolas"/>
                <a:cs typeface="Consolas"/>
              </a:rPr>
              <a:t>store 5</a:t>
            </a:r>
          </a:p>
        </p:txBody>
      </p:sp>
      <p:sp>
        <p:nvSpPr>
          <p:cNvPr id="20" name="Right Arrow 19">
            <a:extLst>
              <a:ext uri="{FF2B5EF4-FFF2-40B4-BE49-F238E27FC236}">
                <a16:creationId xmlns:a16="http://schemas.microsoft.com/office/drawing/2014/main" id="{63CEBAD9-0C13-9642-8E3F-37F9BC3F030F}"/>
              </a:ext>
            </a:extLst>
          </p:cNvPr>
          <p:cNvSpPr/>
          <p:nvPr/>
        </p:nvSpPr>
        <p:spPr>
          <a:xfrm>
            <a:off x="5384800" y="8712200"/>
            <a:ext cx="635000" cy="457200"/>
          </a:xfrm>
          <a:prstGeom prst="rightArrow">
            <a:avLst/>
          </a:prstGeom>
          <a:solidFill>
            <a:srgbClr val="767676"/>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ounded Rectangle 20">
            <a:extLst>
              <a:ext uri="{FF2B5EF4-FFF2-40B4-BE49-F238E27FC236}">
                <a16:creationId xmlns:a16="http://schemas.microsoft.com/office/drawing/2014/main" id="{D4114A06-573E-8249-B1AD-611E04180503}"/>
              </a:ext>
            </a:extLst>
          </p:cNvPr>
          <p:cNvSpPr/>
          <p:nvPr/>
        </p:nvSpPr>
        <p:spPr>
          <a:xfrm>
            <a:off x="6273800" y="8331200"/>
            <a:ext cx="3302000" cy="1219200"/>
          </a:xfrm>
          <a:prstGeom prst="roundRect">
            <a:avLst/>
          </a:prstGeom>
          <a:solidFill>
            <a:srgbClr val="EDEDED"/>
          </a:solidFill>
          <a:ln w="38100" cap="flat" cmpd="sng" algn="ctr">
            <a:solidFill>
              <a:srgbClr val="767676"/>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sz="2600" b="1">
                <a:solidFill>
                  <a:srgbClr val="1A1A1A"/>
                </a:solidFill>
                <a:latin typeface="Consolas"/>
                <a:cs typeface="Consolas"/>
              </a:rPr>
              <a:t>%i</a:t>
            </a:r>
          </a:p>
        </p:txBody>
      </p:sp>
      <p:sp>
        <p:nvSpPr>
          <p:cNvPr id="22" name="Right Arrow 21">
            <a:extLst>
              <a:ext uri="{FF2B5EF4-FFF2-40B4-BE49-F238E27FC236}">
                <a16:creationId xmlns:a16="http://schemas.microsoft.com/office/drawing/2014/main" id="{72832920-FBF9-3F4B-98F9-E317E717CF0F}"/>
              </a:ext>
            </a:extLst>
          </p:cNvPr>
          <p:cNvSpPr/>
          <p:nvPr/>
        </p:nvSpPr>
        <p:spPr>
          <a:xfrm>
            <a:off x="9829800" y="8712200"/>
            <a:ext cx="635000" cy="457200"/>
          </a:xfrm>
          <a:prstGeom prst="rightArrow">
            <a:avLst/>
          </a:prstGeom>
          <a:solidFill>
            <a:srgbClr val="767676"/>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ounded Rectangle 24">
            <a:extLst>
              <a:ext uri="{FF2B5EF4-FFF2-40B4-BE49-F238E27FC236}">
                <a16:creationId xmlns:a16="http://schemas.microsoft.com/office/drawing/2014/main" id="{026985ED-E362-C94C-BCEF-66BE1AAFC3FA}"/>
              </a:ext>
            </a:extLst>
          </p:cNvPr>
          <p:cNvSpPr/>
          <p:nvPr/>
        </p:nvSpPr>
        <p:spPr>
          <a:xfrm>
            <a:off x="10718800" y="8331200"/>
            <a:ext cx="3302000" cy="1219200"/>
          </a:xfrm>
          <a:prstGeom prst="roundRect">
            <a:avLst/>
          </a:prstGeom>
          <a:solidFill>
            <a:srgbClr val="FFFFFF"/>
          </a:solidFill>
          <a:ln w="38100" cap="flat" cmpd="sng" algn="ctr">
            <a:solidFill>
              <a:srgbClr val="313131"/>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sz="2600" b="1">
                <a:solidFill>
                  <a:srgbClr val="1A1A1A"/>
                </a:solidFill>
                <a:latin typeface="Consolas"/>
                <a:cs typeface="Consolas"/>
              </a:rPr>
              <a:t>5</a:t>
            </a:r>
          </a:p>
        </p:txBody>
      </p:sp>
      <p:sp>
        <p:nvSpPr>
          <p:cNvPr id="26" name="TextBox 25">
            <a:extLst>
              <a:ext uri="{FF2B5EF4-FFF2-40B4-BE49-F238E27FC236}">
                <a16:creationId xmlns:a16="http://schemas.microsoft.com/office/drawing/2014/main" id="{823BC292-AB71-5641-BDDD-F165B33791B0}"/>
              </a:ext>
            </a:extLst>
          </p:cNvPr>
          <p:cNvSpPr txBox="1"/>
          <p:nvPr/>
        </p:nvSpPr>
        <p:spPr>
          <a:xfrm>
            <a:off x="1828800" y="9652000"/>
            <a:ext cx="3302000" cy="558800"/>
          </a:xfrm>
          <a:prstGeom prst="rect">
            <a:avLst/>
          </a:prstGeom>
          <a:noFill/>
        </p:spPr>
        <p:txBody>
          <a:bodyPr vertOverflow="overflow" vert="horz" wrap="square" rtlCol="0" anchor="t">
            <a:noAutofit/>
          </a:bodyPr>
          <a:lstStyle/>
          <a:p>
            <a:pPr algn="ctr"/>
            <a:r>
              <a:rPr lang="en-US" sz="2400">
                <a:solidFill>
                  <a:srgbClr val="3A3A3A"/>
                </a:solidFill>
                <a:latin typeface="NVIDIA Sans"/>
                <a:cs typeface="NVIDIA Sans"/>
              </a:rPr>
              <a:t>write</a:t>
            </a:r>
          </a:p>
        </p:txBody>
      </p:sp>
      <p:sp>
        <p:nvSpPr>
          <p:cNvPr id="27" name="TextBox 26">
            <a:extLst>
              <a:ext uri="{FF2B5EF4-FFF2-40B4-BE49-F238E27FC236}">
                <a16:creationId xmlns:a16="http://schemas.microsoft.com/office/drawing/2014/main" id="{9C5A8929-1564-BB43-A8EA-3F4F833FA670}"/>
              </a:ext>
            </a:extLst>
          </p:cNvPr>
          <p:cNvSpPr txBox="1"/>
          <p:nvPr/>
        </p:nvSpPr>
        <p:spPr>
          <a:xfrm>
            <a:off x="6273800" y="9652000"/>
            <a:ext cx="3302000" cy="558800"/>
          </a:xfrm>
          <a:prstGeom prst="rect">
            <a:avLst/>
          </a:prstGeom>
          <a:noFill/>
        </p:spPr>
        <p:txBody>
          <a:bodyPr vertOverflow="overflow" vert="horz" wrap="square" rtlCol="0" anchor="t">
            <a:noAutofit/>
          </a:bodyPr>
          <a:lstStyle/>
          <a:p>
            <a:pPr algn="ctr"/>
            <a:r>
              <a:rPr lang="en-US" sz="2400">
                <a:solidFill>
                  <a:srgbClr val="3A3A3A"/>
                </a:solidFill>
                <a:latin typeface="NVIDIA Sans"/>
                <a:cs typeface="NVIDIA Sans"/>
              </a:rPr>
              <a:t>the slot</a:t>
            </a:r>
          </a:p>
        </p:txBody>
      </p:sp>
      <p:sp>
        <p:nvSpPr>
          <p:cNvPr id="29" name="TextBox 28">
            <a:extLst>
              <a:ext uri="{FF2B5EF4-FFF2-40B4-BE49-F238E27FC236}">
                <a16:creationId xmlns:a16="http://schemas.microsoft.com/office/drawing/2014/main" id="{F7D377A8-6CD2-D247-BA17-17F54419FD6F}"/>
              </a:ext>
            </a:extLst>
          </p:cNvPr>
          <p:cNvSpPr txBox="1"/>
          <p:nvPr/>
        </p:nvSpPr>
        <p:spPr>
          <a:xfrm>
            <a:off x="10718800" y="9652000"/>
            <a:ext cx="3302000" cy="558800"/>
          </a:xfrm>
          <a:prstGeom prst="rect">
            <a:avLst/>
          </a:prstGeom>
          <a:noFill/>
        </p:spPr>
        <p:txBody>
          <a:bodyPr vertOverflow="overflow" vert="horz" wrap="square" rtlCol="0" anchor="t">
            <a:noAutofit/>
          </a:bodyPr>
          <a:lstStyle/>
          <a:p>
            <a:pPr algn="ctr"/>
            <a:r>
              <a:rPr lang="en-US" sz="2400">
                <a:solidFill>
                  <a:srgbClr val="3A3A3A"/>
                </a:solidFill>
                <a:latin typeface="NVIDIA Sans"/>
                <a:cs typeface="NVIDIA Sans"/>
              </a:rPr>
              <a:t>value</a:t>
            </a:r>
          </a:p>
        </p:txBody>
      </p:sp>
      <p:sp>
        <p:nvSpPr>
          <p:cNvPr id="30" name="Rounded Rectangle 29">
            <a:extLst>
              <a:ext uri="{FF2B5EF4-FFF2-40B4-BE49-F238E27FC236}">
                <a16:creationId xmlns:a16="http://schemas.microsoft.com/office/drawing/2014/main" id="{2E934E1C-F61C-8948-BFFE-83DAA2BFD768}"/>
              </a:ext>
            </a:extLst>
          </p:cNvPr>
          <p:cNvSpPr/>
          <p:nvPr/>
        </p:nvSpPr>
        <p:spPr>
          <a:xfrm>
            <a:off x="27635200" y="8331200"/>
            <a:ext cx="3302000" cy="1219200"/>
          </a:xfrm>
          <a:prstGeom prst="roundRect">
            <a:avLst/>
          </a:prstGeom>
          <a:solidFill>
            <a:srgbClr val="EFF7E1"/>
          </a:solidFill>
          <a:ln w="38100" cap="flat" cmpd="sng" algn="ctr">
            <a:solidFill>
              <a:srgbClr val="76B9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n-US" sz="2600" b="1">
                <a:solidFill>
                  <a:srgbClr val="1A1A1A"/>
                </a:solidFill>
                <a:latin typeface="Consolas"/>
                <a:cs typeface="Consolas"/>
              </a:rPr>
              <a:t>5</a:t>
            </a:r>
          </a:p>
        </p:txBody>
      </p:sp>
      <p:sp>
        <p:nvSpPr>
          <p:cNvPr id="31" name="TextBox 30">
            <a:extLst>
              <a:ext uri="{FF2B5EF4-FFF2-40B4-BE49-F238E27FC236}">
                <a16:creationId xmlns:a16="http://schemas.microsoft.com/office/drawing/2014/main" id="{765DD55C-2AC5-154D-93A3-7CE5072FE8B9}"/>
              </a:ext>
            </a:extLst>
          </p:cNvPr>
          <p:cNvSpPr txBox="1"/>
          <p:nvPr/>
        </p:nvSpPr>
        <p:spPr>
          <a:xfrm>
            <a:off x="1828800" y="12090400"/>
            <a:ext cx="32918400" cy="558800"/>
          </a:xfrm>
          <a:prstGeom prst="rect">
            <a:avLst/>
          </a:prstGeom>
          <a:noFill/>
        </p:spPr>
        <p:txBody>
          <a:bodyPr vertOverflow="overflow" vert="horz" wrap="square" rtlCol="0" anchor="ctr" anchorCtr="0">
            <a:noAutofit/>
          </a:bodyPr>
          <a:lstStyle/>
          <a:p>
            <a:pPr algn="l">
              <a:buNone/>
            </a:pPr>
            <a:r>
              <a:rPr lang="en-US" sz="2800" b="1">
                <a:solidFill>
                  <a:srgbClr val="1A1A1A"/>
                </a:solidFill>
                <a:latin typeface="NVIDIA Sans"/>
                <a:cs typeface="NVIDIA Sans"/>
              </a:rPr>
              <a:t>WHY MEM2REG</a:t>
            </a:r>
          </a:p>
        </p:txBody>
      </p:sp>
      <p:sp>
        <p:nvSpPr>
          <p:cNvPr id="6" name="TextBox 5">
            <a:extLst>
              <a:ext uri="{FF2B5EF4-FFF2-40B4-BE49-F238E27FC236}">
                <a16:creationId xmlns:a16="http://schemas.microsoft.com/office/drawing/2014/main" id="{36C0BC4C-3760-DF46-9A6C-EFB553788232}"/>
              </a:ext>
            </a:extLst>
          </p:cNvPr>
          <p:cNvSpPr txBox="1"/>
          <p:nvPr/>
        </p:nvSpPr>
        <p:spPr>
          <a:xfrm>
            <a:off x="27635200" y="9652000"/>
            <a:ext cx="3302000" cy="558800"/>
          </a:xfrm>
          <a:prstGeom prst="rect">
            <a:avLst/>
          </a:prstGeom>
          <a:noFill/>
        </p:spPr>
        <p:txBody>
          <a:bodyPr vertOverflow="overflow" vert="horz" wrap="square" rtlCol="0" anchor="t">
            <a:noAutofit/>
          </a:bodyPr>
          <a:lstStyle/>
          <a:p>
            <a:pPr algn="ctr"/>
            <a:r>
              <a:rPr lang="en-US" sz="2400">
                <a:solidFill>
                  <a:srgbClr val="3A3A3A"/>
                </a:solidFill>
                <a:latin typeface="NVIDIA Sans"/>
                <a:cs typeface="NVIDIA Sans"/>
              </a:rPr>
              <a:t>direct value</a:t>
            </a:r>
          </a:p>
        </p:txBody>
      </p:sp>
      <p:sp>
        <p:nvSpPr>
          <p:cNvPr id="9" name="TextBox 8">
            <a:extLst>
              <a:ext uri="{FF2B5EF4-FFF2-40B4-BE49-F238E27FC236}">
                <a16:creationId xmlns:a16="http://schemas.microsoft.com/office/drawing/2014/main" id="{724E6018-AED3-F047-86AD-EC1AF22E4C08}"/>
              </a:ext>
            </a:extLst>
          </p:cNvPr>
          <p:cNvSpPr txBox="1"/>
          <p:nvPr/>
        </p:nvSpPr>
        <p:spPr>
          <a:xfrm>
            <a:off x="1828800" y="5842000"/>
            <a:ext cx="16002000" cy="2159000"/>
          </a:xfrm>
          <a:prstGeom prst="rect">
            <a:avLst/>
          </a:prstGeom>
          <a:noFill/>
        </p:spPr>
        <p:txBody>
          <a:bodyPr vertOverflow="overflow" vert="horz" wrap="none" rtlCol="0" anchor="t">
            <a:noAutofit/>
          </a:bodyPr>
          <a:lstStyle/>
          <a:p>
            <a:pPr algn="l">
              <a:lnSpc>
                <a:spcPts val="4000"/>
              </a:lnSpc>
              <a:buNone/>
            </a:pPr>
            <a:r>
              <a:rPr lang="en-US" sz="3000" b="1">
                <a:solidFill>
                  <a:srgbClr val="D22B2B"/>
                </a:solidFill>
                <a:latin typeface="Consolas"/>
                <a:cs typeface="Consolas"/>
              </a:rPr>
              <a:t>%i</a:t>
            </a:r>
            <a:r>
              <a:rPr lang="en-US" sz="3000">
                <a:solidFill>
                  <a:srgbClr val="1A1A1A"/>
                </a:solidFill>
                <a:latin typeface="Consolas"/>
                <a:cs typeface="Consolas"/>
              </a:rPr>
              <a:t> = </a:t>
            </a:r>
            <a:r>
              <a:rPr lang="en-US" sz="3000" b="1">
                <a:solidFill>
                  <a:srgbClr val="D22B2B"/>
                </a:solidFill>
                <a:latin typeface="Consolas"/>
                <a:cs typeface="Consolas"/>
              </a:rPr>
              <a:t>alloca i32</a:t>
            </a:r>
            <a:r>
              <a:rPr lang="en-US" sz="3000">
                <a:solidFill>
                  <a:srgbClr val="6E6E6E"/>
                </a:solidFill>
                <a:latin typeface="Consolas"/>
                <a:cs typeface="Consolas"/>
              </a:rPr>
              <a:t>        ; the slot</a:t>
            </a:r>
          </a:p>
          <a:p>
            <a:pPr algn="l">
              <a:lnSpc>
                <a:spcPts val="4000"/>
              </a:lnSpc>
              <a:buNone/>
            </a:pPr>
            <a:r>
              <a:rPr lang="en-US" sz="3000" b="1">
                <a:solidFill>
                  <a:srgbClr val="D22B2B"/>
                </a:solidFill>
                <a:latin typeface="Consolas"/>
                <a:cs typeface="Consolas"/>
              </a:rPr>
              <a:t>store</a:t>
            </a:r>
            <a:r>
              <a:rPr lang="en-US" sz="3000">
                <a:solidFill>
                  <a:srgbClr val="1A1A1A"/>
                </a:solidFill>
                <a:latin typeface="Consolas"/>
                <a:cs typeface="Consolas"/>
              </a:rPr>
              <a:t> i32 5, ptr </a:t>
            </a:r>
            <a:r>
              <a:rPr lang="en-US" sz="3000" b="1">
                <a:solidFill>
                  <a:srgbClr val="D22B2B"/>
                </a:solidFill>
                <a:latin typeface="Consolas"/>
                <a:cs typeface="Consolas"/>
              </a:rPr>
              <a:t>%i</a:t>
            </a:r>
            <a:r>
              <a:rPr lang="en-US" sz="3000">
                <a:solidFill>
                  <a:srgbClr val="6E6E6E"/>
                </a:solidFill>
                <a:latin typeface="Consolas"/>
                <a:cs typeface="Consolas"/>
              </a:rPr>
              <a:t>     ; write into it</a:t>
            </a:r>
          </a:p>
          <a:p>
            <a:pPr algn="l">
              <a:lnSpc>
                <a:spcPts val="4000"/>
              </a:lnSpc>
              <a:buNone/>
            </a:pPr>
            <a:r>
              <a:rPr lang="en-US" sz="3000">
                <a:solidFill>
                  <a:srgbClr val="1A1A1A"/>
                </a:solidFill>
                <a:latin typeface="Consolas"/>
                <a:cs typeface="Consolas"/>
              </a:rPr>
              <a:t>%v = </a:t>
            </a:r>
            <a:r>
              <a:rPr lang="en-US" sz="3000" b="1">
                <a:solidFill>
                  <a:srgbClr val="D22B2B"/>
                </a:solidFill>
                <a:latin typeface="Consolas"/>
                <a:cs typeface="Consolas"/>
              </a:rPr>
              <a:t>load</a:t>
            </a:r>
            <a:r>
              <a:rPr lang="en-US" sz="3000">
                <a:solidFill>
                  <a:srgbClr val="1A1A1A"/>
                </a:solidFill>
                <a:latin typeface="Consolas"/>
                <a:cs typeface="Consolas"/>
              </a:rPr>
              <a:t> i32, ptr </a:t>
            </a:r>
            <a:r>
              <a:rPr lang="en-US" sz="3000" b="1">
                <a:solidFill>
                  <a:srgbClr val="D22B2B"/>
                </a:solidFill>
                <a:latin typeface="Consolas"/>
                <a:cs typeface="Consolas"/>
              </a:rPr>
              <a:t>%i</a:t>
            </a:r>
            <a:r>
              <a:rPr lang="en-US" sz="3000">
                <a:solidFill>
                  <a:srgbClr val="6E6E6E"/>
                </a:solidFill>
                <a:latin typeface="Consolas"/>
                <a:cs typeface="Consolas"/>
              </a:rPr>
              <a:t>  ; read it back</a:t>
            </a:r>
          </a:p>
          <a:p>
            <a:pPr algn="l">
              <a:lnSpc>
                <a:spcPts val="4000"/>
              </a:lnSpc>
              <a:buNone/>
            </a:pPr>
            <a:r>
              <a:rPr lang="en-US" sz="3000">
                <a:solidFill>
                  <a:srgbClr val="1A1A1A"/>
                </a:solidFill>
                <a:latin typeface="Consolas"/>
                <a:cs typeface="Consolas"/>
              </a:rPr>
              <a:t>use(%v)</a:t>
            </a:r>
          </a:p>
        </p:txBody>
      </p:sp>
      <p:sp>
        <p:nvSpPr>
          <p:cNvPr id="10" name="TextBox 9">
            <a:extLst>
              <a:ext uri="{FF2B5EF4-FFF2-40B4-BE49-F238E27FC236}">
                <a16:creationId xmlns:a16="http://schemas.microsoft.com/office/drawing/2014/main" id="{1F73C121-AE9A-DF41-BE1B-36AE595B8BF5}"/>
              </a:ext>
            </a:extLst>
          </p:cNvPr>
          <p:cNvSpPr txBox="1"/>
          <p:nvPr/>
        </p:nvSpPr>
        <p:spPr>
          <a:xfrm>
            <a:off x="18745200" y="5842000"/>
            <a:ext cx="16002000" cy="1143000"/>
          </a:xfrm>
          <a:prstGeom prst="rect">
            <a:avLst/>
          </a:prstGeom>
          <a:noFill/>
        </p:spPr>
        <p:txBody>
          <a:bodyPr vertOverflow="overflow" vert="horz" wrap="none" rtlCol="0" anchor="t">
            <a:noAutofit/>
          </a:bodyPr>
          <a:lstStyle/>
          <a:p>
            <a:pPr algn="l">
              <a:lnSpc>
                <a:spcPts val="4000"/>
              </a:lnSpc>
              <a:buNone/>
            </a:pPr>
            <a:r>
              <a:rPr lang="en-US" sz="3000">
                <a:solidFill>
                  <a:srgbClr val="6E6E6E"/>
                </a:solidFill>
                <a:latin typeface="Consolas"/>
                <a:cs typeface="Consolas"/>
              </a:rPr>
              <a:t>; no alloca, no store, no load</a:t>
            </a:r>
          </a:p>
          <a:p>
            <a:pPr algn="l">
              <a:lnSpc>
                <a:spcPts val="4000"/>
              </a:lnSpc>
              <a:buNone/>
            </a:pPr>
            <a:r>
              <a:rPr lang="en-US" sz="3000">
                <a:solidFill>
                  <a:srgbClr val="1A1A1A"/>
                </a:solidFill>
                <a:latin typeface="Consolas"/>
                <a:cs typeface="Consolas"/>
              </a:rPr>
              <a:t>use(</a:t>
            </a:r>
            <a:r>
              <a:rPr lang="en-US" sz="3000" b="1">
                <a:solidFill>
                  <a:srgbClr val="5A8F00"/>
                </a:solidFill>
                <a:latin typeface="Consolas"/>
                <a:cs typeface="Consolas"/>
              </a:rPr>
              <a:t>5</a:t>
            </a:r>
            <a:r>
              <a:rPr lang="en-US" sz="3000">
                <a:solidFill>
                  <a:srgbClr val="1A1A1A"/>
                </a:solidFill>
                <a:latin typeface="Consolas"/>
                <a:cs typeface="Consolas"/>
              </a:rPr>
              <a:t>)</a:t>
            </a:r>
          </a:p>
        </p:txBody>
      </p:sp>
      <p:sp>
        <p:nvSpPr>
          <p:cNvPr id="11" name="TextBox 10">
            <a:extLst>
              <a:ext uri="{FF2B5EF4-FFF2-40B4-BE49-F238E27FC236}">
                <a16:creationId xmlns:a16="http://schemas.microsoft.com/office/drawing/2014/main" id="{70BEB90A-549F-D449-9F00-F76B7683828D}"/>
              </a:ext>
            </a:extLst>
          </p:cNvPr>
          <p:cNvSpPr txBox="1"/>
          <p:nvPr/>
        </p:nvSpPr>
        <p:spPr>
          <a:xfrm>
            <a:off x="1828800" y="12801600"/>
            <a:ext cx="10414000" cy="762000"/>
          </a:xfrm>
          <a:prstGeom prst="rect">
            <a:avLst/>
          </a:prstGeom>
          <a:noFill/>
        </p:spPr>
        <p:txBody>
          <a:bodyPr vertOverflow="overflow" vert="horz" wrap="square" rtlCol="0" anchor="t">
            <a:noAutofit/>
          </a:bodyPr>
          <a:lstStyle/>
          <a:p>
            <a:pPr algn="l">
              <a:buNone/>
            </a:pPr>
            <a:r>
              <a:rPr lang="en-US" sz="2600" b="1">
                <a:solidFill>
                  <a:srgbClr val="76B900"/>
                </a:solidFill>
                <a:latin typeface="NVIDIA Sans"/>
                <a:cs typeface="NVIDIA Sans"/>
              </a:rPr>
              <a:t>01   </a:t>
            </a:r>
            <a:r>
              <a:rPr lang="en-US" sz="2600">
                <a:solidFill>
                  <a:srgbClr val="313131"/>
                </a:solidFill>
                <a:latin typeface="NVIDIA Sans"/>
                <a:cs typeface="NVIDIA Sans"/>
              </a:rPr>
              <a:t>Write programs without caring about SSA</a:t>
            </a:r>
          </a:p>
        </p:txBody>
      </p:sp>
      <p:sp>
        <p:nvSpPr>
          <p:cNvPr id="15" name="TextBox 14">
            <a:extLst>
              <a:ext uri="{FF2B5EF4-FFF2-40B4-BE49-F238E27FC236}">
                <a16:creationId xmlns:a16="http://schemas.microsoft.com/office/drawing/2014/main" id="{7A933885-0C4D-5542-AB24-F4072F1E9545}"/>
              </a:ext>
            </a:extLst>
          </p:cNvPr>
          <p:cNvSpPr txBox="1"/>
          <p:nvPr/>
        </p:nvSpPr>
        <p:spPr>
          <a:xfrm>
            <a:off x="12801600" y="12801600"/>
            <a:ext cx="10972800" cy="762000"/>
          </a:xfrm>
          <a:prstGeom prst="rect">
            <a:avLst/>
          </a:prstGeom>
          <a:noFill/>
        </p:spPr>
        <p:txBody>
          <a:bodyPr vertOverflow="overflow" vert="horz" wrap="square" rtlCol="0" anchor="t">
            <a:noAutofit/>
          </a:bodyPr>
          <a:lstStyle/>
          <a:p>
            <a:pPr algn="l">
              <a:buNone/>
            </a:pPr>
            <a:r>
              <a:rPr lang="en-US" sz="2600" b="1">
                <a:solidFill>
                  <a:srgbClr val="76B900"/>
                </a:solidFill>
                <a:latin typeface="NVIDIA Sans"/>
                <a:cs typeface="NVIDIA Sans"/>
              </a:rPr>
              <a:t>02   </a:t>
            </a:r>
            <a:r>
              <a:rPr lang="en-US" sz="2600">
                <a:solidFill>
                  <a:srgbClr val="313131"/>
                </a:solidFill>
                <a:latin typeface="NVIDIA Sans"/>
                <a:cs typeface="NVIDIA Sans"/>
              </a:rPr>
              <a:t>Simplify program structures for analysis and optimization</a:t>
            </a:r>
          </a:p>
        </p:txBody>
      </p:sp>
      <p:sp>
        <p:nvSpPr>
          <p:cNvPr id="8" name="Rectangle 7">
            <a:extLst>
              <a:ext uri="{FF2B5EF4-FFF2-40B4-BE49-F238E27FC236}">
                <a16:creationId xmlns:a16="http://schemas.microsoft.com/office/drawing/2014/main" id="{96194F32-09EE-6E4F-B89C-DF401E8C9E21}"/>
              </a:ext>
            </a:extLst>
          </p:cNvPr>
          <p:cNvSpPr/>
          <p:nvPr/>
        </p:nvSpPr>
        <p:spPr>
          <a:xfrm>
            <a:off x="1828800" y="14351000"/>
            <a:ext cx="32918400" cy="50800"/>
          </a:xfrm>
          <a:prstGeom prst="rect">
            <a:avLst/>
          </a:prstGeom>
          <a:solidFill>
            <a:srgbClr val="31313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701D3CD8-D307-1A43-906B-0D918490BEC0}"/>
              </a:ext>
            </a:extLst>
          </p:cNvPr>
          <p:cNvSpPr/>
          <p:nvPr/>
        </p:nvSpPr>
        <p:spPr>
          <a:xfrm>
            <a:off x="1828800" y="16281400"/>
            <a:ext cx="32918400" cy="25400"/>
          </a:xfrm>
          <a:prstGeom prst="rect">
            <a:avLst/>
          </a:prstGeom>
          <a:solidFill>
            <a:srgbClr val="C8C8C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9C0A6E9F-7B85-194E-A900-AAE72AD095FB}"/>
              </a:ext>
            </a:extLst>
          </p:cNvPr>
          <p:cNvSpPr/>
          <p:nvPr/>
        </p:nvSpPr>
        <p:spPr>
          <a:xfrm>
            <a:off x="1828800" y="17246600"/>
            <a:ext cx="32918400" cy="25400"/>
          </a:xfrm>
          <a:prstGeom prst="rect">
            <a:avLst/>
          </a:prstGeom>
          <a:solidFill>
            <a:srgbClr val="C8C8C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468D3867-CF0B-8C41-9687-0576ECB50C20}"/>
              </a:ext>
            </a:extLst>
          </p:cNvPr>
          <p:cNvSpPr/>
          <p:nvPr/>
        </p:nvSpPr>
        <p:spPr>
          <a:xfrm>
            <a:off x="1828800" y="11811000"/>
            <a:ext cx="32918400" cy="50800"/>
          </a:xfrm>
          <a:prstGeom prst="rect">
            <a:avLst/>
          </a:prstGeom>
          <a:solidFill>
            <a:srgbClr val="31313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294014D7-753B-8842-9DD0-5740545573BD}"/>
              </a:ext>
            </a:extLst>
          </p:cNvPr>
          <p:cNvSpPr txBox="1"/>
          <p:nvPr/>
        </p:nvSpPr>
        <p:spPr>
          <a:xfrm>
            <a:off x="1828800" y="14681200"/>
            <a:ext cx="16002000" cy="609600"/>
          </a:xfrm>
          <a:prstGeom prst="rect">
            <a:avLst/>
          </a:prstGeom>
          <a:noFill/>
        </p:spPr>
        <p:txBody>
          <a:bodyPr vertOverflow="overflow" vert="horz" wrap="none" rtlCol="0" anchor="t">
            <a:noAutofit/>
          </a:bodyPr>
          <a:lstStyle/>
          <a:p>
            <a:pPr algn="l">
              <a:buNone/>
            </a:pPr>
            <a:r>
              <a:rPr lang="en-US" sz="2400" b="1">
                <a:solidFill>
                  <a:srgbClr val="313131"/>
                </a:solidFill>
                <a:latin typeface="NVIDIA Sans"/>
                <a:cs typeface="NVIDIA Sans"/>
              </a:rPr>
              <a:t>IN A C COMPILER, UNDER MEM2REG</a:t>
            </a:r>
          </a:p>
        </p:txBody>
      </p:sp>
      <p:sp>
        <p:nvSpPr>
          <p:cNvPr id="28" name="TextBox 27">
            <a:extLst>
              <a:ext uri="{FF2B5EF4-FFF2-40B4-BE49-F238E27FC236}">
                <a16:creationId xmlns:a16="http://schemas.microsoft.com/office/drawing/2014/main" id="{63942C63-F2B3-C749-B841-C138940662D3}"/>
              </a:ext>
            </a:extLst>
          </p:cNvPr>
          <p:cNvSpPr txBox="1"/>
          <p:nvPr/>
        </p:nvSpPr>
        <p:spPr>
          <a:xfrm>
            <a:off x="18745200" y="14681200"/>
            <a:ext cx="16002000" cy="609600"/>
          </a:xfrm>
          <a:prstGeom prst="rect">
            <a:avLst/>
          </a:prstGeom>
          <a:noFill/>
        </p:spPr>
        <p:txBody>
          <a:bodyPr vertOverflow="overflow" vert="horz" wrap="none" rtlCol="0" anchor="t">
            <a:noAutofit/>
          </a:bodyPr>
          <a:lstStyle/>
          <a:p>
            <a:pPr algn="l">
              <a:buNone/>
            </a:pPr>
            <a:r>
              <a:rPr lang="en-US" sz="2400" b="1">
                <a:solidFill>
                  <a:srgbClr val="76B900"/>
                </a:solidFill>
                <a:latin typeface="NVIDIA Sans"/>
                <a:cs typeface="NVIDIA Sans"/>
              </a:rPr>
              <a:t>IN DKGDSL V2, UNDER THE SAME PASS</a:t>
            </a:r>
          </a:p>
        </p:txBody>
      </p:sp>
      <p:sp>
        <p:nvSpPr>
          <p:cNvPr id="32" name="TextBox 31">
            <a:extLst>
              <a:ext uri="{FF2B5EF4-FFF2-40B4-BE49-F238E27FC236}">
                <a16:creationId xmlns:a16="http://schemas.microsoft.com/office/drawing/2014/main" id="{1F01CA07-A2EE-294D-A9E2-5E650321ADAE}"/>
              </a:ext>
            </a:extLst>
          </p:cNvPr>
          <p:cNvSpPr txBox="1"/>
          <p:nvPr/>
        </p:nvSpPr>
        <p:spPr>
          <a:xfrm>
            <a:off x="1828800" y="15443200"/>
            <a:ext cx="16002000" cy="762000"/>
          </a:xfrm>
          <a:prstGeom prst="rect">
            <a:avLst/>
          </a:prstGeom>
          <a:noFill/>
        </p:spPr>
        <p:txBody>
          <a:bodyPr vertOverflow="overflow" vert="horz" wrap="none" rtlCol="0" anchor="t">
            <a:noAutofit/>
          </a:bodyPr>
          <a:lstStyle/>
          <a:p>
            <a:pPr algn="l">
              <a:buNone/>
            </a:pPr>
            <a:r>
              <a:rPr lang="en-US" sz="2600">
                <a:solidFill>
                  <a:srgbClr val="1A1A1A"/>
                </a:solidFill>
                <a:latin typeface="Consolas"/>
                <a:cs typeface="Consolas"/>
              </a:rPr>
              <a:t>alloca, one slot per variable</a:t>
            </a:r>
          </a:p>
        </p:txBody>
      </p:sp>
      <p:sp>
        <p:nvSpPr>
          <p:cNvPr id="33" name="TextBox 32">
            <a:extLst>
              <a:ext uri="{FF2B5EF4-FFF2-40B4-BE49-F238E27FC236}">
                <a16:creationId xmlns:a16="http://schemas.microsoft.com/office/drawing/2014/main" id="{07325040-927F-4941-B56C-B43C7A159EA9}"/>
              </a:ext>
            </a:extLst>
          </p:cNvPr>
          <p:cNvSpPr txBox="1"/>
          <p:nvPr/>
        </p:nvSpPr>
        <p:spPr>
          <a:xfrm>
            <a:off x="18745200" y="15443200"/>
            <a:ext cx="16002000" cy="762000"/>
          </a:xfrm>
          <a:prstGeom prst="rect">
            <a:avLst/>
          </a:prstGeom>
          <a:noFill/>
        </p:spPr>
        <p:txBody>
          <a:bodyPr vertOverflow="overflow" vert="horz" wrap="none" rtlCol="0" anchor="t">
            <a:noAutofit/>
          </a:bodyPr>
          <a:lstStyle/>
          <a:p>
            <a:pPr algn="l">
              <a:buNone/>
            </a:pPr>
            <a:r>
              <a:rPr lang="en-US" sz="2600">
                <a:solidFill>
                  <a:srgbClr val="1A1A1A"/>
                </a:solidFill>
                <a:latin typeface="Consolas"/>
                <a:cs typeface="Consolas"/>
              </a:rPr>
              <a:t>pyir.ref, one cell per place</a:t>
            </a:r>
          </a:p>
        </p:txBody>
      </p:sp>
      <p:sp>
        <p:nvSpPr>
          <p:cNvPr id="34" name="TextBox 33">
            <a:extLst>
              <a:ext uri="{FF2B5EF4-FFF2-40B4-BE49-F238E27FC236}">
                <a16:creationId xmlns:a16="http://schemas.microsoft.com/office/drawing/2014/main" id="{4F8CD6D8-6849-684E-BCA9-980BD3800F27}"/>
              </a:ext>
            </a:extLst>
          </p:cNvPr>
          <p:cNvSpPr txBox="1"/>
          <p:nvPr/>
        </p:nvSpPr>
        <p:spPr>
          <a:xfrm>
            <a:off x="1828800" y="16408400"/>
            <a:ext cx="16002000" cy="762000"/>
          </a:xfrm>
          <a:prstGeom prst="rect">
            <a:avLst/>
          </a:prstGeom>
          <a:noFill/>
        </p:spPr>
        <p:txBody>
          <a:bodyPr vertOverflow="overflow" vert="horz" wrap="none" rtlCol="0" anchor="t">
            <a:noAutofit/>
          </a:bodyPr>
          <a:lstStyle/>
          <a:p>
            <a:pPr algn="l">
              <a:buNone/>
            </a:pPr>
            <a:r>
              <a:rPr lang="en-US" sz="2600">
                <a:solidFill>
                  <a:srgbClr val="1A1A1A"/>
                </a:solidFill>
                <a:latin typeface="Consolas"/>
                <a:cs typeface="Consolas"/>
              </a:rPr>
              <a:t>load and store on every access</a:t>
            </a:r>
          </a:p>
        </p:txBody>
      </p:sp>
      <p:sp>
        <p:nvSpPr>
          <p:cNvPr id="35" name="TextBox 34">
            <a:extLst>
              <a:ext uri="{FF2B5EF4-FFF2-40B4-BE49-F238E27FC236}">
                <a16:creationId xmlns:a16="http://schemas.microsoft.com/office/drawing/2014/main" id="{35B3D8A3-DF0E-F248-8E6F-5E61C4049E91}"/>
              </a:ext>
            </a:extLst>
          </p:cNvPr>
          <p:cNvSpPr txBox="1"/>
          <p:nvPr/>
        </p:nvSpPr>
        <p:spPr>
          <a:xfrm>
            <a:off x="18745200" y="16408400"/>
            <a:ext cx="16002000" cy="762000"/>
          </a:xfrm>
          <a:prstGeom prst="rect">
            <a:avLst/>
          </a:prstGeom>
          <a:noFill/>
        </p:spPr>
        <p:txBody>
          <a:bodyPr vertOverflow="overflow" vert="horz" wrap="none" rtlCol="0" anchor="t">
            <a:noAutofit/>
          </a:bodyPr>
          <a:lstStyle/>
          <a:p>
            <a:pPr algn="l">
              <a:buNone/>
            </a:pPr>
            <a:r>
              <a:rPr lang="en-US" sz="2600">
                <a:solidFill>
                  <a:srgbClr val="1A1A1A"/>
                </a:solidFill>
                <a:latin typeface="Consolas"/>
                <a:cs typeface="Consolas"/>
              </a:rPr>
              <a:t>pyir.load and pyir.store, the same</a:t>
            </a:r>
          </a:p>
        </p:txBody>
      </p:sp>
      <p:sp>
        <p:nvSpPr>
          <p:cNvPr id="36" name="TextBox 35">
            <a:extLst>
              <a:ext uri="{FF2B5EF4-FFF2-40B4-BE49-F238E27FC236}">
                <a16:creationId xmlns:a16="http://schemas.microsoft.com/office/drawing/2014/main" id="{F150412D-C067-C347-A5E0-0A2608B2B0BE}"/>
              </a:ext>
            </a:extLst>
          </p:cNvPr>
          <p:cNvSpPr txBox="1"/>
          <p:nvPr/>
        </p:nvSpPr>
        <p:spPr>
          <a:xfrm>
            <a:off x="1828800" y="17373600"/>
            <a:ext cx="16002000" cy="762000"/>
          </a:xfrm>
          <a:prstGeom prst="rect">
            <a:avLst/>
          </a:prstGeom>
          <a:noFill/>
        </p:spPr>
        <p:txBody>
          <a:bodyPr vertOverflow="overflow" vert="horz" wrap="none" rtlCol="0" anchor="t">
            <a:noAutofit/>
          </a:bodyPr>
          <a:lstStyle/>
          <a:p>
            <a:pPr algn="l">
              <a:buNone/>
            </a:pPr>
            <a:r>
              <a:rPr lang="en-US" sz="2600">
                <a:solidFill>
                  <a:srgbClr val="1A1A1A"/>
                </a:solidFill>
                <a:latin typeface="Consolas"/>
                <a:cs typeface="Consolas"/>
              </a:rPr>
              <a:t>phi node, whichever value the edge carried</a:t>
            </a:r>
          </a:p>
        </p:txBody>
      </p:sp>
      <p:sp>
        <p:nvSpPr>
          <p:cNvPr id="37" name="TextBox 36">
            <a:extLst>
              <a:ext uri="{FF2B5EF4-FFF2-40B4-BE49-F238E27FC236}">
                <a16:creationId xmlns:a16="http://schemas.microsoft.com/office/drawing/2014/main" id="{AD3BC0AE-9B7C-5E46-ACA3-9A17F6486E1D}"/>
              </a:ext>
            </a:extLst>
          </p:cNvPr>
          <p:cNvSpPr txBox="1"/>
          <p:nvPr/>
        </p:nvSpPr>
        <p:spPr>
          <a:xfrm>
            <a:off x="18745200" y="17373600"/>
            <a:ext cx="16002000" cy="762000"/>
          </a:xfrm>
          <a:prstGeom prst="rect">
            <a:avLst/>
          </a:prstGeom>
          <a:noFill/>
        </p:spPr>
        <p:txBody>
          <a:bodyPr vertOverflow="overflow" vert="horz" wrap="none" rtlCol="0" anchor="t">
            <a:noAutofit/>
          </a:bodyPr>
          <a:lstStyle/>
          <a:p>
            <a:pPr algn="l">
              <a:buNone/>
            </a:pPr>
            <a:r>
              <a:rPr lang="en-US" sz="2600">
                <a:solidFill>
                  <a:srgbClr val="1A1A1A"/>
                </a:solidFill>
                <a:latin typeface="Consolas"/>
                <a:cs typeface="Consolas"/>
              </a:rPr>
              <a:t>iter_args, how this IR spells a phi node</a:t>
            </a:r>
          </a:p>
        </p:txBody>
      </p:sp>
      <p:sp>
        <p:nvSpPr>
          <p:cNvPr id="16" name="TextBox 15">
            <a:extLst>
              <a:ext uri="{FF2B5EF4-FFF2-40B4-BE49-F238E27FC236}">
                <a16:creationId xmlns:a16="http://schemas.microsoft.com/office/drawing/2014/main" id="{E8A94883-F3AE-8645-81C2-7DABA1DE129A}"/>
              </a:ext>
            </a:extLst>
          </p:cNvPr>
          <p:cNvSpPr txBox="1"/>
          <p:nvPr/>
        </p:nvSpPr>
        <p:spPr>
          <a:xfrm>
            <a:off x="18745200" y="10477500"/>
            <a:ext cx="16002000" cy="711200"/>
          </a:xfrm>
          <a:prstGeom prst="rect">
            <a:avLst/>
          </a:prstGeom>
          <a:noFill/>
        </p:spPr>
        <p:txBody>
          <a:bodyPr vertOverflow="overflow" vert="horz" wrap="square" rtlCol="0" anchor="t">
            <a:noAutofit/>
          </a:bodyPr>
          <a:lstStyle/>
          <a:p>
            <a:pPr algn="l"/>
            <a:r>
              <a:rPr lang="en-US" sz="2800">
                <a:solidFill>
                  <a:srgbClr val="313131"/>
                </a:solidFill>
                <a:latin typeface="NVIDIA Sans"/>
                <a:cs typeface="NVIDIA Sans"/>
              </a:rPr>
              <a:t>No slot: the value is carried in a register.</a:t>
            </a:r>
          </a:p>
        </p:txBody>
      </p:sp>
    </p:spTree>
    <p:extLst>
      <p:ext uri="{BB962C8B-B14F-4D97-AF65-F5344CB8AC3E}">
        <p14:creationId xmlns:p14="http://schemas.microsoft.com/office/powerpoint/2010/main" val="1304465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4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P spid="12" grpId="0" animBg="1"/>
      <p:bldP spid="13" grpId="0"/>
      <p:bldP spid="19" grpId="0" animBg="1"/>
      <p:bldP spid="20" grpId="0" animBg="1"/>
      <p:bldP spid="21" grpId="0" animBg="1"/>
      <p:bldP spid="22" grpId="0" animBg="1"/>
      <p:bldP spid="25" grpId="0" animBg="1"/>
      <p:bldP spid="26" grpId="0"/>
      <p:bldP spid="27" grpId="0"/>
      <p:bldP spid="29" grpId="0"/>
      <p:bldP spid="30" grpId="0" animBg="1"/>
      <p:bldP spid="31" grpId="0"/>
      <p:bldP spid="6" grpId="0"/>
      <p:bldP spid="9" grpId="0"/>
      <p:bldP spid="10" grpId="0"/>
      <p:bldP spid="11" grpId="0"/>
      <p:bldP spid="15" grpId="0"/>
      <p:bldP spid="8" grpId="0" animBg="1"/>
      <p:bldP spid="17" grpId="0" animBg="1"/>
      <p:bldP spid="18" grpId="0" animBg="1"/>
      <p:bldP spid="23" grpId="0" animBg="1"/>
      <p:bldP spid="24" grpId="0"/>
      <p:bldP spid="28" grpId="0"/>
      <p:bldP spid="32" grpId="0"/>
      <p:bldP spid="33" grpId="0"/>
      <p:bldP spid="34" grpId="0"/>
      <p:bldP spid="35" grpId="0"/>
      <p:bldP spid="36" grpId="0"/>
      <p:bldP spid="37"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70E19129-9BE3-E84A-992A-00014A5B5438}"/>
              </a:ext>
            </a:extLst>
          </p:cNvPr>
          <p:cNvSpPr txBox="1"/>
          <p:nvPr/>
        </p:nvSpPr>
        <p:spPr>
          <a:xfrm>
            <a:off x="1828800" y="914400"/>
            <a:ext cx="32918400" cy="1905000"/>
          </a:xfrm>
          <a:prstGeom prst="rect">
            <a:avLst/>
          </a:prstGeom>
          <a:noFill/>
        </p:spPr>
        <p:txBody>
          <a:bodyPr vertOverflow="overflow" vert="horz" wrap="square" rtlCol="0" anchor="t">
            <a:noAutofit/>
          </a:bodyPr>
          <a:lstStyle/>
          <a:p>
            <a:pPr algn="l"/>
            <a:r>
              <a:rPr lang="en-US" sz="8800">
                <a:latin typeface="NVIDIA Sans Medium"/>
                <a:cs typeface="NVIDIA Sans Medium"/>
              </a:rPr>
              <a:t>After Promotion, the Cells Disappear</a:t>
            </a:r>
          </a:p>
        </p:txBody>
      </p:sp>
      <p:sp>
        <p:nvSpPr>
          <p:cNvPr id="3" name="SubTx">
            <a:extLst>
              <a:ext uri="{FF2B5EF4-FFF2-40B4-BE49-F238E27FC236}">
                <a16:creationId xmlns:a16="http://schemas.microsoft.com/office/drawing/2014/main" id="{2925B39C-F054-CA43-86D7-18DF102D0F70}"/>
              </a:ext>
            </a:extLst>
          </p:cNvPr>
          <p:cNvSpPr txBox="1"/>
          <p:nvPr/>
        </p:nvSpPr>
        <p:spPr>
          <a:xfrm>
            <a:off x="1828800" y="3175000"/>
            <a:ext cx="32918400" cy="1143000"/>
          </a:xfrm>
          <a:prstGeom prst="rect">
            <a:avLst/>
          </a:prstGeom>
          <a:noFill/>
        </p:spPr>
        <p:txBody>
          <a:bodyPr vertOverflow="overflow" vert="horz" wrap="square" rtlCol="0" anchor="t">
            <a:noAutofit/>
          </a:bodyPr>
          <a:lstStyle/>
          <a:p>
            <a:pPr algn="l"/>
            <a:r>
              <a:rPr lang="en-US" sz="3200">
                <a:solidFill>
                  <a:srgbClr val="313131"/>
                </a:solidFill>
                <a:latin typeface="NVIDIA Sans"/>
                <a:cs typeface="NVIDIA Sans"/>
              </a:rPr>
              <a:t>The same pass, on our three cells: they become the loop's three carried values </a:t>
            </a:r>
            <a:r>
              <a:rPr lang="en-US" sz="2800" b="1">
                <a:solidFill>
                  <a:srgbClr val="313131"/>
                </a:solidFill>
                <a:latin typeface="Consolas"/>
                <a:cs typeface="Consolas"/>
              </a:rPr>
              <a:t>-convert-pyir-to-scf</a:t>
            </a:r>
          </a:p>
        </p:txBody>
      </p:sp>
      <p:sp>
        <p:nvSpPr>
          <p:cNvPr id="4" name="RuleL">
            <a:extLst>
              <a:ext uri="{FF2B5EF4-FFF2-40B4-BE49-F238E27FC236}">
                <a16:creationId xmlns:a16="http://schemas.microsoft.com/office/drawing/2014/main" id="{C056E992-A206-784A-9BAA-2C07E43E126A}"/>
              </a:ext>
            </a:extLst>
          </p:cNvPr>
          <p:cNvSpPr/>
          <p:nvPr/>
        </p:nvSpPr>
        <p:spPr>
          <a:xfrm>
            <a:off x="1828800" y="5029200"/>
            <a:ext cx="160020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HeadL">
            <a:extLst>
              <a:ext uri="{FF2B5EF4-FFF2-40B4-BE49-F238E27FC236}">
                <a16:creationId xmlns:a16="http://schemas.microsoft.com/office/drawing/2014/main" id="{FD07BACE-0BD0-5041-93FA-5BFA4E7901E8}"/>
              </a:ext>
            </a:extLst>
          </p:cNvPr>
          <p:cNvSpPr txBox="1"/>
          <p:nvPr/>
        </p:nvSpPr>
        <p:spPr>
          <a:xfrm>
            <a:off x="1828800" y="5486400"/>
            <a:ext cx="16002000" cy="558800"/>
          </a:xfrm>
          <a:prstGeom prst="rect">
            <a:avLst/>
          </a:prstGeom>
          <a:noFill/>
        </p:spPr>
        <p:txBody>
          <a:bodyPr vertOverflow="overflow" vert="horz" wrap="square" rtlCol="0" anchor="t">
            <a:noAutofit/>
          </a:bodyPr>
          <a:lstStyle/>
          <a:p>
            <a:pPr algn="l"/>
            <a:r>
              <a:rPr lang="en-US" sz="2800" b="1">
                <a:solidFill>
                  <a:srgbClr val="76B900"/>
                </a:solidFill>
                <a:latin typeface="NVIDIA Sans"/>
                <a:cs typeface="NVIDIA Sans"/>
              </a:rPr>
              <a:t>THE DIALECT, OUT OF TRACING</a:t>
            </a:r>
          </a:p>
        </p:txBody>
      </p:sp>
      <p:sp>
        <p:nvSpPr>
          <p:cNvPr id="6" name="CodeL">
            <a:extLst>
              <a:ext uri="{FF2B5EF4-FFF2-40B4-BE49-F238E27FC236}">
                <a16:creationId xmlns:a16="http://schemas.microsoft.com/office/drawing/2014/main" id="{C9B8E8E9-F849-AA4D-A730-FC67C232321F}"/>
              </a:ext>
            </a:extLst>
          </p:cNvPr>
          <p:cNvSpPr txBox="1"/>
          <p:nvPr/>
        </p:nvSpPr>
        <p:spPr>
          <a:xfrm>
            <a:off x="1828800" y="6350000"/>
            <a:ext cx="16002000" cy="5334000"/>
          </a:xfrm>
          <a:prstGeom prst="rect">
            <a:avLst/>
          </a:prstGeom>
          <a:noFill/>
        </p:spPr>
        <p:txBody>
          <a:bodyPr vertOverflow="overflow" vert="horz" wrap="square" rtlCol="0" anchor="t">
            <a:noAutofit/>
          </a:bodyPr>
          <a:lstStyle/>
          <a:p>
            <a:pPr algn="l">
              <a:lnSpc>
                <a:spcPts val="3600"/>
              </a:lnSpc>
              <a:spcBef>
                <a:spcPts val="0"/>
              </a:spcBef>
              <a:buNone/>
            </a:pPr>
            <a:r>
              <a:rPr lang="en-US" sz="2400" strike="sngStrike">
                <a:solidFill>
                  <a:srgbClr val="B3261E"/>
                </a:solidFill>
                <a:latin typeface="Roboto Mono"/>
                <a:cs typeface="Roboto Mono"/>
              </a:rPr>
              <a:t>%a = pyir.ref %c0 : i32      </a:t>
            </a:r>
            <a:r>
              <a:rPr lang="en-US" sz="2400">
                <a:solidFill>
                  <a:srgbClr val="5A5A5A"/>
                </a:solidFill>
                <a:latin typeface="Roboto Mono"/>
                <a:cs typeface="Roboto Mono"/>
              </a:rPr>
              <a:t>// tot</a:t>
            </a:r>
          </a:p>
          <a:p>
            <a:pPr algn="l">
              <a:lnSpc>
                <a:spcPts val="3600"/>
              </a:lnSpc>
              <a:spcBef>
                <a:spcPts val="0"/>
              </a:spcBef>
              <a:buNone/>
            </a:pPr>
            <a:r>
              <a:rPr lang="en-US" sz="2400" strike="sngStrike">
                <a:solidFill>
                  <a:srgbClr val="B3261E"/>
                </a:solidFill>
                <a:latin typeface="Roboto Mono"/>
                <a:cs typeface="Roboto Mono"/>
              </a:rPr>
              <a:t>%b = pyir.ref %c0 : i32      </a:t>
            </a:r>
            <a:r>
              <a:rPr lang="en-US" sz="2400">
                <a:solidFill>
                  <a:srgbClr val="5A5A5A"/>
                </a:solidFill>
                <a:latin typeface="Roboto Mono"/>
                <a:cs typeface="Roboto Mono"/>
              </a:rPr>
              <a:t>// bins["hi"]</a:t>
            </a:r>
          </a:p>
          <a:p>
            <a:pPr algn="l">
              <a:lnSpc>
                <a:spcPts val="3600"/>
              </a:lnSpc>
              <a:spcBef>
                <a:spcPts val="0"/>
              </a:spcBef>
              <a:buNone/>
            </a:pPr>
            <a:r>
              <a:rPr lang="en-US" sz="2400" strike="sngStrike">
                <a:solidFill>
                  <a:srgbClr val="B3261E"/>
                </a:solidFill>
                <a:latin typeface="Roboto Mono"/>
                <a:cs typeface="Roboto Mono"/>
              </a:rPr>
              <a:t>%c = pyir.ref %c0 : i32      </a:t>
            </a:r>
            <a:r>
              <a:rPr lang="en-US" sz="2400">
                <a:solidFill>
                  <a:srgbClr val="5A5A5A"/>
                </a:solidFill>
                <a:latin typeface="Roboto Mono"/>
                <a:cs typeface="Roboto Mono"/>
              </a:rPr>
              <a:t>// s.c</a:t>
            </a:r>
          </a:p>
          <a:p>
            <a:pPr algn="l">
              <a:lnSpc>
                <a:spcPts val="3600"/>
              </a:lnSpc>
              <a:spcBef>
                <a:spcPts val="0"/>
              </a:spcBef>
              <a:buNone/>
            </a:pPr>
            <a:r>
              <a:rPr lang="en-US" sz="2400">
                <a:solidFill>
                  <a:srgbClr val="952FC6"/>
                </a:solidFill>
                <a:latin typeface="Roboto Mono"/>
                <a:cs typeface="Roboto Mono"/>
              </a:rPr>
              <a:t>scf.for</a:t>
            </a:r>
            <a:r>
              <a:rPr lang="en-US" sz="2400">
                <a:solidFill>
                  <a:srgbClr val="000000"/>
                </a:solidFill>
                <a:latin typeface="Roboto Mono"/>
                <a:cs typeface="Roboto Mono"/>
              </a:rPr>
              <a:t> </a:t>
            </a:r>
            <a:r>
              <a:rPr lang="en-US" sz="2400">
                <a:solidFill>
                  <a:srgbClr val="0074DF"/>
                </a:solidFill>
                <a:latin typeface="Roboto Mono"/>
                <a:cs typeface="Roboto Mono"/>
              </a:rPr>
              <a:t>%i</a:t>
            </a:r>
            <a:r>
              <a:rPr lang="en-US" sz="2400">
                <a:solidFill>
                  <a:srgbClr val="000000"/>
                </a:solidFill>
                <a:latin typeface="Roboto Mono"/>
                <a:cs typeface="Roboto Mono"/>
              </a:rPr>
              <a:t> = </a:t>
            </a:r>
            <a:r>
              <a:rPr lang="en-US" sz="2400">
                <a:solidFill>
                  <a:srgbClr val="0074DF"/>
                </a:solidFill>
                <a:latin typeface="Roboto Mono"/>
                <a:cs typeface="Roboto Mono"/>
              </a:rPr>
              <a:t>%c0</a:t>
            </a:r>
            <a:r>
              <a:rPr lang="en-US" sz="2400">
                <a:solidFill>
                  <a:srgbClr val="000000"/>
                </a:solidFill>
                <a:latin typeface="Roboto Mono"/>
                <a:cs typeface="Roboto Mono"/>
              </a:rPr>
              <a:t> </a:t>
            </a:r>
            <a:r>
              <a:rPr lang="en-US" sz="2400">
                <a:solidFill>
                  <a:srgbClr val="952FC6"/>
                </a:solidFill>
                <a:latin typeface="Roboto Mono"/>
                <a:cs typeface="Roboto Mono"/>
              </a:rPr>
              <a:t>to</a:t>
            </a:r>
            <a:r>
              <a:rPr lang="en-US" sz="2400">
                <a:solidFill>
                  <a:srgbClr val="000000"/>
                </a:solidFill>
                <a:latin typeface="Roboto Mono"/>
                <a:cs typeface="Roboto Mono"/>
              </a:rPr>
              <a:t> </a:t>
            </a:r>
            <a:r>
              <a:rPr lang="en-US" sz="2400">
                <a:solidFill>
                  <a:srgbClr val="0074DF"/>
                </a:solidFill>
                <a:latin typeface="Roboto Mono"/>
                <a:cs typeface="Roboto Mono"/>
              </a:rPr>
              <a:t>%n</a:t>
            </a:r>
            <a:r>
              <a:rPr lang="en-US" sz="2400">
                <a:solidFill>
                  <a:srgbClr val="000000"/>
                </a:solidFill>
                <a:latin typeface="Roboto Mono"/>
                <a:cs typeface="Roboto Mono"/>
              </a:rPr>
              <a:t> {</a:t>
            </a:r>
          </a:p>
          <a:p>
            <a:pPr algn="l">
              <a:lnSpc>
                <a:spcPts val="3600"/>
              </a:lnSpc>
              <a:spcBef>
                <a:spcPts val="0"/>
              </a:spcBef>
              <a:buNone/>
            </a:pPr>
            <a:r>
              <a:rPr lang="en-US" sz="2400" strike="sngStrike">
                <a:solidFill>
                  <a:srgbClr val="B3261E"/>
                </a:solidFill>
                <a:latin typeface="Roboto Mono"/>
                <a:cs typeface="Roboto Mono"/>
              </a:rPr>
              <a:t>  %1 = pyir.load %c : &lt;i32&gt;</a:t>
            </a:r>
          </a:p>
          <a:p>
            <a:pPr algn="l">
              <a:lnSpc>
                <a:spcPts val="3600"/>
              </a:lnSpc>
              <a:spcBef>
                <a:spcPts val="0"/>
              </a:spcBef>
              <a:buNone/>
            </a:pPr>
            <a:r>
              <a:rPr lang="en-US" sz="2400">
                <a:solidFill>
                  <a:srgbClr val="000000"/>
                </a:solidFill>
                <a:latin typeface="Roboto Mono"/>
                <a:cs typeface="Roboto Mono"/>
              </a:rPr>
              <a:t>  </a:t>
            </a:r>
            <a:r>
              <a:rPr lang="en-US" sz="2400">
                <a:solidFill>
                  <a:srgbClr val="0074DF"/>
                </a:solidFill>
                <a:latin typeface="Roboto Mono"/>
                <a:cs typeface="Roboto Mono"/>
              </a:rPr>
              <a:t>%2</a:t>
            </a:r>
            <a:r>
              <a:rPr lang="en-US" sz="2400">
                <a:solidFill>
                  <a:srgbClr val="000000"/>
                </a:solidFill>
                <a:latin typeface="Roboto Mono"/>
                <a:cs typeface="Roboto Mono"/>
              </a:rPr>
              <a:t> = </a:t>
            </a:r>
            <a:r>
              <a:rPr lang="en-US" sz="2400">
                <a:solidFill>
                  <a:srgbClr val="952FC6"/>
                </a:solidFill>
                <a:latin typeface="Roboto Mono"/>
                <a:cs typeface="Roboto Mono"/>
              </a:rPr>
              <a:t>arith.addi</a:t>
            </a:r>
            <a:r>
              <a:rPr lang="en-US" sz="2400">
                <a:solidFill>
                  <a:srgbClr val="000000"/>
                </a:solidFill>
                <a:latin typeface="Roboto Mono"/>
                <a:cs typeface="Roboto Mono"/>
              </a:rPr>
              <a:t> </a:t>
            </a:r>
            <a:r>
              <a:rPr lang="en-US" sz="2400">
                <a:solidFill>
                  <a:srgbClr val="0074DF"/>
                </a:solidFill>
                <a:latin typeface="Roboto Mono"/>
                <a:cs typeface="Roboto Mono"/>
              </a:rPr>
              <a:t>%1</a:t>
            </a:r>
            <a:r>
              <a:rPr lang="en-US" sz="2400">
                <a:solidFill>
                  <a:srgbClr val="000000"/>
                </a:solidFill>
                <a:latin typeface="Roboto Mono"/>
                <a:cs typeface="Roboto Mono"/>
              </a:rPr>
              <a:t>, </a:t>
            </a:r>
            <a:r>
              <a:rPr lang="en-US" sz="2400">
                <a:solidFill>
                  <a:srgbClr val="0074DF"/>
                </a:solidFill>
                <a:latin typeface="Roboto Mono"/>
                <a:cs typeface="Roboto Mono"/>
              </a:rPr>
              <a:t>%c2</a:t>
            </a:r>
          </a:p>
          <a:p>
            <a:pPr algn="l">
              <a:lnSpc>
                <a:spcPts val="3600"/>
              </a:lnSpc>
              <a:spcBef>
                <a:spcPts val="0"/>
              </a:spcBef>
              <a:buNone/>
            </a:pPr>
            <a:r>
              <a:rPr lang="en-US" sz="2400" strike="sngStrike">
                <a:solidFill>
                  <a:srgbClr val="B3261E"/>
                </a:solidFill>
                <a:latin typeface="Roboto Mono"/>
                <a:cs typeface="Roboto Mono"/>
              </a:rPr>
              <a:t>  pyir.store %2, %c : &lt;i32&gt;</a:t>
            </a:r>
          </a:p>
          <a:p>
            <a:pPr algn="l">
              <a:lnSpc>
                <a:spcPts val="3600"/>
              </a:lnSpc>
              <a:spcBef>
                <a:spcPts val="0"/>
              </a:spcBef>
              <a:buNone/>
            </a:pPr>
            <a:r>
              <a:rPr lang="en-US" sz="2400">
                <a:solidFill>
                  <a:srgbClr val="000000"/>
                </a:solidFill>
                <a:latin typeface="Roboto Mono"/>
                <a:cs typeface="Roboto Mono"/>
              </a:rPr>
              <a:t>  ...    same for </a:t>
            </a:r>
            <a:r>
              <a:rPr lang="en-US" sz="2400">
                <a:solidFill>
                  <a:srgbClr val="0074DF"/>
                </a:solidFill>
                <a:latin typeface="Roboto Mono"/>
                <a:cs typeface="Roboto Mono"/>
              </a:rPr>
              <a:t>%b</a:t>
            </a:r>
            <a:r>
              <a:rPr lang="en-US" sz="2400">
                <a:solidFill>
                  <a:srgbClr val="000000"/>
                </a:solidFill>
                <a:latin typeface="Roboto Mono"/>
                <a:cs typeface="Roboto Mono"/>
              </a:rPr>
              <a:t> and </a:t>
            </a:r>
            <a:r>
              <a:rPr lang="en-US" sz="2400">
                <a:solidFill>
                  <a:srgbClr val="0074DF"/>
                </a:solidFill>
                <a:latin typeface="Roboto Mono"/>
                <a:cs typeface="Roboto Mono"/>
              </a:rPr>
              <a:t>%a</a:t>
            </a:r>
          </a:p>
          <a:p>
            <a:pPr algn="l">
              <a:lnSpc>
                <a:spcPts val="3600"/>
              </a:lnSpc>
              <a:spcBef>
                <a:spcPts val="0"/>
              </a:spcBef>
              <a:buNone/>
            </a:pPr>
            <a:r>
              <a:rPr lang="en-US" sz="2400">
                <a:solidFill>
                  <a:srgbClr val="000000"/>
                </a:solidFill>
                <a:latin typeface="Roboto Mono"/>
                <a:cs typeface="Roboto Mono"/>
              </a:rPr>
              <a:t>}</a:t>
            </a:r>
          </a:p>
        </p:txBody>
      </p:sp>
      <p:sp>
        <p:nvSpPr>
          <p:cNvPr id="8" name="RuleR">
            <a:extLst>
              <a:ext uri="{FF2B5EF4-FFF2-40B4-BE49-F238E27FC236}">
                <a16:creationId xmlns:a16="http://schemas.microsoft.com/office/drawing/2014/main" id="{916DAE49-D580-E54E-87B6-33CE6B838039}"/>
              </a:ext>
            </a:extLst>
          </p:cNvPr>
          <p:cNvSpPr/>
          <p:nvPr/>
        </p:nvSpPr>
        <p:spPr>
          <a:xfrm>
            <a:off x="18745200" y="5029200"/>
            <a:ext cx="16002000" cy="76200"/>
          </a:xfrm>
          <a:prstGeom prst="rect">
            <a:avLst/>
          </a:prstGeom>
          <a:solidFill>
            <a:srgbClr val="0074DF"/>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HeadR">
            <a:extLst>
              <a:ext uri="{FF2B5EF4-FFF2-40B4-BE49-F238E27FC236}">
                <a16:creationId xmlns:a16="http://schemas.microsoft.com/office/drawing/2014/main" id="{5C88D1AA-4240-1B44-B052-117E02E60FE0}"/>
              </a:ext>
            </a:extLst>
          </p:cNvPr>
          <p:cNvSpPr txBox="1"/>
          <p:nvPr/>
        </p:nvSpPr>
        <p:spPr>
          <a:xfrm>
            <a:off x="18745200" y="5486400"/>
            <a:ext cx="16002000" cy="558800"/>
          </a:xfrm>
          <a:prstGeom prst="rect">
            <a:avLst/>
          </a:prstGeom>
          <a:noFill/>
        </p:spPr>
        <p:txBody>
          <a:bodyPr vertOverflow="overflow" vert="horz" wrap="square" rtlCol="0" anchor="t">
            <a:noAutofit/>
          </a:bodyPr>
          <a:lstStyle/>
          <a:p>
            <a:pPr algn="l"/>
            <a:r>
              <a:rPr lang="en-US" sz="2800" b="1">
                <a:solidFill>
                  <a:srgbClr val="0074DF"/>
                </a:solidFill>
                <a:latin typeface="NVIDIA Sans"/>
                <a:cs typeface="NVIDIA Sans"/>
              </a:rPr>
              <a:t>THE SAME LOOP, AFTER MEM2REG</a:t>
            </a:r>
          </a:p>
        </p:txBody>
      </p:sp>
      <p:sp>
        <p:nvSpPr>
          <p:cNvPr id="10" name="CodeR">
            <a:extLst>
              <a:ext uri="{FF2B5EF4-FFF2-40B4-BE49-F238E27FC236}">
                <a16:creationId xmlns:a16="http://schemas.microsoft.com/office/drawing/2014/main" id="{0F94F30A-6724-F14E-8445-EC3480783995}"/>
              </a:ext>
            </a:extLst>
          </p:cNvPr>
          <p:cNvSpPr txBox="1"/>
          <p:nvPr/>
        </p:nvSpPr>
        <p:spPr>
          <a:xfrm>
            <a:off x="18745200" y="6350000"/>
            <a:ext cx="16002000" cy="5334000"/>
          </a:xfrm>
          <a:prstGeom prst="rect">
            <a:avLst/>
          </a:prstGeom>
          <a:noFill/>
        </p:spPr>
        <p:txBody>
          <a:bodyPr vertOverflow="overflow" vert="horz" wrap="square" rtlCol="0" anchor="t">
            <a:noAutofit/>
          </a:bodyPr>
          <a:lstStyle/>
          <a:p>
            <a:pPr algn="l">
              <a:lnSpc>
                <a:spcPts val="3600"/>
              </a:lnSpc>
              <a:spcBef>
                <a:spcPts val="0"/>
              </a:spcBef>
              <a:buNone/>
            </a:pPr>
            <a:r>
              <a:rPr lang="en-US" sz="2400">
                <a:solidFill>
                  <a:srgbClr val="0074DF"/>
                </a:solidFill>
                <a:latin typeface="Roboto Mono"/>
                <a:cs typeface="Roboto Mono"/>
              </a:rPr>
              <a:t>%0:3</a:t>
            </a:r>
            <a:r>
              <a:rPr lang="en-US" sz="2400">
                <a:solidFill>
                  <a:srgbClr val="000000"/>
                </a:solidFill>
                <a:latin typeface="Roboto Mono"/>
                <a:cs typeface="Roboto Mono"/>
              </a:rPr>
              <a:t> = </a:t>
            </a:r>
            <a:r>
              <a:rPr lang="en-US" sz="2400">
                <a:solidFill>
                  <a:srgbClr val="952FC6"/>
                </a:solidFill>
                <a:latin typeface="Roboto Mono"/>
                <a:cs typeface="Roboto Mono"/>
              </a:rPr>
              <a:t>scf.for</a:t>
            </a:r>
            <a:r>
              <a:rPr lang="en-US" sz="2400">
                <a:solidFill>
                  <a:srgbClr val="000000"/>
                </a:solidFill>
                <a:latin typeface="Roboto Mono"/>
                <a:cs typeface="Roboto Mono"/>
              </a:rPr>
              <a:t> </a:t>
            </a:r>
            <a:r>
              <a:rPr lang="en-US" sz="2400">
                <a:solidFill>
                  <a:srgbClr val="0074DF"/>
                </a:solidFill>
                <a:latin typeface="Roboto Mono"/>
                <a:cs typeface="Roboto Mono"/>
              </a:rPr>
              <a:t>%i</a:t>
            </a:r>
            <a:r>
              <a:rPr lang="en-US" sz="2400">
                <a:solidFill>
                  <a:srgbClr val="000000"/>
                </a:solidFill>
                <a:latin typeface="Roboto Mono"/>
                <a:cs typeface="Roboto Mono"/>
              </a:rPr>
              <a:t> = </a:t>
            </a:r>
            <a:r>
              <a:rPr lang="en-US" sz="2400">
                <a:solidFill>
                  <a:srgbClr val="0074DF"/>
                </a:solidFill>
                <a:latin typeface="Roboto Mono"/>
                <a:cs typeface="Roboto Mono"/>
              </a:rPr>
              <a:t>%c0</a:t>
            </a:r>
            <a:r>
              <a:rPr lang="en-US" sz="2400">
                <a:solidFill>
                  <a:srgbClr val="000000"/>
                </a:solidFill>
                <a:latin typeface="Roboto Mono"/>
                <a:cs typeface="Roboto Mono"/>
              </a:rPr>
              <a:t> </a:t>
            </a:r>
            <a:r>
              <a:rPr lang="en-US" sz="2400">
                <a:solidFill>
                  <a:srgbClr val="952FC6"/>
                </a:solidFill>
                <a:latin typeface="Roboto Mono"/>
                <a:cs typeface="Roboto Mono"/>
              </a:rPr>
              <a:t>to</a:t>
            </a:r>
            <a:r>
              <a:rPr lang="en-US" sz="2400">
                <a:solidFill>
                  <a:srgbClr val="000000"/>
                </a:solidFill>
                <a:latin typeface="Roboto Mono"/>
                <a:cs typeface="Roboto Mono"/>
              </a:rPr>
              <a:t> </a:t>
            </a:r>
            <a:r>
              <a:rPr lang="en-US" sz="2400">
                <a:solidFill>
                  <a:srgbClr val="0074DF"/>
                </a:solidFill>
                <a:latin typeface="Roboto Mono"/>
                <a:cs typeface="Roboto Mono"/>
              </a:rPr>
              <a:t>%n</a:t>
            </a:r>
          </a:p>
          <a:p>
            <a:pPr algn="l">
              <a:lnSpc>
                <a:spcPts val="3600"/>
              </a:lnSpc>
              <a:spcBef>
                <a:spcPts val="0"/>
              </a:spcBef>
              <a:buNone/>
            </a:pPr>
            <a:r>
              <a:rPr lang="en-US" sz="2400">
                <a:solidFill>
                  <a:srgbClr val="000000"/>
                </a:solidFill>
                <a:latin typeface="Roboto Mono"/>
                <a:cs typeface="Roboto Mono"/>
              </a:rPr>
              <a:t>  </a:t>
            </a:r>
            <a:r>
              <a:rPr lang="en-US" sz="2400">
                <a:solidFill>
                  <a:srgbClr val="952FC6"/>
                </a:solidFill>
                <a:latin typeface="Roboto Mono"/>
                <a:cs typeface="Roboto Mono"/>
              </a:rPr>
              <a:t>iter_args</a:t>
            </a:r>
            <a:r>
              <a:rPr lang="en-US" sz="2400">
                <a:solidFill>
                  <a:srgbClr val="000000"/>
                </a:solidFill>
                <a:latin typeface="Roboto Mono"/>
                <a:cs typeface="Roboto Mono"/>
              </a:rPr>
              <a:t>(</a:t>
            </a:r>
            <a:r>
              <a:rPr lang="en-US" sz="2400">
                <a:solidFill>
                  <a:srgbClr val="0074DF"/>
                </a:solidFill>
                <a:latin typeface="Roboto Mono"/>
                <a:cs typeface="Roboto Mono"/>
              </a:rPr>
              <a:t>%arg2</a:t>
            </a:r>
            <a:r>
              <a:rPr lang="en-US" sz="2400">
                <a:solidFill>
                  <a:srgbClr val="000000"/>
                </a:solidFill>
                <a:latin typeface="Roboto Mono"/>
                <a:cs typeface="Roboto Mono"/>
              </a:rPr>
              <a:t>, </a:t>
            </a:r>
            <a:r>
              <a:rPr lang="en-US" sz="2400">
                <a:solidFill>
                  <a:srgbClr val="0074DF"/>
                </a:solidFill>
                <a:latin typeface="Roboto Mono"/>
                <a:cs typeface="Roboto Mono"/>
              </a:rPr>
              <a:t>%arg3</a:t>
            </a:r>
            <a:r>
              <a:rPr lang="en-US" sz="2400">
                <a:solidFill>
                  <a:srgbClr val="000000"/>
                </a:solidFill>
                <a:latin typeface="Roboto Mono"/>
                <a:cs typeface="Roboto Mono"/>
              </a:rPr>
              <a:t>, </a:t>
            </a:r>
            <a:r>
              <a:rPr lang="en-US" sz="2400">
                <a:solidFill>
                  <a:srgbClr val="0074DF"/>
                </a:solidFill>
                <a:latin typeface="Roboto Mono"/>
                <a:cs typeface="Roboto Mono"/>
              </a:rPr>
              <a:t>%arg4</a:t>
            </a:r>
            <a:r>
              <a:rPr lang="en-US" sz="2400">
                <a:solidFill>
                  <a:srgbClr val="000000"/>
                </a:solidFill>
                <a:latin typeface="Roboto Mono"/>
                <a:cs typeface="Roboto Mono"/>
              </a:rPr>
              <a:t>)</a:t>
            </a:r>
          </a:p>
          <a:p>
            <a:pPr algn="l">
              <a:lnSpc>
                <a:spcPts val="3600"/>
              </a:lnSpc>
              <a:spcBef>
                <a:spcPts val="0"/>
              </a:spcBef>
              <a:buNone/>
            </a:pPr>
            <a:r>
              <a:rPr lang="en-US" sz="2400">
                <a:solidFill>
                  <a:srgbClr val="000000"/>
                </a:solidFill>
                <a:latin typeface="Roboto Mono"/>
                <a:cs typeface="Roboto Mono"/>
              </a:rPr>
              <a:t>                        </a:t>
            </a:r>
            <a:r>
              <a:rPr lang="en-US" sz="2400">
                <a:solidFill>
                  <a:srgbClr val="5A5A5A"/>
                </a:solidFill>
                <a:latin typeface="Roboto Mono"/>
                <a:cs typeface="Roboto Mono"/>
              </a:rPr>
              <a:t>// tot, hi, c</a:t>
            </a:r>
          </a:p>
          <a:p>
            <a:pPr algn="l">
              <a:lnSpc>
                <a:spcPts val="3600"/>
              </a:lnSpc>
              <a:spcBef>
                <a:spcPts val="0"/>
              </a:spcBef>
              <a:buNone/>
            </a:pPr>
            <a:r>
              <a:rPr lang="en-US" sz="2400">
                <a:solidFill>
                  <a:srgbClr val="000000"/>
                </a:solidFill>
                <a:latin typeface="Roboto Mono"/>
                <a:cs typeface="Roboto Mono"/>
              </a:rPr>
              <a:t>  </a:t>
            </a:r>
            <a:r>
              <a:rPr lang="en-US" sz="2400">
                <a:solidFill>
                  <a:srgbClr val="0074DF"/>
                </a:solidFill>
                <a:latin typeface="Roboto Mono"/>
                <a:cs typeface="Roboto Mono"/>
              </a:rPr>
              <a:t>%1</a:t>
            </a:r>
            <a:r>
              <a:rPr lang="en-US" sz="2400">
                <a:solidFill>
                  <a:srgbClr val="000000"/>
                </a:solidFill>
                <a:latin typeface="Roboto Mono"/>
                <a:cs typeface="Roboto Mono"/>
              </a:rPr>
              <a:t> = </a:t>
            </a:r>
            <a:r>
              <a:rPr lang="en-US" sz="2400">
                <a:solidFill>
                  <a:srgbClr val="952FC6"/>
                </a:solidFill>
                <a:latin typeface="Roboto Mono"/>
                <a:cs typeface="Roboto Mono"/>
              </a:rPr>
              <a:t>arith.addi</a:t>
            </a:r>
            <a:r>
              <a:rPr lang="en-US" sz="2400">
                <a:solidFill>
                  <a:srgbClr val="000000"/>
                </a:solidFill>
                <a:latin typeface="Roboto Mono"/>
                <a:cs typeface="Roboto Mono"/>
              </a:rPr>
              <a:t> </a:t>
            </a:r>
            <a:r>
              <a:rPr lang="en-US" sz="2400">
                <a:solidFill>
                  <a:srgbClr val="0074DF"/>
                </a:solidFill>
                <a:latin typeface="Roboto Mono"/>
                <a:cs typeface="Roboto Mono"/>
              </a:rPr>
              <a:t>%arg4</a:t>
            </a:r>
            <a:r>
              <a:rPr lang="en-US" sz="2400">
                <a:solidFill>
                  <a:srgbClr val="000000"/>
                </a:solidFill>
                <a:latin typeface="Roboto Mono"/>
                <a:cs typeface="Roboto Mono"/>
              </a:rPr>
              <a:t>, </a:t>
            </a:r>
            <a:r>
              <a:rPr lang="en-US" sz="2400">
                <a:solidFill>
                  <a:srgbClr val="0074DF"/>
                </a:solidFill>
                <a:latin typeface="Roboto Mono"/>
                <a:cs typeface="Roboto Mono"/>
              </a:rPr>
              <a:t>%c2</a:t>
            </a:r>
          </a:p>
          <a:p>
            <a:pPr algn="l">
              <a:lnSpc>
                <a:spcPts val="3600"/>
              </a:lnSpc>
              <a:spcBef>
                <a:spcPts val="0"/>
              </a:spcBef>
              <a:buNone/>
            </a:pPr>
            <a:r>
              <a:rPr lang="en-US" sz="2400">
                <a:solidFill>
                  <a:srgbClr val="000000"/>
                </a:solidFill>
                <a:latin typeface="Roboto Mono"/>
                <a:cs typeface="Roboto Mono"/>
              </a:rPr>
              <a:t>  </a:t>
            </a:r>
            <a:r>
              <a:rPr lang="en-US" sz="2400">
                <a:solidFill>
                  <a:srgbClr val="0074DF"/>
                </a:solidFill>
                <a:latin typeface="Roboto Mono"/>
                <a:cs typeface="Roboto Mono"/>
              </a:rPr>
              <a:t>%2</a:t>
            </a:r>
            <a:r>
              <a:rPr lang="en-US" sz="2400">
                <a:solidFill>
                  <a:srgbClr val="000000"/>
                </a:solidFill>
                <a:latin typeface="Roboto Mono"/>
                <a:cs typeface="Roboto Mono"/>
              </a:rPr>
              <a:t> = </a:t>
            </a:r>
            <a:r>
              <a:rPr lang="en-US" sz="2400">
                <a:solidFill>
                  <a:srgbClr val="952FC6"/>
                </a:solidFill>
                <a:latin typeface="Roboto Mono"/>
                <a:cs typeface="Roboto Mono"/>
              </a:rPr>
              <a:t>arith.addi</a:t>
            </a:r>
            <a:r>
              <a:rPr lang="en-US" sz="2400">
                <a:solidFill>
                  <a:srgbClr val="000000"/>
                </a:solidFill>
                <a:latin typeface="Roboto Mono"/>
                <a:cs typeface="Roboto Mono"/>
              </a:rPr>
              <a:t> </a:t>
            </a:r>
            <a:r>
              <a:rPr lang="en-US" sz="2400">
                <a:solidFill>
                  <a:srgbClr val="0074DF"/>
                </a:solidFill>
                <a:latin typeface="Roboto Mono"/>
                <a:cs typeface="Roboto Mono"/>
              </a:rPr>
              <a:t>%arg3</a:t>
            </a:r>
            <a:r>
              <a:rPr lang="en-US" sz="2400">
                <a:solidFill>
                  <a:srgbClr val="000000"/>
                </a:solidFill>
                <a:latin typeface="Roboto Mono"/>
                <a:cs typeface="Roboto Mono"/>
              </a:rPr>
              <a:t>, </a:t>
            </a:r>
            <a:r>
              <a:rPr lang="en-US" sz="2400">
                <a:solidFill>
                  <a:srgbClr val="0074DF"/>
                </a:solidFill>
                <a:latin typeface="Roboto Mono"/>
                <a:cs typeface="Roboto Mono"/>
              </a:rPr>
              <a:t>%c1</a:t>
            </a:r>
          </a:p>
          <a:p>
            <a:pPr algn="l">
              <a:lnSpc>
                <a:spcPts val="3600"/>
              </a:lnSpc>
              <a:spcBef>
                <a:spcPts val="0"/>
              </a:spcBef>
              <a:buNone/>
            </a:pPr>
            <a:r>
              <a:rPr lang="en-US" sz="2400">
                <a:solidFill>
                  <a:srgbClr val="000000"/>
                </a:solidFill>
                <a:latin typeface="Roboto Mono"/>
                <a:cs typeface="Roboto Mono"/>
              </a:rPr>
              <a:t>  </a:t>
            </a:r>
            <a:r>
              <a:rPr lang="en-US" sz="2400">
                <a:solidFill>
                  <a:srgbClr val="0074DF"/>
                </a:solidFill>
                <a:latin typeface="Roboto Mono"/>
                <a:cs typeface="Roboto Mono"/>
              </a:rPr>
              <a:t>%3</a:t>
            </a:r>
            <a:r>
              <a:rPr lang="en-US" sz="2400">
                <a:solidFill>
                  <a:srgbClr val="000000"/>
                </a:solidFill>
                <a:latin typeface="Roboto Mono"/>
                <a:cs typeface="Roboto Mono"/>
              </a:rPr>
              <a:t> = </a:t>
            </a:r>
            <a:r>
              <a:rPr lang="en-US" sz="2400">
                <a:solidFill>
                  <a:srgbClr val="952FC6"/>
                </a:solidFill>
                <a:latin typeface="Roboto Mono"/>
                <a:cs typeface="Roboto Mono"/>
              </a:rPr>
              <a:t>arith.addi</a:t>
            </a:r>
            <a:r>
              <a:rPr lang="en-US" sz="2400">
                <a:solidFill>
                  <a:srgbClr val="000000"/>
                </a:solidFill>
                <a:latin typeface="Roboto Mono"/>
                <a:cs typeface="Roboto Mono"/>
              </a:rPr>
              <a:t> </a:t>
            </a:r>
            <a:r>
              <a:rPr lang="en-US" sz="2400">
                <a:solidFill>
                  <a:srgbClr val="0074DF"/>
                </a:solidFill>
                <a:latin typeface="Roboto Mono"/>
                <a:cs typeface="Roboto Mono"/>
              </a:rPr>
              <a:t>%arg2</a:t>
            </a:r>
            <a:r>
              <a:rPr lang="en-US" sz="2400">
                <a:solidFill>
                  <a:srgbClr val="000000"/>
                </a:solidFill>
                <a:latin typeface="Roboto Mono"/>
                <a:cs typeface="Roboto Mono"/>
              </a:rPr>
              <a:t>, </a:t>
            </a:r>
            <a:r>
              <a:rPr lang="en-US" sz="2400">
                <a:solidFill>
                  <a:srgbClr val="0074DF"/>
                </a:solidFill>
                <a:latin typeface="Roboto Mono"/>
                <a:cs typeface="Roboto Mono"/>
              </a:rPr>
              <a:t>%1</a:t>
            </a:r>
          </a:p>
          <a:p>
            <a:pPr algn="l">
              <a:lnSpc>
                <a:spcPts val="3600"/>
              </a:lnSpc>
              <a:spcBef>
                <a:spcPts val="0"/>
              </a:spcBef>
              <a:buNone/>
            </a:pPr>
            <a:r>
              <a:rPr lang="en-US" sz="2400">
                <a:solidFill>
                  <a:srgbClr val="000000"/>
                </a:solidFill>
                <a:latin typeface="Roboto Mono"/>
                <a:cs typeface="Roboto Mono"/>
              </a:rPr>
              <a:t>  </a:t>
            </a:r>
            <a:r>
              <a:rPr lang="en-US" sz="2400">
                <a:solidFill>
                  <a:srgbClr val="952FC6"/>
                </a:solidFill>
                <a:latin typeface="Roboto Mono"/>
                <a:cs typeface="Roboto Mono"/>
              </a:rPr>
              <a:t>scf.yield</a:t>
            </a:r>
            <a:r>
              <a:rPr lang="en-US" sz="2400">
                <a:solidFill>
                  <a:srgbClr val="000000"/>
                </a:solidFill>
                <a:latin typeface="Roboto Mono"/>
                <a:cs typeface="Roboto Mono"/>
              </a:rPr>
              <a:t> </a:t>
            </a:r>
            <a:r>
              <a:rPr lang="en-US" sz="2400">
                <a:solidFill>
                  <a:srgbClr val="0074DF"/>
                </a:solidFill>
                <a:latin typeface="Roboto Mono"/>
                <a:cs typeface="Roboto Mono"/>
              </a:rPr>
              <a:t>%3</a:t>
            </a:r>
            <a:r>
              <a:rPr lang="en-US" sz="2400">
                <a:solidFill>
                  <a:srgbClr val="000000"/>
                </a:solidFill>
                <a:latin typeface="Roboto Mono"/>
                <a:cs typeface="Roboto Mono"/>
              </a:rPr>
              <a:t>, </a:t>
            </a:r>
            <a:r>
              <a:rPr lang="en-US" sz="2400">
                <a:solidFill>
                  <a:srgbClr val="0074DF"/>
                </a:solidFill>
                <a:latin typeface="Roboto Mono"/>
                <a:cs typeface="Roboto Mono"/>
              </a:rPr>
              <a:t>%2</a:t>
            </a:r>
            <a:r>
              <a:rPr lang="en-US" sz="2400">
                <a:solidFill>
                  <a:srgbClr val="000000"/>
                </a:solidFill>
                <a:latin typeface="Roboto Mono"/>
                <a:cs typeface="Roboto Mono"/>
              </a:rPr>
              <a:t>, </a:t>
            </a:r>
            <a:r>
              <a:rPr lang="en-US" sz="2400">
                <a:solidFill>
                  <a:srgbClr val="0074DF"/>
                </a:solidFill>
                <a:latin typeface="Roboto Mono"/>
                <a:cs typeface="Roboto Mono"/>
              </a:rPr>
              <a:t>%1</a:t>
            </a:r>
          </a:p>
          <a:p>
            <a:pPr algn="l">
              <a:lnSpc>
                <a:spcPts val="3600"/>
              </a:lnSpc>
              <a:spcBef>
                <a:spcPts val="0"/>
              </a:spcBef>
              <a:buNone/>
            </a:pPr>
            <a:r>
              <a:rPr lang="en-US" sz="2400">
                <a:solidFill>
                  <a:srgbClr val="000000"/>
                </a:solidFill>
                <a:latin typeface="Roboto Mono"/>
                <a:cs typeface="Roboto Mono"/>
              </a:rPr>
              <a:t>}</a:t>
            </a:r>
          </a:p>
        </p:txBody>
      </p:sp>
      <p:sp>
        <p:nvSpPr>
          <p:cNvPr id="11" name="MemRule">
            <a:extLst>
              <a:ext uri="{FF2B5EF4-FFF2-40B4-BE49-F238E27FC236}">
                <a16:creationId xmlns:a16="http://schemas.microsoft.com/office/drawing/2014/main" id="{EDF2F861-6D61-4942-949B-935F003FB6A9}"/>
              </a:ext>
            </a:extLst>
          </p:cNvPr>
          <p:cNvSpPr/>
          <p:nvPr/>
        </p:nvSpPr>
        <p:spPr>
          <a:xfrm>
            <a:off x="1828800" y="12700000"/>
            <a:ext cx="329184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MemHead">
            <a:extLst>
              <a:ext uri="{FF2B5EF4-FFF2-40B4-BE49-F238E27FC236}">
                <a16:creationId xmlns:a16="http://schemas.microsoft.com/office/drawing/2014/main" id="{9ACE9543-9DB2-EF4B-A6BB-DA870622B820}"/>
              </a:ext>
            </a:extLst>
          </p:cNvPr>
          <p:cNvSpPr txBox="1"/>
          <p:nvPr/>
        </p:nvSpPr>
        <p:spPr>
          <a:xfrm>
            <a:off x="1828800" y="13157200"/>
            <a:ext cx="32918400" cy="558800"/>
          </a:xfrm>
          <a:prstGeom prst="rect">
            <a:avLst/>
          </a:prstGeom>
          <a:noFill/>
        </p:spPr>
        <p:txBody>
          <a:bodyPr vertOverflow="overflow" vert="horz" wrap="none" rtlCol="0" anchor="t" anchorCtr="0">
            <a:noAutofit/>
          </a:bodyPr>
          <a:lstStyle/>
          <a:p>
            <a:pPr algn="l"/>
            <a:r>
              <a:rPr lang="en-US" sz="2800" b="1">
                <a:solidFill>
                  <a:srgbClr val="76B900"/>
                </a:solidFill>
                <a:latin typeface="NVIDIA Sans"/>
                <a:cs typeface="NVIDIA Sans"/>
              </a:rPr>
              <a:t>UPSTREAM MEM2REG, UNMODIFIED</a:t>
            </a:r>
          </a:p>
        </p:txBody>
      </p:sp>
      <p:sp>
        <p:nvSpPr>
          <p:cNvPr id="13" name="MemBody">
            <a:extLst>
              <a:ext uri="{FF2B5EF4-FFF2-40B4-BE49-F238E27FC236}">
                <a16:creationId xmlns:a16="http://schemas.microsoft.com/office/drawing/2014/main" id="{82B35CE2-CABD-5346-93C4-945B5306D051}"/>
              </a:ext>
            </a:extLst>
          </p:cNvPr>
          <p:cNvSpPr txBox="1"/>
          <p:nvPr/>
        </p:nvSpPr>
        <p:spPr>
          <a:xfrm>
            <a:off x="1828800" y="14020800"/>
            <a:ext cx="32918400" cy="3556000"/>
          </a:xfrm>
          <a:prstGeom prst="rect">
            <a:avLst/>
          </a:prstGeom>
          <a:noFill/>
        </p:spPr>
        <p:txBody>
          <a:bodyPr vertOverflow="overflow" vert="horz" wrap="square" rtlCol="0" anchor="t" anchorCtr="0">
            <a:noAutofit/>
          </a:bodyPr>
          <a:lstStyle/>
          <a:p>
            <a:pPr marL="0" indent="0" algn="l">
              <a:lnSpc>
                <a:spcPts val="4000"/>
              </a:lnSpc>
              <a:spcBef>
                <a:spcPts val="1200"/>
              </a:spcBef>
              <a:buNone/>
            </a:pPr>
            <a:r>
              <a:rPr lang="en-US" sz="3000">
                <a:solidFill>
                  <a:srgbClr val="313131"/>
                </a:solidFill>
                <a:latin typeface="NVIDIA Sans"/>
                <a:cs typeface="NVIDIA Sans"/>
              </a:rPr>
              <a:t>The pass calls </a:t>
            </a:r>
            <a:r>
              <a:rPr lang="en-US" sz="3000">
                <a:solidFill>
                  <a:srgbClr val="313131"/>
                </a:solidFill>
                <a:latin typeface="Roboto Mono"/>
                <a:cs typeface="Roboto Mono"/>
              </a:rPr>
              <a:t>mlir::tryToPromoteMemorySlots</a:t>
            </a:r>
            <a:r>
              <a:rPr lang="en-US" sz="3000">
                <a:solidFill>
                  <a:srgbClr val="313131"/>
                </a:solidFill>
                <a:latin typeface="NVIDIA Sans"/>
                <a:cs typeface="NVIDIA Sans"/>
              </a:rPr>
              <a:t>, the entry point upstream </a:t>
            </a:r>
            <a:r>
              <a:rPr lang="en-US" sz="3000">
                <a:solidFill>
                  <a:srgbClr val="313131"/>
                </a:solidFill>
                <a:latin typeface="Roboto Mono"/>
                <a:cs typeface="Roboto Mono"/>
              </a:rPr>
              <a:t>-mem2reg</a:t>
            </a:r>
            <a:r>
              <a:rPr lang="en-US" sz="3000">
                <a:solidFill>
                  <a:srgbClr val="313131"/>
                </a:solidFill>
                <a:latin typeface="NVIDIA Sans"/>
                <a:cs typeface="NVIDIA Sans"/>
              </a:rPr>
              <a:t> wraps.</a:t>
            </a:r>
          </a:p>
          <a:p>
            <a:pPr marL="0" indent="0" algn="l">
              <a:lnSpc>
                <a:spcPts val="4000"/>
              </a:lnSpc>
              <a:spcBef>
                <a:spcPts val="1200"/>
              </a:spcBef>
              <a:buNone/>
            </a:pPr>
            <a:r>
              <a:rPr lang="en-US" sz="3000">
                <a:solidFill>
                  <a:srgbClr val="313131"/>
                </a:solidFill>
                <a:latin typeface="Roboto Mono"/>
                <a:cs typeface="Roboto Mono"/>
              </a:rPr>
              <a:t>pyir.ref</a:t>
            </a:r>
            <a:r>
              <a:rPr lang="en-US" sz="3000">
                <a:solidFill>
                  <a:srgbClr val="313131"/>
                </a:solidFill>
                <a:latin typeface="NVIDIA Sans"/>
                <a:cs typeface="NVIDIA Sans"/>
              </a:rPr>
              <a:t>, </a:t>
            </a:r>
            <a:r>
              <a:rPr lang="en-US" sz="3000">
                <a:solidFill>
                  <a:srgbClr val="313131"/>
                </a:solidFill>
                <a:latin typeface="Roboto Mono"/>
                <a:cs typeface="Roboto Mono"/>
              </a:rPr>
              <a:t>pyir.load</a:t>
            </a:r>
            <a:r>
              <a:rPr lang="en-US" sz="3000">
                <a:solidFill>
                  <a:srgbClr val="313131"/>
                </a:solidFill>
                <a:latin typeface="NVIDIA Sans"/>
                <a:cs typeface="NVIDIA Sans"/>
              </a:rPr>
              <a:t> and </a:t>
            </a:r>
            <a:r>
              <a:rPr lang="en-US" sz="3000">
                <a:solidFill>
                  <a:srgbClr val="313131"/>
                </a:solidFill>
                <a:latin typeface="Roboto Mono"/>
                <a:cs typeface="Roboto Mono"/>
              </a:rPr>
              <a:t>pyir.store</a:t>
            </a:r>
            <a:r>
              <a:rPr lang="en-US" sz="3000">
                <a:solidFill>
                  <a:srgbClr val="313131"/>
                </a:solidFill>
                <a:latin typeface="NVIDIA Sans"/>
                <a:cs typeface="NVIDIA Sans"/>
              </a:rPr>
              <a:t> implement the upstream </a:t>
            </a:r>
            <a:r>
              <a:rPr lang="en-US" sz="3000" err="1">
                <a:solidFill>
                  <a:srgbClr val="313131"/>
                </a:solidFill>
                <a:latin typeface="NVIDIA Sans"/>
                <a:cs typeface="NVIDIA Sans"/>
              </a:rPr>
              <a:t>MemorySlot</a:t>
            </a:r>
            <a:r>
              <a:rPr lang="en-US" sz="3000">
                <a:solidFill>
                  <a:srgbClr val="313131"/>
                </a:solidFill>
                <a:latin typeface="NVIDIA Sans"/>
                <a:cs typeface="NVIDIA Sans"/>
              </a:rPr>
              <a:t> interfaces.</a:t>
            </a:r>
          </a:p>
        </p:txBody>
      </p:sp>
    </p:spTree>
    <p:extLst>
      <p:ext uri="{BB962C8B-B14F-4D97-AF65-F5344CB8AC3E}">
        <p14:creationId xmlns:p14="http://schemas.microsoft.com/office/powerpoint/2010/main" val="3078954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4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5">
          <a:extLst>
            <a:ext uri="{FF2B5EF4-FFF2-40B4-BE49-F238E27FC236}">
              <a16:creationId xmlns:a16="http://schemas.microsoft.com/office/drawing/2014/main" id="{4BD47EBD-2148-43E5-4C56-B9C509CA0B01}"/>
            </a:ext>
          </a:extLst>
        </p:cNvPr>
        <p:cNvGrpSpPr/>
        <p:nvPr/>
      </p:nvGrpSpPr>
      <p:grpSpPr>
        <a:xfrm>
          <a:off x="0" y="0"/>
          <a:ext cx="0" cy="0"/>
          <a:chOff x="0" y="0"/>
          <a:chExt cx="0" cy="0"/>
        </a:xfrm>
      </p:grpSpPr>
      <p:sp>
        <p:nvSpPr>
          <p:cNvPr id="566" name="Google Shape;566;p51">
            <a:extLst>
              <a:ext uri="{FF2B5EF4-FFF2-40B4-BE49-F238E27FC236}">
                <a16:creationId xmlns:a16="http://schemas.microsoft.com/office/drawing/2014/main" id="{0DDE6772-4BC1-028D-DE2A-6627C38A1ED3}"/>
              </a:ext>
            </a:extLst>
          </p:cNvPr>
          <p:cNvSpPr txBox="1">
            <a:spLocks noGrp="1"/>
          </p:cNvSpPr>
          <p:nvPr>
            <p:ph type="body" idx="1"/>
          </p:nvPr>
        </p:nvSpPr>
        <p:spPr>
          <a:xfrm>
            <a:off x="18665687" y="2470666"/>
            <a:ext cx="16081513" cy="3416320"/>
          </a:xfrm>
          <a:prstGeom prst="rect">
            <a:avLst/>
          </a:prstGeom>
          <a:noFill/>
          <a:ln>
            <a:noFill/>
          </a:ln>
        </p:spPr>
        <p:txBody>
          <a:bodyPr spcFirstLastPara="1" wrap="square" lIns="0" tIns="45700" rIns="0" bIns="45700" anchor="ctr" anchorCtr="0">
            <a:noAutofit/>
          </a:bodyPr>
          <a:lstStyle/>
          <a:p>
            <a:pPr algn="r"/>
            <a:r>
              <a:rPr lang="en-US"/>
              <a:t>Differential Testing and Formal Proof</a:t>
            </a:r>
          </a:p>
        </p:txBody>
      </p:sp>
    </p:spTree>
    <p:extLst>
      <p:ext uri="{BB962C8B-B14F-4D97-AF65-F5344CB8AC3E}">
        <p14:creationId xmlns:p14="http://schemas.microsoft.com/office/powerpoint/2010/main" val="1698483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93">
          <a:extLst>
            <a:ext uri="{FF2B5EF4-FFF2-40B4-BE49-F238E27FC236}">
              <a16:creationId xmlns:a16="http://schemas.microsoft.com/office/drawing/2014/main" id="{1CBEF0F1-CC4D-E493-0EBD-F0760D0881D0}"/>
            </a:ext>
          </a:extLst>
        </p:cNvPr>
        <p:cNvGrpSpPr/>
        <p:nvPr/>
      </p:nvGrpSpPr>
      <p:grpSpPr>
        <a:xfrm>
          <a:off x="0" y="0"/>
          <a:ext cx="0" cy="0"/>
          <a:chOff x="0" y="0"/>
          <a:chExt cx="0" cy="0"/>
        </a:xfrm>
      </p:grpSpPr>
      <p:sp>
        <p:nvSpPr>
          <p:cNvPr id="1500" name="RtCard0"/>
          <p:cNvSpPr/>
          <p:nvPr/>
        </p:nvSpPr>
        <p:spPr>
          <a:xfrm>
            <a:off x="1828800" y="12065000"/>
            <a:ext cx="3886200" cy="2540000"/>
          </a:xfrm>
          <a:prstGeom prst="roundRect">
            <a:avLst>
              <a:gd name="adj" fmla="val 12000"/>
            </a:avLst>
          </a:prstGeom>
          <a:ln w="38100">
            <a:solidFill>
              <a:srgbClr val="C9C9C9"/>
            </a:solidFill>
          </a:ln>
        </p:spPr>
        <p:txBody>
          <a:bodyPr/>
          <a:lstStyle/>
          <a:p>
            <a:endParaRPr/>
          </a:p>
        </p:txBody>
      </p:sp>
      <p:sp>
        <p:nvSpPr>
          <p:cNvPr id="1501" name="RtCard1"/>
          <p:cNvSpPr/>
          <p:nvPr/>
        </p:nvSpPr>
        <p:spPr>
          <a:xfrm>
            <a:off x="6235700" y="12065000"/>
            <a:ext cx="3886200" cy="2540000"/>
          </a:xfrm>
          <a:prstGeom prst="roundRect">
            <a:avLst>
              <a:gd name="adj" fmla="val 12000"/>
            </a:avLst>
          </a:prstGeom>
          <a:ln w="38100">
            <a:solidFill>
              <a:srgbClr val="C9C9C9"/>
            </a:solidFill>
          </a:ln>
        </p:spPr>
        <p:txBody>
          <a:bodyPr/>
          <a:lstStyle/>
          <a:p>
            <a:endParaRPr/>
          </a:p>
        </p:txBody>
      </p:sp>
      <p:sp>
        <p:nvSpPr>
          <p:cNvPr id="1502" name="RtCard2"/>
          <p:cNvSpPr/>
          <p:nvPr/>
        </p:nvSpPr>
        <p:spPr>
          <a:xfrm>
            <a:off x="10642600" y="12065000"/>
            <a:ext cx="3886200" cy="2540000"/>
          </a:xfrm>
          <a:prstGeom prst="roundRect">
            <a:avLst>
              <a:gd name="adj" fmla="val 12000"/>
            </a:avLst>
          </a:prstGeom>
          <a:ln w="38100">
            <a:solidFill>
              <a:srgbClr val="C9C9C9"/>
            </a:solidFill>
          </a:ln>
        </p:spPr>
        <p:txBody>
          <a:bodyPr/>
          <a:lstStyle/>
          <a:p>
            <a:endParaRPr/>
          </a:p>
        </p:txBody>
      </p:sp>
      <p:sp>
        <p:nvSpPr>
          <p:cNvPr id="1394" name="Google Shape;1394;p137">
            <a:extLst>
              <a:ext uri="{FF2B5EF4-FFF2-40B4-BE49-F238E27FC236}">
                <a16:creationId xmlns:a16="http://schemas.microsoft.com/office/drawing/2014/main" id="{647B2024-B332-362A-D046-B23A05A39E58}"/>
              </a:ext>
            </a:extLst>
          </p:cNvPr>
          <p:cNvSpPr/>
          <p:nvPr/>
        </p:nvSpPr>
        <p:spPr>
          <a:xfrm>
            <a:off x="1828800" y="8001000"/>
            <a:ext cx="12700000" cy="2286000"/>
          </a:xfrm>
          <a:prstGeom prst="rect">
            <a:avLst/>
          </a:prstGeom>
          <a:ln w="38100">
            <a:solidFill>
              <a:srgbClr val="76B900"/>
            </a:solidFill>
          </a:ln>
        </p:spPr>
        <p:txBody>
          <a:bodyPr spcFirstLastPara="1" wrap="square" lIns="0" tIns="0" rIns="0" bIns="0" anchor="ctr" anchorCtr="0">
            <a:noAutofit/>
          </a:bodyPr>
          <a:lstStyle/>
          <a:p>
            <a:pPr algn="ctr">
              <a:buClr>
                <a:srgbClr val="111114"/>
              </a:buClr>
              <a:buSzPts val="1500"/>
            </a:pPr>
            <a:r>
              <a:rPr lang="en" sz="3200" b="1">
                <a:solidFill>
                  <a:srgbClr val="111114"/>
                </a:solidFill>
                <a:latin typeface="Consolas"/>
                <a:ea typeface="Consolas"/>
                <a:cs typeface="Consolas"/>
                <a:sym typeface="Consolas"/>
              </a:rPr>
              <a:t>the same .py file</a:t>
            </a:r>
            <a:endParaRPr sz="4400"/>
          </a:p>
        </p:txBody>
      </p:sp>
      <p:sp>
        <p:nvSpPr>
          <p:cNvPr id="1400" name="Google Shape;1400;p137">
            <a:extLst>
              <a:ext uri="{FF2B5EF4-FFF2-40B4-BE49-F238E27FC236}">
                <a16:creationId xmlns:a16="http://schemas.microsoft.com/office/drawing/2014/main" id="{763DDDF1-AFEE-ADBB-B494-CE15CADEB051}"/>
              </a:ext>
            </a:extLst>
          </p:cNvPr>
          <p:cNvSpPr txBox="1"/>
          <p:nvPr/>
        </p:nvSpPr>
        <p:spPr>
          <a:xfrm>
            <a:off x="1828800" y="12725400"/>
            <a:ext cx="3886200" cy="889000"/>
          </a:xfrm>
          <a:prstGeom prst="rect">
            <a:avLst/>
          </a:prstGeom>
          <a:noFill/>
          <a:ln>
            <a:noFill/>
          </a:ln>
        </p:spPr>
        <p:txBody>
          <a:bodyPr spcFirstLastPara="1" wrap="square" lIns="0" tIns="0" rIns="0" bIns="0" anchor="t" anchorCtr="0">
            <a:noAutofit/>
          </a:bodyPr>
          <a:lstStyle/>
          <a:p>
            <a:pPr algn="ctr">
              <a:buClr>
                <a:srgbClr val="111114"/>
              </a:buClr>
              <a:buSzPts val="1500"/>
            </a:pPr>
            <a:r>
              <a:rPr lang="en" sz="2800" b="1">
                <a:solidFill>
                  <a:srgbClr val="111114"/>
                </a:solidFill>
              </a:rPr>
              <a:t>CPython</a:t>
            </a:r>
            <a:endParaRPr sz="4400"/>
          </a:p>
        </p:txBody>
      </p:sp>
      <p:sp>
        <p:nvSpPr>
          <p:cNvPr id="1401" name="Google Shape;1401;p137">
            <a:extLst>
              <a:ext uri="{FF2B5EF4-FFF2-40B4-BE49-F238E27FC236}">
                <a16:creationId xmlns:a16="http://schemas.microsoft.com/office/drawing/2014/main" id="{B1EF710E-8BD2-DB1C-C1CC-E99DF5C687AE}"/>
              </a:ext>
            </a:extLst>
          </p:cNvPr>
          <p:cNvSpPr txBox="1"/>
          <p:nvPr/>
        </p:nvSpPr>
        <p:spPr>
          <a:xfrm>
            <a:off x="6235700" y="12890500"/>
            <a:ext cx="3886200" cy="889000"/>
          </a:xfrm>
          <a:prstGeom prst="rect">
            <a:avLst/>
          </a:prstGeom>
          <a:noFill/>
          <a:ln>
            <a:noFill/>
          </a:ln>
        </p:spPr>
        <p:txBody>
          <a:bodyPr spcFirstLastPara="1" wrap="square" lIns="0" tIns="0" rIns="0" bIns="0" anchor="t" anchorCtr="0">
            <a:noAutofit/>
          </a:bodyPr>
          <a:lstStyle/>
          <a:p>
            <a:pPr algn="ctr">
              <a:buClr>
                <a:srgbClr val="111114"/>
              </a:buClr>
              <a:buSzPts val="1500"/>
            </a:pPr>
            <a:r>
              <a:rPr lang="en" sz="2800" b="1" err="1">
                <a:solidFill>
                  <a:srgbClr val="111114"/>
                </a:solidFill>
              </a:rPr>
              <a:t>DkgDSL</a:t>
            </a:r>
            <a:r>
              <a:rPr lang="en" sz="2800" b="1">
                <a:solidFill>
                  <a:srgbClr val="111114"/>
                </a:solidFill>
              </a:rPr>
              <a:t> v1</a:t>
            </a:r>
            <a:endParaRPr sz="4400"/>
          </a:p>
        </p:txBody>
      </p:sp>
      <p:sp>
        <p:nvSpPr>
          <p:cNvPr id="1402" name="Google Shape;1402;p137">
            <a:extLst>
              <a:ext uri="{FF2B5EF4-FFF2-40B4-BE49-F238E27FC236}">
                <a16:creationId xmlns:a16="http://schemas.microsoft.com/office/drawing/2014/main" id="{9DDE9CD2-4390-0C92-B6A8-62439110E1DF}"/>
              </a:ext>
            </a:extLst>
          </p:cNvPr>
          <p:cNvSpPr txBox="1"/>
          <p:nvPr/>
        </p:nvSpPr>
        <p:spPr>
          <a:xfrm>
            <a:off x="10642600" y="12890500"/>
            <a:ext cx="3886200" cy="889000"/>
          </a:xfrm>
          <a:prstGeom prst="rect">
            <a:avLst/>
          </a:prstGeom>
          <a:noFill/>
          <a:ln>
            <a:noFill/>
          </a:ln>
        </p:spPr>
        <p:txBody>
          <a:bodyPr spcFirstLastPara="1" wrap="square" lIns="0" tIns="0" rIns="0" bIns="0" anchor="t" anchorCtr="0">
            <a:noAutofit/>
          </a:bodyPr>
          <a:lstStyle/>
          <a:p>
            <a:pPr algn="ctr">
              <a:buClr>
                <a:srgbClr val="111114"/>
              </a:buClr>
              <a:buSzPts val="1500"/>
            </a:pPr>
            <a:r>
              <a:rPr lang="en" sz="2800" b="1" err="1">
                <a:solidFill>
                  <a:srgbClr val="111114"/>
                </a:solidFill>
              </a:rPr>
              <a:t>DkgDSL</a:t>
            </a:r>
            <a:r>
              <a:rPr lang="en" sz="2800" b="1">
                <a:solidFill>
                  <a:srgbClr val="111114"/>
                </a:solidFill>
              </a:rPr>
              <a:t> v2</a:t>
            </a:r>
            <a:endParaRPr sz="4400"/>
          </a:p>
        </p:txBody>
      </p:sp>
      <p:sp>
        <p:nvSpPr>
          <p:cNvPr id="1403" name="Google Shape;1403;p137">
            <a:extLst>
              <a:ext uri="{FF2B5EF4-FFF2-40B4-BE49-F238E27FC236}">
                <a16:creationId xmlns:a16="http://schemas.microsoft.com/office/drawing/2014/main" id="{2A5C6060-86E0-FE12-290B-F17161755AB4}"/>
              </a:ext>
            </a:extLst>
          </p:cNvPr>
          <p:cNvSpPr txBox="1"/>
          <p:nvPr/>
        </p:nvSpPr>
        <p:spPr>
          <a:xfrm>
            <a:off x="1828800" y="13639800"/>
            <a:ext cx="3886200" cy="711200"/>
          </a:xfrm>
          <a:prstGeom prst="rect">
            <a:avLst/>
          </a:prstGeom>
          <a:noFill/>
          <a:ln>
            <a:noFill/>
          </a:ln>
        </p:spPr>
        <p:txBody>
          <a:bodyPr spcFirstLastPara="1" wrap="square" lIns="0" tIns="0" rIns="0" bIns="0" anchor="t" anchorCtr="0">
            <a:noAutofit/>
          </a:bodyPr>
          <a:lstStyle/>
          <a:p>
            <a:pPr algn="ctr">
              <a:buClr>
                <a:srgbClr val="8A8A8F"/>
              </a:buClr>
              <a:buSzPts val="1100"/>
            </a:pPr>
            <a:r>
              <a:rPr lang="en" sz="2200" b="0">
                <a:solidFill>
                  <a:srgbClr val="757575"/>
                </a:solidFill>
              </a:rPr>
              <a:t>(truth)</a:t>
            </a:r>
            <a:endParaRPr sz="4400"/>
          </a:p>
        </p:txBody>
      </p:sp>
      <p:sp>
        <p:nvSpPr>
          <p:cNvPr id="1404" name="Google Shape;1404;p137">
            <a:extLst>
              <a:ext uri="{FF2B5EF4-FFF2-40B4-BE49-F238E27FC236}">
                <a16:creationId xmlns:a16="http://schemas.microsoft.com/office/drawing/2014/main" id="{7AB9835C-EF3B-9FC1-DADA-371CCC251064}"/>
              </a:ext>
            </a:extLst>
          </p:cNvPr>
          <p:cNvSpPr txBox="1"/>
          <p:nvPr/>
        </p:nvSpPr>
        <p:spPr>
          <a:xfrm>
            <a:off x="15849600" y="4495800"/>
            <a:ext cx="7112000" cy="762000"/>
          </a:xfrm>
          <a:prstGeom prst="rect">
            <a:avLst/>
          </a:prstGeom>
          <a:noFill/>
          <a:ln>
            <a:noFill/>
          </a:ln>
        </p:spPr>
        <p:txBody>
          <a:bodyPr spcFirstLastPara="1" wrap="square" lIns="0" tIns="0" rIns="0" bIns="0" anchor="t" anchorCtr="0">
            <a:noAutofit/>
          </a:bodyPr>
          <a:lstStyle/>
          <a:p>
            <a:pPr>
              <a:buClr>
                <a:srgbClr val="5A6067"/>
              </a:buClr>
              <a:buSzPts val="1100"/>
            </a:pPr>
            <a:r>
              <a:rPr lang="en" sz="4400">
                <a:solidFill>
                  <a:srgbClr val="5A6067"/>
                </a:solidFill>
              </a:rPr>
              <a:t>outcome</a:t>
            </a:r>
            <a:endParaRPr sz="4400"/>
          </a:p>
        </p:txBody>
      </p:sp>
      <p:sp>
        <p:nvSpPr>
          <p:cNvPr id="1405" name="Google Shape;1405;p137">
            <a:extLst>
              <a:ext uri="{FF2B5EF4-FFF2-40B4-BE49-F238E27FC236}">
                <a16:creationId xmlns:a16="http://schemas.microsoft.com/office/drawing/2014/main" id="{73692F23-E2D7-3284-C490-146F9D66F99A}"/>
              </a:ext>
            </a:extLst>
          </p:cNvPr>
          <p:cNvSpPr txBox="1"/>
          <p:nvPr/>
        </p:nvSpPr>
        <p:spPr>
          <a:xfrm>
            <a:off x="23241000" y="4495800"/>
            <a:ext cx="6477000" cy="762000"/>
          </a:xfrm>
          <a:prstGeom prst="rect">
            <a:avLst/>
          </a:prstGeom>
          <a:noFill/>
          <a:ln>
            <a:noFill/>
          </a:ln>
        </p:spPr>
        <p:txBody>
          <a:bodyPr spcFirstLastPara="1" wrap="square" lIns="0" tIns="0" rIns="0" bIns="0" anchor="t" anchorCtr="0">
            <a:noAutofit/>
          </a:bodyPr>
          <a:lstStyle/>
          <a:p>
            <a:pPr algn="r">
              <a:buClr>
                <a:srgbClr val="5A6067"/>
              </a:buClr>
              <a:buSzPts val="1100"/>
            </a:pPr>
            <a:r>
              <a:rPr lang="en" sz="4400" b="1">
                <a:solidFill>
                  <a:srgbClr val="5A6067"/>
                </a:solidFill>
              </a:rPr>
              <a:t>v1</a:t>
            </a:r>
          </a:p>
        </p:txBody>
      </p:sp>
      <p:sp>
        <p:nvSpPr>
          <p:cNvPr id="1406" name="Google Shape;1406;p137">
            <a:extLst>
              <a:ext uri="{FF2B5EF4-FFF2-40B4-BE49-F238E27FC236}">
                <a16:creationId xmlns:a16="http://schemas.microsoft.com/office/drawing/2014/main" id="{A2300004-525D-38B6-42B4-280FDEBF21CF}"/>
              </a:ext>
            </a:extLst>
          </p:cNvPr>
          <p:cNvSpPr txBox="1"/>
          <p:nvPr/>
        </p:nvSpPr>
        <p:spPr>
          <a:xfrm>
            <a:off x="30099000" y="4495800"/>
            <a:ext cx="4647600" cy="762000"/>
          </a:xfrm>
          <a:prstGeom prst="rect">
            <a:avLst/>
          </a:prstGeom>
          <a:noFill/>
          <a:ln>
            <a:noFill/>
          </a:ln>
        </p:spPr>
        <p:txBody>
          <a:bodyPr spcFirstLastPara="1" wrap="square" lIns="0" tIns="0" rIns="0" bIns="0" anchor="t" anchorCtr="0">
            <a:noAutofit/>
          </a:bodyPr>
          <a:lstStyle/>
          <a:p>
            <a:pPr algn="r">
              <a:buClr>
                <a:srgbClr val="111114"/>
              </a:buClr>
              <a:buSzPts val="1100"/>
            </a:pPr>
            <a:r>
              <a:rPr lang="en" sz="4400" b="1">
                <a:solidFill>
                  <a:srgbClr val="111114"/>
                </a:solidFill>
              </a:rPr>
              <a:t>v2</a:t>
            </a:r>
          </a:p>
        </p:txBody>
      </p:sp>
      <p:cxnSp>
        <p:nvCxnSpPr>
          <p:cNvPr id="1407" name="Google Shape;1407;p137">
            <a:extLst>
              <a:ext uri="{FF2B5EF4-FFF2-40B4-BE49-F238E27FC236}">
                <a16:creationId xmlns:a16="http://schemas.microsoft.com/office/drawing/2014/main" id="{4CC08284-B034-BC35-B279-B8318059A2F3}"/>
              </a:ext>
            </a:extLst>
          </p:cNvPr>
          <p:cNvCxnSpPr/>
          <p:nvPr/>
        </p:nvCxnSpPr>
        <p:spPr>
          <a:xfrm>
            <a:off x="15849600" y="5410200"/>
            <a:ext cx="18897600" cy="7200"/>
          </a:xfrm>
          <a:prstGeom prst="straightConnector1">
            <a:avLst/>
          </a:prstGeom>
          <a:noFill/>
          <a:ln w="15875" cap="rnd" cmpd="sng">
            <a:solidFill>
              <a:srgbClr val="111114"/>
            </a:solidFill>
            <a:prstDash val="solid"/>
            <a:round/>
            <a:headEnd type="none" w="sm" len="sm"/>
            <a:tailEnd type="none" w="sm" len="sm"/>
          </a:ln>
        </p:spPr>
      </p:cxnSp>
      <p:sp>
        <p:nvSpPr>
          <p:cNvPr id="1408" name="Google Shape;1408;p137">
            <a:extLst>
              <a:ext uri="{FF2B5EF4-FFF2-40B4-BE49-F238E27FC236}">
                <a16:creationId xmlns:a16="http://schemas.microsoft.com/office/drawing/2014/main" id="{5C7DD085-3921-80AA-995E-5D2E2E6AF9AD}"/>
              </a:ext>
            </a:extLst>
          </p:cNvPr>
          <p:cNvSpPr txBox="1"/>
          <p:nvPr/>
        </p:nvSpPr>
        <p:spPr>
          <a:xfrm>
            <a:off x="15849600" y="6248400"/>
            <a:ext cx="10363200" cy="991200"/>
          </a:xfrm>
          <a:prstGeom prst="rect">
            <a:avLst/>
          </a:prstGeom>
          <a:noFill/>
          <a:ln>
            <a:noFill/>
          </a:ln>
        </p:spPr>
        <p:txBody>
          <a:bodyPr spcFirstLastPara="1" wrap="square" lIns="0" tIns="0" rIns="0" bIns="0" anchor="t" anchorCtr="0">
            <a:noAutofit/>
          </a:bodyPr>
          <a:lstStyle/>
          <a:p>
            <a:pPr>
              <a:buClr>
                <a:srgbClr val="111114"/>
              </a:buClr>
              <a:buSzPts val="1100"/>
            </a:pPr>
            <a:r>
              <a:rPr lang="en" sz="4400">
                <a:solidFill>
                  <a:srgbClr val="111114"/>
                </a:solidFill>
              </a:rPr>
              <a:t>matches CPython</a:t>
            </a:r>
            <a:endParaRPr sz="4400"/>
          </a:p>
        </p:txBody>
      </p:sp>
      <p:sp>
        <p:nvSpPr>
          <p:cNvPr id="1409" name="Google Shape;1409;p137">
            <a:extLst>
              <a:ext uri="{FF2B5EF4-FFF2-40B4-BE49-F238E27FC236}">
                <a16:creationId xmlns:a16="http://schemas.microsoft.com/office/drawing/2014/main" id="{197460F5-5003-B0B0-5781-B4DF882071F7}"/>
              </a:ext>
            </a:extLst>
          </p:cNvPr>
          <p:cNvSpPr txBox="1"/>
          <p:nvPr/>
        </p:nvSpPr>
        <p:spPr>
          <a:xfrm>
            <a:off x="26670000" y="5943600"/>
            <a:ext cx="3048000" cy="1219200"/>
          </a:xfrm>
          <a:prstGeom prst="rect">
            <a:avLst/>
          </a:prstGeom>
          <a:noFill/>
          <a:ln>
            <a:noFill/>
          </a:ln>
        </p:spPr>
        <p:txBody>
          <a:bodyPr spcFirstLastPara="1" wrap="square" lIns="0" tIns="0" rIns="0" bIns="0" anchor="t" anchorCtr="0">
            <a:noAutofit/>
          </a:bodyPr>
          <a:lstStyle/>
          <a:p>
            <a:pPr algn="r">
              <a:buClr>
                <a:srgbClr val="8E8E93"/>
              </a:buClr>
              <a:buSzPts val="1500"/>
            </a:pPr>
            <a:r>
              <a:rPr lang="en" sz="6000">
                <a:solidFill>
                  <a:srgbClr val="8E8E93"/>
                </a:solidFill>
              </a:rPr>
              <a:t>593</a:t>
            </a:r>
          </a:p>
        </p:txBody>
      </p:sp>
      <p:sp>
        <p:nvSpPr>
          <p:cNvPr id="1410" name="Google Shape;1410;p137">
            <a:extLst>
              <a:ext uri="{FF2B5EF4-FFF2-40B4-BE49-F238E27FC236}">
                <a16:creationId xmlns:a16="http://schemas.microsoft.com/office/drawing/2014/main" id="{001958A5-9556-4B1E-BE2F-78F8719ED95B}"/>
              </a:ext>
            </a:extLst>
          </p:cNvPr>
          <p:cNvSpPr txBox="1"/>
          <p:nvPr/>
        </p:nvSpPr>
        <p:spPr>
          <a:xfrm>
            <a:off x="30099000" y="5943600"/>
            <a:ext cx="4647600" cy="1219200"/>
          </a:xfrm>
          <a:prstGeom prst="rect">
            <a:avLst/>
          </a:prstGeom>
          <a:noFill/>
          <a:ln>
            <a:noFill/>
          </a:ln>
        </p:spPr>
        <p:txBody>
          <a:bodyPr spcFirstLastPara="1" wrap="square" lIns="0" tIns="0" rIns="0" bIns="0" anchor="t" anchorCtr="0">
            <a:noAutofit/>
          </a:bodyPr>
          <a:lstStyle/>
          <a:p>
            <a:pPr algn="r">
              <a:buClr>
                <a:srgbClr val="111114"/>
              </a:buClr>
              <a:buSzPts val="1500"/>
            </a:pPr>
            <a:r>
              <a:rPr lang="en" sz="6000" b="1">
                <a:solidFill>
                  <a:srgbClr val="111114"/>
                </a:solidFill>
              </a:rPr>
              <a:t>738</a:t>
            </a:r>
          </a:p>
        </p:txBody>
      </p:sp>
      <p:cxnSp>
        <p:nvCxnSpPr>
          <p:cNvPr id="1411" name="Google Shape;1411;p137">
            <a:extLst>
              <a:ext uri="{FF2B5EF4-FFF2-40B4-BE49-F238E27FC236}">
                <a16:creationId xmlns:a16="http://schemas.microsoft.com/office/drawing/2014/main" id="{2CF2EF48-73F9-E26C-C4DE-D45EB67EBE78}"/>
              </a:ext>
            </a:extLst>
          </p:cNvPr>
          <p:cNvCxnSpPr/>
          <p:nvPr/>
        </p:nvCxnSpPr>
        <p:spPr>
          <a:xfrm>
            <a:off x="15849600" y="7543800"/>
            <a:ext cx="18897600" cy="7200"/>
          </a:xfrm>
          <a:prstGeom prst="straightConnector1">
            <a:avLst/>
          </a:prstGeom>
          <a:noFill/>
          <a:ln w="12700" cap="rnd" cmpd="sng">
            <a:solidFill>
              <a:srgbClr val="DDDFE2"/>
            </a:solidFill>
            <a:prstDash val="solid"/>
            <a:round/>
            <a:headEnd type="none" w="sm" len="sm"/>
            <a:tailEnd type="none" w="sm" len="sm"/>
          </a:ln>
        </p:spPr>
      </p:cxnSp>
      <p:sp>
        <p:nvSpPr>
          <p:cNvPr id="1412" name="Google Shape;1412;p137">
            <a:extLst>
              <a:ext uri="{FF2B5EF4-FFF2-40B4-BE49-F238E27FC236}">
                <a16:creationId xmlns:a16="http://schemas.microsoft.com/office/drawing/2014/main" id="{4CA09FE4-A531-7307-3553-C5CF287EDABB}"/>
              </a:ext>
            </a:extLst>
          </p:cNvPr>
          <p:cNvSpPr txBox="1"/>
          <p:nvPr/>
        </p:nvSpPr>
        <p:spPr>
          <a:xfrm>
            <a:off x="15849600" y="8382000"/>
            <a:ext cx="10363200" cy="991200"/>
          </a:xfrm>
          <a:prstGeom prst="rect">
            <a:avLst/>
          </a:prstGeom>
          <a:noFill/>
          <a:ln>
            <a:noFill/>
          </a:ln>
        </p:spPr>
        <p:txBody>
          <a:bodyPr spcFirstLastPara="1" wrap="square" lIns="0" tIns="0" rIns="0" bIns="0" anchor="t" anchorCtr="0">
            <a:noAutofit/>
          </a:bodyPr>
          <a:lstStyle/>
          <a:p>
            <a:pPr>
              <a:buClr>
                <a:srgbClr val="111114"/>
              </a:buClr>
              <a:buSzPts val="1100"/>
            </a:pPr>
            <a:r>
              <a:rPr lang="en" sz="4400">
                <a:solidFill>
                  <a:srgbClr val="111114"/>
                </a:solidFill>
              </a:rPr>
              <a:t>known-wrong</a:t>
            </a:r>
            <a:endParaRPr sz="4400"/>
          </a:p>
        </p:txBody>
      </p:sp>
      <p:sp>
        <p:nvSpPr>
          <p:cNvPr id="1413" name="Google Shape;1413;p137">
            <a:extLst>
              <a:ext uri="{FF2B5EF4-FFF2-40B4-BE49-F238E27FC236}">
                <a16:creationId xmlns:a16="http://schemas.microsoft.com/office/drawing/2014/main" id="{9F921A41-9D13-A1D2-4D20-7982DB2A60FD}"/>
              </a:ext>
            </a:extLst>
          </p:cNvPr>
          <p:cNvSpPr txBox="1"/>
          <p:nvPr/>
        </p:nvSpPr>
        <p:spPr>
          <a:xfrm>
            <a:off x="26670000" y="8077200"/>
            <a:ext cx="3048000" cy="1219200"/>
          </a:xfrm>
          <a:prstGeom prst="rect">
            <a:avLst/>
          </a:prstGeom>
          <a:noFill/>
          <a:ln>
            <a:noFill/>
          </a:ln>
        </p:spPr>
        <p:txBody>
          <a:bodyPr spcFirstLastPara="1" wrap="square" lIns="0" tIns="0" rIns="0" bIns="0" anchor="t" anchorCtr="0">
            <a:noAutofit/>
          </a:bodyPr>
          <a:lstStyle/>
          <a:p>
            <a:pPr algn="r">
              <a:buClr>
                <a:srgbClr val="8E8E93"/>
              </a:buClr>
              <a:buSzPts val="1500"/>
            </a:pPr>
            <a:r>
              <a:rPr lang="en" sz="6000">
                <a:solidFill>
                  <a:srgbClr val="8E8E93"/>
                </a:solidFill>
              </a:rPr>
              <a:t>33</a:t>
            </a:r>
          </a:p>
        </p:txBody>
      </p:sp>
      <p:sp>
        <p:nvSpPr>
          <p:cNvPr id="1414" name="Google Shape;1414;p137">
            <a:extLst>
              <a:ext uri="{FF2B5EF4-FFF2-40B4-BE49-F238E27FC236}">
                <a16:creationId xmlns:a16="http://schemas.microsoft.com/office/drawing/2014/main" id="{BA47347F-FF5B-A0C1-9C25-38099049775B}"/>
              </a:ext>
            </a:extLst>
          </p:cNvPr>
          <p:cNvSpPr txBox="1"/>
          <p:nvPr/>
        </p:nvSpPr>
        <p:spPr>
          <a:xfrm>
            <a:off x="30099000" y="8077200"/>
            <a:ext cx="4648200" cy="1219200"/>
          </a:xfrm>
          <a:prstGeom prst="rect">
            <a:avLst/>
          </a:prstGeom>
          <a:noFill/>
          <a:ln>
            <a:noFill/>
          </a:ln>
        </p:spPr>
        <p:txBody>
          <a:bodyPr spcFirstLastPara="1" wrap="square" lIns="0" tIns="0" rIns="0" bIns="0" anchor="t" anchorCtr="0">
            <a:noAutofit/>
          </a:bodyPr>
          <a:lstStyle/>
          <a:p>
            <a:pPr algn="r">
              <a:buClr>
                <a:srgbClr val="111114"/>
              </a:buClr>
              <a:buSzPts val="1500"/>
            </a:pPr>
            <a:r>
              <a:rPr lang="en" sz="6000" b="1">
                <a:solidFill>
                  <a:srgbClr val="111114"/>
                </a:solidFill>
              </a:rPr>
              <a:t>25</a:t>
            </a:r>
            <a:r>
              <a:rPr lang="en" sz="6000" b="1">
                <a:solidFill>
                  <a:srgbClr val="757575"/>
                </a:solidFill>
              </a:rPr>
              <a:t> → </a:t>
            </a:r>
            <a:r>
              <a:rPr lang="en" sz="6000" b="1">
                <a:solidFill>
                  <a:srgbClr val="4A7C00"/>
                </a:solidFill>
              </a:rPr>
              <a:t>0</a:t>
            </a:r>
            <a:r>
              <a:rPr lang="en" sz="6000" b="1" baseline="26000">
                <a:solidFill>
                  <a:srgbClr val="76B900"/>
                </a:solidFill>
              </a:rPr>
              <a:t>*</a:t>
            </a:r>
          </a:p>
        </p:txBody>
      </p:sp>
      <p:cxnSp>
        <p:nvCxnSpPr>
          <p:cNvPr id="1415" name="Google Shape;1415;p137">
            <a:extLst>
              <a:ext uri="{FF2B5EF4-FFF2-40B4-BE49-F238E27FC236}">
                <a16:creationId xmlns:a16="http://schemas.microsoft.com/office/drawing/2014/main" id="{613E9353-D783-E0BE-C762-EA26A5DE0C54}"/>
              </a:ext>
            </a:extLst>
          </p:cNvPr>
          <p:cNvCxnSpPr/>
          <p:nvPr/>
        </p:nvCxnSpPr>
        <p:spPr>
          <a:xfrm>
            <a:off x="15849600" y="9677400"/>
            <a:ext cx="18897600" cy="7200"/>
          </a:xfrm>
          <a:prstGeom prst="straightConnector1">
            <a:avLst/>
          </a:prstGeom>
          <a:noFill/>
          <a:ln w="12700" cap="rnd" cmpd="sng">
            <a:solidFill>
              <a:srgbClr val="DDDFE2"/>
            </a:solidFill>
            <a:prstDash val="solid"/>
            <a:round/>
            <a:headEnd type="none" w="sm" len="sm"/>
            <a:tailEnd type="none" w="sm" len="sm"/>
          </a:ln>
        </p:spPr>
      </p:cxnSp>
      <p:sp>
        <p:nvSpPr>
          <p:cNvPr id="1416" name="Google Shape;1416;p137">
            <a:extLst>
              <a:ext uri="{FF2B5EF4-FFF2-40B4-BE49-F238E27FC236}">
                <a16:creationId xmlns:a16="http://schemas.microsoft.com/office/drawing/2014/main" id="{82C7EB28-AB8F-A5F8-07EB-E402DAFB3C96}"/>
              </a:ext>
            </a:extLst>
          </p:cNvPr>
          <p:cNvSpPr txBox="1"/>
          <p:nvPr/>
        </p:nvSpPr>
        <p:spPr>
          <a:xfrm>
            <a:off x="15849600" y="10515600"/>
            <a:ext cx="10363200" cy="991200"/>
          </a:xfrm>
          <a:prstGeom prst="rect">
            <a:avLst/>
          </a:prstGeom>
          <a:noFill/>
          <a:ln>
            <a:noFill/>
          </a:ln>
        </p:spPr>
        <p:txBody>
          <a:bodyPr spcFirstLastPara="1" wrap="square" lIns="0" tIns="0" rIns="0" bIns="0" anchor="t" anchorCtr="0">
            <a:noAutofit/>
          </a:bodyPr>
          <a:lstStyle/>
          <a:p>
            <a:pPr>
              <a:buClr>
                <a:srgbClr val="111114"/>
              </a:buClr>
              <a:buSzPts val="1100"/>
            </a:pPr>
            <a:r>
              <a:rPr lang="en" sz="4400">
                <a:solidFill>
                  <a:srgbClr val="111114"/>
                </a:solidFill>
              </a:rPr>
              <a:t>refuses valid code</a:t>
            </a:r>
            <a:endParaRPr sz="4400"/>
          </a:p>
        </p:txBody>
      </p:sp>
      <p:sp>
        <p:nvSpPr>
          <p:cNvPr id="1417" name="Google Shape;1417;p137">
            <a:extLst>
              <a:ext uri="{FF2B5EF4-FFF2-40B4-BE49-F238E27FC236}">
                <a16:creationId xmlns:a16="http://schemas.microsoft.com/office/drawing/2014/main" id="{91FB32F5-628B-930A-A1BF-715E5405930F}"/>
              </a:ext>
            </a:extLst>
          </p:cNvPr>
          <p:cNvSpPr txBox="1"/>
          <p:nvPr/>
        </p:nvSpPr>
        <p:spPr>
          <a:xfrm>
            <a:off x="26670000" y="10210800"/>
            <a:ext cx="3048000" cy="1219200"/>
          </a:xfrm>
          <a:prstGeom prst="rect">
            <a:avLst/>
          </a:prstGeom>
          <a:noFill/>
          <a:ln>
            <a:noFill/>
          </a:ln>
        </p:spPr>
        <p:txBody>
          <a:bodyPr spcFirstLastPara="1" wrap="square" lIns="0" tIns="0" rIns="0" bIns="0" anchor="t" anchorCtr="0">
            <a:noAutofit/>
          </a:bodyPr>
          <a:lstStyle/>
          <a:p>
            <a:pPr algn="r">
              <a:buClr>
                <a:srgbClr val="8E8E93"/>
              </a:buClr>
              <a:buSzPts val="1500"/>
            </a:pPr>
            <a:r>
              <a:rPr lang="en" sz="6000">
                <a:solidFill>
                  <a:srgbClr val="8E8E93"/>
                </a:solidFill>
              </a:rPr>
              <a:t>132</a:t>
            </a:r>
          </a:p>
        </p:txBody>
      </p:sp>
      <p:sp>
        <p:nvSpPr>
          <p:cNvPr id="1418" name="Google Shape;1418;p137">
            <a:extLst>
              <a:ext uri="{FF2B5EF4-FFF2-40B4-BE49-F238E27FC236}">
                <a16:creationId xmlns:a16="http://schemas.microsoft.com/office/drawing/2014/main" id="{61F94D0D-E8BD-60E6-619A-F980A2D9D5FD}"/>
              </a:ext>
            </a:extLst>
          </p:cNvPr>
          <p:cNvSpPr txBox="1"/>
          <p:nvPr/>
        </p:nvSpPr>
        <p:spPr>
          <a:xfrm>
            <a:off x="30099000" y="10210800"/>
            <a:ext cx="4647600" cy="1219200"/>
          </a:xfrm>
          <a:prstGeom prst="rect">
            <a:avLst/>
          </a:prstGeom>
          <a:noFill/>
          <a:ln>
            <a:noFill/>
          </a:ln>
        </p:spPr>
        <p:txBody>
          <a:bodyPr spcFirstLastPara="1" wrap="square" lIns="0" tIns="0" rIns="0" bIns="0" anchor="t" anchorCtr="0">
            <a:noAutofit/>
          </a:bodyPr>
          <a:lstStyle/>
          <a:p>
            <a:pPr algn="r">
              <a:buClr>
                <a:srgbClr val="111114"/>
              </a:buClr>
              <a:buSzPts val="1500"/>
            </a:pPr>
            <a:r>
              <a:rPr lang="en" sz="6000" b="1">
                <a:solidFill>
                  <a:srgbClr val="111114"/>
                </a:solidFill>
              </a:rPr>
              <a:t>11</a:t>
            </a:r>
            <a:r>
              <a:rPr lang="en" sz="6000" b="1" baseline="26000">
                <a:solidFill>
                  <a:srgbClr val="76B900"/>
                </a:solidFill>
              </a:rPr>
              <a:t>**</a:t>
            </a:r>
          </a:p>
        </p:txBody>
      </p:sp>
      <p:cxnSp>
        <p:nvCxnSpPr>
          <p:cNvPr id="1419" name="Google Shape;1419;p137">
            <a:extLst>
              <a:ext uri="{FF2B5EF4-FFF2-40B4-BE49-F238E27FC236}">
                <a16:creationId xmlns:a16="http://schemas.microsoft.com/office/drawing/2014/main" id="{51DCD3FB-36B1-45F5-05E7-46F24BC5DE30}"/>
              </a:ext>
            </a:extLst>
          </p:cNvPr>
          <p:cNvCxnSpPr/>
          <p:nvPr/>
        </p:nvCxnSpPr>
        <p:spPr>
          <a:xfrm>
            <a:off x="15849600" y="11811000"/>
            <a:ext cx="18897600" cy="7200"/>
          </a:xfrm>
          <a:prstGeom prst="straightConnector1">
            <a:avLst/>
          </a:prstGeom>
          <a:noFill/>
          <a:ln w="12700" cap="rnd" cmpd="sng">
            <a:solidFill>
              <a:srgbClr val="DDDFE2"/>
            </a:solidFill>
            <a:prstDash val="solid"/>
            <a:round/>
            <a:headEnd type="none" w="sm" len="sm"/>
            <a:tailEnd type="none" w="sm" len="sm"/>
          </a:ln>
        </p:spPr>
      </p:cxnSp>
      <p:sp>
        <p:nvSpPr>
          <p:cNvPr id="1420" name="Google Shape;1420;p137">
            <a:extLst>
              <a:ext uri="{FF2B5EF4-FFF2-40B4-BE49-F238E27FC236}">
                <a16:creationId xmlns:a16="http://schemas.microsoft.com/office/drawing/2014/main" id="{A6166D95-5D72-B1A4-B1A2-232DC36BBECF}"/>
              </a:ext>
            </a:extLst>
          </p:cNvPr>
          <p:cNvSpPr txBox="1"/>
          <p:nvPr/>
        </p:nvSpPr>
        <p:spPr>
          <a:xfrm>
            <a:off x="15849600" y="12649200"/>
            <a:ext cx="10363200" cy="991200"/>
          </a:xfrm>
          <a:prstGeom prst="rect">
            <a:avLst/>
          </a:prstGeom>
          <a:noFill/>
          <a:ln>
            <a:noFill/>
          </a:ln>
        </p:spPr>
        <p:txBody>
          <a:bodyPr spcFirstLastPara="1" wrap="square" lIns="0" tIns="0" rIns="0" bIns="0" anchor="t" anchorCtr="0">
            <a:noAutofit/>
          </a:bodyPr>
          <a:lstStyle/>
          <a:p>
            <a:pPr>
              <a:buClr>
                <a:srgbClr val="111114"/>
              </a:buClr>
              <a:buSzPts val="1100"/>
            </a:pPr>
            <a:r>
              <a:rPr lang="en" sz="4400">
                <a:solidFill>
                  <a:srgbClr val="111114"/>
                </a:solidFill>
              </a:rPr>
              <a:t>crashes / hangs</a:t>
            </a:r>
            <a:endParaRPr sz="4400"/>
          </a:p>
        </p:txBody>
      </p:sp>
      <p:sp>
        <p:nvSpPr>
          <p:cNvPr id="1421" name="Google Shape;1421;p137">
            <a:extLst>
              <a:ext uri="{FF2B5EF4-FFF2-40B4-BE49-F238E27FC236}">
                <a16:creationId xmlns:a16="http://schemas.microsoft.com/office/drawing/2014/main" id="{38701D9E-D393-5970-7BA1-826E229FA6BB}"/>
              </a:ext>
            </a:extLst>
          </p:cNvPr>
          <p:cNvSpPr txBox="1"/>
          <p:nvPr/>
        </p:nvSpPr>
        <p:spPr>
          <a:xfrm>
            <a:off x="26670000" y="12344400"/>
            <a:ext cx="3048000" cy="1219200"/>
          </a:xfrm>
          <a:prstGeom prst="rect">
            <a:avLst/>
          </a:prstGeom>
          <a:noFill/>
          <a:ln>
            <a:noFill/>
          </a:ln>
        </p:spPr>
        <p:txBody>
          <a:bodyPr spcFirstLastPara="1" wrap="square" lIns="0" tIns="0" rIns="0" bIns="0" anchor="t" anchorCtr="0">
            <a:noAutofit/>
          </a:bodyPr>
          <a:lstStyle/>
          <a:p>
            <a:pPr algn="r">
              <a:buClr>
                <a:srgbClr val="8E8E93"/>
              </a:buClr>
              <a:buSzPts val="1500"/>
            </a:pPr>
            <a:r>
              <a:rPr lang="en" sz="6000">
                <a:solidFill>
                  <a:srgbClr val="8E8E93"/>
                </a:solidFill>
              </a:rPr>
              <a:t>27</a:t>
            </a:r>
          </a:p>
        </p:txBody>
      </p:sp>
      <p:sp>
        <p:nvSpPr>
          <p:cNvPr id="1422" name="Google Shape;1422;p137">
            <a:extLst>
              <a:ext uri="{FF2B5EF4-FFF2-40B4-BE49-F238E27FC236}">
                <a16:creationId xmlns:a16="http://schemas.microsoft.com/office/drawing/2014/main" id="{53296E61-8FE3-8013-D42B-EB90ADEF2C2A}"/>
              </a:ext>
            </a:extLst>
          </p:cNvPr>
          <p:cNvSpPr txBox="1"/>
          <p:nvPr/>
        </p:nvSpPr>
        <p:spPr>
          <a:xfrm>
            <a:off x="30099000" y="12344400"/>
            <a:ext cx="4648200" cy="1219200"/>
          </a:xfrm>
          <a:prstGeom prst="rect">
            <a:avLst/>
          </a:prstGeom>
          <a:noFill/>
          <a:ln>
            <a:noFill/>
          </a:ln>
        </p:spPr>
        <p:txBody>
          <a:bodyPr spcFirstLastPara="1" wrap="square" lIns="0" tIns="0" rIns="0" bIns="0" anchor="t" anchorCtr="0">
            <a:noAutofit/>
          </a:bodyPr>
          <a:lstStyle/>
          <a:p>
            <a:pPr algn="r"/>
            <a:r>
              <a:rPr lang="en" sz="6000" b="1">
                <a:solidFill>
                  <a:srgbClr val="111114"/>
                </a:solidFill>
              </a:rPr>
              <a:t>11</a:t>
            </a:r>
            <a:r>
              <a:rPr lang="en" sz="6000" b="1">
                <a:solidFill>
                  <a:srgbClr val="757575"/>
                </a:solidFill>
              </a:rPr>
              <a:t> → </a:t>
            </a:r>
            <a:r>
              <a:rPr lang="en" sz="6000" b="1">
                <a:solidFill>
                  <a:srgbClr val="4A7C00"/>
                </a:solidFill>
              </a:rPr>
              <a:t>0</a:t>
            </a:r>
            <a:r>
              <a:rPr lang="en" sz="6000" b="1" baseline="26000">
                <a:solidFill>
                  <a:srgbClr val="76B900"/>
                </a:solidFill>
              </a:rPr>
              <a:t>*</a:t>
            </a:r>
          </a:p>
        </p:txBody>
      </p:sp>
      <p:cxnSp>
        <p:nvCxnSpPr>
          <p:cNvPr id="1423" name="Google Shape;1423;p137">
            <a:extLst>
              <a:ext uri="{FF2B5EF4-FFF2-40B4-BE49-F238E27FC236}">
                <a16:creationId xmlns:a16="http://schemas.microsoft.com/office/drawing/2014/main" id="{E2168DB1-0572-C3D0-3835-F1DD5CCE501D}"/>
              </a:ext>
            </a:extLst>
          </p:cNvPr>
          <p:cNvCxnSpPr/>
          <p:nvPr/>
        </p:nvCxnSpPr>
        <p:spPr>
          <a:xfrm>
            <a:off x="15849600" y="13944600"/>
            <a:ext cx="18897600" cy="7200"/>
          </a:xfrm>
          <a:prstGeom prst="straightConnector1">
            <a:avLst/>
          </a:prstGeom>
          <a:noFill/>
          <a:ln w="12700" cap="rnd" cmpd="sng">
            <a:solidFill>
              <a:srgbClr val="DDDFE2"/>
            </a:solidFill>
            <a:prstDash val="solid"/>
            <a:round/>
            <a:headEnd type="none" w="sm" len="sm"/>
            <a:tailEnd type="none" w="sm" len="sm"/>
          </a:ln>
        </p:spPr>
      </p:cxnSp>
      <p:cxnSp>
        <p:nvCxnSpPr>
          <p:cNvPr id="1424" name="Google Shape;1424;p137">
            <a:extLst>
              <a:ext uri="{FF2B5EF4-FFF2-40B4-BE49-F238E27FC236}">
                <a16:creationId xmlns:a16="http://schemas.microsoft.com/office/drawing/2014/main" id="{39EF3BEF-D0CD-5F5F-7447-B739732BC5CE}"/>
              </a:ext>
            </a:extLst>
          </p:cNvPr>
          <p:cNvCxnSpPr/>
          <p:nvPr/>
        </p:nvCxnSpPr>
        <p:spPr>
          <a:xfrm>
            <a:off x="15849600" y="14630400"/>
            <a:ext cx="18897600" cy="7200"/>
          </a:xfrm>
          <a:prstGeom prst="straightConnector1">
            <a:avLst/>
          </a:prstGeom>
          <a:noFill/>
          <a:ln w="15875" cap="rnd" cmpd="sng">
            <a:solidFill>
              <a:srgbClr val="111114"/>
            </a:solidFill>
            <a:prstDash val="solid"/>
            <a:round/>
            <a:headEnd type="none" w="sm" len="sm"/>
            <a:tailEnd type="none" w="sm" len="sm"/>
          </a:ln>
        </p:spPr>
      </p:cxnSp>
      <p:sp>
        <p:nvSpPr>
          <p:cNvPr id="1425" name="Google Shape;1425;p137">
            <a:extLst>
              <a:ext uri="{FF2B5EF4-FFF2-40B4-BE49-F238E27FC236}">
                <a16:creationId xmlns:a16="http://schemas.microsoft.com/office/drawing/2014/main" id="{7BFBC560-38F4-4D04-105F-2EB882F8CCEE}"/>
              </a:ext>
            </a:extLst>
          </p:cNvPr>
          <p:cNvSpPr txBox="1"/>
          <p:nvPr/>
        </p:nvSpPr>
        <p:spPr>
          <a:xfrm>
            <a:off x="15849600" y="15240000"/>
            <a:ext cx="10363200" cy="1066800"/>
          </a:xfrm>
          <a:prstGeom prst="rect">
            <a:avLst/>
          </a:prstGeom>
          <a:noFill/>
          <a:ln>
            <a:noFill/>
          </a:ln>
        </p:spPr>
        <p:txBody>
          <a:bodyPr spcFirstLastPara="1" wrap="square" lIns="0" tIns="0" rIns="0" bIns="0" anchor="t" anchorCtr="0">
            <a:noAutofit/>
          </a:bodyPr>
          <a:lstStyle/>
          <a:p>
            <a:pPr>
              <a:buClr>
                <a:srgbClr val="111114"/>
              </a:buClr>
              <a:buSzPts val="1200"/>
            </a:pPr>
            <a:r>
              <a:rPr lang="en" sz="4800" b="1">
                <a:solidFill>
                  <a:srgbClr val="111114"/>
                </a:solidFill>
              </a:rPr>
              <a:t>Total</a:t>
            </a:r>
            <a:endParaRPr sz="4400"/>
          </a:p>
        </p:txBody>
      </p:sp>
      <p:sp>
        <p:nvSpPr>
          <p:cNvPr id="1426" name="Google Shape;1426;p137">
            <a:extLst>
              <a:ext uri="{FF2B5EF4-FFF2-40B4-BE49-F238E27FC236}">
                <a16:creationId xmlns:a16="http://schemas.microsoft.com/office/drawing/2014/main" id="{92417CF6-5BF1-C82E-30C8-580743B28791}"/>
              </a:ext>
            </a:extLst>
          </p:cNvPr>
          <p:cNvSpPr txBox="1"/>
          <p:nvPr/>
        </p:nvSpPr>
        <p:spPr>
          <a:xfrm>
            <a:off x="26670000" y="15011400"/>
            <a:ext cx="3048000" cy="1219200"/>
          </a:xfrm>
          <a:prstGeom prst="rect">
            <a:avLst/>
          </a:prstGeom>
          <a:noFill/>
          <a:ln>
            <a:noFill/>
          </a:ln>
        </p:spPr>
        <p:txBody>
          <a:bodyPr spcFirstLastPara="1" wrap="square" lIns="0" tIns="0" rIns="0" bIns="0" anchor="t" anchorCtr="0">
            <a:noAutofit/>
          </a:bodyPr>
          <a:lstStyle/>
          <a:p>
            <a:pPr algn="r">
              <a:buClr>
                <a:srgbClr val="5A6067"/>
              </a:buClr>
              <a:buSzPts val="1500"/>
            </a:pPr>
            <a:r>
              <a:rPr lang="en" sz="6000" b="1">
                <a:solidFill>
                  <a:srgbClr val="5A6067"/>
                </a:solidFill>
              </a:rPr>
              <a:t>785</a:t>
            </a:r>
          </a:p>
        </p:txBody>
      </p:sp>
      <p:sp>
        <p:nvSpPr>
          <p:cNvPr id="1427" name="Google Shape;1427;p137">
            <a:extLst>
              <a:ext uri="{FF2B5EF4-FFF2-40B4-BE49-F238E27FC236}">
                <a16:creationId xmlns:a16="http://schemas.microsoft.com/office/drawing/2014/main" id="{B6CC55FA-34F8-49CE-3F28-E08DCBC2141F}"/>
              </a:ext>
            </a:extLst>
          </p:cNvPr>
          <p:cNvSpPr txBox="1"/>
          <p:nvPr/>
        </p:nvSpPr>
        <p:spPr>
          <a:xfrm>
            <a:off x="30099000" y="15011400"/>
            <a:ext cx="4647600" cy="1219200"/>
          </a:xfrm>
          <a:prstGeom prst="rect">
            <a:avLst/>
          </a:prstGeom>
          <a:noFill/>
          <a:ln>
            <a:noFill/>
          </a:ln>
        </p:spPr>
        <p:txBody>
          <a:bodyPr spcFirstLastPara="1" wrap="square" lIns="0" tIns="0" rIns="0" bIns="0" anchor="t" anchorCtr="0">
            <a:noAutofit/>
          </a:bodyPr>
          <a:lstStyle/>
          <a:p>
            <a:pPr algn="r">
              <a:buClr>
                <a:srgbClr val="111114"/>
              </a:buClr>
              <a:buSzPts val="1500"/>
            </a:pPr>
            <a:r>
              <a:rPr lang="en" sz="6000" b="1">
                <a:solidFill>
                  <a:srgbClr val="111114"/>
                </a:solidFill>
              </a:rPr>
              <a:t>785</a:t>
            </a:r>
          </a:p>
        </p:txBody>
      </p:sp>
      <p:sp>
        <p:nvSpPr>
          <p:cNvPr id="1429" name="Google Shape;1429;p137">
            <a:extLst>
              <a:ext uri="{FF2B5EF4-FFF2-40B4-BE49-F238E27FC236}">
                <a16:creationId xmlns:a16="http://schemas.microsoft.com/office/drawing/2014/main" id="{DC710D0A-F821-FEA0-A89D-C9E94727AA59}"/>
              </a:ext>
            </a:extLst>
          </p:cNvPr>
          <p:cNvSpPr/>
          <p:nvPr/>
        </p:nvSpPr>
        <p:spPr>
          <a:xfrm>
            <a:off x="1828800" y="1600200"/>
            <a:ext cx="3657600" cy="152400"/>
          </a:xfrm>
          <a:prstGeom prst="rect">
            <a:avLst/>
          </a:prstGeom>
          <a:solidFill>
            <a:srgbClr val="76B900"/>
          </a:solidFill>
          <a:ln>
            <a:noFill/>
          </a:ln>
        </p:spPr>
        <p:txBody>
          <a:bodyPr spcFirstLastPara="1" wrap="square" lIns="274300" tIns="137100" rIns="274300" bIns="137100" anchor="t" anchorCtr="0">
            <a:noAutofit/>
          </a:bodyPr>
          <a:lstStyle/>
          <a:p>
            <a:endParaRPr sz="5600">
              <a:solidFill>
                <a:schemeClr val="dk1"/>
              </a:solidFill>
            </a:endParaRPr>
          </a:p>
        </p:txBody>
      </p:sp>
      <p:sp>
        <p:nvSpPr>
          <p:cNvPr id="1430" name="Google Shape;1430;p137">
            <a:extLst>
              <a:ext uri="{FF2B5EF4-FFF2-40B4-BE49-F238E27FC236}">
                <a16:creationId xmlns:a16="http://schemas.microsoft.com/office/drawing/2014/main" id="{605F3A22-39AC-AD3D-2566-56A9AB5F55C1}"/>
              </a:ext>
            </a:extLst>
          </p:cNvPr>
          <p:cNvSpPr txBox="1"/>
          <p:nvPr/>
        </p:nvSpPr>
        <p:spPr>
          <a:xfrm>
            <a:off x="1828800" y="1676400"/>
            <a:ext cx="32918400" cy="1651000"/>
          </a:xfrm>
          <a:prstGeom prst="rect">
            <a:avLst/>
          </a:prstGeom>
          <a:noFill/>
          <a:ln>
            <a:noFill/>
          </a:ln>
        </p:spPr>
        <p:txBody>
          <a:bodyPr spcFirstLastPara="1" wrap="square" lIns="0" tIns="0" rIns="0" bIns="0" anchor="t" anchorCtr="0">
            <a:noAutofit/>
          </a:bodyPr>
          <a:lstStyle/>
          <a:p>
            <a:pPr>
              <a:lnSpc>
                <a:spcPct val="166666"/>
              </a:lnSpc>
              <a:buClr>
                <a:srgbClr val="111114"/>
              </a:buClr>
              <a:buSzPts val="1800"/>
            </a:pPr>
            <a:r>
              <a:rPr lang="en-US" sz="8800">
                <a:solidFill>
                  <a:srgbClr val="111114"/>
                </a:solidFill>
                <a:latin typeface="NVIDIA Sans Medium"/>
                <a:cs typeface="NVIDIA Sans Medium"/>
              </a:rPr>
              <a:t>Differential Testing</a:t>
            </a:r>
            <a:endParaRPr sz="8800">
              <a:latin typeface="NVIDIA Sans Medium"/>
              <a:cs typeface="NVIDIA Sans Medium"/>
            </a:endParaRPr>
          </a:p>
        </p:txBody>
      </p:sp>
      <p:sp>
        <p:nvSpPr>
          <p:cNvPr id="1431" name="Google Shape;1431;p137">
            <a:extLst>
              <a:ext uri="{FF2B5EF4-FFF2-40B4-BE49-F238E27FC236}">
                <a16:creationId xmlns:a16="http://schemas.microsoft.com/office/drawing/2014/main" id="{510F95F1-EDCA-476E-F389-02A8803C377C}"/>
              </a:ext>
            </a:extLst>
          </p:cNvPr>
          <p:cNvSpPr txBox="1"/>
          <p:nvPr/>
        </p:nvSpPr>
        <p:spPr>
          <a:xfrm>
            <a:off x="1828800" y="3606800"/>
            <a:ext cx="32918400" cy="762000"/>
          </a:xfrm>
          <a:prstGeom prst="rect">
            <a:avLst/>
          </a:prstGeom>
          <a:noFill/>
          <a:ln>
            <a:noFill/>
          </a:ln>
        </p:spPr>
        <p:txBody>
          <a:bodyPr spcFirstLastPara="1" wrap="square" lIns="0" tIns="0" rIns="0" bIns="0" anchor="t" anchorCtr="0">
            <a:noAutofit/>
          </a:bodyPr>
          <a:lstStyle/>
          <a:p>
            <a:pPr>
              <a:buNone/>
            </a:pPr>
            <a:r>
              <a:rPr lang="en-US" sz="4000">
                <a:solidFill>
                  <a:srgbClr val="757575"/>
                </a:solidFill>
                <a:latin typeface="NVIDIA Sans"/>
                <a:cs typeface="NVIDIA Sans"/>
              </a:rPr>
              <a:t>To prove it, we built a torture test suite</a:t>
            </a:r>
          </a:p>
        </p:txBody>
      </p:sp>
      <p:sp>
        <p:nvSpPr>
          <p:cNvPr id="970" name="SrcBg0"/>
          <p:cNvSpPr/>
          <p:nvPr/>
        </p:nvSpPr>
        <p:spPr>
          <a:xfrm>
            <a:off x="1828800" y="5080000"/>
            <a:ext cx="3886200" cy="1524000"/>
          </a:xfrm>
          <a:prstGeom prst="roundRect">
            <a:avLst>
              <a:gd name="adj" fmla="val 12000"/>
            </a:avLst>
          </a:prstGeom>
          <a:ln w="38100">
            <a:solidFill>
              <a:srgbClr val="76B900"/>
            </a:solidFill>
          </a:ln>
        </p:spPr>
        <p:txBody>
          <a:bodyPr/>
          <a:lstStyle/>
          <a:p>
            <a:endParaRPr/>
          </a:p>
        </p:txBody>
      </p:sp>
      <p:sp>
        <p:nvSpPr>
          <p:cNvPr id="971" name="SrcT0"/>
          <p:cNvSpPr txBox="1"/>
          <p:nvPr/>
        </p:nvSpPr>
        <p:spPr>
          <a:xfrm>
            <a:off x="2006600" y="5080000"/>
            <a:ext cx="3530600" cy="1524000"/>
          </a:xfrm>
          <a:prstGeom prst="rect">
            <a:avLst/>
          </a:prstGeom>
          <a:noFill/>
        </p:spPr>
        <p:txBody>
          <a:bodyPr wrap="square" lIns="0" tIns="0" rIns="0" bIns="0" anchor="ctr">
            <a:noAutofit/>
          </a:bodyPr>
          <a:lstStyle/>
          <a:p>
            <a:pPr algn="ctr">
              <a:lnSpc>
                <a:spcPts val="2880"/>
              </a:lnSpc>
              <a:buNone/>
            </a:pPr>
            <a:r>
              <a:rPr lang="en-US" sz="2600" b="1">
                <a:solidFill>
                  <a:srgbClr val="4A7C00"/>
                </a:solidFill>
                <a:latin typeface="NVIDIA Sans"/>
                <a:cs typeface="NVIDIA Sans"/>
              </a:rPr>
              <a:t>CPython spec</a:t>
            </a:r>
          </a:p>
        </p:txBody>
      </p:sp>
      <p:sp>
        <p:nvSpPr>
          <p:cNvPr id="973" name="SrcBg1"/>
          <p:cNvSpPr/>
          <p:nvPr/>
        </p:nvSpPr>
        <p:spPr>
          <a:xfrm>
            <a:off x="6235700" y="5080000"/>
            <a:ext cx="3886200" cy="1524000"/>
          </a:xfrm>
          <a:prstGeom prst="roundRect">
            <a:avLst>
              <a:gd name="adj" fmla="val 12000"/>
            </a:avLst>
          </a:prstGeom>
          <a:ln w="38100">
            <a:solidFill>
              <a:srgbClr val="76B900"/>
            </a:solidFill>
          </a:ln>
        </p:spPr>
        <p:txBody>
          <a:bodyPr/>
          <a:lstStyle/>
          <a:p>
            <a:endParaRPr/>
          </a:p>
        </p:txBody>
      </p:sp>
      <p:sp>
        <p:nvSpPr>
          <p:cNvPr id="974" name="SrcT1"/>
          <p:cNvSpPr txBox="1"/>
          <p:nvPr/>
        </p:nvSpPr>
        <p:spPr>
          <a:xfrm>
            <a:off x="6413500" y="5080000"/>
            <a:ext cx="3530600" cy="1524000"/>
          </a:xfrm>
          <a:prstGeom prst="rect">
            <a:avLst/>
          </a:prstGeom>
          <a:noFill/>
        </p:spPr>
        <p:txBody>
          <a:bodyPr wrap="square" lIns="0" tIns="0" rIns="0" bIns="0" anchor="ctr">
            <a:noAutofit/>
          </a:bodyPr>
          <a:lstStyle/>
          <a:p>
            <a:pPr algn="ctr">
              <a:lnSpc>
                <a:spcPts val="2880"/>
              </a:lnSpc>
              <a:buNone/>
            </a:pPr>
            <a:r>
              <a:rPr lang="en-US" sz="2600" b="1">
                <a:solidFill>
                  <a:srgbClr val="4A7C00"/>
                </a:solidFill>
                <a:latin typeface="NVIDIA Sans"/>
                <a:cs typeface="NVIDIA Sans"/>
              </a:rPr>
              <a:t>fuzzer</a:t>
            </a:r>
          </a:p>
        </p:txBody>
      </p:sp>
      <p:sp>
        <p:nvSpPr>
          <p:cNvPr id="976" name="SrcBg2"/>
          <p:cNvSpPr/>
          <p:nvPr/>
        </p:nvSpPr>
        <p:spPr>
          <a:xfrm>
            <a:off x="10642600" y="5080000"/>
            <a:ext cx="3886200" cy="1524000"/>
          </a:xfrm>
          <a:prstGeom prst="roundRect">
            <a:avLst>
              <a:gd name="adj" fmla="val 12000"/>
            </a:avLst>
          </a:prstGeom>
          <a:ln w="38100">
            <a:solidFill>
              <a:srgbClr val="76B900"/>
            </a:solidFill>
          </a:ln>
        </p:spPr>
        <p:txBody>
          <a:bodyPr/>
          <a:lstStyle/>
          <a:p>
            <a:endParaRPr/>
          </a:p>
        </p:txBody>
      </p:sp>
      <p:sp>
        <p:nvSpPr>
          <p:cNvPr id="977" name="SrcT2"/>
          <p:cNvSpPr txBox="1"/>
          <p:nvPr/>
        </p:nvSpPr>
        <p:spPr>
          <a:xfrm>
            <a:off x="10820400" y="5080000"/>
            <a:ext cx="3530600" cy="1524000"/>
          </a:xfrm>
          <a:prstGeom prst="rect">
            <a:avLst/>
          </a:prstGeom>
          <a:noFill/>
        </p:spPr>
        <p:txBody>
          <a:bodyPr wrap="square" lIns="0" tIns="0" rIns="0" bIns="0" anchor="ctr">
            <a:noAutofit/>
          </a:bodyPr>
          <a:lstStyle/>
          <a:p>
            <a:pPr algn="ctr">
              <a:lnSpc>
                <a:spcPts val="2880"/>
              </a:lnSpc>
              <a:buNone/>
            </a:pPr>
            <a:r>
              <a:rPr lang="en-US" sz="2600" b="1">
                <a:solidFill>
                  <a:srgbClr val="4A7C00"/>
                </a:solidFill>
                <a:latin typeface="NVIDIA Sans"/>
                <a:cs typeface="NVIDIA Sans"/>
              </a:rPr>
              <a:t>cases DkgDSL v1 rejects</a:t>
            </a:r>
          </a:p>
        </p:txBody>
      </p:sp>
      <p:sp>
        <p:nvSpPr>
          <p:cNvPr id="1503" name="FlowArrA"/>
          <p:cNvSpPr/>
          <p:nvPr/>
        </p:nvSpPr>
        <p:spPr>
          <a:xfrm>
            <a:off x="3556000" y="6731000"/>
            <a:ext cx="431800" cy="1143000"/>
          </a:xfrm>
          <a:prstGeom prst="downArrow">
            <a:avLst>
              <a:gd name="adj1" fmla="val 45000"/>
              <a:gd name="adj2" fmla="val 62000"/>
            </a:avLst>
          </a:prstGeom>
          <a:ln w="0">
            <a:solidFill>
              <a:srgbClr val="B5B5B5"/>
            </a:solidFill>
          </a:ln>
        </p:spPr>
        <p:txBody>
          <a:bodyPr/>
          <a:lstStyle/>
          <a:p>
            <a:endParaRPr/>
          </a:p>
        </p:txBody>
      </p:sp>
      <p:sp>
        <p:nvSpPr>
          <p:cNvPr id="1504" name="FlowArrB"/>
          <p:cNvSpPr/>
          <p:nvPr/>
        </p:nvSpPr>
        <p:spPr>
          <a:xfrm>
            <a:off x="3556000" y="10414000"/>
            <a:ext cx="431800" cy="1524000"/>
          </a:xfrm>
          <a:prstGeom prst="downArrow">
            <a:avLst>
              <a:gd name="adj1" fmla="val 45000"/>
              <a:gd name="adj2" fmla="val 62000"/>
            </a:avLst>
          </a:prstGeom>
          <a:ln w="0">
            <a:solidFill>
              <a:srgbClr val="B5B5B5"/>
            </a:solidFill>
          </a:ln>
        </p:spPr>
        <p:txBody>
          <a:bodyPr/>
          <a:lstStyle/>
          <a:p>
            <a:endParaRPr/>
          </a:p>
        </p:txBody>
      </p:sp>
      <p:sp>
        <p:nvSpPr>
          <p:cNvPr id="1505" name="FlowArrA"/>
          <p:cNvSpPr/>
          <p:nvPr/>
        </p:nvSpPr>
        <p:spPr>
          <a:xfrm>
            <a:off x="7962900" y="6731000"/>
            <a:ext cx="431800" cy="1143000"/>
          </a:xfrm>
          <a:prstGeom prst="downArrow">
            <a:avLst>
              <a:gd name="adj1" fmla="val 45000"/>
              <a:gd name="adj2" fmla="val 62000"/>
            </a:avLst>
          </a:prstGeom>
          <a:ln w="0">
            <a:solidFill>
              <a:srgbClr val="B5B5B5"/>
            </a:solidFill>
          </a:ln>
        </p:spPr>
        <p:txBody>
          <a:bodyPr/>
          <a:lstStyle/>
          <a:p>
            <a:endParaRPr/>
          </a:p>
        </p:txBody>
      </p:sp>
      <p:sp>
        <p:nvSpPr>
          <p:cNvPr id="1506" name="FlowArrB"/>
          <p:cNvSpPr/>
          <p:nvPr/>
        </p:nvSpPr>
        <p:spPr>
          <a:xfrm>
            <a:off x="7962900" y="10414000"/>
            <a:ext cx="431800" cy="1524000"/>
          </a:xfrm>
          <a:prstGeom prst="downArrow">
            <a:avLst>
              <a:gd name="adj1" fmla="val 45000"/>
              <a:gd name="adj2" fmla="val 62000"/>
            </a:avLst>
          </a:prstGeom>
          <a:ln w="0">
            <a:solidFill>
              <a:srgbClr val="B5B5B5"/>
            </a:solidFill>
          </a:ln>
        </p:spPr>
        <p:txBody>
          <a:bodyPr/>
          <a:lstStyle/>
          <a:p>
            <a:endParaRPr/>
          </a:p>
        </p:txBody>
      </p:sp>
      <p:sp>
        <p:nvSpPr>
          <p:cNvPr id="1507" name="FlowArrA"/>
          <p:cNvSpPr/>
          <p:nvPr/>
        </p:nvSpPr>
        <p:spPr>
          <a:xfrm>
            <a:off x="12369800" y="6731000"/>
            <a:ext cx="431800" cy="1143000"/>
          </a:xfrm>
          <a:prstGeom prst="downArrow">
            <a:avLst>
              <a:gd name="adj1" fmla="val 45000"/>
              <a:gd name="adj2" fmla="val 62000"/>
            </a:avLst>
          </a:prstGeom>
          <a:ln w="0">
            <a:solidFill>
              <a:srgbClr val="B5B5B5"/>
            </a:solidFill>
          </a:ln>
        </p:spPr>
        <p:txBody>
          <a:bodyPr/>
          <a:lstStyle/>
          <a:p>
            <a:endParaRPr/>
          </a:p>
        </p:txBody>
      </p:sp>
      <p:sp>
        <p:nvSpPr>
          <p:cNvPr id="1508" name="FlowArrB"/>
          <p:cNvSpPr/>
          <p:nvPr/>
        </p:nvSpPr>
        <p:spPr>
          <a:xfrm>
            <a:off x="12369800" y="10414000"/>
            <a:ext cx="431800" cy="1524000"/>
          </a:xfrm>
          <a:prstGeom prst="downArrow">
            <a:avLst>
              <a:gd name="adj1" fmla="val 45000"/>
              <a:gd name="adj2" fmla="val 62000"/>
            </a:avLst>
          </a:prstGeom>
          <a:ln w="0">
            <a:solidFill>
              <a:srgbClr val="B5B5B5"/>
            </a:solidFill>
          </a:ln>
        </p:spPr>
        <p:txBody>
          <a:bodyPr/>
          <a:lstStyle/>
          <a:p>
            <a:endParaRPr/>
          </a:p>
        </p:txBody>
      </p:sp>
      <p:sp>
        <p:nvSpPr>
          <p:cNvPr id="6" name="ZeroNote">
            <a:extLst>
              <a:ext uri="{FF2B5EF4-FFF2-40B4-BE49-F238E27FC236}">
                <a16:creationId xmlns:a16="http://schemas.microsoft.com/office/drawing/2014/main" id="{4BB37711-4F33-BA45-AB24-395961D80B8D}"/>
              </a:ext>
            </a:extLst>
          </p:cNvPr>
          <p:cNvSpPr txBox="1"/>
          <p:nvPr/>
        </p:nvSpPr>
        <p:spPr>
          <a:xfrm>
            <a:off x="15849600" y="16764000"/>
            <a:ext cx="18897600" cy="2032000"/>
          </a:xfrm>
          <a:prstGeom prst="rect">
            <a:avLst/>
          </a:prstGeom>
          <a:noFill/>
        </p:spPr>
        <p:txBody>
          <a:bodyPr vertOverflow="overflow" vert="horz" wrap="square" lIns="0" tIns="0" rIns="0" bIns="0" rtlCol="0" anchor="ctr" anchorCtr="0">
            <a:noAutofit/>
          </a:bodyPr>
          <a:lstStyle/>
          <a:p>
            <a:pPr marL="180000" indent="-180000" algn="l">
              <a:lnSpc>
                <a:spcPts val="3400"/>
              </a:lnSpc>
              <a:spcBef>
                <a:spcPts val="300"/>
              </a:spcBef>
              <a:buNone/>
            </a:pPr>
            <a:r>
              <a:rPr lang="en-US" sz="2800" b="1">
                <a:solidFill>
                  <a:srgbClr val="76B900"/>
                </a:solidFill>
                <a:latin typeface="NVIDIA Sans"/>
                <a:cs typeface="NVIDIA Sans"/>
              </a:rPr>
              <a:t>*  </a:t>
            </a:r>
            <a:r>
              <a:rPr lang="en-US" sz="2800">
                <a:solidFill>
                  <a:srgbClr val="313131"/>
                </a:solidFill>
                <a:latin typeface="NVIDIA Sans"/>
                <a:cs typeface="NVIDIA Sans"/>
              </a:rPr>
              <a:t>both zeros land soon</a:t>
            </a:r>
          </a:p>
          <a:p>
            <a:pPr marL="180000" indent="-180000" algn="l">
              <a:lnSpc>
                <a:spcPts val="3400"/>
              </a:lnSpc>
              <a:spcBef>
                <a:spcPts val="300"/>
              </a:spcBef>
              <a:buNone/>
            </a:pPr>
            <a:r>
              <a:rPr lang="en-US" sz="2800" b="1">
                <a:solidFill>
                  <a:srgbClr val="76B900"/>
                </a:solidFill>
                <a:latin typeface="NVIDIA Sans"/>
                <a:cs typeface="NVIDIA Sans"/>
              </a:rPr>
              <a:t>**  </a:t>
            </a:r>
            <a:r>
              <a:rPr lang="en-US" sz="2800">
                <a:solidFill>
                  <a:srgbClr val="313131"/>
                </a:solidFill>
                <a:latin typeface="NVIDIA Sans"/>
                <a:cs typeface="NVIDIA Sans"/>
              </a:rPr>
              <a:t>the 11 valid refusals are expected: a dict can be mutated in GPU control flow, not expanded</a:t>
            </a:r>
          </a:p>
        </p:txBody>
      </p:sp>
    </p:spTree>
    <p:extLst>
      <p:ext uri="{BB962C8B-B14F-4D97-AF65-F5344CB8AC3E}">
        <p14:creationId xmlns:p14="http://schemas.microsoft.com/office/powerpoint/2010/main" val="1958981837"/>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93">
          <a:extLst>
            <a:ext uri="{FF2B5EF4-FFF2-40B4-BE49-F238E27FC236}">
              <a16:creationId xmlns:a16="http://schemas.microsoft.com/office/drawing/2014/main" id="{312A16A8-D6E6-E38D-4A30-FD45855E3C93}"/>
            </a:ext>
          </a:extLst>
        </p:cNvPr>
        <p:cNvGrpSpPr/>
        <p:nvPr/>
      </p:nvGrpSpPr>
      <p:grpSpPr>
        <a:xfrm>
          <a:off x="0" y="0"/>
          <a:ext cx="0" cy="0"/>
          <a:chOff x="0" y="0"/>
          <a:chExt cx="0" cy="0"/>
        </a:xfrm>
      </p:grpSpPr>
      <p:sp>
        <p:nvSpPr>
          <p:cNvPr id="21" name="Blk3">
            <a:extLst>
              <a:ext uri="{FF2B5EF4-FFF2-40B4-BE49-F238E27FC236}">
                <a16:creationId xmlns:a16="http://schemas.microsoft.com/office/drawing/2014/main" id="{F57E25E5-CF95-A334-3365-7EC65D3E7D3E}"/>
              </a:ext>
            </a:extLst>
          </p:cNvPr>
          <p:cNvSpPr/>
          <p:nvPr/>
        </p:nvSpPr>
        <p:spPr>
          <a:xfrm>
            <a:off x="19812000" y="15113000"/>
            <a:ext cx="14935200" cy="3937000"/>
          </a:xfrm>
          <a:prstGeom prst="rect">
            <a:avLst/>
          </a:prstGeom>
          <a:solidFill>
            <a:srgbClr val="F3F8E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Blk2">
            <a:extLst>
              <a:ext uri="{FF2B5EF4-FFF2-40B4-BE49-F238E27FC236}">
                <a16:creationId xmlns:a16="http://schemas.microsoft.com/office/drawing/2014/main" id="{90E1348B-C417-9761-A666-5D857CEA7F65}"/>
              </a:ext>
            </a:extLst>
          </p:cNvPr>
          <p:cNvSpPr/>
          <p:nvPr/>
        </p:nvSpPr>
        <p:spPr>
          <a:xfrm>
            <a:off x="19812000" y="8534400"/>
            <a:ext cx="14935200" cy="64262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Blk1">
            <a:extLst>
              <a:ext uri="{FF2B5EF4-FFF2-40B4-BE49-F238E27FC236}">
                <a16:creationId xmlns:a16="http://schemas.microsoft.com/office/drawing/2014/main" id="{6167E6A6-1480-7BB0-BA00-417FBA9B87F3}"/>
              </a:ext>
            </a:extLst>
          </p:cNvPr>
          <p:cNvSpPr/>
          <p:nvPr/>
        </p:nvSpPr>
        <p:spPr>
          <a:xfrm>
            <a:off x="19812000" y="4572000"/>
            <a:ext cx="14935200" cy="3810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PanelCode">
            <a:extLst>
              <a:ext uri="{FF2B5EF4-FFF2-40B4-BE49-F238E27FC236}">
                <a16:creationId xmlns:a16="http://schemas.microsoft.com/office/drawing/2014/main" id="{658F004A-05D2-1F07-C937-64949C786FB4}"/>
              </a:ext>
            </a:extLst>
          </p:cNvPr>
          <p:cNvSpPr/>
          <p:nvPr/>
        </p:nvSpPr>
        <p:spPr>
          <a:xfrm>
            <a:off x="1828800" y="4572000"/>
            <a:ext cx="17221200" cy="13716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 1">
            <a:extLst>
              <a:ext uri="{FF2B5EF4-FFF2-40B4-BE49-F238E27FC236}">
                <a16:creationId xmlns:a16="http://schemas.microsoft.com/office/drawing/2014/main" id="{CBA320B7-9CD2-9AF2-C0AC-E07293DD1485}"/>
              </a:ext>
            </a:extLst>
          </p:cNvPr>
          <p:cNvSpPr>
            <a:spLocks noGrp="1"/>
          </p:cNvSpPr>
          <p:nvPr>
            <p:ph type="title"/>
          </p:nvPr>
        </p:nvSpPr>
        <p:spPr/>
        <p:txBody>
          <a:bodyPr/>
          <a:lstStyle/>
          <a:p>
            <a:r>
              <a:rPr lang="en-US"/>
              <a:t>A Torture Test Example</a:t>
            </a:r>
          </a:p>
        </p:txBody>
      </p:sp>
      <p:sp>
        <p:nvSpPr>
          <p:cNvPr id="3" name="Text Placeholder 2">
            <a:extLst>
              <a:ext uri="{FF2B5EF4-FFF2-40B4-BE49-F238E27FC236}">
                <a16:creationId xmlns:a16="http://schemas.microsoft.com/office/drawing/2014/main" id="{062CABD0-388E-17BA-0449-9C4B4B46A355}"/>
              </a:ext>
            </a:extLst>
          </p:cNvPr>
          <p:cNvSpPr>
            <a:spLocks noGrp="1"/>
          </p:cNvSpPr>
          <p:nvPr>
            <p:ph type="body" idx="1"/>
          </p:nvPr>
        </p:nvSpPr>
        <p:spPr/>
        <p:txBody>
          <a:bodyPr/>
          <a:lstStyle/>
          <a:p>
            <a:r>
              <a:rPr lang="en-US"/>
              <a:t>The same file under plain Python, DkgDSL v1, and v2: only one disagrees, and it disagrees silently.</a:t>
            </a:r>
          </a:p>
        </p:txBody>
      </p:sp>
      <p:sp>
        <p:nvSpPr>
          <p:cNvPr id="15" name="BlkH1">
            <a:extLst>
              <a:ext uri="{FF2B5EF4-FFF2-40B4-BE49-F238E27FC236}">
                <a16:creationId xmlns:a16="http://schemas.microsoft.com/office/drawing/2014/main" id="{938AF550-26B8-A0BE-D932-FAD961EA90B0}"/>
              </a:ext>
            </a:extLst>
          </p:cNvPr>
          <p:cNvSpPr txBox="1"/>
          <p:nvPr/>
        </p:nvSpPr>
        <p:spPr>
          <a:xfrm>
            <a:off x="20269200" y="4902200"/>
            <a:ext cx="14020800" cy="889000"/>
          </a:xfrm>
          <a:prstGeom prst="rect">
            <a:avLst/>
          </a:prstGeom>
          <a:noFill/>
        </p:spPr>
        <p:txBody>
          <a:bodyPr vertOverflow="overflow" vert="horz" wrap="square" rtlCol="0" anchor="t">
            <a:noAutofit/>
          </a:bodyPr>
          <a:lstStyle/>
          <a:p>
            <a:pPr algn="l"/>
            <a:r>
              <a:rPr lang="en-US" sz="3400" b="1">
                <a:latin typeface="NVIDIA Sans"/>
                <a:cs typeface="NVIDIA Sans"/>
              </a:rPr>
              <a:t>1   </a:t>
            </a:r>
            <a:r>
              <a:rPr lang="en-US" sz="3400" b="1" err="1">
                <a:latin typeface="NVIDIA Sans"/>
                <a:cs typeface="NVIDIA Sans"/>
              </a:rPr>
              <a:t>CPython</a:t>
            </a:r>
            <a:endParaRPr lang="en-US" sz="3400" b="1">
              <a:latin typeface="NVIDIA Sans"/>
              <a:cs typeface="NVIDIA Sans"/>
            </a:endParaRPr>
          </a:p>
        </p:txBody>
      </p:sp>
      <p:sp>
        <p:nvSpPr>
          <p:cNvPr id="16" name="BlkB1">
            <a:extLst>
              <a:ext uri="{FF2B5EF4-FFF2-40B4-BE49-F238E27FC236}">
                <a16:creationId xmlns:a16="http://schemas.microsoft.com/office/drawing/2014/main" id="{8B217756-D9DD-85DE-D878-8BBD370D130E}"/>
              </a:ext>
            </a:extLst>
          </p:cNvPr>
          <p:cNvSpPr txBox="1"/>
          <p:nvPr/>
        </p:nvSpPr>
        <p:spPr>
          <a:xfrm>
            <a:off x="20269200" y="5842000"/>
            <a:ext cx="14020800" cy="2362200"/>
          </a:xfrm>
          <a:prstGeom prst="rect">
            <a:avLst/>
          </a:prstGeom>
          <a:noFill/>
        </p:spPr>
        <p:txBody>
          <a:bodyPr vertOverflow="overflow" vert="horz" wrap="square" rtlCol="0" anchor="t">
            <a:noAutofit/>
          </a:bodyPr>
          <a:lstStyle/>
          <a:p>
            <a:pPr algn="l"/>
            <a:r>
              <a:rPr lang="en-US" sz="3400">
                <a:solidFill>
                  <a:srgbClr val="313131"/>
                </a:solidFill>
                <a:latin typeface="Roboto Mono"/>
                <a:ea typeface="Roboto Mono"/>
                <a:cs typeface="Consolas"/>
              </a:rPr>
              <a:t>T&gt; B i=0 seen=1
T&gt; B i=1 seen=3
T&gt; B i=2 seen=5
T&gt; B i=3 seen=7
T&gt; B final=8</a:t>
            </a:r>
          </a:p>
        </p:txBody>
      </p:sp>
      <p:sp>
        <p:nvSpPr>
          <p:cNvPr id="19" name="BlkH2">
            <a:extLst>
              <a:ext uri="{FF2B5EF4-FFF2-40B4-BE49-F238E27FC236}">
                <a16:creationId xmlns:a16="http://schemas.microsoft.com/office/drawing/2014/main" id="{697013F8-DED6-2B4D-BBA7-EB41C802CC8F}"/>
              </a:ext>
            </a:extLst>
          </p:cNvPr>
          <p:cNvSpPr txBox="1"/>
          <p:nvPr/>
        </p:nvSpPr>
        <p:spPr>
          <a:xfrm>
            <a:off x="20269200" y="8864600"/>
            <a:ext cx="14020800" cy="889000"/>
          </a:xfrm>
          <a:prstGeom prst="rect">
            <a:avLst/>
          </a:prstGeom>
          <a:noFill/>
        </p:spPr>
        <p:txBody>
          <a:bodyPr vertOverflow="overflow" vert="horz" wrap="square" rtlCol="0" anchor="t">
            <a:noAutofit/>
          </a:bodyPr>
          <a:lstStyle/>
          <a:p>
            <a:pPr algn="l"/>
            <a:r>
              <a:rPr lang="en-US" sz="3400" b="1">
                <a:solidFill>
                  <a:srgbClr val="B3261E"/>
                </a:solidFill>
                <a:latin typeface="NVIDIA Sans"/>
                <a:cs typeface="NVIDIA Sans"/>
              </a:rPr>
              <a:t>2   </a:t>
            </a:r>
            <a:r>
              <a:rPr lang="en-US" sz="3400" b="1" err="1">
                <a:solidFill>
                  <a:srgbClr val="B3261E"/>
                </a:solidFill>
                <a:latin typeface="NVIDIA Sans"/>
                <a:cs typeface="NVIDIA Sans"/>
              </a:rPr>
              <a:t>DkgDSL</a:t>
            </a:r>
            <a:r>
              <a:rPr lang="en-US" sz="3400" b="1">
                <a:solidFill>
                  <a:srgbClr val="B3261E"/>
                </a:solidFill>
                <a:latin typeface="NVIDIA Sans"/>
                <a:cs typeface="NVIDIA Sans"/>
              </a:rPr>
              <a:t> v1</a:t>
            </a:r>
          </a:p>
        </p:txBody>
      </p:sp>
      <p:sp>
        <p:nvSpPr>
          <p:cNvPr id="20" name="BlkB2">
            <a:extLst>
              <a:ext uri="{FF2B5EF4-FFF2-40B4-BE49-F238E27FC236}">
                <a16:creationId xmlns:a16="http://schemas.microsoft.com/office/drawing/2014/main" id="{8C86A691-6D4B-41F0-0D2D-8E6B9502D99D}"/>
              </a:ext>
            </a:extLst>
          </p:cNvPr>
          <p:cNvSpPr txBox="1"/>
          <p:nvPr/>
        </p:nvSpPr>
        <p:spPr>
          <a:xfrm>
            <a:off x="20269200" y="9804400"/>
            <a:ext cx="14020800" cy="4953000"/>
          </a:xfrm>
          <a:prstGeom prst="rect">
            <a:avLst/>
          </a:prstGeom>
          <a:noFill/>
        </p:spPr>
        <p:txBody>
          <a:bodyPr vertOverflow="overflow" vert="horz" wrap="square" rtlCol="0" anchor="t">
            <a:noAutofit/>
          </a:bodyPr>
          <a:lstStyle/>
          <a:p>
            <a:pPr algn="l"/>
            <a:r>
              <a:rPr lang="en-US" sz="3400">
                <a:solidFill>
                  <a:srgbClr val="B3261E"/>
                </a:solidFill>
                <a:latin typeface="Roboto Mono"/>
                <a:ea typeface="Roboto Mono"/>
                <a:cs typeface="Consolas"/>
              </a:rPr>
              <a:t>T&gt; B i=0 seen=1
T&gt; B i=1 seen=1   frozen
T&gt; B i=2 seen=1
T&gt; B i=3 seen=1
T&gt; B final=2   should be 8
Exit 0, no diagnostic. Silent.</a:t>
            </a:r>
          </a:p>
          <a:p>
            <a:pPr algn="l">
              <a:spcBef>
                <a:spcPts val="1000"/>
              </a:spcBef>
            </a:pPr>
            <a:r>
              <a:rPr lang="en-US" sz="2800" b="1">
                <a:solidFill>
                  <a:srgbClr val="B3261E"/>
                </a:solidFill>
                <a:latin typeface="NVIDIA Sans"/>
                <a:cs typeface="NVIDIA Sans"/>
              </a:rPr>
              <a:t>v1 never rewrites with statements: __enter__ and __exit__ run once while tracing, so the counter freezes into the compiled loop as a constant.</a:t>
            </a:r>
          </a:p>
        </p:txBody>
      </p:sp>
      <p:sp>
        <p:nvSpPr>
          <p:cNvPr id="23" name="BlkH3">
            <a:extLst>
              <a:ext uri="{FF2B5EF4-FFF2-40B4-BE49-F238E27FC236}">
                <a16:creationId xmlns:a16="http://schemas.microsoft.com/office/drawing/2014/main" id="{518AB4CB-F8D0-9476-F387-72D103840090}"/>
              </a:ext>
            </a:extLst>
          </p:cNvPr>
          <p:cNvSpPr txBox="1"/>
          <p:nvPr/>
        </p:nvSpPr>
        <p:spPr>
          <a:xfrm>
            <a:off x="20269200" y="15367000"/>
            <a:ext cx="14020800" cy="889000"/>
          </a:xfrm>
          <a:prstGeom prst="rect">
            <a:avLst/>
          </a:prstGeom>
          <a:noFill/>
        </p:spPr>
        <p:txBody>
          <a:bodyPr vertOverflow="overflow" vert="horz" wrap="square" rtlCol="0" anchor="t">
            <a:noAutofit/>
          </a:bodyPr>
          <a:lstStyle/>
          <a:p>
            <a:pPr algn="l"/>
            <a:r>
              <a:rPr lang="en-US" sz="3400" b="1">
                <a:solidFill>
                  <a:srgbClr val="4A7C00"/>
                </a:solidFill>
                <a:latin typeface="NVIDIA Sans"/>
                <a:cs typeface="NVIDIA Sans"/>
              </a:rPr>
              <a:t>3   </a:t>
            </a:r>
            <a:r>
              <a:rPr lang="en-US" sz="3400" b="1" err="1">
                <a:solidFill>
                  <a:srgbClr val="4A7C00"/>
                </a:solidFill>
                <a:latin typeface="NVIDIA Sans"/>
                <a:cs typeface="NVIDIA Sans"/>
              </a:rPr>
              <a:t>DkgDSL</a:t>
            </a:r>
            <a:r>
              <a:rPr lang="en-US" sz="3400" b="1">
                <a:solidFill>
                  <a:srgbClr val="4A7C00"/>
                </a:solidFill>
                <a:latin typeface="NVIDIA Sans"/>
                <a:cs typeface="NVIDIA Sans"/>
              </a:rPr>
              <a:t> V2</a:t>
            </a:r>
          </a:p>
        </p:txBody>
      </p:sp>
      <p:sp>
        <p:nvSpPr>
          <p:cNvPr id="24" name="BlkB3">
            <a:extLst>
              <a:ext uri="{FF2B5EF4-FFF2-40B4-BE49-F238E27FC236}">
                <a16:creationId xmlns:a16="http://schemas.microsoft.com/office/drawing/2014/main" id="{C568AB90-DEA2-0BC1-A635-32A022C53F6E}"/>
              </a:ext>
            </a:extLst>
          </p:cNvPr>
          <p:cNvSpPr txBox="1"/>
          <p:nvPr/>
        </p:nvSpPr>
        <p:spPr>
          <a:xfrm>
            <a:off x="20269200" y="16281400"/>
            <a:ext cx="14020800" cy="2540000"/>
          </a:xfrm>
          <a:prstGeom prst="rect">
            <a:avLst/>
          </a:prstGeom>
          <a:noFill/>
        </p:spPr>
        <p:txBody>
          <a:bodyPr vertOverflow="overflow" vert="horz" wrap="square" rtlCol="0" anchor="t">
            <a:noAutofit/>
          </a:bodyPr>
          <a:lstStyle/>
          <a:p>
            <a:pPr algn="l"/>
            <a:r>
              <a:rPr lang="en-US" sz="3400">
                <a:solidFill>
                  <a:srgbClr val="313131"/>
                </a:solidFill>
                <a:latin typeface="Roboto Mono"/>
                <a:ea typeface="Roboto Mono"/>
                <a:cs typeface="Consolas"/>
              </a:rPr>
              <a:t>T&gt; B i=0 seen=1
T&gt; B i=1 seen=3
T&gt; B i=2 seen=5
T&gt; B i=3 seen=7
T&gt; B final=8</a:t>
            </a:r>
          </a:p>
        </p:txBody>
      </p:sp>
      <p:sp>
        <p:nvSpPr>
          <p:cNvPr id="4" name="HLEnter">
            <a:extLst>
              <a:ext uri="{FF2B5EF4-FFF2-40B4-BE49-F238E27FC236}">
                <a16:creationId xmlns:a16="http://schemas.microsoft.com/office/drawing/2014/main" id="{864C8B49-EEFA-564C-99C0-791C45A3EB03}"/>
              </a:ext>
            </a:extLst>
          </p:cNvPr>
          <p:cNvSpPr/>
          <p:nvPr/>
        </p:nvSpPr>
        <p:spPr>
          <a:xfrm>
            <a:off x="2133600" y="7467600"/>
            <a:ext cx="16611600" cy="1930400"/>
          </a:xfrm>
          <a:prstGeom prst="rect">
            <a:avLst/>
          </a:prstGeom>
          <a:solidFill>
            <a:srgbClr val="E4F2C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HLExit">
            <a:extLst>
              <a:ext uri="{FF2B5EF4-FFF2-40B4-BE49-F238E27FC236}">
                <a16:creationId xmlns:a16="http://schemas.microsoft.com/office/drawing/2014/main" id="{16F4B6A4-D2CE-1D47-9AED-B411E953C5A0}"/>
              </a:ext>
            </a:extLst>
          </p:cNvPr>
          <p:cNvSpPr/>
          <p:nvPr/>
        </p:nvSpPr>
        <p:spPr>
          <a:xfrm>
            <a:off x="2133600" y="9982200"/>
            <a:ext cx="16611600" cy="1930400"/>
          </a:xfrm>
          <a:prstGeom prst="rect">
            <a:avLst/>
          </a:prstGeom>
          <a:solidFill>
            <a:srgbClr val="E4F2C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HLWith">
            <a:extLst>
              <a:ext uri="{FF2B5EF4-FFF2-40B4-BE49-F238E27FC236}">
                <a16:creationId xmlns:a16="http://schemas.microsoft.com/office/drawing/2014/main" id="{F0738DF5-297B-984E-92FA-507E0AF0BB55}"/>
              </a:ext>
            </a:extLst>
          </p:cNvPr>
          <p:cNvSpPr/>
          <p:nvPr/>
        </p:nvSpPr>
        <p:spPr>
          <a:xfrm>
            <a:off x="2133600" y="14452600"/>
            <a:ext cx="16611600" cy="558800"/>
          </a:xfrm>
          <a:prstGeom prst="rect">
            <a:avLst/>
          </a:prstGeom>
          <a:solidFill>
            <a:srgbClr val="E4F2C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CodeB">
            <a:extLst>
              <a:ext uri="{FF2B5EF4-FFF2-40B4-BE49-F238E27FC236}">
                <a16:creationId xmlns:a16="http://schemas.microsoft.com/office/drawing/2014/main" id="{BD065722-4176-AFC1-6398-E2CD9ED3202B}"/>
              </a:ext>
            </a:extLst>
          </p:cNvPr>
          <p:cNvSpPr txBox="1"/>
          <p:nvPr/>
        </p:nvSpPr>
        <p:spPr>
          <a:xfrm>
            <a:off x="2133600" y="4876800"/>
            <a:ext cx="16611600" cy="13081000"/>
          </a:xfrm>
          <a:prstGeom prst="rect">
            <a:avLst/>
          </a:prstGeom>
          <a:noFill/>
        </p:spPr>
        <p:txBody>
          <a:bodyPr vertOverflow="overflow" vert="horz" wrap="square" rtlCol="0" anchor="t">
            <a:noAutofit/>
          </a:bodyPr>
          <a:lstStyle/>
          <a:p>
            <a:pPr algn="l">
              <a:lnSpc>
                <a:spcPts val="4000"/>
              </a:lnSpc>
              <a:spcBef>
                <a:spcPts val="0"/>
              </a:spcBef>
              <a:buNone/>
            </a:pPr>
            <a:r>
              <a:rPr lang="en-US" sz="3400" b="0">
                <a:solidFill>
                  <a:srgbClr val="5A5A5A"/>
                </a:solidFill>
                <a:latin typeface="Roboto Mono"/>
                <a:ea typeface="Roboto Mono"/>
                <a:cs typeface="Consolas"/>
              </a:rPr>
              <a:t># B: decorated __enter__/__exit__</a:t>
            </a:r>
          </a:p>
          <a:p>
            <a:pPr algn="l">
              <a:lnSpc>
                <a:spcPts val="4000"/>
              </a:lnSpc>
              <a:spcBef>
                <a:spcPts val="0"/>
              </a:spcBef>
              <a:buNone/>
            </a:pPr>
            <a:r>
              <a:rPr lang="en-US" sz="3400" b="0">
                <a:solidFill>
                  <a:srgbClr val="952FC6"/>
                </a:solidFill>
                <a:latin typeface="Roboto Mono"/>
                <a:ea typeface="Roboto Mono"/>
                <a:cs typeface="Consolas"/>
              </a:rPr>
              <a:t>class</a:t>
            </a:r>
            <a:r>
              <a:rPr lang="en-US" sz="3400" b="0">
                <a:solidFill>
                  <a:srgbClr val="000000"/>
                </a:solidFill>
                <a:latin typeface="Roboto Mono"/>
                <a:ea typeface="Roboto Mono"/>
                <a:cs typeface="Consolas"/>
              </a:rPr>
              <a:t> Tracker:</a:t>
            </a:r>
          </a:p>
          <a:p>
            <a:pPr algn="l">
              <a:lnSpc>
                <a:spcPts val="4000"/>
              </a:lnSpc>
              <a:spcBef>
                <a:spcPts val="0"/>
              </a:spcBef>
              <a:buNone/>
            </a:pP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def</a:t>
            </a:r>
            <a:r>
              <a:rPr lang="en-US" sz="3400" b="0">
                <a:solidFill>
                  <a:srgbClr val="000000"/>
                </a:solidFill>
                <a:latin typeface="Roboto Mono"/>
                <a:ea typeface="Roboto Mono"/>
                <a:cs typeface="Consolas"/>
              </a:rPr>
              <a:t> __</a:t>
            </a:r>
            <a:r>
              <a:rPr lang="en-US" sz="3400" b="0" err="1">
                <a:solidFill>
                  <a:srgbClr val="000000"/>
                </a:solidFill>
                <a:latin typeface="Roboto Mono"/>
                <a:ea typeface="Roboto Mono"/>
                <a:cs typeface="Consolas"/>
              </a:rPr>
              <a:t>init</a:t>
            </a:r>
            <a:r>
              <a:rPr lang="en-US" sz="3400" b="0">
                <a:solidFill>
                  <a:srgbClr val="000000"/>
                </a:solidFill>
                <a:latin typeface="Roboto Mono"/>
                <a:ea typeface="Roboto Mono"/>
                <a:cs typeface="Consolas"/>
              </a:rPr>
              <a:t>__(</a:t>
            </a:r>
            <a:r>
              <a:rPr lang="en-US" sz="3400" b="0">
                <a:solidFill>
                  <a:srgbClr val="952FC6"/>
                </a:solidFill>
                <a:latin typeface="Roboto Mono"/>
                <a:ea typeface="Roboto Mono"/>
                <a:cs typeface="Consolas"/>
              </a:rPr>
              <a:t>self</a:t>
            </a:r>
            <a:r>
              <a:rPr lang="en-US" sz="3400" b="0">
                <a:solidFill>
                  <a:srgbClr val="000000"/>
                </a:solidFill>
                <a:latin typeface="Roboto Mono"/>
                <a:ea typeface="Roboto Mono"/>
                <a:cs typeface="Consolas"/>
              </a:rPr>
              <a:t>):</a:t>
            </a:r>
          </a:p>
          <a:p>
            <a:pPr algn="l">
              <a:lnSpc>
                <a:spcPts val="4000"/>
              </a:lnSpc>
              <a:spcBef>
                <a:spcPts val="0"/>
              </a:spcBef>
              <a:buNone/>
            </a:pPr>
            <a:r>
              <a:rPr lang="en-US" sz="3400" b="0">
                <a:solidFill>
                  <a:srgbClr val="000000"/>
                </a:solidFill>
                <a:latin typeface="Roboto Mono"/>
                <a:ea typeface="Roboto Mono"/>
                <a:cs typeface="Consolas"/>
              </a:rPr>
              <a:t>        </a:t>
            </a:r>
            <a:r>
              <a:rPr lang="en-US" sz="3400" b="0" err="1">
                <a:solidFill>
                  <a:srgbClr val="952FC6"/>
                </a:solidFill>
                <a:latin typeface="Roboto Mono"/>
                <a:ea typeface="Roboto Mono"/>
                <a:cs typeface="Consolas"/>
              </a:rPr>
              <a:t>self</a:t>
            </a:r>
            <a:r>
              <a:rPr lang="en-US" sz="3400" b="0" err="1">
                <a:solidFill>
                  <a:srgbClr val="000000"/>
                </a:solidFill>
                <a:latin typeface="Roboto Mono"/>
                <a:ea typeface="Roboto Mono"/>
                <a:cs typeface="Consolas"/>
              </a:rPr>
              <a:t>.seen</a:t>
            </a:r>
            <a:r>
              <a:rPr lang="en-US" sz="3400" b="0">
                <a:solidFill>
                  <a:srgbClr val="000000"/>
                </a:solidFill>
                <a:latin typeface="Roboto Mono"/>
                <a:ea typeface="Roboto Mono"/>
                <a:cs typeface="Consolas"/>
              </a:rPr>
              <a:t> = 0</a:t>
            </a:r>
          </a:p>
          <a:p>
            <a:pPr algn="l">
              <a:lnSpc>
                <a:spcPts val="4000"/>
              </a:lnSpc>
              <a:spcBef>
                <a:spcPts val="0"/>
              </a:spcBef>
              <a:buNone/>
            </a:pPr>
            <a:r>
              <a:rPr lang="en-US" sz="3400" b="0">
                <a:solidFill>
                  <a:srgbClr val="000000"/>
                </a:solidFill>
                <a:latin typeface="Roboto Mono"/>
                <a:ea typeface="Roboto Mono"/>
                <a:cs typeface="Consolas"/>
              </a:rPr>
              <a:t> </a:t>
            </a:r>
          </a:p>
          <a:p>
            <a:pPr algn="l">
              <a:lnSpc>
                <a:spcPts val="4000"/>
              </a:lnSpc>
              <a:spcBef>
                <a:spcPts val="0"/>
              </a:spcBef>
              <a:buNone/>
            </a:pPr>
            <a:r>
              <a:rPr lang="en-US" sz="3400" b="0">
                <a:solidFill>
                  <a:srgbClr val="0074DF"/>
                </a:solidFill>
                <a:latin typeface="Roboto Mono"/>
                <a:ea typeface="Roboto Mono"/>
                <a:cs typeface="Consolas"/>
              </a:rPr>
              <a:t>    @</a:t>
            </a:r>
            <a:r>
              <a:rPr lang="en-US" sz="3400" b="0" err="1">
                <a:solidFill>
                  <a:srgbClr val="0074DF"/>
                </a:solidFill>
                <a:latin typeface="Roboto Mono"/>
                <a:ea typeface="Roboto Mono"/>
                <a:cs typeface="Consolas"/>
              </a:rPr>
              <a:t>cute.jit</a:t>
            </a:r>
            <a:endParaRPr lang="en-US" sz="3400" b="0">
              <a:solidFill>
                <a:srgbClr val="0074DF"/>
              </a:solidFill>
              <a:latin typeface="Roboto Mono"/>
              <a:ea typeface="Roboto Mono"/>
              <a:cs typeface="Consolas"/>
            </a:endParaRPr>
          </a:p>
          <a:p>
            <a:pPr algn="l">
              <a:lnSpc>
                <a:spcPts val="4000"/>
              </a:lnSpc>
              <a:spcBef>
                <a:spcPts val="0"/>
              </a:spcBef>
              <a:buNone/>
            </a:pP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def</a:t>
            </a:r>
            <a:r>
              <a:rPr lang="en-US" sz="3400" b="0">
                <a:solidFill>
                  <a:srgbClr val="000000"/>
                </a:solidFill>
                <a:latin typeface="Roboto Mono"/>
                <a:ea typeface="Roboto Mono"/>
                <a:cs typeface="Consolas"/>
              </a:rPr>
              <a:t> __enter__(</a:t>
            </a:r>
            <a:r>
              <a:rPr lang="en-US" sz="3400" b="0">
                <a:solidFill>
                  <a:srgbClr val="952FC6"/>
                </a:solidFill>
                <a:latin typeface="Roboto Mono"/>
                <a:ea typeface="Roboto Mono"/>
                <a:cs typeface="Consolas"/>
              </a:rPr>
              <a:t>self</a:t>
            </a:r>
            <a:r>
              <a:rPr lang="en-US" sz="3400" b="0">
                <a:solidFill>
                  <a:srgbClr val="000000"/>
                </a:solidFill>
                <a:latin typeface="Roboto Mono"/>
                <a:ea typeface="Roboto Mono"/>
                <a:cs typeface="Consolas"/>
              </a:rPr>
              <a:t>):</a:t>
            </a:r>
          </a:p>
          <a:p>
            <a:pPr algn="l">
              <a:lnSpc>
                <a:spcPts val="4000"/>
              </a:lnSpc>
              <a:spcBef>
                <a:spcPts val="0"/>
              </a:spcBef>
              <a:buNone/>
            </a:pPr>
            <a:r>
              <a:rPr lang="en-US" sz="3400" b="0">
                <a:solidFill>
                  <a:srgbClr val="000000"/>
                </a:solidFill>
                <a:latin typeface="Roboto Mono"/>
                <a:ea typeface="Roboto Mono"/>
                <a:cs typeface="Consolas"/>
              </a:rPr>
              <a:t>        </a:t>
            </a:r>
            <a:r>
              <a:rPr lang="en-US" sz="3400" b="0" err="1">
                <a:solidFill>
                  <a:srgbClr val="952FC6"/>
                </a:solidFill>
                <a:latin typeface="Roboto Mono"/>
                <a:ea typeface="Roboto Mono"/>
                <a:cs typeface="Consolas"/>
              </a:rPr>
              <a:t>self</a:t>
            </a:r>
            <a:r>
              <a:rPr lang="en-US" sz="3400" b="0" err="1">
                <a:solidFill>
                  <a:srgbClr val="000000"/>
                </a:solidFill>
                <a:latin typeface="Roboto Mono"/>
                <a:ea typeface="Roboto Mono"/>
                <a:cs typeface="Consolas"/>
              </a:rPr>
              <a:t>.seen</a:t>
            </a:r>
            <a:r>
              <a:rPr lang="en-US" sz="3400" b="0">
                <a:solidFill>
                  <a:srgbClr val="000000"/>
                </a:solidFill>
                <a:latin typeface="Roboto Mono"/>
                <a:ea typeface="Roboto Mono"/>
                <a:cs typeface="Consolas"/>
              </a:rPr>
              <a:t> += 1</a:t>
            </a:r>
          </a:p>
          <a:p>
            <a:pPr algn="l">
              <a:lnSpc>
                <a:spcPts val="4000"/>
              </a:lnSpc>
              <a:spcBef>
                <a:spcPts val="0"/>
              </a:spcBef>
              <a:buNone/>
            </a:pP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return</a:t>
            </a: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self</a:t>
            </a:r>
          </a:p>
          <a:p>
            <a:pPr algn="l">
              <a:lnSpc>
                <a:spcPts val="4000"/>
              </a:lnSpc>
              <a:spcBef>
                <a:spcPts val="0"/>
              </a:spcBef>
              <a:buNone/>
            </a:pPr>
            <a:r>
              <a:rPr lang="en-US" sz="3400" b="0">
                <a:solidFill>
                  <a:srgbClr val="000000"/>
                </a:solidFill>
                <a:latin typeface="Roboto Mono"/>
                <a:ea typeface="Roboto Mono"/>
                <a:cs typeface="Consolas"/>
              </a:rPr>
              <a:t> </a:t>
            </a:r>
          </a:p>
          <a:p>
            <a:pPr algn="l">
              <a:lnSpc>
                <a:spcPts val="4000"/>
              </a:lnSpc>
              <a:spcBef>
                <a:spcPts val="0"/>
              </a:spcBef>
              <a:buNone/>
            </a:pPr>
            <a:r>
              <a:rPr lang="en-US" sz="3400" b="0">
                <a:solidFill>
                  <a:srgbClr val="0074DF"/>
                </a:solidFill>
                <a:latin typeface="Roboto Mono"/>
                <a:ea typeface="Roboto Mono"/>
                <a:cs typeface="Consolas"/>
              </a:rPr>
              <a:t>    @</a:t>
            </a:r>
            <a:r>
              <a:rPr lang="en-US" sz="3400" b="0" err="1">
                <a:solidFill>
                  <a:srgbClr val="0074DF"/>
                </a:solidFill>
                <a:latin typeface="Roboto Mono"/>
                <a:ea typeface="Roboto Mono"/>
                <a:cs typeface="Consolas"/>
              </a:rPr>
              <a:t>cute.jit</a:t>
            </a:r>
            <a:endParaRPr lang="en-US" sz="3400" b="0">
              <a:solidFill>
                <a:srgbClr val="0074DF"/>
              </a:solidFill>
              <a:latin typeface="Roboto Mono"/>
              <a:ea typeface="Roboto Mono"/>
              <a:cs typeface="Consolas"/>
            </a:endParaRPr>
          </a:p>
          <a:p>
            <a:pPr algn="l">
              <a:lnSpc>
                <a:spcPts val="4000"/>
              </a:lnSpc>
              <a:spcBef>
                <a:spcPts val="0"/>
              </a:spcBef>
              <a:buNone/>
            </a:pP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def</a:t>
            </a:r>
            <a:r>
              <a:rPr lang="en-US" sz="3400" b="0">
                <a:solidFill>
                  <a:srgbClr val="000000"/>
                </a:solidFill>
                <a:latin typeface="Roboto Mono"/>
                <a:ea typeface="Roboto Mono"/>
                <a:cs typeface="Consolas"/>
              </a:rPr>
              <a:t> __exit__(</a:t>
            </a:r>
            <a:r>
              <a:rPr lang="en-US" sz="3400" b="0">
                <a:solidFill>
                  <a:srgbClr val="952FC6"/>
                </a:solidFill>
                <a:latin typeface="Roboto Mono"/>
                <a:ea typeface="Roboto Mono"/>
                <a:cs typeface="Consolas"/>
              </a:rPr>
              <a:t>self</a:t>
            </a:r>
            <a:r>
              <a:rPr lang="en-US" sz="3400" b="0">
                <a:solidFill>
                  <a:srgbClr val="000000"/>
                </a:solidFill>
                <a:latin typeface="Roboto Mono"/>
                <a:ea typeface="Roboto Mono"/>
                <a:cs typeface="Consolas"/>
              </a:rPr>
              <a:t>, *</a:t>
            </a:r>
            <a:r>
              <a:rPr lang="en-US" sz="3400" b="0" err="1">
                <a:solidFill>
                  <a:srgbClr val="000000"/>
                </a:solidFill>
                <a:latin typeface="Roboto Mono"/>
                <a:ea typeface="Roboto Mono"/>
                <a:cs typeface="Consolas"/>
              </a:rPr>
              <a:t>exc</a:t>
            </a:r>
            <a:r>
              <a:rPr lang="en-US" sz="3400" b="0">
                <a:solidFill>
                  <a:srgbClr val="000000"/>
                </a:solidFill>
                <a:latin typeface="Roboto Mono"/>
                <a:ea typeface="Roboto Mono"/>
                <a:cs typeface="Consolas"/>
              </a:rPr>
              <a:t>):</a:t>
            </a:r>
          </a:p>
          <a:p>
            <a:pPr algn="l">
              <a:lnSpc>
                <a:spcPts val="4000"/>
              </a:lnSpc>
              <a:spcBef>
                <a:spcPts val="0"/>
              </a:spcBef>
              <a:buNone/>
            </a:pPr>
            <a:r>
              <a:rPr lang="en-US" sz="3400" b="0">
                <a:solidFill>
                  <a:srgbClr val="000000"/>
                </a:solidFill>
                <a:latin typeface="Roboto Mono"/>
                <a:ea typeface="Roboto Mono"/>
                <a:cs typeface="Consolas"/>
              </a:rPr>
              <a:t>        </a:t>
            </a:r>
            <a:r>
              <a:rPr lang="en-US" sz="3400" b="0" err="1">
                <a:solidFill>
                  <a:srgbClr val="952FC6"/>
                </a:solidFill>
                <a:latin typeface="Roboto Mono"/>
                <a:ea typeface="Roboto Mono"/>
                <a:cs typeface="Consolas"/>
              </a:rPr>
              <a:t>self</a:t>
            </a:r>
            <a:r>
              <a:rPr lang="en-US" sz="3400" b="0" err="1">
                <a:solidFill>
                  <a:srgbClr val="000000"/>
                </a:solidFill>
                <a:latin typeface="Roboto Mono"/>
                <a:ea typeface="Roboto Mono"/>
                <a:cs typeface="Consolas"/>
              </a:rPr>
              <a:t>.seen</a:t>
            </a:r>
            <a:r>
              <a:rPr lang="en-US" sz="3400" b="0">
                <a:solidFill>
                  <a:srgbClr val="000000"/>
                </a:solidFill>
                <a:latin typeface="Roboto Mono"/>
                <a:ea typeface="Roboto Mono"/>
                <a:cs typeface="Consolas"/>
              </a:rPr>
              <a:t> += 1</a:t>
            </a:r>
          </a:p>
          <a:p>
            <a:pPr algn="l">
              <a:lnSpc>
                <a:spcPts val="4000"/>
              </a:lnSpc>
              <a:spcBef>
                <a:spcPts val="0"/>
              </a:spcBef>
              <a:buNone/>
            </a:pP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return</a:t>
            </a: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False</a:t>
            </a:r>
          </a:p>
          <a:p>
            <a:pPr algn="l">
              <a:lnSpc>
                <a:spcPts val="4000"/>
              </a:lnSpc>
              <a:spcBef>
                <a:spcPts val="0"/>
              </a:spcBef>
              <a:buNone/>
            </a:pPr>
            <a:r>
              <a:rPr lang="en-US" sz="3400" b="0">
                <a:solidFill>
                  <a:srgbClr val="000000"/>
                </a:solidFill>
                <a:latin typeface="Roboto Mono"/>
                <a:ea typeface="Roboto Mono"/>
                <a:cs typeface="Consolas"/>
              </a:rPr>
              <a:t> </a:t>
            </a:r>
          </a:p>
          <a:p>
            <a:pPr algn="l">
              <a:lnSpc>
                <a:spcPts val="4000"/>
              </a:lnSpc>
              <a:spcBef>
                <a:spcPts val="0"/>
              </a:spcBef>
              <a:buNone/>
            </a:pPr>
            <a:r>
              <a:rPr lang="en-US" sz="3400" b="0">
                <a:solidFill>
                  <a:srgbClr val="0074DF"/>
                </a:solidFill>
                <a:latin typeface="Roboto Mono"/>
                <a:ea typeface="Roboto Mono"/>
                <a:cs typeface="Consolas"/>
              </a:rPr>
              <a:t>@</a:t>
            </a:r>
            <a:r>
              <a:rPr lang="en-US" sz="3400" b="0" err="1">
                <a:solidFill>
                  <a:srgbClr val="0074DF"/>
                </a:solidFill>
                <a:latin typeface="Roboto Mono"/>
                <a:ea typeface="Roboto Mono"/>
                <a:cs typeface="Consolas"/>
              </a:rPr>
              <a:t>cute.jit</a:t>
            </a:r>
            <a:endParaRPr lang="en-US" sz="3400" b="0">
              <a:solidFill>
                <a:srgbClr val="0074DF"/>
              </a:solidFill>
              <a:latin typeface="Roboto Mono"/>
              <a:ea typeface="Roboto Mono"/>
              <a:cs typeface="Consolas"/>
            </a:endParaRPr>
          </a:p>
          <a:p>
            <a:pPr algn="l">
              <a:lnSpc>
                <a:spcPts val="4000"/>
              </a:lnSpc>
              <a:spcBef>
                <a:spcPts val="0"/>
              </a:spcBef>
              <a:buNone/>
            </a:pPr>
            <a:r>
              <a:rPr lang="en-US" sz="3400" b="0">
                <a:solidFill>
                  <a:srgbClr val="952FC6"/>
                </a:solidFill>
                <a:latin typeface="Roboto Mono"/>
                <a:ea typeface="Roboto Mono"/>
                <a:cs typeface="Consolas"/>
              </a:rPr>
              <a:t>def</a:t>
            </a:r>
            <a:r>
              <a:rPr lang="en-US" sz="3400" b="0">
                <a:solidFill>
                  <a:srgbClr val="000000"/>
                </a:solidFill>
                <a:latin typeface="Roboto Mono"/>
                <a:ea typeface="Roboto Mono"/>
                <a:cs typeface="Consolas"/>
              </a:rPr>
              <a:t> </a:t>
            </a:r>
            <a:r>
              <a:rPr lang="en-US" sz="3400" b="0" err="1">
                <a:solidFill>
                  <a:srgbClr val="000000"/>
                </a:solidFill>
                <a:latin typeface="Roboto Mono"/>
                <a:ea typeface="Roboto Mono"/>
                <a:cs typeface="Consolas"/>
              </a:rPr>
              <a:t>probe_b</a:t>
            </a:r>
            <a:r>
              <a:rPr lang="en-US" sz="3400" b="0">
                <a:solidFill>
                  <a:srgbClr val="000000"/>
                </a:solidFill>
                <a:latin typeface="Roboto Mono"/>
                <a:ea typeface="Roboto Mono"/>
                <a:cs typeface="Consolas"/>
              </a:rPr>
              <a:t>(n: cutlass.Int32):</a:t>
            </a:r>
          </a:p>
          <a:p>
            <a:pPr algn="l">
              <a:lnSpc>
                <a:spcPts val="4000"/>
              </a:lnSpc>
              <a:spcBef>
                <a:spcPts val="0"/>
              </a:spcBef>
              <a:buNone/>
            </a:pPr>
            <a:r>
              <a:rPr lang="en-US" sz="3400" b="0">
                <a:solidFill>
                  <a:srgbClr val="000000"/>
                </a:solidFill>
                <a:latin typeface="Roboto Mono"/>
                <a:ea typeface="Roboto Mono"/>
                <a:cs typeface="Consolas"/>
              </a:rPr>
              <a:t>    t = Tracker()</a:t>
            </a:r>
          </a:p>
          <a:p>
            <a:pPr algn="l">
              <a:lnSpc>
                <a:spcPts val="4000"/>
              </a:lnSpc>
              <a:spcBef>
                <a:spcPts val="0"/>
              </a:spcBef>
              <a:buNone/>
            </a:pP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for</a:t>
            </a:r>
            <a:r>
              <a:rPr lang="en-US" sz="3400" b="0">
                <a:solidFill>
                  <a:srgbClr val="000000"/>
                </a:solidFill>
                <a:latin typeface="Roboto Mono"/>
                <a:ea typeface="Roboto Mono"/>
                <a:cs typeface="Consolas"/>
              </a:rPr>
              <a:t> </a:t>
            </a:r>
            <a:r>
              <a:rPr lang="en-US" sz="3400" b="0" err="1">
                <a:solidFill>
                  <a:srgbClr val="000000"/>
                </a:solidFill>
                <a:latin typeface="Roboto Mono"/>
                <a:ea typeface="Roboto Mono"/>
                <a:cs typeface="Consolas"/>
              </a:rPr>
              <a:t>i</a:t>
            </a: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in</a:t>
            </a:r>
            <a:r>
              <a:rPr lang="en-US" sz="3400" b="0">
                <a:solidFill>
                  <a:srgbClr val="000000"/>
                </a:solidFill>
                <a:latin typeface="Roboto Mono"/>
                <a:ea typeface="Roboto Mono"/>
                <a:cs typeface="Consolas"/>
              </a:rPr>
              <a:t> range(n):</a:t>
            </a:r>
          </a:p>
          <a:p>
            <a:pPr algn="l">
              <a:lnSpc>
                <a:spcPts val="4000"/>
              </a:lnSpc>
              <a:spcBef>
                <a:spcPts val="0"/>
              </a:spcBef>
              <a:buNone/>
            </a:pPr>
            <a:r>
              <a:rPr lang="en-US" sz="3400" b="0">
                <a:solidFill>
                  <a:srgbClr val="000000"/>
                </a:solidFill>
                <a:latin typeface="Roboto Mono"/>
                <a:ea typeface="Roboto Mono"/>
                <a:cs typeface="Consolas"/>
              </a:rPr>
              <a:t>        </a:t>
            </a:r>
            <a:r>
              <a:rPr lang="en-US" sz="3400" b="0">
                <a:solidFill>
                  <a:srgbClr val="952FC6"/>
                </a:solidFill>
                <a:latin typeface="Roboto Mono"/>
                <a:ea typeface="Roboto Mono"/>
                <a:cs typeface="Consolas"/>
              </a:rPr>
              <a:t>with</a:t>
            </a:r>
            <a:r>
              <a:rPr lang="en-US" sz="3400" b="0">
                <a:solidFill>
                  <a:srgbClr val="000000"/>
                </a:solidFill>
                <a:latin typeface="Roboto Mono"/>
                <a:ea typeface="Roboto Mono"/>
                <a:cs typeface="Consolas"/>
              </a:rPr>
              <a:t> t:</a:t>
            </a:r>
          </a:p>
          <a:p>
            <a:pPr algn="l">
              <a:lnSpc>
                <a:spcPts val="4000"/>
              </a:lnSpc>
              <a:spcBef>
                <a:spcPts val="0"/>
              </a:spcBef>
              <a:buNone/>
            </a:pPr>
            <a:r>
              <a:rPr lang="en-US" sz="3400" b="0">
                <a:solidFill>
                  <a:srgbClr val="000000"/>
                </a:solidFill>
                <a:latin typeface="Roboto Mono"/>
                <a:ea typeface="Roboto Mono"/>
                <a:cs typeface="Consolas"/>
              </a:rPr>
              <a:t>            </a:t>
            </a:r>
            <a:r>
              <a:rPr lang="en-US" sz="3400" b="0" err="1">
                <a:solidFill>
                  <a:srgbClr val="000000"/>
                </a:solidFill>
                <a:latin typeface="Roboto Mono"/>
                <a:ea typeface="Roboto Mono"/>
                <a:cs typeface="Consolas"/>
              </a:rPr>
              <a:t>cute.printf</a:t>
            </a:r>
            <a:r>
              <a:rPr lang="en-US" sz="3400" b="0">
                <a:solidFill>
                  <a:srgbClr val="000000"/>
                </a:solidFill>
                <a:latin typeface="Roboto Mono"/>
                <a:ea typeface="Roboto Mono"/>
                <a:cs typeface="Consolas"/>
              </a:rPr>
              <a:t>("T&gt; B </a:t>
            </a:r>
            <a:r>
              <a:rPr lang="en-US" sz="3400" b="0" err="1">
                <a:solidFill>
                  <a:srgbClr val="000000"/>
                </a:solidFill>
                <a:latin typeface="Roboto Mono"/>
                <a:ea typeface="Roboto Mono"/>
                <a:cs typeface="Consolas"/>
              </a:rPr>
              <a:t>i</a:t>
            </a:r>
            <a:r>
              <a:rPr lang="en-US" sz="3400" b="0">
                <a:solidFill>
                  <a:srgbClr val="000000"/>
                </a:solidFill>
                <a:latin typeface="Roboto Mono"/>
                <a:ea typeface="Roboto Mono"/>
                <a:cs typeface="Consolas"/>
              </a:rPr>
              <a:t>=%d seen=%d", </a:t>
            </a:r>
            <a:r>
              <a:rPr lang="en-US" sz="3400" b="0" err="1">
                <a:solidFill>
                  <a:srgbClr val="000000"/>
                </a:solidFill>
                <a:latin typeface="Roboto Mono"/>
                <a:ea typeface="Roboto Mono"/>
                <a:cs typeface="Consolas"/>
              </a:rPr>
              <a:t>i</a:t>
            </a:r>
            <a:r>
              <a:rPr lang="en-US" sz="3400" b="0">
                <a:solidFill>
                  <a:srgbClr val="000000"/>
                </a:solidFill>
                <a:latin typeface="Roboto Mono"/>
                <a:ea typeface="Roboto Mono"/>
                <a:cs typeface="Consolas"/>
              </a:rPr>
              <a:t>, </a:t>
            </a:r>
            <a:r>
              <a:rPr lang="en-US" sz="3400" b="0" err="1">
                <a:solidFill>
                  <a:srgbClr val="000000"/>
                </a:solidFill>
                <a:latin typeface="Roboto Mono"/>
                <a:ea typeface="Roboto Mono"/>
                <a:cs typeface="Consolas"/>
              </a:rPr>
              <a:t>t.seen</a:t>
            </a:r>
            <a:r>
              <a:rPr lang="en-US" sz="3400" b="0">
                <a:solidFill>
                  <a:srgbClr val="000000"/>
                </a:solidFill>
                <a:latin typeface="Roboto Mono"/>
                <a:ea typeface="Roboto Mono"/>
                <a:cs typeface="Consolas"/>
              </a:rPr>
              <a:t>)</a:t>
            </a:r>
          </a:p>
          <a:p>
            <a:pPr algn="l">
              <a:lnSpc>
                <a:spcPts val="4000"/>
              </a:lnSpc>
              <a:spcBef>
                <a:spcPts val="0"/>
              </a:spcBef>
              <a:buNone/>
            </a:pPr>
            <a:r>
              <a:rPr lang="en-US" sz="3400" b="0">
                <a:solidFill>
                  <a:srgbClr val="000000"/>
                </a:solidFill>
                <a:latin typeface="Roboto Mono"/>
                <a:ea typeface="Roboto Mono"/>
                <a:cs typeface="Consolas"/>
              </a:rPr>
              <a:t>    </a:t>
            </a:r>
            <a:r>
              <a:rPr lang="en-US" sz="3400" b="0" err="1">
                <a:solidFill>
                  <a:srgbClr val="000000"/>
                </a:solidFill>
                <a:latin typeface="Roboto Mono"/>
                <a:ea typeface="Roboto Mono"/>
                <a:cs typeface="Consolas"/>
              </a:rPr>
              <a:t>cute.printf</a:t>
            </a:r>
            <a:r>
              <a:rPr lang="en-US" sz="3400" b="0">
                <a:solidFill>
                  <a:srgbClr val="000000"/>
                </a:solidFill>
                <a:latin typeface="Roboto Mono"/>
                <a:ea typeface="Roboto Mono"/>
                <a:cs typeface="Consolas"/>
              </a:rPr>
              <a:t>("T&gt; B final=%d", </a:t>
            </a:r>
            <a:r>
              <a:rPr lang="en-US" sz="3400" b="0" err="1">
                <a:solidFill>
                  <a:srgbClr val="000000"/>
                </a:solidFill>
                <a:latin typeface="Roboto Mono"/>
                <a:ea typeface="Roboto Mono"/>
                <a:cs typeface="Consolas"/>
              </a:rPr>
              <a:t>t.seen</a:t>
            </a:r>
            <a:r>
              <a:rPr lang="en-US" sz="3400" b="0">
                <a:solidFill>
                  <a:srgbClr val="000000"/>
                </a:solidFill>
                <a:latin typeface="Roboto Mono"/>
                <a:ea typeface="Roboto Mono"/>
                <a:cs typeface="Consolas"/>
              </a:rPr>
              <a:t>)</a:t>
            </a:r>
          </a:p>
          <a:p>
            <a:pPr algn="l">
              <a:lnSpc>
                <a:spcPts val="4000"/>
              </a:lnSpc>
              <a:spcBef>
                <a:spcPts val="0"/>
              </a:spcBef>
              <a:buNone/>
            </a:pPr>
            <a:r>
              <a:rPr lang="en-US" sz="3400" b="0">
                <a:solidFill>
                  <a:srgbClr val="000000"/>
                </a:solidFill>
                <a:latin typeface="Roboto Mono"/>
                <a:ea typeface="Roboto Mono"/>
                <a:cs typeface="Consolas"/>
              </a:rPr>
              <a:t> </a:t>
            </a:r>
          </a:p>
          <a:p>
            <a:pPr algn="l">
              <a:lnSpc>
                <a:spcPts val="4000"/>
              </a:lnSpc>
              <a:spcBef>
                <a:spcPts val="0"/>
              </a:spcBef>
              <a:buNone/>
            </a:pPr>
            <a:r>
              <a:rPr lang="en-US" sz="3400" b="0" err="1">
                <a:solidFill>
                  <a:srgbClr val="000000"/>
                </a:solidFill>
                <a:latin typeface="Roboto Mono"/>
                <a:ea typeface="Roboto Mono"/>
                <a:cs typeface="Consolas"/>
              </a:rPr>
              <a:t>probe_b</a:t>
            </a:r>
            <a:r>
              <a:rPr lang="en-US" sz="3400" b="0">
                <a:solidFill>
                  <a:srgbClr val="000000"/>
                </a:solidFill>
                <a:latin typeface="Roboto Mono"/>
                <a:ea typeface="Roboto Mono"/>
                <a:cs typeface="Consolas"/>
              </a:rPr>
              <a:t>(4)</a:t>
            </a:r>
          </a:p>
        </p:txBody>
      </p:sp>
      <p:sp>
        <p:nvSpPr>
          <p:cNvPr id="7" name="HLNote">
            <a:extLst>
              <a:ext uri="{FF2B5EF4-FFF2-40B4-BE49-F238E27FC236}">
                <a16:creationId xmlns:a16="http://schemas.microsoft.com/office/drawing/2014/main" id="{235B2AAD-F5C7-1046-9276-AED777C7A751}"/>
              </a:ext>
            </a:extLst>
          </p:cNvPr>
          <p:cNvSpPr txBox="1"/>
          <p:nvPr/>
        </p:nvSpPr>
        <p:spPr>
          <a:xfrm>
            <a:off x="1828800" y="18491200"/>
            <a:ext cx="17221200" cy="1143000"/>
          </a:xfrm>
          <a:prstGeom prst="rect">
            <a:avLst/>
          </a:prstGeom>
          <a:noFill/>
        </p:spPr>
        <p:txBody>
          <a:bodyPr vertOverflow="overflow" vert="horz" wrap="square" rtlCol="0" anchor="t" anchorCtr="0">
            <a:noAutofit/>
          </a:bodyPr>
          <a:lstStyle/>
          <a:p>
            <a:pPr algn="l"/>
            <a:r>
              <a:rPr lang="en-US" sz="2000">
                <a:solidFill>
                  <a:srgbClr val="4A4A4A"/>
                </a:solidFill>
                <a:latin typeface="NVIDIA Sans"/>
                <a:cs typeface="NVIDIA Sans"/>
              </a:rPr>
              <a:t>The highlighted with statement and the __enter__ / __exit__ methods it drives are the part v2 rewrites and v1 leaves alone.</a:t>
            </a:r>
          </a:p>
        </p:txBody>
      </p:sp>
    </p:spTree>
    <p:extLst>
      <p:ext uri="{BB962C8B-B14F-4D97-AF65-F5344CB8AC3E}">
        <p14:creationId xmlns:p14="http://schemas.microsoft.com/office/powerpoint/2010/main" val="559852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WhyBg">
            <a:extLst>
              <a:ext uri="{FF2B5EF4-FFF2-40B4-BE49-F238E27FC236}">
                <a16:creationId xmlns:a16="http://schemas.microsoft.com/office/drawing/2014/main" id="{AAC8CF83-134B-1444-91EB-BA16F276451A}"/>
              </a:ext>
            </a:extLst>
          </p:cNvPr>
          <p:cNvSpPr/>
          <p:nvPr/>
        </p:nvSpPr>
        <p:spPr>
          <a:xfrm>
            <a:off x="1828800" y="14732000"/>
            <a:ext cx="32918400" cy="3556000"/>
          </a:xfrm>
          <a:prstGeom prst="rect">
            <a:avLst/>
          </a:prstGeom>
          <a:solidFill>
            <a:srgbClr val="F3F8E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itleTx">
            <a:extLst>
              <a:ext uri="{FF2B5EF4-FFF2-40B4-BE49-F238E27FC236}">
                <a16:creationId xmlns:a16="http://schemas.microsoft.com/office/drawing/2014/main" id="{21FA0351-B11E-B143-BDCA-B9BC74426179}"/>
              </a:ext>
            </a:extLst>
          </p:cNvPr>
          <p:cNvSpPr txBox="1"/>
          <p:nvPr/>
        </p:nvSpPr>
        <p:spPr>
          <a:xfrm>
            <a:off x="1828800" y="914400"/>
            <a:ext cx="32918400" cy="1905000"/>
          </a:xfrm>
          <a:prstGeom prst="rect">
            <a:avLst/>
          </a:prstGeom>
          <a:noFill/>
        </p:spPr>
        <p:txBody>
          <a:bodyPr vertOverflow="overflow" vert="horz" wrap="square" rtlCol="0" anchor="t">
            <a:noAutofit/>
          </a:bodyPr>
          <a:lstStyle/>
          <a:p>
            <a:pPr>
              <a:lnSpc>
                <a:spcPts val="10120"/>
              </a:lnSpc>
              <a:spcBef>
                <a:spcPts val="0"/>
              </a:spcBef>
              <a:buNone/>
            </a:pPr>
            <a:r>
              <a:rPr lang="en-US" sz="8800">
                <a:solidFill>
                  <a:srgbClr val="000000"/>
                </a:solidFill>
                <a:latin typeface="NVIDIA Sans Medium"/>
                <a:cs typeface="NVIDIA Sans Medium"/>
              </a:rPr>
              <a:t>Where Fuzzing Fails</a:t>
            </a:r>
          </a:p>
        </p:txBody>
      </p:sp>
      <p:sp>
        <p:nvSpPr>
          <p:cNvPr id="3" name="SubTx">
            <a:extLst>
              <a:ext uri="{FF2B5EF4-FFF2-40B4-BE49-F238E27FC236}">
                <a16:creationId xmlns:a16="http://schemas.microsoft.com/office/drawing/2014/main" id="{7760BD46-459F-404D-A29A-E637ED5BC5D2}"/>
              </a:ext>
            </a:extLst>
          </p:cNvPr>
          <p:cNvSpPr txBox="1"/>
          <p:nvPr/>
        </p:nvSpPr>
        <p:spPr>
          <a:xfrm>
            <a:off x="1828800" y="2895600"/>
            <a:ext cx="32918400" cy="965200"/>
          </a:xfrm>
          <a:prstGeom prst="rect">
            <a:avLst/>
          </a:prstGeom>
          <a:noFill/>
        </p:spPr>
        <p:txBody>
          <a:bodyPr vertOverflow="overflow" vert="horz" wrap="square" rtlCol="0" anchor="t">
            <a:noAutofit/>
          </a:bodyPr>
          <a:lstStyle/>
          <a:p>
            <a:pPr>
              <a:lnSpc>
                <a:spcPts val="5060"/>
              </a:lnSpc>
              <a:spcBef>
                <a:spcPts val="0"/>
              </a:spcBef>
              <a:buNone/>
            </a:pPr>
            <a:r>
              <a:rPr lang="en-US" sz="4400">
                <a:solidFill>
                  <a:srgbClr val="757575"/>
                </a:solidFill>
                <a:latin typeface="NVIDIA Sans"/>
                <a:cs typeface="NVIDIA Sans"/>
              </a:rPr>
              <a:t>Sampling never reaches n = 0</a:t>
            </a:r>
          </a:p>
        </p:txBody>
      </p:sp>
      <p:sp>
        <p:nvSpPr>
          <p:cNvPr id="4" name="PanelL">
            <a:extLst>
              <a:ext uri="{FF2B5EF4-FFF2-40B4-BE49-F238E27FC236}">
                <a16:creationId xmlns:a16="http://schemas.microsoft.com/office/drawing/2014/main" id="{EB6E82F6-A0E3-2942-AC6B-F5DFA46E9A6B}"/>
              </a:ext>
            </a:extLst>
          </p:cNvPr>
          <p:cNvSpPr/>
          <p:nvPr/>
        </p:nvSpPr>
        <p:spPr>
          <a:xfrm>
            <a:off x="1828800" y="4064000"/>
            <a:ext cx="17221200" cy="9906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C1bg">
            <a:extLst>
              <a:ext uri="{FF2B5EF4-FFF2-40B4-BE49-F238E27FC236}">
                <a16:creationId xmlns:a16="http://schemas.microsoft.com/office/drawing/2014/main" id="{EDF54DB5-D8DF-6C45-844B-1430F1800201}"/>
              </a:ext>
            </a:extLst>
          </p:cNvPr>
          <p:cNvSpPr/>
          <p:nvPr/>
        </p:nvSpPr>
        <p:spPr>
          <a:xfrm>
            <a:off x="19812000" y="4064000"/>
            <a:ext cx="14935200" cy="4572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C1h">
            <a:extLst>
              <a:ext uri="{FF2B5EF4-FFF2-40B4-BE49-F238E27FC236}">
                <a16:creationId xmlns:a16="http://schemas.microsoft.com/office/drawing/2014/main" id="{3E87C6ED-4BF6-A346-96E1-A9D419630BBB}"/>
              </a:ext>
            </a:extLst>
          </p:cNvPr>
          <p:cNvSpPr txBox="1"/>
          <p:nvPr/>
        </p:nvSpPr>
        <p:spPr>
          <a:xfrm>
            <a:off x="20269200" y="5461000"/>
            <a:ext cx="14020800" cy="889000"/>
          </a:xfrm>
          <a:prstGeom prst="rect">
            <a:avLst/>
          </a:prstGeom>
          <a:noFill/>
        </p:spPr>
        <p:txBody>
          <a:bodyPr vertOverflow="overflow" vert="horz" wrap="square" rtlCol="0" anchor="t">
            <a:noAutofit/>
          </a:bodyPr>
          <a:lstStyle/>
          <a:p>
            <a:pPr algn="l"/>
            <a:r>
              <a:rPr lang="en-US" sz="3400" b="1">
                <a:latin typeface="NVIDIA Sans"/>
                <a:cs typeface="NVIDIA Sans"/>
              </a:rPr>
              <a:t>Plain Python: the truth</a:t>
            </a:r>
          </a:p>
        </p:txBody>
      </p:sp>
      <p:sp>
        <p:nvSpPr>
          <p:cNvPr id="9" name="C1b">
            <a:extLst>
              <a:ext uri="{FF2B5EF4-FFF2-40B4-BE49-F238E27FC236}">
                <a16:creationId xmlns:a16="http://schemas.microsoft.com/office/drawing/2014/main" id="{015C4F68-12BB-A743-BF26-93CC7BF0810D}"/>
              </a:ext>
            </a:extLst>
          </p:cNvPr>
          <p:cNvSpPr txBox="1"/>
          <p:nvPr/>
        </p:nvSpPr>
        <p:spPr>
          <a:xfrm>
            <a:off x="20269200" y="6502400"/>
            <a:ext cx="14020800" cy="1397000"/>
          </a:xfrm>
          <a:prstGeom prst="rect">
            <a:avLst/>
          </a:prstGeom>
          <a:noFill/>
        </p:spPr>
        <p:txBody>
          <a:bodyPr vertOverflow="overflow" vert="horz" wrap="square" rtlCol="0" anchor="t">
            <a:noAutofit/>
          </a:bodyPr>
          <a:lstStyle/>
          <a:p>
            <a:pPr algn="l"/>
            <a:r>
              <a:rPr lang="en-US" sz="3400">
                <a:solidFill>
                  <a:srgbClr val="313131"/>
                </a:solidFill>
                <a:latin typeface="Roboto Mono"/>
                <a:ea typeface="Roboto Mono"/>
                <a:cs typeface="Consolas"/>
              </a:rPr>
              <a:t>Z&gt; AttributeError: 'Acc' object has no attribute '_k'</a:t>
            </a:r>
          </a:p>
        </p:txBody>
      </p:sp>
      <p:sp>
        <p:nvSpPr>
          <p:cNvPr id="10" name="C2bg">
            <a:extLst>
              <a:ext uri="{FF2B5EF4-FFF2-40B4-BE49-F238E27FC236}">
                <a16:creationId xmlns:a16="http://schemas.microsoft.com/office/drawing/2014/main" id="{7275E4B5-1DC8-624E-866D-4A0F83E876C6}"/>
              </a:ext>
            </a:extLst>
          </p:cNvPr>
          <p:cNvSpPr/>
          <p:nvPr/>
        </p:nvSpPr>
        <p:spPr>
          <a:xfrm>
            <a:off x="19812000" y="9398000"/>
            <a:ext cx="14935200" cy="45720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C2h">
            <a:extLst>
              <a:ext uri="{FF2B5EF4-FFF2-40B4-BE49-F238E27FC236}">
                <a16:creationId xmlns:a16="http://schemas.microsoft.com/office/drawing/2014/main" id="{F8DE3830-1CC3-9D42-BD89-18619DA1F8C2}"/>
              </a:ext>
            </a:extLst>
          </p:cNvPr>
          <p:cNvSpPr txBox="1"/>
          <p:nvPr/>
        </p:nvSpPr>
        <p:spPr>
          <a:xfrm>
            <a:off x="20269200" y="10795000"/>
            <a:ext cx="14020800" cy="889000"/>
          </a:xfrm>
          <a:prstGeom prst="rect">
            <a:avLst/>
          </a:prstGeom>
          <a:noFill/>
        </p:spPr>
        <p:txBody>
          <a:bodyPr vertOverflow="overflow" vert="horz" wrap="square" rtlCol="0" anchor="t">
            <a:noAutofit/>
          </a:bodyPr>
          <a:lstStyle/>
          <a:p>
            <a:pPr algn="l"/>
            <a:r>
              <a:rPr lang="en-US" sz="3400" b="1">
                <a:solidFill>
                  <a:srgbClr val="B3261E"/>
                </a:solidFill>
                <a:latin typeface="NVIDIA Sans"/>
                <a:cs typeface="NVIDIA Sans"/>
              </a:rPr>
              <a:t>Traced + compiled kernel, pre-fix</a:t>
            </a:r>
          </a:p>
        </p:txBody>
      </p:sp>
      <p:sp>
        <p:nvSpPr>
          <p:cNvPr id="12" name="C2b">
            <a:extLst>
              <a:ext uri="{FF2B5EF4-FFF2-40B4-BE49-F238E27FC236}">
                <a16:creationId xmlns:a16="http://schemas.microsoft.com/office/drawing/2014/main" id="{0B8A6A56-FAA7-DC4F-896A-D7DA7F231636}"/>
              </a:ext>
            </a:extLst>
          </p:cNvPr>
          <p:cNvSpPr txBox="1"/>
          <p:nvPr/>
        </p:nvSpPr>
        <p:spPr>
          <a:xfrm>
            <a:off x="20269200" y="11836400"/>
            <a:ext cx="14020800" cy="1397000"/>
          </a:xfrm>
          <a:prstGeom prst="rect">
            <a:avLst/>
          </a:prstGeom>
          <a:noFill/>
        </p:spPr>
        <p:txBody>
          <a:bodyPr vertOverflow="overflow" vert="horz" wrap="square" rtlCol="0" anchor="t">
            <a:noAutofit/>
          </a:bodyPr>
          <a:lstStyle/>
          <a:p>
            <a:pPr algn="l"/>
            <a:r>
              <a:rPr lang="en-US" sz="3400">
                <a:solidFill>
                  <a:srgbClr val="B3261E"/>
                </a:solidFill>
                <a:latin typeface="Roboto Mono"/>
                <a:ea typeface="Roboto Mono"/>
                <a:cs typeface="Consolas"/>
              </a:rPr>
              <a:t>Z&gt; out=5        exit 0</a:t>
            </a:r>
          </a:p>
        </p:txBody>
      </p:sp>
      <p:sp>
        <p:nvSpPr>
          <p:cNvPr id="16" name="Kicker">
            <a:extLst>
              <a:ext uri="{FF2B5EF4-FFF2-40B4-BE49-F238E27FC236}">
                <a16:creationId xmlns:a16="http://schemas.microsoft.com/office/drawing/2014/main" id="{5DD2E2E6-83EB-314B-B5BA-9DA76B4B8FD6}"/>
              </a:ext>
            </a:extLst>
          </p:cNvPr>
          <p:cNvSpPr txBox="1"/>
          <p:nvPr/>
        </p:nvSpPr>
        <p:spPr>
          <a:xfrm>
            <a:off x="2413000" y="15138400"/>
            <a:ext cx="10160000" cy="2921000"/>
          </a:xfrm>
          <a:prstGeom prst="rect">
            <a:avLst/>
          </a:prstGeom>
          <a:noFill/>
        </p:spPr>
        <p:txBody>
          <a:bodyPr vertOverflow="overflow" vert="horz" wrap="square" rtlCol="0" anchor="t">
            <a:noAutofit/>
          </a:bodyPr>
          <a:lstStyle/>
          <a:p>
            <a:pPr>
              <a:lnSpc>
                <a:spcPts val="4200"/>
              </a:lnSpc>
              <a:spcBef>
                <a:spcPts val="0"/>
              </a:spcBef>
              <a:buNone/>
            </a:pPr>
            <a:r>
              <a:rPr lang="en-US" sz="3400">
                <a:solidFill>
                  <a:srgbClr val="313131"/>
                </a:solidFill>
                <a:latin typeface="Roboto Mono"/>
                <a:ea typeface="Roboto Mono"/>
                <a:cs typeface="Consolas"/>
              </a:rPr>
              <a:t>tests:     n=1 ✓  n=4 ✓  n=100 ✓</a:t>
            </a:r>
          </a:p>
          <a:p>
            <a:pPr>
              <a:lnSpc>
                <a:spcPts val="4200"/>
              </a:lnSpc>
              <a:spcBef>
                <a:spcPts val="0"/>
              </a:spcBef>
              <a:buNone/>
            </a:pPr>
            <a:r>
              <a:rPr lang="en-US" sz="3400">
                <a:solidFill>
                  <a:srgbClr val="313131"/>
                </a:solidFill>
                <a:latin typeface="Roboto Mono"/>
                <a:ea typeface="Roboto Mono"/>
                <a:cs typeface="Consolas"/>
              </a:rPr>
              <a:t>fuzzer:    n=7 ✓  n=13 ✓ n=41 ✓ …</a:t>
            </a:r>
          </a:p>
          <a:p>
            <a:pPr>
              <a:lnSpc>
                <a:spcPts val="4200"/>
              </a:lnSpc>
              <a:spcBef>
                <a:spcPts val="0"/>
              </a:spcBef>
              <a:buNone/>
            </a:pPr>
            <a:r>
              <a:rPr lang="en-US" sz="3400" b="1">
                <a:solidFill>
                  <a:srgbClr val="4A7C00"/>
                </a:solidFill>
                <a:latin typeface="Roboto Mono"/>
                <a:ea typeface="Roboto Mono"/>
                <a:cs typeface="Consolas"/>
              </a:rPr>
              <a:t>theorem:   ∀ n ≥ 1, ∀ x ✓</a:t>
            </a:r>
          </a:p>
          <a:p>
            <a:pPr>
              <a:lnSpc>
                <a:spcPts val="4200"/>
              </a:lnSpc>
              <a:spcBef>
                <a:spcPts val="0"/>
              </a:spcBef>
              <a:buNone/>
            </a:pPr>
            <a:r>
              <a:rPr lang="en-US" sz="3400" b="1">
                <a:solidFill>
                  <a:srgbClr val="B3261E"/>
                </a:solidFill>
                <a:latin typeface="Roboto Mono"/>
                <a:ea typeface="Roboto Mono"/>
                <a:cs typeface="Consolas"/>
              </a:rPr>
              <a:t>           n = 0</a:t>
            </a:r>
          </a:p>
        </p:txBody>
      </p:sp>
      <p:sp>
        <p:nvSpPr>
          <p:cNvPr id="6" name="LadderR">
            <a:extLst>
              <a:ext uri="{FF2B5EF4-FFF2-40B4-BE49-F238E27FC236}">
                <a16:creationId xmlns:a16="http://schemas.microsoft.com/office/drawing/2014/main" id="{47FE719B-1E57-3F40-B2AE-0453FEA28AFE}"/>
              </a:ext>
            </a:extLst>
          </p:cNvPr>
          <p:cNvSpPr txBox="1"/>
          <p:nvPr/>
        </p:nvSpPr>
        <p:spPr>
          <a:xfrm>
            <a:off x="13081000" y="15138400"/>
            <a:ext cx="21082000" cy="2921000"/>
          </a:xfrm>
          <a:prstGeom prst="rect">
            <a:avLst/>
          </a:prstGeom>
          <a:noFill/>
        </p:spPr>
        <p:txBody>
          <a:bodyPr vertOverflow="overflow" vert="horz" wrap="square" rtlCol="0" anchor="t">
            <a:noAutofit/>
          </a:bodyPr>
          <a:lstStyle/>
          <a:p>
            <a:pPr>
              <a:lnSpc>
                <a:spcPts val="4200"/>
              </a:lnSpc>
              <a:spcBef>
                <a:spcPts val="0"/>
              </a:spcBef>
              <a:buNone/>
            </a:pPr>
            <a:r>
              <a:rPr lang="en-US" sz="3400">
                <a:solidFill>
                  <a:srgbClr val="313131"/>
                </a:solidFill>
                <a:latin typeface="NVIDIA Sans"/>
                <a:cs typeface="NVIDIA Sans"/>
              </a:rPr>
              <a:t>the cases someone wrote</a:t>
            </a:r>
          </a:p>
          <a:p>
            <a:pPr>
              <a:lnSpc>
                <a:spcPts val="4200"/>
              </a:lnSpc>
              <a:spcBef>
                <a:spcPts val="0"/>
              </a:spcBef>
              <a:buNone/>
            </a:pPr>
            <a:r>
              <a:rPr lang="en-US" sz="3400">
                <a:solidFill>
                  <a:srgbClr val="313131"/>
                </a:solidFill>
                <a:latin typeface="NVIDIA Sans"/>
                <a:cs typeface="NVIDIA Sans"/>
              </a:rPr>
              <a:t>more cases, still samples</a:t>
            </a:r>
          </a:p>
          <a:p>
            <a:pPr>
              <a:lnSpc>
                <a:spcPts val="4200"/>
              </a:lnSpc>
              <a:spcBef>
                <a:spcPts val="0"/>
              </a:spcBef>
              <a:buNone/>
            </a:pPr>
            <a:r>
              <a:rPr lang="en-US" sz="3400" b="1">
                <a:solidFill>
                  <a:srgbClr val="4A7C00"/>
                </a:solidFill>
                <a:latin typeface="NVIDIA Sans"/>
                <a:cs typeface="NVIDIA Sans"/>
              </a:rPr>
              <a:t>true, and every test lives here</a:t>
            </a:r>
          </a:p>
          <a:p>
            <a:pPr>
              <a:lnSpc>
                <a:spcPts val="4200"/>
              </a:lnSpc>
              <a:spcBef>
                <a:spcPts val="0"/>
              </a:spcBef>
              <a:buNone/>
            </a:pPr>
            <a:r>
              <a:rPr lang="en-US" sz="3400" b="1">
                <a:solidFill>
                  <a:srgbClr val="B3261E"/>
                </a:solidFill>
                <a:latin typeface="NVIDIA Sans"/>
                <a:cs typeface="NVIDIA Sans"/>
              </a:rPr>
              <a:t>the only case that diverges</a:t>
            </a:r>
          </a:p>
        </p:txBody>
      </p:sp>
      <p:sp>
        <p:nvSpPr>
          <p:cNvPr id="13" name="HLSeed">
            <a:extLst>
              <a:ext uri="{FF2B5EF4-FFF2-40B4-BE49-F238E27FC236}">
                <a16:creationId xmlns:a16="http://schemas.microsoft.com/office/drawing/2014/main" id="{16DC4022-76F6-F247-B4D0-9030145F34DC}"/>
              </a:ext>
            </a:extLst>
          </p:cNvPr>
          <p:cNvSpPr/>
          <p:nvPr/>
        </p:nvSpPr>
        <p:spPr>
          <a:xfrm>
            <a:off x="2133600" y="5511800"/>
            <a:ext cx="16611600" cy="584200"/>
          </a:xfrm>
          <a:prstGeom prst="rect">
            <a:avLst/>
          </a:prstGeom>
          <a:solidFill>
            <a:srgbClr val="E4F2C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HLLoop">
            <a:extLst>
              <a:ext uri="{FF2B5EF4-FFF2-40B4-BE49-F238E27FC236}">
                <a16:creationId xmlns:a16="http://schemas.microsoft.com/office/drawing/2014/main" id="{8C1281E2-E02D-0749-98A1-D70790197CFE}"/>
              </a:ext>
            </a:extLst>
          </p:cNvPr>
          <p:cNvSpPr/>
          <p:nvPr/>
        </p:nvSpPr>
        <p:spPr>
          <a:xfrm>
            <a:off x="2133600" y="7899400"/>
            <a:ext cx="16611600" cy="1117600"/>
          </a:xfrm>
          <a:prstGeom prst="rect">
            <a:avLst/>
          </a:prstGeom>
          <a:solidFill>
            <a:srgbClr val="E4F2C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HLCall">
            <a:extLst>
              <a:ext uri="{FF2B5EF4-FFF2-40B4-BE49-F238E27FC236}">
                <a16:creationId xmlns:a16="http://schemas.microsoft.com/office/drawing/2014/main" id="{6CF2F4A5-E688-694B-9FCA-FB08185948C5}"/>
              </a:ext>
            </a:extLst>
          </p:cNvPr>
          <p:cNvSpPr/>
          <p:nvPr/>
        </p:nvSpPr>
        <p:spPr>
          <a:xfrm>
            <a:off x="2133600" y="12446000"/>
            <a:ext cx="16611600" cy="584200"/>
          </a:xfrm>
          <a:prstGeom prst="rect">
            <a:avLst/>
          </a:prstGeom>
          <a:solidFill>
            <a:srgbClr val="E4F2C8"/>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HLOut"/>
          <p:cNvSpPr/>
          <p:nvPr/>
        </p:nvSpPr>
        <p:spPr>
          <a:xfrm>
            <a:off x="2133600" y="10147300"/>
            <a:ext cx="16611600" cy="584200"/>
          </a:xfrm>
          <a:prstGeom prst="rect">
            <a:avLst/>
          </a:prstGeom>
          <a:solidFill>
            <a:srgbClr val="FBDBD6"/>
          </a:solidFill>
          <a:ln>
            <a:noFill/>
          </a:ln>
        </p:spPr>
        <p:txBody>
          <a:bodyPr rtlCol="0" anchor="t"/>
          <a:lstStyle/>
          <a:p>
            <a:pPr algn="l"/>
            <a:endParaRPr lang="en-US"/>
          </a:p>
        </p:txBody>
      </p:sp>
      <p:sp>
        <p:nvSpPr>
          <p:cNvPr id="5" name="CodeL">
            <a:extLst>
              <a:ext uri="{FF2B5EF4-FFF2-40B4-BE49-F238E27FC236}">
                <a16:creationId xmlns:a16="http://schemas.microsoft.com/office/drawing/2014/main" id="{32AA196A-CD82-2F40-BADC-37EFC043DBA5}"/>
              </a:ext>
            </a:extLst>
          </p:cNvPr>
          <p:cNvSpPr txBox="1"/>
          <p:nvPr/>
        </p:nvSpPr>
        <p:spPr>
          <a:xfrm>
            <a:off x="2133600" y="4368800"/>
            <a:ext cx="16611600" cy="9398000"/>
          </a:xfrm>
          <a:prstGeom prst="rect">
            <a:avLst/>
          </a:prstGeom>
          <a:noFill/>
        </p:spPr>
        <p:txBody>
          <a:bodyPr vertOverflow="overflow" vert="horz" wrap="square" rtlCol="0" anchor="t">
            <a:noAutofit/>
          </a:bodyPr>
          <a:lstStyle/>
          <a:p>
            <a:pPr>
              <a:lnSpc>
                <a:spcPts val="4250"/>
              </a:lnSpc>
              <a:spcBef>
                <a:spcPts val="0"/>
              </a:spcBef>
              <a:buNone/>
            </a:pPr>
            <a:r>
              <a:rPr lang="en-US" sz="3600">
                <a:solidFill>
                  <a:srgbClr val="952FC6"/>
                </a:solidFill>
                <a:latin typeface="Roboto Mono"/>
                <a:ea typeface="Roboto Mono"/>
                <a:cs typeface="Consolas"/>
              </a:rPr>
              <a:t>class</a:t>
            </a:r>
            <a:r>
              <a:rPr lang="en-US" sz="3600">
                <a:solidFill>
                  <a:srgbClr val="000000"/>
                </a:solidFill>
                <a:latin typeface="Roboto Mono"/>
                <a:ea typeface="Roboto Mono"/>
                <a:cs typeface="Consolas"/>
              </a:rPr>
              <a:t> </a:t>
            </a:r>
            <a:r>
              <a:rPr lang="en-US" sz="3600">
                <a:solidFill>
                  <a:srgbClr val="0074DF"/>
                </a:solidFill>
                <a:latin typeface="Roboto Mono"/>
                <a:ea typeface="Roboto Mono"/>
                <a:cs typeface="Consolas"/>
              </a:rPr>
              <a:t>Acc</a:t>
            </a:r>
            <a:r>
              <a:rPr lang="en-US" sz="3600">
                <a:solidFill>
                  <a:srgbClr val="000000"/>
                </a:solidFill>
                <a:latin typeface="Roboto Mono"/>
                <a:ea typeface="Roboto Mono"/>
                <a:cs typeface="Consolas"/>
              </a:rPr>
              <a:t>:</a:t>
            </a:r>
          </a:p>
          <a:p>
            <a:pPr>
              <a:lnSpc>
                <a:spcPts val="4250"/>
              </a:lnSpc>
              <a:spcBef>
                <a:spcPts val="0"/>
              </a:spcBef>
              <a:buNone/>
            </a:pPr>
            <a:r>
              <a:rPr lang="en-US" sz="3600">
                <a:solidFill>
                  <a:srgbClr val="000000"/>
                </a:solidFill>
                <a:latin typeface="Roboto Mono"/>
                <a:ea typeface="Roboto Mono"/>
                <a:cs typeface="Consolas"/>
              </a:rPr>
              <a:t>    </a:t>
            </a:r>
            <a:r>
              <a:rPr lang="en-US" sz="3600">
                <a:solidFill>
                  <a:srgbClr val="952FC6"/>
                </a:solidFill>
                <a:latin typeface="Roboto Mono"/>
                <a:ea typeface="Roboto Mono"/>
                <a:cs typeface="Consolas"/>
              </a:rPr>
              <a:t>def</a:t>
            </a:r>
            <a:r>
              <a:rPr lang="en-US" sz="3600">
                <a:solidFill>
                  <a:srgbClr val="000000"/>
                </a:solidFill>
                <a:latin typeface="Roboto Mono"/>
                <a:ea typeface="Roboto Mono"/>
                <a:cs typeface="Consolas"/>
              </a:rPr>
              <a:t> step(</a:t>
            </a:r>
            <a:r>
              <a:rPr lang="en-US" sz="3600">
                <a:solidFill>
                  <a:srgbClr val="757575"/>
                </a:solidFill>
                <a:latin typeface="Roboto Mono"/>
                <a:ea typeface="Roboto Mono"/>
                <a:cs typeface="Consolas"/>
              </a:rPr>
              <a:t>self</a:t>
            </a:r>
            <a:r>
              <a:rPr lang="en-US" sz="3600">
                <a:solidFill>
                  <a:srgbClr val="000000"/>
                </a:solidFill>
                <a:latin typeface="Roboto Mono"/>
                <a:ea typeface="Roboto Mono"/>
                <a:cs typeface="Consolas"/>
              </a:rPr>
              <a:t>):</a:t>
            </a:r>
          </a:p>
          <a:p>
            <a:pPr>
              <a:lnSpc>
                <a:spcPts val="4250"/>
              </a:lnSpc>
              <a:spcBef>
                <a:spcPts val="0"/>
              </a:spcBef>
              <a:buNone/>
            </a:pPr>
            <a:r>
              <a:rPr lang="en-US" sz="3600">
                <a:solidFill>
                  <a:srgbClr val="000000"/>
                </a:solidFill>
                <a:latin typeface="Roboto Mono"/>
                <a:ea typeface="Roboto Mono"/>
                <a:cs typeface="Consolas"/>
              </a:rPr>
              <a:t>        </a:t>
            </a:r>
            <a:r>
              <a:rPr lang="en-US" sz="3600">
                <a:solidFill>
                  <a:srgbClr val="757575"/>
                </a:solidFill>
                <a:latin typeface="Roboto Mono"/>
                <a:ea typeface="Roboto Mono"/>
                <a:cs typeface="Consolas"/>
              </a:rPr>
              <a:t>self</a:t>
            </a:r>
            <a:r>
              <a:rPr lang="en-US" sz="3600">
                <a:solidFill>
                  <a:srgbClr val="000000"/>
                </a:solidFill>
                <a:latin typeface="Roboto Mono"/>
                <a:ea typeface="Roboto Mono"/>
                <a:cs typeface="Consolas"/>
              </a:rPr>
              <a:t>._k = </a:t>
            </a:r>
            <a:r>
              <a:rPr lang="en-US" sz="3600">
                <a:solidFill>
                  <a:srgbClr val="B5651D"/>
                </a:solidFill>
                <a:latin typeface="Roboto Mono"/>
                <a:ea typeface="Roboto Mono"/>
                <a:cs typeface="Consolas"/>
              </a:rPr>
              <a:t>0</a:t>
            </a:r>
            <a:r>
              <a:rPr lang="en-US" sz="3600">
                <a:solidFill>
                  <a:srgbClr val="000000"/>
                </a:solidFill>
                <a:latin typeface="Roboto Mono"/>
                <a:ea typeface="Roboto Mono"/>
                <a:cs typeface="Consolas"/>
              </a:rPr>
              <a:t>            </a:t>
            </a:r>
            <a:r>
              <a:rPr lang="en-US" sz="3600">
                <a:solidFill>
                  <a:srgbClr val="757575"/>
                </a:solidFill>
                <a:latin typeface="Roboto Mono"/>
                <a:ea typeface="Roboto Mono"/>
                <a:cs typeface="Consolas"/>
              </a:rPr>
              <a:t># first write: the seed</a:t>
            </a:r>
          </a:p>
          <a:p>
            <a:pPr>
              <a:lnSpc>
                <a:spcPts val="4250"/>
              </a:lnSpc>
              <a:spcBef>
                <a:spcPts val="0"/>
              </a:spcBef>
              <a:buNone/>
            </a:pPr>
            <a:r>
              <a:rPr lang="en-US" sz="3600">
                <a:solidFill>
                  <a:srgbClr val="000000"/>
                </a:solidFill>
                <a:latin typeface="Roboto Mono"/>
                <a:ea typeface="Roboto Mono"/>
                <a:cs typeface="Consolas"/>
              </a:rPr>
              <a:t>        </a:t>
            </a:r>
            <a:r>
              <a:rPr lang="en-US" sz="3600">
                <a:solidFill>
                  <a:srgbClr val="757575"/>
                </a:solidFill>
                <a:latin typeface="Roboto Mono"/>
                <a:ea typeface="Roboto Mono"/>
                <a:cs typeface="Consolas"/>
              </a:rPr>
              <a:t>self</a:t>
            </a:r>
            <a:r>
              <a:rPr lang="en-US" sz="3600">
                <a:solidFill>
                  <a:srgbClr val="000000"/>
                </a:solidFill>
                <a:latin typeface="Roboto Mono"/>
                <a:ea typeface="Roboto Mono"/>
                <a:cs typeface="Consolas"/>
              </a:rPr>
              <a:t>._k = </a:t>
            </a:r>
            <a:r>
              <a:rPr lang="en-US" sz="3600">
                <a:solidFill>
                  <a:srgbClr val="757575"/>
                </a:solidFill>
                <a:latin typeface="Roboto Mono"/>
                <a:ea typeface="Roboto Mono"/>
                <a:cs typeface="Consolas"/>
              </a:rPr>
              <a:t>self</a:t>
            </a:r>
            <a:r>
              <a:rPr lang="en-US" sz="3600">
                <a:solidFill>
                  <a:srgbClr val="000000"/>
                </a:solidFill>
                <a:latin typeface="Roboto Mono"/>
                <a:ea typeface="Roboto Mono"/>
                <a:cs typeface="Consolas"/>
              </a:rPr>
              <a:t>._k + </a:t>
            </a:r>
            <a:r>
              <a:rPr lang="en-US" sz="3600">
                <a:solidFill>
                  <a:srgbClr val="B5651D"/>
                </a:solidFill>
                <a:latin typeface="Roboto Mono"/>
                <a:ea typeface="Roboto Mono"/>
                <a:cs typeface="Consolas"/>
              </a:rPr>
              <a:t>1</a:t>
            </a:r>
          </a:p>
          <a:p>
            <a:pPr>
              <a:lnSpc>
                <a:spcPts val="2000"/>
              </a:lnSpc>
              <a:spcBef>
                <a:spcPts val="0"/>
              </a:spcBef>
              <a:buNone/>
            </a:pPr>
            <a:r>
              <a:rPr lang="en-US" sz="1800">
                <a:solidFill>
                  <a:srgbClr val="000000"/>
                </a:solidFill>
                <a:latin typeface="Roboto Mono"/>
                <a:ea typeface="Roboto Mono"/>
                <a:cs typeface="Consolas"/>
              </a:rPr>
              <a:t> </a:t>
            </a:r>
          </a:p>
          <a:p>
            <a:pPr>
              <a:lnSpc>
                <a:spcPts val="4250"/>
              </a:lnSpc>
              <a:spcBef>
                <a:spcPts val="0"/>
              </a:spcBef>
              <a:buNone/>
            </a:pPr>
            <a:r>
              <a:rPr lang="en-US" sz="3600">
                <a:solidFill>
                  <a:srgbClr val="952FC6"/>
                </a:solidFill>
                <a:latin typeface="Roboto Mono"/>
                <a:ea typeface="Roboto Mono"/>
                <a:cs typeface="Consolas"/>
              </a:rPr>
              <a:t>def</a:t>
            </a:r>
            <a:r>
              <a:rPr lang="en-US" sz="3600">
                <a:solidFill>
                  <a:srgbClr val="000000"/>
                </a:solidFill>
                <a:latin typeface="Roboto Mono"/>
                <a:ea typeface="Roboto Mono"/>
                <a:cs typeface="Consolas"/>
              </a:rPr>
              <a:t> kern(n, x):</a:t>
            </a:r>
          </a:p>
          <a:p>
            <a:pPr>
              <a:lnSpc>
                <a:spcPts val="4250"/>
              </a:lnSpc>
              <a:spcBef>
                <a:spcPts val="0"/>
              </a:spcBef>
              <a:buNone/>
            </a:pPr>
            <a:r>
              <a:rPr lang="en-US" sz="3600">
                <a:solidFill>
                  <a:srgbClr val="000000"/>
                </a:solidFill>
                <a:latin typeface="Roboto Mono"/>
                <a:ea typeface="Roboto Mono"/>
                <a:cs typeface="Consolas"/>
              </a:rPr>
              <a:t>    a = </a:t>
            </a:r>
            <a:r>
              <a:rPr lang="en-US" sz="3600">
                <a:solidFill>
                  <a:srgbClr val="0074DF"/>
                </a:solidFill>
                <a:latin typeface="Roboto Mono"/>
                <a:ea typeface="Roboto Mono"/>
                <a:cs typeface="Consolas"/>
              </a:rPr>
              <a:t>Acc</a:t>
            </a:r>
            <a:r>
              <a:rPr lang="en-US" sz="3600">
                <a:solidFill>
                  <a:srgbClr val="000000"/>
                </a:solidFill>
                <a:latin typeface="Roboto Mono"/>
                <a:ea typeface="Roboto Mono"/>
                <a:cs typeface="Consolas"/>
              </a:rPr>
              <a:t>()</a:t>
            </a:r>
          </a:p>
          <a:p>
            <a:pPr>
              <a:lnSpc>
                <a:spcPts val="4250"/>
              </a:lnSpc>
              <a:spcBef>
                <a:spcPts val="0"/>
              </a:spcBef>
              <a:buNone/>
            </a:pPr>
            <a:r>
              <a:rPr lang="en-US" sz="3600">
                <a:solidFill>
                  <a:srgbClr val="000000"/>
                </a:solidFill>
                <a:latin typeface="Roboto Mono"/>
                <a:ea typeface="Roboto Mono"/>
                <a:cs typeface="Consolas"/>
              </a:rPr>
              <a:t>    </a:t>
            </a:r>
            <a:r>
              <a:rPr lang="en-US" sz="3600">
                <a:solidFill>
                  <a:srgbClr val="952FC6"/>
                </a:solidFill>
                <a:latin typeface="Roboto Mono"/>
                <a:ea typeface="Roboto Mono"/>
                <a:cs typeface="Consolas"/>
              </a:rPr>
              <a:t>for</a:t>
            </a:r>
            <a:r>
              <a:rPr lang="en-US" sz="3600">
                <a:solidFill>
                  <a:srgbClr val="000000"/>
                </a:solidFill>
                <a:latin typeface="Roboto Mono"/>
                <a:ea typeface="Roboto Mono"/>
                <a:cs typeface="Consolas"/>
              </a:rPr>
              <a:t> _i </a:t>
            </a:r>
            <a:r>
              <a:rPr lang="en-US" sz="3600">
                <a:solidFill>
                  <a:srgbClr val="952FC6"/>
                </a:solidFill>
                <a:latin typeface="Roboto Mono"/>
                <a:ea typeface="Roboto Mono"/>
                <a:cs typeface="Consolas"/>
              </a:rPr>
              <a:t>in</a:t>
            </a:r>
            <a:r>
              <a:rPr lang="en-US" sz="3600">
                <a:solidFill>
                  <a:srgbClr val="000000"/>
                </a:solidFill>
                <a:latin typeface="Roboto Mono"/>
                <a:ea typeface="Roboto Mono"/>
                <a:cs typeface="Consolas"/>
              </a:rPr>
              <a:t> range(n):        </a:t>
            </a:r>
            <a:r>
              <a:rPr lang="en-US" sz="3600">
                <a:solidFill>
                  <a:srgbClr val="757575"/>
                </a:solidFill>
                <a:latin typeface="Roboto Mono"/>
                <a:ea typeface="Roboto Mono"/>
                <a:cs typeface="Consolas"/>
              </a:rPr>
              <a:t># n is runtime: zero trips here</a:t>
            </a:r>
          </a:p>
          <a:p>
            <a:pPr>
              <a:lnSpc>
                <a:spcPts val="4250"/>
              </a:lnSpc>
              <a:spcBef>
                <a:spcPts val="0"/>
              </a:spcBef>
              <a:buNone/>
            </a:pPr>
            <a:r>
              <a:rPr lang="en-US" sz="3600">
                <a:solidFill>
                  <a:srgbClr val="000000"/>
                </a:solidFill>
                <a:latin typeface="Roboto Mono"/>
                <a:ea typeface="Roboto Mono"/>
                <a:cs typeface="Consolas"/>
              </a:rPr>
              <a:t>        a.step()</a:t>
            </a:r>
          </a:p>
          <a:p>
            <a:pPr>
              <a:lnSpc>
                <a:spcPts val="4250"/>
              </a:lnSpc>
              <a:spcBef>
                <a:spcPts val="0"/>
              </a:spcBef>
              <a:buNone/>
            </a:pPr>
            <a:r>
              <a:rPr lang="en-US" sz="3600">
                <a:solidFill>
                  <a:srgbClr val="000000"/>
                </a:solidFill>
                <a:latin typeface="Roboto Mono"/>
                <a:ea typeface="Roboto Mono"/>
                <a:cs typeface="Consolas"/>
              </a:rPr>
              <a:t>    </a:t>
            </a:r>
            <a:r>
              <a:rPr lang="en-US" sz="3600">
                <a:solidFill>
                  <a:srgbClr val="952FC6"/>
                </a:solidFill>
                <a:latin typeface="Roboto Mono"/>
                <a:ea typeface="Roboto Mono"/>
                <a:cs typeface="Consolas"/>
              </a:rPr>
              <a:t>try</a:t>
            </a:r>
            <a:r>
              <a:rPr lang="en-US" sz="3600">
                <a:solidFill>
                  <a:srgbClr val="000000"/>
                </a:solidFill>
                <a:latin typeface="Roboto Mono"/>
                <a:ea typeface="Roboto Mono"/>
                <a:cs typeface="Consolas"/>
              </a:rPr>
              <a:t>:</a:t>
            </a:r>
          </a:p>
          <a:p>
            <a:pPr>
              <a:lnSpc>
                <a:spcPts val="4250"/>
              </a:lnSpc>
              <a:spcBef>
                <a:spcPts val="0"/>
              </a:spcBef>
              <a:buNone/>
            </a:pPr>
            <a:r>
              <a:rPr lang="en-US" sz="3600">
                <a:solidFill>
                  <a:srgbClr val="000000"/>
                </a:solidFill>
                <a:latin typeface="Roboto Mono"/>
                <a:ea typeface="Roboto Mono"/>
                <a:cs typeface="Consolas"/>
              </a:rPr>
              <a:t>        out = x + a._k</a:t>
            </a:r>
          </a:p>
          <a:p>
            <a:pPr>
              <a:lnSpc>
                <a:spcPts val="4250"/>
              </a:lnSpc>
              <a:spcBef>
                <a:spcPts val="0"/>
              </a:spcBef>
              <a:buNone/>
            </a:pPr>
            <a:r>
              <a:rPr lang="en-US" sz="3600">
                <a:solidFill>
                  <a:srgbClr val="000000"/>
                </a:solidFill>
                <a:latin typeface="Roboto Mono"/>
                <a:ea typeface="Roboto Mono"/>
                <a:cs typeface="Consolas"/>
              </a:rPr>
              <a:t>        </a:t>
            </a:r>
            <a:r>
              <a:rPr lang="en-US" sz="3600">
                <a:solidFill>
                  <a:srgbClr val="757575"/>
                </a:solidFill>
                <a:latin typeface="Roboto Mono"/>
                <a:ea typeface="Roboto Mono"/>
                <a:cs typeface="Consolas"/>
              </a:rPr>
              <a:t>print</a:t>
            </a:r>
            <a:r>
              <a:rPr lang="en-US" sz="3600">
                <a:solidFill>
                  <a:srgbClr val="000000"/>
                </a:solidFill>
                <a:latin typeface="Roboto Mono"/>
                <a:ea typeface="Roboto Mono"/>
                <a:cs typeface="Consolas"/>
              </a:rPr>
              <a:t>(</a:t>
            </a:r>
            <a:r>
              <a:rPr lang="en-US" sz="3600">
                <a:solidFill>
                  <a:srgbClr val="1D6F62"/>
                </a:solidFill>
                <a:latin typeface="Roboto Mono"/>
                <a:ea typeface="Roboto Mono"/>
                <a:cs typeface="Consolas"/>
              </a:rPr>
              <a:t>"Z&gt; out=%d"</a:t>
            </a:r>
            <a:r>
              <a:rPr lang="en-US" sz="3600">
                <a:solidFill>
                  <a:srgbClr val="000000"/>
                </a:solidFill>
                <a:latin typeface="Roboto Mono"/>
                <a:ea typeface="Roboto Mono"/>
                <a:cs typeface="Consolas"/>
              </a:rPr>
              <a:t> % out)</a:t>
            </a:r>
          </a:p>
          <a:p>
            <a:pPr>
              <a:lnSpc>
                <a:spcPts val="4250"/>
              </a:lnSpc>
              <a:spcBef>
                <a:spcPts val="0"/>
              </a:spcBef>
              <a:buNone/>
            </a:pPr>
            <a:r>
              <a:rPr lang="en-US" sz="3600">
                <a:solidFill>
                  <a:srgbClr val="000000"/>
                </a:solidFill>
                <a:latin typeface="Roboto Mono"/>
                <a:ea typeface="Roboto Mono"/>
                <a:cs typeface="Consolas"/>
              </a:rPr>
              <a:t>    </a:t>
            </a:r>
            <a:r>
              <a:rPr lang="en-US" sz="3600">
                <a:solidFill>
                  <a:srgbClr val="952FC6"/>
                </a:solidFill>
                <a:latin typeface="Roboto Mono"/>
                <a:ea typeface="Roboto Mono"/>
                <a:cs typeface="Consolas"/>
              </a:rPr>
              <a:t>except</a:t>
            </a:r>
            <a:r>
              <a:rPr lang="en-US" sz="3600">
                <a:solidFill>
                  <a:srgbClr val="000000"/>
                </a:solidFill>
                <a:latin typeface="Roboto Mono"/>
                <a:ea typeface="Roboto Mono"/>
                <a:cs typeface="Consolas"/>
              </a:rPr>
              <a:t> </a:t>
            </a:r>
            <a:r>
              <a:rPr lang="en-US" sz="3600">
                <a:solidFill>
                  <a:srgbClr val="0074DF"/>
                </a:solidFill>
                <a:latin typeface="Roboto Mono"/>
                <a:ea typeface="Roboto Mono"/>
                <a:cs typeface="Consolas"/>
              </a:rPr>
              <a:t>AttributeError</a:t>
            </a:r>
            <a:r>
              <a:rPr lang="en-US" sz="3600">
                <a:solidFill>
                  <a:srgbClr val="000000"/>
                </a:solidFill>
                <a:latin typeface="Roboto Mono"/>
                <a:ea typeface="Roboto Mono"/>
                <a:cs typeface="Consolas"/>
              </a:rPr>
              <a:t> </a:t>
            </a:r>
            <a:r>
              <a:rPr lang="en-US" sz="3600">
                <a:solidFill>
                  <a:srgbClr val="952FC6"/>
                </a:solidFill>
                <a:latin typeface="Roboto Mono"/>
                <a:ea typeface="Roboto Mono"/>
                <a:cs typeface="Consolas"/>
              </a:rPr>
              <a:t>as</a:t>
            </a:r>
            <a:r>
              <a:rPr lang="en-US" sz="3600">
                <a:solidFill>
                  <a:srgbClr val="000000"/>
                </a:solidFill>
                <a:latin typeface="Roboto Mono"/>
                <a:ea typeface="Roboto Mono"/>
                <a:cs typeface="Consolas"/>
              </a:rPr>
              <a:t> e:</a:t>
            </a:r>
          </a:p>
          <a:p>
            <a:pPr>
              <a:lnSpc>
                <a:spcPts val="4250"/>
              </a:lnSpc>
              <a:spcBef>
                <a:spcPts val="0"/>
              </a:spcBef>
              <a:buNone/>
            </a:pPr>
            <a:r>
              <a:rPr lang="en-US" sz="3600">
                <a:solidFill>
                  <a:srgbClr val="000000"/>
                </a:solidFill>
                <a:latin typeface="Roboto Mono"/>
                <a:ea typeface="Roboto Mono"/>
                <a:cs typeface="Consolas"/>
              </a:rPr>
              <a:t>        </a:t>
            </a:r>
            <a:r>
              <a:rPr lang="en-US" sz="3600">
                <a:solidFill>
                  <a:srgbClr val="757575"/>
                </a:solidFill>
                <a:latin typeface="Roboto Mono"/>
                <a:ea typeface="Roboto Mono"/>
                <a:cs typeface="Consolas"/>
              </a:rPr>
              <a:t>print</a:t>
            </a:r>
            <a:r>
              <a:rPr lang="en-US" sz="3600">
                <a:solidFill>
                  <a:srgbClr val="000000"/>
                </a:solidFill>
                <a:latin typeface="Roboto Mono"/>
                <a:ea typeface="Roboto Mono"/>
                <a:cs typeface="Consolas"/>
              </a:rPr>
              <a:t>(</a:t>
            </a:r>
            <a:r>
              <a:rPr lang="en-US" sz="3600">
                <a:solidFill>
                  <a:srgbClr val="1D6F62"/>
                </a:solidFill>
                <a:latin typeface="Roboto Mono"/>
                <a:ea typeface="Roboto Mono"/>
                <a:cs typeface="Consolas"/>
              </a:rPr>
              <a:t>"Z&gt; AttributeError: %s"</a:t>
            </a:r>
            <a:r>
              <a:rPr lang="en-US" sz="3600">
                <a:solidFill>
                  <a:srgbClr val="000000"/>
                </a:solidFill>
                <a:latin typeface="Roboto Mono"/>
                <a:ea typeface="Roboto Mono"/>
                <a:cs typeface="Consolas"/>
              </a:rPr>
              <a:t> % e)</a:t>
            </a:r>
          </a:p>
          <a:p>
            <a:pPr>
              <a:lnSpc>
                <a:spcPts val="2000"/>
              </a:lnSpc>
              <a:spcBef>
                <a:spcPts val="0"/>
              </a:spcBef>
              <a:buNone/>
            </a:pPr>
            <a:r>
              <a:rPr lang="en-US" sz="1800">
                <a:solidFill>
                  <a:srgbClr val="000000"/>
                </a:solidFill>
                <a:latin typeface="Roboto Mono"/>
                <a:ea typeface="Roboto Mono"/>
                <a:cs typeface="Consolas"/>
              </a:rPr>
              <a:t> </a:t>
            </a:r>
          </a:p>
          <a:p>
            <a:pPr>
              <a:lnSpc>
                <a:spcPts val="4250"/>
              </a:lnSpc>
              <a:spcBef>
                <a:spcPts val="0"/>
              </a:spcBef>
              <a:buNone/>
            </a:pPr>
            <a:r>
              <a:rPr lang="en-US" sz="3600">
                <a:solidFill>
                  <a:srgbClr val="000000"/>
                </a:solidFill>
                <a:latin typeface="Roboto Mono"/>
                <a:ea typeface="Roboto Mono"/>
                <a:cs typeface="Consolas"/>
              </a:rPr>
              <a:t>kern(</a:t>
            </a:r>
            <a:r>
              <a:rPr lang="en-US" sz="3600">
                <a:solidFill>
                  <a:srgbClr val="B5651D"/>
                </a:solidFill>
                <a:latin typeface="Roboto Mono"/>
                <a:ea typeface="Roboto Mono"/>
                <a:cs typeface="Consolas"/>
              </a:rPr>
              <a:t>0</a:t>
            </a:r>
            <a:r>
              <a:rPr lang="en-US" sz="3600">
                <a:solidFill>
                  <a:srgbClr val="000000"/>
                </a:solidFill>
                <a:latin typeface="Roboto Mono"/>
                <a:ea typeface="Roboto Mono"/>
                <a:cs typeface="Consolas"/>
              </a:rPr>
              <a:t>, </a:t>
            </a:r>
            <a:r>
              <a:rPr lang="en-US" sz="3600">
                <a:solidFill>
                  <a:srgbClr val="B5651D"/>
                </a:solidFill>
                <a:latin typeface="Roboto Mono"/>
                <a:ea typeface="Roboto Mono"/>
                <a:cs typeface="Consolas"/>
              </a:rPr>
              <a:t>5</a:t>
            </a:r>
            <a:r>
              <a:rPr lang="en-US" sz="3600">
                <a:solidFill>
                  <a:srgbClr val="000000"/>
                </a:solidFill>
                <a:latin typeface="Roboto Mono"/>
                <a:ea typeface="Roboto Mono"/>
                <a:cs typeface="Consolas"/>
              </a:rPr>
              <a:t>)</a:t>
            </a:r>
          </a:p>
        </p:txBody>
      </p:sp>
      <p:sp>
        <p:nvSpPr>
          <p:cNvPr id="18" name="HLNote">
            <a:extLst>
              <a:ext uri="{FF2B5EF4-FFF2-40B4-BE49-F238E27FC236}">
                <a16:creationId xmlns:a16="http://schemas.microsoft.com/office/drawing/2014/main" id="{3BFB3768-B3B8-D342-9B44-AB1C1A365306}"/>
              </a:ext>
            </a:extLst>
          </p:cNvPr>
          <p:cNvSpPr txBox="1"/>
          <p:nvPr/>
        </p:nvSpPr>
        <p:spPr>
          <a:xfrm>
            <a:off x="2133600" y="14046200"/>
            <a:ext cx="16916400" cy="584200"/>
          </a:xfrm>
          <a:prstGeom prst="rect">
            <a:avLst/>
          </a:prstGeom>
          <a:noFill/>
        </p:spPr>
        <p:txBody>
          <a:bodyPr vertOverflow="overflow" vert="horz" wrap="square" rtlCol="0" anchor="t" anchorCtr="0">
            <a:noAutofit/>
          </a:bodyPr>
          <a:lstStyle/>
          <a:p>
            <a:pPr algn="l"/>
            <a:r>
              <a:rPr lang="en-US" sz="1800">
                <a:solidFill>
                  <a:srgbClr val="4A4A4A"/>
                </a:solidFill>
                <a:latin typeface="NVIDIA Sans"/>
                <a:cs typeface="NVIDIA Sans"/>
              </a:rPr>
              <a:t>With n = 0 the loop never runs, so the seed write never happens and the read has nothing to find.</a:t>
            </a:r>
          </a:p>
        </p:txBody>
      </p:sp>
      <p:sp>
        <p:nvSpPr>
          <p:cNvPr id="31" name="HLOutNote"/>
          <p:cNvSpPr txBox="1"/>
          <p:nvPr/>
        </p:nvSpPr>
        <p:spPr>
          <a:xfrm>
            <a:off x="9906000" y="10147300"/>
            <a:ext cx="8890000" cy="584200"/>
          </a:xfrm>
          <a:prstGeom prst="rect">
            <a:avLst/>
          </a:prstGeom>
          <a:noFill/>
        </p:spPr>
        <p:txBody>
          <a:bodyPr vertOverflow="overflow" wrap="square" rtlCol="0" anchor="t">
            <a:noAutofit/>
          </a:bodyPr>
          <a:lstStyle/>
          <a:p>
            <a:pPr algn="l"/>
            <a:r>
              <a:rPr lang="en-US" sz="2400" b="1">
                <a:solidFill>
                  <a:srgbClr val="B3261E"/>
                </a:solidFill>
                <a:latin typeface="NVIDIA Sans"/>
                <a:cs typeface="NVIDIA Sans"/>
              </a:rPr>
              <a:t>← this can go wrong: out is loop-dependent</a:t>
            </a:r>
          </a:p>
        </p:txBody>
      </p:sp>
    </p:spTree>
    <p:extLst>
      <p:ext uri="{BB962C8B-B14F-4D97-AF65-F5344CB8AC3E}">
        <p14:creationId xmlns:p14="http://schemas.microsoft.com/office/powerpoint/2010/main" val="2574088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pPr>
              <a:lnSpc>
                <a:spcPts val="5200"/>
              </a:lnSpc>
              <a:buNone/>
            </a:pPr>
            <a:r>
              <a:rPr lang="en-US" sz="4800">
                <a:solidFill>
                  <a:srgbClr val="A7A7A7"/>
                </a:solidFill>
                <a:latin typeface="NVIDIA Sans"/>
                <a:cs typeface="NVIDIA Sans"/>
              </a:rPr>
              <a:t>Write down a claim, and the machine checks it holds for every case</a:t>
            </a:r>
          </a:p>
        </p:txBody>
      </p:sp>
      <p:sp>
        <p:nvSpPr>
          <p:cNvPr id="4" name="Title 3"/>
          <p:cNvSpPr>
            <a:spLocks noGrp="1"/>
          </p:cNvSpPr>
          <p:nvPr>
            <p:ph type="title"/>
          </p:nvPr>
        </p:nvSpPr>
        <p:spPr/>
        <p:txBody>
          <a:bodyPr/>
          <a:lstStyle/>
          <a:p>
            <a:r>
              <a:rPr lang="en-US">
                <a:latin typeface="NVIDIA Sans Medium"/>
              </a:rPr>
              <a:t>Beyond Differential Testing</a:t>
            </a:r>
          </a:p>
        </p:txBody>
      </p:sp>
      <p:sp>
        <p:nvSpPr>
          <p:cNvPr id="6701" name="Body T"/>
          <p:cNvSpPr txBox="1"/>
          <p:nvPr/>
        </p:nvSpPr>
        <p:spPr>
          <a:xfrm>
            <a:off x="19050000" y="5715000"/>
            <a:ext cx="15697200" cy="2540000"/>
          </a:xfrm>
          <a:prstGeom prst="rect">
            <a:avLst/>
          </a:prstGeom>
          <a:noFill/>
        </p:spPr>
        <p:txBody>
          <a:bodyPr wrap="square" lIns="0" tIns="0" rIns="0" bIns="0" anchor="t">
            <a:noAutofit/>
          </a:bodyPr>
          <a:lstStyle/>
          <a:p>
            <a:pPr>
              <a:lnSpc>
                <a:spcPts val="4400"/>
              </a:lnSpc>
              <a:buNone/>
            </a:pPr>
            <a:r>
              <a:rPr lang="en-US" sz="3600">
                <a:solidFill>
                  <a:srgbClr val="757575"/>
                </a:solidFill>
                <a:latin typeface="NVIDIA Sans"/>
                <a:cs typeface="NVIDIA Sans"/>
              </a:rPr>
              <a:t>They only sample behavior, and that sample depends on the distribution of tests</a:t>
            </a:r>
          </a:p>
        </p:txBody>
      </p:sp>
      <p:sp>
        <p:nvSpPr>
          <p:cNvPr id="6704" name="Term A"/>
          <p:cNvSpPr txBox="1"/>
          <p:nvPr/>
        </p:nvSpPr>
        <p:spPr>
          <a:xfrm>
            <a:off x="4826000" y="5664200"/>
            <a:ext cx="12700000" cy="1778000"/>
          </a:xfrm>
          <a:prstGeom prst="rect">
            <a:avLst/>
          </a:prstGeom>
          <a:noFill/>
        </p:spPr>
        <p:txBody>
          <a:bodyPr wrap="square" lIns="0" tIns="0" rIns="0" bIns="0" anchor="t">
            <a:noAutofit/>
          </a:bodyPr>
          <a:lstStyle/>
          <a:p>
            <a:pPr>
              <a:lnSpc>
                <a:spcPts val="5400"/>
              </a:lnSpc>
              <a:buNone/>
            </a:pPr>
            <a:r>
              <a:rPr lang="en-US" sz="4800" b="1">
                <a:solidFill>
                  <a:srgbClr val="000000"/>
                </a:solidFill>
                <a:latin typeface="NVIDIA Sans"/>
                <a:cs typeface="NVIDIA Sans"/>
              </a:rPr>
              <a:t>Tests are not enough</a:t>
            </a:r>
          </a:p>
        </p:txBody>
      </p:sp>
      <p:sp>
        <p:nvSpPr>
          <p:cNvPr id="6705" name="Body A"/>
          <p:cNvSpPr txBox="1"/>
          <p:nvPr/>
        </p:nvSpPr>
        <p:spPr>
          <a:xfrm>
            <a:off x="19050000" y="9525000"/>
            <a:ext cx="15697200" cy="2540000"/>
          </a:xfrm>
          <a:prstGeom prst="rect">
            <a:avLst/>
          </a:prstGeom>
          <a:noFill/>
        </p:spPr>
        <p:txBody>
          <a:bodyPr wrap="square" lIns="0" tIns="0" rIns="0" bIns="0" anchor="t">
            <a:noAutofit/>
          </a:bodyPr>
          <a:lstStyle/>
          <a:p>
            <a:pPr>
              <a:lnSpc>
                <a:spcPts val="4400"/>
              </a:lnSpc>
              <a:buNone/>
            </a:pPr>
            <a:r>
              <a:rPr lang="en-US" sz="3600">
                <a:solidFill>
                  <a:srgbClr val="757575"/>
                </a:solidFill>
                <a:latin typeface="NVIDIA Sans"/>
                <a:cs typeface="NVIDIA Sans"/>
              </a:rPr>
              <a:t>A programming language and proof assistant. You define the system in Lean itself, state theorems about it, and the kernel type-checks the proof.</a:t>
            </a:r>
          </a:p>
        </p:txBody>
      </p:sp>
      <p:sp>
        <p:nvSpPr>
          <p:cNvPr id="6706" name="Term B"/>
          <p:cNvSpPr txBox="1"/>
          <p:nvPr/>
        </p:nvSpPr>
        <p:spPr>
          <a:xfrm>
            <a:off x="4826000" y="9474200"/>
            <a:ext cx="12700000" cy="1778000"/>
          </a:xfrm>
          <a:prstGeom prst="rect">
            <a:avLst/>
          </a:prstGeom>
          <a:noFill/>
        </p:spPr>
        <p:txBody>
          <a:bodyPr wrap="square" lIns="0" tIns="0" rIns="0" bIns="0" anchor="t">
            <a:noAutofit/>
          </a:bodyPr>
          <a:lstStyle/>
          <a:p>
            <a:pPr>
              <a:lnSpc>
                <a:spcPts val="5400"/>
              </a:lnSpc>
              <a:buNone/>
            </a:pPr>
            <a:r>
              <a:rPr lang="en-US" sz="4800" b="1">
                <a:solidFill>
                  <a:srgbClr val="000000"/>
                </a:solidFill>
                <a:latin typeface="NVIDIA Sans"/>
                <a:cs typeface="NVIDIA Sans"/>
              </a:rPr>
              <a:t>The alternative: Lean</a:t>
            </a:r>
          </a:p>
        </p:txBody>
      </p:sp>
      <p:pic>
        <p:nvPicPr>
          <p:cNvPr id="6710" name="Copied Picture 6710">
            <a:extLst>
              <a:ext uri="{FF2B5EF4-FFF2-40B4-BE49-F238E27FC236}">
                <a16:creationId xmlns:a16="http://schemas.microsoft.com/office/drawing/2014/main" id="{78777085-0B09-5D50-39A0-AA7452CCFDCC}"/>
              </a:ext>
            </a:extLst>
          </p:cNvPr>
          <p:cNvPicPr>
            <a:picLocks noChangeAspect="1"/>
          </p:cNvPicPr>
          <p:nvPr/>
        </p:nvPicPr>
        <p:blipFill>
          <a:blip r:embed="rId2"/>
          <a:stretch>
            <a:fillRect/>
          </a:stretch>
        </p:blipFill>
        <p:spPr>
          <a:xfrm>
            <a:off x="14726079" y="13335000"/>
            <a:ext cx="20850461" cy="5094530"/>
          </a:xfrm>
          <a:prstGeom prst="rect">
            <a:avLst/>
          </a:prstGeom>
        </p:spPr>
      </p:pic>
      <p:sp>
        <p:nvSpPr>
          <p:cNvPr id="6712" name="Term C"/>
          <p:cNvSpPr txBox="1"/>
          <p:nvPr/>
        </p:nvSpPr>
        <p:spPr>
          <a:xfrm>
            <a:off x="4826000" y="13284200"/>
            <a:ext cx="12700000" cy="1778000"/>
          </a:xfrm>
          <a:prstGeom prst="rect">
            <a:avLst/>
          </a:prstGeom>
          <a:noFill/>
        </p:spPr>
        <p:txBody>
          <a:bodyPr wrap="square" lIns="0" tIns="0" rIns="0" bIns="0" anchor="t">
            <a:noAutofit/>
          </a:bodyPr>
          <a:lstStyle/>
          <a:p>
            <a:pPr>
              <a:lnSpc>
                <a:spcPts val="5400"/>
              </a:lnSpc>
              <a:buNone/>
            </a:pPr>
            <a:r>
              <a:rPr lang="en-US" sz="4800" b="1">
                <a:solidFill>
                  <a:srgbClr val="000000"/>
                </a:solidFill>
                <a:latin typeface="NVIDIA Sans"/>
                <a:cs typeface="NVIDIA Sans"/>
              </a:rPr>
              <a:t>Why now</a:t>
            </a:r>
          </a:p>
        </p:txBody>
      </p:sp>
      <p:sp>
        <p:nvSpPr>
          <p:cNvPr id="6720" name="Num 1"/>
          <p:cNvSpPr txBox="1"/>
          <p:nvPr/>
        </p:nvSpPr>
        <p:spPr>
          <a:xfrm>
            <a:off x="1828800" y="5715000"/>
            <a:ext cx="2540000" cy="762000"/>
          </a:xfrm>
          <a:prstGeom prst="rect">
            <a:avLst/>
          </a:prstGeom>
          <a:noFill/>
        </p:spPr>
        <p:txBody>
          <a:bodyPr wrap="square" lIns="0" tIns="0" rIns="0" bIns="0" anchor="t">
            <a:noAutofit/>
          </a:bodyPr>
          <a:lstStyle/>
          <a:p>
            <a:pPr>
              <a:lnSpc>
                <a:spcPts val="4400"/>
              </a:lnSpc>
              <a:buNone/>
            </a:pPr>
            <a:r>
              <a:rPr lang="en-US" sz="4000" b="1">
                <a:solidFill>
                  <a:srgbClr val="76B900"/>
                </a:solidFill>
                <a:latin typeface="Roboto Mono"/>
                <a:cs typeface="Roboto Mono"/>
              </a:rPr>
              <a:t>01</a:t>
            </a:r>
          </a:p>
        </p:txBody>
      </p:sp>
      <p:sp>
        <p:nvSpPr>
          <p:cNvPr id="6721" name="Num 2"/>
          <p:cNvSpPr txBox="1"/>
          <p:nvPr/>
        </p:nvSpPr>
        <p:spPr>
          <a:xfrm>
            <a:off x="1828800" y="9525000"/>
            <a:ext cx="2540000" cy="762000"/>
          </a:xfrm>
          <a:prstGeom prst="rect">
            <a:avLst/>
          </a:prstGeom>
          <a:noFill/>
        </p:spPr>
        <p:txBody>
          <a:bodyPr wrap="square" lIns="0" tIns="0" rIns="0" bIns="0" anchor="t">
            <a:noAutofit/>
          </a:bodyPr>
          <a:lstStyle/>
          <a:p>
            <a:pPr>
              <a:lnSpc>
                <a:spcPts val="4400"/>
              </a:lnSpc>
              <a:buNone/>
            </a:pPr>
            <a:r>
              <a:rPr lang="en-US" sz="4000" b="1">
                <a:solidFill>
                  <a:srgbClr val="76B900"/>
                </a:solidFill>
                <a:latin typeface="Roboto Mono"/>
                <a:cs typeface="Roboto Mono"/>
              </a:rPr>
              <a:t>02</a:t>
            </a:r>
          </a:p>
        </p:txBody>
      </p:sp>
      <p:sp>
        <p:nvSpPr>
          <p:cNvPr id="6722" name="Num 3"/>
          <p:cNvSpPr txBox="1"/>
          <p:nvPr/>
        </p:nvSpPr>
        <p:spPr>
          <a:xfrm>
            <a:off x="1828800" y="13335000"/>
            <a:ext cx="2540000" cy="762000"/>
          </a:xfrm>
          <a:prstGeom prst="rect">
            <a:avLst/>
          </a:prstGeom>
          <a:noFill/>
        </p:spPr>
        <p:txBody>
          <a:bodyPr wrap="square" lIns="0" tIns="0" rIns="0" bIns="0" anchor="t">
            <a:noAutofit/>
          </a:bodyPr>
          <a:lstStyle/>
          <a:p>
            <a:pPr>
              <a:lnSpc>
                <a:spcPts val="4400"/>
              </a:lnSpc>
              <a:buNone/>
            </a:pPr>
            <a:r>
              <a:rPr lang="en-US" sz="4000" b="1">
                <a:solidFill>
                  <a:srgbClr val="76B900"/>
                </a:solidFill>
                <a:latin typeface="Roboto Mono"/>
                <a:cs typeface="Roboto Mono"/>
              </a:rPr>
              <a:t>03</a:t>
            </a:r>
          </a:p>
        </p:txBody>
      </p:sp>
    </p:spTree>
    <p:extLst>
      <p:ext uri="{BB962C8B-B14F-4D97-AF65-F5344CB8AC3E}">
        <p14:creationId xmlns:p14="http://schemas.microsoft.com/office/powerpoint/2010/main" val="428370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20"/>
                                        </p:tgtEl>
                                        <p:attrNameLst>
                                          <p:attrName>style.visibility</p:attrName>
                                        </p:attrNameLst>
                                      </p:cBhvr>
                                      <p:to>
                                        <p:strVal val="visible"/>
                                      </p:to>
                                    </p:set>
                                    <p:animEffect transition="in" filter="fade">
                                      <p:cBhvr>
                                        <p:cTn id="7" dur="400"/>
                                        <p:tgtEl>
                                          <p:spTgt spid="6720"/>
                                        </p:tgtEl>
                                      </p:cBhvr>
                                    </p:animEffect>
                                  </p:childTnLst>
                                </p:cTn>
                              </p:par>
                              <p:par>
                                <p:cTn id="8" presetID="10" presetClass="entr" presetSubtype="0" fill="hold" nodeType="withEffect">
                                  <p:stCondLst>
                                    <p:cond delay="0"/>
                                  </p:stCondLst>
                                  <p:childTnLst>
                                    <p:set>
                                      <p:cBhvr>
                                        <p:cTn id="9" dur="1" fill="hold">
                                          <p:stCondLst>
                                            <p:cond delay="0"/>
                                          </p:stCondLst>
                                        </p:cTn>
                                        <p:tgtEl>
                                          <p:spTgt spid="6704"/>
                                        </p:tgtEl>
                                        <p:attrNameLst>
                                          <p:attrName>style.visibility</p:attrName>
                                        </p:attrNameLst>
                                      </p:cBhvr>
                                      <p:to>
                                        <p:strVal val="visible"/>
                                      </p:to>
                                    </p:set>
                                    <p:animEffect transition="in" filter="fade">
                                      <p:cBhvr>
                                        <p:cTn id="10" dur="400"/>
                                        <p:tgtEl>
                                          <p:spTgt spid="6704"/>
                                        </p:tgtEl>
                                      </p:cBhvr>
                                    </p:animEffect>
                                  </p:childTnLst>
                                </p:cTn>
                              </p:par>
                              <p:par>
                                <p:cTn id="11" presetID="10" presetClass="entr" presetSubtype="0" fill="hold" nodeType="withEffect">
                                  <p:stCondLst>
                                    <p:cond delay="0"/>
                                  </p:stCondLst>
                                  <p:childTnLst>
                                    <p:set>
                                      <p:cBhvr>
                                        <p:cTn id="12" dur="1" fill="hold">
                                          <p:stCondLst>
                                            <p:cond delay="0"/>
                                          </p:stCondLst>
                                        </p:cTn>
                                        <p:tgtEl>
                                          <p:spTgt spid="6701"/>
                                        </p:tgtEl>
                                        <p:attrNameLst>
                                          <p:attrName>style.visibility</p:attrName>
                                        </p:attrNameLst>
                                      </p:cBhvr>
                                      <p:to>
                                        <p:strVal val="visible"/>
                                      </p:to>
                                    </p:set>
                                    <p:animEffect transition="in" filter="fade">
                                      <p:cBhvr>
                                        <p:cTn id="13" dur="400"/>
                                        <p:tgtEl>
                                          <p:spTgt spid="670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721"/>
                                        </p:tgtEl>
                                        <p:attrNameLst>
                                          <p:attrName>style.visibility</p:attrName>
                                        </p:attrNameLst>
                                      </p:cBhvr>
                                      <p:to>
                                        <p:strVal val="visible"/>
                                      </p:to>
                                    </p:set>
                                    <p:animEffect transition="in" filter="fade">
                                      <p:cBhvr>
                                        <p:cTn id="18" dur="400"/>
                                        <p:tgtEl>
                                          <p:spTgt spid="6721"/>
                                        </p:tgtEl>
                                      </p:cBhvr>
                                    </p:animEffect>
                                  </p:childTnLst>
                                </p:cTn>
                              </p:par>
                              <p:par>
                                <p:cTn id="19" presetID="10" presetClass="entr" presetSubtype="0" fill="hold" nodeType="withEffect">
                                  <p:stCondLst>
                                    <p:cond delay="0"/>
                                  </p:stCondLst>
                                  <p:childTnLst>
                                    <p:set>
                                      <p:cBhvr>
                                        <p:cTn id="20" dur="1" fill="hold">
                                          <p:stCondLst>
                                            <p:cond delay="0"/>
                                          </p:stCondLst>
                                        </p:cTn>
                                        <p:tgtEl>
                                          <p:spTgt spid="6706"/>
                                        </p:tgtEl>
                                        <p:attrNameLst>
                                          <p:attrName>style.visibility</p:attrName>
                                        </p:attrNameLst>
                                      </p:cBhvr>
                                      <p:to>
                                        <p:strVal val="visible"/>
                                      </p:to>
                                    </p:set>
                                    <p:animEffect transition="in" filter="fade">
                                      <p:cBhvr>
                                        <p:cTn id="21" dur="400"/>
                                        <p:tgtEl>
                                          <p:spTgt spid="6706"/>
                                        </p:tgtEl>
                                      </p:cBhvr>
                                    </p:animEffect>
                                  </p:childTnLst>
                                </p:cTn>
                              </p:par>
                              <p:par>
                                <p:cTn id="22" presetID="10" presetClass="entr" presetSubtype="0" fill="hold" nodeType="withEffect">
                                  <p:stCondLst>
                                    <p:cond delay="0"/>
                                  </p:stCondLst>
                                  <p:childTnLst>
                                    <p:set>
                                      <p:cBhvr>
                                        <p:cTn id="23" dur="1" fill="hold">
                                          <p:stCondLst>
                                            <p:cond delay="0"/>
                                          </p:stCondLst>
                                        </p:cTn>
                                        <p:tgtEl>
                                          <p:spTgt spid="6705"/>
                                        </p:tgtEl>
                                        <p:attrNameLst>
                                          <p:attrName>style.visibility</p:attrName>
                                        </p:attrNameLst>
                                      </p:cBhvr>
                                      <p:to>
                                        <p:strVal val="visible"/>
                                      </p:to>
                                    </p:set>
                                    <p:animEffect transition="in" filter="fade">
                                      <p:cBhvr>
                                        <p:cTn id="24" dur="400"/>
                                        <p:tgtEl>
                                          <p:spTgt spid="670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722"/>
                                        </p:tgtEl>
                                        <p:attrNameLst>
                                          <p:attrName>style.visibility</p:attrName>
                                        </p:attrNameLst>
                                      </p:cBhvr>
                                      <p:to>
                                        <p:strVal val="visible"/>
                                      </p:to>
                                    </p:set>
                                    <p:animEffect transition="in" filter="fade">
                                      <p:cBhvr>
                                        <p:cTn id="29" dur="400"/>
                                        <p:tgtEl>
                                          <p:spTgt spid="6722"/>
                                        </p:tgtEl>
                                      </p:cBhvr>
                                    </p:animEffect>
                                  </p:childTnLst>
                                </p:cTn>
                              </p:par>
                              <p:par>
                                <p:cTn id="30" presetID="10" presetClass="entr" presetSubtype="0" fill="hold" nodeType="withEffect">
                                  <p:stCondLst>
                                    <p:cond delay="0"/>
                                  </p:stCondLst>
                                  <p:childTnLst>
                                    <p:set>
                                      <p:cBhvr>
                                        <p:cTn id="31" dur="1" fill="hold">
                                          <p:stCondLst>
                                            <p:cond delay="0"/>
                                          </p:stCondLst>
                                        </p:cTn>
                                        <p:tgtEl>
                                          <p:spTgt spid="6712"/>
                                        </p:tgtEl>
                                        <p:attrNameLst>
                                          <p:attrName>style.visibility</p:attrName>
                                        </p:attrNameLst>
                                      </p:cBhvr>
                                      <p:to>
                                        <p:strVal val="visible"/>
                                      </p:to>
                                    </p:set>
                                    <p:animEffect transition="in" filter="fade">
                                      <p:cBhvr>
                                        <p:cTn id="32" dur="400"/>
                                        <p:tgtEl>
                                          <p:spTgt spid="6712"/>
                                        </p:tgtEl>
                                      </p:cBhvr>
                                    </p:animEffect>
                                  </p:childTnLst>
                                </p:cTn>
                              </p:par>
                              <p:par>
                                <p:cTn id="33" presetID="10" presetClass="entr" presetSubtype="0" fill="hold" nodeType="withEffect">
                                  <p:stCondLst>
                                    <p:cond delay="0"/>
                                  </p:stCondLst>
                                  <p:childTnLst>
                                    <p:set>
                                      <p:cBhvr>
                                        <p:cTn id="34" dur="1" fill="hold">
                                          <p:stCondLst>
                                            <p:cond delay="0"/>
                                          </p:stCondLst>
                                        </p:cTn>
                                        <p:tgtEl>
                                          <p:spTgt spid="6710"/>
                                        </p:tgtEl>
                                        <p:attrNameLst>
                                          <p:attrName>style.visibility</p:attrName>
                                        </p:attrNameLst>
                                      </p:cBhvr>
                                      <p:to>
                                        <p:strVal val="visible"/>
                                      </p:to>
                                    </p:set>
                                    <p:animEffect transition="in" filter="fade">
                                      <p:cBhvr>
                                        <p:cTn id="35" dur="400"/>
                                        <p:tgtEl>
                                          <p:spTgt spid="6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3445DF8B-D82B-F148-A63A-AA228ED77414}"/>
              </a:ext>
            </a:extLst>
          </p:cNvPr>
          <p:cNvSpPr txBox="1"/>
          <p:nvPr/>
        </p:nvSpPr>
        <p:spPr>
          <a:xfrm>
            <a:off x="1828800" y="914400"/>
            <a:ext cx="32918400" cy="2463800"/>
          </a:xfrm>
          <a:prstGeom prst="rect">
            <a:avLst/>
          </a:prstGeom>
          <a:noFill/>
        </p:spPr>
        <p:txBody>
          <a:bodyPr vertOverflow="overflow" vert="horz" wrap="square" rtlCol="0" anchor="t">
            <a:noAutofit/>
          </a:bodyPr>
          <a:lstStyle/>
          <a:p>
            <a:pPr>
              <a:lnSpc>
                <a:spcPts val="9200"/>
              </a:lnSpc>
              <a:spcBef>
                <a:spcPts val="0"/>
              </a:spcBef>
              <a:buNone/>
            </a:pPr>
            <a:r>
              <a:rPr lang="en-US" sz="8800">
                <a:solidFill>
                  <a:srgbClr val="000000"/>
                </a:solidFill>
                <a:latin typeface="NVIDIA Sans Medium"/>
                <a:cs typeface="NVIDIA Sans Medium"/>
              </a:rPr>
              <a:t>Lean Formalization</a:t>
            </a:r>
          </a:p>
        </p:txBody>
      </p:sp>
      <p:sp>
        <p:nvSpPr>
          <p:cNvPr id="3" name="SubTx">
            <a:extLst>
              <a:ext uri="{FF2B5EF4-FFF2-40B4-BE49-F238E27FC236}">
                <a16:creationId xmlns:a16="http://schemas.microsoft.com/office/drawing/2014/main" id="{BD46B749-8613-274C-9EC3-02528CC37ED7}"/>
              </a:ext>
            </a:extLst>
          </p:cNvPr>
          <p:cNvSpPr txBox="1"/>
          <p:nvPr/>
        </p:nvSpPr>
        <p:spPr>
          <a:xfrm>
            <a:off x="1828800" y="3454400"/>
            <a:ext cx="32918400" cy="1270000"/>
          </a:xfrm>
          <a:prstGeom prst="rect">
            <a:avLst/>
          </a:prstGeom>
          <a:noFill/>
        </p:spPr>
        <p:txBody>
          <a:bodyPr vertOverflow="overflow" vert="horz" wrap="square" rtlCol="0" anchor="t">
            <a:noAutofit/>
          </a:bodyPr>
          <a:lstStyle/>
          <a:p>
            <a:pPr algn="l"/>
            <a:r>
              <a:rPr lang="en-US" sz="4400">
                <a:solidFill>
                  <a:srgbClr val="757575"/>
                </a:solidFill>
                <a:latin typeface="NVIDIA Sans"/>
                <a:cs typeface="NVIDIA Sans"/>
              </a:rPr>
              <a:t>Lean is a second, executable copy of the tracer's decision rules, pinned line by line to the real Python.</a:t>
            </a:r>
          </a:p>
        </p:txBody>
      </p:sp>
      <p:sp>
        <p:nvSpPr>
          <p:cNvPr id="4" name="S1bg">
            <a:extLst>
              <a:ext uri="{FF2B5EF4-FFF2-40B4-BE49-F238E27FC236}">
                <a16:creationId xmlns:a16="http://schemas.microsoft.com/office/drawing/2014/main" id="{BD06EA5A-FEE1-DA4E-B838-C04144FA2DDB}"/>
              </a:ext>
            </a:extLst>
          </p:cNvPr>
          <p:cNvSpPr/>
          <p:nvPr/>
        </p:nvSpPr>
        <p:spPr>
          <a:xfrm>
            <a:off x="1828800" y="5969000"/>
            <a:ext cx="12192000" cy="7366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S1h">
            <a:extLst>
              <a:ext uri="{FF2B5EF4-FFF2-40B4-BE49-F238E27FC236}">
                <a16:creationId xmlns:a16="http://schemas.microsoft.com/office/drawing/2014/main" id="{271CA6B7-22CB-574F-8E87-108ACAF2CFD2}"/>
              </a:ext>
            </a:extLst>
          </p:cNvPr>
          <p:cNvSpPr txBox="1"/>
          <p:nvPr/>
        </p:nvSpPr>
        <p:spPr>
          <a:xfrm>
            <a:off x="1828800" y="5029200"/>
            <a:ext cx="12192000" cy="812800"/>
          </a:xfrm>
          <a:prstGeom prst="rect">
            <a:avLst/>
          </a:prstGeom>
          <a:noFill/>
        </p:spPr>
        <p:txBody>
          <a:bodyPr vertOverflow="overflow" vert="horz" wrap="square" rtlCol="0" anchor="t">
            <a:noAutofit/>
          </a:bodyPr>
          <a:lstStyle/>
          <a:p>
            <a:pPr algn="l"/>
            <a:r>
              <a:rPr lang="en-US" sz="3600" b="1">
                <a:latin typeface="NVIDIA Sans"/>
                <a:cs typeface="NVIDIA Sans"/>
              </a:rPr>
              <a:t>01  The tracer, in Python</a:t>
            </a:r>
          </a:p>
        </p:txBody>
      </p:sp>
      <p:sp>
        <p:nvSpPr>
          <p:cNvPr id="6" name="S1b">
            <a:extLst>
              <a:ext uri="{FF2B5EF4-FFF2-40B4-BE49-F238E27FC236}">
                <a16:creationId xmlns:a16="http://schemas.microsoft.com/office/drawing/2014/main" id="{6B9094F1-BBB4-6849-A0F3-D7CF4DCC1435}"/>
              </a:ext>
            </a:extLst>
          </p:cNvPr>
          <p:cNvSpPr txBox="1"/>
          <p:nvPr/>
        </p:nvSpPr>
        <p:spPr>
          <a:xfrm>
            <a:off x="2286000" y="11684000"/>
            <a:ext cx="11277600" cy="1143000"/>
          </a:xfrm>
          <a:prstGeom prst="rect">
            <a:avLst/>
          </a:prstGeom>
          <a:noFill/>
        </p:spPr>
        <p:txBody>
          <a:bodyPr vertOverflow="overflow" vert="horz" wrap="square" rtlCol="0" anchor="t">
            <a:noAutofit/>
          </a:bodyPr>
          <a:lstStyle/>
          <a:p>
            <a:pPr algn="l"/>
            <a:r>
              <a:rPr lang="en-US" sz="3000">
                <a:solidFill>
                  <a:srgbClr val="3F3F3F"/>
                </a:solidFill>
                <a:latin typeface="NVIDIA Sans"/>
                <a:cs typeface="NVIDIA Sans"/>
              </a:rPr>
              <a:t>_const_values_equal, verbatim from the live tracer</a:t>
            </a:r>
          </a:p>
        </p:txBody>
      </p:sp>
      <p:sp>
        <p:nvSpPr>
          <p:cNvPr id="7" name="S2bg">
            <a:extLst>
              <a:ext uri="{FF2B5EF4-FFF2-40B4-BE49-F238E27FC236}">
                <a16:creationId xmlns:a16="http://schemas.microsoft.com/office/drawing/2014/main" id="{2BEC5EE4-2841-154C-A526-36D1D69FB664}"/>
              </a:ext>
            </a:extLst>
          </p:cNvPr>
          <p:cNvSpPr/>
          <p:nvPr/>
        </p:nvSpPr>
        <p:spPr>
          <a:xfrm>
            <a:off x="16332200" y="5969000"/>
            <a:ext cx="9652000" cy="7366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S2h">
            <a:extLst>
              <a:ext uri="{FF2B5EF4-FFF2-40B4-BE49-F238E27FC236}">
                <a16:creationId xmlns:a16="http://schemas.microsoft.com/office/drawing/2014/main" id="{C0771A0C-201D-5F4B-9C73-C0F9BB7DC8AD}"/>
              </a:ext>
            </a:extLst>
          </p:cNvPr>
          <p:cNvSpPr txBox="1"/>
          <p:nvPr/>
        </p:nvSpPr>
        <p:spPr>
          <a:xfrm>
            <a:off x="16560800" y="5029200"/>
            <a:ext cx="9652000" cy="812800"/>
          </a:xfrm>
          <a:prstGeom prst="rect">
            <a:avLst/>
          </a:prstGeom>
          <a:noFill/>
        </p:spPr>
        <p:txBody>
          <a:bodyPr vertOverflow="overflow" vert="horz" wrap="square" rtlCol="0" anchor="t">
            <a:noAutofit/>
          </a:bodyPr>
          <a:lstStyle/>
          <a:p>
            <a:pPr algn="l"/>
            <a:r>
              <a:rPr lang="en-US" sz="3600" b="1">
                <a:latin typeface="NVIDIA Sans"/>
                <a:cs typeface="NVIDIA Sans"/>
              </a:rPr>
              <a:t>02  The model, in Lean</a:t>
            </a:r>
          </a:p>
        </p:txBody>
      </p:sp>
      <p:sp>
        <p:nvSpPr>
          <p:cNvPr id="9" name="S2b">
            <a:extLst>
              <a:ext uri="{FF2B5EF4-FFF2-40B4-BE49-F238E27FC236}">
                <a16:creationId xmlns:a16="http://schemas.microsoft.com/office/drawing/2014/main" id="{C6464152-2838-E94B-BA38-941DFFC96530}"/>
              </a:ext>
            </a:extLst>
          </p:cNvPr>
          <p:cNvSpPr txBox="1"/>
          <p:nvPr/>
        </p:nvSpPr>
        <p:spPr>
          <a:xfrm>
            <a:off x="16789400" y="11531600"/>
            <a:ext cx="8737600" cy="1397000"/>
          </a:xfrm>
          <a:prstGeom prst="rect">
            <a:avLst/>
          </a:prstGeom>
          <a:noFill/>
        </p:spPr>
        <p:txBody>
          <a:bodyPr vertOverflow="overflow" vert="horz" wrap="square" rtlCol="0" anchor="t">
            <a:noAutofit/>
          </a:bodyPr>
          <a:lstStyle/>
          <a:p>
            <a:pPr algn="l"/>
            <a:r>
              <a:rPr lang="en-US" sz="2800">
                <a:solidFill>
                  <a:srgbClr val="3F3F3F"/>
                </a:solidFill>
                <a:latin typeface="NVIDIA Sans"/>
                <a:cs typeface="NVIDIA Sans"/>
              </a:rPr>
              <a:t>.b bool  ·  .i int  ·  .f float, .eq is Python ==  ·  .opaq: == can raise</a:t>
            </a:r>
          </a:p>
        </p:txBody>
      </p:sp>
      <p:sp>
        <p:nvSpPr>
          <p:cNvPr id="10" name="S3bg">
            <a:extLst>
              <a:ext uri="{FF2B5EF4-FFF2-40B4-BE49-F238E27FC236}">
                <a16:creationId xmlns:a16="http://schemas.microsoft.com/office/drawing/2014/main" id="{452DD6BB-7270-2144-A832-FD7EA6C258F0}"/>
              </a:ext>
            </a:extLst>
          </p:cNvPr>
          <p:cNvSpPr/>
          <p:nvPr/>
        </p:nvSpPr>
        <p:spPr>
          <a:xfrm>
            <a:off x="27482800" y="5969000"/>
            <a:ext cx="7264400" cy="5334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S3h">
            <a:extLst>
              <a:ext uri="{FF2B5EF4-FFF2-40B4-BE49-F238E27FC236}">
                <a16:creationId xmlns:a16="http://schemas.microsoft.com/office/drawing/2014/main" id="{DAC289B8-E3D5-8642-803C-9D2CFCDAA455}"/>
              </a:ext>
            </a:extLst>
          </p:cNvPr>
          <p:cNvSpPr txBox="1"/>
          <p:nvPr/>
        </p:nvSpPr>
        <p:spPr>
          <a:xfrm>
            <a:off x="27482800" y="5029200"/>
            <a:ext cx="7264400" cy="812800"/>
          </a:xfrm>
          <a:prstGeom prst="rect">
            <a:avLst/>
          </a:prstGeom>
          <a:noFill/>
        </p:spPr>
        <p:txBody>
          <a:bodyPr vertOverflow="overflow" vert="horz" wrap="square" rtlCol="0" anchor="t">
            <a:noAutofit/>
          </a:bodyPr>
          <a:lstStyle/>
          <a:p>
            <a:pPr algn="l"/>
            <a:r>
              <a:rPr lang="en-US" sz="3600" b="1">
                <a:latin typeface="NVIDIA Sans"/>
                <a:cs typeface="NVIDIA Sans"/>
              </a:rPr>
              <a:t>03  The machine checks it</a:t>
            </a:r>
          </a:p>
        </p:txBody>
      </p:sp>
      <p:sp>
        <p:nvSpPr>
          <p:cNvPr id="12" name="S3b">
            <a:extLst>
              <a:ext uri="{FF2B5EF4-FFF2-40B4-BE49-F238E27FC236}">
                <a16:creationId xmlns:a16="http://schemas.microsoft.com/office/drawing/2014/main" id="{8DB6B6FE-F7F1-B34A-A738-1D4EA1D0E8D5}"/>
              </a:ext>
            </a:extLst>
          </p:cNvPr>
          <p:cNvSpPr txBox="1"/>
          <p:nvPr/>
        </p:nvSpPr>
        <p:spPr>
          <a:xfrm>
            <a:off x="27940000" y="6477000"/>
            <a:ext cx="6350000" cy="4572000"/>
          </a:xfrm>
          <a:prstGeom prst="rect">
            <a:avLst/>
          </a:prstGeom>
          <a:noFill/>
        </p:spPr>
        <p:txBody>
          <a:bodyPr vertOverflow="overflow" vert="horz" wrap="square" rtlCol="0" anchor="t">
            <a:noAutofit/>
          </a:bodyPr>
          <a:lstStyle/>
          <a:p>
            <a:pPr algn="l"/>
            <a:r>
              <a:rPr lang="en-US" sz="3200">
                <a:solidFill>
                  <a:srgbClr val="313131"/>
                </a:solidFill>
                <a:latin typeface="NVIDIA Sans"/>
                <a:cs typeface="NVIDIA Sans"/>
              </a:rPr>
              <a:t>If the tracer accepts, replay equals plain-Python truth.</a:t>
            </a:r>
          </a:p>
        </p:txBody>
      </p:sp>
      <p:sp>
        <p:nvSpPr>
          <p:cNvPr id="13" name="A1">
            <a:extLst>
              <a:ext uri="{FF2B5EF4-FFF2-40B4-BE49-F238E27FC236}">
                <a16:creationId xmlns:a16="http://schemas.microsoft.com/office/drawing/2014/main" id="{A2B13A02-061C-AA4C-A97B-BD0302EDCCE8}"/>
              </a:ext>
            </a:extLst>
          </p:cNvPr>
          <p:cNvSpPr/>
          <p:nvPr/>
        </p:nvSpPr>
        <p:spPr>
          <a:xfrm>
            <a:off x="14719300" y="9499600"/>
            <a:ext cx="1143000" cy="1066800"/>
          </a:xfrm>
          <a:prstGeom prst="rightArrow">
            <a:avLst/>
          </a:prstGeom>
          <a:solidFill>
            <a:srgbClr val="75757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A2">
            <a:extLst>
              <a:ext uri="{FF2B5EF4-FFF2-40B4-BE49-F238E27FC236}">
                <a16:creationId xmlns:a16="http://schemas.microsoft.com/office/drawing/2014/main" id="{33DFAAAD-5D62-704B-A817-0715EE5F6049}"/>
              </a:ext>
            </a:extLst>
          </p:cNvPr>
          <p:cNvSpPr/>
          <p:nvPr/>
        </p:nvSpPr>
        <p:spPr>
          <a:xfrm>
            <a:off x="26276300" y="9499600"/>
            <a:ext cx="1143000" cy="1066800"/>
          </a:xfrm>
          <a:prstGeom prst="rightArrow">
            <a:avLst/>
          </a:prstGeom>
          <a:solidFill>
            <a:srgbClr val="75757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Kbg">
            <a:extLst>
              <a:ext uri="{FF2B5EF4-FFF2-40B4-BE49-F238E27FC236}">
                <a16:creationId xmlns:a16="http://schemas.microsoft.com/office/drawing/2014/main" id="{F0E1C4A6-6A88-3B40-8DFB-D66A6E2244A3}"/>
              </a:ext>
            </a:extLst>
          </p:cNvPr>
          <p:cNvSpPr/>
          <p:nvPr/>
        </p:nvSpPr>
        <p:spPr>
          <a:xfrm>
            <a:off x="27482800" y="13970000"/>
            <a:ext cx="7264400" cy="1524000"/>
          </a:xfrm>
          <a:prstGeom prst="rect">
            <a:avLst/>
          </a:prstGeom>
          <a:solidFill>
            <a:srgbClr val="F3F8E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OKh">
            <a:extLst>
              <a:ext uri="{FF2B5EF4-FFF2-40B4-BE49-F238E27FC236}">
                <a16:creationId xmlns:a16="http://schemas.microsoft.com/office/drawing/2014/main" id="{91FF3A66-B741-E14B-8C71-2557AA1DC8CB}"/>
              </a:ext>
            </a:extLst>
          </p:cNvPr>
          <p:cNvSpPr txBox="1"/>
          <p:nvPr/>
        </p:nvSpPr>
        <p:spPr>
          <a:xfrm>
            <a:off x="27940000" y="14173200"/>
            <a:ext cx="6350000" cy="635000"/>
          </a:xfrm>
          <a:prstGeom prst="rect">
            <a:avLst/>
          </a:prstGeom>
          <a:noFill/>
        </p:spPr>
        <p:txBody>
          <a:bodyPr vertOverflow="overflow" vert="horz" wrap="square" rtlCol="0" anchor="t">
            <a:noAutofit/>
          </a:bodyPr>
          <a:lstStyle/>
          <a:p>
            <a:pPr algn="l"/>
            <a:r>
              <a:rPr lang="en-US" sz="3200" b="1">
                <a:solidFill>
                  <a:srgbClr val="4A7C00"/>
                </a:solidFill>
                <a:latin typeface="NVIDIA Sans"/>
                <a:cs typeface="NVIDIA Sans"/>
              </a:rPr>
              <a:t>PROVEN</a:t>
            </a:r>
          </a:p>
        </p:txBody>
      </p:sp>
      <p:sp>
        <p:nvSpPr>
          <p:cNvPr id="17" name="OKb">
            <a:extLst>
              <a:ext uri="{FF2B5EF4-FFF2-40B4-BE49-F238E27FC236}">
                <a16:creationId xmlns:a16="http://schemas.microsoft.com/office/drawing/2014/main" id="{6583A38F-4E78-9A44-81D4-DBFA0E1BF13D}"/>
              </a:ext>
            </a:extLst>
          </p:cNvPr>
          <p:cNvSpPr txBox="1"/>
          <p:nvPr/>
        </p:nvSpPr>
        <p:spPr>
          <a:xfrm>
            <a:off x="27940000" y="14833600"/>
            <a:ext cx="6350000" cy="558800"/>
          </a:xfrm>
          <a:prstGeom prst="rect">
            <a:avLst/>
          </a:prstGeom>
          <a:noFill/>
        </p:spPr>
        <p:txBody>
          <a:bodyPr vertOverflow="overflow" vert="horz" wrap="square" rtlCol="0" anchor="t">
            <a:noAutofit/>
          </a:bodyPr>
          <a:lstStyle/>
          <a:p>
            <a:pPr algn="l"/>
            <a:r>
              <a:rPr lang="en-US" sz="2600">
                <a:solidFill>
                  <a:srgbClr val="313131"/>
                </a:solidFill>
                <a:latin typeface="NVIDIA Sans"/>
                <a:cs typeface="NVIDIA Sans"/>
              </a:rPr>
              <a:t>every input, forever</a:t>
            </a:r>
          </a:p>
        </p:txBody>
      </p:sp>
      <p:sp>
        <p:nvSpPr>
          <p:cNvPr id="18" name="STbg">
            <a:extLst>
              <a:ext uri="{FF2B5EF4-FFF2-40B4-BE49-F238E27FC236}">
                <a16:creationId xmlns:a16="http://schemas.microsoft.com/office/drawing/2014/main" id="{EBD924E0-79AD-7F4B-AE73-6728A6DD624E}"/>
              </a:ext>
            </a:extLst>
          </p:cNvPr>
          <p:cNvSpPr/>
          <p:nvPr/>
        </p:nvSpPr>
        <p:spPr>
          <a:xfrm>
            <a:off x="27482800" y="16002000"/>
            <a:ext cx="7264400" cy="15240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STh">
            <a:extLst>
              <a:ext uri="{FF2B5EF4-FFF2-40B4-BE49-F238E27FC236}">
                <a16:creationId xmlns:a16="http://schemas.microsoft.com/office/drawing/2014/main" id="{82A6F6DD-811D-6344-BC37-8053BFAD0658}"/>
              </a:ext>
            </a:extLst>
          </p:cNvPr>
          <p:cNvSpPr txBox="1"/>
          <p:nvPr/>
        </p:nvSpPr>
        <p:spPr>
          <a:xfrm>
            <a:off x="27940000" y="16205200"/>
            <a:ext cx="6350000" cy="635000"/>
          </a:xfrm>
          <a:prstGeom prst="rect">
            <a:avLst/>
          </a:prstGeom>
          <a:noFill/>
        </p:spPr>
        <p:txBody>
          <a:bodyPr vertOverflow="overflow" vert="horz" wrap="square" rtlCol="0" anchor="t">
            <a:noAutofit/>
          </a:bodyPr>
          <a:lstStyle/>
          <a:p>
            <a:pPr algn="l"/>
            <a:r>
              <a:rPr lang="en-US" sz="3000" b="1">
                <a:solidFill>
                  <a:srgbClr val="B3261E"/>
                </a:solidFill>
                <a:latin typeface="NVIDIA Sans"/>
                <a:cs typeface="NVIDIA Sans"/>
              </a:rPr>
              <a:t>STUCK AT A CASE</a:t>
            </a:r>
          </a:p>
        </p:txBody>
      </p:sp>
      <p:sp>
        <p:nvSpPr>
          <p:cNvPr id="20" name="STb">
            <a:extLst>
              <a:ext uri="{FF2B5EF4-FFF2-40B4-BE49-F238E27FC236}">
                <a16:creationId xmlns:a16="http://schemas.microsoft.com/office/drawing/2014/main" id="{C05599A2-372E-944A-87BD-EF17C9694911}"/>
              </a:ext>
            </a:extLst>
          </p:cNvPr>
          <p:cNvSpPr txBox="1"/>
          <p:nvPr/>
        </p:nvSpPr>
        <p:spPr>
          <a:xfrm>
            <a:off x="27940000" y="16865600"/>
            <a:ext cx="6350000" cy="558800"/>
          </a:xfrm>
          <a:prstGeom prst="rect">
            <a:avLst/>
          </a:prstGeom>
          <a:noFill/>
        </p:spPr>
        <p:txBody>
          <a:bodyPr vertOverflow="overflow" vert="horz" wrap="square" rtlCol="0" anchor="t">
            <a:noAutofit/>
          </a:bodyPr>
          <a:lstStyle/>
          <a:p>
            <a:pPr algn="l"/>
            <a:r>
              <a:rPr lang="en-US" sz="2600">
                <a:solidFill>
                  <a:srgbClr val="313131"/>
                </a:solidFill>
                <a:latin typeface="NVIDIA Sans"/>
                <a:cs typeface="NVIDIA Sans"/>
              </a:rPr>
              <a:t>the machine names the case</a:t>
            </a:r>
          </a:p>
        </p:txBody>
      </p:sp>
      <p:sp>
        <p:nvSpPr>
          <p:cNvPr id="21" name="M1">
            <a:extLst>
              <a:ext uri="{FF2B5EF4-FFF2-40B4-BE49-F238E27FC236}">
                <a16:creationId xmlns:a16="http://schemas.microsoft.com/office/drawing/2014/main" id="{45AD219D-BB06-104A-AD4B-643598A43C05}"/>
              </a:ext>
            </a:extLst>
          </p:cNvPr>
          <p:cNvSpPr/>
          <p:nvPr/>
        </p:nvSpPr>
        <p:spPr>
          <a:xfrm>
            <a:off x="20523200" y="15240000"/>
            <a:ext cx="5588000" cy="15240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M1h">
            <a:extLst>
              <a:ext uri="{FF2B5EF4-FFF2-40B4-BE49-F238E27FC236}">
                <a16:creationId xmlns:a16="http://schemas.microsoft.com/office/drawing/2014/main" id="{6178592E-9F7E-2F44-B761-E0C0F53DEF4C}"/>
              </a:ext>
            </a:extLst>
          </p:cNvPr>
          <p:cNvSpPr txBox="1"/>
          <p:nvPr/>
        </p:nvSpPr>
        <p:spPr>
          <a:xfrm>
            <a:off x="20980400" y="15443200"/>
            <a:ext cx="4826000" cy="584200"/>
          </a:xfrm>
          <a:prstGeom prst="rect">
            <a:avLst/>
          </a:prstGeom>
          <a:noFill/>
        </p:spPr>
        <p:txBody>
          <a:bodyPr vertOverflow="overflow" vert="horz" wrap="square" rtlCol="0" anchor="t">
            <a:noAutofit/>
          </a:bodyPr>
          <a:lstStyle/>
          <a:p>
            <a:pPr algn="l"/>
            <a:r>
              <a:rPr lang="en-US" sz="3000" b="1">
                <a:solidFill>
                  <a:srgbClr val="B3261E"/>
                </a:solidFill>
                <a:latin typeface="NVIDIA Sans"/>
                <a:cs typeface="NVIDIA Sans"/>
              </a:rPr>
              <a:t>Model wrong</a:t>
            </a:r>
          </a:p>
        </p:txBody>
      </p:sp>
      <p:sp>
        <p:nvSpPr>
          <p:cNvPr id="23" name="M1b">
            <a:extLst>
              <a:ext uri="{FF2B5EF4-FFF2-40B4-BE49-F238E27FC236}">
                <a16:creationId xmlns:a16="http://schemas.microsoft.com/office/drawing/2014/main" id="{49FF4135-E482-3440-A7C0-FE63D5DE4B00}"/>
              </a:ext>
            </a:extLst>
          </p:cNvPr>
          <p:cNvSpPr txBox="1"/>
          <p:nvPr/>
        </p:nvSpPr>
        <p:spPr>
          <a:xfrm>
            <a:off x="20980400" y="16078200"/>
            <a:ext cx="4826000" cy="558800"/>
          </a:xfrm>
          <a:prstGeom prst="rect">
            <a:avLst/>
          </a:prstGeom>
          <a:noFill/>
        </p:spPr>
        <p:txBody>
          <a:bodyPr vertOverflow="overflow" vert="horz" wrap="square" rtlCol="0" anchor="t">
            <a:noAutofit/>
          </a:bodyPr>
          <a:lstStyle/>
          <a:p>
            <a:pPr algn="l"/>
            <a:r>
              <a:rPr lang="en-US" sz="2600">
                <a:solidFill>
                  <a:srgbClr val="3F3F3F"/>
                </a:solidFill>
                <a:latin typeface="NVIDIA Sans"/>
                <a:cs typeface="NVIDIA Sans"/>
              </a:rPr>
              <a:t>re-pin the transcription</a:t>
            </a:r>
          </a:p>
        </p:txBody>
      </p:sp>
      <p:sp>
        <p:nvSpPr>
          <p:cNvPr id="24" name="M2">
            <a:extLst>
              <a:ext uri="{FF2B5EF4-FFF2-40B4-BE49-F238E27FC236}">
                <a16:creationId xmlns:a16="http://schemas.microsoft.com/office/drawing/2014/main" id="{EDFBD912-F4DB-C04F-A2E8-580C994401AE}"/>
              </a:ext>
            </a:extLst>
          </p:cNvPr>
          <p:cNvSpPr/>
          <p:nvPr/>
        </p:nvSpPr>
        <p:spPr>
          <a:xfrm>
            <a:off x="20523200" y="17272000"/>
            <a:ext cx="5588000" cy="1524000"/>
          </a:xfrm>
          <a:prstGeom prst="rect">
            <a:avLst/>
          </a:prstGeom>
          <a:solidFill>
            <a:srgbClr val="FDF0E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M2h">
            <a:extLst>
              <a:ext uri="{FF2B5EF4-FFF2-40B4-BE49-F238E27FC236}">
                <a16:creationId xmlns:a16="http://schemas.microsoft.com/office/drawing/2014/main" id="{538FB6D8-4E9D-9E4A-962E-9C311174454B}"/>
              </a:ext>
            </a:extLst>
          </p:cNvPr>
          <p:cNvSpPr txBox="1"/>
          <p:nvPr/>
        </p:nvSpPr>
        <p:spPr>
          <a:xfrm>
            <a:off x="20980400" y="17475200"/>
            <a:ext cx="4826000" cy="584200"/>
          </a:xfrm>
          <a:prstGeom prst="rect">
            <a:avLst/>
          </a:prstGeom>
          <a:noFill/>
        </p:spPr>
        <p:txBody>
          <a:bodyPr vertOverflow="overflow" vert="horz" wrap="square" rtlCol="0" anchor="t">
            <a:noAutofit/>
          </a:bodyPr>
          <a:lstStyle/>
          <a:p>
            <a:pPr algn="l"/>
            <a:r>
              <a:rPr lang="en-US" sz="3000" b="1">
                <a:solidFill>
                  <a:srgbClr val="B3261E"/>
                </a:solidFill>
                <a:latin typeface="NVIDIA Sans"/>
                <a:cs typeface="NVIDIA Sans"/>
              </a:rPr>
              <a:t>Real bug</a:t>
            </a:r>
          </a:p>
        </p:txBody>
      </p:sp>
      <p:sp>
        <p:nvSpPr>
          <p:cNvPr id="26" name="M2b">
            <a:extLst>
              <a:ext uri="{FF2B5EF4-FFF2-40B4-BE49-F238E27FC236}">
                <a16:creationId xmlns:a16="http://schemas.microsoft.com/office/drawing/2014/main" id="{94EC918A-2C8D-334F-8484-64A470433244}"/>
              </a:ext>
            </a:extLst>
          </p:cNvPr>
          <p:cNvSpPr txBox="1"/>
          <p:nvPr/>
        </p:nvSpPr>
        <p:spPr>
          <a:xfrm>
            <a:off x="20980400" y="18110200"/>
            <a:ext cx="4826000" cy="558800"/>
          </a:xfrm>
          <a:prstGeom prst="rect">
            <a:avLst/>
          </a:prstGeom>
          <a:noFill/>
        </p:spPr>
        <p:txBody>
          <a:bodyPr vertOverflow="overflow" vert="horz" wrap="square" rtlCol="0" anchor="t">
            <a:noAutofit/>
          </a:bodyPr>
          <a:lstStyle/>
          <a:p>
            <a:pPr algn="l"/>
            <a:r>
              <a:rPr lang="en-US" sz="2600">
                <a:solidFill>
                  <a:srgbClr val="3F3F3F"/>
                </a:solidFill>
                <a:latin typeface="NVIDIA Sans"/>
                <a:cs typeface="NVIDIA Sans"/>
              </a:rPr>
              <a:t>fix the tracer</a:t>
            </a:r>
          </a:p>
        </p:txBody>
      </p:sp>
      <p:sp>
        <p:nvSpPr>
          <p:cNvPr id="28" name="L1">
            <a:extLst>
              <a:ext uri="{FF2B5EF4-FFF2-40B4-BE49-F238E27FC236}">
                <a16:creationId xmlns:a16="http://schemas.microsoft.com/office/drawing/2014/main" id="{2F82143D-3A2A-D04B-B76A-AB0D0DCDF7C2}"/>
              </a:ext>
            </a:extLst>
          </p:cNvPr>
          <p:cNvSpPr txBox="1"/>
          <p:nvPr/>
        </p:nvSpPr>
        <p:spPr>
          <a:xfrm>
            <a:off x="14147800" y="8712200"/>
            <a:ext cx="2286000" cy="685800"/>
          </a:xfrm>
          <a:prstGeom prst="rect">
            <a:avLst/>
          </a:prstGeom>
          <a:noFill/>
        </p:spPr>
        <p:txBody>
          <a:bodyPr vertOverflow="overflow" vert="horz" wrap="square" rtlCol="0" anchor="t">
            <a:noAutofit/>
          </a:bodyPr>
          <a:lstStyle/>
          <a:p>
            <a:pPr algn="l"/>
            <a:r>
              <a:rPr lang="en-US" sz="2800" b="1">
                <a:solidFill>
                  <a:srgbClr val="313131"/>
                </a:solidFill>
                <a:latin typeface="NVIDIA Sans"/>
                <a:cs typeface="NVIDIA Sans"/>
              </a:rPr>
              <a:t>transcribe</a:t>
            </a:r>
          </a:p>
        </p:txBody>
      </p:sp>
      <p:sp>
        <p:nvSpPr>
          <p:cNvPr id="29" name="L2">
            <a:extLst>
              <a:ext uri="{FF2B5EF4-FFF2-40B4-BE49-F238E27FC236}">
                <a16:creationId xmlns:a16="http://schemas.microsoft.com/office/drawing/2014/main" id="{295BEAC2-0792-AC45-8B11-CD30ED55CEA0}"/>
              </a:ext>
            </a:extLst>
          </p:cNvPr>
          <p:cNvSpPr txBox="1"/>
          <p:nvPr/>
        </p:nvSpPr>
        <p:spPr>
          <a:xfrm>
            <a:off x="26212800" y="8712200"/>
            <a:ext cx="1270000" cy="685800"/>
          </a:xfrm>
          <a:prstGeom prst="rect">
            <a:avLst/>
          </a:prstGeom>
          <a:noFill/>
        </p:spPr>
        <p:txBody>
          <a:bodyPr vertOverflow="overflow" vert="horz" wrap="square" rtlCol="0" anchor="t">
            <a:noAutofit/>
          </a:bodyPr>
          <a:lstStyle/>
          <a:p>
            <a:pPr algn="l"/>
            <a:r>
              <a:rPr lang="en-US" sz="2800" b="1">
                <a:solidFill>
                  <a:srgbClr val="313131"/>
                </a:solidFill>
                <a:latin typeface="NVIDIA Sans"/>
                <a:cs typeface="NVIDIA Sans"/>
              </a:rPr>
              <a:t>prove</a:t>
            </a:r>
          </a:p>
        </p:txBody>
      </p:sp>
      <p:sp>
        <p:nvSpPr>
          <p:cNvPr id="30" name="CodeA">
            <a:extLst>
              <a:ext uri="{FF2B5EF4-FFF2-40B4-BE49-F238E27FC236}">
                <a16:creationId xmlns:a16="http://schemas.microsoft.com/office/drawing/2014/main" id="{8DB6CD97-AC3B-0F47-A0AD-56683FC63B43}"/>
              </a:ext>
            </a:extLst>
          </p:cNvPr>
          <p:cNvSpPr txBox="1"/>
          <p:nvPr/>
        </p:nvSpPr>
        <p:spPr>
          <a:xfrm>
            <a:off x="2286000" y="6477000"/>
            <a:ext cx="11277600" cy="5461000"/>
          </a:xfrm>
          <a:prstGeom prst="rect">
            <a:avLst/>
          </a:prstGeom>
          <a:noFill/>
        </p:spPr>
        <p:txBody>
          <a:bodyPr vertOverflow="overflow" vert="horz" wrap="square" rtlCol="0" anchor="t">
            <a:noAutofit/>
          </a:bodyPr>
          <a:lstStyle/>
          <a:p>
            <a:pPr>
              <a:lnSpc>
                <a:spcPts val="3800"/>
              </a:lnSpc>
              <a:spcBef>
                <a:spcPts val="0"/>
              </a:spcBef>
              <a:buNone/>
            </a:pPr>
            <a:r>
              <a:rPr lang="en-US" sz="3000">
                <a:solidFill>
                  <a:srgbClr val="952FC6"/>
                </a:solidFill>
                <a:latin typeface="Roboto Mono"/>
                <a:ea typeface="Roboto Mono"/>
                <a:cs typeface="Consolas"/>
              </a:rPr>
              <a:t>def</a:t>
            </a:r>
            <a:r>
              <a:rPr lang="en-US" sz="3000">
                <a:solidFill>
                  <a:srgbClr val="000000"/>
                </a:solidFill>
                <a:latin typeface="Roboto Mono"/>
                <a:ea typeface="Roboto Mono"/>
                <a:cs typeface="Consolas"/>
              </a:rPr>
              <a:t> _const_values_equal(a, b):</a:t>
            </a:r>
          </a:p>
          <a:p>
            <a:pPr>
              <a:lnSpc>
                <a:spcPts val="3800"/>
              </a:lnSpc>
              <a:spcBef>
                <a:spcPts val="0"/>
              </a:spcBef>
              <a:buNone/>
            </a:pPr>
            <a:r>
              <a:rPr lang="en-US" sz="3000">
                <a:solidFill>
                  <a:srgbClr val="000000"/>
                </a:solidFill>
                <a:latin typeface="Roboto Mono"/>
                <a:ea typeface="Roboto Mono"/>
                <a:cs typeface="Consolas"/>
              </a:rPr>
              <a:t>    </a:t>
            </a:r>
            <a:r>
              <a:rPr lang="en-US" sz="3000">
                <a:solidFill>
                  <a:srgbClr val="952FC6"/>
                </a:solidFill>
                <a:latin typeface="Roboto Mono"/>
                <a:ea typeface="Roboto Mono"/>
                <a:cs typeface="Consolas"/>
              </a:rPr>
              <a:t>if</a:t>
            </a:r>
            <a:r>
              <a:rPr lang="en-US" sz="3000">
                <a:solidFill>
                  <a:srgbClr val="000000"/>
                </a:solidFill>
                <a:latin typeface="Roboto Mono"/>
                <a:ea typeface="Roboto Mono"/>
                <a:cs typeface="Consolas"/>
              </a:rPr>
              <a:t> </a:t>
            </a:r>
            <a:r>
              <a:rPr lang="en-US" sz="3000">
                <a:solidFill>
                  <a:srgbClr val="0074DF"/>
                </a:solidFill>
                <a:latin typeface="Roboto Mono"/>
                <a:ea typeface="Roboto Mono"/>
                <a:cs typeface="Consolas"/>
              </a:rPr>
              <a:t>isinstance</a:t>
            </a:r>
            <a:r>
              <a:rPr lang="en-US" sz="3000">
                <a:solidFill>
                  <a:srgbClr val="000000"/>
                </a:solidFill>
                <a:latin typeface="Roboto Mono"/>
                <a:ea typeface="Roboto Mono"/>
                <a:cs typeface="Consolas"/>
              </a:rPr>
              <a:t>(a, </a:t>
            </a:r>
            <a:r>
              <a:rPr lang="en-US" sz="3000">
                <a:solidFill>
                  <a:srgbClr val="952FC6"/>
                </a:solidFill>
                <a:latin typeface="Roboto Mono"/>
                <a:ea typeface="Roboto Mono"/>
                <a:cs typeface="Consolas"/>
              </a:rPr>
              <a:t>bool</a:t>
            </a:r>
            <a:r>
              <a:rPr lang="en-US" sz="3000">
                <a:solidFill>
                  <a:srgbClr val="000000"/>
                </a:solidFill>
                <a:latin typeface="Roboto Mono"/>
                <a:ea typeface="Roboto Mono"/>
                <a:cs typeface="Consolas"/>
              </a:rPr>
              <a:t>) != </a:t>
            </a:r>
            <a:r>
              <a:rPr lang="en-US" sz="3000">
                <a:solidFill>
                  <a:srgbClr val="0074DF"/>
                </a:solidFill>
                <a:latin typeface="Roboto Mono"/>
                <a:ea typeface="Roboto Mono"/>
                <a:cs typeface="Consolas"/>
              </a:rPr>
              <a:t>isinstance</a:t>
            </a:r>
            <a:r>
              <a:rPr lang="en-US" sz="3000">
                <a:solidFill>
                  <a:srgbClr val="000000"/>
                </a:solidFill>
                <a:latin typeface="Roboto Mono"/>
                <a:ea typeface="Roboto Mono"/>
                <a:cs typeface="Consolas"/>
              </a:rPr>
              <a:t>(b, </a:t>
            </a:r>
            <a:r>
              <a:rPr lang="en-US" sz="3000">
                <a:solidFill>
                  <a:srgbClr val="952FC6"/>
                </a:solidFill>
                <a:latin typeface="Roboto Mono"/>
                <a:ea typeface="Roboto Mono"/>
                <a:cs typeface="Consolas"/>
              </a:rPr>
              <a:t>bool</a:t>
            </a:r>
            <a:r>
              <a:rPr lang="en-US" sz="3000">
                <a:solidFill>
                  <a:srgbClr val="000000"/>
                </a:solidFill>
                <a:latin typeface="Roboto Mono"/>
                <a:ea typeface="Roboto Mono"/>
                <a:cs typeface="Consolas"/>
              </a:rPr>
              <a:t>):</a:t>
            </a:r>
          </a:p>
          <a:p>
            <a:pPr>
              <a:lnSpc>
                <a:spcPts val="3800"/>
              </a:lnSpc>
              <a:spcBef>
                <a:spcPts val="0"/>
              </a:spcBef>
              <a:buNone/>
            </a:pPr>
            <a:r>
              <a:rPr lang="en-US" sz="3000">
                <a:solidFill>
                  <a:srgbClr val="000000"/>
                </a:solidFill>
                <a:latin typeface="Roboto Mono"/>
                <a:ea typeface="Roboto Mono"/>
                <a:cs typeface="Consolas"/>
              </a:rPr>
              <a:t>        </a:t>
            </a:r>
            <a:r>
              <a:rPr lang="en-US" sz="3000">
                <a:solidFill>
                  <a:srgbClr val="952FC6"/>
                </a:solidFill>
                <a:latin typeface="Roboto Mono"/>
                <a:ea typeface="Roboto Mono"/>
                <a:cs typeface="Consolas"/>
              </a:rPr>
              <a:t>return</a:t>
            </a:r>
            <a:r>
              <a:rPr lang="en-US" sz="3000">
                <a:solidFill>
                  <a:srgbClr val="000000"/>
                </a:solidFill>
                <a:latin typeface="Roboto Mono"/>
                <a:ea typeface="Roboto Mono"/>
                <a:cs typeface="Consolas"/>
              </a:rPr>
              <a:t> </a:t>
            </a:r>
            <a:r>
              <a:rPr lang="en-US" sz="3000">
                <a:solidFill>
                  <a:srgbClr val="952FC6"/>
                </a:solidFill>
                <a:latin typeface="Roboto Mono"/>
                <a:ea typeface="Roboto Mono"/>
                <a:cs typeface="Consolas"/>
              </a:rPr>
              <a:t>False</a:t>
            </a:r>
          </a:p>
          <a:p>
            <a:pPr>
              <a:lnSpc>
                <a:spcPts val="3800"/>
              </a:lnSpc>
              <a:spcBef>
                <a:spcPts val="0"/>
              </a:spcBef>
              <a:buNone/>
            </a:pPr>
            <a:r>
              <a:rPr lang="en-US" sz="3000">
                <a:solidFill>
                  <a:srgbClr val="000000"/>
                </a:solidFill>
                <a:latin typeface="Roboto Mono"/>
                <a:ea typeface="Roboto Mono"/>
                <a:cs typeface="Consolas"/>
              </a:rPr>
              <a:t>    </a:t>
            </a:r>
            <a:r>
              <a:rPr lang="en-US" sz="3000">
                <a:solidFill>
                  <a:srgbClr val="952FC6"/>
                </a:solidFill>
                <a:latin typeface="Roboto Mono"/>
                <a:ea typeface="Roboto Mono"/>
                <a:cs typeface="Consolas"/>
              </a:rPr>
              <a:t>try</a:t>
            </a:r>
            <a:r>
              <a:rPr lang="en-US" sz="3000">
                <a:solidFill>
                  <a:srgbClr val="000000"/>
                </a:solidFill>
                <a:latin typeface="Roboto Mono"/>
                <a:ea typeface="Roboto Mono"/>
                <a:cs typeface="Consolas"/>
              </a:rPr>
              <a:t>:</a:t>
            </a:r>
          </a:p>
          <a:p>
            <a:pPr>
              <a:lnSpc>
                <a:spcPts val="3800"/>
              </a:lnSpc>
              <a:spcBef>
                <a:spcPts val="0"/>
              </a:spcBef>
              <a:buNone/>
            </a:pPr>
            <a:r>
              <a:rPr lang="en-US" sz="3000">
                <a:solidFill>
                  <a:srgbClr val="000000"/>
                </a:solidFill>
                <a:latin typeface="Roboto Mono"/>
                <a:ea typeface="Roboto Mono"/>
                <a:cs typeface="Consolas"/>
              </a:rPr>
              <a:t>        </a:t>
            </a:r>
            <a:r>
              <a:rPr lang="en-US" sz="3000">
                <a:solidFill>
                  <a:srgbClr val="952FC6"/>
                </a:solidFill>
                <a:latin typeface="Roboto Mono"/>
                <a:ea typeface="Roboto Mono"/>
                <a:cs typeface="Consolas"/>
              </a:rPr>
              <a:t>return</a:t>
            </a:r>
            <a:r>
              <a:rPr lang="en-US" sz="3000">
                <a:solidFill>
                  <a:srgbClr val="000000"/>
                </a:solidFill>
                <a:latin typeface="Roboto Mono"/>
                <a:ea typeface="Roboto Mono"/>
                <a:cs typeface="Consolas"/>
              </a:rPr>
              <a:t> a == b</a:t>
            </a:r>
          </a:p>
          <a:p>
            <a:pPr>
              <a:lnSpc>
                <a:spcPts val="3800"/>
              </a:lnSpc>
              <a:spcBef>
                <a:spcPts val="0"/>
              </a:spcBef>
              <a:buNone/>
            </a:pPr>
            <a:r>
              <a:rPr lang="en-US" sz="3000">
                <a:solidFill>
                  <a:srgbClr val="000000"/>
                </a:solidFill>
                <a:latin typeface="Roboto Mono"/>
                <a:ea typeface="Roboto Mono"/>
                <a:cs typeface="Consolas"/>
              </a:rPr>
              <a:t>    </a:t>
            </a:r>
            <a:r>
              <a:rPr lang="en-US" sz="3000">
                <a:solidFill>
                  <a:srgbClr val="952FC6"/>
                </a:solidFill>
                <a:latin typeface="Roboto Mono"/>
                <a:ea typeface="Roboto Mono"/>
                <a:cs typeface="Consolas"/>
              </a:rPr>
              <a:t>except</a:t>
            </a:r>
            <a:r>
              <a:rPr lang="en-US" sz="3000">
                <a:solidFill>
                  <a:srgbClr val="000000"/>
                </a:solidFill>
                <a:latin typeface="Roboto Mono"/>
                <a:ea typeface="Roboto Mono"/>
                <a:cs typeface="Consolas"/>
              </a:rPr>
              <a:t> </a:t>
            </a:r>
            <a:r>
              <a:rPr lang="en-US" sz="3000">
                <a:solidFill>
                  <a:srgbClr val="0074DF"/>
                </a:solidFill>
                <a:latin typeface="Roboto Mono"/>
                <a:ea typeface="Roboto Mono"/>
                <a:cs typeface="Consolas"/>
              </a:rPr>
              <a:t>Exception</a:t>
            </a:r>
            <a:r>
              <a:rPr lang="en-US" sz="3000">
                <a:solidFill>
                  <a:srgbClr val="000000"/>
                </a:solidFill>
                <a:latin typeface="Roboto Mono"/>
                <a:ea typeface="Roboto Mono"/>
                <a:cs typeface="Consolas"/>
              </a:rPr>
              <a:t>:</a:t>
            </a:r>
          </a:p>
          <a:p>
            <a:pPr>
              <a:lnSpc>
                <a:spcPts val="3800"/>
              </a:lnSpc>
              <a:spcBef>
                <a:spcPts val="0"/>
              </a:spcBef>
              <a:buNone/>
            </a:pPr>
            <a:r>
              <a:rPr lang="en-US" sz="3000">
                <a:solidFill>
                  <a:srgbClr val="000000"/>
                </a:solidFill>
                <a:latin typeface="Roboto Mono"/>
                <a:ea typeface="Roboto Mono"/>
                <a:cs typeface="Consolas"/>
              </a:rPr>
              <a:t>        </a:t>
            </a:r>
            <a:r>
              <a:rPr lang="en-US" sz="3000">
                <a:solidFill>
                  <a:srgbClr val="952FC6"/>
                </a:solidFill>
                <a:latin typeface="Roboto Mono"/>
                <a:ea typeface="Roboto Mono"/>
                <a:cs typeface="Consolas"/>
              </a:rPr>
              <a:t>return</a:t>
            </a:r>
            <a:r>
              <a:rPr lang="en-US" sz="3000">
                <a:solidFill>
                  <a:srgbClr val="000000"/>
                </a:solidFill>
                <a:latin typeface="Roboto Mono"/>
                <a:ea typeface="Roboto Mono"/>
                <a:cs typeface="Consolas"/>
              </a:rPr>
              <a:t> </a:t>
            </a:r>
            <a:r>
              <a:rPr lang="en-US" sz="3000">
                <a:solidFill>
                  <a:srgbClr val="952FC6"/>
                </a:solidFill>
                <a:latin typeface="Roboto Mono"/>
                <a:ea typeface="Roboto Mono"/>
                <a:cs typeface="Consolas"/>
              </a:rPr>
              <a:t>False</a:t>
            </a:r>
          </a:p>
        </p:txBody>
      </p:sp>
      <p:sp>
        <p:nvSpPr>
          <p:cNvPr id="31" name="CodeB">
            <a:extLst>
              <a:ext uri="{FF2B5EF4-FFF2-40B4-BE49-F238E27FC236}">
                <a16:creationId xmlns:a16="http://schemas.microsoft.com/office/drawing/2014/main" id="{60701A82-E531-294E-BBC9-84602534A941}"/>
              </a:ext>
            </a:extLst>
          </p:cNvPr>
          <p:cNvSpPr txBox="1"/>
          <p:nvPr/>
        </p:nvSpPr>
        <p:spPr>
          <a:xfrm>
            <a:off x="16789400" y="6477000"/>
            <a:ext cx="8737600" cy="5461000"/>
          </a:xfrm>
          <a:prstGeom prst="rect">
            <a:avLst/>
          </a:prstGeom>
          <a:noFill/>
        </p:spPr>
        <p:txBody>
          <a:bodyPr vertOverflow="overflow" vert="horz" wrap="square" rtlCol="0" anchor="t">
            <a:noAutofit/>
          </a:bodyPr>
          <a:lstStyle/>
          <a:p>
            <a:pPr>
              <a:lnSpc>
                <a:spcPts val="4100"/>
              </a:lnSpc>
              <a:spcBef>
                <a:spcPts val="0"/>
              </a:spcBef>
              <a:buNone/>
            </a:pPr>
            <a:r>
              <a:rPr lang="en-US" sz="3400">
                <a:solidFill>
                  <a:srgbClr val="952FC6"/>
                </a:solidFill>
                <a:latin typeface="Roboto Mono"/>
                <a:ea typeface="Roboto Mono"/>
                <a:cs typeface="Consolas"/>
              </a:rPr>
              <a:t>def</a:t>
            </a:r>
            <a:r>
              <a:rPr lang="en-US" sz="3400">
                <a:solidFill>
                  <a:srgbClr val="000000"/>
                </a:solidFill>
                <a:latin typeface="Roboto Mono"/>
                <a:ea typeface="Roboto Mono"/>
                <a:cs typeface="Consolas"/>
              </a:rPr>
              <a:t> ceq : </a:t>
            </a:r>
            <a:r>
              <a:rPr lang="en-US" sz="3400">
                <a:solidFill>
                  <a:srgbClr val="0074DF"/>
                </a:solidFill>
                <a:latin typeface="Roboto Mono"/>
                <a:ea typeface="Roboto Mono"/>
                <a:cs typeface="Consolas"/>
              </a:rPr>
              <a:t>Scalar</a:t>
            </a:r>
            <a:r>
              <a:rPr lang="en-US" sz="3400">
                <a:solidFill>
                  <a:srgbClr val="000000"/>
                </a:solidFill>
                <a:latin typeface="Roboto Mono"/>
                <a:ea typeface="Roboto Mono"/>
                <a:cs typeface="Consolas"/>
              </a:rPr>
              <a:t> → </a:t>
            </a:r>
            <a:r>
              <a:rPr lang="en-US" sz="3400">
                <a:solidFill>
                  <a:srgbClr val="0074DF"/>
                </a:solidFill>
                <a:latin typeface="Roboto Mono"/>
                <a:ea typeface="Roboto Mono"/>
                <a:cs typeface="Consolas"/>
              </a:rPr>
              <a:t>Scalar</a:t>
            </a:r>
            <a:r>
              <a:rPr lang="en-US" sz="3400">
                <a:solidFill>
                  <a:srgbClr val="000000"/>
                </a:solidFill>
                <a:latin typeface="Roboto Mono"/>
                <a:ea typeface="Roboto Mono"/>
                <a:cs typeface="Consolas"/>
              </a:rPr>
              <a:t> → </a:t>
            </a:r>
            <a:r>
              <a:rPr lang="en-US" sz="3400">
                <a:solidFill>
                  <a:srgbClr val="0074DF"/>
                </a:solidFill>
                <a:latin typeface="Roboto Mono"/>
                <a:ea typeface="Roboto Mono"/>
                <a:cs typeface="Consolas"/>
              </a:rPr>
              <a:t>Bool</a:t>
            </a:r>
          </a:p>
          <a:p>
            <a:pPr>
              <a:lnSpc>
                <a:spcPts val="4100"/>
              </a:lnSpc>
              <a:spcBef>
                <a:spcPts val="0"/>
              </a:spcBef>
              <a:buNone/>
            </a:pPr>
            <a:r>
              <a:rPr lang="en-US" sz="3400">
                <a:solidFill>
                  <a:srgbClr val="000000"/>
                </a:solidFill>
                <a:latin typeface="Roboto Mono"/>
                <a:ea typeface="Roboto Mono"/>
                <a:cs typeface="Consolas"/>
              </a:rPr>
              <a:t>  | .b a, .b b =&gt; a == b</a:t>
            </a:r>
          </a:p>
          <a:p>
            <a:pPr>
              <a:lnSpc>
                <a:spcPts val="4100"/>
              </a:lnSpc>
              <a:spcBef>
                <a:spcPts val="0"/>
              </a:spcBef>
              <a:buNone/>
            </a:pPr>
            <a:r>
              <a:rPr lang="en-US" sz="3400">
                <a:solidFill>
                  <a:srgbClr val="000000"/>
                </a:solidFill>
                <a:latin typeface="Roboto Mono"/>
                <a:ea typeface="Roboto Mono"/>
                <a:cs typeface="Consolas"/>
              </a:rPr>
              <a:t>  | .b _, _    =&gt; </a:t>
            </a:r>
            <a:r>
              <a:rPr lang="en-US" sz="3400">
                <a:solidFill>
                  <a:srgbClr val="952FC6"/>
                </a:solidFill>
                <a:latin typeface="Roboto Mono"/>
                <a:ea typeface="Roboto Mono"/>
                <a:cs typeface="Consolas"/>
              </a:rPr>
              <a:t>false</a:t>
            </a:r>
          </a:p>
          <a:p>
            <a:pPr>
              <a:lnSpc>
                <a:spcPts val="4100"/>
              </a:lnSpc>
              <a:spcBef>
                <a:spcPts val="0"/>
              </a:spcBef>
              <a:buNone/>
            </a:pPr>
            <a:r>
              <a:rPr lang="en-US" sz="3400">
                <a:solidFill>
                  <a:srgbClr val="000000"/>
                </a:solidFill>
                <a:latin typeface="Roboto Mono"/>
                <a:ea typeface="Roboto Mono"/>
                <a:cs typeface="Consolas"/>
              </a:rPr>
              <a:t>  | _, .b _    =&gt; </a:t>
            </a:r>
            <a:r>
              <a:rPr lang="en-US" sz="3400">
                <a:solidFill>
                  <a:srgbClr val="952FC6"/>
                </a:solidFill>
                <a:latin typeface="Roboto Mono"/>
                <a:ea typeface="Roboto Mono"/>
                <a:cs typeface="Consolas"/>
              </a:rPr>
              <a:t>false</a:t>
            </a:r>
          </a:p>
          <a:p>
            <a:pPr>
              <a:lnSpc>
                <a:spcPts val="4100"/>
              </a:lnSpc>
              <a:spcBef>
                <a:spcPts val="0"/>
              </a:spcBef>
              <a:buNone/>
            </a:pPr>
            <a:r>
              <a:rPr lang="en-US" sz="3400">
                <a:solidFill>
                  <a:srgbClr val="000000"/>
                </a:solidFill>
                <a:latin typeface="Roboto Mono"/>
                <a:ea typeface="Roboto Mono"/>
                <a:cs typeface="Consolas"/>
              </a:rPr>
              <a:t>  | .i a, .i b =&gt; a == b</a:t>
            </a:r>
          </a:p>
          <a:p>
            <a:pPr>
              <a:lnSpc>
                <a:spcPts val="4100"/>
              </a:lnSpc>
              <a:spcBef>
                <a:spcPts val="0"/>
              </a:spcBef>
              <a:buNone/>
            </a:pPr>
            <a:r>
              <a:rPr lang="en-US" sz="3400">
                <a:solidFill>
                  <a:srgbClr val="000000"/>
                </a:solidFill>
                <a:latin typeface="Roboto Mono"/>
                <a:ea typeface="Roboto Mono"/>
                <a:cs typeface="Consolas"/>
              </a:rPr>
              <a:t>  | .f a, .f b =&gt; a.eq b</a:t>
            </a:r>
          </a:p>
          <a:p>
            <a:pPr>
              <a:lnSpc>
                <a:spcPts val="4100"/>
              </a:lnSpc>
              <a:spcBef>
                <a:spcPts val="0"/>
              </a:spcBef>
              <a:buNone/>
            </a:pPr>
            <a:r>
              <a:rPr lang="en-US" sz="3400">
                <a:solidFill>
                  <a:srgbClr val="000000"/>
                </a:solidFill>
                <a:latin typeface="Roboto Mono"/>
                <a:ea typeface="Roboto Mono"/>
                <a:cs typeface="Consolas"/>
              </a:rPr>
              <a:t>  ...</a:t>
            </a:r>
          </a:p>
          <a:p>
            <a:pPr>
              <a:lnSpc>
                <a:spcPts val="4100"/>
              </a:lnSpc>
              <a:spcBef>
                <a:spcPts val="0"/>
              </a:spcBef>
              <a:buNone/>
            </a:pPr>
            <a:r>
              <a:rPr lang="en-US" sz="3400">
                <a:solidFill>
                  <a:srgbClr val="000000"/>
                </a:solidFill>
                <a:latin typeface="Roboto Mono"/>
                <a:ea typeface="Roboto Mono"/>
                <a:cs typeface="Consolas"/>
              </a:rPr>
              <a:t>  | .opaq _, _ =&gt; </a:t>
            </a:r>
            <a:r>
              <a:rPr lang="en-US" sz="3400">
                <a:solidFill>
                  <a:srgbClr val="952FC6"/>
                </a:solidFill>
                <a:latin typeface="Roboto Mono"/>
                <a:ea typeface="Roboto Mono"/>
                <a:cs typeface="Consolas"/>
              </a:rPr>
              <a:t>false</a:t>
            </a:r>
          </a:p>
          <a:p>
            <a:pPr>
              <a:lnSpc>
                <a:spcPts val="4100"/>
              </a:lnSpc>
              <a:spcBef>
                <a:spcPts val="0"/>
              </a:spcBef>
              <a:buNone/>
            </a:pPr>
            <a:r>
              <a:rPr lang="en-US" sz="3400">
                <a:solidFill>
                  <a:srgbClr val="000000"/>
                </a:solidFill>
                <a:latin typeface="Roboto Mono"/>
                <a:ea typeface="Roboto Mono"/>
                <a:cs typeface="Consolas"/>
              </a:rPr>
              <a:t>  | _, .opaq _ =&gt; </a:t>
            </a:r>
            <a:r>
              <a:rPr lang="en-US" sz="3400">
                <a:solidFill>
                  <a:srgbClr val="952FC6"/>
                </a:solidFill>
                <a:latin typeface="Roboto Mono"/>
                <a:ea typeface="Roboto Mono"/>
                <a:cs typeface="Consolas"/>
              </a:rPr>
              <a:t>false</a:t>
            </a:r>
          </a:p>
        </p:txBody>
      </p:sp>
      <p:sp>
        <p:nvSpPr>
          <p:cNvPr id="32" name="D1">
            <a:extLst>
              <a:ext uri="{FF2B5EF4-FFF2-40B4-BE49-F238E27FC236}">
                <a16:creationId xmlns:a16="http://schemas.microsoft.com/office/drawing/2014/main" id="{1D31377A-D1BA-D44B-A4ED-99294C2B78F5}"/>
              </a:ext>
            </a:extLst>
          </p:cNvPr>
          <p:cNvSpPr/>
          <p:nvPr/>
        </p:nvSpPr>
        <p:spPr>
          <a:xfrm>
            <a:off x="30734000" y="11430000"/>
            <a:ext cx="762000" cy="2286000"/>
          </a:xfrm>
          <a:prstGeom prst="downArrow">
            <a:avLst/>
          </a:prstGeom>
          <a:solidFill>
            <a:srgbClr val="75757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LoopLbl">
            <a:extLst>
              <a:ext uri="{FF2B5EF4-FFF2-40B4-BE49-F238E27FC236}">
                <a16:creationId xmlns:a16="http://schemas.microsoft.com/office/drawing/2014/main" id="{A1F77CD5-9390-BA41-B29A-CFD10F8B3CEA}"/>
              </a:ext>
            </a:extLst>
          </p:cNvPr>
          <p:cNvSpPr txBox="1"/>
          <p:nvPr/>
        </p:nvSpPr>
        <p:spPr>
          <a:xfrm>
            <a:off x="4572000" y="15748000"/>
            <a:ext cx="11430000" cy="1397000"/>
          </a:xfrm>
          <a:prstGeom prst="rect">
            <a:avLst/>
          </a:prstGeom>
          <a:noFill/>
        </p:spPr>
        <p:txBody>
          <a:bodyPr vertOverflow="overflow" vert="horz" wrap="square" rtlCol="0" anchor="t">
            <a:noAutofit/>
          </a:bodyPr>
          <a:lstStyle/>
          <a:p>
            <a:pPr algn="l"/>
            <a:r>
              <a:rPr lang="en-US" sz="3400">
                <a:solidFill>
                  <a:srgbClr val="3F3F3F"/>
                </a:solidFill>
                <a:latin typeface="NVIDIA Sans"/>
                <a:cs typeface="NVIDIA Sans"/>
              </a:rPr>
              <a:t>Fix the model or fix the tracer, then run the loop again.</a:t>
            </a:r>
          </a:p>
        </p:txBody>
      </p:sp>
      <p:sp>
        <p:nvSpPr>
          <p:cNvPr id="38" name="LA">
            <a:extLst>
              <a:ext uri="{FF2B5EF4-FFF2-40B4-BE49-F238E27FC236}">
                <a16:creationId xmlns:a16="http://schemas.microsoft.com/office/drawing/2014/main" id="{16F98404-5B5E-6F41-B275-4B1C1FA0E082}"/>
              </a:ext>
            </a:extLst>
          </p:cNvPr>
          <p:cNvSpPr/>
          <p:nvPr/>
        </p:nvSpPr>
        <p:spPr>
          <a:xfrm>
            <a:off x="26263600" y="15722600"/>
            <a:ext cx="711200" cy="558800"/>
          </a:xfrm>
          <a:prstGeom prst="leftArrow">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LoopBar">
            <a:extLst>
              <a:ext uri="{FF2B5EF4-FFF2-40B4-BE49-F238E27FC236}">
                <a16:creationId xmlns:a16="http://schemas.microsoft.com/office/drawing/2014/main" id="{1EC77A45-98FB-9440-B8AC-28BEC85DEFBB}"/>
              </a:ext>
            </a:extLst>
          </p:cNvPr>
          <p:cNvSpPr/>
          <p:nvPr/>
        </p:nvSpPr>
        <p:spPr>
          <a:xfrm>
            <a:off x="3144520" y="18214340"/>
            <a:ext cx="17378680" cy="469900"/>
          </a:xfrm>
          <a:prstGeom prst="rect">
            <a:avLst/>
          </a:prstGeom>
          <a:solidFill>
            <a:srgbClr val="75757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LoopUp">
            <a:extLst>
              <a:ext uri="{FF2B5EF4-FFF2-40B4-BE49-F238E27FC236}">
                <a16:creationId xmlns:a16="http://schemas.microsoft.com/office/drawing/2014/main" id="{6D24730C-59ED-6F4F-97C3-458F7E231D39}"/>
              </a:ext>
            </a:extLst>
          </p:cNvPr>
          <p:cNvSpPr/>
          <p:nvPr/>
        </p:nvSpPr>
        <p:spPr>
          <a:xfrm>
            <a:off x="2915920" y="13108940"/>
            <a:ext cx="914400" cy="5105400"/>
          </a:xfrm>
          <a:prstGeom prst="upArrow">
            <a:avLst/>
          </a:prstGeom>
          <a:solidFill>
            <a:srgbClr val="75757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ModelUp">
            <a:extLst>
              <a:ext uri="{FF2B5EF4-FFF2-40B4-BE49-F238E27FC236}">
                <a16:creationId xmlns:a16="http://schemas.microsoft.com/office/drawing/2014/main" id="{70BB48CC-70DB-0E40-9E09-326D190815FF}"/>
              </a:ext>
            </a:extLst>
          </p:cNvPr>
          <p:cNvSpPr/>
          <p:nvPr/>
        </p:nvSpPr>
        <p:spPr>
          <a:xfrm>
            <a:off x="22860000" y="13335000"/>
            <a:ext cx="812800" cy="1955800"/>
          </a:xfrm>
          <a:prstGeom prst="upArrow">
            <a:avLst/>
          </a:prstGeom>
          <a:solidFill>
            <a:srgbClr val="75757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ModelUpLbl">
            <a:extLst>
              <a:ext uri="{FF2B5EF4-FFF2-40B4-BE49-F238E27FC236}">
                <a16:creationId xmlns:a16="http://schemas.microsoft.com/office/drawing/2014/main" id="{6A59CCF3-6AB2-6746-9243-705E6C1BBC79}"/>
              </a:ext>
            </a:extLst>
          </p:cNvPr>
          <p:cNvSpPr txBox="1"/>
          <p:nvPr/>
        </p:nvSpPr>
        <p:spPr>
          <a:xfrm>
            <a:off x="17526000" y="14300200"/>
            <a:ext cx="5080000" cy="711200"/>
          </a:xfrm>
          <a:prstGeom prst="rect">
            <a:avLst/>
          </a:prstGeom>
          <a:noFill/>
        </p:spPr>
        <p:txBody>
          <a:bodyPr vertOverflow="overflow" vert="horz" wrap="square" rtlCol="0" anchor="t">
            <a:noAutofit/>
          </a:bodyPr>
          <a:lstStyle/>
          <a:p>
            <a:pPr algn="l"/>
            <a:r>
              <a:rPr lang="en-US" sz="2800" b="1">
                <a:solidFill>
                  <a:srgbClr val="3F3F3F"/>
                </a:solidFill>
                <a:latin typeface="NVIDIA Sans"/>
                <a:cs typeface="NVIDIA Sans"/>
              </a:rPr>
              <a:t>re-pin the model</a:t>
            </a:r>
          </a:p>
        </p:txBody>
      </p:sp>
      <p:sp>
        <p:nvSpPr>
          <p:cNvPr id="34" name="LA2">
            <a:extLst>
              <a:ext uri="{FF2B5EF4-FFF2-40B4-BE49-F238E27FC236}">
                <a16:creationId xmlns:a16="http://schemas.microsoft.com/office/drawing/2014/main" id="{C2DBD157-FFE6-E140-B2BB-2D4C4E3328D1}"/>
              </a:ext>
            </a:extLst>
          </p:cNvPr>
          <p:cNvSpPr/>
          <p:nvPr/>
        </p:nvSpPr>
        <p:spPr>
          <a:xfrm>
            <a:off x="26263600" y="17754600"/>
            <a:ext cx="711200" cy="558800"/>
          </a:xfrm>
          <a:prstGeom prst="leftArrow">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ForkSpine">
            <a:extLst>
              <a:ext uri="{FF2B5EF4-FFF2-40B4-BE49-F238E27FC236}">
                <a16:creationId xmlns:a16="http://schemas.microsoft.com/office/drawing/2014/main" id="{F754EB11-721F-124F-837A-4FE047098183}"/>
              </a:ext>
            </a:extLst>
          </p:cNvPr>
          <p:cNvSpPr/>
          <p:nvPr/>
        </p:nvSpPr>
        <p:spPr>
          <a:xfrm>
            <a:off x="26924000" y="16002000"/>
            <a:ext cx="203200" cy="2032000"/>
          </a:xfrm>
          <a:prstGeom prst="rect">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ForkJoin">
            <a:extLst>
              <a:ext uri="{FF2B5EF4-FFF2-40B4-BE49-F238E27FC236}">
                <a16:creationId xmlns:a16="http://schemas.microsoft.com/office/drawing/2014/main" id="{F8EBF56E-3D11-974E-AFFF-3FF42E752D4E}"/>
              </a:ext>
            </a:extLst>
          </p:cNvPr>
          <p:cNvSpPr/>
          <p:nvPr/>
        </p:nvSpPr>
        <p:spPr>
          <a:xfrm>
            <a:off x="26924000" y="16662400"/>
            <a:ext cx="558800" cy="203200"/>
          </a:xfrm>
          <a:prstGeom prst="rect">
            <a:avLst/>
          </a:prstGeom>
          <a:solidFill>
            <a:srgbClr val="B3261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170064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4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par>
                                <p:cTn id="28" presetID="10"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00"/>
                                        <p:tgtEl>
                                          <p:spTgt spid="8"/>
                                        </p:tgtEl>
                                      </p:cBhvr>
                                    </p:animEffect>
                                  </p:childTnLst>
                                </p:cTn>
                              </p:par>
                              <p:par>
                                <p:cTn id="31" presetID="10"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400"/>
                                        <p:tgtEl>
                                          <p:spTgt spid="31"/>
                                        </p:tgtEl>
                                      </p:cBhvr>
                                    </p:animEffect>
                                  </p:childTnLst>
                                </p:cTn>
                              </p:par>
                              <p:par>
                                <p:cTn id="34" presetID="10"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4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400"/>
                                        <p:tgtEl>
                                          <p:spTgt spid="29"/>
                                        </p:tgtEl>
                                      </p:cBhvr>
                                    </p:animEffect>
                                  </p:childTnLst>
                                </p:cTn>
                              </p:par>
                              <p:par>
                                <p:cTn id="45" presetID="10"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400"/>
                                        <p:tgtEl>
                                          <p:spTgt spid="10"/>
                                        </p:tgtEl>
                                      </p:cBhvr>
                                    </p:animEffect>
                                  </p:childTnLst>
                                </p:cTn>
                              </p:par>
                              <p:par>
                                <p:cTn id="48" presetID="10" presetClass="entr" presetSubtype="0" fill="hold"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400"/>
                                        <p:tgtEl>
                                          <p:spTgt spid="11"/>
                                        </p:tgtEl>
                                      </p:cBhvr>
                                    </p:animEffect>
                                  </p:childTnLst>
                                </p:cTn>
                              </p:par>
                              <p:par>
                                <p:cTn id="51" presetID="10"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4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400"/>
                                        <p:tgtEl>
                                          <p:spTgt spid="32"/>
                                        </p:tgtEl>
                                      </p:cBhvr>
                                    </p:animEffect>
                                  </p:childTnLst>
                                </p:cTn>
                              </p:par>
                              <p:par>
                                <p:cTn id="59" presetID="10" presetClass="entr" presetSubtype="0"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00"/>
                                        <p:tgtEl>
                                          <p:spTgt spid="15"/>
                                        </p:tgtEl>
                                      </p:cBhvr>
                                    </p:animEffect>
                                  </p:childTnLst>
                                </p:cTn>
                              </p:par>
                              <p:par>
                                <p:cTn id="62" presetID="10" presetClass="entr" presetSubtype="0" fill="hold"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400"/>
                                        <p:tgtEl>
                                          <p:spTgt spid="16"/>
                                        </p:tgtEl>
                                      </p:cBhvr>
                                    </p:animEffect>
                                  </p:childTnLst>
                                </p:cTn>
                              </p:par>
                              <p:par>
                                <p:cTn id="65" presetID="10" presetClass="entr" presetSubtype="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400"/>
                                        <p:tgtEl>
                                          <p:spTgt spid="17"/>
                                        </p:tgtEl>
                                      </p:cBhvr>
                                    </p:animEffect>
                                  </p:childTnLst>
                                </p:cTn>
                              </p:par>
                              <p:par>
                                <p:cTn id="68" presetID="10" presetClass="entr" presetSubtype="0" fill="hold"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400"/>
                                        <p:tgtEl>
                                          <p:spTgt spid="18"/>
                                        </p:tgtEl>
                                      </p:cBhvr>
                                    </p:animEffect>
                                  </p:childTnLst>
                                </p:cTn>
                              </p:par>
                              <p:par>
                                <p:cTn id="71" presetID="10" presetClass="entr" presetSubtype="0" fill="hold"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400"/>
                                        <p:tgtEl>
                                          <p:spTgt spid="19"/>
                                        </p:tgtEl>
                                      </p:cBhvr>
                                    </p:animEffect>
                                  </p:childTnLst>
                                </p:cTn>
                              </p:par>
                              <p:par>
                                <p:cTn id="74" presetID="10" presetClass="entr" presetSubtype="0" fill="hold"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400"/>
                                        <p:tgtEl>
                                          <p:spTgt spid="20"/>
                                        </p:tgtEl>
                                      </p:cBhvr>
                                    </p:animEffect>
                                  </p:childTnLst>
                                </p:cTn>
                              </p:par>
                              <p:par>
                                <p:cTn id="77" presetID="10" presetClass="entr" presetSubtype="0" fill="hold"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400"/>
                                        <p:tgtEl>
                                          <p:spTgt spid="36"/>
                                        </p:tgtEl>
                                      </p:cBhvr>
                                    </p:animEffect>
                                  </p:childTnLst>
                                </p:cTn>
                              </p:par>
                              <p:par>
                                <p:cTn id="80" presetID="10" presetClass="entr" presetSubtype="0" fill="hold"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400"/>
                                        <p:tgtEl>
                                          <p:spTgt spid="37"/>
                                        </p:tgtEl>
                                      </p:cBhvr>
                                    </p:animEffect>
                                  </p:childTnLst>
                                </p:cTn>
                              </p:par>
                              <p:par>
                                <p:cTn id="83" presetID="10" presetClass="entr" presetSubtype="0"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fade">
                                      <p:cBhvr>
                                        <p:cTn id="85" dur="400"/>
                                        <p:tgtEl>
                                          <p:spTgt spid="38"/>
                                        </p:tgtEl>
                                      </p:cBhvr>
                                    </p:animEffect>
                                  </p:childTnLst>
                                </p:cTn>
                              </p:par>
                              <p:par>
                                <p:cTn id="86" presetID="10" presetClass="entr" presetSubtype="0" fill="hold"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400"/>
                                        <p:tgtEl>
                                          <p:spTgt spid="34"/>
                                        </p:tgtEl>
                                      </p:cBhvr>
                                    </p:animEffect>
                                  </p:childTnLst>
                                </p:cTn>
                              </p:par>
                              <p:par>
                                <p:cTn id="89" presetID="10" presetClass="entr" presetSubtype="0" fill="hold"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400"/>
                                        <p:tgtEl>
                                          <p:spTgt spid="21"/>
                                        </p:tgtEl>
                                      </p:cBhvr>
                                    </p:animEffect>
                                  </p:childTnLst>
                                </p:cTn>
                              </p:par>
                              <p:par>
                                <p:cTn id="92" presetID="10" presetClass="entr" presetSubtype="0" fill="hold"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400"/>
                                        <p:tgtEl>
                                          <p:spTgt spid="22"/>
                                        </p:tgtEl>
                                      </p:cBhvr>
                                    </p:animEffect>
                                  </p:childTnLst>
                                </p:cTn>
                              </p:par>
                              <p:par>
                                <p:cTn id="95" presetID="10" presetClass="entr" presetSubtype="0" fill="hold" nodeType="with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400"/>
                                        <p:tgtEl>
                                          <p:spTgt spid="23"/>
                                        </p:tgtEl>
                                      </p:cBhvr>
                                    </p:animEffect>
                                  </p:childTnLst>
                                </p:cTn>
                              </p:par>
                              <p:par>
                                <p:cTn id="98" presetID="10" presetClass="entr" presetSubtype="0" fill="hold" nodeType="with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fade">
                                      <p:cBhvr>
                                        <p:cTn id="100" dur="400"/>
                                        <p:tgtEl>
                                          <p:spTgt spid="24"/>
                                        </p:tgtEl>
                                      </p:cBhvr>
                                    </p:animEffect>
                                  </p:childTnLst>
                                </p:cTn>
                              </p:par>
                              <p:par>
                                <p:cTn id="101" presetID="10" presetClass="entr" presetSubtype="0" fill="hold" nodeType="with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400"/>
                                        <p:tgtEl>
                                          <p:spTgt spid="25"/>
                                        </p:tgtEl>
                                      </p:cBhvr>
                                    </p:animEffect>
                                  </p:childTnLst>
                                </p:cTn>
                              </p:par>
                              <p:par>
                                <p:cTn id="104" presetID="10" presetClass="entr" presetSubtype="0" fill="hold" nodeType="with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400"/>
                                        <p:tgtEl>
                                          <p:spTgt spid="26"/>
                                        </p:tgtEl>
                                      </p:cBhvr>
                                    </p:animEffect>
                                  </p:childTnLst>
                                </p:cTn>
                              </p:par>
                              <p:par>
                                <p:cTn id="107" presetID="10" presetClass="entr" presetSubtype="0" fill="hold" nodeType="withEffect">
                                  <p:stCondLst>
                                    <p:cond delay="0"/>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9" dur="400"/>
                                        <p:tgtEl>
                                          <p:spTgt spid="27"/>
                                        </p:tgtEl>
                                      </p:cBhvr>
                                    </p:animEffect>
                                  </p:childTnLst>
                                </p:cTn>
                              </p:par>
                              <p:par>
                                <p:cTn id="110" presetID="10" presetClass="entr" presetSubtype="0" fill="hold" nodeType="withEffect">
                                  <p:stCondLst>
                                    <p:cond delay="0"/>
                                  </p:stCondLst>
                                  <p:childTnLst>
                                    <p:set>
                                      <p:cBhvr>
                                        <p:cTn id="111" dur="1" fill="hold">
                                          <p:stCondLst>
                                            <p:cond delay="0"/>
                                          </p:stCondLst>
                                        </p:cTn>
                                        <p:tgtEl>
                                          <p:spTgt spid="33"/>
                                        </p:tgtEl>
                                        <p:attrNameLst>
                                          <p:attrName>style.visibility</p:attrName>
                                        </p:attrNameLst>
                                      </p:cBhvr>
                                      <p:to>
                                        <p:strVal val="visible"/>
                                      </p:to>
                                    </p:set>
                                    <p:animEffect transition="in" filter="fade">
                                      <p:cBhvr>
                                        <p:cTn id="112" dur="400"/>
                                        <p:tgtEl>
                                          <p:spTgt spid="33"/>
                                        </p:tgtEl>
                                      </p:cBhvr>
                                    </p:animEffect>
                                  </p:childTnLst>
                                </p:cTn>
                              </p:par>
                              <p:par>
                                <p:cTn id="113" presetID="10" presetClass="entr" presetSubtype="0" fill="hold" nodeType="with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00"/>
                                        <p:tgtEl>
                                          <p:spTgt spid="40"/>
                                        </p:tgtEl>
                                      </p:cBhvr>
                                    </p:animEffect>
                                  </p:childTnLst>
                                </p:cTn>
                              </p:par>
                              <p:par>
                                <p:cTn id="116" presetID="10" presetClass="entr" presetSubtype="0" fill="hold"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00"/>
                                        <p:tgtEl>
                                          <p:spTgt spid="41"/>
                                        </p:tgtEl>
                                      </p:cBhvr>
                                    </p:animEffect>
                                  </p:childTnLst>
                                </p:cTn>
                              </p:par>
                              <p:par>
                                <p:cTn id="119" presetID="10" presetClass="entr" presetSubtype="0" fill="hold" nodeType="withEffect">
                                  <p:stCondLst>
                                    <p:cond delay="0"/>
                                  </p:stCondLst>
                                  <p:childTnLst>
                                    <p:set>
                                      <p:cBhvr>
                                        <p:cTn id="120" dur="1" fill="hold">
                                          <p:stCondLst>
                                            <p:cond delay="0"/>
                                          </p:stCondLst>
                                        </p:cTn>
                                        <p:tgtEl>
                                          <p:spTgt spid="35"/>
                                        </p:tgtEl>
                                        <p:attrNameLst>
                                          <p:attrName>style.visibility</p:attrName>
                                        </p:attrNameLst>
                                      </p:cBhvr>
                                      <p:to>
                                        <p:strVal val="visible"/>
                                      </p:to>
                                    </p:set>
                                    <p:animEffect transition="in" filter="fade">
                                      <p:cBhvr>
                                        <p:cTn id="121"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457D72D1-830C-DD4C-A33C-3452F47A18D5}"/>
              </a:ext>
            </a:extLst>
          </p:cNvPr>
          <p:cNvSpPr txBox="1"/>
          <p:nvPr/>
        </p:nvSpPr>
        <p:spPr>
          <a:xfrm>
            <a:off x="1828800" y="914400"/>
            <a:ext cx="32918400" cy="2463800"/>
          </a:xfrm>
          <a:prstGeom prst="rect">
            <a:avLst/>
          </a:prstGeom>
          <a:noFill/>
        </p:spPr>
        <p:txBody>
          <a:bodyPr vertOverflow="overflow" vert="horz" wrap="square" rtlCol="0" anchor="t">
            <a:noAutofit/>
          </a:bodyPr>
          <a:lstStyle/>
          <a:p>
            <a:pPr algn="l"/>
            <a:r>
              <a:rPr lang="en-US" sz="8800">
                <a:latin typeface="NVIDIA Sans Medium"/>
                <a:cs typeface="NVIDIA Sans Medium"/>
              </a:rPr>
              <a:t>What the Proofs Bought Us, and How Far They Go</a:t>
            </a:r>
          </a:p>
        </p:txBody>
      </p:sp>
      <p:sp>
        <p:nvSpPr>
          <p:cNvPr id="3" name="SubTx">
            <a:extLst>
              <a:ext uri="{FF2B5EF4-FFF2-40B4-BE49-F238E27FC236}">
                <a16:creationId xmlns:a16="http://schemas.microsoft.com/office/drawing/2014/main" id="{587F9A2F-03CA-1448-8910-8B8F9F129BFD}"/>
              </a:ext>
            </a:extLst>
          </p:cNvPr>
          <p:cNvSpPr txBox="1"/>
          <p:nvPr/>
        </p:nvSpPr>
        <p:spPr>
          <a:xfrm>
            <a:off x="1828800" y="3378200"/>
            <a:ext cx="32918400" cy="1143000"/>
          </a:xfrm>
          <a:prstGeom prst="rect">
            <a:avLst/>
          </a:prstGeom>
          <a:noFill/>
        </p:spPr>
        <p:txBody>
          <a:bodyPr vertOverflow="overflow" vert="horz" wrap="square" rtlCol="0" anchor="t">
            <a:noAutofit/>
          </a:bodyPr>
          <a:lstStyle/>
          <a:p>
            <a:pPr algn="l"/>
            <a:r>
              <a:rPr lang="en-US" sz="4800">
                <a:solidFill>
                  <a:srgbClr val="757575"/>
                </a:solidFill>
                <a:latin typeface="NVIDIA Sans"/>
                <a:cs typeface="NVIDIA Sans"/>
              </a:rPr>
              <a:t>What holds today, and what comes next.</a:t>
            </a:r>
          </a:p>
        </p:txBody>
      </p:sp>
      <p:sp>
        <p:nvSpPr>
          <p:cNvPr id="4" name="N1bg">
            <a:extLst>
              <a:ext uri="{FF2B5EF4-FFF2-40B4-BE49-F238E27FC236}">
                <a16:creationId xmlns:a16="http://schemas.microsoft.com/office/drawing/2014/main" id="{01E4E09D-FDDE-A64F-B185-CBEE3EE214CD}"/>
              </a:ext>
            </a:extLst>
          </p:cNvPr>
          <p:cNvSpPr/>
          <p:nvPr/>
        </p:nvSpPr>
        <p:spPr>
          <a:xfrm>
            <a:off x="1828800" y="5334000"/>
            <a:ext cx="10541000" cy="3683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N1n">
            <a:extLst>
              <a:ext uri="{FF2B5EF4-FFF2-40B4-BE49-F238E27FC236}">
                <a16:creationId xmlns:a16="http://schemas.microsoft.com/office/drawing/2014/main" id="{E029152D-0075-7543-8F17-246CB433EB6D}"/>
              </a:ext>
            </a:extLst>
          </p:cNvPr>
          <p:cNvSpPr txBox="1"/>
          <p:nvPr/>
        </p:nvSpPr>
        <p:spPr>
          <a:xfrm>
            <a:off x="2286000" y="5689600"/>
            <a:ext cx="9626600" cy="1524000"/>
          </a:xfrm>
          <a:prstGeom prst="rect">
            <a:avLst/>
          </a:prstGeom>
          <a:noFill/>
        </p:spPr>
        <p:txBody>
          <a:bodyPr vertOverflow="overflow" vert="horz" wrap="square" rtlCol="0" anchor="t">
            <a:noAutofit/>
          </a:bodyPr>
          <a:lstStyle/>
          <a:p>
            <a:pPr algn="l"/>
            <a:r>
              <a:rPr lang="en-US" sz="8800" b="1">
                <a:solidFill>
                  <a:srgbClr val="4A7C00"/>
                </a:solidFill>
                <a:latin typeface="NVIDIA Sans"/>
                <a:cs typeface="NVIDIA Sans"/>
              </a:rPr>
              <a:t>13</a:t>
            </a:r>
          </a:p>
        </p:txBody>
      </p:sp>
      <p:sp>
        <p:nvSpPr>
          <p:cNvPr id="6" name="N1c">
            <a:extLst>
              <a:ext uri="{FF2B5EF4-FFF2-40B4-BE49-F238E27FC236}">
                <a16:creationId xmlns:a16="http://schemas.microsoft.com/office/drawing/2014/main" id="{AFA92D40-F986-964A-B160-EED5ADBC307F}"/>
              </a:ext>
            </a:extLst>
          </p:cNvPr>
          <p:cNvSpPr txBox="1"/>
          <p:nvPr/>
        </p:nvSpPr>
        <p:spPr>
          <a:xfrm>
            <a:off x="2286000" y="7340600"/>
            <a:ext cx="9626600" cy="1397000"/>
          </a:xfrm>
          <a:prstGeom prst="rect">
            <a:avLst/>
          </a:prstGeom>
          <a:noFill/>
        </p:spPr>
        <p:txBody>
          <a:bodyPr vertOverflow="overflow" vert="horz" wrap="square" rtlCol="0" anchor="t">
            <a:noAutofit/>
          </a:bodyPr>
          <a:lstStyle/>
          <a:p>
            <a:pPr algn="l"/>
            <a:r>
              <a:rPr lang="en-US" sz="3000">
                <a:solidFill>
                  <a:srgbClr val="313131"/>
                </a:solidFill>
                <a:latin typeface="NVIDIA Sans"/>
                <a:cs typeface="NVIDIA Sans"/>
              </a:rPr>
              <a:t>real bugs found</a:t>
            </a:r>
          </a:p>
        </p:txBody>
      </p:sp>
      <p:sp>
        <p:nvSpPr>
          <p:cNvPr id="7" name="N2bg">
            <a:extLst>
              <a:ext uri="{FF2B5EF4-FFF2-40B4-BE49-F238E27FC236}">
                <a16:creationId xmlns:a16="http://schemas.microsoft.com/office/drawing/2014/main" id="{3ACB8DC1-A070-644A-8BFA-2E8978F55215}"/>
              </a:ext>
            </a:extLst>
          </p:cNvPr>
          <p:cNvSpPr/>
          <p:nvPr/>
        </p:nvSpPr>
        <p:spPr>
          <a:xfrm>
            <a:off x="13017500" y="5334000"/>
            <a:ext cx="10541000" cy="3683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N2n">
            <a:extLst>
              <a:ext uri="{FF2B5EF4-FFF2-40B4-BE49-F238E27FC236}">
                <a16:creationId xmlns:a16="http://schemas.microsoft.com/office/drawing/2014/main" id="{3D67BC57-5A97-314D-8C16-E0CA833F3E04}"/>
              </a:ext>
            </a:extLst>
          </p:cNvPr>
          <p:cNvSpPr txBox="1"/>
          <p:nvPr/>
        </p:nvSpPr>
        <p:spPr>
          <a:xfrm>
            <a:off x="13474700" y="5689600"/>
            <a:ext cx="9626600" cy="1524000"/>
          </a:xfrm>
          <a:prstGeom prst="rect">
            <a:avLst/>
          </a:prstGeom>
          <a:noFill/>
        </p:spPr>
        <p:txBody>
          <a:bodyPr vertOverflow="overflow" vert="horz" wrap="square" rtlCol="0" anchor="t">
            <a:noAutofit/>
          </a:bodyPr>
          <a:lstStyle/>
          <a:p>
            <a:pPr algn="l"/>
            <a:r>
              <a:rPr lang="en-US" sz="8800" b="1">
                <a:solidFill>
                  <a:srgbClr val="B3261E"/>
                </a:solidFill>
                <a:latin typeface="NVIDIA Sans"/>
                <a:cs typeface="NVIDIA Sans"/>
              </a:rPr>
              <a:t>0</a:t>
            </a:r>
          </a:p>
        </p:txBody>
      </p:sp>
      <p:sp>
        <p:nvSpPr>
          <p:cNvPr id="9" name="N2c">
            <a:extLst>
              <a:ext uri="{FF2B5EF4-FFF2-40B4-BE49-F238E27FC236}">
                <a16:creationId xmlns:a16="http://schemas.microsoft.com/office/drawing/2014/main" id="{D0169744-BC84-DD4A-9A48-52B8FD2AD28C}"/>
              </a:ext>
            </a:extLst>
          </p:cNvPr>
          <p:cNvSpPr txBox="1"/>
          <p:nvPr/>
        </p:nvSpPr>
        <p:spPr>
          <a:xfrm>
            <a:off x="13474700" y="7340600"/>
            <a:ext cx="9626600" cy="1397000"/>
          </a:xfrm>
          <a:prstGeom prst="rect">
            <a:avLst/>
          </a:prstGeom>
          <a:noFill/>
        </p:spPr>
        <p:txBody>
          <a:bodyPr vertOverflow="overflow" vert="horz" wrap="square" rtlCol="0" anchor="t">
            <a:noAutofit/>
          </a:bodyPr>
          <a:lstStyle/>
          <a:p>
            <a:pPr algn="l"/>
            <a:r>
              <a:rPr lang="en-US" sz="3000">
                <a:solidFill>
                  <a:srgbClr val="313131"/>
                </a:solidFill>
                <a:latin typeface="NVIDIA Sans"/>
                <a:cs typeface="NVIDIA Sans"/>
              </a:rPr>
              <a:t>of those bugs were caught by tests: Lean found them first</a:t>
            </a:r>
          </a:p>
        </p:txBody>
      </p:sp>
      <p:sp>
        <p:nvSpPr>
          <p:cNvPr id="10" name="N3bg">
            <a:extLst>
              <a:ext uri="{FF2B5EF4-FFF2-40B4-BE49-F238E27FC236}">
                <a16:creationId xmlns:a16="http://schemas.microsoft.com/office/drawing/2014/main" id="{6740A581-D7C7-684C-9FF8-AC89CB844189}"/>
              </a:ext>
            </a:extLst>
          </p:cNvPr>
          <p:cNvSpPr/>
          <p:nvPr/>
        </p:nvSpPr>
        <p:spPr>
          <a:xfrm>
            <a:off x="24206200" y="5334000"/>
            <a:ext cx="10541000" cy="3683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N3n">
            <a:extLst>
              <a:ext uri="{FF2B5EF4-FFF2-40B4-BE49-F238E27FC236}">
                <a16:creationId xmlns:a16="http://schemas.microsoft.com/office/drawing/2014/main" id="{4683F95C-288A-3B47-B3AC-63140462CC20}"/>
              </a:ext>
            </a:extLst>
          </p:cNvPr>
          <p:cNvSpPr txBox="1"/>
          <p:nvPr/>
        </p:nvSpPr>
        <p:spPr>
          <a:xfrm>
            <a:off x="24663400" y="5689600"/>
            <a:ext cx="9626600" cy="1524000"/>
          </a:xfrm>
          <a:prstGeom prst="rect">
            <a:avLst/>
          </a:prstGeom>
          <a:noFill/>
        </p:spPr>
        <p:txBody>
          <a:bodyPr vertOverflow="overflow" vert="horz" wrap="square" rtlCol="0" anchor="t">
            <a:noAutofit/>
          </a:bodyPr>
          <a:lstStyle/>
          <a:p>
            <a:pPr algn="l"/>
            <a:r>
              <a:rPr lang="en-US" sz="8800" b="1">
                <a:latin typeface="NVIDIA Sans"/>
                <a:cs typeface="NVIDIA Sans"/>
              </a:rPr>
              <a:t>687</a:t>
            </a:r>
          </a:p>
        </p:txBody>
      </p:sp>
      <p:sp>
        <p:nvSpPr>
          <p:cNvPr id="12" name="N3c">
            <a:extLst>
              <a:ext uri="{FF2B5EF4-FFF2-40B4-BE49-F238E27FC236}">
                <a16:creationId xmlns:a16="http://schemas.microsoft.com/office/drawing/2014/main" id="{A6A60EFB-8A3C-AD4C-BE50-DFF4D43F646F}"/>
              </a:ext>
            </a:extLst>
          </p:cNvPr>
          <p:cNvSpPr txBox="1"/>
          <p:nvPr/>
        </p:nvSpPr>
        <p:spPr>
          <a:xfrm>
            <a:off x="24663400" y="7340600"/>
            <a:ext cx="9626600" cy="1397000"/>
          </a:xfrm>
          <a:prstGeom prst="rect">
            <a:avLst/>
          </a:prstGeom>
          <a:noFill/>
        </p:spPr>
        <p:txBody>
          <a:bodyPr vertOverflow="overflow" vert="horz" wrap="square" rtlCol="0" anchor="t">
            <a:noAutofit/>
          </a:bodyPr>
          <a:lstStyle/>
          <a:p>
            <a:pPr algn="l"/>
            <a:r>
              <a:rPr lang="en-US" sz="3000">
                <a:solidFill>
                  <a:srgbClr val="313131"/>
                </a:solidFill>
                <a:latin typeface="NVIDIA Sans"/>
                <a:cs typeface="NVIDIA Sans"/>
              </a:rPr>
              <a:t>theorems, machine-checked claims</a:t>
            </a:r>
          </a:p>
        </p:txBody>
      </p:sp>
      <p:sp>
        <p:nvSpPr>
          <p:cNvPr id="13" name="N4bg">
            <a:extLst>
              <a:ext uri="{FF2B5EF4-FFF2-40B4-BE49-F238E27FC236}">
                <a16:creationId xmlns:a16="http://schemas.microsoft.com/office/drawing/2014/main" id="{31D1F518-378E-684D-8625-880267BD1CCC}"/>
              </a:ext>
            </a:extLst>
          </p:cNvPr>
          <p:cNvSpPr/>
          <p:nvPr/>
        </p:nvSpPr>
        <p:spPr>
          <a:xfrm>
            <a:off x="1828800" y="9398000"/>
            <a:ext cx="10541000" cy="3683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N4n">
            <a:extLst>
              <a:ext uri="{FF2B5EF4-FFF2-40B4-BE49-F238E27FC236}">
                <a16:creationId xmlns:a16="http://schemas.microsoft.com/office/drawing/2014/main" id="{D1AF0562-CD8A-4E45-A266-380F24255CD1}"/>
              </a:ext>
            </a:extLst>
          </p:cNvPr>
          <p:cNvSpPr txBox="1"/>
          <p:nvPr/>
        </p:nvSpPr>
        <p:spPr>
          <a:xfrm>
            <a:off x="2286000" y="9753600"/>
            <a:ext cx="9626600" cy="1524000"/>
          </a:xfrm>
          <a:prstGeom prst="rect">
            <a:avLst/>
          </a:prstGeom>
          <a:noFill/>
        </p:spPr>
        <p:txBody>
          <a:bodyPr vertOverflow="overflow" vert="horz" wrap="square" rtlCol="0" anchor="t">
            <a:noAutofit/>
          </a:bodyPr>
          <a:lstStyle/>
          <a:p>
            <a:pPr algn="l"/>
            <a:r>
              <a:rPr lang="en-US" sz="8800" b="1">
                <a:latin typeface="NVIDIA Sans"/>
                <a:cs typeface="NVIDIA Sans"/>
              </a:rPr>
              <a:t>0</a:t>
            </a:r>
          </a:p>
        </p:txBody>
      </p:sp>
      <p:sp>
        <p:nvSpPr>
          <p:cNvPr id="15" name="N4c">
            <a:extLst>
              <a:ext uri="{FF2B5EF4-FFF2-40B4-BE49-F238E27FC236}">
                <a16:creationId xmlns:a16="http://schemas.microsoft.com/office/drawing/2014/main" id="{C6F2D771-2461-D649-ABC1-FE4177883172}"/>
              </a:ext>
            </a:extLst>
          </p:cNvPr>
          <p:cNvSpPr txBox="1"/>
          <p:nvPr/>
        </p:nvSpPr>
        <p:spPr>
          <a:xfrm>
            <a:off x="2286000" y="11404600"/>
            <a:ext cx="9626600" cy="1397000"/>
          </a:xfrm>
          <a:prstGeom prst="rect">
            <a:avLst/>
          </a:prstGeom>
          <a:noFill/>
        </p:spPr>
        <p:txBody>
          <a:bodyPr vertOverflow="overflow" vert="horz" wrap="square" rtlCol="0" anchor="t">
            <a:noAutofit/>
          </a:bodyPr>
          <a:lstStyle/>
          <a:p>
            <a:pPr algn="l"/>
            <a:r>
              <a:rPr lang="en-US" sz="3000">
                <a:solidFill>
                  <a:srgbClr val="313131"/>
                </a:solidFill>
                <a:latin typeface="NVIDIA Sans"/>
                <a:cs typeface="NVIDIA Sans"/>
              </a:rPr>
              <a:t>sorry and 0 axiom</a:t>
            </a:r>
          </a:p>
        </p:txBody>
      </p:sp>
      <p:sp>
        <p:nvSpPr>
          <p:cNvPr id="17" name="PrBg">
            <a:extLst>
              <a:ext uri="{FF2B5EF4-FFF2-40B4-BE49-F238E27FC236}">
                <a16:creationId xmlns:a16="http://schemas.microsoft.com/office/drawing/2014/main" id="{5D167F80-995F-EE4D-BB43-CE68DEA777DA}"/>
              </a:ext>
            </a:extLst>
          </p:cNvPr>
          <p:cNvSpPr/>
          <p:nvPr/>
        </p:nvSpPr>
        <p:spPr>
          <a:xfrm>
            <a:off x="1828800" y="13589000"/>
            <a:ext cx="16154400" cy="4191000"/>
          </a:xfrm>
          <a:prstGeom prst="rect">
            <a:avLst/>
          </a:prstGeom>
          <a:solidFill>
            <a:srgbClr val="F3F8E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PrH">
            <a:extLst>
              <a:ext uri="{FF2B5EF4-FFF2-40B4-BE49-F238E27FC236}">
                <a16:creationId xmlns:a16="http://schemas.microsoft.com/office/drawing/2014/main" id="{7883DBD8-48F3-004D-ABC4-C6FF5528BFFE}"/>
              </a:ext>
            </a:extLst>
          </p:cNvPr>
          <p:cNvSpPr txBox="1"/>
          <p:nvPr/>
        </p:nvSpPr>
        <p:spPr>
          <a:xfrm>
            <a:off x="2286000" y="13919200"/>
            <a:ext cx="15240000" cy="889000"/>
          </a:xfrm>
          <a:prstGeom prst="rect">
            <a:avLst/>
          </a:prstGeom>
          <a:noFill/>
        </p:spPr>
        <p:txBody>
          <a:bodyPr vertOverflow="overflow" vert="horz" wrap="square" rtlCol="0" anchor="t">
            <a:noAutofit/>
          </a:bodyPr>
          <a:lstStyle/>
          <a:p>
            <a:pPr algn="l"/>
            <a:r>
              <a:rPr lang="en-US" sz="3800" b="1">
                <a:solidFill>
                  <a:srgbClr val="4A7C00"/>
                </a:solidFill>
                <a:latin typeface="NVIDIA Sans"/>
                <a:cs typeface="NVIDIA Sans"/>
              </a:rPr>
              <a:t>What we proved</a:t>
            </a:r>
          </a:p>
        </p:txBody>
      </p:sp>
      <p:sp>
        <p:nvSpPr>
          <p:cNvPr id="19" name="PrB">
            <a:extLst>
              <a:ext uri="{FF2B5EF4-FFF2-40B4-BE49-F238E27FC236}">
                <a16:creationId xmlns:a16="http://schemas.microsoft.com/office/drawing/2014/main" id="{8C665F63-EBD9-454B-AA10-F0E2ED2D9557}"/>
              </a:ext>
            </a:extLst>
          </p:cNvPr>
          <p:cNvSpPr txBox="1"/>
          <p:nvPr/>
        </p:nvSpPr>
        <p:spPr>
          <a:xfrm>
            <a:off x="2286000" y="14757400"/>
            <a:ext cx="15240000" cy="2921000"/>
          </a:xfrm>
          <a:prstGeom prst="rect">
            <a:avLst/>
          </a:prstGeom>
          <a:noFill/>
        </p:spPr>
        <p:txBody>
          <a:bodyPr vertOverflow="overflow" vert="horz" wrap="square" rtlCol="0" anchor="t">
            <a:noAutofit/>
          </a:bodyPr>
          <a:lstStyle/>
          <a:p>
            <a:pPr marL="285750" indent="-285750">
              <a:lnSpc>
                <a:spcPts val="3800"/>
              </a:lnSpc>
              <a:spcBef>
                <a:spcPts val="900"/>
              </a:spcBef>
              <a:buClr>
                <a:srgbClr val="4A7C00"/>
              </a:buClr>
              <a:buFont typeface="Arial"/>
              <a:buChar char="•"/>
            </a:pPr>
            <a:r>
              <a:rPr lang="en-US" sz="3200">
                <a:solidFill>
                  <a:srgbClr val="313131"/>
                </a:solidFill>
                <a:latin typeface="NVIDIA Sans"/>
                <a:cs typeface="NVIDIA Sans"/>
              </a:rPr>
              <a:t>If it rejects your program, the error is always sound</a:t>
            </a:r>
          </a:p>
          <a:p>
            <a:pPr marL="285750" indent="-285750">
              <a:lnSpc>
                <a:spcPts val="3800"/>
              </a:lnSpc>
              <a:spcBef>
                <a:spcPts val="900"/>
              </a:spcBef>
              <a:buClr>
                <a:srgbClr val="4A7C00"/>
              </a:buClr>
              <a:buFont typeface="Arial"/>
              <a:buChar char="•"/>
            </a:pPr>
            <a:r>
              <a:rPr lang="en-US" sz="3200">
                <a:solidFill>
                  <a:srgbClr val="313131"/>
                </a:solidFill>
                <a:latin typeface="NVIDIA Sans"/>
                <a:cs typeface="NVIDIA Sans"/>
              </a:rPr>
              <a:t>If it accepts, the run matches plain Python, for programs without loops</a:t>
            </a:r>
          </a:p>
          <a:p>
            <a:pPr marL="285750" indent="-285750">
              <a:lnSpc>
                <a:spcPts val="3800"/>
              </a:lnSpc>
              <a:spcBef>
                <a:spcPts val="900"/>
              </a:spcBef>
              <a:buClr>
                <a:srgbClr val="4A7C00"/>
              </a:buClr>
              <a:buFont typeface="Arial"/>
              <a:buChar char="•"/>
            </a:pPr>
            <a:r>
              <a:rPr lang="en-US" sz="3200">
                <a:solidFill>
                  <a:srgbClr val="313131"/>
                </a:solidFill>
                <a:latin typeface="NVIDIA Sans"/>
                <a:cs typeface="NVIDIA Sans"/>
              </a:rPr>
              <a:t>Loop programs proved one group at a time</a:t>
            </a:r>
          </a:p>
        </p:txBody>
      </p:sp>
      <p:sp>
        <p:nvSpPr>
          <p:cNvPr id="20" name="OpBg">
            <a:extLst>
              <a:ext uri="{FF2B5EF4-FFF2-40B4-BE49-F238E27FC236}">
                <a16:creationId xmlns:a16="http://schemas.microsoft.com/office/drawing/2014/main" id="{F2585036-2A23-8648-9D08-513EF584B1F8}"/>
              </a:ext>
            </a:extLst>
          </p:cNvPr>
          <p:cNvSpPr/>
          <p:nvPr/>
        </p:nvSpPr>
        <p:spPr>
          <a:xfrm>
            <a:off x="19202400" y="13589000"/>
            <a:ext cx="15544800" cy="4191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pH">
            <a:extLst>
              <a:ext uri="{FF2B5EF4-FFF2-40B4-BE49-F238E27FC236}">
                <a16:creationId xmlns:a16="http://schemas.microsoft.com/office/drawing/2014/main" id="{9CBE1EC5-1F4A-584A-AF10-17DB6DD14746}"/>
              </a:ext>
            </a:extLst>
          </p:cNvPr>
          <p:cNvSpPr txBox="1"/>
          <p:nvPr/>
        </p:nvSpPr>
        <p:spPr>
          <a:xfrm>
            <a:off x="19659600" y="13919200"/>
            <a:ext cx="14630400" cy="889000"/>
          </a:xfrm>
          <a:prstGeom prst="rect">
            <a:avLst/>
          </a:prstGeom>
          <a:noFill/>
        </p:spPr>
        <p:txBody>
          <a:bodyPr vertOverflow="overflow" vert="horz" wrap="square" rtlCol="0" anchor="t">
            <a:noAutofit/>
          </a:bodyPr>
          <a:lstStyle/>
          <a:p>
            <a:pPr algn="l"/>
            <a:r>
              <a:rPr lang="en-US" sz="3800" b="1">
                <a:solidFill>
                  <a:srgbClr val="B3261E"/>
                </a:solidFill>
                <a:latin typeface="NVIDIA Sans"/>
                <a:cs typeface="NVIDIA Sans"/>
              </a:rPr>
              <a:t>What we have not</a:t>
            </a:r>
          </a:p>
        </p:txBody>
      </p:sp>
      <p:sp>
        <p:nvSpPr>
          <p:cNvPr id="22" name="OpB">
            <a:extLst>
              <a:ext uri="{FF2B5EF4-FFF2-40B4-BE49-F238E27FC236}">
                <a16:creationId xmlns:a16="http://schemas.microsoft.com/office/drawing/2014/main" id="{6516652C-E288-5B46-B8FF-45C8FC184637}"/>
              </a:ext>
            </a:extLst>
          </p:cNvPr>
          <p:cNvSpPr txBox="1"/>
          <p:nvPr/>
        </p:nvSpPr>
        <p:spPr>
          <a:xfrm>
            <a:off x="19659600" y="14757400"/>
            <a:ext cx="14630400" cy="2921000"/>
          </a:xfrm>
          <a:prstGeom prst="rect">
            <a:avLst/>
          </a:prstGeom>
          <a:noFill/>
        </p:spPr>
        <p:txBody>
          <a:bodyPr vertOverflow="overflow" vert="horz" wrap="square" rtlCol="0" anchor="t">
            <a:noAutofit/>
          </a:bodyPr>
          <a:lstStyle/>
          <a:p>
            <a:pPr marL="285750" indent="-285750">
              <a:lnSpc>
                <a:spcPts val="3800"/>
              </a:lnSpc>
              <a:spcBef>
                <a:spcPts val="900"/>
              </a:spcBef>
              <a:buClr>
                <a:srgbClr val="B3261E"/>
              </a:buClr>
              <a:buFont typeface="Arial"/>
              <a:buChar char="•"/>
            </a:pPr>
            <a:r>
              <a:rPr lang="en-US" sz="3200">
                <a:solidFill>
                  <a:srgbClr val="313131"/>
                </a:solidFill>
                <a:latin typeface="NVIDIA Sans"/>
                <a:cs typeface="NVIDIA Sans"/>
              </a:rPr>
              <a:t>Loops and branches in general</a:t>
            </a:r>
          </a:p>
          <a:p>
            <a:pPr marL="285750" indent="-285750">
              <a:lnSpc>
                <a:spcPts val="3800"/>
              </a:lnSpc>
              <a:spcBef>
                <a:spcPts val="900"/>
              </a:spcBef>
              <a:buClr>
                <a:srgbClr val="B3261E"/>
              </a:buClr>
              <a:buFont typeface="Arial"/>
              <a:buChar char="•"/>
            </a:pPr>
            <a:r>
              <a:rPr lang="en-US" sz="3200">
                <a:solidFill>
                  <a:srgbClr val="313131"/>
                </a:solidFill>
                <a:latin typeface="NVIDIA Sans"/>
                <a:cs typeface="NVIDIA Sans"/>
              </a:rPr>
              <a:t>Calls between functions</a:t>
            </a:r>
          </a:p>
        </p:txBody>
      </p:sp>
      <p:sp>
        <p:nvSpPr>
          <p:cNvPr id="23" name="AgentLine">
            <a:extLst>
              <a:ext uri="{FF2B5EF4-FFF2-40B4-BE49-F238E27FC236}">
                <a16:creationId xmlns:a16="http://schemas.microsoft.com/office/drawing/2014/main" id="{68B8AB8C-A88F-2C40-8220-3FF81F010097}"/>
              </a:ext>
            </a:extLst>
          </p:cNvPr>
          <p:cNvSpPr txBox="1"/>
          <p:nvPr/>
        </p:nvSpPr>
        <p:spPr>
          <a:xfrm>
            <a:off x="1828800" y="18288000"/>
            <a:ext cx="32918400" cy="1397000"/>
          </a:xfrm>
          <a:prstGeom prst="rect">
            <a:avLst/>
          </a:prstGeom>
          <a:noFill/>
        </p:spPr>
        <p:txBody>
          <a:bodyPr vertOverflow="overflow" vert="horz" wrap="square" rtlCol="0" anchor="t">
            <a:noAutofit/>
          </a:bodyPr>
          <a:lstStyle/>
          <a:p>
            <a:pPr algn="l"/>
            <a:r>
              <a:rPr lang="en-US" sz="4200" b="1">
                <a:solidFill>
                  <a:srgbClr val="4A7C00"/>
                </a:solidFill>
                <a:latin typeface="NVIDIA Sans"/>
                <a:cs typeface="NVIDIA Sans"/>
              </a:rPr>
              <a:t>Closing these gaps is mechanical work: ideal for an AI agent.</a:t>
            </a:r>
          </a:p>
        </p:txBody>
      </p:sp>
      <p:sp>
        <p:nvSpPr>
          <p:cNvPr id="24" name="N5bg">
            <a:extLst>
              <a:ext uri="{FF2B5EF4-FFF2-40B4-BE49-F238E27FC236}">
                <a16:creationId xmlns:a16="http://schemas.microsoft.com/office/drawing/2014/main" id="{2E9C5F1F-F9DA-624D-AF01-D483757A1C82}"/>
              </a:ext>
            </a:extLst>
          </p:cNvPr>
          <p:cNvSpPr/>
          <p:nvPr/>
        </p:nvSpPr>
        <p:spPr>
          <a:xfrm>
            <a:off x="13017500" y="9398000"/>
            <a:ext cx="10541000" cy="3683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N5n">
            <a:extLst>
              <a:ext uri="{FF2B5EF4-FFF2-40B4-BE49-F238E27FC236}">
                <a16:creationId xmlns:a16="http://schemas.microsoft.com/office/drawing/2014/main" id="{420AEC50-B282-AE4C-9A26-C6266BD31FE1}"/>
              </a:ext>
            </a:extLst>
          </p:cNvPr>
          <p:cNvSpPr txBox="1"/>
          <p:nvPr/>
        </p:nvSpPr>
        <p:spPr>
          <a:xfrm>
            <a:off x="13474700" y="9753600"/>
            <a:ext cx="9626600" cy="1524000"/>
          </a:xfrm>
          <a:prstGeom prst="rect">
            <a:avLst/>
          </a:prstGeom>
          <a:noFill/>
        </p:spPr>
        <p:txBody>
          <a:bodyPr vertOverflow="overflow" vert="horz" wrap="square" rtlCol="0" anchor="t">
            <a:noAutofit/>
          </a:bodyPr>
          <a:lstStyle/>
          <a:p>
            <a:pPr algn="l"/>
            <a:r>
              <a:rPr lang="en-US" sz="8800" b="1">
                <a:latin typeface="NVIDIA Sans"/>
                <a:cs typeface="NVIDIA Sans"/>
              </a:rPr>
              <a:t>33,549</a:t>
            </a:r>
          </a:p>
        </p:txBody>
      </p:sp>
      <p:sp>
        <p:nvSpPr>
          <p:cNvPr id="26" name="N5c">
            <a:extLst>
              <a:ext uri="{FF2B5EF4-FFF2-40B4-BE49-F238E27FC236}">
                <a16:creationId xmlns:a16="http://schemas.microsoft.com/office/drawing/2014/main" id="{F3B9E9CF-D6EA-E748-852C-86C053D0B781}"/>
              </a:ext>
            </a:extLst>
          </p:cNvPr>
          <p:cNvSpPr txBox="1"/>
          <p:nvPr/>
        </p:nvSpPr>
        <p:spPr>
          <a:xfrm>
            <a:off x="13474700" y="11404600"/>
            <a:ext cx="9626600" cy="1397000"/>
          </a:xfrm>
          <a:prstGeom prst="rect">
            <a:avLst/>
          </a:prstGeom>
          <a:noFill/>
        </p:spPr>
        <p:txBody>
          <a:bodyPr vertOverflow="overflow" vert="horz" wrap="square" rtlCol="0" anchor="t">
            <a:noAutofit/>
          </a:bodyPr>
          <a:lstStyle/>
          <a:p>
            <a:pPr algn="l"/>
            <a:r>
              <a:rPr lang="en-US" sz="3000">
                <a:solidFill>
                  <a:srgbClr val="313131"/>
                </a:solidFill>
                <a:latin typeface="NVIDIA Sans"/>
                <a:cs typeface="NVIDIA Sans"/>
              </a:rPr>
              <a:t>lines of Lean</a:t>
            </a:r>
          </a:p>
        </p:txBody>
      </p:sp>
      <p:sp>
        <p:nvSpPr>
          <p:cNvPr id="27" name="N6bg">
            <a:extLst>
              <a:ext uri="{FF2B5EF4-FFF2-40B4-BE49-F238E27FC236}">
                <a16:creationId xmlns:a16="http://schemas.microsoft.com/office/drawing/2014/main" id="{74A50DE1-73C8-3C4A-B824-1C809EA74943}"/>
              </a:ext>
            </a:extLst>
          </p:cNvPr>
          <p:cNvSpPr/>
          <p:nvPr/>
        </p:nvSpPr>
        <p:spPr>
          <a:xfrm>
            <a:off x="24206200" y="9398000"/>
            <a:ext cx="10541000" cy="3683000"/>
          </a:xfrm>
          <a:prstGeom prst="rect">
            <a:avLst/>
          </a:prstGeom>
          <a:solidFill>
            <a:srgbClr val="F7F7F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N6n">
            <a:extLst>
              <a:ext uri="{FF2B5EF4-FFF2-40B4-BE49-F238E27FC236}">
                <a16:creationId xmlns:a16="http://schemas.microsoft.com/office/drawing/2014/main" id="{F1A85B6C-03AE-BC41-AE77-FF2F9C02F5E4}"/>
              </a:ext>
            </a:extLst>
          </p:cNvPr>
          <p:cNvSpPr txBox="1"/>
          <p:nvPr/>
        </p:nvSpPr>
        <p:spPr>
          <a:xfrm>
            <a:off x="24663400" y="9753600"/>
            <a:ext cx="9626600" cy="1524000"/>
          </a:xfrm>
          <a:prstGeom prst="rect">
            <a:avLst/>
          </a:prstGeom>
          <a:noFill/>
        </p:spPr>
        <p:txBody>
          <a:bodyPr vertOverflow="overflow" vert="horz" wrap="square" rtlCol="0" anchor="t">
            <a:noAutofit/>
          </a:bodyPr>
          <a:lstStyle/>
          <a:p>
            <a:pPr algn="l"/>
            <a:r>
              <a:rPr lang="en-US" sz="8800" b="1">
                <a:latin typeface="NVIDIA Sans"/>
                <a:cs typeface="NVIDIA Sans"/>
              </a:rPr>
              <a:t>&lt; 15 min</a:t>
            </a:r>
          </a:p>
        </p:txBody>
      </p:sp>
      <p:sp>
        <p:nvSpPr>
          <p:cNvPr id="29" name="N6c">
            <a:extLst>
              <a:ext uri="{FF2B5EF4-FFF2-40B4-BE49-F238E27FC236}">
                <a16:creationId xmlns:a16="http://schemas.microsoft.com/office/drawing/2014/main" id="{34F6EF74-61D8-784D-97BA-9C8F2F5AE760}"/>
              </a:ext>
            </a:extLst>
          </p:cNvPr>
          <p:cNvSpPr txBox="1"/>
          <p:nvPr/>
        </p:nvSpPr>
        <p:spPr>
          <a:xfrm>
            <a:off x="24663400" y="11404600"/>
            <a:ext cx="9626600" cy="1397000"/>
          </a:xfrm>
          <a:prstGeom prst="rect">
            <a:avLst/>
          </a:prstGeom>
          <a:noFill/>
        </p:spPr>
        <p:txBody>
          <a:bodyPr vertOverflow="overflow" vert="horz" wrap="square" rtlCol="0" anchor="t">
            <a:noAutofit/>
          </a:bodyPr>
          <a:lstStyle/>
          <a:p>
            <a:pPr algn="l"/>
            <a:r>
              <a:rPr lang="en-US" sz="3000">
                <a:solidFill>
                  <a:srgbClr val="313131"/>
                </a:solidFill>
                <a:latin typeface="NVIDIA Sans"/>
                <a:cs typeface="NVIDIA Sans"/>
              </a:rPr>
              <a:t>to re-verify the whole project from scratch</a:t>
            </a:r>
          </a:p>
        </p:txBody>
      </p:sp>
    </p:spTree>
    <p:extLst>
      <p:ext uri="{BB962C8B-B14F-4D97-AF65-F5344CB8AC3E}">
        <p14:creationId xmlns:p14="http://schemas.microsoft.com/office/powerpoint/2010/main" val="26409999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3">
          <a:extLst>
            <a:ext uri="{FF2B5EF4-FFF2-40B4-BE49-F238E27FC236}">
              <a16:creationId xmlns:a16="http://schemas.microsoft.com/office/drawing/2014/main" id="{706DF767-4DFB-CD11-7677-22AF1263345F}"/>
            </a:ext>
          </a:extLst>
        </p:cNvPr>
        <p:cNvGrpSpPr/>
        <p:nvPr/>
      </p:nvGrpSpPr>
      <p:grpSpPr>
        <a:xfrm>
          <a:off x="0" y="0"/>
          <a:ext cx="0" cy="0"/>
          <a:chOff x="0" y="0"/>
          <a:chExt cx="0" cy="0"/>
        </a:xfrm>
      </p:grpSpPr>
      <p:sp>
        <p:nvSpPr>
          <p:cNvPr id="694" name="Google Shape;694;p59">
            <a:extLst>
              <a:ext uri="{FF2B5EF4-FFF2-40B4-BE49-F238E27FC236}">
                <a16:creationId xmlns:a16="http://schemas.microsoft.com/office/drawing/2014/main" id="{B4F33CD0-03EB-FC7B-B36C-BD7F1B7B27E7}"/>
              </a:ext>
            </a:extLst>
          </p:cNvPr>
          <p:cNvSpPr txBox="1">
            <a:spLocks noGrp="1"/>
          </p:cNvSpPr>
          <p:nvPr>
            <p:ph type="body" idx="1"/>
          </p:nvPr>
        </p:nvSpPr>
        <p:spPr>
          <a:xfrm>
            <a:off x="18059400" y="2470666"/>
            <a:ext cx="16687800" cy="3416400"/>
          </a:xfrm>
          <a:prstGeom prst="rect">
            <a:avLst/>
          </a:prstGeom>
          <a:noFill/>
          <a:ln>
            <a:noFill/>
          </a:ln>
        </p:spPr>
        <p:txBody>
          <a:bodyPr spcFirstLastPara="1" wrap="square" lIns="0" tIns="45700" rIns="0" bIns="45700" anchor="ctr" anchorCtr="0">
            <a:noAutofit/>
          </a:bodyPr>
          <a:lstStyle/>
          <a:p>
            <a:pPr marL="0" lvl="0" indent="0" algn="l" rtl="0">
              <a:spcBef>
                <a:spcPts val="0"/>
              </a:spcBef>
              <a:spcAft>
                <a:spcPts val="0"/>
              </a:spcAft>
              <a:buSzPts val="12000"/>
              <a:buNone/>
            </a:pPr>
            <a:r>
              <a:rPr lang="en-US"/>
              <a:t>CUTLASSPy</a:t>
            </a:r>
            <a:endParaRPr/>
          </a:p>
        </p:txBody>
      </p:sp>
    </p:spTree>
    <p:extLst>
      <p:ext uri="{BB962C8B-B14F-4D97-AF65-F5344CB8AC3E}">
        <p14:creationId xmlns:p14="http://schemas.microsoft.com/office/powerpoint/2010/main" val="1079013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32DB0-1C18-45B8-9A48-7EE0720FF6B7}"/>
            </a:ext>
          </a:extLst>
        </p:cNvPr>
        <p:cNvGrpSpPr/>
        <p:nvPr/>
      </p:nvGrpSpPr>
      <p:grpSpPr>
        <a:xfrm>
          <a:off x="0" y="0"/>
          <a:ext cx="0" cy="0"/>
          <a:chOff x="0" y="0"/>
          <a:chExt cx="0" cy="0"/>
        </a:xfrm>
      </p:grpSpPr>
      <p:sp>
        <p:nvSpPr>
          <p:cNvPr id="2" name="StepTx">
            <a:extLst>
              <a:ext uri="{FF2B5EF4-FFF2-40B4-BE49-F238E27FC236}">
                <a16:creationId xmlns:a16="http://schemas.microsoft.com/office/drawing/2014/main" id="{698CF311-C5F1-7739-35CF-12097C351065}"/>
              </a:ext>
            </a:extLst>
          </p:cNvPr>
          <p:cNvSpPr txBox="1"/>
          <p:nvPr/>
        </p:nvSpPr>
        <p:spPr>
          <a:xfrm>
            <a:off x="1828800" y="965200"/>
            <a:ext cx="6350000" cy="889000"/>
          </a:xfrm>
          <a:prstGeom prst="rect">
            <a:avLst/>
          </a:prstGeom>
          <a:noFill/>
        </p:spPr>
        <p:txBody>
          <a:bodyPr vertOverflow="overflow" vert="horz" wrap="square" rtlCol="0" anchor="t">
            <a:noAutofit/>
          </a:bodyPr>
          <a:lstStyle/>
          <a:p>
            <a:pPr algn="l"/>
            <a:r>
              <a:rPr lang="en-US" sz="4000" b="1">
                <a:solidFill>
                  <a:srgbClr val="757575"/>
                </a:solidFill>
                <a:latin typeface="NVIDIA Sans"/>
                <a:cs typeface="NVIDIA Sans"/>
              </a:rPr>
              <a:t>MOTIVATION</a:t>
            </a:r>
          </a:p>
        </p:txBody>
      </p:sp>
      <p:sp>
        <p:nvSpPr>
          <p:cNvPr id="3" name="TitleTx">
            <a:extLst>
              <a:ext uri="{FF2B5EF4-FFF2-40B4-BE49-F238E27FC236}">
                <a16:creationId xmlns:a16="http://schemas.microsoft.com/office/drawing/2014/main" id="{E3510788-18D5-93FE-5762-0BE2A7972D8A}"/>
              </a:ext>
            </a:extLst>
          </p:cNvPr>
          <p:cNvSpPr txBox="1"/>
          <p:nvPr/>
        </p:nvSpPr>
        <p:spPr>
          <a:xfrm>
            <a:off x="1828800" y="1905000"/>
            <a:ext cx="32918400" cy="1905000"/>
          </a:xfrm>
          <a:prstGeom prst="rect">
            <a:avLst/>
          </a:prstGeom>
          <a:noFill/>
        </p:spPr>
        <p:txBody>
          <a:bodyPr vertOverflow="overflow" vert="horz" wrap="square" rtlCol="0" anchor="t">
            <a:noAutofit/>
          </a:bodyPr>
          <a:lstStyle/>
          <a:p>
            <a:pPr algn="l"/>
            <a:r>
              <a:rPr lang="en-US" sz="8800">
                <a:latin typeface="NVIDIA Sans Medium"/>
                <a:cs typeface="NVIDIA Sans Medium"/>
              </a:rPr>
              <a:t>From IR to Library</a:t>
            </a:r>
          </a:p>
        </p:txBody>
      </p:sp>
      <p:sp>
        <p:nvSpPr>
          <p:cNvPr id="4" name="SubTx">
            <a:extLst>
              <a:ext uri="{FF2B5EF4-FFF2-40B4-BE49-F238E27FC236}">
                <a16:creationId xmlns:a16="http://schemas.microsoft.com/office/drawing/2014/main" id="{36AC6C71-37DA-453D-1781-2F52165F1A92}"/>
              </a:ext>
            </a:extLst>
          </p:cNvPr>
          <p:cNvSpPr txBox="1"/>
          <p:nvPr/>
        </p:nvSpPr>
        <p:spPr>
          <a:xfrm>
            <a:off x="1828800" y="3810000"/>
            <a:ext cx="32918400" cy="1270000"/>
          </a:xfrm>
          <a:prstGeom prst="rect">
            <a:avLst/>
          </a:prstGeom>
          <a:noFill/>
        </p:spPr>
        <p:txBody>
          <a:bodyPr vertOverflow="overflow" vert="horz" wrap="square" rtlCol="0" anchor="t">
            <a:noAutofit/>
          </a:bodyPr>
          <a:lstStyle/>
          <a:p>
            <a:pPr algn="l"/>
            <a:r>
              <a:rPr lang="en-US" sz="4000">
                <a:solidFill>
                  <a:srgbClr val="757575"/>
                </a:solidFill>
                <a:latin typeface="NVIDIA Sans"/>
                <a:cs typeface="NVIDIA Sans"/>
              </a:rPr>
              <a:t>The same metaprogramming design, moved out of the compiler and into a Python library.</a:t>
            </a:r>
          </a:p>
        </p:txBody>
      </p:sp>
      <p:sp>
        <p:nvSpPr>
          <p:cNvPr id="20" name="R1l">
            <a:extLst>
              <a:ext uri="{FF2B5EF4-FFF2-40B4-BE49-F238E27FC236}">
                <a16:creationId xmlns:a16="http://schemas.microsoft.com/office/drawing/2014/main" id="{42EB4460-104C-F745-A0C1-77ED661382A9}"/>
              </a:ext>
            </a:extLst>
          </p:cNvPr>
          <p:cNvSpPr txBox="1"/>
          <p:nvPr/>
        </p:nvSpPr>
        <p:spPr>
          <a:xfrm>
            <a:off x="1828800" y="7620000"/>
            <a:ext cx="32918400" cy="812800"/>
          </a:xfrm>
          <a:prstGeom prst="rect">
            <a:avLst/>
          </a:prstGeom>
          <a:noFill/>
        </p:spPr>
        <p:txBody>
          <a:bodyPr vertOverflow="overflow" vert="horz" wrap="square" rtlCol="0" anchor="t">
            <a:noAutofit/>
          </a:bodyPr>
          <a:lstStyle/>
          <a:p>
            <a:pPr algn="l"/>
            <a:r>
              <a:rPr lang="en-US" sz="4600" b="1">
                <a:solidFill>
                  <a:srgbClr val="313131"/>
                </a:solidFill>
                <a:latin typeface="NVIDIA Sans"/>
                <a:cs typeface="NVIDIA Sans"/>
              </a:rPr>
              <a:t>The problem</a:t>
            </a:r>
          </a:p>
        </p:txBody>
      </p:sp>
      <p:sp>
        <p:nvSpPr>
          <p:cNvPr id="21" name="R1b">
            <a:extLst>
              <a:ext uri="{FF2B5EF4-FFF2-40B4-BE49-F238E27FC236}">
                <a16:creationId xmlns:a16="http://schemas.microsoft.com/office/drawing/2014/main" id="{3C76FDD7-E8FF-24B8-A9FF-64970F24C3B4}"/>
              </a:ext>
            </a:extLst>
          </p:cNvPr>
          <p:cNvSpPr txBox="1"/>
          <p:nvPr/>
        </p:nvSpPr>
        <p:spPr>
          <a:xfrm>
            <a:off x="1828800" y="8534400"/>
            <a:ext cx="32918400" cy="2032000"/>
          </a:xfrm>
          <a:prstGeom prst="rect">
            <a:avLst/>
          </a:prstGeom>
          <a:noFill/>
        </p:spPr>
        <p:txBody>
          <a:bodyPr vertOverflow="overflow" vert="horz" wrap="square" rtlCol="0" anchor="t">
            <a:noAutofit/>
          </a:bodyPr>
          <a:lstStyle/>
          <a:p>
            <a:pPr algn="l"/>
            <a:r>
              <a:rPr lang="en-US" sz="4000">
                <a:solidFill>
                  <a:srgbClr val="313131"/>
                </a:solidFill>
                <a:latin typeface="NVIDIA Sans"/>
                <a:cs typeface="NVIDIA Sans"/>
              </a:rPr>
              <a:t>A new programming model or optimization meant new dialects and passes across the whole IR stack.</a:t>
            </a:r>
          </a:p>
        </p:txBody>
      </p:sp>
      <p:sp>
        <p:nvSpPr>
          <p:cNvPr id="24" name="R2l">
            <a:extLst>
              <a:ext uri="{FF2B5EF4-FFF2-40B4-BE49-F238E27FC236}">
                <a16:creationId xmlns:a16="http://schemas.microsoft.com/office/drawing/2014/main" id="{69C22D13-E8F3-45CB-E40D-B22A8E321AF2}"/>
              </a:ext>
            </a:extLst>
          </p:cNvPr>
          <p:cNvSpPr txBox="1"/>
          <p:nvPr/>
        </p:nvSpPr>
        <p:spPr>
          <a:xfrm>
            <a:off x="1828800" y="10795000"/>
            <a:ext cx="32918400" cy="812800"/>
          </a:xfrm>
          <a:prstGeom prst="rect">
            <a:avLst/>
          </a:prstGeom>
          <a:noFill/>
        </p:spPr>
        <p:txBody>
          <a:bodyPr vertOverflow="overflow" vert="horz" wrap="square" rtlCol="0" anchor="t">
            <a:noAutofit/>
          </a:bodyPr>
          <a:lstStyle/>
          <a:p>
            <a:pPr algn="l"/>
            <a:r>
              <a:rPr lang="en-US" sz="4600" b="1">
                <a:solidFill>
                  <a:srgbClr val="313131"/>
                </a:solidFill>
                <a:latin typeface="NVIDIA Sans"/>
                <a:cs typeface="NVIDIA Sans"/>
              </a:rPr>
              <a:t>libcute</a:t>
            </a:r>
          </a:p>
        </p:txBody>
      </p:sp>
      <p:sp>
        <p:nvSpPr>
          <p:cNvPr id="25" name="R2b">
            <a:extLst>
              <a:ext uri="{FF2B5EF4-FFF2-40B4-BE49-F238E27FC236}">
                <a16:creationId xmlns:a16="http://schemas.microsoft.com/office/drawing/2014/main" id="{BC687DAC-7200-577D-ADFA-DB06D12BE409}"/>
              </a:ext>
            </a:extLst>
          </p:cNvPr>
          <p:cNvSpPr txBox="1"/>
          <p:nvPr/>
        </p:nvSpPr>
        <p:spPr>
          <a:xfrm>
            <a:off x="1828800" y="11709400"/>
            <a:ext cx="32918400" cy="2032000"/>
          </a:xfrm>
          <a:prstGeom prst="rect">
            <a:avLst/>
          </a:prstGeom>
          <a:noFill/>
        </p:spPr>
        <p:txBody>
          <a:bodyPr vertOverflow="overflow" vert="horz" wrap="square" rtlCol="0" anchor="t">
            <a:noAutofit/>
          </a:bodyPr>
          <a:lstStyle/>
          <a:p>
            <a:pPr algn="l"/>
            <a:r>
              <a:rPr lang="en-US" sz="4000">
                <a:solidFill>
                  <a:srgbClr val="313131"/>
                </a:solidFill>
                <a:latin typeface="NVIDIA Sans"/>
                <a:cs typeface="NVIDIA Sans"/>
              </a:rPr>
              <a:t>Proof it can be a library instead, with no compiler work: Feynman architecture only.</a:t>
            </a:r>
          </a:p>
        </p:txBody>
      </p:sp>
      <p:sp>
        <p:nvSpPr>
          <p:cNvPr id="28" name="R3l">
            <a:extLst>
              <a:ext uri="{FF2B5EF4-FFF2-40B4-BE49-F238E27FC236}">
                <a16:creationId xmlns:a16="http://schemas.microsoft.com/office/drawing/2014/main" id="{F09B2A5D-9420-2E65-56BD-050F02375B5F}"/>
              </a:ext>
            </a:extLst>
          </p:cNvPr>
          <p:cNvSpPr txBox="1"/>
          <p:nvPr/>
        </p:nvSpPr>
        <p:spPr>
          <a:xfrm>
            <a:off x="1828800" y="13970000"/>
            <a:ext cx="32918400" cy="812800"/>
          </a:xfrm>
          <a:prstGeom prst="rect">
            <a:avLst/>
          </a:prstGeom>
          <a:noFill/>
        </p:spPr>
        <p:txBody>
          <a:bodyPr vertOverflow="overflow" vert="horz" wrap="square" rtlCol="0" anchor="t">
            <a:noAutofit/>
          </a:bodyPr>
          <a:lstStyle/>
          <a:p>
            <a:pPr algn="l"/>
            <a:r>
              <a:rPr lang="en-US" sz="4600" b="1">
                <a:solidFill>
                  <a:srgbClr val="313131"/>
                </a:solidFill>
                <a:latin typeface="NVIDIA Sans"/>
                <a:cs typeface="NVIDIA Sans"/>
              </a:rPr>
              <a:t>CUTLASS C++</a:t>
            </a:r>
          </a:p>
        </p:txBody>
      </p:sp>
      <p:sp>
        <p:nvSpPr>
          <p:cNvPr id="29" name="R3b">
            <a:extLst>
              <a:ext uri="{FF2B5EF4-FFF2-40B4-BE49-F238E27FC236}">
                <a16:creationId xmlns:a16="http://schemas.microsoft.com/office/drawing/2014/main" id="{FC9725B8-CF67-DE67-4645-3F63A9F71358}"/>
              </a:ext>
            </a:extLst>
          </p:cNvPr>
          <p:cNvSpPr txBox="1"/>
          <p:nvPr/>
        </p:nvSpPr>
        <p:spPr>
          <a:xfrm>
            <a:off x="1828800" y="14884400"/>
            <a:ext cx="32918400" cy="2032000"/>
          </a:xfrm>
          <a:prstGeom prst="rect">
            <a:avLst/>
          </a:prstGeom>
          <a:noFill/>
        </p:spPr>
        <p:txBody>
          <a:bodyPr vertOverflow="overflow" vert="horz" wrap="square" rtlCol="0" anchor="t">
            <a:noAutofit/>
          </a:bodyPr>
          <a:lstStyle/>
          <a:p>
            <a:pPr algn="l"/>
            <a:r>
              <a:rPr lang="en-US" sz="4000">
                <a:solidFill>
                  <a:srgbClr val="313131"/>
                </a:solidFill>
                <a:latin typeface="NVIDIA Sans"/>
                <a:cs typeface="NVIDIA Sans"/>
              </a:rPr>
              <a:t>Right design, but template metaprogramming is hard and compile times are long.</a:t>
            </a:r>
          </a:p>
        </p:txBody>
      </p:sp>
      <p:sp>
        <p:nvSpPr>
          <p:cNvPr id="32" name="R4l">
            <a:extLst>
              <a:ext uri="{FF2B5EF4-FFF2-40B4-BE49-F238E27FC236}">
                <a16:creationId xmlns:a16="http://schemas.microsoft.com/office/drawing/2014/main" id="{1675A3CE-80C6-BF91-4C65-BCE812FB6EAF}"/>
              </a:ext>
            </a:extLst>
          </p:cNvPr>
          <p:cNvSpPr txBox="1"/>
          <p:nvPr/>
        </p:nvSpPr>
        <p:spPr>
          <a:xfrm>
            <a:off x="1828800" y="17145000"/>
            <a:ext cx="32918400" cy="812800"/>
          </a:xfrm>
          <a:prstGeom prst="rect">
            <a:avLst/>
          </a:prstGeom>
          <a:noFill/>
        </p:spPr>
        <p:txBody>
          <a:bodyPr vertOverflow="overflow" vert="horz" wrap="square" rtlCol="0" anchor="t">
            <a:noAutofit/>
          </a:bodyPr>
          <a:lstStyle/>
          <a:p>
            <a:pPr algn="l"/>
            <a:r>
              <a:rPr lang="en-US" sz="4600" b="1">
                <a:solidFill>
                  <a:srgbClr val="313131"/>
                </a:solidFill>
                <a:latin typeface="NVIDIA Sans"/>
                <a:cs typeface="NVIDIA Sans"/>
              </a:rPr>
              <a:t>Idea</a:t>
            </a:r>
          </a:p>
        </p:txBody>
      </p:sp>
      <p:sp>
        <p:nvSpPr>
          <p:cNvPr id="33" name="R4b">
            <a:extLst>
              <a:ext uri="{FF2B5EF4-FFF2-40B4-BE49-F238E27FC236}">
                <a16:creationId xmlns:a16="http://schemas.microsoft.com/office/drawing/2014/main" id="{3E4CAAA5-189D-AC0D-C2EB-F4D2D9F70284}"/>
              </a:ext>
            </a:extLst>
          </p:cNvPr>
          <p:cNvSpPr txBox="1"/>
          <p:nvPr/>
        </p:nvSpPr>
        <p:spPr>
          <a:xfrm>
            <a:off x="1828800" y="18059400"/>
            <a:ext cx="32918400" cy="2032000"/>
          </a:xfrm>
          <a:prstGeom prst="rect">
            <a:avLst/>
          </a:prstGeom>
          <a:noFill/>
        </p:spPr>
        <p:txBody>
          <a:bodyPr vertOverflow="overflow" vert="horz" wrap="square" rtlCol="0" anchor="t">
            <a:noAutofit/>
          </a:bodyPr>
          <a:lstStyle/>
          <a:p>
            <a:pPr algn="l"/>
            <a:r>
              <a:rPr lang="en-US" sz="4000">
                <a:solidFill>
                  <a:srgbClr val="313131"/>
                </a:solidFill>
                <a:latin typeface="NVIDIA Sans"/>
                <a:cs typeface="NVIDIA Sans"/>
              </a:rPr>
              <a:t>So bring the whole metaprogramming layer across, and let it read as clean Python.</a:t>
            </a:r>
          </a:p>
        </p:txBody>
      </p:sp>
      <p:sp>
        <p:nvSpPr>
          <p:cNvPr id="920" name="LeftHead">
            <a:extLst>
              <a:ext uri="{FF2B5EF4-FFF2-40B4-BE49-F238E27FC236}">
                <a16:creationId xmlns:a16="http://schemas.microsoft.com/office/drawing/2014/main" id="{8BF1F8D2-C662-3A3E-F8AB-D23EF289E157}"/>
              </a:ext>
            </a:extLst>
          </p:cNvPr>
          <p:cNvSpPr txBox="1"/>
          <p:nvPr/>
        </p:nvSpPr>
        <p:spPr>
          <a:xfrm>
            <a:off x="1828800" y="5969000"/>
            <a:ext cx="32918400" cy="762000"/>
          </a:xfrm>
          <a:prstGeom prst="rect">
            <a:avLst/>
          </a:prstGeom>
          <a:noFill/>
        </p:spPr>
        <p:txBody>
          <a:bodyPr wrap="square" lIns="0" tIns="0" rIns="0" bIns="0" anchor="t">
            <a:noAutofit/>
          </a:bodyPr>
          <a:lstStyle/>
          <a:p>
            <a:pPr algn="l">
              <a:buNone/>
            </a:pPr>
            <a:r>
              <a:rPr lang="en-US" sz="3000" b="1" spc="300">
                <a:solidFill>
                  <a:srgbClr val="757575"/>
                </a:solidFill>
                <a:latin typeface="NVIDIA Sans"/>
                <a:cs typeface="NVIDIA Sans"/>
              </a:rPr>
              <a:t>WHY THIS DESIGN</a:t>
            </a:r>
          </a:p>
        </p:txBody>
      </p:sp>
    </p:spTree>
    <p:extLst>
      <p:ext uri="{BB962C8B-B14F-4D97-AF65-F5344CB8AC3E}">
        <p14:creationId xmlns:p14="http://schemas.microsoft.com/office/powerpoint/2010/main" val="236104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0"/>
                                        </p:tgtEl>
                                        <p:attrNameLst>
                                          <p:attrName>style.visibility</p:attrName>
                                        </p:attrNameLst>
                                      </p:cBhvr>
                                      <p:to>
                                        <p:strVal val="visible"/>
                                      </p:to>
                                    </p:set>
                                    <p:animEffect transition="in" filter="fade">
                                      <p:cBhvr>
                                        <p:cTn id="7" dur="500"/>
                                        <p:tgtEl>
                                          <p:spTgt spid="9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4" grpId="0"/>
      <p:bldP spid="25" grpId="0"/>
      <p:bldP spid="28" grpId="0"/>
      <p:bldP spid="29" grpId="0"/>
      <p:bldP spid="32" grpId="0"/>
      <p:bldP spid="33" grpId="0"/>
      <p:bldP spid="9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32DB0-1C18-45B8-9A48-7EE0720FF6B7}"/>
            </a:ext>
          </a:extLst>
        </p:cNvPr>
        <p:cNvGrpSpPr/>
        <p:nvPr/>
      </p:nvGrpSpPr>
      <p:grpSpPr>
        <a:xfrm>
          <a:off x="0" y="0"/>
          <a:ext cx="0" cy="0"/>
          <a:chOff x="0" y="0"/>
          <a:chExt cx="0" cy="0"/>
        </a:xfrm>
      </p:grpSpPr>
      <p:sp>
        <p:nvSpPr>
          <p:cNvPr id="2" name="StepTx">
            <a:extLst>
              <a:ext uri="{FF2B5EF4-FFF2-40B4-BE49-F238E27FC236}">
                <a16:creationId xmlns:a16="http://schemas.microsoft.com/office/drawing/2014/main" id="{698CF311-C5F1-7739-35CF-12097C351065}"/>
              </a:ext>
            </a:extLst>
          </p:cNvPr>
          <p:cNvSpPr txBox="1"/>
          <p:nvPr/>
        </p:nvSpPr>
        <p:spPr>
          <a:xfrm>
            <a:off x="1828800" y="965200"/>
            <a:ext cx="6350000" cy="889000"/>
          </a:xfrm>
          <a:prstGeom prst="rect">
            <a:avLst/>
          </a:prstGeom>
          <a:noFill/>
        </p:spPr>
        <p:txBody>
          <a:bodyPr vertOverflow="overflow" vert="horz" wrap="square" rtlCol="0" anchor="t">
            <a:noAutofit/>
          </a:bodyPr>
          <a:lstStyle/>
          <a:p>
            <a:pPr algn="l"/>
            <a:r>
              <a:rPr lang="en-US" sz="4000" b="1">
                <a:solidFill>
                  <a:srgbClr val="757575"/>
                </a:solidFill>
                <a:latin typeface="NVIDIA Sans"/>
                <a:cs typeface="NVIDIA Sans"/>
              </a:rPr>
              <a:t>COMPOSITION</a:t>
            </a:r>
          </a:p>
        </p:txBody>
      </p:sp>
      <p:sp>
        <p:nvSpPr>
          <p:cNvPr id="3" name="TitleTx">
            <a:extLst>
              <a:ext uri="{FF2B5EF4-FFF2-40B4-BE49-F238E27FC236}">
                <a16:creationId xmlns:a16="http://schemas.microsoft.com/office/drawing/2014/main" id="{E3510788-18D5-93FE-5762-0BE2A7972D8A}"/>
              </a:ext>
            </a:extLst>
          </p:cNvPr>
          <p:cNvSpPr txBox="1"/>
          <p:nvPr/>
        </p:nvSpPr>
        <p:spPr>
          <a:xfrm>
            <a:off x="1828800" y="1905000"/>
            <a:ext cx="32918400" cy="1905000"/>
          </a:xfrm>
          <a:prstGeom prst="rect">
            <a:avLst/>
          </a:prstGeom>
          <a:noFill/>
        </p:spPr>
        <p:txBody>
          <a:bodyPr vertOverflow="overflow" vert="horz" wrap="square" rtlCol="0" anchor="t">
            <a:noAutofit/>
          </a:bodyPr>
          <a:lstStyle/>
          <a:p>
            <a:pPr algn="l"/>
            <a:r>
              <a:rPr lang="en-US" sz="8800">
                <a:latin typeface="NVIDIA Sans Medium"/>
                <a:cs typeface="NVIDIA Sans Medium"/>
              </a:rPr>
              <a:t>What </a:t>
            </a:r>
            <a:r>
              <a:rPr lang="en-US" sz="8800" err="1">
                <a:latin typeface="NVIDIA Sans Medium"/>
                <a:cs typeface="NVIDIA Sans Medium"/>
              </a:rPr>
              <a:t>CUTLASSPy</a:t>
            </a:r>
            <a:r>
              <a:rPr lang="en-US" sz="8800">
                <a:latin typeface="NVIDIA Sans Medium"/>
                <a:cs typeface="NVIDIA Sans Medium"/>
              </a:rPr>
              <a:t> Is Built On</a:t>
            </a:r>
          </a:p>
        </p:txBody>
      </p:sp>
      <p:sp>
        <p:nvSpPr>
          <p:cNvPr id="4" name="SubTx">
            <a:extLst>
              <a:ext uri="{FF2B5EF4-FFF2-40B4-BE49-F238E27FC236}">
                <a16:creationId xmlns:a16="http://schemas.microsoft.com/office/drawing/2014/main" id="{36AC6C71-37DA-453D-1781-2F52165F1A92}"/>
              </a:ext>
            </a:extLst>
          </p:cNvPr>
          <p:cNvSpPr txBox="1"/>
          <p:nvPr/>
        </p:nvSpPr>
        <p:spPr>
          <a:xfrm>
            <a:off x="1828800" y="3810000"/>
            <a:ext cx="32918400" cy="1270000"/>
          </a:xfrm>
          <a:prstGeom prst="rect">
            <a:avLst/>
          </a:prstGeom>
          <a:noFill/>
        </p:spPr>
        <p:txBody>
          <a:bodyPr vertOverflow="overflow" vert="horz" wrap="square" rtlCol="0" anchor="t">
            <a:noAutofit/>
          </a:bodyPr>
          <a:lstStyle/>
          <a:p>
            <a:pPr algn="l"/>
            <a:r>
              <a:rPr lang="en-US" sz="4000">
                <a:solidFill>
                  <a:srgbClr val="757575"/>
                </a:solidFill>
                <a:latin typeface="NVIDIA Sans"/>
                <a:cs typeface="NVIDIA Sans"/>
              </a:rPr>
              <a:t>Four existing pieces, carried across with no compiler work.</a:t>
            </a:r>
          </a:p>
        </p:txBody>
      </p:sp>
      <p:sp>
        <p:nvSpPr>
          <p:cNvPr id="702" name="Label 0">
            <a:extLst>
              <a:ext uri="{FF2B5EF4-FFF2-40B4-BE49-F238E27FC236}">
                <a16:creationId xmlns:a16="http://schemas.microsoft.com/office/drawing/2014/main" id="{57CA4151-8F07-B4B3-403B-FD0DA67D16A3}"/>
              </a:ext>
            </a:extLst>
          </p:cNvPr>
          <p:cNvSpPr txBox="1"/>
          <p:nvPr/>
        </p:nvSpPr>
        <p:spPr>
          <a:xfrm>
            <a:off x="1828800" y="7620000"/>
            <a:ext cx="32918400" cy="812800"/>
          </a:xfrm>
          <a:prstGeom prst="rect">
            <a:avLst/>
          </a:prstGeom>
          <a:noFill/>
        </p:spPr>
        <p:txBody>
          <a:bodyPr wrap="square" lIns="0" tIns="0" rIns="0" bIns="0" anchor="t">
            <a:noAutofit/>
          </a:bodyPr>
          <a:lstStyle/>
          <a:p>
            <a:pPr>
              <a:lnSpc>
                <a:spcPts val="4600"/>
              </a:lnSpc>
              <a:spcBef>
                <a:spcPts val="0"/>
              </a:spcBef>
              <a:buNone/>
            </a:pPr>
            <a:r>
              <a:rPr lang="en-US" sz="4000" b="1">
                <a:solidFill>
                  <a:srgbClr val="000000"/>
                </a:solidFill>
                <a:latin typeface="NVIDIA Sans"/>
                <a:cs typeface="NVIDIA Sans"/>
              </a:rPr>
              <a:t>PyCuTe</a:t>
            </a:r>
          </a:p>
        </p:txBody>
      </p:sp>
      <p:sp>
        <p:nvSpPr>
          <p:cNvPr id="703" name="Desc 0">
            <a:extLst>
              <a:ext uri="{FF2B5EF4-FFF2-40B4-BE49-F238E27FC236}">
                <a16:creationId xmlns:a16="http://schemas.microsoft.com/office/drawing/2014/main" id="{1015706F-991D-B3D2-8892-D597F5D4435F}"/>
              </a:ext>
            </a:extLst>
          </p:cNvPr>
          <p:cNvSpPr txBox="1"/>
          <p:nvPr/>
        </p:nvSpPr>
        <p:spPr>
          <a:xfrm>
            <a:off x="1828800" y="8534400"/>
            <a:ext cx="32918400" cy="2032000"/>
          </a:xfrm>
          <a:prstGeom prst="rect">
            <a:avLst/>
          </a:prstGeom>
          <a:noFill/>
        </p:spPr>
        <p:txBody>
          <a:bodyPr wrap="square" lIns="0" tIns="0" rIns="0" bIns="0" anchor="t">
            <a:noAutofit/>
          </a:bodyPr>
          <a:lstStyle/>
          <a:p>
            <a:pPr>
              <a:lnSpc>
                <a:spcPts val="4600"/>
              </a:lnSpc>
              <a:spcBef>
                <a:spcPts val="0"/>
              </a:spcBef>
              <a:buNone/>
            </a:pPr>
            <a:r>
              <a:rPr lang="en-US" sz="4000">
                <a:solidFill>
                  <a:srgbClr val="313131"/>
                </a:solidFill>
                <a:latin typeface="NVIDIA Sans"/>
                <a:cs typeface="NVIDIA Sans"/>
              </a:rPr>
              <a:t>CuTe's algebra of layouts and tilings, in Python, </a:t>
            </a:r>
            <a:r>
              <a:rPr lang="en-US" sz="4000" i="1">
                <a:solidFill>
                  <a:srgbClr val="313131"/>
                </a:solidFill>
                <a:latin typeface="NVIDIA Sans"/>
                <a:cs typeface="NVIDIA Sans"/>
              </a:rPr>
              <a:t>unmodified</a:t>
            </a:r>
          </a:p>
        </p:txBody>
      </p:sp>
      <p:sp>
        <p:nvSpPr>
          <p:cNvPr id="706" name="Label 1">
            <a:extLst>
              <a:ext uri="{FF2B5EF4-FFF2-40B4-BE49-F238E27FC236}">
                <a16:creationId xmlns:a16="http://schemas.microsoft.com/office/drawing/2014/main" id="{278B8834-68D7-87E6-D97E-98C08001FD38}"/>
              </a:ext>
            </a:extLst>
          </p:cNvPr>
          <p:cNvSpPr txBox="1"/>
          <p:nvPr/>
        </p:nvSpPr>
        <p:spPr>
          <a:xfrm>
            <a:off x="1828800" y="10795000"/>
            <a:ext cx="32918400" cy="812800"/>
          </a:xfrm>
          <a:prstGeom prst="rect">
            <a:avLst/>
          </a:prstGeom>
          <a:noFill/>
        </p:spPr>
        <p:txBody>
          <a:bodyPr wrap="square" lIns="0" tIns="0" rIns="0" bIns="0" anchor="t">
            <a:noAutofit/>
          </a:bodyPr>
          <a:lstStyle/>
          <a:p>
            <a:pPr>
              <a:lnSpc>
                <a:spcPts val="4600"/>
              </a:lnSpc>
              <a:spcBef>
                <a:spcPts val="0"/>
              </a:spcBef>
              <a:buNone/>
            </a:pPr>
            <a:r>
              <a:rPr lang="en-US" sz="4000" b="1" err="1">
                <a:solidFill>
                  <a:srgbClr val="000000"/>
                </a:solidFill>
                <a:latin typeface="NVIDIA Sans"/>
                <a:cs typeface="NVIDIA Sans"/>
              </a:rPr>
              <a:t>DkgDSL</a:t>
            </a:r>
            <a:r>
              <a:rPr lang="en-US" sz="4000" b="1">
                <a:solidFill>
                  <a:srgbClr val="000000"/>
                </a:solidFill>
                <a:latin typeface="NVIDIA Sans"/>
                <a:cs typeface="NVIDIA Sans"/>
              </a:rPr>
              <a:t> v2.0</a:t>
            </a:r>
          </a:p>
        </p:txBody>
      </p:sp>
      <p:sp>
        <p:nvSpPr>
          <p:cNvPr id="707" name="Desc 1">
            <a:extLst>
              <a:ext uri="{FF2B5EF4-FFF2-40B4-BE49-F238E27FC236}">
                <a16:creationId xmlns:a16="http://schemas.microsoft.com/office/drawing/2014/main" id="{58C8BB43-5EBB-BB3E-BFE8-5E47099697B5}"/>
              </a:ext>
            </a:extLst>
          </p:cNvPr>
          <p:cNvSpPr txBox="1"/>
          <p:nvPr/>
        </p:nvSpPr>
        <p:spPr>
          <a:xfrm>
            <a:off x="1828800" y="11709400"/>
            <a:ext cx="32918400" cy="2032000"/>
          </a:xfrm>
          <a:prstGeom prst="rect">
            <a:avLst/>
          </a:prstGeom>
          <a:noFill/>
        </p:spPr>
        <p:txBody>
          <a:bodyPr wrap="square" lIns="0" tIns="0" rIns="0" bIns="0" anchor="t">
            <a:noAutofit/>
          </a:bodyPr>
          <a:lstStyle/>
          <a:p>
            <a:pPr>
              <a:lnSpc>
                <a:spcPts val="4600"/>
              </a:lnSpc>
              <a:spcBef>
                <a:spcPts val="0"/>
              </a:spcBef>
              <a:buNone/>
            </a:pPr>
            <a:r>
              <a:rPr lang="en-US" sz="4000">
                <a:solidFill>
                  <a:srgbClr val="313131"/>
                </a:solidFill>
                <a:latin typeface="NVIDIA Sans"/>
                <a:cs typeface="NVIDIA Sans"/>
              </a:rPr>
              <a:t>Carries ordinary Python code: classes, </a:t>
            </a:r>
            <a:r>
              <a:rPr lang="en-US" sz="4000" err="1">
                <a:solidFill>
                  <a:srgbClr val="313131"/>
                </a:solidFill>
                <a:latin typeface="NVIDIA Sans"/>
                <a:cs typeface="NVIDIA Sans"/>
              </a:rPr>
              <a:t>dict</a:t>
            </a:r>
            <a:r>
              <a:rPr lang="en-US" sz="4000">
                <a:solidFill>
                  <a:srgbClr val="313131"/>
                </a:solidFill>
                <a:latin typeface="NVIDIA Sans"/>
                <a:cs typeface="NVIDIA Sans"/>
              </a:rPr>
              <a:t>, …</a:t>
            </a:r>
          </a:p>
        </p:txBody>
      </p:sp>
      <p:sp>
        <p:nvSpPr>
          <p:cNvPr id="710" name="Label 2">
            <a:extLst>
              <a:ext uri="{FF2B5EF4-FFF2-40B4-BE49-F238E27FC236}">
                <a16:creationId xmlns:a16="http://schemas.microsoft.com/office/drawing/2014/main" id="{2D03A8B0-13E3-9C09-E294-2E2F2F41E99A}"/>
              </a:ext>
            </a:extLst>
          </p:cNvPr>
          <p:cNvSpPr txBox="1"/>
          <p:nvPr/>
        </p:nvSpPr>
        <p:spPr>
          <a:xfrm>
            <a:off x="1828800" y="13970000"/>
            <a:ext cx="32918400" cy="812800"/>
          </a:xfrm>
          <a:prstGeom prst="rect">
            <a:avLst/>
          </a:prstGeom>
          <a:noFill/>
        </p:spPr>
        <p:txBody>
          <a:bodyPr wrap="square" lIns="0" tIns="0" rIns="0" bIns="0" anchor="t">
            <a:noAutofit/>
          </a:bodyPr>
          <a:lstStyle/>
          <a:p>
            <a:pPr>
              <a:lnSpc>
                <a:spcPts val="4600"/>
              </a:lnSpc>
              <a:spcBef>
                <a:spcPts val="0"/>
              </a:spcBef>
              <a:buNone/>
            </a:pPr>
            <a:r>
              <a:rPr lang="en-US" sz="4000" b="1">
                <a:solidFill>
                  <a:srgbClr val="000000"/>
                </a:solidFill>
                <a:latin typeface="NVIDIA Sans"/>
                <a:cs typeface="NVIDIA Sans"/>
              </a:rPr>
              <a:t>CUTLASS primitives</a:t>
            </a:r>
          </a:p>
        </p:txBody>
      </p:sp>
      <p:sp>
        <p:nvSpPr>
          <p:cNvPr id="711" name="Desc 2">
            <a:extLst>
              <a:ext uri="{FF2B5EF4-FFF2-40B4-BE49-F238E27FC236}">
                <a16:creationId xmlns:a16="http://schemas.microsoft.com/office/drawing/2014/main" id="{AE5A69D1-CD45-5024-335F-558DE25929D9}"/>
              </a:ext>
            </a:extLst>
          </p:cNvPr>
          <p:cNvSpPr txBox="1"/>
          <p:nvPr/>
        </p:nvSpPr>
        <p:spPr>
          <a:xfrm>
            <a:off x="1828800" y="14884400"/>
            <a:ext cx="32918400" cy="2032000"/>
          </a:xfrm>
          <a:prstGeom prst="rect">
            <a:avLst/>
          </a:prstGeom>
          <a:noFill/>
        </p:spPr>
        <p:txBody>
          <a:bodyPr wrap="square" lIns="0" tIns="0" rIns="0" bIns="0" anchor="t">
            <a:noAutofit/>
          </a:bodyPr>
          <a:lstStyle/>
          <a:p>
            <a:pPr>
              <a:lnSpc>
                <a:spcPts val="4600"/>
              </a:lnSpc>
              <a:spcBef>
                <a:spcPts val="0"/>
              </a:spcBef>
              <a:buNone/>
            </a:pPr>
            <a:r>
              <a:rPr lang="en-US" sz="4000">
                <a:solidFill>
                  <a:srgbClr val="313131"/>
                </a:solidFill>
                <a:latin typeface="NVIDIA Sans"/>
                <a:cs typeface="NVIDIA Sans"/>
              </a:rPr>
              <a:t>Generates GPU code from Python, Ampere through Rubin</a:t>
            </a:r>
          </a:p>
        </p:txBody>
      </p:sp>
      <p:sp>
        <p:nvSpPr>
          <p:cNvPr id="921" name="RightHead">
            <a:extLst>
              <a:ext uri="{FF2B5EF4-FFF2-40B4-BE49-F238E27FC236}">
                <a16:creationId xmlns:a16="http://schemas.microsoft.com/office/drawing/2014/main" id="{05B7F6A5-6FE2-A047-C3DF-06A7C2824675}"/>
              </a:ext>
            </a:extLst>
          </p:cNvPr>
          <p:cNvSpPr txBox="1"/>
          <p:nvPr/>
        </p:nvSpPr>
        <p:spPr>
          <a:xfrm>
            <a:off x="1828800" y="5969000"/>
            <a:ext cx="32918400" cy="762000"/>
          </a:xfrm>
          <a:prstGeom prst="rect">
            <a:avLst/>
          </a:prstGeom>
          <a:noFill/>
        </p:spPr>
        <p:txBody>
          <a:bodyPr wrap="square" lIns="0" tIns="0" rIns="0" bIns="0" anchor="t">
            <a:noAutofit/>
          </a:bodyPr>
          <a:lstStyle/>
          <a:p>
            <a:pPr algn="l">
              <a:buNone/>
            </a:pPr>
            <a:r>
              <a:rPr lang="en-US" sz="3000" b="1" spc="300">
                <a:solidFill>
                  <a:srgbClr val="757575"/>
                </a:solidFill>
                <a:latin typeface="NVIDIA Sans"/>
                <a:cs typeface="NVIDIA Sans"/>
              </a:rPr>
              <a:t>WHAT IT BUILDS ON</a:t>
            </a:r>
          </a:p>
        </p:txBody>
      </p:sp>
      <p:sp>
        <p:nvSpPr>
          <p:cNvPr id="714" name="Label 3"/>
          <p:cNvSpPr txBox="1"/>
          <p:nvPr/>
        </p:nvSpPr>
        <p:spPr>
          <a:xfrm>
            <a:off x="1828800" y="17145000"/>
            <a:ext cx="32918400" cy="812800"/>
          </a:xfrm>
          <a:prstGeom prst="rect">
            <a:avLst/>
          </a:prstGeom>
          <a:noFill/>
        </p:spPr>
        <p:txBody>
          <a:bodyPr wrap="square" lIns="0" tIns="0" rIns="0" bIns="0" anchor="t">
            <a:noAutofit/>
          </a:bodyPr>
          <a:lstStyle/>
          <a:p>
            <a:pPr>
              <a:lnSpc>
                <a:spcPts val="4600"/>
              </a:lnSpc>
              <a:spcBef>
                <a:spcPts val="0"/>
              </a:spcBef>
              <a:buNone/>
            </a:pPr>
            <a:r>
              <a:rPr lang="en-US" sz="4000" b="1">
                <a:solidFill>
                  <a:srgbClr val="000000"/>
                </a:solidFill>
                <a:latin typeface="NVIDIA Sans"/>
                <a:cs typeface="NVIDIA Sans"/>
              </a:rPr>
              <a:t>CUTLASS concepts</a:t>
            </a:r>
          </a:p>
        </p:txBody>
      </p:sp>
      <p:sp>
        <p:nvSpPr>
          <p:cNvPr id="715" name="Desc 3"/>
          <p:cNvSpPr txBox="1"/>
          <p:nvPr/>
        </p:nvSpPr>
        <p:spPr>
          <a:xfrm>
            <a:off x="1828800" y="18059400"/>
            <a:ext cx="32918400" cy="2032000"/>
          </a:xfrm>
          <a:prstGeom prst="rect">
            <a:avLst/>
          </a:prstGeom>
          <a:noFill/>
        </p:spPr>
        <p:txBody>
          <a:bodyPr wrap="square" lIns="0" tIns="0" rIns="0" bIns="0" anchor="t">
            <a:noAutofit/>
          </a:bodyPr>
          <a:lstStyle/>
          <a:p>
            <a:pPr>
              <a:lnSpc>
                <a:spcPts val="4600"/>
              </a:lnSpc>
              <a:spcBef>
                <a:spcPts val="0"/>
              </a:spcBef>
              <a:buNone/>
            </a:pPr>
            <a:r>
              <a:rPr lang="en-US" sz="4000">
                <a:solidFill>
                  <a:srgbClr val="313131"/>
                </a:solidFill>
                <a:latin typeface="NVIDIA Sans"/>
                <a:cs typeface="NVIDIA Sans"/>
              </a:rPr>
              <a:t>Tensors, atoms, tiled MMA/Copy, pipelines, fragments</a:t>
            </a:r>
          </a:p>
        </p:txBody>
      </p:sp>
    </p:spTree>
    <p:extLst>
      <p:ext uri="{BB962C8B-B14F-4D97-AF65-F5344CB8AC3E}">
        <p14:creationId xmlns:p14="http://schemas.microsoft.com/office/powerpoint/2010/main" val="215250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
                                        </p:tgtEl>
                                        <p:attrNameLst>
                                          <p:attrName>style.visibility</p:attrName>
                                        </p:attrNameLst>
                                      </p:cBhvr>
                                      <p:to>
                                        <p:strVal val="visible"/>
                                      </p:to>
                                    </p:set>
                                    <p:animEffect transition="in" filter="fade">
                                      <p:cBhvr>
                                        <p:cTn id="7" dur="500"/>
                                        <p:tgtEl>
                                          <p:spTgt spid="9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02"/>
                                        </p:tgtEl>
                                        <p:attrNameLst>
                                          <p:attrName>style.visibility</p:attrName>
                                        </p:attrNameLst>
                                      </p:cBhvr>
                                      <p:to>
                                        <p:strVal val="visible"/>
                                      </p:to>
                                    </p:set>
                                    <p:animEffect transition="in" filter="fade">
                                      <p:cBhvr>
                                        <p:cTn id="12" dur="500"/>
                                        <p:tgtEl>
                                          <p:spTgt spid="70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03"/>
                                        </p:tgtEl>
                                        <p:attrNameLst>
                                          <p:attrName>style.visibility</p:attrName>
                                        </p:attrNameLst>
                                      </p:cBhvr>
                                      <p:to>
                                        <p:strVal val="visible"/>
                                      </p:to>
                                    </p:set>
                                    <p:animEffect transition="in" filter="fade">
                                      <p:cBhvr>
                                        <p:cTn id="15" dur="500"/>
                                        <p:tgtEl>
                                          <p:spTgt spid="70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06"/>
                                        </p:tgtEl>
                                        <p:attrNameLst>
                                          <p:attrName>style.visibility</p:attrName>
                                        </p:attrNameLst>
                                      </p:cBhvr>
                                      <p:to>
                                        <p:strVal val="visible"/>
                                      </p:to>
                                    </p:set>
                                    <p:animEffect transition="in" filter="fade">
                                      <p:cBhvr>
                                        <p:cTn id="20" dur="500"/>
                                        <p:tgtEl>
                                          <p:spTgt spid="70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07"/>
                                        </p:tgtEl>
                                        <p:attrNameLst>
                                          <p:attrName>style.visibility</p:attrName>
                                        </p:attrNameLst>
                                      </p:cBhvr>
                                      <p:to>
                                        <p:strVal val="visible"/>
                                      </p:to>
                                    </p:set>
                                    <p:animEffect transition="in" filter="fade">
                                      <p:cBhvr>
                                        <p:cTn id="23" dur="500"/>
                                        <p:tgtEl>
                                          <p:spTgt spid="70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10"/>
                                        </p:tgtEl>
                                        <p:attrNameLst>
                                          <p:attrName>style.visibility</p:attrName>
                                        </p:attrNameLst>
                                      </p:cBhvr>
                                      <p:to>
                                        <p:strVal val="visible"/>
                                      </p:to>
                                    </p:set>
                                    <p:animEffect transition="in" filter="fade">
                                      <p:cBhvr>
                                        <p:cTn id="28" dur="500"/>
                                        <p:tgtEl>
                                          <p:spTgt spid="7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11"/>
                                        </p:tgtEl>
                                        <p:attrNameLst>
                                          <p:attrName>style.visibility</p:attrName>
                                        </p:attrNameLst>
                                      </p:cBhvr>
                                      <p:to>
                                        <p:strVal val="visible"/>
                                      </p:to>
                                    </p:set>
                                    <p:animEffect transition="in" filter="fade">
                                      <p:cBhvr>
                                        <p:cTn id="31" dur="500"/>
                                        <p:tgtEl>
                                          <p:spTgt spid="7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14"/>
                                        </p:tgtEl>
                                        <p:attrNameLst>
                                          <p:attrName>style.visibility</p:attrName>
                                        </p:attrNameLst>
                                      </p:cBhvr>
                                      <p:to>
                                        <p:strVal val="visible"/>
                                      </p:to>
                                    </p:set>
                                    <p:animEffect transition="in" filter="fade">
                                      <p:cBhvr>
                                        <p:cTn id="36" dur="500"/>
                                        <p:tgtEl>
                                          <p:spTgt spid="7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15"/>
                                        </p:tgtEl>
                                        <p:attrNameLst>
                                          <p:attrName>style.visibility</p:attrName>
                                        </p:attrNameLst>
                                      </p:cBhvr>
                                      <p:to>
                                        <p:strVal val="visible"/>
                                      </p:to>
                                    </p:set>
                                    <p:animEffect transition="in" filter="fade">
                                      <p:cBhvr>
                                        <p:cTn id="39" dur="500"/>
                                        <p:tgtEl>
                                          <p:spTgt spid="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 grpId="0"/>
      <p:bldP spid="703" grpId="0"/>
      <p:bldP spid="706" grpId="0"/>
      <p:bldP spid="707" grpId="0"/>
      <p:bldP spid="710" grpId="0"/>
      <p:bldP spid="711" grpId="0"/>
      <p:bldP spid="921" grpId="0"/>
      <p:bldP spid="714" grpId="0"/>
      <p:bldP spid="7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55C30365-E9A1-7846-8302-32094E90F748}"/>
              </a:ext>
            </a:extLst>
          </p:cNvPr>
          <p:cNvSpPr txBox="1"/>
          <p:nvPr/>
        </p:nvSpPr>
        <p:spPr>
          <a:xfrm>
            <a:off x="1828800" y="508000"/>
            <a:ext cx="32918400" cy="1219200"/>
          </a:xfrm>
          <a:prstGeom prst="rect">
            <a:avLst/>
          </a:prstGeom>
          <a:noFill/>
        </p:spPr>
        <p:txBody>
          <a:bodyPr vertOverflow="overflow" vert="horz" wrap="square" rtlCol="0" anchor="t" anchorCtr="0">
            <a:noAutofit/>
          </a:bodyPr>
          <a:lstStyle/>
          <a:p>
            <a:pPr algn="l"/>
            <a:r>
              <a:rPr lang="en-US" sz="5600">
                <a:latin typeface="NVIDIA Sans Medium"/>
                <a:cs typeface="NVIDIA Sans Medium"/>
              </a:rPr>
              <a:t>Porting one op from CUTLASS C++ to </a:t>
            </a:r>
            <a:r>
              <a:rPr lang="en-US" sz="5600" err="1">
                <a:latin typeface="NVIDIA Sans Medium"/>
                <a:cs typeface="NVIDIA Sans Medium"/>
              </a:rPr>
              <a:t>CUTLASSPy</a:t>
            </a:r>
            <a:endParaRPr lang="en-US" sz="5600">
              <a:latin typeface="NVIDIA Sans Medium"/>
              <a:cs typeface="NVIDIA Sans Medium"/>
            </a:endParaRPr>
          </a:p>
        </p:txBody>
      </p:sp>
      <p:sp>
        <p:nvSpPr>
          <p:cNvPr id="3" name="SubTx">
            <a:extLst>
              <a:ext uri="{FF2B5EF4-FFF2-40B4-BE49-F238E27FC236}">
                <a16:creationId xmlns:a16="http://schemas.microsoft.com/office/drawing/2014/main" id="{BE1F9470-A537-634F-91E8-3992E8695D85}"/>
              </a:ext>
            </a:extLst>
          </p:cNvPr>
          <p:cNvSpPr txBox="1"/>
          <p:nvPr/>
        </p:nvSpPr>
        <p:spPr>
          <a:xfrm>
            <a:off x="1828800" y="1803400"/>
            <a:ext cx="32918400" cy="584200"/>
          </a:xfrm>
          <a:prstGeom prst="rect">
            <a:avLst/>
          </a:prstGeom>
          <a:noFill/>
        </p:spPr>
        <p:txBody>
          <a:bodyPr vertOverflow="overflow" vert="horz" wrap="square" rtlCol="0" anchor="t" anchorCtr="0">
            <a:noAutofit/>
          </a:bodyPr>
          <a:lstStyle/>
          <a:p>
            <a:pPr algn="l"/>
            <a:r>
              <a:rPr lang="en-US" sz="2200">
                <a:solidFill>
                  <a:srgbClr val="313131"/>
                </a:solidFill>
                <a:latin typeface="NVIDIA Sans"/>
                <a:cs typeface="NVIDIA Sans"/>
              </a:rPr>
              <a:t>Every C++ call on the left has a cutlasspy counterpart on the right, in the same order. </a:t>
            </a:r>
            <a:r>
              <a:rPr lang="en-US" sz="2200">
                <a:solidFill>
                  <a:srgbClr val="313131"/>
                </a:solidFill>
                <a:latin typeface="Roboto Mono"/>
                <a:cs typeface="Roboto Mono"/>
              </a:rPr>
              <a:t>retile</a:t>
            </a:r>
            <a:r>
              <a:rPr lang="en-US" sz="2200">
                <a:solidFill>
                  <a:srgbClr val="313131"/>
                </a:solidFill>
                <a:latin typeface="NVIDIA Sans"/>
                <a:cs typeface="NVIDIA Sans"/>
              </a:rPr>
              <a:t> is the example here.</a:t>
            </a:r>
          </a:p>
        </p:txBody>
      </p:sp>
      <p:sp>
        <p:nvSpPr>
          <p:cNvPr id="8" name="RuleL">
            <a:extLst>
              <a:ext uri="{FF2B5EF4-FFF2-40B4-BE49-F238E27FC236}">
                <a16:creationId xmlns:a16="http://schemas.microsoft.com/office/drawing/2014/main" id="{0B8181AF-34A3-8B4E-A2E5-F460BD79C12C}"/>
              </a:ext>
            </a:extLst>
          </p:cNvPr>
          <p:cNvSpPr/>
          <p:nvPr/>
        </p:nvSpPr>
        <p:spPr>
          <a:xfrm>
            <a:off x="1828800" y="17881600"/>
            <a:ext cx="154432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uleR">
            <a:extLst>
              <a:ext uri="{FF2B5EF4-FFF2-40B4-BE49-F238E27FC236}">
                <a16:creationId xmlns:a16="http://schemas.microsoft.com/office/drawing/2014/main" id="{724429DF-A769-F34A-99B2-32A5AA96E8FC}"/>
              </a:ext>
            </a:extLst>
          </p:cNvPr>
          <p:cNvSpPr/>
          <p:nvPr/>
        </p:nvSpPr>
        <p:spPr>
          <a:xfrm>
            <a:off x="18923000" y="17881600"/>
            <a:ext cx="158242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HeadL">
            <a:extLst>
              <a:ext uri="{FF2B5EF4-FFF2-40B4-BE49-F238E27FC236}">
                <a16:creationId xmlns:a16="http://schemas.microsoft.com/office/drawing/2014/main" id="{63C470EE-F251-3545-8E59-20D86019782D}"/>
              </a:ext>
            </a:extLst>
          </p:cNvPr>
          <p:cNvSpPr txBox="1"/>
          <p:nvPr/>
        </p:nvSpPr>
        <p:spPr>
          <a:xfrm>
            <a:off x="1828800" y="18059400"/>
            <a:ext cx="15443200" cy="508000"/>
          </a:xfrm>
          <a:prstGeom prst="rect">
            <a:avLst/>
          </a:prstGeom>
          <a:noFill/>
        </p:spPr>
        <p:txBody>
          <a:bodyPr vertOverflow="overflow" vert="horz" wrap="square" rtlCol="0" anchor="t" anchorCtr="0">
            <a:noAutofit/>
          </a:bodyPr>
          <a:lstStyle/>
          <a:p>
            <a:pPr algn="l"/>
            <a:r>
              <a:rPr lang="en-US" sz="2400" b="1">
                <a:solidFill>
                  <a:srgbClr val="76B900"/>
                </a:solidFill>
                <a:latin typeface="NVIDIA Sans"/>
                <a:cs typeface="NVIDIA Sans"/>
              </a:rPr>
              <a:t>CUTE C++</a:t>
            </a:r>
          </a:p>
        </p:txBody>
      </p:sp>
      <p:sp>
        <p:nvSpPr>
          <p:cNvPr id="11" name="HeadR">
            <a:extLst>
              <a:ext uri="{FF2B5EF4-FFF2-40B4-BE49-F238E27FC236}">
                <a16:creationId xmlns:a16="http://schemas.microsoft.com/office/drawing/2014/main" id="{62602F56-7D0E-ED48-9849-33DCD986F41E}"/>
              </a:ext>
            </a:extLst>
          </p:cNvPr>
          <p:cNvSpPr txBox="1"/>
          <p:nvPr/>
        </p:nvSpPr>
        <p:spPr>
          <a:xfrm>
            <a:off x="18923000" y="18059400"/>
            <a:ext cx="15824200" cy="508000"/>
          </a:xfrm>
          <a:prstGeom prst="rect">
            <a:avLst/>
          </a:prstGeom>
          <a:noFill/>
        </p:spPr>
        <p:txBody>
          <a:bodyPr vertOverflow="overflow" vert="horz" wrap="square" rtlCol="0" anchor="t" anchorCtr="0">
            <a:noAutofit/>
          </a:bodyPr>
          <a:lstStyle/>
          <a:p>
            <a:pPr algn="l"/>
            <a:r>
              <a:rPr lang="en-US" sz="2400" b="1" err="1">
                <a:solidFill>
                  <a:srgbClr val="76B900"/>
                </a:solidFill>
                <a:latin typeface="NVIDIA Sans"/>
                <a:cs typeface="NVIDIA Sans"/>
              </a:rPr>
              <a:t>CUTLASSPy</a:t>
            </a:r>
            <a:endParaRPr lang="en-US" sz="2400" b="1">
              <a:solidFill>
                <a:srgbClr val="76B900"/>
              </a:solidFill>
              <a:latin typeface="NVIDIA Sans"/>
              <a:cs typeface="NVIDIA Sans"/>
            </a:endParaRPr>
          </a:p>
        </p:txBody>
      </p:sp>
      <p:sp>
        <p:nvSpPr>
          <p:cNvPr id="19" name="S1H">
            <a:extLst>
              <a:ext uri="{FF2B5EF4-FFF2-40B4-BE49-F238E27FC236}">
                <a16:creationId xmlns:a16="http://schemas.microsoft.com/office/drawing/2014/main" id="{E7464E9B-C7DA-5C47-AE7F-7A62752A13D3}"/>
              </a:ext>
            </a:extLst>
          </p:cNvPr>
          <p:cNvSpPr txBox="1"/>
          <p:nvPr/>
        </p:nvSpPr>
        <p:spPr>
          <a:xfrm>
            <a:off x="1828800" y="3073400"/>
            <a:ext cx="32918400" cy="609600"/>
          </a:xfrm>
          <a:prstGeom prst="rect">
            <a:avLst/>
          </a:prstGeom>
          <a:noFill/>
        </p:spPr>
        <p:txBody>
          <a:bodyPr vertOverflow="overflow" vert="horz" wrap="none" rtlCol="0" anchor="t" anchorCtr="0">
            <a:noAutofit/>
          </a:bodyPr>
          <a:lstStyle/>
          <a:p>
            <a:pPr algn="l"/>
            <a:r>
              <a:rPr lang="en-US" sz="3000" b="1">
                <a:solidFill>
                  <a:srgbClr val="76B900"/>
                </a:solidFill>
                <a:latin typeface="NVIDIA Sans"/>
                <a:cs typeface="NVIDIA Sans"/>
              </a:rPr>
              <a:t>01  ·  RECOVER WHERE THE V VALUES SIT</a:t>
            </a:r>
          </a:p>
        </p:txBody>
      </p:sp>
      <p:sp>
        <p:nvSpPr>
          <p:cNvPr id="20" name="S1L">
            <a:extLst>
              <a:ext uri="{FF2B5EF4-FFF2-40B4-BE49-F238E27FC236}">
                <a16:creationId xmlns:a16="http://schemas.microsoft.com/office/drawing/2014/main" id="{4C39EA75-76A5-1242-87D5-A507414C77E6}"/>
              </a:ext>
            </a:extLst>
          </p:cNvPr>
          <p:cNvSpPr txBox="1"/>
          <p:nvPr/>
        </p:nvSpPr>
        <p:spPr>
          <a:xfrm>
            <a:off x="1828800" y="3860800"/>
            <a:ext cx="15443200" cy="2590800"/>
          </a:xfrm>
          <a:prstGeom prst="rect">
            <a:avLst/>
          </a:prstGeom>
          <a:noFill/>
        </p:spPr>
        <p:txBody>
          <a:bodyPr vertOverflow="overflow" vert="horz" wrap="none" rtlCol="0" anchor="t" anchorCtr="0">
            <a:noAutofit/>
          </a:bodyPr>
          <a:lstStyle/>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auto</a:t>
            </a:r>
            <a:r>
              <a:rPr lang="en-US" sz="2800">
                <a:solidFill>
                  <a:srgbClr val="000000"/>
                </a:solidFill>
                <a:latin typeface="Roboto Mono"/>
                <a:cs typeface="Roboto Mono"/>
              </a:rPr>
              <a:t> V = size&lt;0&gt;(tensor);</a:t>
            </a:r>
          </a:p>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auto</a:t>
            </a:r>
            <a:r>
              <a:rPr lang="en-US" sz="2800">
                <a:solidFill>
                  <a:srgbClr val="000000"/>
                </a:solidFill>
                <a:latin typeface="Roboto Mono"/>
                <a:cs typeface="Roboto Mono"/>
              </a:rPr>
              <a:t> frg_layout_mn = upcast&lt;TiledNumThr{} * V&gt;(</a:t>
            </a:r>
          </a:p>
          <a:p>
            <a:pPr algn="l">
              <a:lnSpc>
                <a:spcPts val="3400"/>
              </a:lnSpc>
              <a:spcBef>
                <a:spcPts val="0"/>
              </a:spcBef>
              <a:buNone/>
            </a:pPr>
            <a:r>
              <a:rPr lang="en-US" sz="2800">
                <a:solidFill>
                  <a:srgbClr val="000000"/>
                </a:solidFill>
                <a:latin typeface="Roboto Mono"/>
                <a:cs typeface="Roboto Mono"/>
              </a:rPr>
              <a:t>    right_inverse(TiledLayout_TV{})</a:t>
            </a:r>
          </a:p>
          <a:p>
            <a:pPr algn="l">
              <a:lnSpc>
                <a:spcPts val="3400"/>
              </a:lnSpc>
              <a:spcBef>
                <a:spcPts val="0"/>
              </a:spcBef>
              <a:buNone/>
            </a:pPr>
            <a:r>
              <a:rPr lang="en-US" sz="2800">
                <a:solidFill>
                  <a:srgbClr val="000000"/>
                </a:solidFill>
                <a:latin typeface="Roboto Mono"/>
                <a:cs typeface="Roboto Mono"/>
              </a:rPr>
              <a:t>      .with_shape(shape(Tiler_MN{})));</a:t>
            </a:r>
          </a:p>
          <a:p>
            <a:pPr algn="l">
              <a:lnSpc>
                <a:spcPts val="3400"/>
              </a:lnSpc>
              <a:spcBef>
                <a:spcPts val="0"/>
              </a:spcBef>
              <a:buNone/>
            </a:pPr>
            <a:r>
              <a:rPr lang="en-US" sz="2800">
                <a:solidFill>
                  <a:srgbClr val="000000"/>
                </a:solidFill>
                <a:latin typeface="Roboto Mono"/>
                <a:cs typeface="Roboto Mono"/>
              </a:rPr>
              <a:t>  </a:t>
            </a:r>
            <a:r>
              <a:rPr lang="en-US" sz="2800">
                <a:solidFill>
                  <a:srgbClr val="4A4A4A"/>
                </a:solidFill>
                <a:latin typeface="Roboto Mono"/>
                <a:cs typeface="Roboto Mono"/>
              </a:rPr>
              <a:t>// (m,n) -&gt; v_idx: shape and order of the V</a:t>
            </a:r>
          </a:p>
          <a:p>
            <a:pPr algn="l">
              <a:lnSpc>
                <a:spcPts val="3400"/>
              </a:lnSpc>
              <a:spcBef>
                <a:spcPts val="0"/>
              </a:spcBef>
              <a:buNone/>
            </a:pPr>
            <a:r>
              <a:rPr lang="en-US" sz="2800">
                <a:solidFill>
                  <a:srgbClr val="000000"/>
                </a:solidFill>
                <a:latin typeface="Roboto Mono"/>
                <a:cs typeface="Roboto Mono"/>
              </a:rPr>
              <a:t>  </a:t>
            </a:r>
            <a:r>
              <a:rPr lang="en-US" sz="2800">
                <a:solidFill>
                  <a:srgbClr val="4A4A4A"/>
                </a:solidFill>
                <a:latin typeface="Roboto Mono"/>
                <a:cs typeface="Roboto Mono"/>
              </a:rPr>
              <a:t>//          inside TiledLayout_TV</a:t>
            </a:r>
          </a:p>
        </p:txBody>
      </p:sp>
      <p:sp>
        <p:nvSpPr>
          <p:cNvPr id="21" name="S1R">
            <a:extLst>
              <a:ext uri="{FF2B5EF4-FFF2-40B4-BE49-F238E27FC236}">
                <a16:creationId xmlns:a16="http://schemas.microsoft.com/office/drawing/2014/main" id="{F44B401A-BDB1-7745-958A-E2B555B19932}"/>
              </a:ext>
            </a:extLst>
          </p:cNvPr>
          <p:cNvSpPr txBox="1"/>
          <p:nvPr/>
        </p:nvSpPr>
        <p:spPr>
          <a:xfrm>
            <a:off x="18923000" y="3860800"/>
            <a:ext cx="15824200" cy="2590800"/>
          </a:xfrm>
          <a:prstGeom prst="rect">
            <a:avLst/>
          </a:prstGeom>
          <a:noFill/>
        </p:spPr>
        <p:txBody>
          <a:bodyPr vertOverflow="overflow" vert="horz" wrap="none" rtlCol="0" anchor="t" anchorCtr="0">
            <a:noAutofit/>
          </a:bodyPr>
          <a:lstStyle/>
          <a:p>
            <a:pPr algn="l">
              <a:lnSpc>
                <a:spcPts val="3400"/>
              </a:lnSpc>
              <a:spcBef>
                <a:spcPts val="0"/>
              </a:spcBef>
              <a:buNone/>
            </a:pPr>
            <a:r>
              <a:rPr lang="en-US" sz="2800">
                <a:solidFill>
                  <a:srgbClr val="000000"/>
                </a:solidFill>
                <a:latin typeface="Roboto Mono"/>
                <a:cs typeface="Roboto Mono"/>
              </a:rPr>
              <a:t>    v = size(frag_modes[0].shape)        </a:t>
            </a:r>
            <a:r>
              <a:rPr lang="en-US" sz="2800">
                <a:solidFill>
                  <a:srgbClr val="76B900"/>
                </a:solidFill>
                <a:latin typeface="Roboto Mono"/>
                <a:cs typeface="Roboto Mono"/>
              </a:rPr>
              <a:t># ← pycute</a:t>
            </a:r>
          </a:p>
          <a:p>
            <a:pPr algn="l">
              <a:lnSpc>
                <a:spcPts val="3400"/>
              </a:lnSpc>
              <a:spcBef>
                <a:spcPts val="0"/>
              </a:spcBef>
              <a:buNone/>
            </a:pPr>
            <a:r>
              <a:rPr lang="en-US" sz="2800">
                <a:solidFill>
                  <a:srgbClr val="000000"/>
                </a:solidFill>
                <a:latin typeface="Roboto Mono"/>
                <a:cs typeface="Roboto Mono"/>
              </a:rPr>
              <a:t>    thr_n = size(tiled.layout_tv[0])     </a:t>
            </a:r>
            <a:r>
              <a:rPr lang="en-US" sz="2800">
                <a:solidFill>
                  <a:srgbClr val="76B900"/>
                </a:solidFill>
                <a:latin typeface="Roboto Mono"/>
                <a:cs typeface="Roboto Mono"/>
              </a:rPr>
              <a:t># ← pycute</a:t>
            </a:r>
          </a:p>
          <a:p>
            <a:pPr algn="l">
              <a:lnSpc>
                <a:spcPts val="3400"/>
              </a:lnSpc>
              <a:spcBef>
                <a:spcPts val="0"/>
              </a:spcBef>
              <a:buNone/>
            </a:pPr>
            <a:r>
              <a:rPr lang="en-US" sz="2800">
                <a:solidFill>
                  <a:srgbClr val="000000"/>
                </a:solidFill>
                <a:latin typeface="Roboto Mono"/>
                <a:cs typeface="Roboto Mono"/>
              </a:rPr>
              <a:t>    frg_mn = pycute_recast(              </a:t>
            </a:r>
            <a:r>
              <a:rPr lang="en-US" sz="2800">
                <a:solidFill>
                  <a:srgbClr val="76B900"/>
                </a:solidFill>
                <a:latin typeface="Roboto Mono"/>
                <a:cs typeface="Roboto Mono"/>
              </a:rPr>
              <a:t># ← pycute</a:t>
            </a:r>
          </a:p>
          <a:p>
            <a:pPr algn="l">
              <a:lnSpc>
                <a:spcPts val="3400"/>
              </a:lnSpc>
              <a:spcBef>
                <a:spcPts val="0"/>
              </a:spcBef>
              <a:buNone/>
            </a:pPr>
            <a:r>
              <a:rPr lang="en-US" sz="2800">
                <a:solidFill>
                  <a:srgbClr val="000000"/>
                </a:solidFill>
                <a:latin typeface="Roboto Mono"/>
                <a:cs typeface="Roboto Mono"/>
              </a:rPr>
              <a:t>      composition(right_inverse(tiled.layout_tv),</a:t>
            </a:r>
          </a:p>
          <a:p>
            <a:pPr algn="l">
              <a:lnSpc>
                <a:spcPts val="3400"/>
              </a:lnSpc>
              <a:spcBef>
                <a:spcPts val="0"/>
              </a:spcBef>
              <a:buNone/>
            </a:pPr>
            <a:r>
              <a:rPr lang="en-US" sz="2800">
                <a:solidFill>
                  <a:srgbClr val="000000"/>
                </a:solidFill>
                <a:latin typeface="Roboto Mono"/>
                <a:cs typeface="Roboto Mono"/>
              </a:rPr>
              <a:t>                  Layout(tuple(tiled.tiler))),</a:t>
            </a:r>
          </a:p>
          <a:p>
            <a:pPr algn="l">
              <a:lnSpc>
                <a:spcPts val="3400"/>
              </a:lnSpc>
              <a:spcBef>
                <a:spcPts val="0"/>
              </a:spcBef>
              <a:buNone/>
            </a:pPr>
            <a:r>
              <a:rPr lang="en-US" sz="2800">
                <a:solidFill>
                  <a:srgbClr val="000000"/>
                </a:solidFill>
                <a:latin typeface="Roboto Mono"/>
                <a:cs typeface="Roboto Mono"/>
              </a:rPr>
              <a:t>      thr_n * v)</a:t>
            </a:r>
          </a:p>
        </p:txBody>
      </p:sp>
      <p:sp>
        <p:nvSpPr>
          <p:cNvPr id="22" name="S1A">
            <a:extLst>
              <a:ext uri="{FF2B5EF4-FFF2-40B4-BE49-F238E27FC236}">
                <a16:creationId xmlns:a16="http://schemas.microsoft.com/office/drawing/2014/main" id="{56A2BEA1-891B-5D4A-AEEB-188288D51994}"/>
              </a:ext>
            </a:extLst>
          </p:cNvPr>
          <p:cNvSpPr/>
          <p:nvPr/>
        </p:nvSpPr>
        <p:spPr>
          <a:xfrm>
            <a:off x="17729200" y="4953000"/>
            <a:ext cx="711200" cy="406400"/>
          </a:xfrm>
          <a:prstGeom prst="rightArrow">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S2H">
            <a:extLst>
              <a:ext uri="{FF2B5EF4-FFF2-40B4-BE49-F238E27FC236}">
                <a16:creationId xmlns:a16="http://schemas.microsoft.com/office/drawing/2014/main" id="{EAAD2D51-9662-8141-ACF3-8F11F87A1361}"/>
              </a:ext>
            </a:extLst>
          </p:cNvPr>
          <p:cNvSpPr txBox="1"/>
          <p:nvPr/>
        </p:nvSpPr>
        <p:spPr>
          <a:xfrm>
            <a:off x="1828800" y="8483600"/>
            <a:ext cx="32918400" cy="609600"/>
          </a:xfrm>
          <a:prstGeom prst="rect">
            <a:avLst/>
          </a:prstGeom>
          <a:noFill/>
        </p:spPr>
        <p:txBody>
          <a:bodyPr vertOverflow="overflow" vert="horz" wrap="none" rtlCol="0" anchor="t" anchorCtr="0">
            <a:noAutofit/>
          </a:bodyPr>
          <a:lstStyle/>
          <a:p>
            <a:pPr algn="l"/>
            <a:r>
              <a:rPr lang="en-US" sz="3000" b="1">
                <a:solidFill>
                  <a:srgbClr val="76B900"/>
                </a:solidFill>
                <a:latin typeface="NVIDIA Sans"/>
                <a:cs typeface="NVIDIA Sans"/>
              </a:rPr>
              <a:t>02  ·  REGROUP INTO ATOM-SIZED CHUNKS</a:t>
            </a:r>
          </a:p>
        </p:txBody>
      </p:sp>
      <p:sp>
        <p:nvSpPr>
          <p:cNvPr id="25" name="S2L">
            <a:extLst>
              <a:ext uri="{FF2B5EF4-FFF2-40B4-BE49-F238E27FC236}">
                <a16:creationId xmlns:a16="http://schemas.microsoft.com/office/drawing/2014/main" id="{41B221C6-DD66-A945-9723-D068FF681E4B}"/>
              </a:ext>
            </a:extLst>
          </p:cNvPr>
          <p:cNvSpPr txBox="1"/>
          <p:nvPr/>
        </p:nvSpPr>
        <p:spPr>
          <a:xfrm>
            <a:off x="1828800" y="9271000"/>
            <a:ext cx="15443200" cy="1727200"/>
          </a:xfrm>
          <a:prstGeom prst="rect">
            <a:avLst/>
          </a:prstGeom>
          <a:noFill/>
        </p:spPr>
        <p:txBody>
          <a:bodyPr vertOverflow="overflow" vert="horz" wrap="none" rtlCol="0" anchor="t" anchorCtr="0">
            <a:noAutofit/>
          </a:bodyPr>
          <a:lstStyle/>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auto</a:t>
            </a:r>
            <a:r>
              <a:rPr lang="en-US" sz="2800">
                <a:solidFill>
                  <a:srgbClr val="000000"/>
                </a:solidFill>
                <a:latin typeface="Roboto Mono"/>
                <a:cs typeface="Roboto Mono"/>
              </a:rPr>
              <a:t> frg_layout_v = zipped_divide(</a:t>
            </a:r>
          </a:p>
          <a:p>
            <a:pPr algn="l">
              <a:lnSpc>
                <a:spcPts val="3400"/>
              </a:lnSpc>
              <a:spcBef>
                <a:spcPts val="0"/>
              </a:spcBef>
              <a:buNone/>
            </a:pPr>
            <a:r>
              <a:rPr lang="en-US" sz="2800">
                <a:solidFill>
                  <a:srgbClr val="000000"/>
                </a:solidFill>
                <a:latin typeface="Roboto Mono"/>
                <a:cs typeface="Roboto Mono"/>
              </a:rPr>
              <a:t>    logical_product(make_layout(V), right_inverse(frg_layout_mn)),</a:t>
            </a:r>
          </a:p>
          <a:p>
            <a:pPr algn="l">
              <a:lnSpc>
                <a:spcPts val="3400"/>
              </a:lnSpc>
              <a:spcBef>
                <a:spcPts val="0"/>
              </a:spcBef>
              <a:buNone/>
            </a:pPr>
            <a:r>
              <a:rPr lang="en-US" sz="2800">
                <a:solidFill>
                  <a:srgbClr val="000000"/>
                </a:solidFill>
                <a:latin typeface="Roboto Mono"/>
                <a:cs typeface="Roboto Mono"/>
              </a:rPr>
              <a:t>    make_layout(AtomNumVal{}));</a:t>
            </a:r>
          </a:p>
          <a:p>
            <a:pPr algn="l">
              <a:lnSpc>
                <a:spcPts val="3400"/>
              </a:lnSpc>
              <a:spcBef>
                <a:spcPts val="0"/>
              </a:spcBef>
              <a:buNone/>
            </a:pPr>
            <a:r>
              <a:rPr lang="en-US" sz="2800">
                <a:solidFill>
                  <a:srgbClr val="000000"/>
                </a:solidFill>
                <a:latin typeface="Roboto Mono"/>
                <a:cs typeface="Roboto Mono"/>
              </a:rPr>
              <a:t>  </a:t>
            </a:r>
            <a:r>
              <a:rPr lang="en-US" sz="2800">
                <a:solidFill>
                  <a:srgbClr val="4A4A4A"/>
                </a:solidFill>
                <a:latin typeface="Roboto Mono"/>
                <a:cs typeface="Roboto Mono"/>
              </a:rPr>
              <a:t>// (atom_vals,rest_vals) -&gt; (v,m,n)</a:t>
            </a:r>
          </a:p>
        </p:txBody>
      </p:sp>
      <p:sp>
        <p:nvSpPr>
          <p:cNvPr id="26" name="S2R">
            <a:extLst>
              <a:ext uri="{FF2B5EF4-FFF2-40B4-BE49-F238E27FC236}">
                <a16:creationId xmlns:a16="http://schemas.microsoft.com/office/drawing/2014/main" id="{07A90857-B85C-E74F-BFB2-C6B538AC5F68}"/>
              </a:ext>
            </a:extLst>
          </p:cNvPr>
          <p:cNvSpPr txBox="1"/>
          <p:nvPr/>
        </p:nvSpPr>
        <p:spPr>
          <a:xfrm>
            <a:off x="18923000" y="9271000"/>
            <a:ext cx="15824200" cy="1727200"/>
          </a:xfrm>
          <a:prstGeom prst="rect">
            <a:avLst/>
          </a:prstGeom>
          <a:noFill/>
        </p:spPr>
        <p:txBody>
          <a:bodyPr vertOverflow="overflow" vert="horz" wrap="none" rtlCol="0" anchor="t" anchorCtr="0">
            <a:noAutofit/>
          </a:bodyPr>
          <a:lstStyle/>
          <a:p>
            <a:pPr algn="l">
              <a:lnSpc>
                <a:spcPts val="3400"/>
              </a:lnSpc>
              <a:spcBef>
                <a:spcPts val="0"/>
              </a:spcBef>
              <a:buNone/>
            </a:pPr>
            <a:r>
              <a:rPr lang="en-US" sz="2800">
                <a:solidFill>
                  <a:srgbClr val="000000"/>
                </a:solidFill>
                <a:latin typeface="Roboto Mono"/>
                <a:cs typeface="Roboto Mono"/>
              </a:rPr>
              <a:t>    atom_val = tiled.atom.num_val(tiled.dtype)</a:t>
            </a:r>
          </a:p>
          <a:p>
            <a:pPr algn="l">
              <a:lnSpc>
                <a:spcPts val="3400"/>
              </a:lnSpc>
              <a:spcBef>
                <a:spcPts val="0"/>
              </a:spcBef>
              <a:buNone/>
            </a:pPr>
            <a:r>
              <a:rPr lang="en-US" sz="2800">
                <a:solidFill>
                  <a:srgbClr val="000000"/>
                </a:solidFill>
                <a:latin typeface="Roboto Mono"/>
                <a:cs typeface="Roboto Mono"/>
              </a:rPr>
              <a:t>    frg_v = zipped_divide(               </a:t>
            </a:r>
            <a:r>
              <a:rPr lang="en-US" sz="2800">
                <a:solidFill>
                  <a:srgbClr val="76B900"/>
                </a:solidFill>
                <a:latin typeface="Roboto Mono"/>
                <a:cs typeface="Roboto Mono"/>
              </a:rPr>
              <a:t># ← pycute</a:t>
            </a:r>
          </a:p>
          <a:p>
            <a:pPr algn="l">
              <a:lnSpc>
                <a:spcPts val="3400"/>
              </a:lnSpc>
              <a:spcBef>
                <a:spcPts val="0"/>
              </a:spcBef>
              <a:buNone/>
            </a:pPr>
            <a:r>
              <a:rPr lang="en-US" sz="2800">
                <a:solidFill>
                  <a:srgbClr val="000000"/>
                </a:solidFill>
                <a:latin typeface="Roboto Mono"/>
                <a:cs typeface="Roboto Mono"/>
              </a:rPr>
              <a:t>      logical_product(Layout(v), right_inverse(frg_mn)),</a:t>
            </a:r>
          </a:p>
          <a:p>
            <a:pPr algn="l">
              <a:lnSpc>
                <a:spcPts val="3400"/>
              </a:lnSpc>
              <a:spcBef>
                <a:spcPts val="0"/>
              </a:spcBef>
              <a:buNone/>
            </a:pPr>
            <a:r>
              <a:rPr lang="en-US" sz="2800">
                <a:solidFill>
                  <a:srgbClr val="000000"/>
                </a:solidFill>
                <a:latin typeface="Roboto Mono"/>
                <a:cs typeface="Roboto Mono"/>
              </a:rPr>
              <a:t>      Layout(atom_val))</a:t>
            </a:r>
          </a:p>
        </p:txBody>
      </p:sp>
      <p:sp>
        <p:nvSpPr>
          <p:cNvPr id="27" name="S2A">
            <a:extLst>
              <a:ext uri="{FF2B5EF4-FFF2-40B4-BE49-F238E27FC236}">
                <a16:creationId xmlns:a16="http://schemas.microsoft.com/office/drawing/2014/main" id="{E1C816E1-B097-D34C-9482-C38B2E15BB4E}"/>
              </a:ext>
            </a:extLst>
          </p:cNvPr>
          <p:cNvSpPr/>
          <p:nvPr/>
        </p:nvSpPr>
        <p:spPr>
          <a:xfrm>
            <a:off x="17729200" y="9931400"/>
            <a:ext cx="711200" cy="406400"/>
          </a:xfrm>
          <a:prstGeom prst="rightArrow">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S3H">
            <a:extLst>
              <a:ext uri="{FF2B5EF4-FFF2-40B4-BE49-F238E27FC236}">
                <a16:creationId xmlns:a16="http://schemas.microsoft.com/office/drawing/2014/main" id="{C1921D11-4F25-3744-A30A-A16E5E94C807}"/>
              </a:ext>
            </a:extLst>
          </p:cNvPr>
          <p:cNvSpPr txBox="1"/>
          <p:nvPr/>
        </p:nvSpPr>
        <p:spPr>
          <a:xfrm>
            <a:off x="1828800" y="13030200"/>
            <a:ext cx="32918400" cy="609600"/>
          </a:xfrm>
          <a:prstGeom prst="rect">
            <a:avLst/>
          </a:prstGeom>
          <a:noFill/>
        </p:spPr>
        <p:txBody>
          <a:bodyPr vertOverflow="overflow" vert="horz" wrap="none" rtlCol="0" anchor="t" anchorCtr="0">
            <a:noAutofit/>
          </a:bodyPr>
          <a:lstStyle/>
          <a:p>
            <a:pPr algn="l"/>
            <a:r>
              <a:rPr lang="en-US" sz="3000" b="1">
                <a:solidFill>
                  <a:srgbClr val="76B900"/>
                </a:solidFill>
                <a:latin typeface="NVIDIA Sans"/>
                <a:cs typeface="NVIDIA Sans"/>
              </a:rPr>
              <a:t>03  ·  RE-VIEW THE SAME STORAGE, UNTOUCHED</a:t>
            </a:r>
          </a:p>
        </p:txBody>
      </p:sp>
      <p:sp>
        <p:nvSpPr>
          <p:cNvPr id="30" name="S3L">
            <a:extLst>
              <a:ext uri="{FF2B5EF4-FFF2-40B4-BE49-F238E27FC236}">
                <a16:creationId xmlns:a16="http://schemas.microsoft.com/office/drawing/2014/main" id="{6D5C7377-02EB-5140-9960-E869D6CB98AF}"/>
              </a:ext>
            </a:extLst>
          </p:cNvPr>
          <p:cNvSpPr txBox="1"/>
          <p:nvPr/>
        </p:nvSpPr>
        <p:spPr>
          <a:xfrm>
            <a:off x="1828800" y="13817600"/>
            <a:ext cx="15443200" cy="3454400"/>
          </a:xfrm>
          <a:prstGeom prst="rect">
            <a:avLst/>
          </a:prstGeom>
          <a:noFill/>
        </p:spPr>
        <p:txBody>
          <a:bodyPr vertOverflow="overflow" vert="horz" wrap="none" rtlCol="0" anchor="t" anchorCtr="0">
            <a:noAutofit/>
          </a:bodyPr>
          <a:lstStyle/>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auto</a:t>
            </a:r>
            <a:r>
              <a:rPr lang="en-US" sz="2800">
                <a:solidFill>
                  <a:srgbClr val="000000"/>
                </a:solidFill>
                <a:latin typeface="Roboto Mono"/>
                <a:cs typeface="Roboto Mono"/>
              </a:rPr>
              <a:t> t_tensor = zipped_divide(tensor,</a:t>
            </a:r>
          </a:p>
          <a:p>
            <a:pPr algn="l">
              <a:lnSpc>
                <a:spcPts val="3400"/>
              </a:lnSpc>
              <a:spcBef>
                <a:spcPts val="0"/>
              </a:spcBef>
              <a:buNone/>
            </a:pPr>
            <a:r>
              <a:rPr lang="en-US" sz="2800">
                <a:solidFill>
                  <a:srgbClr val="000000"/>
                </a:solidFill>
                <a:latin typeface="Roboto Mono"/>
                <a:cs typeface="Roboto Mono"/>
              </a:rPr>
              <a:t>    prepend(product_each(shape(frg_layout_mn)), V));</a:t>
            </a:r>
          </a:p>
          <a:p>
            <a:pPr algn="l">
              <a:lnSpc>
                <a:spcPts val="3400"/>
              </a:lnSpc>
              <a:spcBef>
                <a:spcPts val="0"/>
              </a:spcBef>
              <a:buNone/>
            </a:pPr>
            <a:r>
              <a:rPr lang="en-US" sz="2800">
                <a:solidFill>
                  <a:srgbClr val="000000"/>
                </a:solidFill>
                <a:latin typeface="Roboto Mono"/>
                <a:cs typeface="Roboto Mono"/>
              </a:rPr>
              <a:t>  </a:t>
            </a:r>
            <a:r>
              <a:rPr lang="en-US" sz="2800">
                <a:solidFill>
                  <a:srgbClr val="4A4A4A"/>
                </a:solidFill>
                <a:latin typeface="Roboto Mono"/>
                <a:cs typeface="Roboto Mono"/>
              </a:rPr>
              <a:t>// ((TileV,TileM,TileN,...),(1,RestM,RestN,...))</a:t>
            </a:r>
          </a:p>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auto</a:t>
            </a:r>
            <a:r>
              <a:rPr lang="en-US" sz="2800">
                <a:solidFill>
                  <a:srgbClr val="000000"/>
                </a:solidFill>
                <a:latin typeface="Roboto Mono"/>
                <a:cs typeface="Roboto Mono"/>
              </a:rPr>
              <a:t> v_tensor = t_tensor.compose(frg_layout_v, _);</a:t>
            </a:r>
          </a:p>
          <a:p>
            <a:pPr algn="l">
              <a:lnSpc>
                <a:spcPts val="3400"/>
              </a:lnSpc>
              <a:spcBef>
                <a:spcPts val="0"/>
              </a:spcBef>
              <a:buNone/>
            </a:pPr>
            <a:r>
              <a:rPr lang="en-US" sz="2800">
                <a:solidFill>
                  <a:srgbClr val="000000"/>
                </a:solidFill>
                <a:latin typeface="Roboto Mono"/>
                <a:cs typeface="Roboto Mono"/>
              </a:rPr>
              <a:t>  </a:t>
            </a:r>
            <a:r>
              <a:rPr lang="en-US" sz="2800">
                <a:solidFill>
                  <a:srgbClr val="4A4A4A"/>
                </a:solidFill>
                <a:latin typeface="Roboto Mono"/>
                <a:cs typeface="Roboto Mono"/>
              </a:rPr>
              <a:t>// ((atom_vals,rest_vals),(1,RM,RN,...))</a:t>
            </a:r>
          </a:p>
          <a:p>
            <a:pPr algn="l">
              <a:lnSpc>
                <a:spcPts val="3400"/>
              </a:lnSpc>
              <a:spcBef>
                <a:spcPts val="0"/>
              </a:spcBef>
              <a:buNone/>
            </a:pPr>
            <a:r>
              <a:rPr lang="en-US" sz="2800">
                <a:solidFill>
                  <a:srgbClr val="000000"/>
                </a:solidFill>
                <a:latin typeface="Roboto Mono"/>
                <a:cs typeface="Roboto Mono"/>
              </a:rPr>
              <a:t>  </a:t>
            </a:r>
            <a:r>
              <a:rPr lang="en-US" sz="2800" i="1">
                <a:solidFill>
                  <a:srgbClr val="6E6E6E"/>
                </a:solidFill>
                <a:latin typeface="Roboto Mono"/>
                <a:cs typeface="Roboto Mono"/>
              </a:rPr>
              <a:t>⟨...⟩</a:t>
            </a:r>
          </a:p>
          <a:p>
            <a:pPr algn="l">
              <a:lnSpc>
                <a:spcPts val="3400"/>
              </a:lnSpc>
              <a:spcBef>
                <a:spcPts val="0"/>
              </a:spcBef>
              <a:buNone/>
            </a:pPr>
            <a:r>
              <a:rPr lang="en-US" sz="2800">
                <a:solidFill>
                  <a:srgbClr val="000000"/>
                </a:solidFill>
                <a:latin typeface="Roboto Mono"/>
                <a:cs typeface="Roboto Mono"/>
              </a:rPr>
              <a:t>  </a:t>
            </a:r>
            <a:r>
              <a:rPr lang="en-US" sz="2800">
                <a:solidFill>
                  <a:srgbClr val="4A4A4A"/>
                </a:solidFill>
                <a:latin typeface="Roboto Mono"/>
                <a:cs typeface="Roboto Mono"/>
              </a:rPr>
              <a:t>// Unfold and return</a:t>
            </a:r>
          </a:p>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return</a:t>
            </a:r>
            <a:r>
              <a:rPr lang="en-US" sz="2800">
                <a:solidFill>
                  <a:srgbClr val="000000"/>
                </a:solidFill>
                <a:latin typeface="Roboto Mono"/>
                <a:cs typeface="Roboto Mono"/>
              </a:rPr>
              <a:t> v_tensor(_, append&lt;R&gt;(Int&lt;0&gt;{},_));</a:t>
            </a:r>
          </a:p>
        </p:txBody>
      </p:sp>
      <p:sp>
        <p:nvSpPr>
          <p:cNvPr id="31" name="S3R">
            <a:extLst>
              <a:ext uri="{FF2B5EF4-FFF2-40B4-BE49-F238E27FC236}">
                <a16:creationId xmlns:a16="http://schemas.microsoft.com/office/drawing/2014/main" id="{488501B0-2D74-5942-861C-EDBEC851F1C8}"/>
              </a:ext>
            </a:extLst>
          </p:cNvPr>
          <p:cNvSpPr txBox="1"/>
          <p:nvPr/>
        </p:nvSpPr>
        <p:spPr>
          <a:xfrm>
            <a:off x="18923000" y="13817600"/>
            <a:ext cx="15824200" cy="3454400"/>
          </a:xfrm>
          <a:prstGeom prst="rect">
            <a:avLst/>
          </a:prstGeom>
          <a:noFill/>
        </p:spPr>
        <p:txBody>
          <a:bodyPr vertOverflow="overflow" vert="horz" wrap="none" rtlCol="0" anchor="t" anchorCtr="0">
            <a:noAutofit/>
          </a:bodyPr>
          <a:lstStyle/>
          <a:p>
            <a:pPr algn="l">
              <a:lnSpc>
                <a:spcPts val="3400"/>
              </a:lnSpc>
              <a:spcBef>
                <a:spcPts val="0"/>
              </a:spcBef>
              <a:buNone/>
            </a:pPr>
            <a:r>
              <a:rPr lang="en-US" sz="2800">
                <a:solidFill>
                  <a:srgbClr val="000000"/>
                </a:solidFill>
                <a:latin typeface="Roboto Mono"/>
                <a:cs typeface="Roboto Mono"/>
              </a:rPr>
              <a:t>    tiler = (v,) + tuple(product_each(shape(frg_mn)))</a:t>
            </a:r>
          </a:p>
          <a:p>
            <a:pPr algn="l">
              <a:lnSpc>
                <a:spcPts val="3400"/>
              </a:lnSpc>
              <a:spcBef>
                <a:spcPts val="0"/>
              </a:spcBef>
              <a:buNone/>
            </a:pPr>
            <a:r>
              <a:rPr lang="en-US" sz="2800">
                <a:solidFill>
                  <a:srgbClr val="000000"/>
                </a:solidFill>
                <a:latin typeface="Roboto Mono"/>
                <a:cs typeface="Roboto Mono"/>
              </a:rPr>
              <a:t>    t_lay = zipped_divide(lay, tiler)    </a:t>
            </a:r>
            <a:r>
              <a:rPr lang="en-US" sz="2800">
                <a:solidFill>
                  <a:srgbClr val="76B900"/>
                </a:solidFill>
                <a:latin typeface="Roboto Mono"/>
                <a:cs typeface="Roboto Mono"/>
              </a:rPr>
              <a:t># ← pycute</a:t>
            </a:r>
          </a:p>
          <a:p>
            <a:pPr algn="l">
              <a:lnSpc>
                <a:spcPts val="3400"/>
              </a:lnSpc>
              <a:spcBef>
                <a:spcPts val="0"/>
              </a:spcBef>
              <a:buNone/>
            </a:pPr>
            <a:r>
              <a:rPr lang="en-US" sz="2800">
                <a:solidFill>
                  <a:srgbClr val="000000"/>
                </a:solidFill>
                <a:latin typeface="Roboto Mono"/>
                <a:cs typeface="Roboto Mono"/>
              </a:rPr>
              <a:t>    v_lay = composition(t_lay, (frg_v, </a:t>
            </a:r>
            <a:r>
              <a:rPr lang="en-US" sz="2800">
                <a:solidFill>
                  <a:srgbClr val="952FC6"/>
                </a:solidFill>
                <a:latin typeface="Roboto Mono"/>
                <a:cs typeface="Roboto Mono"/>
              </a:rPr>
              <a:t>None</a:t>
            </a:r>
            <a:r>
              <a:rPr lang="en-US" sz="2800">
                <a:solidFill>
                  <a:srgbClr val="000000"/>
                </a:solidFill>
                <a:latin typeface="Roboto Mono"/>
                <a:cs typeface="Roboto Mono"/>
              </a:rPr>
              <a:t>))</a:t>
            </a:r>
          </a:p>
          <a:p>
            <a:pPr algn="l">
              <a:lnSpc>
                <a:spcPts val="3400"/>
              </a:lnSpc>
              <a:spcBef>
                <a:spcPts val="0"/>
              </a:spcBef>
              <a:buNone/>
            </a:pPr>
            <a:r>
              <a:rPr lang="en-US" sz="2800">
                <a:solidFill>
                  <a:srgbClr val="000000"/>
                </a:solidFill>
                <a:latin typeface="Roboto Mono"/>
                <a:cs typeface="Roboto Mono"/>
              </a:rPr>
              <a:t>    offset, kept = v_lay._offset_and_slice(</a:t>
            </a:r>
          </a:p>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None</a:t>
            </a:r>
            <a:r>
              <a:rPr lang="en-US" sz="2800">
                <a:solidFill>
                  <a:srgbClr val="000000"/>
                </a:solidFill>
                <a:latin typeface="Roboto Mono"/>
                <a:cs typeface="Roboto Mono"/>
              </a:rPr>
              <a:t>, (0,) + (</a:t>
            </a:r>
            <a:r>
              <a:rPr lang="en-US" sz="2800">
                <a:solidFill>
                  <a:srgbClr val="952FC6"/>
                </a:solidFill>
                <a:latin typeface="Roboto Mono"/>
                <a:cs typeface="Roboto Mono"/>
              </a:rPr>
              <a:t>None</a:t>
            </a:r>
            <a:r>
              <a:rPr lang="en-US" sz="2800">
                <a:solidFill>
                  <a:srgbClr val="000000"/>
                </a:solidFill>
                <a:latin typeface="Roboto Mono"/>
                <a:cs typeface="Roboto Mono"/>
              </a:rPr>
              <a:t>,) * (r - 1)))  </a:t>
            </a:r>
            <a:r>
              <a:rPr lang="en-US" sz="2800">
                <a:solidFill>
                  <a:srgbClr val="76B900"/>
                </a:solidFill>
                <a:latin typeface="Roboto Mono"/>
                <a:cs typeface="Roboto Mono"/>
              </a:rPr>
              <a:t># ← pycute</a:t>
            </a:r>
          </a:p>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assert</a:t>
            </a:r>
            <a:r>
              <a:rPr lang="en-US" sz="2800">
                <a:solidFill>
                  <a:srgbClr val="000000"/>
                </a:solidFill>
                <a:latin typeface="Roboto Mono"/>
                <a:cs typeface="Roboto Mono"/>
              </a:rPr>
              <a:t> offset == 0</a:t>
            </a:r>
          </a:p>
          <a:p>
            <a:pPr algn="l">
              <a:lnSpc>
                <a:spcPts val="3400"/>
              </a:lnSpc>
              <a:spcBef>
                <a:spcPts val="0"/>
              </a:spcBef>
              <a:buNone/>
            </a:pPr>
            <a:r>
              <a:rPr lang="en-US" sz="2800">
                <a:solidFill>
                  <a:srgbClr val="000000"/>
                </a:solidFill>
                <a:latin typeface="Roboto Mono"/>
                <a:cs typeface="Roboto Mono"/>
              </a:rPr>
              <a:t>    </a:t>
            </a:r>
            <a:r>
              <a:rPr lang="en-US" sz="2800">
                <a:solidFill>
                  <a:srgbClr val="952FC6"/>
                </a:solidFill>
                <a:latin typeface="Roboto Mono"/>
                <a:cs typeface="Roboto Mono"/>
              </a:rPr>
              <a:t>return</a:t>
            </a:r>
            <a:r>
              <a:rPr lang="en-US" sz="2800">
                <a:solidFill>
                  <a:srgbClr val="000000"/>
                </a:solidFill>
                <a:latin typeface="Roboto Mono"/>
                <a:cs typeface="Roboto Mono"/>
              </a:rPr>
              <a:t> type(frag)(frag.iterator, kept,</a:t>
            </a:r>
          </a:p>
          <a:p>
            <a:pPr algn="l">
              <a:lnSpc>
                <a:spcPts val="3400"/>
              </a:lnSpc>
              <a:spcBef>
                <a:spcPts val="0"/>
              </a:spcBef>
              <a:buNone/>
            </a:pPr>
            <a:r>
              <a:rPr lang="en-US" sz="2800">
                <a:solidFill>
                  <a:srgbClr val="000000"/>
                </a:solidFill>
                <a:latin typeface="Roboto Mono"/>
                <a:cs typeface="Roboto Mono"/>
              </a:rPr>
              <a:t>                      align=frag.align, space=frag.space)</a:t>
            </a:r>
          </a:p>
        </p:txBody>
      </p:sp>
      <p:sp>
        <p:nvSpPr>
          <p:cNvPr id="32" name="S3A">
            <a:extLst>
              <a:ext uri="{FF2B5EF4-FFF2-40B4-BE49-F238E27FC236}">
                <a16:creationId xmlns:a16="http://schemas.microsoft.com/office/drawing/2014/main" id="{049140D1-E05E-C74E-98FC-1FEE4FA569D6}"/>
              </a:ext>
            </a:extLst>
          </p:cNvPr>
          <p:cNvSpPr/>
          <p:nvPr/>
        </p:nvSpPr>
        <p:spPr>
          <a:xfrm>
            <a:off x="17729200" y="15341600"/>
            <a:ext cx="711200" cy="406400"/>
          </a:xfrm>
          <a:prstGeom prst="rightArrow">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SR1">
            <a:extLst>
              <a:ext uri="{FF2B5EF4-FFF2-40B4-BE49-F238E27FC236}">
                <a16:creationId xmlns:a16="http://schemas.microsoft.com/office/drawing/2014/main" id="{FD70D470-3A9D-A248-A453-CC02209C2396}"/>
              </a:ext>
            </a:extLst>
          </p:cNvPr>
          <p:cNvSpPr/>
          <p:nvPr/>
        </p:nvSpPr>
        <p:spPr>
          <a:xfrm>
            <a:off x="1828800" y="2794000"/>
            <a:ext cx="329184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SR2">
            <a:extLst>
              <a:ext uri="{FF2B5EF4-FFF2-40B4-BE49-F238E27FC236}">
                <a16:creationId xmlns:a16="http://schemas.microsoft.com/office/drawing/2014/main" id="{2DEA28C8-012D-D34F-A792-471CEF0665BF}"/>
              </a:ext>
            </a:extLst>
          </p:cNvPr>
          <p:cNvSpPr/>
          <p:nvPr/>
        </p:nvSpPr>
        <p:spPr>
          <a:xfrm>
            <a:off x="1828800" y="8204200"/>
            <a:ext cx="329184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SR3">
            <a:extLst>
              <a:ext uri="{FF2B5EF4-FFF2-40B4-BE49-F238E27FC236}">
                <a16:creationId xmlns:a16="http://schemas.microsoft.com/office/drawing/2014/main" id="{29F22EBA-8A2B-284C-B67C-A602D08D8FAE}"/>
              </a:ext>
            </a:extLst>
          </p:cNvPr>
          <p:cNvSpPr/>
          <p:nvPr/>
        </p:nvSpPr>
        <p:spPr>
          <a:xfrm>
            <a:off x="1828800" y="12750800"/>
            <a:ext cx="32918400" cy="76200"/>
          </a:xfrm>
          <a:prstGeom prst="rect">
            <a:avLst/>
          </a:prstGeom>
          <a:solidFill>
            <a:srgbClr val="76B9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86317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animBg="1"/>
      <p:bldP spid="24" grpId="0"/>
      <p:bldP spid="25" grpId="0"/>
      <p:bldP spid="26" grpId="0"/>
      <p:bldP spid="27" grpId="0" animBg="1"/>
      <p:bldP spid="29" grpId="0"/>
      <p:bldP spid="30" grpId="0"/>
      <p:bldP spid="31" grpId="0"/>
      <p:bldP spid="32" grpId="0" animBg="1"/>
      <p:bldP spid="4" grpId="0" animBg="1"/>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50CA43FD-B281-EA40-B2C2-B5216C1BBC02}"/>
              </a:ext>
            </a:extLst>
          </p:cNvPr>
          <p:cNvSpPr txBox="1"/>
          <p:nvPr/>
        </p:nvSpPr>
        <p:spPr>
          <a:xfrm>
            <a:off x="1828800" y="609600"/>
            <a:ext cx="32918400" cy="1397000"/>
          </a:xfrm>
          <a:prstGeom prst="rect">
            <a:avLst/>
          </a:prstGeom>
          <a:noFill/>
        </p:spPr>
        <p:txBody>
          <a:bodyPr vertOverflow="overflow" vert="horz" wrap="none" rtlCol="0" anchor="t" anchorCtr="0">
            <a:noAutofit/>
          </a:bodyPr>
          <a:lstStyle/>
          <a:p>
            <a:pPr algn="l"/>
            <a:r>
              <a:rPr lang="en-US" sz="5600">
                <a:latin typeface="NVIDIA Sans Medium"/>
                <a:cs typeface="NVIDIA Sans Medium"/>
              </a:rPr>
              <a:t>Blackwell GEMM, End to End</a:t>
            </a:r>
          </a:p>
        </p:txBody>
      </p:sp>
      <p:sp>
        <p:nvSpPr>
          <p:cNvPr id="3" name="SubTx">
            <a:extLst>
              <a:ext uri="{FF2B5EF4-FFF2-40B4-BE49-F238E27FC236}">
                <a16:creationId xmlns:a16="http://schemas.microsoft.com/office/drawing/2014/main" id="{717D200B-8ADD-944F-AA86-89FE471D2F49}"/>
              </a:ext>
            </a:extLst>
          </p:cNvPr>
          <p:cNvSpPr txBox="1"/>
          <p:nvPr/>
        </p:nvSpPr>
        <p:spPr>
          <a:xfrm>
            <a:off x="1828800" y="2006600"/>
            <a:ext cx="32918400" cy="762000"/>
          </a:xfrm>
          <a:prstGeom prst="rect">
            <a:avLst/>
          </a:prstGeom>
          <a:noFill/>
        </p:spPr>
        <p:txBody>
          <a:bodyPr vertOverflow="overflow" vert="horz" wrap="square" rtlCol="0" anchor="t" anchorCtr="0">
            <a:noAutofit/>
          </a:bodyPr>
          <a:lstStyle/>
          <a:p>
            <a:pPr algn="l">
              <a:lnSpc>
                <a:spcPts val="2800"/>
              </a:lnSpc>
              <a:buNone/>
            </a:pPr>
            <a:r>
              <a:rPr lang="en-US" sz="2400">
                <a:solidFill>
                  <a:srgbClr val="4A4A4A"/>
                </a:solidFill>
                <a:latin typeface="NVIDIA Sans"/>
                <a:cs typeface="NVIDIA Sans"/>
              </a:rPr>
              <a:t>The imports, and the host side that builds the atoms.</a:t>
            </a:r>
          </a:p>
        </p:txBody>
      </p:sp>
      <p:sp>
        <p:nvSpPr>
          <p:cNvPr id="4" name="S1L">
            <a:extLst>
              <a:ext uri="{FF2B5EF4-FFF2-40B4-BE49-F238E27FC236}">
                <a16:creationId xmlns:a16="http://schemas.microsoft.com/office/drawing/2014/main" id="{31CFF39B-7C42-2F41-B4EA-A10F2977BC7C}"/>
              </a:ext>
            </a:extLst>
          </p:cNvPr>
          <p:cNvSpPr txBox="1"/>
          <p:nvPr/>
        </p:nvSpPr>
        <p:spPr>
          <a:xfrm>
            <a:off x="1828800" y="4191000"/>
            <a:ext cx="16510000" cy="609600"/>
          </a:xfrm>
          <a:prstGeom prst="rect">
            <a:avLst/>
          </a:prstGeom>
          <a:noFill/>
        </p:spPr>
        <p:txBody>
          <a:bodyPr vertOverflow="overflow" vert="horz" wrap="none" rtlCol="0" anchor="t" anchorCtr="0">
            <a:noAutofit/>
          </a:bodyPr>
          <a:lstStyle/>
          <a:p>
            <a:pPr algn="l">
              <a:lnSpc>
                <a:spcPts val="3200"/>
              </a:lnSpc>
              <a:buNone/>
            </a:pPr>
            <a:r>
              <a:rPr lang="en-US" sz="2800" b="1">
                <a:solidFill>
                  <a:srgbClr val="76B900"/>
                </a:solidFill>
                <a:latin typeface="NVIDIA Sans"/>
                <a:cs typeface="NVIDIA Sans"/>
              </a:rPr>
              <a:t>STEP 01  ·  What the File Imports</a:t>
            </a:r>
          </a:p>
        </p:txBody>
      </p:sp>
      <p:sp>
        <p:nvSpPr>
          <p:cNvPr id="5" name="S1C">
            <a:extLst>
              <a:ext uri="{FF2B5EF4-FFF2-40B4-BE49-F238E27FC236}">
                <a16:creationId xmlns:a16="http://schemas.microsoft.com/office/drawing/2014/main" id="{D802812A-737E-B446-8FF3-D36BEC7D960E}"/>
              </a:ext>
            </a:extLst>
          </p:cNvPr>
          <p:cNvSpPr txBox="1"/>
          <p:nvPr/>
        </p:nvSpPr>
        <p:spPr>
          <a:xfrm>
            <a:off x="1828800" y="4978400"/>
            <a:ext cx="16510000" cy="6743700"/>
          </a:xfrm>
          <a:prstGeom prst="rect">
            <a:avLst/>
          </a:prstGeom>
          <a:noFill/>
        </p:spPr>
        <p:txBody>
          <a:bodyPr vertOverflow="overflow" vert="horz" wrap="none" rtlCol="0" anchor="t" anchorCtr="0">
            <a:noAutofit/>
          </a:bodyPr>
          <a:lstStyle/>
          <a:p>
            <a:pPr algn="l">
              <a:lnSpc>
                <a:spcPts val="3900"/>
              </a:lnSpc>
              <a:spcBef>
                <a:spcPts val="0"/>
              </a:spcBef>
              <a:buNone/>
            </a:pPr>
            <a:r>
              <a:rPr lang="en-US" sz="3300">
                <a:solidFill>
                  <a:srgbClr val="952FC6"/>
                </a:solidFill>
                <a:latin typeface="Roboto Mono"/>
                <a:cs typeface="Roboto Mono"/>
              </a:rPr>
              <a:t>import</a:t>
            </a:r>
            <a:r>
              <a:rPr lang="en-US" sz="3300">
                <a:solidFill>
                  <a:srgbClr val="000000"/>
                </a:solidFill>
                <a:latin typeface="Roboto Mono"/>
                <a:cs typeface="Roboto Mono"/>
              </a:rPr>
              <a:t> cutlass</a:t>
            </a:r>
          </a:p>
          <a:p>
            <a:pPr algn="l">
              <a:lnSpc>
                <a:spcPts val="3900"/>
              </a:lnSpc>
              <a:spcBef>
                <a:spcPts val="0"/>
              </a:spcBef>
              <a:buNone/>
            </a:pPr>
            <a:r>
              <a:rPr lang="en-US" sz="3300">
                <a:solidFill>
                  <a:srgbClr val="952FC6"/>
                </a:solidFill>
                <a:latin typeface="Roboto Mono"/>
                <a:cs typeface="Roboto Mono"/>
              </a:rPr>
              <a:t>import</a:t>
            </a:r>
            <a:r>
              <a:rPr lang="en-US" sz="3300">
                <a:solidFill>
                  <a:srgbClr val="000000"/>
                </a:solidFill>
                <a:latin typeface="Roboto Mono"/>
                <a:cs typeface="Roboto Mono"/>
              </a:rPr>
              <a:t> cutlass.cute </a:t>
            </a:r>
            <a:r>
              <a:rPr lang="en-US" sz="3300">
                <a:solidFill>
                  <a:srgbClr val="952FC6"/>
                </a:solidFill>
                <a:latin typeface="Roboto Mono"/>
                <a:cs typeface="Roboto Mono"/>
              </a:rPr>
              <a:t>as</a:t>
            </a:r>
            <a:r>
              <a:rPr lang="en-US" sz="3300">
                <a:solidFill>
                  <a:srgbClr val="000000"/>
                </a:solidFill>
                <a:latin typeface="Roboto Mono"/>
                <a:cs typeface="Roboto Mono"/>
              </a:rPr>
              <a:t> cute</a:t>
            </a:r>
          </a:p>
          <a:p>
            <a:pPr algn="l">
              <a:lnSpc>
                <a:spcPts val="3900"/>
              </a:lnSpc>
              <a:spcBef>
                <a:spcPts val="0"/>
              </a:spcBef>
              <a:buNone/>
            </a:pPr>
            <a:r>
              <a:rPr lang="en-US" sz="3300">
                <a:solidFill>
                  <a:srgbClr val="952FC6"/>
                </a:solidFill>
                <a:latin typeface="Roboto Mono"/>
                <a:cs typeface="Roboto Mono"/>
              </a:rPr>
              <a:t>import</a:t>
            </a:r>
            <a:r>
              <a:rPr lang="en-US" sz="3300">
                <a:solidFill>
                  <a:srgbClr val="000000"/>
                </a:solidFill>
                <a:latin typeface="Roboto Mono"/>
                <a:cs typeface="Roboto Mono"/>
              </a:rPr>
              <a:t> cutlass.experimental.cuda </a:t>
            </a:r>
            <a:r>
              <a:rPr lang="en-US" sz="3300">
                <a:solidFill>
                  <a:srgbClr val="952FC6"/>
                </a:solidFill>
                <a:latin typeface="Roboto Mono"/>
                <a:cs typeface="Roboto Mono"/>
              </a:rPr>
              <a:t>as</a:t>
            </a:r>
            <a:r>
              <a:rPr lang="en-US" sz="3300">
                <a:solidFill>
                  <a:srgbClr val="000000"/>
                </a:solidFill>
                <a:latin typeface="Roboto Mono"/>
                <a:cs typeface="Roboto Mono"/>
              </a:rPr>
              <a:t> cuda</a:t>
            </a:r>
          </a:p>
          <a:p>
            <a:pPr algn="l">
              <a:lnSpc>
                <a:spcPts val="3900"/>
              </a:lnSpc>
              <a:spcBef>
                <a:spcPts val="0"/>
              </a:spcBef>
              <a:buNone/>
            </a:pPr>
            <a:r>
              <a:rPr lang="en-US" sz="3300">
                <a:solidFill>
                  <a:srgbClr val="952FC6"/>
                </a:solidFill>
                <a:latin typeface="Roboto Mono"/>
                <a:cs typeface="Roboto Mono"/>
              </a:rPr>
              <a:t>import</a:t>
            </a:r>
            <a:r>
              <a:rPr lang="en-US" sz="3300">
                <a:solidFill>
                  <a:srgbClr val="000000"/>
                </a:solidFill>
                <a:latin typeface="Roboto Mono"/>
                <a:cs typeface="Roboto Mono"/>
              </a:rPr>
              <a:t> ctm</a:t>
            </a:r>
          </a:p>
          <a:p>
            <a:pPr algn="l">
              <a:lnSpc>
                <a:spcPts val="3900"/>
              </a:lnSpc>
              <a:spcBef>
                <a:spcPts val="0"/>
              </a:spcBef>
              <a:buNone/>
            </a:pPr>
            <a:r>
              <a:rPr lang="en-US" sz="3300">
                <a:solidFill>
                  <a:srgbClr val="952FC6"/>
                </a:solidFill>
                <a:latin typeface="Roboto Mono"/>
                <a:cs typeface="Roboto Mono"/>
              </a:rPr>
              <a:t>from</a:t>
            </a:r>
            <a:r>
              <a:rPr lang="en-US" sz="3300">
                <a:solidFill>
                  <a:srgbClr val="000000"/>
                </a:solidFill>
                <a:latin typeface="Roboto Mono"/>
                <a:cs typeface="Roboto Mono"/>
              </a:rPr>
              <a:t> cutlass.cutlass_dsl </a:t>
            </a:r>
            <a:r>
              <a:rPr lang="en-US" sz="3300">
                <a:solidFill>
                  <a:srgbClr val="952FC6"/>
                </a:solidFill>
                <a:latin typeface="Roboto Mono"/>
                <a:cs typeface="Roboto Mono"/>
              </a:rPr>
              <a:t>import</a:t>
            </a:r>
            <a:r>
              <a:rPr lang="en-US" sz="3300">
                <a:solidFill>
                  <a:srgbClr val="000000"/>
                </a:solidFill>
                <a:latin typeface="Roboto Mono"/>
                <a:cs typeface="Roboto Mono"/>
              </a:rPr>
              <a:t> SMEM_CAPACITY_MAP</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952FC6"/>
                </a:solidFill>
                <a:latin typeface="Roboto Mono"/>
                <a:cs typeface="Roboto Mono"/>
              </a:rPr>
              <a:t>import</a:t>
            </a:r>
            <a:r>
              <a:rPr lang="en-US" sz="3300">
                <a:solidFill>
                  <a:srgbClr val="000000"/>
                </a:solidFill>
                <a:latin typeface="Roboto Mono"/>
                <a:cs typeface="Roboto Mono"/>
              </a:rPr>
              <a:t> cutlasspy </a:t>
            </a:r>
            <a:r>
              <a:rPr lang="en-US" sz="3300">
                <a:solidFill>
                  <a:srgbClr val="952FC6"/>
                </a:solidFill>
                <a:latin typeface="Roboto Mono"/>
                <a:cs typeface="Roboto Mono"/>
              </a:rPr>
              <a:t>as</a:t>
            </a:r>
            <a:r>
              <a:rPr lang="en-US" sz="3300">
                <a:solidFill>
                  <a:srgbClr val="000000"/>
                </a:solidFill>
                <a:latin typeface="Roboto Mono"/>
                <a:cs typeface="Roboto Mono"/>
              </a:rPr>
              <a:t> cpy</a:t>
            </a:r>
          </a:p>
          <a:p>
            <a:pPr algn="l">
              <a:lnSpc>
                <a:spcPts val="3900"/>
              </a:lnSpc>
              <a:spcBef>
                <a:spcPts val="0"/>
              </a:spcBef>
              <a:buNone/>
            </a:pPr>
            <a:r>
              <a:rPr lang="en-US" sz="3300">
                <a:solidFill>
                  <a:srgbClr val="952FC6"/>
                </a:solidFill>
                <a:latin typeface="Roboto Mono"/>
                <a:cs typeface="Roboto Mono"/>
              </a:rPr>
              <a:t>from</a:t>
            </a:r>
            <a:r>
              <a:rPr lang="en-US" sz="3300">
                <a:solidFill>
                  <a:srgbClr val="000000"/>
                </a:solidFill>
                <a:latin typeface="Roboto Mono"/>
                <a:cs typeface="Roboto Mono"/>
              </a:rPr>
              <a:t> cutlasspy.atoms </a:t>
            </a:r>
            <a:r>
              <a:rPr lang="en-US" sz="3300">
                <a:solidFill>
                  <a:srgbClr val="952FC6"/>
                </a:solidFill>
                <a:latin typeface="Roboto Mono"/>
                <a:cs typeface="Roboto Mono"/>
              </a:rPr>
              <a:t>import</a:t>
            </a:r>
            <a:r>
              <a:rPr lang="en-US" sz="3300">
                <a:solidFill>
                  <a:srgbClr val="000000"/>
                </a:solidFill>
                <a:latin typeface="Roboto Mono"/>
                <a:cs typeface="Roboto Mono"/>
              </a:rPr>
              <a:t> sm90, sm100, smem</a:t>
            </a:r>
          </a:p>
          <a:p>
            <a:pPr algn="l">
              <a:lnSpc>
                <a:spcPts val="3900"/>
              </a:lnSpc>
              <a:spcBef>
                <a:spcPts val="0"/>
              </a:spcBef>
              <a:buNone/>
            </a:pPr>
            <a:r>
              <a:rPr lang="en-US" sz="3300">
                <a:solidFill>
                  <a:srgbClr val="952FC6"/>
                </a:solidFill>
                <a:latin typeface="Roboto Mono"/>
                <a:cs typeface="Roboto Mono"/>
              </a:rPr>
              <a:t>from</a:t>
            </a:r>
            <a:r>
              <a:rPr lang="en-US" sz="3300">
                <a:solidFill>
                  <a:srgbClr val="000000"/>
                </a:solidFill>
                <a:latin typeface="Roboto Mono"/>
                <a:cs typeface="Roboto Mono"/>
              </a:rPr>
              <a:t> pycute </a:t>
            </a:r>
            <a:r>
              <a:rPr lang="en-US" sz="3300">
                <a:solidFill>
                  <a:srgbClr val="952FC6"/>
                </a:solidFill>
                <a:latin typeface="Roboto Mono"/>
                <a:cs typeface="Roboto Mono"/>
              </a:rPr>
              <a:t>import</a:t>
            </a:r>
            <a:r>
              <a:rPr lang="en-US" sz="3300">
                <a:solidFill>
                  <a:srgbClr val="000000"/>
                </a:solidFill>
                <a:latin typeface="Roboto Mono"/>
                <a:cs typeface="Roboto Mono"/>
              </a:rPr>
              <a:t> Layout, size</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f16, f32 = cutlass.Float16, cutlass.Float32</a:t>
            </a:r>
          </a:p>
          <a:p>
            <a:pPr algn="l">
              <a:lnSpc>
                <a:spcPts val="3900"/>
              </a:lnSpc>
              <a:spcBef>
                <a:spcPts val="0"/>
              </a:spcBef>
              <a:buNone/>
            </a:pPr>
            <a:r>
              <a:rPr lang="en-US" sz="3300">
                <a:solidFill>
                  <a:srgbClr val="000000"/>
                </a:solidFill>
                <a:latin typeface="Roboto Mono"/>
                <a:cs typeface="Roboto Mono"/>
              </a:rPr>
              <a:t>i32      = cutlass.Int32</a:t>
            </a:r>
          </a:p>
          <a:p>
            <a:pPr algn="l">
              <a:lnSpc>
                <a:spcPts val="3900"/>
              </a:lnSpc>
              <a:spcBef>
                <a:spcPts val="0"/>
              </a:spcBef>
              <a:buNone/>
            </a:pPr>
            <a:r>
              <a:rPr lang="en-US" sz="3300">
                <a:solidFill>
                  <a:srgbClr val="000000"/>
                </a:solidFill>
                <a:latin typeface="Roboto Mono"/>
                <a:cs typeface="Roboto Mono"/>
              </a:rPr>
              <a:t>THREADS, TMA_WARP, MMA_WARP = </a:t>
            </a:r>
            <a:r>
              <a:rPr lang="en-US" sz="3300">
                <a:solidFill>
                  <a:srgbClr val="B5651D"/>
                </a:solidFill>
                <a:latin typeface="Roboto Mono"/>
                <a:cs typeface="Roboto Mono"/>
              </a:rPr>
              <a:t>128</a:t>
            </a:r>
            <a:r>
              <a:rPr lang="en-US" sz="3300">
                <a:solidFill>
                  <a:srgbClr val="000000"/>
                </a:solidFill>
                <a:latin typeface="Roboto Mono"/>
                <a:cs typeface="Roboto Mono"/>
              </a:rPr>
              <a:t>, </a:t>
            </a:r>
            <a:r>
              <a:rPr lang="en-US" sz="3300">
                <a:solidFill>
                  <a:srgbClr val="B5651D"/>
                </a:solidFill>
                <a:latin typeface="Roboto Mono"/>
                <a:cs typeface="Roboto Mono"/>
              </a:rPr>
              <a:t>0</a:t>
            </a:r>
            <a:r>
              <a:rPr lang="en-US" sz="3300">
                <a:solidFill>
                  <a:srgbClr val="000000"/>
                </a:solidFill>
                <a:latin typeface="Roboto Mono"/>
                <a:cs typeface="Roboto Mono"/>
              </a:rPr>
              <a:t>, </a:t>
            </a:r>
            <a:r>
              <a:rPr lang="en-US" sz="3300">
                <a:solidFill>
                  <a:srgbClr val="B5651D"/>
                </a:solidFill>
                <a:latin typeface="Roboto Mono"/>
                <a:cs typeface="Roboto Mono"/>
              </a:rPr>
              <a:t>1</a:t>
            </a:r>
          </a:p>
        </p:txBody>
      </p:sp>
      <p:sp>
        <p:nvSpPr>
          <p:cNvPr id="6" name="S1N">
            <a:extLst>
              <a:ext uri="{FF2B5EF4-FFF2-40B4-BE49-F238E27FC236}">
                <a16:creationId xmlns:a16="http://schemas.microsoft.com/office/drawing/2014/main" id="{2BC058F7-BAE7-0E48-BE77-90D80D25644B}"/>
              </a:ext>
            </a:extLst>
          </p:cNvPr>
          <p:cNvSpPr txBox="1"/>
          <p:nvPr/>
        </p:nvSpPr>
        <p:spPr>
          <a:xfrm>
            <a:off x="1828800" y="11925300"/>
            <a:ext cx="16510000" cy="609600"/>
          </a:xfrm>
          <a:prstGeom prst="rect">
            <a:avLst/>
          </a:prstGeom>
          <a:noFill/>
        </p:spPr>
        <p:txBody>
          <a:bodyPr vertOverflow="overflow" vert="horz" wrap="square" rtlCol="0" anchor="t" anchorCtr="0">
            <a:noAutofit/>
          </a:bodyPr>
          <a:lstStyle/>
          <a:p>
            <a:pPr algn="l">
              <a:lnSpc>
                <a:spcPts val="2600"/>
              </a:lnSpc>
              <a:buNone/>
            </a:pPr>
            <a:r>
              <a:rPr lang="en-US" sz="2200">
                <a:solidFill>
                  <a:srgbClr val="6E6E6E"/>
                </a:solidFill>
                <a:latin typeface="NVIDIA Sans"/>
                <a:cs typeface="NVIDIA Sans"/>
              </a:rPr>
              <a:t>The DSL  ·  The library  ·  Warp roles</a:t>
            </a:r>
          </a:p>
        </p:txBody>
      </p:sp>
      <p:sp>
        <p:nvSpPr>
          <p:cNvPr id="7" name="S2L">
            <a:extLst>
              <a:ext uri="{FF2B5EF4-FFF2-40B4-BE49-F238E27FC236}">
                <a16:creationId xmlns:a16="http://schemas.microsoft.com/office/drawing/2014/main" id="{30BC96A1-3373-6C49-94C5-84248B0EE566}"/>
              </a:ext>
            </a:extLst>
          </p:cNvPr>
          <p:cNvSpPr txBox="1"/>
          <p:nvPr/>
        </p:nvSpPr>
        <p:spPr>
          <a:xfrm>
            <a:off x="19050000" y="4191000"/>
            <a:ext cx="16510000" cy="609600"/>
          </a:xfrm>
          <a:prstGeom prst="rect">
            <a:avLst/>
          </a:prstGeom>
          <a:noFill/>
        </p:spPr>
        <p:txBody>
          <a:bodyPr vertOverflow="overflow" vert="horz" wrap="none" rtlCol="0" anchor="t" anchorCtr="0">
            <a:noAutofit/>
          </a:bodyPr>
          <a:lstStyle/>
          <a:p>
            <a:pPr algn="l">
              <a:lnSpc>
                <a:spcPts val="3200"/>
              </a:lnSpc>
              <a:buNone/>
            </a:pPr>
            <a:r>
              <a:rPr lang="en-US" sz="2800" b="1">
                <a:solidFill>
                  <a:srgbClr val="76B900"/>
                </a:solidFill>
                <a:latin typeface="NVIDIA Sans"/>
                <a:cs typeface="NVIDIA Sans"/>
              </a:rPr>
              <a:t>STEP 02  ·  The Host Side: Building the Atoms</a:t>
            </a:r>
          </a:p>
        </p:txBody>
      </p:sp>
      <p:sp>
        <p:nvSpPr>
          <p:cNvPr id="8" name="S2C">
            <a:extLst>
              <a:ext uri="{FF2B5EF4-FFF2-40B4-BE49-F238E27FC236}">
                <a16:creationId xmlns:a16="http://schemas.microsoft.com/office/drawing/2014/main" id="{5BB68EE0-EC27-C943-91DB-D3235A39EA06}"/>
              </a:ext>
            </a:extLst>
          </p:cNvPr>
          <p:cNvSpPr txBox="1"/>
          <p:nvPr/>
        </p:nvSpPr>
        <p:spPr>
          <a:xfrm>
            <a:off x="19050000" y="4978400"/>
            <a:ext cx="16510000" cy="8724900"/>
          </a:xfrm>
          <a:prstGeom prst="rect">
            <a:avLst/>
          </a:prstGeom>
          <a:noFill/>
        </p:spPr>
        <p:txBody>
          <a:bodyPr vertOverflow="overflow" vert="horz" wrap="none" rtlCol="0" anchor="t" anchorCtr="0">
            <a:noAutofit/>
          </a:bodyPr>
          <a:lstStyle/>
          <a:p>
            <a:pPr algn="l">
              <a:lnSpc>
                <a:spcPts val="3900"/>
              </a:lnSpc>
              <a:spcBef>
                <a:spcPts val="0"/>
              </a:spcBef>
              <a:buNone/>
            </a:pPr>
            <a:r>
              <a:rPr lang="en-US" sz="3300">
                <a:solidFill>
                  <a:srgbClr val="0074DF"/>
                </a:solidFill>
                <a:latin typeface="Roboto Mono"/>
                <a:cs typeface="Roboto Mono"/>
              </a:rPr>
              <a:t>@cute.jit</a:t>
            </a:r>
          </a:p>
          <a:p>
            <a:pPr algn="l">
              <a:lnSpc>
                <a:spcPts val="3900"/>
              </a:lnSpc>
              <a:spcBef>
                <a:spcPts val="0"/>
              </a:spcBef>
              <a:buNone/>
            </a:pPr>
            <a:r>
              <a:rPr lang="en-US" sz="3300">
                <a:solidFill>
                  <a:srgbClr val="952FC6"/>
                </a:solidFill>
                <a:latin typeface="Roboto Mono"/>
                <a:cs typeface="Roboto Mono"/>
              </a:rPr>
              <a:t>def</a:t>
            </a:r>
            <a:r>
              <a:rPr lang="en-US" sz="3300">
                <a:solidFill>
                  <a:srgbClr val="000000"/>
                </a:solidFill>
                <a:latin typeface="Roboto Mono"/>
                <a:cs typeface="Roboto Mono"/>
              </a:rPr>
              <a:t> gemm(a, b, c, M, N, K, blk, stages):</a:t>
            </a:r>
          </a:p>
          <a:p>
            <a:pPr algn="l">
              <a:lnSpc>
                <a:spcPts val="3900"/>
              </a:lnSpc>
              <a:spcBef>
                <a:spcPts val="0"/>
              </a:spcBef>
              <a:buNone/>
            </a:pPr>
            <a:r>
              <a:rPr lang="en-US" sz="3300">
                <a:solidFill>
                  <a:srgbClr val="000000"/>
                </a:solidFill>
                <a:latin typeface="Roboto Mono"/>
                <a:cs typeface="Roboto Mono"/>
              </a:rPr>
              <a:t>    blk_m, blk_n, blk_k = blk</a:t>
            </a:r>
          </a:p>
          <a:p>
            <a:pPr algn="l">
              <a:lnSpc>
                <a:spcPts val="3900"/>
              </a:lnSpc>
              <a:spcBef>
                <a:spcPts val="0"/>
              </a:spcBef>
              <a:buNone/>
            </a:pPr>
            <a:r>
              <a:rPr lang="en-US" sz="3300">
                <a:solidFill>
                  <a:srgbClr val="000000"/>
                </a:solidFill>
                <a:latin typeface="Roboto Mono"/>
                <a:cs typeface="Roboto Mono"/>
              </a:rPr>
              <a:t>    sw = smem.k_sw128(f16)          </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    tma_a, tA = cpy.make_tiled_tma_atom(</a:t>
            </a:r>
          </a:p>
          <a:p>
            <a:pPr algn="l">
              <a:lnSpc>
                <a:spcPts val="3900"/>
              </a:lnSpc>
              <a:spcBef>
                <a:spcPts val="0"/>
              </a:spcBef>
              <a:buNone/>
            </a:pPr>
            <a:r>
              <a:rPr lang="en-US" sz="3300">
                <a:solidFill>
                  <a:srgbClr val="000000"/>
                </a:solidFill>
                <a:latin typeface="Roboto Mono"/>
                <a:cs typeface="Roboto Mono"/>
              </a:rPr>
              <a:t>        sm90.tma_load, a, f16,</a:t>
            </a:r>
          </a:p>
          <a:p>
            <a:pPr algn="l">
              <a:lnSpc>
                <a:spcPts val="3900"/>
              </a:lnSpc>
              <a:spcBef>
                <a:spcPts val="0"/>
              </a:spcBef>
              <a:buNone/>
            </a:pPr>
            <a:r>
              <a:rPr lang="en-US" sz="3300">
                <a:solidFill>
                  <a:srgbClr val="000000"/>
                </a:solidFill>
                <a:latin typeface="Roboto Mono"/>
                <a:cs typeface="Roboto Mono"/>
              </a:rPr>
              <a:t>        Layout((M, K), (K, </a:t>
            </a:r>
            <a:r>
              <a:rPr lang="en-US" sz="3300">
                <a:solidFill>
                  <a:srgbClr val="B5651D"/>
                </a:solidFill>
                <a:latin typeface="Roboto Mono"/>
                <a:cs typeface="Roboto Mono"/>
              </a:rPr>
              <a:t>1</a:t>
            </a:r>
            <a:r>
              <a:rPr lang="en-US" sz="3300">
                <a:solidFill>
                  <a:srgbClr val="000000"/>
                </a:solidFill>
                <a:latin typeface="Roboto Mono"/>
                <a:cs typeface="Roboto Mono"/>
              </a:rPr>
              <a:t>)), sw, box=(blk_m, blk_k))</a:t>
            </a:r>
          </a:p>
          <a:p>
            <a:pPr algn="l">
              <a:lnSpc>
                <a:spcPts val="3900"/>
              </a:lnSpc>
              <a:spcBef>
                <a:spcPts val="0"/>
              </a:spcBef>
              <a:buNone/>
            </a:pPr>
            <a:r>
              <a:rPr lang="en-US" sz="3300">
                <a:solidFill>
                  <a:srgbClr val="000000"/>
                </a:solidFill>
                <a:latin typeface="Roboto Mono"/>
                <a:cs typeface="Roboto Mono"/>
              </a:rPr>
              <a:t>    tma_b, tB = cpy.make_tiled_tma_atom(</a:t>
            </a:r>
          </a:p>
          <a:p>
            <a:pPr algn="l">
              <a:lnSpc>
                <a:spcPts val="3900"/>
              </a:lnSpc>
              <a:spcBef>
                <a:spcPts val="0"/>
              </a:spcBef>
              <a:buNone/>
            </a:pPr>
            <a:r>
              <a:rPr lang="en-US" sz="3300">
                <a:solidFill>
                  <a:srgbClr val="000000"/>
                </a:solidFill>
                <a:latin typeface="Roboto Mono"/>
                <a:cs typeface="Roboto Mono"/>
              </a:rPr>
              <a:t>        sm90.tma_load, b, f16,</a:t>
            </a:r>
          </a:p>
          <a:p>
            <a:pPr algn="l">
              <a:lnSpc>
                <a:spcPts val="3900"/>
              </a:lnSpc>
              <a:spcBef>
                <a:spcPts val="0"/>
              </a:spcBef>
              <a:buNone/>
            </a:pPr>
            <a:r>
              <a:rPr lang="en-US" sz="3300">
                <a:solidFill>
                  <a:srgbClr val="000000"/>
                </a:solidFill>
                <a:latin typeface="Roboto Mono"/>
                <a:cs typeface="Roboto Mono"/>
              </a:rPr>
              <a:t>        Layout((N, K), (K, </a:t>
            </a:r>
            <a:r>
              <a:rPr lang="en-US" sz="3300">
                <a:solidFill>
                  <a:srgbClr val="B5651D"/>
                </a:solidFill>
                <a:latin typeface="Roboto Mono"/>
                <a:cs typeface="Roboto Mono"/>
              </a:rPr>
              <a:t>1</a:t>
            </a:r>
            <a:r>
              <a:rPr lang="en-US" sz="3300">
                <a:solidFill>
                  <a:srgbClr val="000000"/>
                </a:solidFill>
                <a:latin typeface="Roboto Mono"/>
                <a:cs typeface="Roboto Mono"/>
              </a:rPr>
              <a:t>)), sw, box=(blk_n, blk_k))</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    gemm_kernel(tA, tB, c, M, N, K,</a:t>
            </a:r>
          </a:p>
          <a:p>
            <a:pPr algn="l">
              <a:lnSpc>
                <a:spcPts val="3900"/>
              </a:lnSpc>
              <a:spcBef>
                <a:spcPts val="0"/>
              </a:spcBef>
              <a:buNone/>
            </a:pPr>
            <a:r>
              <a:rPr lang="en-US" sz="3300">
                <a:solidFill>
                  <a:srgbClr val="000000"/>
                </a:solidFill>
                <a:latin typeface="Roboto Mono"/>
                <a:cs typeface="Roboto Mono"/>
              </a:rPr>
              <a:t>                tma_a, tma_b, blk, stages).launch(</a:t>
            </a:r>
          </a:p>
          <a:p>
            <a:pPr algn="l">
              <a:lnSpc>
                <a:spcPts val="3900"/>
              </a:lnSpc>
              <a:spcBef>
                <a:spcPts val="0"/>
              </a:spcBef>
              <a:buNone/>
            </a:pPr>
            <a:r>
              <a:rPr lang="en-US" sz="3300">
                <a:solidFill>
                  <a:srgbClr val="000000"/>
                </a:solidFill>
                <a:latin typeface="Roboto Mono"/>
                <a:cs typeface="Roboto Mono"/>
              </a:rPr>
              <a:t>        grid=(cpy.ceil_div(M, blk_m),</a:t>
            </a:r>
          </a:p>
          <a:p>
            <a:pPr algn="l">
              <a:lnSpc>
                <a:spcPts val="3900"/>
              </a:lnSpc>
              <a:spcBef>
                <a:spcPts val="0"/>
              </a:spcBef>
              <a:buNone/>
            </a:pPr>
            <a:r>
              <a:rPr lang="en-US" sz="3300">
                <a:solidFill>
                  <a:srgbClr val="000000"/>
                </a:solidFill>
                <a:latin typeface="Roboto Mono"/>
                <a:cs typeface="Roboto Mono"/>
              </a:rPr>
              <a:t>              cpy.ceil_div(N, blk_n), </a:t>
            </a:r>
            <a:r>
              <a:rPr lang="en-US" sz="3300">
                <a:solidFill>
                  <a:srgbClr val="B5651D"/>
                </a:solidFill>
                <a:latin typeface="Roboto Mono"/>
                <a:cs typeface="Roboto Mono"/>
              </a:rPr>
              <a:t>1</a:t>
            </a:r>
            <a:r>
              <a:rPr lang="en-US" sz="3300">
                <a:solidFill>
                  <a:srgbClr val="000000"/>
                </a:solidFill>
                <a:latin typeface="Roboto Mono"/>
                <a:cs typeface="Roboto Mono"/>
              </a:rPr>
              <a:t>),</a:t>
            </a:r>
          </a:p>
          <a:p>
            <a:pPr algn="l">
              <a:lnSpc>
                <a:spcPts val="3900"/>
              </a:lnSpc>
              <a:spcBef>
                <a:spcPts val="0"/>
              </a:spcBef>
              <a:buNone/>
            </a:pPr>
            <a:r>
              <a:rPr lang="en-US" sz="3300">
                <a:solidFill>
                  <a:srgbClr val="000000"/>
                </a:solidFill>
                <a:latin typeface="Roboto Mono"/>
                <a:cs typeface="Roboto Mono"/>
              </a:rPr>
              <a:t>        block=(THREADS, </a:t>
            </a:r>
            <a:r>
              <a:rPr lang="en-US" sz="3300">
                <a:solidFill>
                  <a:srgbClr val="B5651D"/>
                </a:solidFill>
                <a:latin typeface="Roboto Mono"/>
                <a:cs typeface="Roboto Mono"/>
              </a:rPr>
              <a:t>1</a:t>
            </a:r>
            <a:r>
              <a:rPr lang="en-US" sz="3300">
                <a:solidFill>
                  <a:srgbClr val="000000"/>
                </a:solidFill>
                <a:latin typeface="Roboto Mono"/>
                <a:cs typeface="Roboto Mono"/>
              </a:rPr>
              <a:t>, </a:t>
            </a:r>
            <a:r>
              <a:rPr lang="en-US" sz="3300">
                <a:solidFill>
                  <a:srgbClr val="B5651D"/>
                </a:solidFill>
                <a:latin typeface="Roboto Mono"/>
                <a:cs typeface="Roboto Mono"/>
              </a:rPr>
              <a:t>1</a:t>
            </a:r>
            <a:r>
              <a:rPr lang="en-US" sz="3300">
                <a:solidFill>
                  <a:srgbClr val="000000"/>
                </a:solidFill>
                <a:latin typeface="Roboto Mono"/>
                <a:cs typeface="Roboto Mono"/>
              </a:rPr>
              <a:t>))</a:t>
            </a:r>
          </a:p>
        </p:txBody>
      </p:sp>
      <p:sp>
        <p:nvSpPr>
          <p:cNvPr id="9" name="S2N">
            <a:extLst>
              <a:ext uri="{FF2B5EF4-FFF2-40B4-BE49-F238E27FC236}">
                <a16:creationId xmlns:a16="http://schemas.microsoft.com/office/drawing/2014/main" id="{908E9D03-744D-0949-A7BE-5E328B2EA536}"/>
              </a:ext>
            </a:extLst>
          </p:cNvPr>
          <p:cNvSpPr txBox="1"/>
          <p:nvPr/>
        </p:nvSpPr>
        <p:spPr>
          <a:xfrm>
            <a:off x="19050000" y="13906500"/>
            <a:ext cx="16510000" cy="609600"/>
          </a:xfrm>
          <a:prstGeom prst="rect">
            <a:avLst/>
          </a:prstGeom>
          <a:noFill/>
        </p:spPr>
        <p:txBody>
          <a:bodyPr vertOverflow="overflow" vert="horz" wrap="square" rtlCol="0" anchor="t" anchorCtr="0">
            <a:noAutofit/>
          </a:bodyPr>
          <a:lstStyle/>
          <a:p>
            <a:pPr algn="l">
              <a:lnSpc>
                <a:spcPts val="2600"/>
              </a:lnSpc>
              <a:buNone/>
            </a:pPr>
            <a:r>
              <a:rPr lang="en-US" sz="2200">
                <a:solidFill>
                  <a:srgbClr val="6E6E6E"/>
                </a:solidFill>
                <a:latin typeface="NVIDIA Sans"/>
                <a:cs typeface="NVIDIA Sans"/>
              </a:rPr>
              <a:t>Host Entry Point  ·  TMA Atoms  ·  The Launch</a:t>
            </a:r>
          </a:p>
        </p:txBody>
      </p:sp>
    </p:spTree>
    <p:extLst>
      <p:ext uri="{BB962C8B-B14F-4D97-AF65-F5344CB8AC3E}">
        <p14:creationId xmlns:p14="http://schemas.microsoft.com/office/powerpoint/2010/main" val="70727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50CA43FD-B281-EA40-B2C2-B5216C1BBC02}"/>
              </a:ext>
            </a:extLst>
          </p:cNvPr>
          <p:cNvSpPr txBox="1"/>
          <p:nvPr/>
        </p:nvSpPr>
        <p:spPr>
          <a:xfrm>
            <a:off x="1828800" y="609600"/>
            <a:ext cx="32918400" cy="1397000"/>
          </a:xfrm>
          <a:prstGeom prst="rect">
            <a:avLst/>
          </a:prstGeom>
          <a:noFill/>
        </p:spPr>
        <p:txBody>
          <a:bodyPr vertOverflow="overflow" vert="horz" wrap="none" rtlCol="0" anchor="t" anchorCtr="0">
            <a:noAutofit/>
          </a:bodyPr>
          <a:lstStyle/>
          <a:p>
            <a:pPr algn="l"/>
            <a:r>
              <a:rPr lang="en-US" sz="5600">
                <a:latin typeface="NVIDIA Sans Medium"/>
                <a:cs typeface="NVIDIA Sans Medium"/>
              </a:rPr>
              <a:t>Blackwell GEMM, End to End</a:t>
            </a:r>
          </a:p>
        </p:txBody>
      </p:sp>
      <p:sp>
        <p:nvSpPr>
          <p:cNvPr id="3" name="SubTx">
            <a:extLst>
              <a:ext uri="{FF2B5EF4-FFF2-40B4-BE49-F238E27FC236}">
                <a16:creationId xmlns:a16="http://schemas.microsoft.com/office/drawing/2014/main" id="{717D200B-8ADD-944F-AA86-89FE471D2F49}"/>
              </a:ext>
            </a:extLst>
          </p:cNvPr>
          <p:cNvSpPr txBox="1"/>
          <p:nvPr/>
        </p:nvSpPr>
        <p:spPr>
          <a:xfrm>
            <a:off x="1828800" y="2006600"/>
            <a:ext cx="32918400" cy="762000"/>
          </a:xfrm>
          <a:prstGeom prst="rect">
            <a:avLst/>
          </a:prstGeom>
          <a:noFill/>
        </p:spPr>
        <p:txBody>
          <a:bodyPr vertOverflow="overflow" vert="horz" wrap="square" rtlCol="0" anchor="t" anchorCtr="0">
            <a:noAutofit/>
          </a:bodyPr>
          <a:lstStyle/>
          <a:p>
            <a:pPr algn="l">
              <a:lnSpc>
                <a:spcPts val="2800"/>
              </a:lnSpc>
              <a:buNone/>
            </a:pPr>
            <a:r>
              <a:rPr lang="en-US" sz="2400">
                <a:solidFill>
                  <a:srgbClr val="4A4A4A"/>
                </a:solidFill>
                <a:latin typeface="NVIDIA Sans"/>
                <a:cs typeface="NVIDIA Sans"/>
              </a:rPr>
              <a:t>The kernel signature, and the layout algebra it partitions with.</a:t>
            </a:r>
          </a:p>
        </p:txBody>
      </p:sp>
      <p:sp>
        <p:nvSpPr>
          <p:cNvPr id="10" name="S3L">
            <a:extLst>
              <a:ext uri="{FF2B5EF4-FFF2-40B4-BE49-F238E27FC236}">
                <a16:creationId xmlns:a16="http://schemas.microsoft.com/office/drawing/2014/main" id="{45146A81-675C-7C4A-B0BB-4553728562C3}"/>
              </a:ext>
            </a:extLst>
          </p:cNvPr>
          <p:cNvSpPr txBox="1"/>
          <p:nvPr/>
        </p:nvSpPr>
        <p:spPr>
          <a:xfrm>
            <a:off x="1828800" y="4191000"/>
            <a:ext cx="16510000" cy="609600"/>
          </a:xfrm>
          <a:prstGeom prst="rect">
            <a:avLst/>
          </a:prstGeom>
          <a:noFill/>
        </p:spPr>
        <p:txBody>
          <a:bodyPr vertOverflow="overflow" vert="horz" wrap="none" rtlCol="0" anchor="t" anchorCtr="0">
            <a:noAutofit/>
          </a:bodyPr>
          <a:lstStyle/>
          <a:p>
            <a:pPr algn="l">
              <a:lnSpc>
                <a:spcPts val="3200"/>
              </a:lnSpc>
              <a:buNone/>
            </a:pPr>
            <a:r>
              <a:rPr lang="en-US" sz="2800" b="1">
                <a:solidFill>
                  <a:srgbClr val="76B900"/>
                </a:solidFill>
                <a:latin typeface="NVIDIA Sans"/>
                <a:cs typeface="NVIDIA Sans"/>
              </a:rPr>
              <a:t>STEP 03  ·  The Kernel Signature and Its Meta Objects</a:t>
            </a:r>
          </a:p>
        </p:txBody>
      </p:sp>
      <p:sp>
        <p:nvSpPr>
          <p:cNvPr id="11" name="S3C">
            <a:extLst>
              <a:ext uri="{FF2B5EF4-FFF2-40B4-BE49-F238E27FC236}">
                <a16:creationId xmlns:a16="http://schemas.microsoft.com/office/drawing/2014/main" id="{A04DFE01-7D5B-504C-B3B8-2C2F7C6941CA}"/>
              </a:ext>
            </a:extLst>
          </p:cNvPr>
          <p:cNvSpPr txBox="1"/>
          <p:nvPr/>
        </p:nvSpPr>
        <p:spPr>
          <a:xfrm>
            <a:off x="1828800" y="4978400"/>
            <a:ext cx="16510000" cy="9715500"/>
          </a:xfrm>
          <a:prstGeom prst="rect">
            <a:avLst/>
          </a:prstGeom>
          <a:noFill/>
        </p:spPr>
        <p:txBody>
          <a:bodyPr vertOverflow="overflow" vert="horz" wrap="none" rtlCol="0" anchor="t" anchorCtr="0">
            <a:noAutofit/>
          </a:bodyPr>
          <a:lstStyle/>
          <a:p>
            <a:pPr algn="l">
              <a:lnSpc>
                <a:spcPts val="3900"/>
              </a:lnSpc>
              <a:spcBef>
                <a:spcPts val="0"/>
              </a:spcBef>
              <a:buNone/>
            </a:pPr>
            <a:r>
              <a:rPr lang="en-US" sz="3300">
                <a:solidFill>
                  <a:srgbClr val="0074DF"/>
                </a:solidFill>
                <a:latin typeface="Roboto Mono"/>
                <a:cs typeface="Roboto Mono"/>
              </a:rPr>
              <a:t>@cute.kernel</a:t>
            </a:r>
          </a:p>
          <a:p>
            <a:pPr algn="l">
              <a:lnSpc>
                <a:spcPts val="3900"/>
              </a:lnSpc>
              <a:spcBef>
                <a:spcPts val="0"/>
              </a:spcBef>
              <a:buNone/>
            </a:pPr>
            <a:r>
              <a:rPr lang="en-US" sz="3300">
                <a:solidFill>
                  <a:srgbClr val="952FC6"/>
                </a:solidFill>
                <a:latin typeface="Roboto Mono"/>
                <a:cs typeface="Roboto Mono"/>
              </a:rPr>
              <a:t>def</a:t>
            </a:r>
            <a:r>
              <a:rPr lang="en-US" sz="3300">
                <a:solidFill>
                  <a:srgbClr val="000000"/>
                </a:solidFill>
                <a:latin typeface="Roboto Mono"/>
                <a:cs typeface="Roboto Mono"/>
              </a:rPr>
              <a:t> gemm_kernel(</a:t>
            </a:r>
          </a:p>
          <a:p>
            <a:pPr algn="l">
              <a:lnSpc>
                <a:spcPts val="3900"/>
              </a:lnSpc>
              <a:spcBef>
                <a:spcPts val="0"/>
              </a:spcBef>
              <a:buNone/>
            </a:pPr>
            <a:r>
              <a:rPr lang="en-US" sz="3300">
                <a:solidFill>
                  <a:srgbClr val="000000"/>
                </a:solidFill>
                <a:latin typeface="Roboto Mono"/>
                <a:cs typeface="Roboto Mono"/>
              </a:rPr>
              <a:t>        tA: Annotated[cuda.TensorMap, cutlass.grid_constant],</a:t>
            </a:r>
          </a:p>
          <a:p>
            <a:pPr algn="l">
              <a:lnSpc>
                <a:spcPts val="3900"/>
              </a:lnSpc>
              <a:spcBef>
                <a:spcPts val="0"/>
              </a:spcBef>
              <a:buNone/>
            </a:pPr>
            <a:r>
              <a:rPr lang="en-US" sz="3300">
                <a:solidFill>
                  <a:srgbClr val="000000"/>
                </a:solidFill>
                <a:latin typeface="Roboto Mono"/>
                <a:cs typeface="Roboto Mono"/>
              </a:rPr>
              <a:t>        tB: Annotated[cuda.TensorMap, cutlass.grid_constant],</a:t>
            </a:r>
          </a:p>
          <a:p>
            <a:pPr algn="l">
              <a:lnSpc>
                <a:spcPts val="3900"/>
              </a:lnSpc>
              <a:spcBef>
                <a:spcPts val="0"/>
              </a:spcBef>
              <a:buNone/>
            </a:pPr>
            <a:r>
              <a:rPr lang="en-US" sz="3300">
                <a:solidFill>
                  <a:srgbClr val="000000"/>
                </a:solidFill>
                <a:latin typeface="Roboto Mono"/>
                <a:cs typeface="Roboto Mono"/>
              </a:rPr>
              <a:t>        c: cutlass.Pointer, M: i32, N: i32, K: i32,</a:t>
            </a:r>
          </a:p>
          <a:p>
            <a:pPr algn="l">
              <a:lnSpc>
                <a:spcPts val="3900"/>
              </a:lnSpc>
              <a:spcBef>
                <a:spcPts val="0"/>
              </a:spcBef>
              <a:buNone/>
            </a:pPr>
            <a:r>
              <a:rPr lang="en-US" sz="3300">
                <a:solidFill>
                  <a:srgbClr val="000000"/>
                </a:solidFill>
                <a:latin typeface="Roboto Mono"/>
                <a:cs typeface="Roboto Mono"/>
              </a:rPr>
              <a:t>        tma_a: cutlass.Constexpr,   </a:t>
            </a:r>
          </a:p>
          <a:p>
            <a:pPr algn="l">
              <a:lnSpc>
                <a:spcPts val="3900"/>
              </a:lnSpc>
              <a:spcBef>
                <a:spcPts val="0"/>
              </a:spcBef>
              <a:buNone/>
            </a:pPr>
            <a:r>
              <a:rPr lang="en-US" sz="3300">
                <a:solidFill>
                  <a:srgbClr val="000000"/>
                </a:solidFill>
                <a:latin typeface="Roboto Mono"/>
                <a:cs typeface="Roboto Mono"/>
              </a:rPr>
              <a:t>        tma_b: cutlass.Constexpr,</a:t>
            </a:r>
          </a:p>
          <a:p>
            <a:pPr algn="l">
              <a:lnSpc>
                <a:spcPts val="3900"/>
              </a:lnSpc>
              <a:spcBef>
                <a:spcPts val="0"/>
              </a:spcBef>
              <a:buNone/>
            </a:pPr>
            <a:r>
              <a:rPr lang="en-US" sz="3300">
                <a:solidFill>
                  <a:srgbClr val="000000"/>
                </a:solidFill>
                <a:latin typeface="Roboto Mono"/>
                <a:cs typeface="Roboto Mono"/>
              </a:rPr>
              <a:t>        blk: cutlass.Constexpr,     </a:t>
            </a:r>
          </a:p>
          <a:p>
            <a:pPr algn="l">
              <a:lnSpc>
                <a:spcPts val="3900"/>
              </a:lnSpc>
              <a:spcBef>
                <a:spcPts val="0"/>
              </a:spcBef>
              <a:buNone/>
            </a:pPr>
            <a:r>
              <a:rPr lang="en-US" sz="3300">
                <a:solidFill>
                  <a:srgbClr val="000000"/>
                </a:solidFill>
                <a:latin typeface="Roboto Mono"/>
                <a:cs typeface="Roboto Mono"/>
              </a:rPr>
              <a:t>        stages: cutlass.Constexpr): </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    tid  = cpy.arch.thread_idx().x</a:t>
            </a:r>
          </a:p>
          <a:p>
            <a:pPr algn="l">
              <a:lnSpc>
                <a:spcPts val="3900"/>
              </a:lnSpc>
              <a:spcBef>
                <a:spcPts val="0"/>
              </a:spcBef>
              <a:buNone/>
            </a:pPr>
            <a:r>
              <a:rPr lang="en-US" sz="3300">
                <a:solidFill>
                  <a:srgbClr val="000000"/>
                </a:solidFill>
                <a:latin typeface="Roboto Mono"/>
                <a:cs typeface="Roboto Mono"/>
              </a:rPr>
              <a:t>    warp = cpy.arch.warp_idx()      </a:t>
            </a:r>
          </a:p>
          <a:p>
            <a:pPr algn="l">
              <a:lnSpc>
                <a:spcPts val="3900"/>
              </a:lnSpc>
              <a:spcBef>
                <a:spcPts val="0"/>
              </a:spcBef>
              <a:buNone/>
            </a:pPr>
            <a:r>
              <a:rPr lang="en-US" sz="3300">
                <a:solidFill>
                  <a:srgbClr val="000000"/>
                </a:solidFill>
                <a:latin typeface="Roboto Mono"/>
                <a:cs typeface="Roboto Mono"/>
              </a:rPr>
              <a:t>    one  = cpy.arch.elect_one_sync()</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    mma = cpy.make_tiled_mma(sm100.umma_f16f16f32(...))</a:t>
            </a:r>
          </a:p>
          <a:p>
            <a:pPr algn="l">
              <a:lnSpc>
                <a:spcPts val="3900"/>
              </a:lnSpc>
              <a:spcBef>
                <a:spcPts val="0"/>
              </a:spcBef>
              <a:buNone/>
            </a:pPr>
            <a:r>
              <a:rPr lang="en-US" sz="3300">
                <a:solidFill>
                  <a:srgbClr val="000000"/>
                </a:solidFill>
                <a:latin typeface="Roboto Mono"/>
                <a:cs typeface="Roboto Mono"/>
              </a:rPr>
              <a:t>    tma_a = tma_a.bind(tmap=tA)</a:t>
            </a:r>
          </a:p>
          <a:p>
            <a:pPr algn="l">
              <a:lnSpc>
                <a:spcPts val="3900"/>
              </a:lnSpc>
              <a:spcBef>
                <a:spcPts val="0"/>
              </a:spcBef>
              <a:buNone/>
            </a:pPr>
            <a:r>
              <a:rPr lang="en-US" sz="3300">
                <a:solidFill>
                  <a:srgbClr val="000000"/>
                </a:solidFill>
                <a:latin typeface="Roboto Mono"/>
                <a:cs typeface="Roboto Mono"/>
              </a:rPr>
              <a:t>    tma_b = tma_b.bind(tmap=tB)</a:t>
            </a:r>
          </a:p>
          <a:p>
            <a:pPr algn="l">
              <a:lnSpc>
                <a:spcPts val="3900"/>
              </a:lnSpc>
              <a:spcBef>
                <a:spcPts val="0"/>
              </a:spcBef>
              <a:buNone/>
            </a:pPr>
            <a:r>
              <a:rPr lang="en-US" sz="3300">
                <a:solidFill>
                  <a:srgbClr val="000000"/>
                </a:solidFill>
                <a:latin typeface="Roboto Mono"/>
                <a:cs typeface="Roboto Mono"/>
              </a:rPr>
              <a:t>    sA = cpy.smem_tensor(f16, tma_a.stage_layout(stages))</a:t>
            </a:r>
          </a:p>
          <a:p>
            <a:pPr algn="l">
              <a:lnSpc>
                <a:spcPts val="3900"/>
              </a:lnSpc>
              <a:spcBef>
                <a:spcPts val="0"/>
              </a:spcBef>
              <a:buNone/>
            </a:pPr>
            <a:r>
              <a:rPr lang="en-US" sz="3300">
                <a:solidFill>
                  <a:srgbClr val="000000"/>
                </a:solidFill>
                <a:latin typeface="Roboto Mono"/>
                <a:cs typeface="Roboto Mono"/>
              </a:rPr>
              <a:t>    sB = cpy.smem_tensor(f16, tma_b.stage_layout(stages))</a:t>
            </a:r>
          </a:p>
        </p:txBody>
      </p:sp>
      <p:sp>
        <p:nvSpPr>
          <p:cNvPr id="12" name="S3N">
            <a:extLst>
              <a:ext uri="{FF2B5EF4-FFF2-40B4-BE49-F238E27FC236}">
                <a16:creationId xmlns:a16="http://schemas.microsoft.com/office/drawing/2014/main" id="{6AEC0DD6-CDBD-C446-9FDC-FC763C77F61A}"/>
              </a:ext>
            </a:extLst>
          </p:cNvPr>
          <p:cNvSpPr txBox="1"/>
          <p:nvPr/>
        </p:nvSpPr>
        <p:spPr>
          <a:xfrm>
            <a:off x="1828800" y="14897100"/>
            <a:ext cx="16510000" cy="609600"/>
          </a:xfrm>
          <a:prstGeom prst="rect">
            <a:avLst/>
          </a:prstGeom>
          <a:noFill/>
        </p:spPr>
        <p:txBody>
          <a:bodyPr vertOverflow="overflow" vert="horz" wrap="square" rtlCol="0" anchor="t" anchorCtr="0">
            <a:noAutofit/>
          </a:bodyPr>
          <a:lstStyle/>
          <a:p>
            <a:pPr algn="l">
              <a:lnSpc>
                <a:spcPts val="2600"/>
              </a:lnSpc>
              <a:buNone/>
            </a:pPr>
            <a:r>
              <a:rPr lang="en-US" sz="2200">
                <a:solidFill>
                  <a:srgbClr val="6E6E6E"/>
                </a:solidFill>
                <a:latin typeface="NVIDIA Sans"/>
                <a:cs typeface="NVIDIA Sans"/>
              </a:rPr>
              <a:t>Signature and Constexpr  ·  Read before branching  ·  Atoms and SMEM Buffers</a:t>
            </a:r>
          </a:p>
        </p:txBody>
      </p:sp>
      <p:sp>
        <p:nvSpPr>
          <p:cNvPr id="13" name="S4L">
            <a:extLst>
              <a:ext uri="{FF2B5EF4-FFF2-40B4-BE49-F238E27FC236}">
                <a16:creationId xmlns:a16="http://schemas.microsoft.com/office/drawing/2014/main" id="{56564D00-974C-FA44-A930-F4E0F2FBE7A8}"/>
              </a:ext>
            </a:extLst>
          </p:cNvPr>
          <p:cNvSpPr txBox="1"/>
          <p:nvPr/>
        </p:nvSpPr>
        <p:spPr>
          <a:xfrm>
            <a:off x="19050000" y="4191000"/>
            <a:ext cx="16510000" cy="609600"/>
          </a:xfrm>
          <a:prstGeom prst="rect">
            <a:avLst/>
          </a:prstGeom>
          <a:noFill/>
        </p:spPr>
        <p:txBody>
          <a:bodyPr vertOverflow="overflow" vert="horz" wrap="none" rtlCol="0" anchor="t" anchorCtr="0">
            <a:noAutofit/>
          </a:bodyPr>
          <a:lstStyle/>
          <a:p>
            <a:pPr algn="l">
              <a:lnSpc>
                <a:spcPts val="3200"/>
              </a:lnSpc>
              <a:buNone/>
            </a:pPr>
            <a:r>
              <a:rPr lang="en-US" sz="2800" b="1">
                <a:solidFill>
                  <a:srgbClr val="76B900"/>
                </a:solidFill>
                <a:latin typeface="NVIDIA Sans"/>
                <a:cs typeface="NVIDIA Sans"/>
              </a:rPr>
              <a:t>STEP 04  ·  Layout Algebra: Tiling and Partitioning</a:t>
            </a:r>
          </a:p>
        </p:txBody>
      </p:sp>
      <p:sp>
        <p:nvSpPr>
          <p:cNvPr id="14" name="S4C">
            <a:extLst>
              <a:ext uri="{FF2B5EF4-FFF2-40B4-BE49-F238E27FC236}">
                <a16:creationId xmlns:a16="http://schemas.microsoft.com/office/drawing/2014/main" id="{C37414D7-6CD9-1142-B4E9-9BBC3186B024}"/>
              </a:ext>
            </a:extLst>
          </p:cNvPr>
          <p:cNvSpPr txBox="1"/>
          <p:nvPr/>
        </p:nvSpPr>
        <p:spPr>
          <a:xfrm>
            <a:off x="19050000" y="4978400"/>
            <a:ext cx="16510000" cy="8229600"/>
          </a:xfrm>
          <a:prstGeom prst="rect">
            <a:avLst/>
          </a:prstGeom>
          <a:noFill/>
        </p:spPr>
        <p:txBody>
          <a:bodyPr vertOverflow="overflow" vert="horz" wrap="none" rtlCol="0" anchor="t" anchorCtr="0">
            <a:noAutofit/>
          </a:bodyPr>
          <a:lstStyle/>
          <a:p>
            <a:pPr algn="l">
              <a:lnSpc>
                <a:spcPts val="3900"/>
              </a:lnSpc>
              <a:spcBef>
                <a:spcPts val="0"/>
              </a:spcBef>
              <a:buNone/>
            </a:pPr>
            <a:r>
              <a:rPr lang="en-US" sz="3300">
                <a:solidFill>
                  <a:srgbClr val="000000"/>
                </a:solidFill>
                <a:latin typeface="Roboto Mono"/>
                <a:cs typeface="Roboto Mono"/>
              </a:rPr>
              <a:t>cA = cpy.make_identity_tensor((M, K))   </a:t>
            </a:r>
          </a:p>
          <a:p>
            <a:pPr algn="l">
              <a:lnSpc>
                <a:spcPts val="3900"/>
              </a:lnSpc>
              <a:spcBef>
                <a:spcPts val="0"/>
              </a:spcBef>
              <a:buNone/>
            </a:pPr>
            <a:r>
              <a:rPr lang="en-US" sz="3300">
                <a:solidFill>
                  <a:srgbClr val="000000"/>
                </a:solidFill>
                <a:latin typeface="Roboto Mono"/>
                <a:cs typeface="Roboto Mono"/>
              </a:rPr>
              <a:t>cB = cpy.make_identity_tensor((N, K))</a:t>
            </a:r>
          </a:p>
          <a:p>
            <a:pPr algn="l">
              <a:lnSpc>
                <a:spcPts val="3900"/>
              </a:lnSpc>
              <a:spcBef>
                <a:spcPts val="0"/>
              </a:spcBef>
              <a:buNone/>
            </a:pPr>
            <a:r>
              <a:rPr lang="en-US" sz="3300">
                <a:solidFill>
                  <a:srgbClr val="000000"/>
                </a:solidFill>
                <a:latin typeface="Roboto Mono"/>
                <a:cs typeface="Roboto Mono"/>
              </a:rPr>
              <a:t>gA = cpy.local_tile(cA, tma_a.box, (bx, </a:t>
            </a:r>
            <a:r>
              <a:rPr lang="en-US" sz="3300">
                <a:solidFill>
                  <a:srgbClr val="952FC6"/>
                </a:solidFill>
                <a:latin typeface="Roboto Mono"/>
                <a:cs typeface="Roboto Mono"/>
              </a:rPr>
              <a:t>None</a:t>
            </a:r>
            <a:r>
              <a:rPr lang="en-US" sz="3300">
                <a:solidFill>
                  <a:srgbClr val="000000"/>
                </a:solidFill>
                <a:latin typeface="Roboto Mono"/>
                <a:cs typeface="Roboto Mono"/>
              </a:rPr>
              <a:t>))</a:t>
            </a:r>
          </a:p>
          <a:p>
            <a:pPr algn="l">
              <a:lnSpc>
                <a:spcPts val="3900"/>
              </a:lnSpc>
              <a:spcBef>
                <a:spcPts val="0"/>
              </a:spcBef>
              <a:buNone/>
            </a:pPr>
            <a:r>
              <a:rPr lang="en-US" sz="3300">
                <a:solidFill>
                  <a:srgbClr val="000000"/>
                </a:solidFill>
                <a:latin typeface="Roboto Mono"/>
                <a:cs typeface="Roboto Mono"/>
              </a:rPr>
              <a:t>gB = cpy.local_tile(cB, tma_b.box, (by, </a:t>
            </a:r>
            <a:r>
              <a:rPr lang="en-US" sz="3300">
                <a:solidFill>
                  <a:srgbClr val="952FC6"/>
                </a:solidFill>
                <a:latin typeface="Roboto Mono"/>
                <a:cs typeface="Roboto Mono"/>
              </a:rPr>
              <a:t>None</a:t>
            </a:r>
            <a:r>
              <a:rPr lang="en-US" sz="3300">
                <a:solidFill>
                  <a:srgbClr val="000000"/>
                </a:solidFill>
                <a:latin typeface="Roboto Mono"/>
                <a:cs typeface="Roboto Mono"/>
              </a:rPr>
              <a:t>))</a:t>
            </a:r>
          </a:p>
          <a:p>
            <a:pPr algn="l">
              <a:lnSpc>
                <a:spcPts val="3900"/>
              </a:lnSpc>
              <a:spcBef>
                <a:spcPts val="0"/>
              </a:spcBef>
              <a:buNone/>
            </a:pPr>
            <a:r>
              <a:rPr lang="en-US" sz="3300">
                <a:solidFill>
                  <a:srgbClr val="000000"/>
                </a:solidFill>
                <a:latin typeface="Roboto Mono"/>
                <a:cs typeface="Roboto Mono"/>
              </a:rPr>
              <a:t>mC = cpy.make_tensor(c, Layout((M, N), (N, </a:t>
            </a:r>
            <a:r>
              <a:rPr lang="en-US" sz="3300">
                <a:solidFill>
                  <a:srgbClr val="B5651D"/>
                </a:solidFill>
                <a:latin typeface="Roboto Mono"/>
                <a:cs typeface="Roboto Mono"/>
              </a:rPr>
              <a:t>1</a:t>
            </a:r>
            <a:r>
              <a:rPr lang="en-US" sz="3300">
                <a:solidFill>
                  <a:srgbClr val="000000"/>
                </a:solidFill>
                <a:latin typeface="Roboto Mono"/>
                <a:cs typeface="Roboto Mono"/>
              </a:rPr>
              <a:t>)))</a:t>
            </a:r>
          </a:p>
          <a:p>
            <a:pPr algn="l">
              <a:lnSpc>
                <a:spcPts val="3900"/>
              </a:lnSpc>
              <a:spcBef>
                <a:spcPts val="0"/>
              </a:spcBef>
              <a:buNone/>
            </a:pPr>
            <a:r>
              <a:rPr lang="en-US" sz="3300">
                <a:solidFill>
                  <a:srgbClr val="000000"/>
                </a:solidFill>
                <a:latin typeface="Roboto Mono"/>
                <a:cs typeface="Roboto Mono"/>
              </a:rPr>
              <a:t>gC = cpy.local_tile(mC, (blk_m, blk_n), (bx, by))</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tAgA, tAsA = cpy.tma_partition(tma_a, gA, sA)</a:t>
            </a:r>
          </a:p>
          <a:p>
            <a:pPr algn="l">
              <a:lnSpc>
                <a:spcPts val="3900"/>
              </a:lnSpc>
              <a:spcBef>
                <a:spcPts val="0"/>
              </a:spcBef>
              <a:buNone/>
            </a:pPr>
            <a:r>
              <a:rPr lang="en-US" sz="3300">
                <a:solidFill>
                  <a:srgbClr val="000000"/>
                </a:solidFill>
                <a:latin typeface="Roboto Mono"/>
                <a:cs typeface="Roboto Mono"/>
              </a:rPr>
              <a:t>tBgB, tBsB = cpy.tma_partition(tma_b, gB, sB)</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thr_mma = mma.get_slice(</a:t>
            </a:r>
            <a:r>
              <a:rPr lang="en-US" sz="3300">
                <a:solidFill>
                  <a:srgbClr val="B5651D"/>
                </a:solidFill>
                <a:latin typeface="Roboto Mono"/>
                <a:cs typeface="Roboto Mono"/>
              </a:rPr>
              <a:t>0</a:t>
            </a: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tCsA = thr_mma.partition_fragment_A(sA)</a:t>
            </a:r>
          </a:p>
          <a:p>
            <a:pPr algn="l">
              <a:lnSpc>
                <a:spcPts val="3900"/>
              </a:lnSpc>
              <a:spcBef>
                <a:spcPts val="0"/>
              </a:spcBef>
              <a:buNone/>
            </a:pPr>
            <a:r>
              <a:rPr lang="en-US" sz="3300">
                <a:solidFill>
                  <a:srgbClr val="000000"/>
                </a:solidFill>
                <a:latin typeface="Roboto Mono"/>
                <a:cs typeface="Roboto Mono"/>
              </a:rPr>
              <a:t>tCsB = thr_mma.partition_fragment_B(sB)</a:t>
            </a:r>
          </a:p>
          <a:p>
            <a:pPr algn="l">
              <a:lnSpc>
                <a:spcPts val="3900"/>
              </a:lnSpc>
              <a:spcBef>
                <a:spcPts val="0"/>
              </a:spcBef>
              <a:buNone/>
            </a:pPr>
            <a:r>
              <a:rPr lang="en-US" sz="3300">
                <a:solidFill>
                  <a:srgbClr val="000000"/>
                </a:solidFill>
                <a:latin typeface="Roboto Mono"/>
                <a:cs typeface="Roboto Mono"/>
              </a:rPr>
              <a:t>tAcc = thr_mma.partition_fragment_C(gC, tmem=tmem)</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k_tiles = size[</a:t>
            </a:r>
            <a:r>
              <a:rPr lang="en-US" sz="3300">
                <a:solidFill>
                  <a:srgbClr val="B5651D"/>
                </a:solidFill>
                <a:latin typeface="Roboto Mono"/>
                <a:cs typeface="Roboto Mono"/>
              </a:rPr>
              <a:t>2</a:t>
            </a:r>
            <a:r>
              <a:rPr lang="en-US" sz="3300">
                <a:solidFill>
                  <a:srgbClr val="000000"/>
                </a:solidFill>
                <a:latin typeface="Roboto Mono"/>
                <a:cs typeface="Roboto Mono"/>
              </a:rPr>
              <a:t>](gA.layout)    </a:t>
            </a:r>
          </a:p>
        </p:txBody>
      </p:sp>
      <p:sp>
        <p:nvSpPr>
          <p:cNvPr id="15" name="S4N">
            <a:extLst>
              <a:ext uri="{FF2B5EF4-FFF2-40B4-BE49-F238E27FC236}">
                <a16:creationId xmlns:a16="http://schemas.microsoft.com/office/drawing/2014/main" id="{30C10C73-29AF-CD41-812C-F4074A7A17D9}"/>
              </a:ext>
            </a:extLst>
          </p:cNvPr>
          <p:cNvSpPr txBox="1"/>
          <p:nvPr/>
        </p:nvSpPr>
        <p:spPr>
          <a:xfrm>
            <a:off x="19050000" y="13411200"/>
            <a:ext cx="16510000" cy="609600"/>
          </a:xfrm>
          <a:prstGeom prst="rect">
            <a:avLst/>
          </a:prstGeom>
          <a:noFill/>
        </p:spPr>
        <p:txBody>
          <a:bodyPr vertOverflow="overflow" vert="horz" wrap="square" rtlCol="0" anchor="t" anchorCtr="0">
            <a:noAutofit/>
          </a:bodyPr>
          <a:lstStyle/>
          <a:p>
            <a:pPr algn="l">
              <a:lnSpc>
                <a:spcPts val="2600"/>
              </a:lnSpc>
              <a:buNone/>
            </a:pPr>
            <a:r>
              <a:rPr lang="en-US" sz="2200">
                <a:solidFill>
                  <a:srgbClr val="6E6E6E"/>
                </a:solidFill>
                <a:latin typeface="NVIDIA Sans"/>
                <a:cs typeface="NVIDIA Sans"/>
              </a:rPr>
              <a:t>Partition Global Buffer  ·  Partition for TMA  ·  Fragments</a:t>
            </a:r>
          </a:p>
        </p:txBody>
      </p:sp>
    </p:spTree>
    <p:extLst>
      <p:ext uri="{BB962C8B-B14F-4D97-AF65-F5344CB8AC3E}">
        <p14:creationId xmlns:p14="http://schemas.microsoft.com/office/powerpoint/2010/main" val="15305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66A4461A-66A4-2B43-909A-E2A0722595BA}"/>
              </a:ext>
            </a:extLst>
          </p:cNvPr>
          <p:cNvSpPr txBox="1"/>
          <p:nvPr/>
        </p:nvSpPr>
        <p:spPr>
          <a:xfrm>
            <a:off x="1828800" y="609600"/>
            <a:ext cx="32918400" cy="1397000"/>
          </a:xfrm>
          <a:prstGeom prst="rect">
            <a:avLst/>
          </a:prstGeom>
          <a:noFill/>
        </p:spPr>
        <p:txBody>
          <a:bodyPr vertOverflow="overflow" vert="horz" wrap="none" rtlCol="0" anchor="t" anchorCtr="0">
            <a:noAutofit/>
          </a:bodyPr>
          <a:lstStyle/>
          <a:p>
            <a:pPr algn="l"/>
            <a:r>
              <a:rPr lang="en-US" sz="5600">
                <a:latin typeface="NVIDIA Sans Medium"/>
                <a:cs typeface="NVIDIA Sans Medium"/>
              </a:rPr>
              <a:t>Blackwell GEMM, End to End</a:t>
            </a:r>
          </a:p>
        </p:txBody>
      </p:sp>
      <p:sp>
        <p:nvSpPr>
          <p:cNvPr id="3" name="SubTx">
            <a:extLst>
              <a:ext uri="{FF2B5EF4-FFF2-40B4-BE49-F238E27FC236}">
                <a16:creationId xmlns:a16="http://schemas.microsoft.com/office/drawing/2014/main" id="{F2000CAD-7802-2F42-8868-E8137A821478}"/>
              </a:ext>
            </a:extLst>
          </p:cNvPr>
          <p:cNvSpPr txBox="1"/>
          <p:nvPr/>
        </p:nvSpPr>
        <p:spPr>
          <a:xfrm>
            <a:off x="1828800" y="2006600"/>
            <a:ext cx="32918400" cy="762000"/>
          </a:xfrm>
          <a:prstGeom prst="rect">
            <a:avLst/>
          </a:prstGeom>
          <a:noFill/>
        </p:spPr>
        <p:txBody>
          <a:bodyPr vertOverflow="overflow" vert="horz" wrap="square" rtlCol="0" anchor="t" anchorCtr="0">
            <a:noAutofit/>
          </a:bodyPr>
          <a:lstStyle/>
          <a:p>
            <a:pPr algn="l">
              <a:lnSpc>
                <a:spcPts val="2800"/>
              </a:lnSpc>
              <a:buNone/>
            </a:pPr>
            <a:r>
              <a:rPr lang="en-US" sz="2400">
                <a:solidFill>
                  <a:srgbClr val="4A4A4A"/>
                </a:solidFill>
                <a:latin typeface="NVIDIA Sans"/>
                <a:cs typeface="NVIDIA Sans"/>
              </a:rPr>
              <a:t>The pipeline state objects, and the two warp loops.</a:t>
            </a:r>
          </a:p>
        </p:txBody>
      </p:sp>
      <p:sp>
        <p:nvSpPr>
          <p:cNvPr id="4" name="S5L">
            <a:extLst>
              <a:ext uri="{FF2B5EF4-FFF2-40B4-BE49-F238E27FC236}">
                <a16:creationId xmlns:a16="http://schemas.microsoft.com/office/drawing/2014/main" id="{B67BB395-5A3E-5C49-89AF-556DBD634E79}"/>
              </a:ext>
            </a:extLst>
          </p:cNvPr>
          <p:cNvSpPr txBox="1"/>
          <p:nvPr/>
        </p:nvSpPr>
        <p:spPr>
          <a:xfrm>
            <a:off x="1828800" y="4191000"/>
            <a:ext cx="16510000" cy="609600"/>
          </a:xfrm>
          <a:prstGeom prst="rect">
            <a:avLst/>
          </a:prstGeom>
          <a:noFill/>
        </p:spPr>
        <p:txBody>
          <a:bodyPr vertOverflow="overflow" vert="horz" wrap="none" rtlCol="0" anchor="t" anchorCtr="0">
            <a:noAutofit/>
          </a:bodyPr>
          <a:lstStyle/>
          <a:p>
            <a:pPr algn="l">
              <a:lnSpc>
                <a:spcPts val="3200"/>
              </a:lnSpc>
              <a:buNone/>
            </a:pPr>
            <a:r>
              <a:rPr lang="en-US" sz="2800" b="1">
                <a:solidFill>
                  <a:srgbClr val="76B900"/>
                </a:solidFill>
                <a:latin typeface="NVIDIA Sans"/>
                <a:cs typeface="NVIDIA Sans"/>
              </a:rPr>
              <a:t>STEP 05  ·  The Pipeline State Objects</a:t>
            </a:r>
          </a:p>
        </p:txBody>
      </p:sp>
      <p:sp>
        <p:nvSpPr>
          <p:cNvPr id="5" name="S5C">
            <a:extLst>
              <a:ext uri="{FF2B5EF4-FFF2-40B4-BE49-F238E27FC236}">
                <a16:creationId xmlns:a16="http://schemas.microsoft.com/office/drawing/2014/main" id="{C3550E08-7A02-A04C-8BBA-0E1EC5F81F16}"/>
              </a:ext>
            </a:extLst>
          </p:cNvPr>
          <p:cNvSpPr txBox="1"/>
          <p:nvPr/>
        </p:nvSpPr>
        <p:spPr>
          <a:xfrm>
            <a:off x="1828800" y="4978400"/>
            <a:ext cx="16510000" cy="5753100"/>
          </a:xfrm>
          <a:prstGeom prst="rect">
            <a:avLst/>
          </a:prstGeom>
          <a:noFill/>
        </p:spPr>
        <p:txBody>
          <a:bodyPr vertOverflow="overflow" vert="horz" wrap="none" rtlCol="0" anchor="t" anchorCtr="0">
            <a:noAutofit/>
          </a:bodyPr>
          <a:lstStyle/>
          <a:p>
            <a:pPr algn="l">
              <a:lnSpc>
                <a:spcPts val="3900"/>
              </a:lnSpc>
              <a:spcBef>
                <a:spcPts val="0"/>
              </a:spcBef>
              <a:buNone/>
            </a:pPr>
            <a:r>
              <a:rPr lang="en-US" sz="3300">
                <a:solidFill>
                  <a:srgbClr val="000000"/>
                </a:solidFill>
                <a:latin typeface="Roboto Mono"/>
                <a:cs typeface="Roboto Mono"/>
              </a:rPr>
              <a:t>full  = cpy.MbarrierArray(stages,      </a:t>
            </a:r>
          </a:p>
          <a:p>
            <a:pPr algn="l">
              <a:lnSpc>
                <a:spcPts val="3900"/>
              </a:lnSpc>
              <a:spcBef>
                <a:spcPts val="0"/>
              </a:spcBef>
              <a:buNone/>
            </a:pPr>
            <a:r>
              <a:rPr lang="en-US" sz="3300">
                <a:solidFill>
                  <a:srgbClr val="000000"/>
                </a:solidFill>
                <a:latin typeface="Roboto Mono"/>
                <a:cs typeface="Roboto Mono"/>
              </a:rPr>
              <a:t>                          arrive_count=</a:t>
            </a:r>
            <a:r>
              <a:rPr lang="en-US" sz="3300">
                <a:solidFill>
                  <a:srgbClr val="B5651D"/>
                </a:solidFill>
                <a:latin typeface="Roboto Mono"/>
                <a:cs typeface="Roboto Mono"/>
              </a:rPr>
              <a:t>1</a:t>
            </a:r>
            <a:r>
              <a:rPr lang="en-US" sz="3300">
                <a:solidFill>
                  <a:srgbClr val="000000"/>
                </a:solidFill>
                <a:latin typeface="Roboto Mono"/>
                <a:cs typeface="Roboto Mono"/>
              </a:rPr>
              <a:t>, publish=</a:t>
            </a:r>
            <a:r>
              <a:rPr lang="en-US" sz="3300">
                <a:solidFill>
                  <a:srgbClr val="952FC6"/>
                </a:solidFill>
                <a:latin typeface="Roboto Mono"/>
                <a:cs typeface="Roboto Mono"/>
              </a:rPr>
              <a:t>False</a:t>
            </a:r>
            <a:r>
              <a:rPr lang="en-US" sz="3300">
                <a:solidFill>
                  <a:srgbClr val="000000"/>
                </a:solidFill>
                <a:latin typeface="Roboto Mono"/>
                <a:cs typeface="Roboto Mono"/>
              </a:rPr>
              <a:t>)</a:t>
            </a:r>
          </a:p>
          <a:p>
            <a:pPr algn="l">
              <a:lnSpc>
                <a:spcPts val="3900"/>
              </a:lnSpc>
              <a:spcBef>
                <a:spcPts val="0"/>
              </a:spcBef>
              <a:buNone/>
            </a:pPr>
            <a:r>
              <a:rPr lang="en-US" sz="3300">
                <a:solidFill>
                  <a:srgbClr val="000000"/>
                </a:solidFill>
                <a:latin typeface="Roboto Mono"/>
                <a:cs typeface="Roboto Mono"/>
              </a:rPr>
              <a:t>empty = cpy.MbarrierArray(stages,      </a:t>
            </a:r>
          </a:p>
          <a:p>
            <a:pPr algn="l">
              <a:lnSpc>
                <a:spcPts val="3900"/>
              </a:lnSpc>
              <a:spcBef>
                <a:spcPts val="0"/>
              </a:spcBef>
              <a:buNone/>
            </a:pPr>
            <a:r>
              <a:rPr lang="en-US" sz="3300">
                <a:solidFill>
                  <a:srgbClr val="000000"/>
                </a:solidFill>
                <a:latin typeface="Roboto Mono"/>
                <a:cs typeface="Roboto Mono"/>
              </a:rPr>
              <a:t>                          arrive_count=</a:t>
            </a:r>
            <a:r>
              <a:rPr lang="en-US" sz="3300">
                <a:solidFill>
                  <a:srgbClr val="B5651D"/>
                </a:solidFill>
                <a:latin typeface="Roboto Mono"/>
                <a:cs typeface="Roboto Mono"/>
              </a:rPr>
              <a:t>1</a:t>
            </a:r>
            <a:r>
              <a:rPr lang="en-US" sz="3300">
                <a:solidFill>
                  <a:srgbClr val="000000"/>
                </a:solidFill>
                <a:latin typeface="Roboto Mono"/>
                <a:cs typeface="Roboto Mono"/>
              </a:rPr>
              <a:t>, publish=</a:t>
            </a:r>
            <a:r>
              <a:rPr lang="en-US" sz="3300">
                <a:solidFill>
                  <a:srgbClr val="952FC6"/>
                </a:solidFill>
                <a:latin typeface="Roboto Mono"/>
                <a:cs typeface="Roboto Mono"/>
              </a:rPr>
              <a:t>False</a:t>
            </a:r>
            <a:r>
              <a:rPr lang="en-US" sz="3300">
                <a:solidFill>
                  <a:srgbClr val="000000"/>
                </a:solidFill>
                <a:latin typeface="Roboto Mono"/>
                <a:cs typeface="Roboto Mono"/>
              </a:rPr>
              <a:t>)</a:t>
            </a:r>
          </a:p>
          <a:p>
            <a:pPr algn="l">
              <a:lnSpc>
                <a:spcPts val="3900"/>
              </a:lnSpc>
              <a:spcBef>
                <a:spcPts val="0"/>
              </a:spcBef>
              <a:buNone/>
            </a:pPr>
            <a:r>
              <a:rPr lang="en-US" sz="3300">
                <a:solidFill>
                  <a:srgbClr val="000000"/>
                </a:solidFill>
                <a:latin typeface="Roboto Mono"/>
                <a:cs typeface="Roboto Mono"/>
              </a:rPr>
              <a:t>acc_done = cpy.Mbarrier(arrive_count=</a:t>
            </a:r>
            <a:r>
              <a:rPr lang="en-US" sz="3300">
                <a:solidFill>
                  <a:srgbClr val="B5651D"/>
                </a:solidFill>
                <a:latin typeface="Roboto Mono"/>
                <a:cs typeface="Roboto Mono"/>
              </a:rPr>
              <a:t>1</a:t>
            </a:r>
            <a:r>
              <a:rPr lang="en-US" sz="3300">
                <a:solidFill>
                  <a:srgbClr val="000000"/>
                </a:solidFill>
                <a:latin typeface="Roboto Mono"/>
                <a:cs typeface="Roboto Mono"/>
              </a:rPr>
              <a:t>, publish=</a:t>
            </a:r>
            <a:r>
              <a:rPr lang="en-US" sz="3300">
                <a:solidFill>
                  <a:srgbClr val="952FC6"/>
                </a:solidFill>
                <a:latin typeface="Roboto Mono"/>
                <a:cs typeface="Roboto Mono"/>
              </a:rPr>
              <a:t>False</a:t>
            </a:r>
            <a:r>
              <a:rPr lang="en-US" sz="3300">
                <a:solidFill>
                  <a:srgbClr val="000000"/>
                </a:solidFill>
                <a:latin typeface="Roboto Mono"/>
                <a:cs typeface="Roboto Mono"/>
              </a:rPr>
              <a:t>)</a:t>
            </a:r>
          </a:p>
          <a:p>
            <a:pPr algn="l">
              <a:lnSpc>
                <a:spcPts val="3900"/>
              </a:lnSpc>
              <a:spcBef>
                <a:spcPts val="0"/>
              </a:spcBef>
              <a:buNone/>
            </a:pPr>
            <a:r>
              <a:rPr lang="en-US" sz="3300">
                <a:solidFill>
                  <a:srgbClr val="000000"/>
                </a:solidFill>
                <a:latin typeface="Roboto Mono"/>
                <a:cs typeface="Roboto Mono"/>
              </a:rPr>
              <a:t>cpy.publish_barriers()      </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tmem = cpy.tmem_alloc(cols=blk_n)</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wr = cpy.PipeState.producer(stages)    </a:t>
            </a:r>
          </a:p>
          <a:p>
            <a:pPr algn="l">
              <a:lnSpc>
                <a:spcPts val="3900"/>
              </a:lnSpc>
              <a:spcBef>
                <a:spcPts val="0"/>
              </a:spcBef>
              <a:buNone/>
            </a:pPr>
            <a:r>
              <a:rPr lang="en-US" sz="3300">
                <a:solidFill>
                  <a:srgbClr val="000000"/>
                </a:solidFill>
                <a:latin typeface="Roboto Mono"/>
                <a:cs typeface="Roboto Mono"/>
              </a:rPr>
              <a:t>rd = cpy.PipeState.consumer(stages)    </a:t>
            </a:r>
          </a:p>
        </p:txBody>
      </p:sp>
      <p:sp>
        <p:nvSpPr>
          <p:cNvPr id="6" name="S5N">
            <a:extLst>
              <a:ext uri="{FF2B5EF4-FFF2-40B4-BE49-F238E27FC236}">
                <a16:creationId xmlns:a16="http://schemas.microsoft.com/office/drawing/2014/main" id="{E55E081D-C3F3-D844-8705-380970B3378A}"/>
              </a:ext>
            </a:extLst>
          </p:cNvPr>
          <p:cNvSpPr txBox="1"/>
          <p:nvPr/>
        </p:nvSpPr>
        <p:spPr>
          <a:xfrm>
            <a:off x="1828800" y="10934700"/>
            <a:ext cx="16510000" cy="609600"/>
          </a:xfrm>
          <a:prstGeom prst="rect">
            <a:avLst/>
          </a:prstGeom>
          <a:noFill/>
        </p:spPr>
        <p:txBody>
          <a:bodyPr vertOverflow="overflow" vert="horz" wrap="square" rtlCol="0" anchor="t" anchorCtr="0">
            <a:noAutofit/>
          </a:bodyPr>
          <a:lstStyle/>
          <a:p>
            <a:pPr algn="l">
              <a:lnSpc>
                <a:spcPts val="2600"/>
              </a:lnSpc>
              <a:buNone/>
            </a:pPr>
            <a:r>
              <a:rPr lang="en-US" sz="2200">
                <a:solidFill>
                  <a:srgbClr val="6E6E6E"/>
                </a:solidFill>
                <a:latin typeface="NVIDIA Sans"/>
                <a:cs typeface="NVIDIA Sans"/>
              </a:rPr>
              <a:t>Barrier arrays  ·  TMEM allocation  ·  Pipeline iterators</a:t>
            </a:r>
          </a:p>
        </p:txBody>
      </p:sp>
      <p:sp>
        <p:nvSpPr>
          <p:cNvPr id="7" name="S6L">
            <a:extLst>
              <a:ext uri="{FF2B5EF4-FFF2-40B4-BE49-F238E27FC236}">
                <a16:creationId xmlns:a16="http://schemas.microsoft.com/office/drawing/2014/main" id="{1A24AEED-8990-EB47-BAD0-ACED3A029218}"/>
              </a:ext>
            </a:extLst>
          </p:cNvPr>
          <p:cNvSpPr txBox="1"/>
          <p:nvPr/>
        </p:nvSpPr>
        <p:spPr>
          <a:xfrm>
            <a:off x="19050000" y="4191000"/>
            <a:ext cx="16510000" cy="609600"/>
          </a:xfrm>
          <a:prstGeom prst="rect">
            <a:avLst/>
          </a:prstGeom>
          <a:noFill/>
        </p:spPr>
        <p:txBody>
          <a:bodyPr vertOverflow="overflow" vert="horz" wrap="none" rtlCol="0" anchor="t" anchorCtr="0">
            <a:noAutofit/>
          </a:bodyPr>
          <a:lstStyle/>
          <a:p>
            <a:pPr algn="l">
              <a:lnSpc>
                <a:spcPts val="3200"/>
              </a:lnSpc>
              <a:buNone/>
            </a:pPr>
            <a:r>
              <a:rPr lang="en-US" sz="2800" b="1">
                <a:solidFill>
                  <a:srgbClr val="76B900"/>
                </a:solidFill>
                <a:latin typeface="NVIDIA Sans"/>
                <a:cs typeface="NVIDIA Sans"/>
              </a:rPr>
              <a:t>STEP 06  ·  Producer and Consumer</a:t>
            </a:r>
          </a:p>
        </p:txBody>
      </p:sp>
      <p:sp>
        <p:nvSpPr>
          <p:cNvPr id="8" name="S6C">
            <a:extLst>
              <a:ext uri="{FF2B5EF4-FFF2-40B4-BE49-F238E27FC236}">
                <a16:creationId xmlns:a16="http://schemas.microsoft.com/office/drawing/2014/main" id="{6330EC2F-D898-8B40-9973-39C0A2A33C80}"/>
              </a:ext>
            </a:extLst>
          </p:cNvPr>
          <p:cNvSpPr txBox="1"/>
          <p:nvPr/>
        </p:nvSpPr>
        <p:spPr>
          <a:xfrm>
            <a:off x="19050000" y="4978400"/>
            <a:ext cx="16510000" cy="9715500"/>
          </a:xfrm>
          <a:prstGeom prst="rect">
            <a:avLst/>
          </a:prstGeom>
          <a:noFill/>
        </p:spPr>
        <p:txBody>
          <a:bodyPr vertOverflow="overflow" vert="horz" wrap="none" rtlCol="0" anchor="t" anchorCtr="0">
            <a:noAutofit/>
          </a:bodyPr>
          <a:lstStyle/>
          <a:p>
            <a:pPr algn="l">
              <a:lnSpc>
                <a:spcPts val="3900"/>
              </a:lnSpc>
              <a:spcBef>
                <a:spcPts val="0"/>
              </a:spcBef>
              <a:buNone/>
            </a:pPr>
            <a:r>
              <a:rPr lang="en-US" sz="3300">
                <a:solidFill>
                  <a:srgbClr val="952FC6"/>
                </a:solidFill>
                <a:latin typeface="Roboto Mono"/>
                <a:cs typeface="Roboto Mono"/>
              </a:rPr>
              <a:t>if</a:t>
            </a:r>
            <a:r>
              <a:rPr lang="en-US" sz="3300">
                <a:solidFill>
                  <a:srgbClr val="000000"/>
                </a:solidFill>
                <a:latin typeface="Roboto Mono"/>
                <a:cs typeface="Roboto Mono"/>
              </a:rPr>
              <a:t> warp == TMA_WARP:</a:t>
            </a:r>
          </a:p>
          <a:p>
            <a:pPr algn="l">
              <a:lnSpc>
                <a:spcPts val="3900"/>
              </a:lnSpc>
              <a:spcBef>
                <a:spcPts val="0"/>
              </a:spcBef>
              <a:buNone/>
            </a:pPr>
            <a:r>
              <a:rPr lang="en-US" sz="3300">
                <a:solidFill>
                  <a:srgbClr val="000000"/>
                </a:solidFill>
                <a:latin typeface="Roboto Mono"/>
                <a:cs typeface="Roboto Mono"/>
              </a:rPr>
              <a:t>    </a:t>
            </a:r>
            <a:r>
              <a:rPr lang="en-US" sz="3300">
                <a:solidFill>
                  <a:srgbClr val="952FC6"/>
                </a:solidFill>
                <a:latin typeface="Roboto Mono"/>
                <a:cs typeface="Roboto Mono"/>
              </a:rPr>
              <a:t>for</a:t>
            </a:r>
            <a:r>
              <a:rPr lang="en-US" sz="3300">
                <a:solidFill>
                  <a:srgbClr val="000000"/>
                </a:solidFill>
                <a:latin typeface="Roboto Mono"/>
                <a:cs typeface="Roboto Mono"/>
              </a:rPr>
              <a:t> kt </a:t>
            </a:r>
            <a:r>
              <a:rPr lang="en-US" sz="3300">
                <a:solidFill>
                  <a:srgbClr val="952FC6"/>
                </a:solidFill>
                <a:latin typeface="Roboto Mono"/>
                <a:cs typeface="Roboto Mono"/>
              </a:rPr>
              <a:t>in</a:t>
            </a:r>
            <a:r>
              <a:rPr lang="en-US" sz="3300">
                <a:solidFill>
                  <a:srgbClr val="000000"/>
                </a:solidFill>
                <a:latin typeface="Roboto Mono"/>
                <a:cs typeface="Roboto Mono"/>
              </a:rPr>
              <a:t> cutlass.range(k_tiles):     </a:t>
            </a:r>
          </a:p>
          <a:p>
            <a:pPr algn="l">
              <a:lnSpc>
                <a:spcPts val="3900"/>
              </a:lnSpc>
              <a:spcBef>
                <a:spcPts val="0"/>
              </a:spcBef>
              <a:buNone/>
            </a:pPr>
            <a:r>
              <a:rPr lang="en-US" sz="3300">
                <a:solidFill>
                  <a:srgbClr val="000000"/>
                </a:solidFill>
                <a:latin typeface="Roboto Mono"/>
                <a:cs typeface="Roboto Mono"/>
              </a:rPr>
              <a:t>        empty[wr.index].wait(wr.phase)</a:t>
            </a:r>
          </a:p>
          <a:p>
            <a:pPr algn="l">
              <a:lnSpc>
                <a:spcPts val="3900"/>
              </a:lnSpc>
              <a:spcBef>
                <a:spcPts val="0"/>
              </a:spcBef>
              <a:buNone/>
            </a:pPr>
            <a:r>
              <a:rPr lang="en-US" sz="3300">
                <a:solidFill>
                  <a:srgbClr val="000000"/>
                </a:solidFill>
                <a:latin typeface="Roboto Mono"/>
                <a:cs typeface="Roboto Mono"/>
              </a:rPr>
              <a:t>        </a:t>
            </a:r>
            <a:r>
              <a:rPr lang="en-US" sz="3300">
                <a:solidFill>
                  <a:srgbClr val="952FC6"/>
                </a:solidFill>
                <a:latin typeface="Roboto Mono"/>
                <a:cs typeface="Roboto Mono"/>
              </a:rPr>
              <a:t>if</a:t>
            </a:r>
            <a:r>
              <a:rPr lang="en-US" sz="3300">
                <a:solidFill>
                  <a:srgbClr val="000000"/>
                </a:solidFill>
                <a:latin typeface="Roboto Mono"/>
                <a:cs typeface="Roboto Mono"/>
              </a:rPr>
              <a:t> one:                           </a:t>
            </a:r>
          </a:p>
          <a:p>
            <a:pPr algn="l">
              <a:lnSpc>
                <a:spcPts val="3900"/>
              </a:lnSpc>
              <a:spcBef>
                <a:spcPts val="0"/>
              </a:spcBef>
              <a:buNone/>
            </a:pPr>
            <a:r>
              <a:rPr lang="en-US" sz="3300">
                <a:solidFill>
                  <a:srgbClr val="000000"/>
                </a:solidFill>
                <a:latin typeface="Roboto Mono"/>
                <a:cs typeface="Roboto Mono"/>
              </a:rPr>
              <a:t>            full[wr.index].arrive_expect_tx(tma_a, tma_b)</a:t>
            </a:r>
          </a:p>
          <a:p>
            <a:pPr algn="l">
              <a:lnSpc>
                <a:spcPts val="3900"/>
              </a:lnSpc>
              <a:spcBef>
                <a:spcPts val="0"/>
              </a:spcBef>
              <a:buNone/>
            </a:pPr>
            <a:r>
              <a:rPr lang="en-US" sz="3300">
                <a:solidFill>
                  <a:srgbClr val="000000"/>
                </a:solidFill>
                <a:latin typeface="Roboto Mono"/>
                <a:cs typeface="Roboto Mono"/>
              </a:rPr>
              <a:t>            cpy.copy(tma_a, tAgA[:, kt], tAsA[:, wr.index],</a:t>
            </a:r>
          </a:p>
          <a:p>
            <a:pPr algn="l">
              <a:lnSpc>
                <a:spcPts val="3900"/>
              </a:lnSpc>
              <a:spcBef>
                <a:spcPts val="0"/>
              </a:spcBef>
              <a:buNone/>
            </a:pPr>
            <a:r>
              <a:rPr lang="en-US" sz="3300">
                <a:solidFill>
                  <a:srgbClr val="000000"/>
                </a:solidFill>
                <a:latin typeface="Roboto Mono"/>
                <a:cs typeface="Roboto Mono"/>
              </a:rPr>
              <a:t>                     mbar=full[wr.index])</a:t>
            </a:r>
          </a:p>
          <a:p>
            <a:pPr algn="l">
              <a:lnSpc>
                <a:spcPts val="3900"/>
              </a:lnSpc>
              <a:spcBef>
                <a:spcPts val="0"/>
              </a:spcBef>
              <a:buNone/>
            </a:pPr>
            <a:r>
              <a:rPr lang="en-US" sz="3300">
                <a:solidFill>
                  <a:srgbClr val="000000"/>
                </a:solidFill>
                <a:latin typeface="Roboto Mono"/>
                <a:cs typeface="Roboto Mono"/>
              </a:rPr>
              <a:t>            cpy.copy(tma_b, tBgB[:, kt], tBsB[:, wr.index],</a:t>
            </a:r>
          </a:p>
          <a:p>
            <a:pPr algn="l">
              <a:lnSpc>
                <a:spcPts val="3900"/>
              </a:lnSpc>
              <a:spcBef>
                <a:spcPts val="0"/>
              </a:spcBef>
              <a:buNone/>
            </a:pPr>
            <a:r>
              <a:rPr lang="en-US" sz="3300">
                <a:solidFill>
                  <a:srgbClr val="000000"/>
                </a:solidFill>
                <a:latin typeface="Roboto Mono"/>
                <a:cs typeface="Roboto Mono"/>
              </a:rPr>
              <a:t>                     mbar=full[wr.index])</a:t>
            </a:r>
          </a:p>
          <a:p>
            <a:pPr algn="l">
              <a:lnSpc>
                <a:spcPts val="3900"/>
              </a:lnSpc>
              <a:spcBef>
                <a:spcPts val="0"/>
              </a:spcBef>
              <a:buNone/>
            </a:pPr>
            <a:r>
              <a:rPr lang="en-US" sz="3300">
                <a:solidFill>
                  <a:srgbClr val="000000"/>
                </a:solidFill>
                <a:latin typeface="Roboto Mono"/>
                <a:cs typeface="Roboto Mono"/>
              </a:rPr>
              <a:t>        wr.advance()                      </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952FC6"/>
                </a:solidFill>
                <a:latin typeface="Roboto Mono"/>
                <a:cs typeface="Roboto Mono"/>
              </a:rPr>
              <a:t>if</a:t>
            </a:r>
            <a:r>
              <a:rPr lang="en-US" sz="3300">
                <a:solidFill>
                  <a:srgbClr val="000000"/>
                </a:solidFill>
                <a:latin typeface="Roboto Mono"/>
                <a:cs typeface="Roboto Mono"/>
              </a:rPr>
              <a:t> warp == MMA_WARP:</a:t>
            </a:r>
          </a:p>
          <a:p>
            <a:pPr algn="l">
              <a:lnSpc>
                <a:spcPts val="3900"/>
              </a:lnSpc>
              <a:spcBef>
                <a:spcPts val="0"/>
              </a:spcBef>
              <a:buNone/>
            </a:pPr>
            <a:r>
              <a:rPr lang="en-US" sz="3300">
                <a:solidFill>
                  <a:srgbClr val="000000"/>
                </a:solidFill>
                <a:latin typeface="Roboto Mono"/>
                <a:cs typeface="Roboto Mono"/>
              </a:rPr>
              <a:t>    </a:t>
            </a:r>
            <a:r>
              <a:rPr lang="en-US" sz="3300">
                <a:solidFill>
                  <a:srgbClr val="952FC6"/>
                </a:solidFill>
                <a:latin typeface="Roboto Mono"/>
                <a:cs typeface="Roboto Mono"/>
              </a:rPr>
              <a:t>for</a:t>
            </a:r>
            <a:r>
              <a:rPr lang="en-US" sz="3300">
                <a:solidFill>
                  <a:srgbClr val="000000"/>
                </a:solidFill>
                <a:latin typeface="Roboto Mono"/>
                <a:cs typeface="Roboto Mono"/>
              </a:rPr>
              <a:t> kt </a:t>
            </a:r>
            <a:r>
              <a:rPr lang="en-US" sz="3300">
                <a:solidFill>
                  <a:srgbClr val="952FC6"/>
                </a:solidFill>
                <a:latin typeface="Roboto Mono"/>
                <a:cs typeface="Roboto Mono"/>
              </a:rPr>
              <a:t>in</a:t>
            </a:r>
            <a:r>
              <a:rPr lang="en-US" sz="3300">
                <a:solidFill>
                  <a:srgbClr val="000000"/>
                </a:solidFill>
                <a:latin typeface="Roboto Mono"/>
                <a:cs typeface="Roboto Mono"/>
              </a:rPr>
              <a:t> cutlass.range(k_tiles):</a:t>
            </a:r>
          </a:p>
          <a:p>
            <a:pPr algn="l">
              <a:lnSpc>
                <a:spcPts val="3900"/>
              </a:lnSpc>
              <a:spcBef>
                <a:spcPts val="0"/>
              </a:spcBef>
              <a:buNone/>
            </a:pPr>
            <a:r>
              <a:rPr lang="en-US" sz="3300">
                <a:solidFill>
                  <a:srgbClr val="000000"/>
                </a:solidFill>
                <a:latin typeface="Roboto Mono"/>
                <a:cs typeface="Roboto Mono"/>
              </a:rPr>
              <a:t>        full[rd.index].wait(rd.phase)</a:t>
            </a:r>
          </a:p>
          <a:p>
            <a:pPr algn="l">
              <a:lnSpc>
                <a:spcPts val="3900"/>
              </a:lnSpc>
              <a:spcBef>
                <a:spcPts val="0"/>
              </a:spcBef>
              <a:buNone/>
            </a:pPr>
            <a:r>
              <a:rPr lang="en-US" sz="3300">
                <a:solidFill>
                  <a:srgbClr val="000000"/>
                </a:solidFill>
                <a:latin typeface="Roboto Mono"/>
                <a:cs typeface="Roboto Mono"/>
              </a:rPr>
              <a:t>        cpy.gemm(mma, tCsA[..., rd.index], tCsB[..., rd.index],</a:t>
            </a:r>
          </a:p>
          <a:p>
            <a:pPr algn="l">
              <a:lnSpc>
                <a:spcPts val="3900"/>
              </a:lnSpc>
              <a:spcBef>
                <a:spcPts val="0"/>
              </a:spcBef>
              <a:buNone/>
            </a:pPr>
            <a:r>
              <a:rPr lang="en-US" sz="3300">
                <a:solidFill>
                  <a:srgbClr val="000000"/>
                </a:solidFill>
                <a:latin typeface="Roboto Mono"/>
                <a:cs typeface="Roboto Mono"/>
              </a:rPr>
              <a:t>                 tAcc, accumulate=cpy.accumulate_from(kt != </a:t>
            </a:r>
            <a:r>
              <a:rPr lang="en-US" sz="3300">
                <a:solidFill>
                  <a:srgbClr val="B5651D"/>
                </a:solidFill>
                <a:latin typeface="Roboto Mono"/>
                <a:cs typeface="Roboto Mono"/>
              </a:rPr>
              <a:t>0</a:t>
            </a:r>
            <a:r>
              <a:rPr lang="en-US" sz="3300">
                <a:solidFill>
                  <a:srgbClr val="000000"/>
                </a:solidFill>
                <a:latin typeface="Roboto Mono"/>
                <a:cs typeface="Roboto Mono"/>
              </a:rPr>
              <a:t>))</a:t>
            </a:r>
          </a:p>
          <a:p>
            <a:pPr algn="l">
              <a:lnSpc>
                <a:spcPts val="3900"/>
              </a:lnSpc>
              <a:spcBef>
                <a:spcPts val="0"/>
              </a:spcBef>
              <a:buNone/>
            </a:pPr>
            <a:r>
              <a:rPr lang="en-US" sz="3300">
                <a:solidFill>
                  <a:srgbClr val="000000"/>
                </a:solidFill>
                <a:latin typeface="Roboto Mono"/>
                <a:cs typeface="Roboto Mono"/>
              </a:rPr>
              <a:t>        cpy.tcgen05_commit(empty[rd.index])</a:t>
            </a:r>
          </a:p>
          <a:p>
            <a:pPr algn="l">
              <a:lnSpc>
                <a:spcPts val="3900"/>
              </a:lnSpc>
              <a:spcBef>
                <a:spcPts val="0"/>
              </a:spcBef>
              <a:buNone/>
            </a:pPr>
            <a:r>
              <a:rPr lang="en-US" sz="3300">
                <a:solidFill>
                  <a:srgbClr val="000000"/>
                </a:solidFill>
                <a:latin typeface="Roboto Mono"/>
                <a:cs typeface="Roboto Mono"/>
              </a:rPr>
              <a:t>        rd.advance()</a:t>
            </a:r>
          </a:p>
          <a:p>
            <a:pPr algn="l">
              <a:lnSpc>
                <a:spcPts val="3900"/>
              </a:lnSpc>
              <a:spcBef>
                <a:spcPts val="0"/>
              </a:spcBef>
              <a:buNone/>
            </a:pPr>
            <a:r>
              <a:rPr lang="en-US" sz="3300">
                <a:solidFill>
                  <a:srgbClr val="000000"/>
                </a:solidFill>
                <a:latin typeface="Roboto Mono"/>
                <a:cs typeface="Roboto Mono"/>
              </a:rPr>
              <a:t>    cpy.tcgen05_commit(acc_done)</a:t>
            </a:r>
          </a:p>
        </p:txBody>
      </p:sp>
      <p:sp>
        <p:nvSpPr>
          <p:cNvPr id="9" name="S6N">
            <a:extLst>
              <a:ext uri="{FF2B5EF4-FFF2-40B4-BE49-F238E27FC236}">
                <a16:creationId xmlns:a16="http://schemas.microsoft.com/office/drawing/2014/main" id="{BF91BB85-81DF-6A40-9179-E9D8F5A817B4}"/>
              </a:ext>
            </a:extLst>
          </p:cNvPr>
          <p:cNvSpPr txBox="1"/>
          <p:nvPr/>
        </p:nvSpPr>
        <p:spPr>
          <a:xfrm>
            <a:off x="19050000" y="14897100"/>
            <a:ext cx="16510000" cy="609600"/>
          </a:xfrm>
          <a:prstGeom prst="rect">
            <a:avLst/>
          </a:prstGeom>
          <a:noFill/>
        </p:spPr>
        <p:txBody>
          <a:bodyPr vertOverflow="overflow" vert="horz" wrap="square" rtlCol="0" anchor="t" anchorCtr="0">
            <a:noAutofit/>
          </a:bodyPr>
          <a:lstStyle/>
          <a:p>
            <a:pPr algn="l">
              <a:lnSpc>
                <a:spcPts val="2600"/>
              </a:lnSpc>
              <a:buNone/>
            </a:pPr>
            <a:r>
              <a:rPr lang="en-US" sz="2200">
                <a:solidFill>
                  <a:srgbClr val="6E6E6E"/>
                </a:solidFill>
                <a:latin typeface="NVIDIA Sans"/>
                <a:cs typeface="NVIDIA Sans"/>
              </a:rPr>
              <a:t>Producer  ·  Pipeline State Mutation  ·  Consumer</a:t>
            </a:r>
          </a:p>
        </p:txBody>
      </p:sp>
    </p:spTree>
    <p:extLst>
      <p:ext uri="{BB962C8B-B14F-4D97-AF65-F5344CB8AC3E}">
        <p14:creationId xmlns:p14="http://schemas.microsoft.com/office/powerpoint/2010/main" val="2352198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66A4461A-66A4-2B43-909A-E2A0722595BA}"/>
              </a:ext>
            </a:extLst>
          </p:cNvPr>
          <p:cNvSpPr txBox="1"/>
          <p:nvPr/>
        </p:nvSpPr>
        <p:spPr>
          <a:xfrm>
            <a:off x="1828800" y="609600"/>
            <a:ext cx="32918400" cy="1397000"/>
          </a:xfrm>
          <a:prstGeom prst="rect">
            <a:avLst/>
          </a:prstGeom>
          <a:noFill/>
        </p:spPr>
        <p:txBody>
          <a:bodyPr vertOverflow="overflow" vert="horz" wrap="none" rtlCol="0" anchor="t" anchorCtr="0">
            <a:noAutofit/>
          </a:bodyPr>
          <a:lstStyle/>
          <a:p>
            <a:pPr algn="l"/>
            <a:r>
              <a:rPr lang="en-US" sz="5600">
                <a:latin typeface="NVIDIA Sans Medium"/>
                <a:cs typeface="NVIDIA Sans Medium"/>
              </a:rPr>
              <a:t>Blackwell GEMM, End to End</a:t>
            </a:r>
          </a:p>
        </p:txBody>
      </p:sp>
      <p:sp>
        <p:nvSpPr>
          <p:cNvPr id="3" name="SubTx">
            <a:extLst>
              <a:ext uri="{FF2B5EF4-FFF2-40B4-BE49-F238E27FC236}">
                <a16:creationId xmlns:a16="http://schemas.microsoft.com/office/drawing/2014/main" id="{F2000CAD-7802-2F42-8868-E8137A821478}"/>
              </a:ext>
            </a:extLst>
          </p:cNvPr>
          <p:cNvSpPr txBox="1"/>
          <p:nvPr/>
        </p:nvSpPr>
        <p:spPr>
          <a:xfrm>
            <a:off x="1828800" y="2006600"/>
            <a:ext cx="32918400" cy="762000"/>
          </a:xfrm>
          <a:prstGeom prst="rect">
            <a:avLst/>
          </a:prstGeom>
          <a:noFill/>
        </p:spPr>
        <p:txBody>
          <a:bodyPr vertOverflow="overflow" vert="horz" wrap="square" rtlCol="0" anchor="t" anchorCtr="0">
            <a:noAutofit/>
          </a:bodyPr>
          <a:lstStyle/>
          <a:p>
            <a:pPr algn="l">
              <a:lnSpc>
                <a:spcPts val="2800"/>
              </a:lnSpc>
              <a:buNone/>
            </a:pPr>
            <a:r>
              <a:rPr lang="en-US" sz="2400">
                <a:solidFill>
                  <a:srgbClr val="4A4A4A"/>
                </a:solidFill>
                <a:latin typeface="NVIDIA Sans"/>
                <a:cs typeface="NVIDIA Sans"/>
              </a:rPr>
              <a:t>The epilogue that moves the accumulator back out.</a:t>
            </a:r>
          </a:p>
        </p:txBody>
      </p:sp>
      <p:sp>
        <p:nvSpPr>
          <p:cNvPr id="10" name="S7L">
            <a:extLst>
              <a:ext uri="{FF2B5EF4-FFF2-40B4-BE49-F238E27FC236}">
                <a16:creationId xmlns:a16="http://schemas.microsoft.com/office/drawing/2014/main" id="{EDAA2FD5-E702-9A48-9EEF-82F003A0CFE8}"/>
              </a:ext>
            </a:extLst>
          </p:cNvPr>
          <p:cNvSpPr txBox="1"/>
          <p:nvPr/>
        </p:nvSpPr>
        <p:spPr>
          <a:xfrm>
            <a:off x="1828800" y="4191000"/>
            <a:ext cx="16510000" cy="609600"/>
          </a:xfrm>
          <a:prstGeom prst="rect">
            <a:avLst/>
          </a:prstGeom>
          <a:noFill/>
        </p:spPr>
        <p:txBody>
          <a:bodyPr vertOverflow="overflow" vert="horz" wrap="none" rtlCol="0" anchor="t" anchorCtr="0">
            <a:noAutofit/>
          </a:bodyPr>
          <a:lstStyle/>
          <a:p>
            <a:pPr algn="l">
              <a:lnSpc>
                <a:spcPts val="3200"/>
              </a:lnSpc>
              <a:buNone/>
            </a:pPr>
            <a:r>
              <a:rPr lang="en-US" sz="2800" b="1">
                <a:solidFill>
                  <a:srgbClr val="76B900"/>
                </a:solidFill>
                <a:latin typeface="NVIDIA Sans"/>
                <a:cs typeface="NVIDIA Sans"/>
              </a:rPr>
              <a:t>STEP 07  ·  Epilogue</a:t>
            </a:r>
          </a:p>
        </p:txBody>
      </p:sp>
      <p:sp>
        <p:nvSpPr>
          <p:cNvPr id="11" name="S7C">
            <a:extLst>
              <a:ext uri="{FF2B5EF4-FFF2-40B4-BE49-F238E27FC236}">
                <a16:creationId xmlns:a16="http://schemas.microsoft.com/office/drawing/2014/main" id="{FC1C6CC8-5DA7-284B-A441-BD8FA29E4E08}"/>
              </a:ext>
            </a:extLst>
          </p:cNvPr>
          <p:cNvSpPr txBox="1"/>
          <p:nvPr/>
        </p:nvSpPr>
        <p:spPr>
          <a:xfrm>
            <a:off x="1828800" y="4978400"/>
            <a:ext cx="16510000" cy="8229600"/>
          </a:xfrm>
          <a:prstGeom prst="rect">
            <a:avLst/>
          </a:prstGeom>
          <a:noFill/>
        </p:spPr>
        <p:txBody>
          <a:bodyPr vertOverflow="overflow" vert="horz" wrap="none" rtlCol="0" anchor="t" anchorCtr="0">
            <a:noAutofit/>
          </a:bodyPr>
          <a:lstStyle/>
          <a:p>
            <a:pPr algn="l">
              <a:lnSpc>
                <a:spcPts val="3900"/>
              </a:lnSpc>
              <a:spcBef>
                <a:spcPts val="0"/>
              </a:spcBef>
              <a:buNone/>
            </a:pPr>
            <a:r>
              <a:rPr lang="en-US" sz="3300">
                <a:solidFill>
                  <a:srgbClr val="000000"/>
                </a:solidFill>
                <a:latin typeface="Roboto Mono"/>
                <a:cs typeface="Roboto Mono"/>
              </a:rPr>
              <a:t>acc_done.wait(</a:t>
            </a:r>
            <a:r>
              <a:rPr lang="en-US" sz="3300">
                <a:solidFill>
                  <a:srgbClr val="B5651D"/>
                </a:solidFill>
                <a:latin typeface="Roboto Mono"/>
                <a:cs typeface="Roboto Mono"/>
              </a:rPr>
              <a:t>0</a:t>
            </a: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t2r = cpy.make_tmem_copy(</a:t>
            </a:r>
          </a:p>
          <a:p>
            <a:pPr algn="l">
              <a:lnSpc>
                <a:spcPts val="3900"/>
              </a:lnSpc>
              <a:spcBef>
                <a:spcPts val="0"/>
              </a:spcBef>
              <a:buNone/>
            </a:pPr>
            <a:r>
              <a:rPr lang="en-US" sz="3300">
                <a:solidFill>
                  <a:srgbClr val="000000"/>
                </a:solidFill>
                <a:latin typeface="Roboto Mono"/>
                <a:cs typeface="Roboto Mono"/>
              </a:rPr>
              <a:t>    sm100.tmem_ld_32dp32b(x=blk_n), tAcc)</a:t>
            </a:r>
          </a:p>
          <a:p>
            <a:pPr algn="l">
              <a:lnSpc>
                <a:spcPts val="3900"/>
              </a:lnSpc>
              <a:spcBef>
                <a:spcPts val="0"/>
              </a:spcBef>
              <a:buNone/>
            </a:pPr>
            <a:r>
              <a:rPr lang="en-US" sz="3300">
                <a:solidFill>
                  <a:srgbClr val="000000"/>
                </a:solidFill>
                <a:latin typeface="Roboto Mono"/>
                <a:cs typeface="Roboto Mono"/>
              </a:rPr>
              <a:t>thr_t2r = t2r.get_slice(tid)</a:t>
            </a:r>
          </a:p>
          <a:p>
            <a:pPr algn="l">
              <a:lnSpc>
                <a:spcPts val="3900"/>
              </a:lnSpc>
              <a:spcBef>
                <a:spcPts val="0"/>
              </a:spcBef>
              <a:buNone/>
            </a:pPr>
            <a:r>
              <a:rPr lang="en-US" sz="3300">
                <a:solidFill>
                  <a:srgbClr val="000000"/>
                </a:solidFill>
                <a:latin typeface="Roboto Mono"/>
                <a:cs typeface="Roboto Mono"/>
              </a:rPr>
              <a:t>tTt = thr_t2r.partition_S(tAcc)     </a:t>
            </a:r>
          </a:p>
          <a:p>
            <a:pPr algn="l">
              <a:lnSpc>
                <a:spcPts val="3900"/>
              </a:lnSpc>
              <a:spcBef>
                <a:spcPts val="0"/>
              </a:spcBef>
              <a:buNone/>
            </a:pPr>
            <a:r>
              <a:rPr lang="en-US" sz="3300">
                <a:solidFill>
                  <a:srgbClr val="000000"/>
                </a:solidFill>
                <a:latin typeface="Roboto Mono"/>
                <a:cs typeface="Roboto Mono"/>
              </a:rPr>
              <a:t>tTr = cpy.make_fragment_like(tTt)   </a:t>
            </a:r>
          </a:p>
          <a:p>
            <a:pPr algn="l">
              <a:lnSpc>
                <a:spcPts val="3900"/>
              </a:lnSpc>
              <a:spcBef>
                <a:spcPts val="0"/>
              </a:spcBef>
              <a:buNone/>
            </a:pPr>
            <a:r>
              <a:rPr lang="en-US" sz="3300">
                <a:solidFill>
                  <a:srgbClr val="000000"/>
                </a:solidFill>
                <a:latin typeface="Roboto Mono"/>
                <a:cs typeface="Roboto Mono"/>
              </a:rPr>
              <a:t>cpy.copy(t2r, tTt, tTr)             </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tTgC = thr_t2r.partition_D(gC)</a:t>
            </a:r>
          </a:p>
          <a:p>
            <a:pPr algn="l">
              <a:lnSpc>
                <a:spcPts val="3900"/>
              </a:lnSpc>
              <a:spcBef>
                <a:spcPts val="0"/>
              </a:spcBef>
              <a:buNone/>
            </a:pPr>
            <a:r>
              <a:rPr lang="en-US" sz="3300">
                <a:solidFill>
                  <a:srgbClr val="952FC6"/>
                </a:solidFill>
                <a:latin typeface="Roboto Mono"/>
                <a:cs typeface="Roboto Mono"/>
              </a:rPr>
              <a:t>for</a:t>
            </a:r>
            <a:r>
              <a:rPr lang="en-US" sz="3300">
                <a:solidFill>
                  <a:srgbClr val="000000"/>
                </a:solidFill>
                <a:latin typeface="Roboto Mono"/>
                <a:cs typeface="Roboto Mono"/>
              </a:rPr>
              <a:t> i </a:t>
            </a:r>
            <a:r>
              <a:rPr lang="en-US" sz="3300">
                <a:solidFill>
                  <a:srgbClr val="952FC6"/>
                </a:solidFill>
                <a:latin typeface="Roboto Mono"/>
                <a:cs typeface="Roboto Mono"/>
              </a:rPr>
              <a:t>in</a:t>
            </a:r>
            <a:r>
              <a:rPr lang="en-US" sz="3300">
                <a:solidFill>
                  <a:srgbClr val="000000"/>
                </a:solidFill>
                <a:latin typeface="Roboto Mono"/>
                <a:cs typeface="Roboto Mono"/>
              </a:rPr>
              <a:t> cutlass.range_constexpr(size(tTr.layout)):</a:t>
            </a:r>
          </a:p>
          <a:p>
            <a:pPr algn="l">
              <a:lnSpc>
                <a:spcPts val="3900"/>
              </a:lnSpc>
              <a:spcBef>
                <a:spcPts val="0"/>
              </a:spcBef>
              <a:buNone/>
            </a:pPr>
            <a:r>
              <a:rPr lang="en-US" sz="3300">
                <a:solidFill>
                  <a:srgbClr val="000000"/>
                </a:solidFill>
                <a:latin typeface="Roboto Mono"/>
                <a:cs typeface="Roboto Mono"/>
              </a:rPr>
              <a:t>    tTgC[i] = tTr[i]                </a:t>
            </a:r>
          </a:p>
          <a:p>
            <a:pPr algn="l">
              <a:lnSpc>
                <a:spcPts val="3900"/>
              </a:lnSpc>
              <a:spcBef>
                <a:spcPts val="0"/>
              </a:spcBef>
              <a:buNone/>
            </a:pPr>
            <a:r>
              <a:rPr lang="en-US" sz="3300">
                <a:solidFill>
                  <a:srgbClr val="000000"/>
                </a:solidFill>
                <a:latin typeface="Roboto Mono"/>
                <a:cs typeface="Roboto Mono"/>
              </a:rPr>
              <a:t> </a:t>
            </a:r>
          </a:p>
          <a:p>
            <a:pPr algn="l">
              <a:lnSpc>
                <a:spcPts val="3900"/>
              </a:lnSpc>
              <a:spcBef>
                <a:spcPts val="0"/>
              </a:spcBef>
              <a:buNone/>
            </a:pPr>
            <a:r>
              <a:rPr lang="en-US" sz="3300">
                <a:solidFill>
                  <a:srgbClr val="000000"/>
                </a:solidFill>
                <a:latin typeface="Roboto Mono"/>
                <a:cs typeface="Roboto Mono"/>
              </a:rPr>
              <a:t>cpy.arch.tcgen05.fence_before_thread_sync()</a:t>
            </a:r>
          </a:p>
          <a:p>
            <a:pPr algn="l">
              <a:lnSpc>
                <a:spcPts val="3900"/>
              </a:lnSpc>
              <a:spcBef>
                <a:spcPts val="0"/>
              </a:spcBef>
              <a:buNone/>
            </a:pPr>
            <a:r>
              <a:rPr lang="en-US" sz="3300">
                <a:solidFill>
                  <a:srgbClr val="000000"/>
                </a:solidFill>
                <a:latin typeface="Roboto Mono"/>
                <a:cs typeface="Roboto Mono"/>
              </a:rPr>
              <a:t>cpy.arch.sync_threads()</a:t>
            </a:r>
          </a:p>
          <a:p>
            <a:pPr algn="l">
              <a:lnSpc>
                <a:spcPts val="3900"/>
              </a:lnSpc>
              <a:spcBef>
                <a:spcPts val="0"/>
              </a:spcBef>
              <a:buNone/>
            </a:pPr>
            <a:r>
              <a:rPr lang="en-US" sz="3300">
                <a:solidFill>
                  <a:srgbClr val="000000"/>
                </a:solidFill>
                <a:latin typeface="Roboto Mono"/>
                <a:cs typeface="Roboto Mono"/>
              </a:rPr>
              <a:t>cpy.tmem_dealloc(tmem)              </a:t>
            </a:r>
          </a:p>
        </p:txBody>
      </p:sp>
      <p:sp>
        <p:nvSpPr>
          <p:cNvPr id="12" name="S7N">
            <a:extLst>
              <a:ext uri="{FF2B5EF4-FFF2-40B4-BE49-F238E27FC236}">
                <a16:creationId xmlns:a16="http://schemas.microsoft.com/office/drawing/2014/main" id="{396DBED7-6A76-3045-8EAC-08C07978B826}"/>
              </a:ext>
            </a:extLst>
          </p:cNvPr>
          <p:cNvSpPr txBox="1"/>
          <p:nvPr/>
        </p:nvSpPr>
        <p:spPr>
          <a:xfrm>
            <a:off x="1828800" y="13411200"/>
            <a:ext cx="16510000" cy="609600"/>
          </a:xfrm>
          <a:prstGeom prst="rect">
            <a:avLst/>
          </a:prstGeom>
          <a:noFill/>
        </p:spPr>
        <p:txBody>
          <a:bodyPr vertOverflow="overflow" vert="horz" wrap="square" rtlCol="0" anchor="t" anchorCtr="0">
            <a:noAutofit/>
          </a:bodyPr>
          <a:lstStyle/>
          <a:p>
            <a:pPr algn="l">
              <a:lnSpc>
                <a:spcPts val="2600"/>
              </a:lnSpc>
              <a:buNone/>
            </a:pPr>
            <a:r>
              <a:rPr lang="en-US" sz="2200">
                <a:solidFill>
                  <a:srgbClr val="6E6E6E"/>
                </a:solidFill>
                <a:latin typeface="NVIDIA Sans"/>
                <a:cs typeface="NVIDIA Sans"/>
              </a:rPr>
              <a:t>One load per thread  ·  Compile-time unroll  ·  Ordered release</a:t>
            </a:r>
          </a:p>
        </p:txBody>
      </p:sp>
    </p:spTree>
    <p:extLst>
      <p:ext uri="{BB962C8B-B14F-4D97-AF65-F5344CB8AC3E}">
        <p14:creationId xmlns:p14="http://schemas.microsoft.com/office/powerpoint/2010/main" val="78844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3"/>
          </p:nvPr>
        </p:nvSpPr>
        <p:spPr>
          <a:xfrm>
            <a:off x="1828800" y="3378200"/>
            <a:ext cx="32918400" cy="914400"/>
          </a:xfrm>
        </p:spPr>
        <p:txBody>
          <a:bodyPr/>
          <a:lstStyle/>
          <a:p>
            <a:pPr marL="0" indent="0">
              <a:buNone/>
            </a:pPr>
            <a:r>
              <a:rPr lang="en-US" sz="4800">
                <a:solidFill>
                  <a:srgbClr val="A7A7A7"/>
                </a:solidFill>
                <a:latin typeface="NVIDIA Sans"/>
              </a:rPr>
              <a:t>Examples ported by AI agents from CUTLASS C++</a:t>
            </a:r>
          </a:p>
        </p:txBody>
      </p:sp>
      <p:sp>
        <p:nvSpPr>
          <p:cNvPr id="11" name="Title 10"/>
          <p:cNvSpPr>
            <a:spLocks noGrp="1"/>
          </p:cNvSpPr>
          <p:nvPr>
            <p:ph type="title"/>
          </p:nvPr>
        </p:nvSpPr>
        <p:spPr/>
        <p:txBody>
          <a:bodyPr/>
          <a:lstStyle/>
          <a:p>
            <a:r>
              <a:rPr>
                <a:latin typeface="NVIDIA Sans Medium"/>
              </a:rPr>
              <a:t>The Corpus</a:t>
            </a:r>
          </a:p>
        </p:txBody>
      </p:sp>
      <p:sp>
        <p:nvSpPr>
          <p:cNvPr id="600" name="Arch 0"/>
          <p:cNvSpPr txBox="1"/>
          <p:nvPr/>
        </p:nvSpPr>
        <p:spPr>
          <a:xfrm>
            <a:off x="1828800" y="4953000"/>
            <a:ext cx="7772400" cy="1397000"/>
          </a:xfrm>
          <a:prstGeom prst="rect">
            <a:avLst/>
          </a:prstGeom>
          <a:noFill/>
        </p:spPr>
        <p:txBody>
          <a:bodyPr wrap="square" lIns="0" tIns="0" rIns="0" bIns="0" anchor="t">
            <a:noAutofit/>
          </a:bodyPr>
          <a:lstStyle/>
          <a:p>
            <a:pPr>
              <a:lnSpc>
                <a:spcPts val="8400"/>
              </a:lnSpc>
              <a:buNone/>
            </a:pPr>
            <a:r>
              <a:rPr lang="en-US" sz="8000" b="1">
                <a:solidFill>
                  <a:srgbClr val="000000"/>
                </a:solidFill>
                <a:latin typeface="NVIDIA Sans"/>
                <a:cs typeface="NVIDIA Sans"/>
              </a:rPr>
              <a:t>SM80</a:t>
            </a:r>
          </a:p>
        </p:txBody>
      </p:sp>
      <p:sp>
        <p:nvSpPr>
          <p:cNvPr id="601" name="Name 0"/>
          <p:cNvSpPr txBox="1"/>
          <p:nvPr/>
        </p:nvSpPr>
        <p:spPr>
          <a:xfrm>
            <a:off x="1828800" y="6350000"/>
            <a:ext cx="7772400" cy="838200"/>
          </a:xfrm>
          <a:prstGeom prst="rect">
            <a:avLst/>
          </a:prstGeom>
          <a:noFill/>
        </p:spPr>
        <p:txBody>
          <a:bodyPr wrap="square" lIns="0" tIns="0" rIns="0" bIns="0" anchor="t">
            <a:noAutofit/>
          </a:bodyPr>
          <a:lstStyle/>
          <a:p>
            <a:pPr>
              <a:lnSpc>
                <a:spcPts val="4800"/>
              </a:lnSpc>
              <a:buNone/>
            </a:pPr>
            <a:r>
              <a:rPr lang="en-US" sz="4400" b="1">
                <a:solidFill>
                  <a:srgbClr val="76B900"/>
                </a:solidFill>
                <a:latin typeface="NVIDIA Sans"/>
                <a:cs typeface="NVIDIA Sans"/>
              </a:rPr>
              <a:t>Ampere</a:t>
            </a:r>
          </a:p>
        </p:txBody>
      </p:sp>
      <p:sp>
        <p:nvSpPr>
          <p:cNvPr id="602" name="Rule 602"/>
          <p:cNvSpPr/>
          <p:nvPr/>
        </p:nvSpPr>
        <p:spPr>
          <a:xfrm>
            <a:off x="1828800" y="7391400"/>
            <a:ext cx="7772400" cy="50800"/>
          </a:xfrm>
          <a:prstGeom prst="rect">
            <a:avLst/>
          </a:prstGeom>
          <a:solidFill>
            <a:srgbClr val="76B900"/>
          </a:solidFill>
          <a:ln>
            <a:noFill/>
          </a:ln>
        </p:spPr>
        <p:txBody>
          <a:bodyPr/>
          <a:lstStyle/>
          <a:p>
            <a:endParaRPr/>
          </a:p>
        </p:txBody>
      </p:sp>
      <p:sp>
        <p:nvSpPr>
          <p:cNvPr id="603" name="Feat 0"/>
          <p:cNvSpPr txBox="1"/>
          <p:nvPr/>
        </p:nvSpPr>
        <p:spPr>
          <a:xfrm>
            <a:off x="1828800" y="7645400"/>
            <a:ext cx="7772400" cy="1219200"/>
          </a:xfrm>
          <a:prstGeom prst="rect">
            <a:avLst/>
          </a:prstGeom>
          <a:noFill/>
        </p:spPr>
        <p:txBody>
          <a:bodyPr wrap="square" lIns="0" tIns="0" rIns="0" bIns="0" anchor="t">
            <a:noAutofit/>
          </a:bodyPr>
          <a:lstStyle/>
          <a:p>
            <a:pPr>
              <a:lnSpc>
                <a:spcPts val="3400"/>
              </a:lnSpc>
              <a:buNone/>
            </a:pPr>
            <a:r>
              <a:rPr lang="en-US" sz="2800">
                <a:solidFill>
                  <a:srgbClr val="757575"/>
                </a:solidFill>
                <a:latin typeface="NVIDIA Sans"/>
                <a:cs typeface="NVIDIA Sans"/>
              </a:rPr>
              <a:t>cp.async, mma.sync, SIMT</a:t>
            </a:r>
          </a:p>
        </p:txBody>
      </p:sp>
      <p:sp>
        <p:nvSpPr>
          <p:cNvPr id="604" name="Count 0"/>
          <p:cNvSpPr txBox="1"/>
          <p:nvPr/>
        </p:nvSpPr>
        <p:spPr>
          <a:xfrm>
            <a:off x="1828800" y="8915400"/>
            <a:ext cx="7772400" cy="635000"/>
          </a:xfrm>
          <a:prstGeom prst="rect">
            <a:avLst/>
          </a:prstGeom>
          <a:noFill/>
        </p:spPr>
        <p:txBody>
          <a:bodyPr wrap="square" lIns="0" tIns="0" rIns="0" bIns="0" anchor="t">
            <a:noAutofit/>
          </a:bodyPr>
          <a:lstStyle/>
          <a:p>
            <a:pPr>
              <a:lnSpc>
                <a:spcPts val="3200"/>
              </a:lnSpc>
              <a:buNone/>
            </a:pPr>
            <a:r>
              <a:rPr lang="en-US" sz="2800" b="1">
                <a:solidFill>
                  <a:srgbClr val="76B900"/>
                </a:solidFill>
                <a:latin typeface="NVIDIA Sans"/>
                <a:cs typeface="NVIDIA Sans"/>
              </a:rPr>
              <a:t>15 kernels</a:t>
            </a:r>
          </a:p>
        </p:txBody>
      </p:sp>
      <p:sp>
        <p:nvSpPr>
          <p:cNvPr id="605" name="List 0"/>
          <p:cNvSpPr txBox="1"/>
          <p:nvPr/>
        </p:nvSpPr>
        <p:spPr>
          <a:xfrm>
            <a:off x="1828800" y="9702800"/>
            <a:ext cx="7772400" cy="9398000"/>
          </a:xfrm>
          <a:prstGeom prst="rect">
            <a:avLst/>
          </a:prstGeom>
          <a:noFill/>
        </p:spPr>
        <p:txBody>
          <a:bodyPr wrap="square" lIns="0" tIns="0" rIns="0" bIns="0" anchor="t">
            <a:noAutofit/>
          </a:bodyPr>
          <a:lstStyle/>
          <a:p>
            <a:pPr>
              <a:lnSpc>
                <a:spcPts val="4200"/>
              </a:lnSpc>
              <a:buNone/>
            </a:pPr>
            <a:r>
              <a:rPr lang="en-US" sz="2800">
                <a:solidFill>
                  <a:srgbClr val="000000"/>
                </a:solidFill>
                <a:latin typeface="NVIDIA Sans"/>
                <a:cs typeface="NVIDIA Sans"/>
              </a:rPr>
              <a:t>gemm_ampere</a:t>
            </a:r>
          </a:p>
          <a:p>
            <a:pPr>
              <a:lnSpc>
                <a:spcPts val="4200"/>
              </a:lnSpc>
              <a:buNone/>
            </a:pPr>
            <a:r>
              <a:rPr lang="en-US" sz="2800">
                <a:solidFill>
                  <a:srgbClr val="000000"/>
                </a:solidFill>
                <a:latin typeface="NVIDIA Sans"/>
                <a:cs typeface="NVIDIA Sans"/>
              </a:rPr>
              <a:t>gemm_splitk</a:t>
            </a:r>
          </a:p>
          <a:p>
            <a:pPr>
              <a:lnSpc>
                <a:spcPts val="4200"/>
              </a:lnSpc>
              <a:buNone/>
            </a:pPr>
            <a:r>
              <a:rPr lang="en-US" sz="2800">
                <a:solidFill>
                  <a:srgbClr val="000000"/>
                </a:solidFill>
                <a:latin typeface="NVIDIA Sans"/>
                <a:cs typeface="NVIDIA Sans"/>
              </a:rPr>
              <a:t>gemm_streamk</a:t>
            </a:r>
          </a:p>
          <a:p>
            <a:pPr>
              <a:lnSpc>
                <a:spcPts val="4200"/>
              </a:lnSpc>
              <a:buNone/>
            </a:pPr>
            <a:r>
              <a:rPr lang="en-US" sz="2800">
                <a:solidFill>
                  <a:srgbClr val="000000"/>
                </a:solidFill>
                <a:latin typeface="NVIDIA Sans"/>
                <a:cs typeface="NVIDIA Sans"/>
              </a:rPr>
              <a:t>gemm_sparse</a:t>
            </a:r>
          </a:p>
          <a:p>
            <a:pPr>
              <a:lnSpc>
                <a:spcPts val="4200"/>
              </a:lnSpc>
              <a:buNone/>
            </a:pPr>
            <a:r>
              <a:rPr lang="en-US" sz="2800">
                <a:solidFill>
                  <a:srgbClr val="000000"/>
                </a:solidFill>
                <a:latin typeface="NVIDIA Sans"/>
                <a:cs typeface="NVIDIA Sans"/>
              </a:rPr>
              <a:t>gemm_grouped</a:t>
            </a:r>
          </a:p>
          <a:p>
            <a:pPr>
              <a:lnSpc>
                <a:spcPts val="4200"/>
              </a:lnSpc>
              <a:buNone/>
            </a:pPr>
            <a:r>
              <a:rPr lang="en-US" sz="2800">
                <a:solidFill>
                  <a:srgbClr val="000000"/>
                </a:solidFill>
                <a:latin typeface="NVIDIA Sans"/>
                <a:cs typeface="NVIDIA Sans"/>
              </a:rPr>
              <a:t>gemm_gather_scatter</a:t>
            </a:r>
          </a:p>
          <a:p>
            <a:pPr>
              <a:lnSpc>
                <a:spcPts val="4200"/>
              </a:lnSpc>
              <a:buNone/>
            </a:pPr>
            <a:r>
              <a:rPr lang="en-US" sz="2800">
                <a:solidFill>
                  <a:srgbClr val="000000"/>
                </a:solidFill>
                <a:latin typeface="NVIDIA Sans"/>
                <a:cs typeface="NVIDIA Sans"/>
              </a:rPr>
              <a:t>gemm_warpspec</a:t>
            </a:r>
          </a:p>
          <a:p>
            <a:pPr>
              <a:lnSpc>
                <a:spcPts val="4200"/>
              </a:lnSpc>
              <a:buNone/>
            </a:pPr>
            <a:r>
              <a:rPr lang="en-US" sz="2800">
                <a:solidFill>
                  <a:srgbClr val="000000"/>
                </a:solidFill>
                <a:latin typeface="NVIDIA Sans"/>
                <a:cs typeface="NVIDIA Sans"/>
              </a:rPr>
              <a:t>syrk_trmm</a:t>
            </a:r>
          </a:p>
          <a:p>
            <a:pPr>
              <a:lnSpc>
                <a:spcPts val="4200"/>
              </a:lnSpc>
              <a:buNone/>
            </a:pPr>
            <a:r>
              <a:rPr lang="en-US" sz="2800">
                <a:solidFill>
                  <a:srgbClr val="000000"/>
                </a:solidFill>
                <a:latin typeface="NVIDIA Sans"/>
                <a:cs typeface="NVIDIA Sans"/>
              </a:rPr>
              <a:t>symm</a:t>
            </a:r>
          </a:p>
          <a:p>
            <a:pPr>
              <a:lnSpc>
                <a:spcPts val="4200"/>
              </a:lnSpc>
              <a:buNone/>
            </a:pPr>
            <a:r>
              <a:rPr lang="en-US" sz="2800">
                <a:solidFill>
                  <a:srgbClr val="000000"/>
                </a:solidFill>
                <a:latin typeface="NVIDIA Sans"/>
                <a:cs typeface="NVIDIA Sans"/>
              </a:rPr>
              <a:t>gemm_planar_complex</a:t>
            </a:r>
          </a:p>
          <a:p>
            <a:pPr>
              <a:lnSpc>
                <a:spcPts val="4200"/>
              </a:lnSpc>
              <a:buNone/>
            </a:pPr>
            <a:r>
              <a:rPr lang="en-US" sz="2800">
                <a:solidFill>
                  <a:srgbClr val="000000"/>
                </a:solidFill>
                <a:latin typeface="NVIDIA Sans"/>
                <a:cs typeface="NVIDIA Sans"/>
              </a:rPr>
              <a:t>gemm_quaternion</a:t>
            </a:r>
          </a:p>
          <a:p>
            <a:pPr>
              <a:lnSpc>
                <a:spcPts val="4200"/>
              </a:lnSpc>
              <a:buNone/>
            </a:pPr>
            <a:r>
              <a:rPr lang="en-US" sz="2800">
                <a:solidFill>
                  <a:srgbClr val="000000"/>
                </a:solidFill>
                <a:latin typeface="NVIDIA Sans"/>
                <a:cs typeface="NVIDIA Sans"/>
              </a:rPr>
              <a:t>conv_fprop</a:t>
            </a:r>
          </a:p>
          <a:p>
            <a:pPr>
              <a:lnSpc>
                <a:spcPts val="4200"/>
              </a:lnSpc>
              <a:buNone/>
            </a:pPr>
            <a:r>
              <a:rPr lang="en-US" sz="2800">
                <a:solidFill>
                  <a:srgbClr val="000000"/>
                </a:solidFill>
                <a:latin typeface="NVIDIA Sans"/>
                <a:cs typeface="NVIDIA Sans"/>
              </a:rPr>
              <a:t>flash_attention</a:t>
            </a:r>
          </a:p>
          <a:p>
            <a:pPr>
              <a:lnSpc>
                <a:spcPts val="4200"/>
              </a:lnSpc>
              <a:buNone/>
            </a:pPr>
            <a:r>
              <a:rPr lang="en-US" sz="2800">
                <a:solidFill>
                  <a:srgbClr val="000000"/>
                </a:solidFill>
                <a:latin typeface="NVIDIA Sans"/>
                <a:cs typeface="NVIDIA Sans"/>
              </a:rPr>
              <a:t>vector_add</a:t>
            </a:r>
          </a:p>
          <a:p>
            <a:pPr>
              <a:lnSpc>
                <a:spcPts val="4200"/>
              </a:lnSpc>
              <a:buNone/>
            </a:pPr>
            <a:r>
              <a:rPr lang="en-US" sz="2800">
                <a:solidFill>
                  <a:srgbClr val="000000"/>
                </a:solidFill>
                <a:latin typeface="NVIDIA Sans"/>
                <a:cs typeface="NVIDIA Sans"/>
              </a:rPr>
              <a:t>gemv</a:t>
            </a:r>
          </a:p>
        </p:txBody>
      </p:sp>
      <p:sp>
        <p:nvSpPr>
          <p:cNvPr id="606" name="Arch 1"/>
          <p:cNvSpPr txBox="1"/>
          <p:nvPr/>
        </p:nvSpPr>
        <p:spPr>
          <a:xfrm>
            <a:off x="10287000" y="4953000"/>
            <a:ext cx="7772400" cy="1397000"/>
          </a:xfrm>
          <a:prstGeom prst="rect">
            <a:avLst/>
          </a:prstGeom>
          <a:noFill/>
        </p:spPr>
        <p:txBody>
          <a:bodyPr wrap="square" lIns="0" tIns="0" rIns="0" bIns="0" anchor="t">
            <a:noAutofit/>
          </a:bodyPr>
          <a:lstStyle/>
          <a:p>
            <a:pPr>
              <a:lnSpc>
                <a:spcPts val="8400"/>
              </a:lnSpc>
              <a:buNone/>
            </a:pPr>
            <a:r>
              <a:rPr lang="en-US" sz="8000" b="1">
                <a:solidFill>
                  <a:srgbClr val="000000"/>
                </a:solidFill>
                <a:latin typeface="NVIDIA Sans"/>
                <a:cs typeface="NVIDIA Sans"/>
              </a:rPr>
              <a:t>SM90</a:t>
            </a:r>
          </a:p>
        </p:txBody>
      </p:sp>
      <p:sp>
        <p:nvSpPr>
          <p:cNvPr id="607" name="Name 1"/>
          <p:cNvSpPr txBox="1"/>
          <p:nvPr/>
        </p:nvSpPr>
        <p:spPr>
          <a:xfrm>
            <a:off x="10287000" y="6350000"/>
            <a:ext cx="7772400" cy="838200"/>
          </a:xfrm>
          <a:prstGeom prst="rect">
            <a:avLst/>
          </a:prstGeom>
          <a:noFill/>
        </p:spPr>
        <p:txBody>
          <a:bodyPr wrap="square" lIns="0" tIns="0" rIns="0" bIns="0" anchor="t">
            <a:noAutofit/>
          </a:bodyPr>
          <a:lstStyle/>
          <a:p>
            <a:pPr>
              <a:lnSpc>
                <a:spcPts val="4800"/>
              </a:lnSpc>
              <a:buNone/>
            </a:pPr>
            <a:r>
              <a:rPr lang="en-US" sz="4400" b="1">
                <a:solidFill>
                  <a:srgbClr val="76B900"/>
                </a:solidFill>
                <a:latin typeface="NVIDIA Sans"/>
                <a:cs typeface="NVIDIA Sans"/>
              </a:rPr>
              <a:t>Hopper</a:t>
            </a:r>
          </a:p>
        </p:txBody>
      </p:sp>
      <p:sp>
        <p:nvSpPr>
          <p:cNvPr id="608" name="Rule 608"/>
          <p:cNvSpPr/>
          <p:nvPr/>
        </p:nvSpPr>
        <p:spPr>
          <a:xfrm>
            <a:off x="10287000" y="7391400"/>
            <a:ext cx="7772400" cy="50800"/>
          </a:xfrm>
          <a:prstGeom prst="rect">
            <a:avLst/>
          </a:prstGeom>
          <a:solidFill>
            <a:srgbClr val="76B900"/>
          </a:solidFill>
          <a:ln>
            <a:noFill/>
          </a:ln>
        </p:spPr>
        <p:txBody>
          <a:bodyPr/>
          <a:lstStyle/>
          <a:p>
            <a:endParaRPr/>
          </a:p>
        </p:txBody>
      </p:sp>
      <p:sp>
        <p:nvSpPr>
          <p:cNvPr id="609" name="Feat 1"/>
          <p:cNvSpPr txBox="1"/>
          <p:nvPr/>
        </p:nvSpPr>
        <p:spPr>
          <a:xfrm>
            <a:off x="10287000" y="7645400"/>
            <a:ext cx="7772400" cy="1219200"/>
          </a:xfrm>
          <a:prstGeom prst="rect">
            <a:avLst/>
          </a:prstGeom>
          <a:noFill/>
        </p:spPr>
        <p:txBody>
          <a:bodyPr wrap="square" lIns="0" tIns="0" rIns="0" bIns="0" anchor="t">
            <a:noAutofit/>
          </a:bodyPr>
          <a:lstStyle/>
          <a:p>
            <a:pPr>
              <a:lnSpc>
                <a:spcPts val="3400"/>
              </a:lnSpc>
              <a:buNone/>
            </a:pPr>
            <a:r>
              <a:rPr lang="en-US" sz="2800">
                <a:solidFill>
                  <a:srgbClr val="757575"/>
                </a:solidFill>
                <a:latin typeface="NVIDIA Sans"/>
                <a:cs typeface="NVIDIA Sans"/>
              </a:rPr>
              <a:t>wgmma, TMA, warpgroup specialization</a:t>
            </a:r>
          </a:p>
        </p:txBody>
      </p:sp>
      <p:sp>
        <p:nvSpPr>
          <p:cNvPr id="610" name="Count 1"/>
          <p:cNvSpPr txBox="1"/>
          <p:nvPr/>
        </p:nvSpPr>
        <p:spPr>
          <a:xfrm>
            <a:off x="10287000" y="8915400"/>
            <a:ext cx="7772400" cy="635000"/>
          </a:xfrm>
          <a:prstGeom prst="rect">
            <a:avLst/>
          </a:prstGeom>
          <a:noFill/>
        </p:spPr>
        <p:txBody>
          <a:bodyPr wrap="square" lIns="0" tIns="0" rIns="0" bIns="0" anchor="t">
            <a:noAutofit/>
          </a:bodyPr>
          <a:lstStyle/>
          <a:p>
            <a:pPr>
              <a:lnSpc>
                <a:spcPts val="3200"/>
              </a:lnSpc>
              <a:buNone/>
            </a:pPr>
            <a:r>
              <a:rPr lang="en-US" sz="2800" b="1">
                <a:solidFill>
                  <a:srgbClr val="76B900"/>
                </a:solidFill>
                <a:latin typeface="NVIDIA Sans"/>
                <a:cs typeface="NVIDIA Sans"/>
              </a:rPr>
              <a:t>13 kernels</a:t>
            </a:r>
          </a:p>
        </p:txBody>
      </p:sp>
      <p:sp>
        <p:nvSpPr>
          <p:cNvPr id="611" name="List 1"/>
          <p:cNvSpPr txBox="1"/>
          <p:nvPr/>
        </p:nvSpPr>
        <p:spPr>
          <a:xfrm>
            <a:off x="10287000" y="9702800"/>
            <a:ext cx="7772400" cy="9398000"/>
          </a:xfrm>
          <a:prstGeom prst="rect">
            <a:avLst/>
          </a:prstGeom>
          <a:noFill/>
        </p:spPr>
        <p:txBody>
          <a:bodyPr wrap="square" lIns="0" tIns="0" rIns="0" bIns="0" anchor="t">
            <a:noAutofit/>
          </a:bodyPr>
          <a:lstStyle/>
          <a:p>
            <a:pPr>
              <a:lnSpc>
                <a:spcPts val="4200"/>
              </a:lnSpc>
              <a:buNone/>
            </a:pPr>
            <a:r>
              <a:rPr lang="en-US" sz="2800">
                <a:solidFill>
                  <a:srgbClr val="000000"/>
                </a:solidFill>
                <a:latin typeface="NVIDIA Sans"/>
                <a:cs typeface="NVIDIA Sans"/>
              </a:rPr>
              <a:t>gemm_hopper</a:t>
            </a:r>
          </a:p>
          <a:p>
            <a:pPr>
              <a:lnSpc>
                <a:spcPts val="4200"/>
              </a:lnSpc>
              <a:buNone/>
            </a:pPr>
            <a:r>
              <a:rPr lang="en-US" sz="2800">
                <a:solidFill>
                  <a:srgbClr val="000000"/>
                </a:solidFill>
                <a:latin typeface="NVIDIA Sans"/>
                <a:cs typeface="NVIDIA Sans"/>
              </a:rPr>
              <a:t>gemm_hopper_ws</a:t>
            </a:r>
          </a:p>
          <a:p>
            <a:pPr>
              <a:lnSpc>
                <a:spcPts val="4200"/>
              </a:lnSpc>
              <a:buNone/>
            </a:pPr>
            <a:r>
              <a:rPr lang="en-US" sz="2800">
                <a:solidFill>
                  <a:srgbClr val="000000"/>
                </a:solidFill>
                <a:latin typeface="NVIDIA Sans"/>
                <a:cs typeface="NVIDIA Sans"/>
              </a:rPr>
              <a:t>gemm_hopper_pingpong</a:t>
            </a:r>
          </a:p>
          <a:p>
            <a:pPr>
              <a:lnSpc>
                <a:spcPts val="4200"/>
              </a:lnSpc>
              <a:buNone/>
            </a:pPr>
            <a:r>
              <a:rPr lang="en-US" sz="2800">
                <a:solidFill>
                  <a:srgbClr val="000000"/>
                </a:solidFill>
                <a:latin typeface="NVIDIA Sans"/>
                <a:cs typeface="NVIDIA Sans"/>
              </a:rPr>
              <a:t>gemm_hopper_ws_tma_epi</a:t>
            </a:r>
          </a:p>
          <a:p>
            <a:pPr>
              <a:lnSpc>
                <a:spcPts val="4200"/>
              </a:lnSpc>
              <a:buNone/>
            </a:pPr>
            <a:r>
              <a:rPr lang="en-US" sz="2800">
                <a:solidFill>
                  <a:srgbClr val="000000"/>
                </a:solidFill>
                <a:latin typeface="NVIDIA Sans"/>
                <a:cs typeface="NVIDIA Sans"/>
              </a:rPr>
              <a:t>gemm_grouped_tma</a:t>
            </a:r>
          </a:p>
          <a:p>
            <a:pPr>
              <a:lnSpc>
                <a:spcPts val="4200"/>
              </a:lnSpc>
              <a:buNone/>
            </a:pPr>
            <a:r>
              <a:rPr lang="en-US" sz="2800">
                <a:solidFill>
                  <a:srgbClr val="000000"/>
                </a:solidFill>
                <a:latin typeface="NVIDIA Sans"/>
                <a:cs typeface="NVIDIA Sans"/>
              </a:rPr>
              <a:t>gemm_ptr_array</a:t>
            </a:r>
          </a:p>
          <a:p>
            <a:pPr>
              <a:lnSpc>
                <a:spcPts val="4200"/>
              </a:lnSpc>
              <a:buNone/>
            </a:pPr>
            <a:r>
              <a:rPr lang="en-US" sz="2800">
                <a:solidFill>
                  <a:srgbClr val="000000"/>
                </a:solidFill>
                <a:latin typeface="NVIDIA Sans"/>
                <a:cs typeface="NVIDIA Sans"/>
              </a:rPr>
              <a:t>gemm_swiglu_prefetch</a:t>
            </a:r>
          </a:p>
          <a:p>
            <a:pPr>
              <a:lnSpc>
                <a:spcPts val="4200"/>
              </a:lnSpc>
              <a:buNone/>
            </a:pPr>
            <a:r>
              <a:rPr lang="en-US" sz="2800">
                <a:solidFill>
                  <a:srgbClr val="000000"/>
                </a:solidFill>
                <a:latin typeface="NVIDIA Sans"/>
                <a:cs typeface="NVIDIA Sans"/>
              </a:rPr>
              <a:t>gemm_topk_softmax</a:t>
            </a:r>
          </a:p>
          <a:p>
            <a:pPr>
              <a:lnSpc>
                <a:spcPts val="4200"/>
              </a:lnSpc>
              <a:buNone/>
            </a:pPr>
            <a:r>
              <a:rPr lang="en-US" sz="2800">
                <a:solidFill>
                  <a:srgbClr val="000000"/>
                </a:solidFill>
                <a:latin typeface="NVIDIA Sans"/>
                <a:cs typeface="NVIDIA Sans"/>
              </a:rPr>
              <a:t>gett</a:t>
            </a:r>
          </a:p>
          <a:p>
            <a:pPr>
              <a:lnSpc>
                <a:spcPts val="4200"/>
              </a:lnSpc>
              <a:buNone/>
            </a:pPr>
            <a:r>
              <a:rPr lang="en-US" sz="2800">
                <a:solidFill>
                  <a:srgbClr val="000000"/>
                </a:solidFill>
                <a:latin typeface="NVIDIA Sans"/>
                <a:cs typeface="NVIDIA Sans"/>
              </a:rPr>
              <a:t>fmha_hopper_fwd</a:t>
            </a:r>
          </a:p>
          <a:p>
            <a:pPr>
              <a:lnSpc>
                <a:spcPts val="4200"/>
              </a:lnSpc>
              <a:buNone/>
            </a:pPr>
            <a:r>
              <a:rPr lang="en-US" sz="2800">
                <a:solidFill>
                  <a:srgbClr val="000000"/>
                </a:solidFill>
                <a:latin typeface="NVIDIA Sans"/>
                <a:cs typeface="NVIDIA Sans"/>
              </a:rPr>
              <a:t>fmha_hopper_bwd</a:t>
            </a:r>
          </a:p>
          <a:p>
            <a:pPr>
              <a:lnSpc>
                <a:spcPts val="4200"/>
              </a:lnSpc>
              <a:buNone/>
            </a:pPr>
            <a:r>
              <a:rPr lang="en-US" sz="2800">
                <a:solidFill>
                  <a:srgbClr val="000000"/>
                </a:solidFill>
                <a:latin typeface="NVIDIA Sans"/>
                <a:cs typeface="NVIDIA Sans"/>
              </a:rPr>
              <a:t>conv_tma_fprop_ws</a:t>
            </a:r>
          </a:p>
          <a:p>
            <a:pPr>
              <a:lnSpc>
                <a:spcPts val="4200"/>
              </a:lnSpc>
              <a:buNone/>
            </a:pPr>
            <a:r>
              <a:rPr lang="en-US" sz="2800">
                <a:solidFill>
                  <a:srgbClr val="000000"/>
                </a:solidFill>
                <a:latin typeface="NVIDIA Sans"/>
                <a:cs typeface="NVIDIA Sans"/>
              </a:rPr>
              <a:t>tma_copy</a:t>
            </a:r>
          </a:p>
        </p:txBody>
      </p:sp>
      <p:sp>
        <p:nvSpPr>
          <p:cNvPr id="612" name="Arch 2"/>
          <p:cNvSpPr txBox="1"/>
          <p:nvPr/>
        </p:nvSpPr>
        <p:spPr>
          <a:xfrm>
            <a:off x="18745200" y="4953000"/>
            <a:ext cx="7772400" cy="1397000"/>
          </a:xfrm>
          <a:prstGeom prst="rect">
            <a:avLst/>
          </a:prstGeom>
          <a:noFill/>
        </p:spPr>
        <p:txBody>
          <a:bodyPr wrap="square" lIns="0" tIns="0" rIns="0" bIns="0" anchor="t">
            <a:noAutofit/>
          </a:bodyPr>
          <a:lstStyle/>
          <a:p>
            <a:pPr>
              <a:lnSpc>
                <a:spcPts val="8400"/>
              </a:lnSpc>
              <a:buNone/>
            </a:pPr>
            <a:r>
              <a:rPr lang="en-US" sz="8000" b="1">
                <a:solidFill>
                  <a:srgbClr val="000000"/>
                </a:solidFill>
                <a:latin typeface="NVIDIA Sans"/>
                <a:cs typeface="NVIDIA Sans"/>
              </a:rPr>
              <a:t>SM100</a:t>
            </a:r>
          </a:p>
        </p:txBody>
      </p:sp>
      <p:sp>
        <p:nvSpPr>
          <p:cNvPr id="613" name="Name 2"/>
          <p:cNvSpPr txBox="1"/>
          <p:nvPr/>
        </p:nvSpPr>
        <p:spPr>
          <a:xfrm>
            <a:off x="18745200" y="6350000"/>
            <a:ext cx="7772400" cy="838200"/>
          </a:xfrm>
          <a:prstGeom prst="rect">
            <a:avLst/>
          </a:prstGeom>
          <a:noFill/>
        </p:spPr>
        <p:txBody>
          <a:bodyPr wrap="square" lIns="0" tIns="0" rIns="0" bIns="0" anchor="t">
            <a:noAutofit/>
          </a:bodyPr>
          <a:lstStyle/>
          <a:p>
            <a:pPr>
              <a:lnSpc>
                <a:spcPts val="4800"/>
              </a:lnSpc>
              <a:buNone/>
            </a:pPr>
            <a:r>
              <a:rPr lang="en-US" sz="4400" b="1">
                <a:solidFill>
                  <a:srgbClr val="76B900"/>
                </a:solidFill>
                <a:latin typeface="NVIDIA Sans"/>
                <a:cs typeface="NVIDIA Sans"/>
              </a:rPr>
              <a:t>Blackwell</a:t>
            </a:r>
          </a:p>
        </p:txBody>
      </p:sp>
      <p:sp>
        <p:nvSpPr>
          <p:cNvPr id="614" name="Rule 614"/>
          <p:cNvSpPr/>
          <p:nvPr/>
        </p:nvSpPr>
        <p:spPr>
          <a:xfrm>
            <a:off x="18745200" y="7391400"/>
            <a:ext cx="7772400" cy="50800"/>
          </a:xfrm>
          <a:prstGeom prst="rect">
            <a:avLst/>
          </a:prstGeom>
          <a:solidFill>
            <a:srgbClr val="76B900"/>
          </a:solidFill>
          <a:ln>
            <a:noFill/>
          </a:ln>
        </p:spPr>
        <p:txBody>
          <a:bodyPr/>
          <a:lstStyle/>
          <a:p>
            <a:endParaRPr/>
          </a:p>
        </p:txBody>
      </p:sp>
      <p:sp>
        <p:nvSpPr>
          <p:cNvPr id="615" name="Feat 2"/>
          <p:cNvSpPr txBox="1"/>
          <p:nvPr/>
        </p:nvSpPr>
        <p:spPr>
          <a:xfrm>
            <a:off x="18745200" y="7645400"/>
            <a:ext cx="7772400" cy="1219200"/>
          </a:xfrm>
          <a:prstGeom prst="rect">
            <a:avLst/>
          </a:prstGeom>
          <a:noFill/>
        </p:spPr>
        <p:txBody>
          <a:bodyPr wrap="square" lIns="0" tIns="0" rIns="0" bIns="0" anchor="t">
            <a:noAutofit/>
          </a:bodyPr>
          <a:lstStyle/>
          <a:p>
            <a:pPr>
              <a:lnSpc>
                <a:spcPts val="3400"/>
              </a:lnSpc>
              <a:buNone/>
            </a:pPr>
            <a:r>
              <a:rPr lang="en-US" sz="2800">
                <a:solidFill>
                  <a:srgbClr val="757575"/>
                </a:solidFill>
                <a:latin typeface="NVIDIA Sans"/>
                <a:cs typeface="NVIDIA Sans"/>
              </a:rPr>
              <a:t>tcgen05 UMMA, TMEM, clusters</a:t>
            </a:r>
          </a:p>
        </p:txBody>
      </p:sp>
      <p:sp>
        <p:nvSpPr>
          <p:cNvPr id="616" name="Count 2"/>
          <p:cNvSpPr txBox="1"/>
          <p:nvPr/>
        </p:nvSpPr>
        <p:spPr>
          <a:xfrm>
            <a:off x="18745200" y="8915400"/>
            <a:ext cx="7772400" cy="635000"/>
          </a:xfrm>
          <a:prstGeom prst="rect">
            <a:avLst/>
          </a:prstGeom>
          <a:noFill/>
        </p:spPr>
        <p:txBody>
          <a:bodyPr wrap="square" lIns="0" tIns="0" rIns="0" bIns="0" anchor="t">
            <a:noAutofit/>
          </a:bodyPr>
          <a:lstStyle/>
          <a:p>
            <a:pPr>
              <a:lnSpc>
                <a:spcPts val="3200"/>
              </a:lnSpc>
              <a:buNone/>
            </a:pPr>
            <a:r>
              <a:rPr lang="en-US" sz="2800" b="1">
                <a:solidFill>
                  <a:srgbClr val="76B900"/>
                </a:solidFill>
                <a:latin typeface="NVIDIA Sans"/>
                <a:cs typeface="NVIDIA Sans"/>
              </a:rPr>
              <a:t>17 kernels</a:t>
            </a:r>
          </a:p>
        </p:txBody>
      </p:sp>
      <p:sp>
        <p:nvSpPr>
          <p:cNvPr id="617" name="List 2"/>
          <p:cNvSpPr txBox="1"/>
          <p:nvPr/>
        </p:nvSpPr>
        <p:spPr>
          <a:xfrm>
            <a:off x="18745200" y="9702800"/>
            <a:ext cx="7772400" cy="9398000"/>
          </a:xfrm>
          <a:prstGeom prst="rect">
            <a:avLst/>
          </a:prstGeom>
          <a:noFill/>
        </p:spPr>
        <p:txBody>
          <a:bodyPr wrap="square" lIns="0" tIns="0" rIns="0" bIns="0" anchor="t">
            <a:noAutofit/>
          </a:bodyPr>
          <a:lstStyle/>
          <a:p>
            <a:pPr>
              <a:lnSpc>
                <a:spcPts val="4200"/>
              </a:lnSpc>
              <a:buNone/>
            </a:pPr>
            <a:r>
              <a:rPr lang="en-US" sz="2800">
                <a:solidFill>
                  <a:srgbClr val="000000"/>
                </a:solidFill>
                <a:latin typeface="NVIDIA Sans"/>
                <a:cs typeface="NVIDIA Sans"/>
              </a:rPr>
              <a:t>gemm_blackwell</a:t>
            </a:r>
          </a:p>
          <a:p>
            <a:pPr>
              <a:lnSpc>
                <a:spcPts val="4200"/>
              </a:lnSpc>
              <a:buNone/>
            </a:pPr>
            <a:r>
              <a:rPr lang="en-US" sz="2800">
                <a:solidFill>
                  <a:srgbClr val="000000"/>
                </a:solidFill>
                <a:latin typeface="NVIDIA Sans"/>
                <a:cs typeface="NVIDIA Sans"/>
              </a:rPr>
              <a:t>gemm_blackwell_tma</a:t>
            </a:r>
          </a:p>
          <a:p>
            <a:pPr>
              <a:lnSpc>
                <a:spcPts val="4200"/>
              </a:lnSpc>
              <a:buNone/>
            </a:pPr>
            <a:r>
              <a:rPr lang="en-US" sz="2800">
                <a:solidFill>
                  <a:srgbClr val="000000"/>
                </a:solidFill>
                <a:latin typeface="NVIDIA Sans"/>
                <a:cs typeface="NVIDIA Sans"/>
              </a:rPr>
              <a:t>gemm_blackwell_persistent</a:t>
            </a:r>
          </a:p>
          <a:p>
            <a:pPr>
              <a:lnSpc>
                <a:spcPts val="4200"/>
              </a:lnSpc>
              <a:buNone/>
            </a:pPr>
            <a:r>
              <a:rPr lang="en-US" sz="2800">
                <a:solidFill>
                  <a:srgbClr val="000000"/>
                </a:solidFill>
                <a:latin typeface="NVIDIA Sans"/>
                <a:cs typeface="NVIDIA Sans"/>
              </a:rPr>
              <a:t>gemm_blackwell_cluster</a:t>
            </a:r>
          </a:p>
          <a:p>
            <a:pPr>
              <a:lnSpc>
                <a:spcPts val="4200"/>
              </a:lnSpc>
              <a:buNone/>
            </a:pPr>
            <a:r>
              <a:rPr lang="en-US" sz="2800">
                <a:solidFill>
                  <a:srgbClr val="000000"/>
                </a:solidFill>
                <a:latin typeface="NVIDIA Sans"/>
                <a:cs typeface="NVIDIA Sans"/>
              </a:rPr>
              <a:t>gemm_blockscaled</a:t>
            </a:r>
          </a:p>
          <a:p>
            <a:pPr>
              <a:lnSpc>
                <a:spcPts val="4200"/>
              </a:lnSpc>
              <a:buNone/>
            </a:pPr>
            <a:r>
              <a:rPr lang="en-US" sz="2800">
                <a:solidFill>
                  <a:srgbClr val="000000"/>
                </a:solidFill>
                <a:latin typeface="NVIDIA Sans"/>
                <a:cs typeface="NVIDIA Sans"/>
              </a:rPr>
              <a:t>gemm_mixed_input</a:t>
            </a:r>
          </a:p>
          <a:p>
            <a:pPr>
              <a:lnSpc>
                <a:spcPts val="4200"/>
              </a:lnSpc>
              <a:buNone/>
            </a:pPr>
            <a:r>
              <a:rPr lang="en-US" sz="2800">
                <a:solidFill>
                  <a:srgbClr val="000000"/>
                </a:solidFill>
                <a:latin typeface="NVIDIA Sans"/>
                <a:cs typeface="NVIDIA Sans"/>
              </a:rPr>
              <a:t>gemm_b2b_blackwell</a:t>
            </a:r>
          </a:p>
          <a:p>
            <a:pPr>
              <a:lnSpc>
                <a:spcPts val="4200"/>
              </a:lnSpc>
              <a:buNone/>
            </a:pPr>
            <a:r>
              <a:rPr lang="en-US" sz="2800">
                <a:solidFill>
                  <a:srgbClr val="000000"/>
                </a:solidFill>
                <a:latin typeface="NVIDIA Sans"/>
                <a:cs typeface="NVIDIA Sans"/>
              </a:rPr>
              <a:t>gemm_glu_blackwell</a:t>
            </a:r>
          </a:p>
          <a:p>
            <a:pPr>
              <a:lnSpc>
                <a:spcPts val="4200"/>
              </a:lnSpc>
              <a:buNone/>
            </a:pPr>
            <a:r>
              <a:rPr lang="en-US" sz="2800">
                <a:solidFill>
                  <a:srgbClr val="000000"/>
                </a:solidFill>
                <a:latin typeface="NVIDIA Sans"/>
                <a:cs typeface="NVIDIA Sans"/>
              </a:rPr>
              <a:t>gemm_sparse</a:t>
            </a:r>
          </a:p>
          <a:p>
            <a:pPr>
              <a:lnSpc>
                <a:spcPts val="4200"/>
              </a:lnSpc>
              <a:buNone/>
            </a:pPr>
            <a:r>
              <a:rPr lang="en-US" sz="2800">
                <a:solidFill>
                  <a:srgbClr val="000000"/>
                </a:solidFill>
                <a:latin typeface="NVIDIA Sans"/>
                <a:cs typeface="NVIDIA Sans"/>
              </a:rPr>
              <a:t>syrk_symm_blackwell</a:t>
            </a:r>
          </a:p>
          <a:p>
            <a:pPr>
              <a:lnSpc>
                <a:spcPts val="4200"/>
              </a:lnSpc>
              <a:buNone/>
            </a:pPr>
            <a:r>
              <a:rPr lang="en-US" sz="2800">
                <a:solidFill>
                  <a:srgbClr val="000000"/>
                </a:solidFill>
                <a:latin typeface="NVIDIA Sans"/>
                <a:cs typeface="NVIDIA Sans"/>
              </a:rPr>
              <a:t>conv_dgrad</a:t>
            </a:r>
          </a:p>
          <a:p>
            <a:pPr>
              <a:lnSpc>
                <a:spcPts val="4200"/>
              </a:lnSpc>
              <a:buNone/>
            </a:pPr>
            <a:r>
              <a:rPr lang="en-US" sz="2800">
                <a:solidFill>
                  <a:srgbClr val="000000"/>
                </a:solidFill>
                <a:latin typeface="NVIDIA Sans"/>
                <a:cs typeface="NVIDIA Sans"/>
              </a:rPr>
              <a:t>conv_wgrad</a:t>
            </a:r>
          </a:p>
          <a:p>
            <a:pPr>
              <a:lnSpc>
                <a:spcPts val="4200"/>
              </a:lnSpc>
              <a:buNone/>
            </a:pPr>
            <a:r>
              <a:rPr lang="en-US" sz="2800">
                <a:solidFill>
                  <a:srgbClr val="000000"/>
                </a:solidFill>
                <a:latin typeface="NVIDIA Sans"/>
                <a:cs typeface="NVIDIA Sans"/>
              </a:rPr>
              <a:t>conv_bn_fused</a:t>
            </a:r>
          </a:p>
          <a:p>
            <a:pPr>
              <a:lnSpc>
                <a:spcPts val="4200"/>
              </a:lnSpc>
              <a:buNone/>
            </a:pPr>
            <a:r>
              <a:rPr lang="en-US" sz="2800">
                <a:solidFill>
                  <a:srgbClr val="000000"/>
                </a:solidFill>
                <a:latin typeface="NVIDIA Sans"/>
                <a:cs typeface="NVIDIA Sans"/>
              </a:rPr>
              <a:t>moe_routing</a:t>
            </a:r>
          </a:p>
          <a:p>
            <a:pPr>
              <a:lnSpc>
                <a:spcPts val="4200"/>
              </a:lnSpc>
              <a:buNone/>
            </a:pPr>
            <a:r>
              <a:rPr lang="en-US" sz="2800">
                <a:solidFill>
                  <a:srgbClr val="000000"/>
                </a:solidFill>
                <a:latin typeface="NVIDIA Sans"/>
                <a:cs typeface="NVIDIA Sans"/>
              </a:rPr>
              <a:t>moe_pipeline</a:t>
            </a:r>
          </a:p>
          <a:p>
            <a:pPr>
              <a:lnSpc>
                <a:spcPts val="4200"/>
              </a:lnSpc>
              <a:buNone/>
            </a:pPr>
            <a:r>
              <a:rPr lang="en-US" sz="2800">
                <a:solidFill>
                  <a:srgbClr val="000000"/>
                </a:solidFill>
                <a:latin typeface="NVIDIA Sans"/>
                <a:cs typeface="NVIDIA Sans"/>
              </a:rPr>
              <a:t>fmha_blackwell</a:t>
            </a:r>
          </a:p>
          <a:p>
            <a:pPr>
              <a:lnSpc>
                <a:spcPts val="4200"/>
              </a:lnSpc>
              <a:buNone/>
            </a:pPr>
            <a:r>
              <a:rPr lang="en-US" sz="2800">
                <a:solidFill>
                  <a:srgbClr val="000000"/>
                </a:solidFill>
                <a:latin typeface="NVIDIA Sans"/>
                <a:cs typeface="NVIDIA Sans"/>
              </a:rPr>
              <a:t>mamba2_ssd_chunked</a:t>
            </a:r>
          </a:p>
        </p:txBody>
      </p:sp>
      <p:sp>
        <p:nvSpPr>
          <p:cNvPr id="618" name="Arch 3"/>
          <p:cNvSpPr txBox="1"/>
          <p:nvPr/>
        </p:nvSpPr>
        <p:spPr>
          <a:xfrm>
            <a:off x="27203400" y="4953000"/>
            <a:ext cx="7772400" cy="1397000"/>
          </a:xfrm>
          <a:prstGeom prst="rect">
            <a:avLst/>
          </a:prstGeom>
          <a:noFill/>
        </p:spPr>
        <p:txBody>
          <a:bodyPr wrap="square" lIns="0" tIns="0" rIns="0" bIns="0" anchor="t">
            <a:noAutofit/>
          </a:bodyPr>
          <a:lstStyle/>
          <a:p>
            <a:pPr>
              <a:lnSpc>
                <a:spcPts val="8400"/>
              </a:lnSpc>
              <a:buNone/>
            </a:pPr>
            <a:r>
              <a:rPr lang="en-US" sz="8000" b="1">
                <a:solidFill>
                  <a:srgbClr val="000000"/>
                </a:solidFill>
                <a:latin typeface="NVIDIA Sans"/>
                <a:cs typeface="NVIDIA Sans"/>
              </a:rPr>
              <a:t>SM107</a:t>
            </a:r>
          </a:p>
        </p:txBody>
      </p:sp>
      <p:sp>
        <p:nvSpPr>
          <p:cNvPr id="619" name="Name 3"/>
          <p:cNvSpPr txBox="1"/>
          <p:nvPr/>
        </p:nvSpPr>
        <p:spPr>
          <a:xfrm>
            <a:off x="27203400" y="6350000"/>
            <a:ext cx="7772400" cy="838200"/>
          </a:xfrm>
          <a:prstGeom prst="rect">
            <a:avLst/>
          </a:prstGeom>
          <a:noFill/>
        </p:spPr>
        <p:txBody>
          <a:bodyPr wrap="square" lIns="0" tIns="0" rIns="0" bIns="0" anchor="t">
            <a:noAutofit/>
          </a:bodyPr>
          <a:lstStyle/>
          <a:p>
            <a:pPr>
              <a:lnSpc>
                <a:spcPts val="4800"/>
              </a:lnSpc>
              <a:buNone/>
            </a:pPr>
            <a:r>
              <a:rPr lang="en-US" sz="4400" b="1">
                <a:solidFill>
                  <a:srgbClr val="76B900"/>
                </a:solidFill>
                <a:latin typeface="NVIDIA Sans"/>
                <a:cs typeface="NVIDIA Sans"/>
              </a:rPr>
              <a:t>Rubin</a:t>
            </a:r>
          </a:p>
        </p:txBody>
      </p:sp>
      <p:sp>
        <p:nvSpPr>
          <p:cNvPr id="620" name="Rule 620"/>
          <p:cNvSpPr/>
          <p:nvPr/>
        </p:nvSpPr>
        <p:spPr>
          <a:xfrm>
            <a:off x="27203400" y="7391400"/>
            <a:ext cx="7772400" cy="50800"/>
          </a:xfrm>
          <a:prstGeom prst="rect">
            <a:avLst/>
          </a:prstGeom>
          <a:solidFill>
            <a:srgbClr val="76B900"/>
          </a:solidFill>
          <a:ln>
            <a:noFill/>
          </a:ln>
        </p:spPr>
        <p:txBody>
          <a:bodyPr/>
          <a:lstStyle/>
          <a:p>
            <a:endParaRPr/>
          </a:p>
        </p:txBody>
      </p:sp>
      <p:sp>
        <p:nvSpPr>
          <p:cNvPr id="621" name="Feat 3"/>
          <p:cNvSpPr txBox="1"/>
          <p:nvPr/>
        </p:nvSpPr>
        <p:spPr>
          <a:xfrm>
            <a:off x="27203400" y="7645400"/>
            <a:ext cx="7772400" cy="1219200"/>
          </a:xfrm>
          <a:prstGeom prst="rect">
            <a:avLst/>
          </a:prstGeom>
          <a:noFill/>
        </p:spPr>
        <p:txBody>
          <a:bodyPr wrap="square" lIns="0" tIns="0" rIns="0" bIns="0" anchor="t">
            <a:noAutofit/>
          </a:bodyPr>
          <a:lstStyle/>
          <a:p>
            <a:pPr>
              <a:lnSpc>
                <a:spcPts val="3400"/>
              </a:lnSpc>
              <a:buNone/>
            </a:pPr>
            <a:r>
              <a:rPr lang="en-US" sz="2800">
                <a:solidFill>
                  <a:srgbClr val="757575"/>
                </a:solidFill>
                <a:latin typeface="NVIDIA Sans"/>
                <a:cs typeface="NVIDIA Sans"/>
              </a:rPr>
              <a:t>K64 tcgen05 rows</a:t>
            </a:r>
          </a:p>
        </p:txBody>
      </p:sp>
      <p:sp>
        <p:nvSpPr>
          <p:cNvPr id="622" name="Count 3"/>
          <p:cNvSpPr txBox="1"/>
          <p:nvPr/>
        </p:nvSpPr>
        <p:spPr>
          <a:xfrm>
            <a:off x="27203400" y="8915400"/>
            <a:ext cx="7772400" cy="635000"/>
          </a:xfrm>
          <a:prstGeom prst="rect">
            <a:avLst/>
          </a:prstGeom>
          <a:noFill/>
        </p:spPr>
        <p:txBody>
          <a:bodyPr wrap="square" lIns="0" tIns="0" rIns="0" bIns="0" anchor="t">
            <a:noAutofit/>
          </a:bodyPr>
          <a:lstStyle/>
          <a:p>
            <a:pPr>
              <a:lnSpc>
                <a:spcPts val="3200"/>
              </a:lnSpc>
              <a:buNone/>
            </a:pPr>
            <a:r>
              <a:rPr lang="en-US" sz="2800" b="1">
                <a:solidFill>
                  <a:srgbClr val="76B900"/>
                </a:solidFill>
                <a:latin typeface="NVIDIA Sans"/>
                <a:cs typeface="NVIDIA Sans"/>
              </a:rPr>
              <a:t>8 kernels</a:t>
            </a:r>
          </a:p>
        </p:txBody>
      </p:sp>
      <p:sp>
        <p:nvSpPr>
          <p:cNvPr id="623" name="List 3"/>
          <p:cNvSpPr txBox="1"/>
          <p:nvPr/>
        </p:nvSpPr>
        <p:spPr>
          <a:xfrm>
            <a:off x="27203400" y="9702800"/>
            <a:ext cx="7772400" cy="9398000"/>
          </a:xfrm>
          <a:prstGeom prst="rect">
            <a:avLst/>
          </a:prstGeom>
          <a:noFill/>
        </p:spPr>
        <p:txBody>
          <a:bodyPr wrap="square" lIns="0" tIns="0" rIns="0" bIns="0" anchor="t">
            <a:noAutofit/>
          </a:bodyPr>
          <a:lstStyle/>
          <a:p>
            <a:pPr>
              <a:lnSpc>
                <a:spcPts val="4200"/>
              </a:lnSpc>
              <a:buNone/>
            </a:pPr>
            <a:r>
              <a:rPr lang="en-US" sz="2800">
                <a:solidFill>
                  <a:srgbClr val="000000"/>
                </a:solidFill>
                <a:latin typeface="NVIDIA Sans"/>
                <a:cs typeface="NVIDIA Sans"/>
              </a:rPr>
              <a:t>gemm_persistent</a:t>
            </a:r>
          </a:p>
          <a:p>
            <a:pPr>
              <a:lnSpc>
                <a:spcPts val="4200"/>
              </a:lnSpc>
              <a:buNone/>
            </a:pPr>
            <a:r>
              <a:rPr lang="en-US" sz="2800">
                <a:solidFill>
                  <a:srgbClr val="000000"/>
                </a:solidFill>
                <a:latin typeface="NVIDIA Sans"/>
                <a:cs typeface="NVIDIA Sans"/>
              </a:rPr>
              <a:t>gemm_mxfp6</a:t>
            </a:r>
          </a:p>
          <a:p>
            <a:pPr>
              <a:lnSpc>
                <a:spcPts val="4200"/>
              </a:lnSpc>
              <a:buNone/>
            </a:pPr>
            <a:r>
              <a:rPr lang="en-US" sz="2800">
                <a:solidFill>
                  <a:srgbClr val="000000"/>
                </a:solidFill>
                <a:latin typeface="NVIDIA Sans"/>
                <a:cs typeface="NVIDIA Sans"/>
              </a:rPr>
              <a:t>gemm_nvfp4</a:t>
            </a:r>
          </a:p>
          <a:p>
            <a:pPr>
              <a:lnSpc>
                <a:spcPts val="4200"/>
              </a:lnSpc>
              <a:buNone/>
            </a:pPr>
            <a:r>
              <a:rPr lang="en-US" sz="2800">
                <a:solidFill>
                  <a:srgbClr val="000000"/>
                </a:solidFill>
                <a:latin typeface="NVIDIA Sans"/>
                <a:cs typeface="NVIDIA Sans"/>
              </a:rPr>
              <a:t>gemm_lutb</a:t>
            </a:r>
          </a:p>
          <a:p>
            <a:pPr>
              <a:lnSpc>
                <a:spcPts val="4200"/>
              </a:lnSpc>
              <a:buNone/>
            </a:pPr>
            <a:r>
              <a:rPr lang="en-US" sz="2800">
                <a:solidFill>
                  <a:srgbClr val="000000"/>
                </a:solidFill>
                <a:latin typeface="NVIDIA Sans"/>
                <a:cs typeface="NVIDIA Sans"/>
              </a:rPr>
              <a:t>gemm_grouped_blockscaled</a:t>
            </a:r>
          </a:p>
          <a:p>
            <a:pPr>
              <a:lnSpc>
                <a:spcPts val="4200"/>
              </a:lnSpc>
              <a:buNone/>
            </a:pPr>
            <a:r>
              <a:rPr lang="en-US" sz="2800">
                <a:solidFill>
                  <a:srgbClr val="000000"/>
                </a:solidFill>
                <a:latin typeface="NVIDIA Sans"/>
                <a:cs typeface="NVIDIA Sans"/>
              </a:rPr>
              <a:t>gemm_grouped_tma_override</a:t>
            </a:r>
          </a:p>
          <a:p>
            <a:pPr>
              <a:lnSpc>
                <a:spcPts val="4200"/>
              </a:lnSpc>
              <a:buNone/>
            </a:pPr>
            <a:r>
              <a:rPr lang="en-US" sz="2800">
                <a:solidFill>
                  <a:srgbClr val="000000"/>
                </a:solidFill>
                <a:latin typeface="NVIDIA Sans"/>
                <a:cs typeface="NVIDIA Sans"/>
              </a:rPr>
              <a:t>fmha</a:t>
            </a:r>
          </a:p>
          <a:p>
            <a:pPr>
              <a:lnSpc>
                <a:spcPts val="4200"/>
              </a:lnSpc>
              <a:buNone/>
            </a:pPr>
            <a:r>
              <a:rPr lang="en-US" sz="2800">
                <a:solidFill>
                  <a:srgbClr val="000000"/>
                </a:solidFill>
                <a:latin typeface="NVIDIA Sans"/>
                <a:cs typeface="NVIDIA Sans"/>
              </a:rPr>
              <a:t>ldtm_sparsify</a:t>
            </a:r>
          </a:p>
        </p:txBody>
      </p:sp>
      <p:sp>
        <p:nvSpPr>
          <p:cNvPr id="5" name="VerifyBg">
            <a:extLst>
              <a:ext uri="{FF2B5EF4-FFF2-40B4-BE49-F238E27FC236}">
                <a16:creationId xmlns:a16="http://schemas.microsoft.com/office/drawing/2014/main" id="{80EDBA68-8FF8-8B44-9CE9-E9FC1445A1C7}"/>
              </a:ext>
            </a:extLst>
          </p:cNvPr>
          <p:cNvSpPr/>
          <p:nvPr/>
        </p:nvSpPr>
        <p:spPr>
          <a:xfrm>
            <a:off x="26670000" y="14986000"/>
            <a:ext cx="8128000" cy="2286000"/>
          </a:xfrm>
          <a:prstGeom prst="roundRect">
            <a:avLst/>
          </a:prstGeom>
          <a:solidFill>
            <a:srgbClr val="EDF6D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lnSpc>
                <a:spcPts val="3400"/>
              </a:lnSpc>
              <a:buNone/>
            </a:pPr>
            <a:r>
              <a:rPr lang="en-US" sz="2800">
                <a:solidFill>
                  <a:srgbClr val="313131"/>
                </a:solidFill>
                <a:latin typeface="NVIDIA Sans"/>
                <a:cs typeface="NVIDIA Sans"/>
              </a:rPr>
              <a:t>Every kernel runs on </a:t>
            </a:r>
            <a:r>
              <a:rPr lang="en-US" sz="2800" b="1">
                <a:solidFill>
                  <a:srgbClr val="4E7D00"/>
                </a:solidFill>
                <a:latin typeface="NVIDIA Sans"/>
                <a:cs typeface="NVIDIA Sans"/>
              </a:rPr>
              <a:t>silicon</a:t>
            </a:r>
            <a:r>
              <a:rPr lang="en-US" sz="2800">
                <a:solidFill>
                  <a:srgbClr val="313131"/>
                </a:solidFill>
                <a:latin typeface="NVIDIA Sans"/>
                <a:cs typeface="NVIDIA Sans"/>
              </a:rPr>
              <a:t> and is verified against a </a:t>
            </a:r>
            <a:r>
              <a:rPr lang="en-US" sz="2800" b="1">
                <a:solidFill>
                  <a:srgbClr val="4E7D00"/>
                </a:solidFill>
                <a:latin typeface="NVIDIA Sans"/>
                <a:cs typeface="NVIDIA Sans"/>
              </a:rPr>
              <a:t>torch</a:t>
            </a:r>
            <a:r>
              <a:rPr lang="en-US" sz="2800">
                <a:solidFill>
                  <a:srgbClr val="313131"/>
                </a:solidFill>
                <a:latin typeface="NVIDIA Sans"/>
                <a:cs typeface="NVIDIA Sans"/>
              </a:rPr>
              <a:t> reference.</a:t>
            </a:r>
          </a:p>
        </p:txBody>
      </p:sp>
    </p:spTree>
    <p:extLst>
      <p:ext uri="{BB962C8B-B14F-4D97-AF65-F5344CB8AC3E}">
        <p14:creationId xmlns:p14="http://schemas.microsoft.com/office/powerpoint/2010/main" val="27150650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tep1"/>
          <p:cNvSpPr/>
          <p:nvPr/>
        </p:nvSpPr>
        <p:spPr>
          <a:xfrm>
            <a:off x="1828800" y="9144000"/>
            <a:ext cx="4826000" cy="3556000"/>
          </a:xfrm>
          <a:prstGeom prst="roundRect">
            <a:avLst>
              <a:gd name="adj" fmla="val 8000"/>
            </a:avLst>
          </a:prstGeom>
          <a:solidFill>
            <a:srgbClr val="F7F7F7"/>
          </a:solidFill>
          <a:ln>
            <a:noFill/>
          </a:ln>
        </p:spPr>
        <p:txBody>
          <a:bodyPr/>
          <a:lstStyle/>
          <a:p>
            <a:endParaRPr/>
          </a:p>
        </p:txBody>
      </p:sp>
      <p:sp>
        <p:nvSpPr>
          <p:cNvPr id="123" name="StepBar1"/>
          <p:cNvSpPr/>
          <p:nvPr/>
        </p:nvSpPr>
        <p:spPr>
          <a:xfrm>
            <a:off x="1828800" y="9144000"/>
            <a:ext cx="4826000" cy="127000"/>
          </a:xfrm>
          <a:prstGeom prst="rect">
            <a:avLst/>
          </a:prstGeom>
          <a:solidFill>
            <a:srgbClr val="76B900"/>
          </a:solidFill>
          <a:ln>
            <a:noFill/>
          </a:ln>
        </p:spPr>
        <p:txBody>
          <a:bodyPr/>
          <a:lstStyle/>
          <a:p>
            <a:endParaRPr/>
          </a:p>
        </p:txBody>
      </p:sp>
      <p:sp>
        <p:nvSpPr>
          <p:cNvPr id="124" name="StepN1"/>
          <p:cNvSpPr txBox="1"/>
          <p:nvPr/>
        </p:nvSpPr>
        <p:spPr>
          <a:xfrm>
            <a:off x="2184400" y="9575800"/>
            <a:ext cx="762000" cy="635000"/>
          </a:xfrm>
          <a:prstGeom prst="rect">
            <a:avLst/>
          </a:prstGeom>
          <a:noFill/>
        </p:spPr>
        <p:txBody>
          <a:bodyPr wrap="square" lIns="0" tIns="0" rIns="0" bIns="0" anchor="t">
            <a:noAutofit/>
          </a:bodyPr>
          <a:lstStyle/>
          <a:p>
            <a:pPr algn="l">
              <a:buNone/>
            </a:pPr>
            <a:r>
              <a:rPr lang="en-US" sz="3200" b="1">
                <a:solidFill>
                  <a:srgbClr val="76B900"/>
                </a:solidFill>
                <a:latin typeface="NVIDIA Sans"/>
                <a:cs typeface="NVIDIA Sans"/>
              </a:rPr>
              <a:t>1</a:t>
            </a:r>
          </a:p>
        </p:txBody>
      </p:sp>
      <p:sp>
        <p:nvSpPr>
          <p:cNvPr id="125" name="StepH1"/>
          <p:cNvSpPr txBox="1"/>
          <p:nvPr/>
        </p:nvSpPr>
        <p:spPr>
          <a:xfrm>
            <a:off x="2184400" y="10312400"/>
            <a:ext cx="4114800" cy="635000"/>
          </a:xfrm>
          <a:prstGeom prst="rect">
            <a:avLst/>
          </a:prstGeom>
          <a:noFill/>
        </p:spPr>
        <p:txBody>
          <a:bodyPr wrap="square" lIns="0" tIns="0" rIns="0" bIns="0" anchor="t">
            <a:noAutofit/>
          </a:bodyPr>
          <a:lstStyle/>
          <a:p>
            <a:pPr algn="l">
              <a:buNone/>
            </a:pPr>
            <a:r>
              <a:rPr lang="en-US" sz="3200" b="1">
                <a:solidFill>
                  <a:srgbClr val="111114"/>
                </a:solidFill>
                <a:latin typeface="NVIDIA Sans"/>
                <a:cs typeface="NVIDIA Sans"/>
              </a:rPr>
              <a:t>Record</a:t>
            </a:r>
          </a:p>
        </p:txBody>
      </p:sp>
      <p:sp>
        <p:nvSpPr>
          <p:cNvPr id="126" name="StepB1"/>
          <p:cNvSpPr txBox="1"/>
          <p:nvPr/>
        </p:nvSpPr>
        <p:spPr>
          <a:xfrm>
            <a:off x="2184400" y="11049000"/>
            <a:ext cx="4114800" cy="1524000"/>
          </a:xfrm>
          <a:prstGeom prst="rect">
            <a:avLst/>
          </a:prstGeom>
          <a:noFill/>
        </p:spPr>
        <p:txBody>
          <a:bodyPr wrap="square" lIns="0" tIns="0" rIns="0" bIns="0" anchor="t">
            <a:noAutofit/>
          </a:bodyPr>
          <a:lstStyle/>
          <a:p>
            <a:pPr algn="l">
              <a:lnSpc>
                <a:spcPts val="3200"/>
              </a:lnSpc>
              <a:buNone/>
            </a:pPr>
            <a:r>
              <a:rPr lang="en-US" sz="2600">
                <a:solidFill>
                  <a:srgbClr val="5A5A5A"/>
                </a:solidFill>
                <a:latin typeface="NVIDIA Sans"/>
                <a:cs typeface="NVIDIA Sans"/>
              </a:rPr>
              <a:t>one dry run: tile, memory, warps per site</a:t>
            </a:r>
          </a:p>
        </p:txBody>
      </p:sp>
      <p:sp>
        <p:nvSpPr>
          <p:cNvPr id="128" name="Step2"/>
          <p:cNvSpPr/>
          <p:nvPr/>
        </p:nvSpPr>
        <p:spPr>
          <a:xfrm>
            <a:off x="7447280" y="9144000"/>
            <a:ext cx="4826000" cy="3556000"/>
          </a:xfrm>
          <a:prstGeom prst="roundRect">
            <a:avLst>
              <a:gd name="adj" fmla="val 8000"/>
            </a:avLst>
          </a:prstGeom>
          <a:solidFill>
            <a:srgbClr val="F7F7F7"/>
          </a:solidFill>
          <a:ln>
            <a:noFill/>
          </a:ln>
        </p:spPr>
        <p:txBody>
          <a:bodyPr/>
          <a:lstStyle/>
          <a:p>
            <a:endParaRPr/>
          </a:p>
        </p:txBody>
      </p:sp>
      <p:sp>
        <p:nvSpPr>
          <p:cNvPr id="129" name="StepBar2"/>
          <p:cNvSpPr/>
          <p:nvPr/>
        </p:nvSpPr>
        <p:spPr>
          <a:xfrm>
            <a:off x="7447280" y="9144000"/>
            <a:ext cx="4826000" cy="127000"/>
          </a:xfrm>
          <a:prstGeom prst="rect">
            <a:avLst/>
          </a:prstGeom>
          <a:solidFill>
            <a:srgbClr val="76B900"/>
          </a:solidFill>
          <a:ln>
            <a:noFill/>
          </a:ln>
        </p:spPr>
        <p:txBody>
          <a:bodyPr/>
          <a:lstStyle/>
          <a:p>
            <a:endParaRPr/>
          </a:p>
        </p:txBody>
      </p:sp>
      <p:sp>
        <p:nvSpPr>
          <p:cNvPr id="130" name="StepN2"/>
          <p:cNvSpPr txBox="1"/>
          <p:nvPr/>
        </p:nvSpPr>
        <p:spPr>
          <a:xfrm>
            <a:off x="7802880" y="9575800"/>
            <a:ext cx="762000" cy="635000"/>
          </a:xfrm>
          <a:prstGeom prst="rect">
            <a:avLst/>
          </a:prstGeom>
          <a:noFill/>
        </p:spPr>
        <p:txBody>
          <a:bodyPr wrap="square" lIns="0" tIns="0" rIns="0" bIns="0" anchor="t">
            <a:noAutofit/>
          </a:bodyPr>
          <a:lstStyle/>
          <a:p>
            <a:pPr algn="l">
              <a:buNone/>
            </a:pPr>
            <a:r>
              <a:rPr lang="en-US" sz="3200" b="1">
                <a:solidFill>
                  <a:srgbClr val="76B900"/>
                </a:solidFill>
                <a:latin typeface="NVIDIA Sans"/>
                <a:cs typeface="NVIDIA Sans"/>
              </a:rPr>
              <a:t>2</a:t>
            </a:r>
          </a:p>
        </p:txBody>
      </p:sp>
      <p:sp>
        <p:nvSpPr>
          <p:cNvPr id="131" name="StepH2"/>
          <p:cNvSpPr txBox="1"/>
          <p:nvPr/>
        </p:nvSpPr>
        <p:spPr>
          <a:xfrm>
            <a:off x="7802880" y="10312400"/>
            <a:ext cx="4114800" cy="635000"/>
          </a:xfrm>
          <a:prstGeom prst="rect">
            <a:avLst/>
          </a:prstGeom>
          <a:noFill/>
        </p:spPr>
        <p:txBody>
          <a:bodyPr wrap="square" lIns="0" tIns="0" rIns="0" bIns="0" anchor="t">
            <a:noAutofit/>
          </a:bodyPr>
          <a:lstStyle/>
          <a:p>
            <a:pPr algn="l">
              <a:buNone/>
            </a:pPr>
            <a:r>
              <a:rPr lang="en-US" sz="3200" b="1">
                <a:solidFill>
                  <a:srgbClr val="111114"/>
                </a:solidFill>
                <a:latin typeface="NVIDIA Sans"/>
                <a:cs typeface="NVIDIA Sans"/>
              </a:rPr>
              <a:t>Probe hooks</a:t>
            </a:r>
          </a:p>
        </p:txBody>
      </p:sp>
      <p:sp>
        <p:nvSpPr>
          <p:cNvPr id="132" name="StepB2"/>
          <p:cNvSpPr txBox="1"/>
          <p:nvPr/>
        </p:nvSpPr>
        <p:spPr>
          <a:xfrm>
            <a:off x="7802880" y="11049000"/>
            <a:ext cx="4114800" cy="1524000"/>
          </a:xfrm>
          <a:prstGeom prst="rect">
            <a:avLst/>
          </a:prstGeom>
          <a:noFill/>
        </p:spPr>
        <p:txBody>
          <a:bodyPr wrap="square" lIns="0" tIns="0" rIns="0" bIns="0" anchor="t">
            <a:noAutofit/>
          </a:bodyPr>
          <a:lstStyle/>
          <a:p>
            <a:pPr algn="l">
              <a:lnSpc>
                <a:spcPts val="3200"/>
              </a:lnSpc>
              <a:buNone/>
            </a:pPr>
            <a:r>
              <a:rPr lang="en-US" sz="2600">
                <a:solidFill>
                  <a:srgbClr val="5A5A5A"/>
                </a:solidFill>
                <a:latin typeface="NVIDIA Sans"/>
                <a:cs typeface="NVIDIA Sans"/>
              </a:rPr>
              <a:t>each hook names its tensors and outputs</a:t>
            </a:r>
          </a:p>
        </p:txBody>
      </p:sp>
      <p:sp>
        <p:nvSpPr>
          <p:cNvPr id="134" name="Step3"/>
          <p:cNvSpPr/>
          <p:nvPr/>
        </p:nvSpPr>
        <p:spPr>
          <a:xfrm>
            <a:off x="13065760" y="9144000"/>
            <a:ext cx="4826000" cy="3556000"/>
          </a:xfrm>
          <a:prstGeom prst="roundRect">
            <a:avLst>
              <a:gd name="adj" fmla="val 8000"/>
            </a:avLst>
          </a:prstGeom>
          <a:solidFill>
            <a:srgbClr val="F7F7F7"/>
          </a:solidFill>
          <a:ln>
            <a:noFill/>
          </a:ln>
        </p:spPr>
        <p:txBody>
          <a:bodyPr/>
          <a:lstStyle/>
          <a:p>
            <a:endParaRPr/>
          </a:p>
        </p:txBody>
      </p:sp>
      <p:sp>
        <p:nvSpPr>
          <p:cNvPr id="135" name="StepBar3"/>
          <p:cNvSpPr/>
          <p:nvPr/>
        </p:nvSpPr>
        <p:spPr>
          <a:xfrm>
            <a:off x="13065760" y="9144000"/>
            <a:ext cx="4826000" cy="127000"/>
          </a:xfrm>
          <a:prstGeom prst="rect">
            <a:avLst/>
          </a:prstGeom>
          <a:solidFill>
            <a:srgbClr val="76B900"/>
          </a:solidFill>
          <a:ln>
            <a:noFill/>
          </a:ln>
        </p:spPr>
        <p:txBody>
          <a:bodyPr/>
          <a:lstStyle/>
          <a:p>
            <a:endParaRPr/>
          </a:p>
        </p:txBody>
      </p:sp>
      <p:sp>
        <p:nvSpPr>
          <p:cNvPr id="136" name="StepN3"/>
          <p:cNvSpPr txBox="1"/>
          <p:nvPr/>
        </p:nvSpPr>
        <p:spPr>
          <a:xfrm>
            <a:off x="13421360" y="9575800"/>
            <a:ext cx="762000" cy="635000"/>
          </a:xfrm>
          <a:prstGeom prst="rect">
            <a:avLst/>
          </a:prstGeom>
          <a:noFill/>
        </p:spPr>
        <p:txBody>
          <a:bodyPr wrap="square" lIns="0" tIns="0" rIns="0" bIns="0" anchor="t">
            <a:noAutofit/>
          </a:bodyPr>
          <a:lstStyle/>
          <a:p>
            <a:pPr algn="l">
              <a:buNone/>
            </a:pPr>
            <a:r>
              <a:rPr lang="en-US" sz="3200" b="1">
                <a:solidFill>
                  <a:srgbClr val="76B900"/>
                </a:solidFill>
                <a:latin typeface="NVIDIA Sans"/>
                <a:cs typeface="NVIDIA Sans"/>
              </a:rPr>
              <a:t>3</a:t>
            </a:r>
          </a:p>
        </p:txBody>
      </p:sp>
      <p:sp>
        <p:nvSpPr>
          <p:cNvPr id="137" name="StepH3"/>
          <p:cNvSpPr txBox="1"/>
          <p:nvPr/>
        </p:nvSpPr>
        <p:spPr>
          <a:xfrm>
            <a:off x="13421360" y="10312400"/>
            <a:ext cx="4114800" cy="635000"/>
          </a:xfrm>
          <a:prstGeom prst="rect">
            <a:avLst/>
          </a:prstGeom>
          <a:noFill/>
        </p:spPr>
        <p:txBody>
          <a:bodyPr wrap="square" lIns="0" tIns="0" rIns="0" bIns="0" anchor="t">
            <a:noAutofit/>
          </a:bodyPr>
          <a:lstStyle/>
          <a:p>
            <a:pPr algn="l">
              <a:buNone/>
            </a:pPr>
            <a:r>
              <a:rPr lang="en-US" sz="3200" b="1">
                <a:solidFill>
                  <a:srgbClr val="111114"/>
                </a:solidFill>
                <a:latin typeface="NVIDIA Sans"/>
                <a:cs typeface="NVIDIA Sans"/>
              </a:rPr>
              <a:t>Plan</a:t>
            </a:r>
          </a:p>
        </p:txBody>
      </p:sp>
      <p:sp>
        <p:nvSpPr>
          <p:cNvPr id="138" name="StepB3"/>
          <p:cNvSpPr txBox="1"/>
          <p:nvPr/>
        </p:nvSpPr>
        <p:spPr>
          <a:xfrm>
            <a:off x="13421360" y="11049000"/>
            <a:ext cx="4114800" cy="1524000"/>
          </a:xfrm>
          <a:prstGeom prst="rect">
            <a:avLst/>
          </a:prstGeom>
          <a:noFill/>
        </p:spPr>
        <p:txBody>
          <a:bodyPr wrap="square" lIns="0" tIns="0" rIns="0" bIns="0" anchor="t">
            <a:noAutofit/>
          </a:bodyPr>
          <a:lstStyle/>
          <a:p>
            <a:pPr algn="l">
              <a:lnSpc>
                <a:spcPts val="3200"/>
              </a:lnSpc>
              <a:buNone/>
            </a:pPr>
            <a:r>
              <a:rPr lang="en-US" sz="2600">
                <a:solidFill>
                  <a:srgbClr val="5A5A5A"/>
                </a:solidFill>
                <a:latin typeface="NVIDIA Sans"/>
                <a:cs typeface="NVIDIA Sans"/>
              </a:rPr>
              <a:t>transports, pipelines, tmem / smem / register budgets</a:t>
            </a:r>
          </a:p>
        </p:txBody>
      </p:sp>
      <p:sp>
        <p:nvSpPr>
          <p:cNvPr id="140" name="Step4"/>
          <p:cNvSpPr/>
          <p:nvPr/>
        </p:nvSpPr>
        <p:spPr>
          <a:xfrm>
            <a:off x="18684240" y="9144000"/>
            <a:ext cx="4826000" cy="3556000"/>
          </a:xfrm>
          <a:prstGeom prst="roundRect">
            <a:avLst>
              <a:gd name="adj" fmla="val 8000"/>
            </a:avLst>
          </a:prstGeom>
          <a:solidFill>
            <a:srgbClr val="F7F7F7"/>
          </a:solidFill>
          <a:ln>
            <a:noFill/>
          </a:ln>
        </p:spPr>
        <p:txBody>
          <a:bodyPr/>
          <a:lstStyle/>
          <a:p>
            <a:endParaRPr/>
          </a:p>
        </p:txBody>
      </p:sp>
      <p:sp>
        <p:nvSpPr>
          <p:cNvPr id="141" name="StepBar4"/>
          <p:cNvSpPr/>
          <p:nvPr/>
        </p:nvSpPr>
        <p:spPr>
          <a:xfrm>
            <a:off x="18684240" y="9144000"/>
            <a:ext cx="4826000" cy="127000"/>
          </a:xfrm>
          <a:prstGeom prst="rect">
            <a:avLst/>
          </a:prstGeom>
          <a:solidFill>
            <a:srgbClr val="76B900"/>
          </a:solidFill>
          <a:ln>
            <a:noFill/>
          </a:ln>
        </p:spPr>
        <p:txBody>
          <a:bodyPr/>
          <a:lstStyle/>
          <a:p>
            <a:endParaRPr/>
          </a:p>
        </p:txBody>
      </p:sp>
      <p:sp>
        <p:nvSpPr>
          <p:cNvPr id="142" name="StepN4"/>
          <p:cNvSpPr txBox="1"/>
          <p:nvPr/>
        </p:nvSpPr>
        <p:spPr>
          <a:xfrm>
            <a:off x="19039840" y="9575800"/>
            <a:ext cx="762000" cy="635000"/>
          </a:xfrm>
          <a:prstGeom prst="rect">
            <a:avLst/>
          </a:prstGeom>
          <a:noFill/>
        </p:spPr>
        <p:txBody>
          <a:bodyPr wrap="square" lIns="0" tIns="0" rIns="0" bIns="0" anchor="t">
            <a:noAutofit/>
          </a:bodyPr>
          <a:lstStyle/>
          <a:p>
            <a:pPr algn="l">
              <a:buNone/>
            </a:pPr>
            <a:r>
              <a:rPr lang="en-US" sz="3200" b="1">
                <a:solidFill>
                  <a:srgbClr val="76B900"/>
                </a:solidFill>
                <a:latin typeface="NVIDIA Sans"/>
                <a:cs typeface="NVIDIA Sans"/>
              </a:rPr>
              <a:t>4</a:t>
            </a:r>
          </a:p>
        </p:txBody>
      </p:sp>
      <p:sp>
        <p:nvSpPr>
          <p:cNvPr id="143" name="StepH4"/>
          <p:cNvSpPr txBox="1"/>
          <p:nvPr/>
        </p:nvSpPr>
        <p:spPr>
          <a:xfrm>
            <a:off x="19039840" y="10312400"/>
            <a:ext cx="4114800" cy="635000"/>
          </a:xfrm>
          <a:prstGeom prst="rect">
            <a:avLst/>
          </a:prstGeom>
          <a:noFill/>
        </p:spPr>
        <p:txBody>
          <a:bodyPr wrap="square" lIns="0" tIns="0" rIns="0" bIns="0" anchor="t">
            <a:noAutofit/>
          </a:bodyPr>
          <a:lstStyle/>
          <a:p>
            <a:pPr algn="l">
              <a:buNone/>
            </a:pPr>
            <a:r>
              <a:rPr lang="en-US" sz="3200" b="1">
                <a:solidFill>
                  <a:srgbClr val="111114"/>
                </a:solidFill>
                <a:latin typeface="NVIDIA Sans"/>
                <a:cs typeface="NVIDIA Sans"/>
              </a:rPr>
              <a:t>Kernel signature</a:t>
            </a:r>
          </a:p>
        </p:txBody>
      </p:sp>
      <p:sp>
        <p:nvSpPr>
          <p:cNvPr id="144" name="StepB4"/>
          <p:cNvSpPr txBox="1"/>
          <p:nvPr/>
        </p:nvSpPr>
        <p:spPr>
          <a:xfrm>
            <a:off x="19039840" y="11049000"/>
            <a:ext cx="4114800" cy="1524000"/>
          </a:xfrm>
          <a:prstGeom prst="rect">
            <a:avLst/>
          </a:prstGeom>
          <a:noFill/>
        </p:spPr>
        <p:txBody>
          <a:bodyPr wrap="square" lIns="0" tIns="0" rIns="0" bIns="0" anchor="t">
            <a:noAutofit/>
          </a:bodyPr>
          <a:lstStyle/>
          <a:p>
            <a:pPr algn="l">
              <a:lnSpc>
                <a:spcPts val="3200"/>
              </a:lnSpc>
              <a:buNone/>
            </a:pPr>
            <a:r>
              <a:rPr lang="en-US" sz="2600">
                <a:solidFill>
                  <a:srgbClr val="5A5A5A"/>
                </a:solidFill>
                <a:latin typeface="NVIDIA Sans"/>
                <a:cs typeface="NVIDIA Sans"/>
              </a:rPr>
              <a:t>parameter list and TMA descriptors, generated</a:t>
            </a:r>
          </a:p>
        </p:txBody>
      </p:sp>
      <p:sp>
        <p:nvSpPr>
          <p:cNvPr id="146" name="Step5"/>
          <p:cNvSpPr/>
          <p:nvPr/>
        </p:nvSpPr>
        <p:spPr>
          <a:xfrm>
            <a:off x="24302720" y="9144000"/>
            <a:ext cx="4826000" cy="3556000"/>
          </a:xfrm>
          <a:prstGeom prst="roundRect">
            <a:avLst>
              <a:gd name="adj" fmla="val 8000"/>
            </a:avLst>
          </a:prstGeom>
          <a:solidFill>
            <a:srgbClr val="F7F7F7"/>
          </a:solidFill>
          <a:ln>
            <a:noFill/>
          </a:ln>
        </p:spPr>
        <p:txBody>
          <a:bodyPr/>
          <a:lstStyle/>
          <a:p>
            <a:endParaRPr/>
          </a:p>
        </p:txBody>
      </p:sp>
      <p:sp>
        <p:nvSpPr>
          <p:cNvPr id="147" name="StepBar5"/>
          <p:cNvSpPr/>
          <p:nvPr/>
        </p:nvSpPr>
        <p:spPr>
          <a:xfrm>
            <a:off x="24302720" y="9144000"/>
            <a:ext cx="4826000" cy="127000"/>
          </a:xfrm>
          <a:prstGeom prst="rect">
            <a:avLst/>
          </a:prstGeom>
          <a:solidFill>
            <a:srgbClr val="76B900"/>
          </a:solidFill>
          <a:ln>
            <a:noFill/>
          </a:ln>
        </p:spPr>
        <p:txBody>
          <a:bodyPr/>
          <a:lstStyle/>
          <a:p>
            <a:endParaRPr/>
          </a:p>
        </p:txBody>
      </p:sp>
      <p:sp>
        <p:nvSpPr>
          <p:cNvPr id="148" name="StepN5"/>
          <p:cNvSpPr txBox="1"/>
          <p:nvPr/>
        </p:nvSpPr>
        <p:spPr>
          <a:xfrm>
            <a:off x="24658320" y="9575800"/>
            <a:ext cx="762000" cy="635000"/>
          </a:xfrm>
          <a:prstGeom prst="rect">
            <a:avLst/>
          </a:prstGeom>
          <a:noFill/>
        </p:spPr>
        <p:txBody>
          <a:bodyPr wrap="square" lIns="0" tIns="0" rIns="0" bIns="0" anchor="t">
            <a:noAutofit/>
          </a:bodyPr>
          <a:lstStyle/>
          <a:p>
            <a:pPr algn="l">
              <a:buNone/>
            </a:pPr>
            <a:r>
              <a:rPr lang="en-US" sz="3200" b="1">
                <a:solidFill>
                  <a:srgbClr val="76B900"/>
                </a:solidFill>
                <a:latin typeface="NVIDIA Sans"/>
                <a:cs typeface="NVIDIA Sans"/>
              </a:rPr>
              <a:t>5</a:t>
            </a:r>
          </a:p>
        </p:txBody>
      </p:sp>
      <p:sp>
        <p:nvSpPr>
          <p:cNvPr id="149" name="StepH5"/>
          <p:cNvSpPr txBox="1"/>
          <p:nvPr/>
        </p:nvSpPr>
        <p:spPr>
          <a:xfrm>
            <a:off x="24658320" y="10312400"/>
            <a:ext cx="4114800" cy="635000"/>
          </a:xfrm>
          <a:prstGeom prst="rect">
            <a:avLst/>
          </a:prstGeom>
          <a:noFill/>
        </p:spPr>
        <p:txBody>
          <a:bodyPr wrap="square" lIns="0" tIns="0" rIns="0" bIns="0" anchor="t">
            <a:noAutofit/>
          </a:bodyPr>
          <a:lstStyle/>
          <a:p>
            <a:pPr algn="l">
              <a:buNone/>
            </a:pPr>
            <a:r>
              <a:rPr lang="en-US" sz="3200" b="1">
                <a:solidFill>
                  <a:srgbClr val="111114"/>
                </a:solidFill>
                <a:latin typeface="NVIDIA Sans"/>
                <a:cs typeface="NVIDIA Sans"/>
              </a:rPr>
              <a:t>Compile</a:t>
            </a:r>
          </a:p>
        </p:txBody>
      </p:sp>
      <p:sp>
        <p:nvSpPr>
          <p:cNvPr id="150" name="StepB5"/>
          <p:cNvSpPr txBox="1"/>
          <p:nvPr/>
        </p:nvSpPr>
        <p:spPr>
          <a:xfrm>
            <a:off x="24658320" y="11049000"/>
            <a:ext cx="4114800" cy="1524000"/>
          </a:xfrm>
          <a:prstGeom prst="rect">
            <a:avLst/>
          </a:prstGeom>
          <a:noFill/>
        </p:spPr>
        <p:txBody>
          <a:bodyPr wrap="square" lIns="0" tIns="0" rIns="0" bIns="0" anchor="t">
            <a:noAutofit/>
          </a:bodyPr>
          <a:lstStyle/>
          <a:p>
            <a:pPr algn="l">
              <a:lnSpc>
                <a:spcPts val="3200"/>
              </a:lnSpc>
              <a:buNone/>
            </a:pPr>
            <a:r>
              <a:rPr lang="en-US" sz="2600">
                <a:solidFill>
                  <a:srgbClr val="5A5A5A"/>
                </a:solidFill>
                <a:latin typeface="NVIDIA Sans"/>
                <a:cs typeface="NVIDIA Sans"/>
              </a:rPr>
              <a:t>hooks traced inline, then cached</a:t>
            </a:r>
          </a:p>
        </p:txBody>
      </p:sp>
      <p:sp>
        <p:nvSpPr>
          <p:cNvPr id="152" name="Step6"/>
          <p:cNvSpPr/>
          <p:nvPr/>
        </p:nvSpPr>
        <p:spPr>
          <a:xfrm>
            <a:off x="29921200" y="9144000"/>
            <a:ext cx="4826000" cy="3556000"/>
          </a:xfrm>
          <a:prstGeom prst="roundRect">
            <a:avLst>
              <a:gd name="adj" fmla="val 8000"/>
            </a:avLst>
          </a:prstGeom>
          <a:solidFill>
            <a:srgbClr val="F7F7F7"/>
          </a:solidFill>
          <a:ln>
            <a:noFill/>
          </a:ln>
        </p:spPr>
        <p:txBody>
          <a:bodyPr/>
          <a:lstStyle/>
          <a:p>
            <a:endParaRPr/>
          </a:p>
        </p:txBody>
      </p:sp>
      <p:sp>
        <p:nvSpPr>
          <p:cNvPr id="153" name="StepBar6"/>
          <p:cNvSpPr/>
          <p:nvPr/>
        </p:nvSpPr>
        <p:spPr>
          <a:xfrm>
            <a:off x="29921200" y="9144000"/>
            <a:ext cx="4826000" cy="127000"/>
          </a:xfrm>
          <a:prstGeom prst="rect">
            <a:avLst/>
          </a:prstGeom>
          <a:solidFill>
            <a:srgbClr val="76B900"/>
          </a:solidFill>
          <a:ln>
            <a:noFill/>
          </a:ln>
        </p:spPr>
        <p:txBody>
          <a:bodyPr/>
          <a:lstStyle/>
          <a:p>
            <a:endParaRPr/>
          </a:p>
        </p:txBody>
      </p:sp>
      <p:sp>
        <p:nvSpPr>
          <p:cNvPr id="154" name="StepN6"/>
          <p:cNvSpPr txBox="1"/>
          <p:nvPr/>
        </p:nvSpPr>
        <p:spPr>
          <a:xfrm>
            <a:off x="30276800" y="9575800"/>
            <a:ext cx="762000" cy="635000"/>
          </a:xfrm>
          <a:prstGeom prst="rect">
            <a:avLst/>
          </a:prstGeom>
          <a:noFill/>
        </p:spPr>
        <p:txBody>
          <a:bodyPr wrap="square" lIns="0" tIns="0" rIns="0" bIns="0" anchor="t">
            <a:noAutofit/>
          </a:bodyPr>
          <a:lstStyle/>
          <a:p>
            <a:pPr algn="l">
              <a:buNone/>
            </a:pPr>
            <a:r>
              <a:rPr lang="en-US" sz="3200" b="1">
                <a:solidFill>
                  <a:srgbClr val="76B900"/>
                </a:solidFill>
                <a:latin typeface="NVIDIA Sans"/>
                <a:cs typeface="NVIDIA Sans"/>
              </a:rPr>
              <a:t>6</a:t>
            </a:r>
          </a:p>
        </p:txBody>
      </p:sp>
      <p:sp>
        <p:nvSpPr>
          <p:cNvPr id="155" name="StepH6"/>
          <p:cNvSpPr txBox="1"/>
          <p:nvPr/>
        </p:nvSpPr>
        <p:spPr>
          <a:xfrm>
            <a:off x="30276800" y="10312400"/>
            <a:ext cx="4114800" cy="635000"/>
          </a:xfrm>
          <a:prstGeom prst="rect">
            <a:avLst/>
          </a:prstGeom>
          <a:noFill/>
        </p:spPr>
        <p:txBody>
          <a:bodyPr wrap="square" lIns="0" tIns="0" rIns="0" bIns="0" anchor="t">
            <a:noAutofit/>
          </a:bodyPr>
          <a:lstStyle/>
          <a:p>
            <a:pPr algn="l">
              <a:buNone/>
            </a:pPr>
            <a:r>
              <a:rPr lang="en-US" sz="3200" b="1">
                <a:solidFill>
                  <a:srgbClr val="111114"/>
                </a:solidFill>
                <a:latin typeface="NVIDIA Sans"/>
                <a:cs typeface="NVIDIA Sans"/>
              </a:rPr>
              <a:t>Launch</a:t>
            </a:r>
          </a:p>
        </p:txBody>
      </p:sp>
      <p:sp>
        <p:nvSpPr>
          <p:cNvPr id="156" name="StepB6"/>
          <p:cNvSpPr txBox="1"/>
          <p:nvPr/>
        </p:nvSpPr>
        <p:spPr>
          <a:xfrm>
            <a:off x="30276800" y="11049000"/>
            <a:ext cx="4114800" cy="1524000"/>
          </a:xfrm>
          <a:prstGeom prst="rect">
            <a:avLst/>
          </a:prstGeom>
          <a:noFill/>
        </p:spPr>
        <p:txBody>
          <a:bodyPr wrap="square" lIns="0" tIns="0" rIns="0" bIns="0" anchor="t">
            <a:noAutofit/>
          </a:bodyPr>
          <a:lstStyle/>
          <a:p>
            <a:pPr algn="l">
              <a:lnSpc>
                <a:spcPts val="3200"/>
              </a:lnSpc>
              <a:buNone/>
            </a:pPr>
            <a:r>
              <a:rPr lang="en-US" sz="2600">
                <a:solidFill>
                  <a:srgbClr val="5A5A5A"/>
                </a:solidFill>
                <a:latin typeface="NVIDIA Sans"/>
                <a:cs typeface="NVIDIA Sans"/>
              </a:rPr>
              <a:t>pass torch tensors by name</a:t>
            </a:r>
          </a:p>
        </p:txBody>
      </p:sp>
      <p:sp>
        <p:nvSpPr>
          <p:cNvPr id="300" name="TitleTx"/>
          <p:cNvSpPr txBox="1"/>
          <p:nvPr/>
        </p:nvSpPr>
        <p:spPr>
          <a:xfrm>
            <a:off x="1828800" y="914400"/>
            <a:ext cx="32918400" cy="1524000"/>
          </a:xfrm>
          <a:prstGeom prst="rect">
            <a:avLst/>
          </a:prstGeom>
          <a:noFill/>
        </p:spPr>
        <p:txBody>
          <a:bodyPr wrap="square" lIns="0" tIns="0" rIns="0" bIns="0">
            <a:noAutofit/>
          </a:bodyPr>
          <a:lstStyle/>
          <a:p>
            <a:pPr algn="l">
              <a:lnSpc>
                <a:spcPts val="6000"/>
              </a:lnSpc>
              <a:buNone/>
            </a:pPr>
            <a:r>
              <a:rPr lang="en-US" sz="5400" b="1">
                <a:solidFill>
                  <a:srgbClr val="111114"/>
                </a:solidFill>
                <a:latin typeface="NVIDIA Sans"/>
                <a:cs typeface="NVIDIA Sans"/>
              </a:rPr>
              <a:t>Unified Fusion Compiler (UFC)</a:t>
            </a:r>
          </a:p>
        </p:txBody>
      </p:sp>
      <p:sp>
        <p:nvSpPr>
          <p:cNvPr id="301" name="SubTx"/>
          <p:cNvSpPr txBox="1"/>
          <p:nvPr/>
        </p:nvSpPr>
        <p:spPr>
          <a:xfrm>
            <a:off x="1828800" y="2603500"/>
            <a:ext cx="32918400" cy="1016000"/>
          </a:xfrm>
          <a:prstGeom prst="rect">
            <a:avLst/>
          </a:prstGeom>
          <a:noFill/>
        </p:spPr>
        <p:txBody>
          <a:bodyPr wrap="square" lIns="0" tIns="0" rIns="0" bIns="0">
            <a:noAutofit/>
          </a:bodyPr>
          <a:lstStyle/>
          <a:p>
            <a:pPr algn="l">
              <a:lnSpc>
                <a:spcPts val="4000"/>
              </a:lnSpc>
              <a:buNone/>
            </a:pPr>
            <a:r>
              <a:rPr lang="en-US" sz="3400">
                <a:solidFill>
                  <a:srgbClr val="757575"/>
                </a:solidFill>
                <a:latin typeface="NVIDIA Sans"/>
                <a:cs typeface="NVIDIA Sans"/>
              </a:rPr>
              <a:t>An </a:t>
            </a:r>
            <a:r>
              <a:rPr lang="en-US" sz="3400" b="1">
                <a:solidFill>
                  <a:srgbClr val="757575"/>
                </a:solidFill>
                <a:latin typeface="NVIDIA Sans"/>
                <a:cs typeface="NVIDIA Sans"/>
              </a:rPr>
              <a:t>experimental</a:t>
            </a:r>
            <a:r>
              <a:rPr lang="en-US" sz="3400">
                <a:solidFill>
                  <a:srgbClr val="757575"/>
                </a:solidFill>
                <a:latin typeface="NVIDIA Sans"/>
                <a:cs typeface="NVIDIA Sans"/>
              </a:rPr>
              <a:t> extension of EVT/EFC: the kernel declares sites, users bind plain Python, one kernel comes out.</a:t>
            </a:r>
          </a:p>
        </p:txBody>
      </p:sp>
      <p:sp>
        <p:nvSpPr>
          <p:cNvPr id="302" name="EvtBg"/>
          <p:cNvSpPr/>
          <p:nvPr/>
        </p:nvSpPr>
        <p:spPr>
          <a:xfrm>
            <a:off x="1828800" y="4191000"/>
            <a:ext cx="14732000" cy="4064000"/>
          </a:xfrm>
          <a:prstGeom prst="roundRect">
            <a:avLst>
              <a:gd name="adj" fmla="val 8000"/>
            </a:avLst>
          </a:prstGeom>
          <a:solidFill>
            <a:srgbClr val="F1F1F1"/>
          </a:solidFill>
          <a:ln>
            <a:noFill/>
          </a:ln>
        </p:spPr>
        <p:txBody>
          <a:bodyPr/>
          <a:lstStyle/>
          <a:p>
            <a:endParaRPr/>
          </a:p>
        </p:txBody>
      </p:sp>
      <p:sp>
        <p:nvSpPr>
          <p:cNvPr id="303" name="EvtH"/>
          <p:cNvSpPr txBox="1"/>
          <p:nvPr/>
        </p:nvSpPr>
        <p:spPr>
          <a:xfrm>
            <a:off x="2438400" y="4673600"/>
            <a:ext cx="13462000" cy="762000"/>
          </a:xfrm>
          <a:prstGeom prst="rect">
            <a:avLst/>
          </a:prstGeom>
          <a:noFill/>
        </p:spPr>
        <p:txBody>
          <a:bodyPr wrap="square" lIns="0" tIns="0" rIns="0" bIns="0">
            <a:noAutofit/>
          </a:bodyPr>
          <a:lstStyle/>
          <a:p>
            <a:pPr algn="l">
              <a:buNone/>
            </a:pPr>
            <a:r>
              <a:rPr lang="en-US" sz="3600" b="1">
                <a:solidFill>
                  <a:srgbClr val="5A5A5A"/>
                </a:solidFill>
                <a:latin typeface="NVIDIA Sans"/>
                <a:cs typeface="NVIDIA Sans"/>
              </a:rPr>
              <a:t>EVT/EFC today</a:t>
            </a:r>
          </a:p>
        </p:txBody>
      </p:sp>
      <p:sp>
        <p:nvSpPr>
          <p:cNvPr id="304" name="EvtB"/>
          <p:cNvSpPr txBox="1"/>
          <p:nvPr/>
        </p:nvSpPr>
        <p:spPr>
          <a:xfrm>
            <a:off x="2438400" y="5715000"/>
            <a:ext cx="13462000" cy="2286000"/>
          </a:xfrm>
          <a:prstGeom prst="rect">
            <a:avLst/>
          </a:prstGeom>
          <a:noFill/>
        </p:spPr>
        <p:txBody>
          <a:bodyPr wrap="square" lIns="0" tIns="0" rIns="0" bIns="0">
            <a:noAutofit/>
          </a:bodyPr>
          <a:lstStyle/>
          <a:p>
            <a:pPr marL="342900" indent="-342900">
              <a:lnSpc>
                <a:spcPts val="4000"/>
              </a:lnSpc>
              <a:spcBef>
                <a:spcPts val="400"/>
              </a:spcBef>
              <a:buFont typeface="Arial"/>
              <a:buChar char="•"/>
            </a:pPr>
            <a:r>
              <a:rPr lang="en-US" sz="3000">
                <a:solidFill>
                  <a:srgbClr val="5A5A5A"/>
                </a:solidFill>
                <a:latin typeface="NVIDIA Sans"/>
                <a:cs typeface="NVIDIA Sans"/>
              </a:rPr>
              <a:t>fusion at the epilogue</a:t>
            </a:r>
          </a:p>
          <a:p>
            <a:pPr marL="342900" indent="-342900">
              <a:lnSpc>
                <a:spcPts val="4000"/>
              </a:lnSpc>
              <a:spcBef>
                <a:spcPts val="400"/>
              </a:spcBef>
              <a:buFont typeface="Arial"/>
              <a:buChar char="•"/>
            </a:pPr>
            <a:r>
              <a:rPr lang="en-US" sz="3000">
                <a:solidFill>
                  <a:srgbClr val="5A5A5A"/>
                </a:solidFill>
                <a:latin typeface="NVIDIA Sans"/>
                <a:cs typeface="NVIDIA Sans"/>
              </a:rPr>
              <a:t>authored as a visitor tree</a:t>
            </a:r>
          </a:p>
        </p:txBody>
      </p:sp>
      <p:sp>
        <p:nvSpPr>
          <p:cNvPr id="307" name="UfcBg"/>
          <p:cNvSpPr/>
          <p:nvPr/>
        </p:nvSpPr>
        <p:spPr>
          <a:xfrm>
            <a:off x="20523200" y="4191000"/>
            <a:ext cx="14224000" cy="4064000"/>
          </a:xfrm>
          <a:prstGeom prst="roundRect">
            <a:avLst>
              <a:gd name="adj" fmla="val 8000"/>
            </a:avLst>
          </a:prstGeom>
          <a:solidFill>
            <a:srgbClr val="F1F8E6"/>
          </a:solidFill>
          <a:ln>
            <a:noFill/>
          </a:ln>
        </p:spPr>
        <p:txBody>
          <a:bodyPr/>
          <a:lstStyle/>
          <a:p>
            <a:endParaRPr/>
          </a:p>
        </p:txBody>
      </p:sp>
      <p:sp>
        <p:nvSpPr>
          <p:cNvPr id="308" name="UfcBar"/>
          <p:cNvSpPr/>
          <p:nvPr/>
        </p:nvSpPr>
        <p:spPr>
          <a:xfrm>
            <a:off x="20523200" y="4191000"/>
            <a:ext cx="127000" cy="4064000"/>
          </a:xfrm>
          <a:prstGeom prst="rect">
            <a:avLst/>
          </a:prstGeom>
          <a:solidFill>
            <a:srgbClr val="76B900"/>
          </a:solidFill>
          <a:ln>
            <a:noFill/>
          </a:ln>
        </p:spPr>
        <p:txBody>
          <a:bodyPr/>
          <a:lstStyle/>
          <a:p>
            <a:endParaRPr/>
          </a:p>
        </p:txBody>
      </p:sp>
      <p:sp>
        <p:nvSpPr>
          <p:cNvPr id="309" name="UfcH"/>
          <p:cNvSpPr txBox="1"/>
          <p:nvPr/>
        </p:nvSpPr>
        <p:spPr>
          <a:xfrm>
            <a:off x="21132800" y="4673600"/>
            <a:ext cx="12954000" cy="762000"/>
          </a:xfrm>
          <a:prstGeom prst="rect">
            <a:avLst/>
          </a:prstGeom>
          <a:noFill/>
        </p:spPr>
        <p:txBody>
          <a:bodyPr wrap="square" lIns="0" tIns="0" rIns="0" bIns="0">
            <a:noAutofit/>
          </a:bodyPr>
          <a:lstStyle/>
          <a:p>
            <a:pPr algn="l">
              <a:buNone/>
            </a:pPr>
            <a:r>
              <a:rPr lang="en-US" sz="3600" b="1">
                <a:solidFill>
                  <a:srgbClr val="4A7C00"/>
                </a:solidFill>
                <a:latin typeface="NVIDIA Sans"/>
                <a:cs typeface="NVIDIA Sans"/>
              </a:rPr>
              <a:t>UFC</a:t>
            </a:r>
          </a:p>
        </p:txBody>
      </p:sp>
      <p:sp>
        <p:nvSpPr>
          <p:cNvPr id="310" name="UfcB"/>
          <p:cNvSpPr txBox="1"/>
          <p:nvPr/>
        </p:nvSpPr>
        <p:spPr>
          <a:xfrm>
            <a:off x="21132800" y="5715000"/>
            <a:ext cx="12954000" cy="3175000"/>
          </a:xfrm>
          <a:prstGeom prst="rect">
            <a:avLst/>
          </a:prstGeom>
          <a:noFill/>
        </p:spPr>
        <p:txBody>
          <a:bodyPr wrap="square" lIns="0" tIns="0" rIns="0" bIns="0">
            <a:noAutofit/>
          </a:bodyPr>
          <a:lstStyle/>
          <a:p>
            <a:pPr marL="342900" indent="-342900">
              <a:lnSpc>
                <a:spcPts val="4000"/>
              </a:lnSpc>
              <a:spcBef>
                <a:spcPts val="400"/>
              </a:spcBef>
              <a:buFont typeface="Arial"/>
              <a:buChar char="•"/>
            </a:pPr>
            <a:r>
              <a:rPr lang="en-US" sz="3000">
                <a:solidFill>
                  <a:srgbClr val="313131"/>
                </a:solidFill>
                <a:latin typeface="NVIDIA Sans"/>
                <a:cs typeface="NVIDIA Sans"/>
              </a:rPr>
              <a:t>sites anywhere: prologue, between, epilogue</a:t>
            </a:r>
          </a:p>
          <a:p>
            <a:pPr marL="342900" indent="-342900">
              <a:lnSpc>
                <a:spcPts val="4000"/>
              </a:lnSpc>
              <a:spcBef>
                <a:spcPts val="400"/>
              </a:spcBef>
              <a:buFont typeface="Arial"/>
              <a:buChar char="•"/>
            </a:pPr>
            <a:r>
              <a:rPr lang="en-US" sz="3000">
                <a:solidFill>
                  <a:srgbClr val="313131"/>
                </a:solidFill>
                <a:latin typeface="NVIDIA Sans"/>
                <a:cs typeface="NVIDIA Sans"/>
              </a:rPr>
              <a:t>hooks are plain Python, chained across kernels</a:t>
            </a:r>
          </a:p>
          <a:p>
            <a:pPr marL="342900" indent="-342900">
              <a:lnSpc>
                <a:spcPts val="4000"/>
              </a:lnSpc>
              <a:spcBef>
                <a:spcPts val="400"/>
              </a:spcBef>
              <a:buFont typeface="Arial"/>
              <a:buChar char="•"/>
            </a:pPr>
            <a:r>
              <a:rPr lang="en-US" sz="3000">
                <a:solidFill>
                  <a:srgbClr val="313131"/>
                </a:solidFill>
                <a:latin typeface="NVIDIA Sans"/>
                <a:cs typeface="NVIDIA Sans"/>
              </a:rPr>
              <a:t>bind nothing and the kernel compiles as if UFC were not there</a:t>
            </a:r>
          </a:p>
        </p:txBody>
      </p:sp>
      <p:sp>
        <p:nvSpPr>
          <p:cNvPr id="529" name="SiteCap"/>
          <p:cNvSpPr txBox="1"/>
          <p:nvPr/>
        </p:nvSpPr>
        <p:spPr>
          <a:xfrm>
            <a:off x="1828800" y="16510000"/>
            <a:ext cx="32918400" cy="635000"/>
          </a:xfrm>
          <a:prstGeom prst="rect">
            <a:avLst/>
          </a:prstGeom>
          <a:noFill/>
        </p:spPr>
        <p:txBody>
          <a:bodyPr wrap="square" lIns="0" tIns="0" rIns="0" bIns="0">
            <a:noAutofit/>
          </a:bodyPr>
          <a:lstStyle/>
          <a:p>
            <a:pPr algn="ctr">
              <a:buNone/>
            </a:pPr>
            <a:r>
              <a:rPr lang="en-US" sz="3000" b="1">
                <a:solidFill>
                  <a:srgbClr val="4A7C00"/>
                </a:solidFill>
                <a:latin typeface="NVIDIA Sans"/>
                <a:cs typeface="NVIDIA Sans"/>
              </a:rPr>
              <a:t>Every green box is a site: a named place in the kernel where a hook binds.</a:t>
            </a:r>
          </a:p>
        </p:txBody>
      </p:sp>
      <p:sp>
        <p:nvSpPr>
          <p:cNvPr id="700" name="SnipBg0"/>
          <p:cNvSpPr/>
          <p:nvPr/>
        </p:nvSpPr>
        <p:spPr>
          <a:xfrm>
            <a:off x="1828800" y="17272000"/>
            <a:ext cx="10515600" cy="1651000"/>
          </a:xfrm>
          <a:prstGeom prst="roundRect">
            <a:avLst>
              <a:gd name="adj" fmla="val 8000"/>
            </a:avLst>
          </a:prstGeom>
          <a:solidFill>
            <a:srgbClr val="F7F7F7"/>
          </a:solidFill>
          <a:ln w="19050">
            <a:solidFill>
              <a:srgbClr val="D8E9BC"/>
            </a:solidFill>
          </a:ln>
        </p:spPr>
        <p:txBody>
          <a:bodyPr/>
          <a:lstStyle/>
          <a:p>
            <a:endParaRPr/>
          </a:p>
        </p:txBody>
      </p:sp>
      <p:sp>
        <p:nvSpPr>
          <p:cNvPr id="701" name="SnipH0"/>
          <p:cNvSpPr txBox="1"/>
          <p:nvPr/>
        </p:nvSpPr>
        <p:spPr>
          <a:xfrm>
            <a:off x="2184400" y="17500600"/>
            <a:ext cx="9804400" cy="508000"/>
          </a:xfrm>
          <a:prstGeom prst="rect">
            <a:avLst/>
          </a:prstGeom>
          <a:noFill/>
        </p:spPr>
        <p:txBody>
          <a:bodyPr wrap="square" lIns="0" tIns="0" rIns="0" bIns="0">
            <a:noAutofit/>
          </a:bodyPr>
          <a:lstStyle/>
          <a:p>
            <a:pPr>
              <a:lnSpc>
                <a:spcPts val="2900"/>
              </a:lnSpc>
              <a:buNone/>
            </a:pPr>
            <a:r>
              <a:rPr lang="en-US" sz="2400" b="1">
                <a:solidFill>
                  <a:srgbClr val="4A7C00"/>
                </a:solidFill>
                <a:latin typeface="Roboto Mono"/>
                <a:ea typeface="Roboto Mono"/>
                <a:cs typeface="Consolas"/>
              </a:rPr>
              <a:t>prologue_a</a:t>
            </a:r>
          </a:p>
        </p:txBody>
      </p:sp>
      <p:sp>
        <p:nvSpPr>
          <p:cNvPr id="702" name="SnipC0"/>
          <p:cNvSpPr txBox="1"/>
          <p:nvPr/>
        </p:nvSpPr>
        <p:spPr>
          <a:xfrm>
            <a:off x="2184400" y="18008600"/>
            <a:ext cx="9804400" cy="889000"/>
          </a:xfrm>
          <a:prstGeom prst="rect">
            <a:avLst/>
          </a:prstGeom>
          <a:noFill/>
        </p:spPr>
        <p:txBody>
          <a:bodyPr wrap="square" lIns="0" tIns="0" rIns="0" bIns="0">
            <a:noAutofit/>
          </a:bodyPr>
          <a:lstStyle/>
          <a:p>
            <a:pPr>
              <a:lnSpc>
                <a:spcPts val="2900"/>
              </a:lnSpc>
              <a:buNone/>
            </a:pPr>
            <a:r>
              <a:rPr lang="en-US" sz="2200">
                <a:solidFill>
                  <a:srgbClr val="111114"/>
                </a:solidFill>
                <a:latin typeface="Roboto Mono"/>
                <a:ea typeface="Roboto Mono"/>
                <a:cs typeface="Consolas"/>
              </a:rPr>
              <a:t>def dequant_a(ctx, a):</a:t>
            </a:r>
          </a:p>
          <a:p>
            <a:pPr>
              <a:lnSpc>
                <a:spcPts val="2900"/>
              </a:lnSpc>
              <a:buNone/>
            </a:pPr>
            <a:r>
              <a:rPr lang="en-US" sz="2200">
                <a:solidFill>
                  <a:srgbClr val="111114"/>
                </a:solidFill>
                <a:latin typeface="Roboto Mono"/>
                <a:ea typeface="Roboto Mono"/>
                <a:cs typeface="Consolas"/>
              </a:rPr>
              <a:t>    return a * ctx.operand("scale_a", bcast="row")</a:t>
            </a:r>
          </a:p>
        </p:txBody>
      </p:sp>
      <p:sp>
        <p:nvSpPr>
          <p:cNvPr id="703" name="SnipBg1"/>
          <p:cNvSpPr/>
          <p:nvPr/>
        </p:nvSpPr>
        <p:spPr>
          <a:xfrm>
            <a:off x="13030200" y="17272000"/>
            <a:ext cx="10515600" cy="1651000"/>
          </a:xfrm>
          <a:prstGeom prst="roundRect">
            <a:avLst>
              <a:gd name="adj" fmla="val 8000"/>
            </a:avLst>
          </a:prstGeom>
          <a:solidFill>
            <a:srgbClr val="F7F7F7"/>
          </a:solidFill>
          <a:ln w="19050">
            <a:solidFill>
              <a:srgbClr val="D8E9BC"/>
            </a:solidFill>
          </a:ln>
        </p:spPr>
        <p:txBody>
          <a:bodyPr/>
          <a:lstStyle/>
          <a:p>
            <a:endParaRPr/>
          </a:p>
        </p:txBody>
      </p:sp>
      <p:sp>
        <p:nvSpPr>
          <p:cNvPr id="704" name="SnipH1"/>
          <p:cNvSpPr txBox="1"/>
          <p:nvPr/>
        </p:nvSpPr>
        <p:spPr>
          <a:xfrm>
            <a:off x="13385800" y="17500600"/>
            <a:ext cx="9804400" cy="508000"/>
          </a:xfrm>
          <a:prstGeom prst="rect">
            <a:avLst/>
          </a:prstGeom>
          <a:noFill/>
        </p:spPr>
        <p:txBody>
          <a:bodyPr wrap="square" lIns="0" tIns="0" rIns="0" bIns="0">
            <a:noAutofit/>
          </a:bodyPr>
          <a:lstStyle/>
          <a:p>
            <a:pPr>
              <a:lnSpc>
                <a:spcPts val="2900"/>
              </a:lnSpc>
              <a:buNone/>
            </a:pPr>
            <a:r>
              <a:rPr lang="en-US" sz="2400" b="1">
                <a:solidFill>
                  <a:srgbClr val="4A7C00"/>
                </a:solidFill>
                <a:latin typeface="Roboto Mono"/>
                <a:ea typeface="Roboto Mono"/>
                <a:cs typeface="Consolas"/>
              </a:rPr>
              <a:t>between</a:t>
            </a:r>
          </a:p>
        </p:txBody>
      </p:sp>
      <p:sp>
        <p:nvSpPr>
          <p:cNvPr id="705" name="SnipC1"/>
          <p:cNvSpPr txBox="1"/>
          <p:nvPr/>
        </p:nvSpPr>
        <p:spPr>
          <a:xfrm>
            <a:off x="13385800" y="18008600"/>
            <a:ext cx="9804400" cy="889000"/>
          </a:xfrm>
          <a:prstGeom prst="rect">
            <a:avLst/>
          </a:prstGeom>
          <a:noFill/>
        </p:spPr>
        <p:txBody>
          <a:bodyPr wrap="square" lIns="0" tIns="0" rIns="0" bIns="0">
            <a:noAutofit/>
          </a:bodyPr>
          <a:lstStyle/>
          <a:p>
            <a:pPr>
              <a:lnSpc>
                <a:spcPts val="2900"/>
              </a:lnSpc>
              <a:buNone/>
            </a:pPr>
            <a:r>
              <a:rPr lang="en-US" sz="2200">
                <a:solidFill>
                  <a:srgbClr val="111114"/>
                </a:solidFill>
                <a:latin typeface="Roboto Mono"/>
                <a:ea typeface="Roboto Mono"/>
                <a:cs typeface="Consolas"/>
              </a:rPr>
              <a:t>def gelu_mid(ctx, t):</a:t>
            </a:r>
          </a:p>
          <a:p>
            <a:pPr>
              <a:lnSpc>
                <a:spcPts val="2900"/>
              </a:lnSpc>
              <a:buNone/>
            </a:pPr>
            <a:r>
              <a:rPr lang="en-US" sz="2200">
                <a:solidFill>
                  <a:srgbClr val="111114"/>
                </a:solidFill>
                <a:latin typeface="Roboto Mono"/>
                <a:ea typeface="Roboto Mono"/>
                <a:cs typeface="Consolas"/>
              </a:rPr>
              <a:t>    return gelu(t)</a:t>
            </a:r>
            <a:r>
              <a:rPr lang="en-US" sz="2200">
                <a:solidFill>
                  <a:srgbClr val="7A7A7A"/>
                </a:solidFill>
                <a:latin typeface="Roboto Mono"/>
                <a:ea typeface="Roboto Mono"/>
                <a:cs typeface="Consolas"/>
              </a:rPr>
              <a:t>   # the activation</a:t>
            </a:r>
          </a:p>
        </p:txBody>
      </p:sp>
      <p:sp>
        <p:nvSpPr>
          <p:cNvPr id="706" name="SnipBg2"/>
          <p:cNvSpPr/>
          <p:nvPr/>
        </p:nvSpPr>
        <p:spPr>
          <a:xfrm>
            <a:off x="24231600" y="17272000"/>
            <a:ext cx="10515600" cy="1651000"/>
          </a:xfrm>
          <a:prstGeom prst="roundRect">
            <a:avLst>
              <a:gd name="adj" fmla="val 8000"/>
            </a:avLst>
          </a:prstGeom>
          <a:solidFill>
            <a:srgbClr val="F7F7F7"/>
          </a:solidFill>
          <a:ln w="19050">
            <a:solidFill>
              <a:srgbClr val="D8E9BC"/>
            </a:solidFill>
          </a:ln>
        </p:spPr>
        <p:txBody>
          <a:bodyPr/>
          <a:lstStyle/>
          <a:p>
            <a:endParaRPr/>
          </a:p>
        </p:txBody>
      </p:sp>
      <p:sp>
        <p:nvSpPr>
          <p:cNvPr id="707" name="SnipH2"/>
          <p:cNvSpPr txBox="1"/>
          <p:nvPr/>
        </p:nvSpPr>
        <p:spPr>
          <a:xfrm>
            <a:off x="24587200" y="17500600"/>
            <a:ext cx="9804400" cy="508000"/>
          </a:xfrm>
          <a:prstGeom prst="rect">
            <a:avLst/>
          </a:prstGeom>
          <a:noFill/>
        </p:spPr>
        <p:txBody>
          <a:bodyPr wrap="square" lIns="0" tIns="0" rIns="0" bIns="0">
            <a:noAutofit/>
          </a:bodyPr>
          <a:lstStyle/>
          <a:p>
            <a:pPr>
              <a:lnSpc>
                <a:spcPts val="2900"/>
              </a:lnSpc>
              <a:buNone/>
            </a:pPr>
            <a:r>
              <a:rPr lang="en-US" sz="2400" b="1">
                <a:solidFill>
                  <a:srgbClr val="4A7C00"/>
                </a:solidFill>
                <a:latin typeface="Roboto Mono"/>
                <a:ea typeface="Roboto Mono"/>
                <a:cs typeface="Consolas"/>
              </a:rPr>
              <a:t>epilogue</a:t>
            </a:r>
          </a:p>
        </p:txBody>
      </p:sp>
      <p:sp>
        <p:nvSpPr>
          <p:cNvPr id="708" name="SnipC2"/>
          <p:cNvSpPr txBox="1"/>
          <p:nvPr/>
        </p:nvSpPr>
        <p:spPr>
          <a:xfrm>
            <a:off x="24587200" y="18008600"/>
            <a:ext cx="9804400" cy="889000"/>
          </a:xfrm>
          <a:prstGeom prst="rect">
            <a:avLst/>
          </a:prstGeom>
          <a:noFill/>
        </p:spPr>
        <p:txBody>
          <a:bodyPr wrap="square" lIns="0" tIns="0" rIns="0" bIns="0">
            <a:noAutofit/>
          </a:bodyPr>
          <a:lstStyle/>
          <a:p>
            <a:pPr>
              <a:lnSpc>
                <a:spcPts val="2900"/>
              </a:lnSpc>
              <a:buNone/>
            </a:pPr>
            <a:r>
              <a:rPr lang="en-US" sz="2200">
                <a:solidFill>
                  <a:srgbClr val="111114"/>
                </a:solidFill>
                <a:latin typeface="Roboto Mono"/>
                <a:ea typeface="Roboto Mono"/>
                <a:cs typeface="Consolas"/>
              </a:rPr>
              <a:t>def bias_out(ctx, acc):</a:t>
            </a:r>
          </a:p>
          <a:p>
            <a:pPr>
              <a:lnSpc>
                <a:spcPts val="2900"/>
              </a:lnSpc>
              <a:buNone/>
            </a:pPr>
            <a:r>
              <a:rPr lang="en-US" sz="2200">
                <a:solidFill>
                  <a:srgbClr val="111114"/>
                </a:solidFill>
                <a:latin typeface="Roboto Mono"/>
                <a:ea typeface="Roboto Mono"/>
                <a:cs typeface="Consolas"/>
              </a:rPr>
              <a:t>    ctx.write("d", acc + ctx.operand("bias", bcast="row"))</a:t>
            </a:r>
          </a:p>
        </p:txBody>
      </p:sp>
      <p:sp>
        <p:nvSpPr>
          <p:cNvPr id="810" name="EvtUfcArrow"/>
          <p:cNvSpPr/>
          <p:nvPr/>
        </p:nvSpPr>
        <p:spPr>
          <a:xfrm>
            <a:off x="16941800" y="5778500"/>
            <a:ext cx="3200400" cy="889000"/>
          </a:xfrm>
          <a:prstGeom prst="rightArrow">
            <a:avLst>
              <a:gd name="adj1" fmla="val 45000"/>
              <a:gd name="adj2" fmla="val 55000"/>
            </a:avLst>
          </a:prstGeom>
          <a:solidFill>
            <a:srgbClr val="76B900"/>
          </a:solidFill>
          <a:ln>
            <a:noFill/>
          </a:ln>
        </p:spPr>
        <p:txBody>
          <a:bodyPr/>
          <a:lstStyle/>
          <a:p>
            <a:endParaRPr/>
          </a:p>
        </p:txBody>
      </p:sp>
      <p:sp>
        <p:nvSpPr>
          <p:cNvPr id="920" name="Dag_0"/>
          <p:cNvSpPr/>
          <p:nvPr/>
        </p:nvSpPr>
        <p:spPr>
          <a:xfrm>
            <a:off x="1828800" y="13347700"/>
            <a:ext cx="1524000" cy="1117600"/>
          </a:xfrm>
          <a:prstGeom prst="roundRect">
            <a:avLst>
              <a:gd name="adj" fmla="val 10000"/>
            </a:avLst>
          </a:prstGeom>
          <a:solidFill>
            <a:srgbClr val="F1F1F1"/>
          </a:solidFill>
          <a:ln>
            <a:noFill/>
          </a:ln>
        </p:spPr>
        <p:txBody>
          <a:bodyPr/>
          <a:lstStyle/>
          <a:p>
            <a:endParaRPr/>
          </a:p>
        </p:txBody>
      </p:sp>
      <p:sp>
        <p:nvSpPr>
          <p:cNvPr id="921" name="DagT_0"/>
          <p:cNvSpPr txBox="1"/>
          <p:nvPr/>
        </p:nvSpPr>
        <p:spPr>
          <a:xfrm>
            <a:off x="1828800" y="13677900"/>
            <a:ext cx="1524000" cy="762000"/>
          </a:xfrm>
          <a:prstGeom prst="rect">
            <a:avLst/>
          </a:prstGeom>
          <a:noFill/>
        </p:spPr>
        <p:txBody>
          <a:bodyPr wrap="square" lIns="0" tIns="0" rIns="0" bIns="0">
            <a:noAutofit/>
          </a:bodyPr>
          <a:lstStyle/>
          <a:p>
            <a:pPr algn="ctr">
              <a:lnSpc>
                <a:spcPts val="3450"/>
              </a:lnSpc>
              <a:buNone/>
            </a:pPr>
            <a:r>
              <a:rPr lang="en-US" sz="3000" b="1">
                <a:solidFill>
                  <a:srgbClr val="313131"/>
                </a:solidFill>
                <a:latin typeface="NVIDIA Sans"/>
                <a:cs typeface="NVIDIA Sans"/>
              </a:rPr>
              <a:t>a</a:t>
            </a:r>
          </a:p>
        </p:txBody>
      </p:sp>
      <p:sp>
        <p:nvSpPr>
          <p:cNvPr id="922" name="DagArr_0"/>
          <p:cNvSpPr/>
          <p:nvPr/>
        </p:nvSpPr>
        <p:spPr>
          <a:xfrm>
            <a:off x="3530600" y="13741400"/>
            <a:ext cx="1651000" cy="330200"/>
          </a:xfrm>
          <a:prstGeom prst="rightArrow">
            <a:avLst>
              <a:gd name="adj1" fmla="val 45000"/>
              <a:gd name="adj2" fmla="val 62000"/>
            </a:avLst>
          </a:prstGeom>
          <a:solidFill>
            <a:srgbClr val="B5B5B5"/>
          </a:solidFill>
          <a:ln>
            <a:noFill/>
          </a:ln>
        </p:spPr>
        <p:txBody>
          <a:bodyPr/>
          <a:lstStyle/>
          <a:p>
            <a:endParaRPr/>
          </a:p>
        </p:txBody>
      </p:sp>
      <p:sp>
        <p:nvSpPr>
          <p:cNvPr id="923" name="Dag_1"/>
          <p:cNvSpPr/>
          <p:nvPr/>
        </p:nvSpPr>
        <p:spPr>
          <a:xfrm>
            <a:off x="5359400" y="13347700"/>
            <a:ext cx="3810000" cy="1117600"/>
          </a:xfrm>
          <a:prstGeom prst="roundRect">
            <a:avLst>
              <a:gd name="adj" fmla="val 10000"/>
            </a:avLst>
          </a:prstGeom>
          <a:solidFill>
            <a:srgbClr val="FFFFFF"/>
          </a:solidFill>
          <a:ln w="50800">
            <a:solidFill>
              <a:srgbClr val="76B900"/>
            </a:solidFill>
          </a:ln>
        </p:spPr>
        <p:txBody>
          <a:bodyPr/>
          <a:lstStyle/>
          <a:p>
            <a:endParaRPr/>
          </a:p>
        </p:txBody>
      </p:sp>
      <p:sp>
        <p:nvSpPr>
          <p:cNvPr id="924" name="DagT_1"/>
          <p:cNvSpPr txBox="1"/>
          <p:nvPr/>
        </p:nvSpPr>
        <p:spPr>
          <a:xfrm>
            <a:off x="5359400" y="13677900"/>
            <a:ext cx="3810000" cy="762000"/>
          </a:xfrm>
          <a:prstGeom prst="rect">
            <a:avLst/>
          </a:prstGeom>
          <a:noFill/>
        </p:spPr>
        <p:txBody>
          <a:bodyPr wrap="square" lIns="0" tIns="0" rIns="0" bIns="0">
            <a:noAutofit/>
          </a:bodyPr>
          <a:lstStyle/>
          <a:p>
            <a:pPr algn="ctr">
              <a:lnSpc>
                <a:spcPts val="2990"/>
              </a:lnSpc>
              <a:buNone/>
            </a:pPr>
            <a:r>
              <a:rPr lang="en-US" sz="2600" b="1">
                <a:solidFill>
                  <a:srgbClr val="4A7C00"/>
                </a:solidFill>
                <a:latin typeface="Roboto Mono"/>
                <a:ea typeface="Roboto Mono"/>
                <a:cs typeface="Consolas"/>
              </a:rPr>
              <a:t>“</a:t>
            </a:r>
            <a:r>
              <a:rPr lang="en-US" sz="2600" b="1" err="1">
                <a:solidFill>
                  <a:srgbClr val="4A7C00"/>
                </a:solidFill>
                <a:latin typeface="Roboto Mono"/>
                <a:ea typeface="Roboto Mono"/>
                <a:cs typeface="Consolas"/>
              </a:rPr>
              <a:t>prologue_a</a:t>
            </a:r>
            <a:r>
              <a:rPr lang="en-US" sz="2600" b="1">
                <a:solidFill>
                  <a:srgbClr val="4A7C00"/>
                </a:solidFill>
                <a:latin typeface="Roboto Mono"/>
                <a:ea typeface="Roboto Mono"/>
                <a:cs typeface="Consolas"/>
              </a:rPr>
              <a:t>”</a:t>
            </a:r>
          </a:p>
        </p:txBody>
      </p:sp>
      <p:sp>
        <p:nvSpPr>
          <p:cNvPr id="925" name="DagArr_1"/>
          <p:cNvSpPr/>
          <p:nvPr/>
        </p:nvSpPr>
        <p:spPr>
          <a:xfrm>
            <a:off x="9347200" y="13741400"/>
            <a:ext cx="1651000" cy="330200"/>
          </a:xfrm>
          <a:prstGeom prst="rightArrow">
            <a:avLst>
              <a:gd name="adj1" fmla="val 45000"/>
              <a:gd name="adj2" fmla="val 62000"/>
            </a:avLst>
          </a:prstGeom>
          <a:solidFill>
            <a:srgbClr val="B5B5B5"/>
          </a:solidFill>
          <a:ln>
            <a:noFill/>
          </a:ln>
        </p:spPr>
        <p:txBody>
          <a:bodyPr/>
          <a:lstStyle/>
          <a:p>
            <a:endParaRPr/>
          </a:p>
        </p:txBody>
      </p:sp>
      <p:sp>
        <p:nvSpPr>
          <p:cNvPr id="926" name="Dag_2"/>
          <p:cNvSpPr/>
          <p:nvPr/>
        </p:nvSpPr>
        <p:spPr>
          <a:xfrm>
            <a:off x="11176000" y="13208000"/>
            <a:ext cx="3302000" cy="1397000"/>
          </a:xfrm>
          <a:prstGeom prst="roundRect">
            <a:avLst>
              <a:gd name="adj" fmla="val 10000"/>
            </a:avLst>
          </a:prstGeom>
          <a:solidFill>
            <a:srgbClr val="111114"/>
          </a:solidFill>
          <a:ln>
            <a:noFill/>
          </a:ln>
        </p:spPr>
        <p:txBody>
          <a:bodyPr/>
          <a:lstStyle/>
          <a:p>
            <a:endParaRPr/>
          </a:p>
        </p:txBody>
      </p:sp>
      <p:sp>
        <p:nvSpPr>
          <p:cNvPr id="927" name="DagT_2"/>
          <p:cNvSpPr txBox="1"/>
          <p:nvPr/>
        </p:nvSpPr>
        <p:spPr>
          <a:xfrm>
            <a:off x="11176000" y="13411200"/>
            <a:ext cx="3302000" cy="1066800"/>
          </a:xfrm>
          <a:prstGeom prst="rect">
            <a:avLst/>
          </a:prstGeom>
          <a:noFill/>
        </p:spPr>
        <p:txBody>
          <a:bodyPr wrap="square" lIns="0" tIns="0" rIns="0" bIns="0">
            <a:noAutofit/>
          </a:bodyPr>
          <a:lstStyle/>
          <a:p>
            <a:pPr algn="ctr">
              <a:lnSpc>
                <a:spcPts val="3220"/>
              </a:lnSpc>
              <a:buNone/>
            </a:pPr>
            <a:r>
              <a:rPr lang="en-US" sz="2800" b="1">
                <a:solidFill>
                  <a:srgbClr val="FFFFFF"/>
                </a:solidFill>
                <a:latin typeface="NVIDIA Sans"/>
                <a:cs typeface="NVIDIA Sans"/>
              </a:rPr>
              <a:t>GEMM₁</a:t>
            </a:r>
          </a:p>
          <a:p>
            <a:pPr algn="ctr">
              <a:lnSpc>
                <a:spcPts val="2530"/>
              </a:lnSpc>
              <a:buNone/>
            </a:pPr>
            <a:r>
              <a:rPr lang="en-US" sz="2200">
                <a:solidFill>
                  <a:srgbClr val="9BD64A"/>
                </a:solidFill>
                <a:latin typeface="Roboto Mono"/>
                <a:ea typeface="Roboto Mono"/>
                <a:cs typeface="Consolas"/>
              </a:rPr>
              <a:t>a × b</a:t>
            </a:r>
          </a:p>
        </p:txBody>
      </p:sp>
      <p:sp>
        <p:nvSpPr>
          <p:cNvPr id="928" name="DagArr_2"/>
          <p:cNvSpPr/>
          <p:nvPr/>
        </p:nvSpPr>
        <p:spPr>
          <a:xfrm>
            <a:off x="14655800" y="13741400"/>
            <a:ext cx="1651000" cy="330200"/>
          </a:xfrm>
          <a:prstGeom prst="rightArrow">
            <a:avLst>
              <a:gd name="adj1" fmla="val 45000"/>
              <a:gd name="adj2" fmla="val 62000"/>
            </a:avLst>
          </a:prstGeom>
          <a:solidFill>
            <a:srgbClr val="B5B5B5"/>
          </a:solidFill>
          <a:ln>
            <a:noFill/>
          </a:ln>
        </p:spPr>
        <p:txBody>
          <a:bodyPr/>
          <a:lstStyle/>
          <a:p>
            <a:endParaRPr/>
          </a:p>
        </p:txBody>
      </p:sp>
      <p:sp>
        <p:nvSpPr>
          <p:cNvPr id="929" name="Dag_3"/>
          <p:cNvSpPr/>
          <p:nvPr/>
        </p:nvSpPr>
        <p:spPr>
          <a:xfrm>
            <a:off x="16484600" y="13347700"/>
            <a:ext cx="3556000" cy="1117600"/>
          </a:xfrm>
          <a:prstGeom prst="roundRect">
            <a:avLst>
              <a:gd name="adj" fmla="val 10000"/>
            </a:avLst>
          </a:prstGeom>
          <a:solidFill>
            <a:srgbClr val="FFFFFF"/>
          </a:solidFill>
          <a:ln w="50800">
            <a:solidFill>
              <a:srgbClr val="76B900"/>
            </a:solidFill>
          </a:ln>
        </p:spPr>
        <p:txBody>
          <a:bodyPr/>
          <a:lstStyle/>
          <a:p>
            <a:endParaRPr/>
          </a:p>
        </p:txBody>
      </p:sp>
      <p:sp>
        <p:nvSpPr>
          <p:cNvPr id="930" name="DagT_3"/>
          <p:cNvSpPr txBox="1"/>
          <p:nvPr/>
        </p:nvSpPr>
        <p:spPr>
          <a:xfrm>
            <a:off x="16484600" y="13677900"/>
            <a:ext cx="3556000" cy="762000"/>
          </a:xfrm>
          <a:prstGeom prst="rect">
            <a:avLst/>
          </a:prstGeom>
          <a:noFill/>
        </p:spPr>
        <p:txBody>
          <a:bodyPr wrap="square" lIns="0" tIns="0" rIns="0" bIns="0">
            <a:noAutofit/>
          </a:bodyPr>
          <a:lstStyle/>
          <a:p>
            <a:pPr algn="ctr">
              <a:lnSpc>
                <a:spcPts val="2990"/>
              </a:lnSpc>
              <a:buNone/>
            </a:pPr>
            <a:r>
              <a:rPr lang="en-US" sz="2600" b="1">
                <a:solidFill>
                  <a:srgbClr val="4A7C00"/>
                </a:solidFill>
                <a:latin typeface="Roboto Mono"/>
                <a:ea typeface="Roboto Mono"/>
                <a:cs typeface="Consolas"/>
              </a:rPr>
              <a:t>“between”</a:t>
            </a:r>
          </a:p>
        </p:txBody>
      </p:sp>
      <p:sp>
        <p:nvSpPr>
          <p:cNvPr id="931" name="DagArr_3"/>
          <p:cNvSpPr/>
          <p:nvPr/>
        </p:nvSpPr>
        <p:spPr>
          <a:xfrm>
            <a:off x="20218400" y="13741400"/>
            <a:ext cx="1651000" cy="330200"/>
          </a:xfrm>
          <a:prstGeom prst="rightArrow">
            <a:avLst>
              <a:gd name="adj1" fmla="val 45000"/>
              <a:gd name="adj2" fmla="val 62000"/>
            </a:avLst>
          </a:prstGeom>
          <a:solidFill>
            <a:srgbClr val="B5B5B5"/>
          </a:solidFill>
          <a:ln>
            <a:noFill/>
          </a:ln>
        </p:spPr>
        <p:txBody>
          <a:bodyPr/>
          <a:lstStyle/>
          <a:p>
            <a:endParaRPr/>
          </a:p>
        </p:txBody>
      </p:sp>
      <p:sp>
        <p:nvSpPr>
          <p:cNvPr id="932" name="Dag_4"/>
          <p:cNvSpPr/>
          <p:nvPr/>
        </p:nvSpPr>
        <p:spPr>
          <a:xfrm>
            <a:off x="22047200" y="13208000"/>
            <a:ext cx="3302000" cy="1397000"/>
          </a:xfrm>
          <a:prstGeom prst="roundRect">
            <a:avLst>
              <a:gd name="adj" fmla="val 10000"/>
            </a:avLst>
          </a:prstGeom>
          <a:solidFill>
            <a:srgbClr val="111114"/>
          </a:solidFill>
          <a:ln>
            <a:noFill/>
          </a:ln>
        </p:spPr>
        <p:txBody>
          <a:bodyPr/>
          <a:lstStyle/>
          <a:p>
            <a:endParaRPr/>
          </a:p>
        </p:txBody>
      </p:sp>
      <p:sp>
        <p:nvSpPr>
          <p:cNvPr id="933" name="DagT_4"/>
          <p:cNvSpPr txBox="1"/>
          <p:nvPr/>
        </p:nvSpPr>
        <p:spPr>
          <a:xfrm>
            <a:off x="22047200" y="13411200"/>
            <a:ext cx="3302000" cy="1066800"/>
          </a:xfrm>
          <a:prstGeom prst="rect">
            <a:avLst/>
          </a:prstGeom>
          <a:noFill/>
        </p:spPr>
        <p:txBody>
          <a:bodyPr wrap="square" lIns="0" tIns="0" rIns="0" bIns="0">
            <a:noAutofit/>
          </a:bodyPr>
          <a:lstStyle/>
          <a:p>
            <a:pPr algn="ctr">
              <a:lnSpc>
                <a:spcPts val="3220"/>
              </a:lnSpc>
              <a:buNone/>
            </a:pPr>
            <a:r>
              <a:rPr lang="en-US" sz="2800" b="1">
                <a:solidFill>
                  <a:srgbClr val="FFFFFF"/>
                </a:solidFill>
                <a:latin typeface="NVIDIA Sans"/>
                <a:cs typeface="NVIDIA Sans"/>
              </a:rPr>
              <a:t>GEMM₂</a:t>
            </a:r>
          </a:p>
          <a:p>
            <a:pPr algn="ctr">
              <a:lnSpc>
                <a:spcPts val="2530"/>
              </a:lnSpc>
              <a:buNone/>
            </a:pPr>
            <a:r>
              <a:rPr lang="en-US" sz="2200">
                <a:solidFill>
                  <a:srgbClr val="9BD64A"/>
                </a:solidFill>
                <a:latin typeface="Roboto Mono"/>
                <a:ea typeface="Roboto Mono"/>
                <a:cs typeface="Consolas"/>
              </a:rPr>
              <a:t>t × c</a:t>
            </a:r>
          </a:p>
        </p:txBody>
      </p:sp>
      <p:sp>
        <p:nvSpPr>
          <p:cNvPr id="934" name="DagArr_4"/>
          <p:cNvSpPr/>
          <p:nvPr/>
        </p:nvSpPr>
        <p:spPr>
          <a:xfrm>
            <a:off x="25527000" y="13741400"/>
            <a:ext cx="1651000" cy="330200"/>
          </a:xfrm>
          <a:prstGeom prst="rightArrow">
            <a:avLst>
              <a:gd name="adj1" fmla="val 45000"/>
              <a:gd name="adj2" fmla="val 62000"/>
            </a:avLst>
          </a:prstGeom>
          <a:solidFill>
            <a:srgbClr val="B5B5B5"/>
          </a:solidFill>
          <a:ln>
            <a:noFill/>
          </a:ln>
        </p:spPr>
        <p:txBody>
          <a:bodyPr/>
          <a:lstStyle/>
          <a:p>
            <a:endParaRPr/>
          </a:p>
        </p:txBody>
      </p:sp>
      <p:sp>
        <p:nvSpPr>
          <p:cNvPr id="935" name="Dag_5"/>
          <p:cNvSpPr/>
          <p:nvPr/>
        </p:nvSpPr>
        <p:spPr>
          <a:xfrm>
            <a:off x="27355800" y="13347700"/>
            <a:ext cx="3810000" cy="1117600"/>
          </a:xfrm>
          <a:prstGeom prst="roundRect">
            <a:avLst>
              <a:gd name="adj" fmla="val 10000"/>
            </a:avLst>
          </a:prstGeom>
          <a:solidFill>
            <a:srgbClr val="FFFFFF"/>
          </a:solidFill>
          <a:ln w="50800">
            <a:solidFill>
              <a:srgbClr val="76B900"/>
            </a:solidFill>
          </a:ln>
        </p:spPr>
        <p:txBody>
          <a:bodyPr/>
          <a:lstStyle/>
          <a:p>
            <a:endParaRPr/>
          </a:p>
        </p:txBody>
      </p:sp>
      <p:sp>
        <p:nvSpPr>
          <p:cNvPr id="936" name="DagT_5"/>
          <p:cNvSpPr txBox="1"/>
          <p:nvPr/>
        </p:nvSpPr>
        <p:spPr>
          <a:xfrm>
            <a:off x="27355800" y="13677900"/>
            <a:ext cx="3810000" cy="762000"/>
          </a:xfrm>
          <a:prstGeom prst="rect">
            <a:avLst/>
          </a:prstGeom>
          <a:noFill/>
        </p:spPr>
        <p:txBody>
          <a:bodyPr wrap="square" lIns="0" tIns="0" rIns="0" bIns="0">
            <a:noAutofit/>
          </a:bodyPr>
          <a:lstStyle/>
          <a:p>
            <a:pPr algn="ctr">
              <a:lnSpc>
                <a:spcPts val="2990"/>
              </a:lnSpc>
              <a:buNone/>
            </a:pPr>
            <a:r>
              <a:rPr lang="en-US" sz="2600" b="1">
                <a:solidFill>
                  <a:srgbClr val="4A7C00"/>
                </a:solidFill>
                <a:latin typeface="Roboto Mono"/>
                <a:ea typeface="Roboto Mono"/>
                <a:cs typeface="Consolas"/>
              </a:rPr>
              <a:t>“epilogue”</a:t>
            </a:r>
          </a:p>
        </p:txBody>
      </p:sp>
      <p:sp>
        <p:nvSpPr>
          <p:cNvPr id="937" name="DagArr_5"/>
          <p:cNvSpPr/>
          <p:nvPr/>
        </p:nvSpPr>
        <p:spPr>
          <a:xfrm>
            <a:off x="31343600" y="13741400"/>
            <a:ext cx="1651000" cy="330200"/>
          </a:xfrm>
          <a:prstGeom prst="rightArrow">
            <a:avLst>
              <a:gd name="adj1" fmla="val 45000"/>
              <a:gd name="adj2" fmla="val 62000"/>
            </a:avLst>
          </a:prstGeom>
          <a:solidFill>
            <a:srgbClr val="B5B5B5"/>
          </a:solidFill>
          <a:ln>
            <a:noFill/>
          </a:ln>
        </p:spPr>
        <p:txBody>
          <a:bodyPr/>
          <a:lstStyle/>
          <a:p>
            <a:endParaRPr/>
          </a:p>
        </p:txBody>
      </p:sp>
      <p:sp>
        <p:nvSpPr>
          <p:cNvPr id="938" name="Dag_6"/>
          <p:cNvSpPr/>
          <p:nvPr/>
        </p:nvSpPr>
        <p:spPr>
          <a:xfrm>
            <a:off x="33172400" y="13347700"/>
            <a:ext cx="1524000" cy="1117600"/>
          </a:xfrm>
          <a:prstGeom prst="roundRect">
            <a:avLst>
              <a:gd name="adj" fmla="val 10000"/>
            </a:avLst>
          </a:prstGeom>
          <a:solidFill>
            <a:srgbClr val="F1F1F1"/>
          </a:solidFill>
          <a:ln>
            <a:noFill/>
          </a:ln>
        </p:spPr>
        <p:txBody>
          <a:bodyPr/>
          <a:lstStyle/>
          <a:p>
            <a:endParaRPr/>
          </a:p>
        </p:txBody>
      </p:sp>
      <p:sp>
        <p:nvSpPr>
          <p:cNvPr id="939" name="DagT_6"/>
          <p:cNvSpPr txBox="1"/>
          <p:nvPr/>
        </p:nvSpPr>
        <p:spPr>
          <a:xfrm>
            <a:off x="33172400" y="13677900"/>
            <a:ext cx="1524000" cy="762000"/>
          </a:xfrm>
          <a:prstGeom prst="rect">
            <a:avLst/>
          </a:prstGeom>
          <a:noFill/>
        </p:spPr>
        <p:txBody>
          <a:bodyPr wrap="square" lIns="0" tIns="0" rIns="0" bIns="0">
            <a:noAutofit/>
          </a:bodyPr>
          <a:lstStyle/>
          <a:p>
            <a:pPr algn="ctr">
              <a:lnSpc>
                <a:spcPts val="3450"/>
              </a:lnSpc>
              <a:buNone/>
            </a:pPr>
            <a:r>
              <a:rPr lang="en-US" sz="3000" b="1">
                <a:solidFill>
                  <a:srgbClr val="313131"/>
                </a:solidFill>
                <a:latin typeface="NVIDIA Sans"/>
                <a:cs typeface="NVIDIA Sans"/>
              </a:rPr>
              <a:t>d</a:t>
            </a:r>
          </a:p>
        </p:txBody>
      </p:sp>
      <p:sp>
        <p:nvSpPr>
          <p:cNvPr id="940" name="DagIn_b"/>
          <p:cNvSpPr/>
          <p:nvPr/>
        </p:nvSpPr>
        <p:spPr>
          <a:xfrm>
            <a:off x="11176000" y="15367000"/>
            <a:ext cx="3302000" cy="889000"/>
          </a:xfrm>
          <a:prstGeom prst="roundRect">
            <a:avLst>
              <a:gd name="adj" fmla="val 10000"/>
            </a:avLst>
          </a:prstGeom>
          <a:solidFill>
            <a:srgbClr val="F1F1F1"/>
          </a:solidFill>
          <a:ln>
            <a:noFill/>
          </a:ln>
        </p:spPr>
        <p:txBody>
          <a:bodyPr/>
          <a:lstStyle/>
          <a:p>
            <a:endParaRPr/>
          </a:p>
        </p:txBody>
      </p:sp>
      <p:sp>
        <p:nvSpPr>
          <p:cNvPr id="941" name="DagInT_b"/>
          <p:cNvSpPr txBox="1"/>
          <p:nvPr/>
        </p:nvSpPr>
        <p:spPr>
          <a:xfrm>
            <a:off x="11176000" y="15595600"/>
            <a:ext cx="3302000" cy="635000"/>
          </a:xfrm>
          <a:prstGeom prst="rect">
            <a:avLst/>
          </a:prstGeom>
          <a:noFill/>
        </p:spPr>
        <p:txBody>
          <a:bodyPr wrap="square" lIns="0" tIns="0" rIns="0" bIns="0">
            <a:noAutofit/>
          </a:bodyPr>
          <a:lstStyle/>
          <a:p>
            <a:pPr algn="ctr">
              <a:lnSpc>
                <a:spcPts val="3450"/>
              </a:lnSpc>
              <a:buNone/>
            </a:pPr>
            <a:r>
              <a:rPr lang="en-US" sz="3000" b="1">
                <a:solidFill>
                  <a:srgbClr val="313131"/>
                </a:solidFill>
                <a:latin typeface="NVIDIA Sans"/>
                <a:cs typeface="NVIDIA Sans"/>
              </a:rPr>
              <a:t>b</a:t>
            </a:r>
          </a:p>
        </p:txBody>
      </p:sp>
      <p:sp>
        <p:nvSpPr>
          <p:cNvPr id="942" name="DagUp_b"/>
          <p:cNvSpPr/>
          <p:nvPr/>
        </p:nvSpPr>
        <p:spPr>
          <a:xfrm>
            <a:off x="12547600" y="14630400"/>
            <a:ext cx="558800" cy="711200"/>
          </a:xfrm>
          <a:prstGeom prst="upArrow">
            <a:avLst>
              <a:gd name="adj1" fmla="val 45000"/>
              <a:gd name="adj2" fmla="val 55000"/>
            </a:avLst>
          </a:prstGeom>
          <a:solidFill>
            <a:srgbClr val="B5B5B5"/>
          </a:solidFill>
          <a:ln>
            <a:noFill/>
          </a:ln>
        </p:spPr>
        <p:txBody>
          <a:bodyPr/>
          <a:lstStyle/>
          <a:p>
            <a:endParaRPr/>
          </a:p>
        </p:txBody>
      </p:sp>
      <p:sp>
        <p:nvSpPr>
          <p:cNvPr id="943" name="DagIn_c"/>
          <p:cNvSpPr/>
          <p:nvPr/>
        </p:nvSpPr>
        <p:spPr>
          <a:xfrm>
            <a:off x="22047200" y="15367000"/>
            <a:ext cx="3302000" cy="889000"/>
          </a:xfrm>
          <a:prstGeom prst="roundRect">
            <a:avLst>
              <a:gd name="adj" fmla="val 10000"/>
            </a:avLst>
          </a:prstGeom>
          <a:solidFill>
            <a:srgbClr val="F1F1F1"/>
          </a:solidFill>
          <a:ln>
            <a:noFill/>
          </a:ln>
        </p:spPr>
        <p:txBody>
          <a:bodyPr/>
          <a:lstStyle/>
          <a:p>
            <a:endParaRPr/>
          </a:p>
        </p:txBody>
      </p:sp>
      <p:sp>
        <p:nvSpPr>
          <p:cNvPr id="944" name="DagInT_c"/>
          <p:cNvSpPr txBox="1"/>
          <p:nvPr/>
        </p:nvSpPr>
        <p:spPr>
          <a:xfrm>
            <a:off x="22047200" y="15595600"/>
            <a:ext cx="3302000" cy="635000"/>
          </a:xfrm>
          <a:prstGeom prst="rect">
            <a:avLst/>
          </a:prstGeom>
          <a:noFill/>
        </p:spPr>
        <p:txBody>
          <a:bodyPr wrap="square" lIns="0" tIns="0" rIns="0" bIns="0">
            <a:noAutofit/>
          </a:bodyPr>
          <a:lstStyle/>
          <a:p>
            <a:pPr algn="ctr">
              <a:lnSpc>
                <a:spcPts val="3450"/>
              </a:lnSpc>
              <a:buNone/>
            </a:pPr>
            <a:r>
              <a:rPr lang="en-US" sz="3000" b="1">
                <a:solidFill>
                  <a:srgbClr val="313131"/>
                </a:solidFill>
                <a:latin typeface="NVIDIA Sans"/>
                <a:cs typeface="NVIDIA Sans"/>
              </a:rPr>
              <a:t>c</a:t>
            </a:r>
          </a:p>
        </p:txBody>
      </p:sp>
      <p:sp>
        <p:nvSpPr>
          <p:cNvPr id="945" name="DagUp_c"/>
          <p:cNvSpPr/>
          <p:nvPr/>
        </p:nvSpPr>
        <p:spPr>
          <a:xfrm>
            <a:off x="23418800" y="14630400"/>
            <a:ext cx="558800" cy="711200"/>
          </a:xfrm>
          <a:prstGeom prst="upArrow">
            <a:avLst>
              <a:gd name="adj1" fmla="val 45000"/>
              <a:gd name="adj2" fmla="val 55000"/>
            </a:avLst>
          </a:prstGeom>
          <a:solidFill>
            <a:srgbClr val="B5B5B5"/>
          </a:solidFill>
          <a:ln>
            <a:noFill/>
          </a:ln>
        </p:spPr>
        <p:txBody>
          <a:bodyPr/>
          <a:lstStyle/>
          <a:p>
            <a:endParaRPr/>
          </a:p>
        </p:txBody>
      </p:sp>
      <p:sp>
        <p:nvSpPr>
          <p:cNvPr id="980" name="StepArr1"/>
          <p:cNvSpPr/>
          <p:nvPr/>
        </p:nvSpPr>
        <p:spPr>
          <a:xfrm>
            <a:off x="6781800" y="10718800"/>
            <a:ext cx="538480" cy="406400"/>
          </a:xfrm>
          <a:prstGeom prst="rightArrow">
            <a:avLst>
              <a:gd name="adj1" fmla="val 45000"/>
              <a:gd name="adj2" fmla="val 60000"/>
            </a:avLst>
          </a:prstGeom>
          <a:solidFill>
            <a:srgbClr val="B5B5B5"/>
          </a:solidFill>
          <a:ln>
            <a:noFill/>
          </a:ln>
        </p:spPr>
        <p:txBody>
          <a:bodyPr/>
          <a:lstStyle/>
          <a:p>
            <a:endParaRPr/>
          </a:p>
        </p:txBody>
      </p:sp>
      <p:sp>
        <p:nvSpPr>
          <p:cNvPr id="981" name="StepArr2"/>
          <p:cNvSpPr/>
          <p:nvPr/>
        </p:nvSpPr>
        <p:spPr>
          <a:xfrm>
            <a:off x="12400280" y="10718800"/>
            <a:ext cx="538480" cy="406400"/>
          </a:xfrm>
          <a:prstGeom prst="rightArrow">
            <a:avLst>
              <a:gd name="adj1" fmla="val 45000"/>
              <a:gd name="adj2" fmla="val 60000"/>
            </a:avLst>
          </a:prstGeom>
          <a:solidFill>
            <a:srgbClr val="B5B5B5"/>
          </a:solidFill>
          <a:ln>
            <a:noFill/>
          </a:ln>
        </p:spPr>
        <p:txBody>
          <a:bodyPr/>
          <a:lstStyle/>
          <a:p>
            <a:endParaRPr/>
          </a:p>
        </p:txBody>
      </p:sp>
      <p:sp>
        <p:nvSpPr>
          <p:cNvPr id="982" name="StepArr3"/>
          <p:cNvSpPr/>
          <p:nvPr/>
        </p:nvSpPr>
        <p:spPr>
          <a:xfrm>
            <a:off x="18018760" y="10718800"/>
            <a:ext cx="538480" cy="406400"/>
          </a:xfrm>
          <a:prstGeom prst="rightArrow">
            <a:avLst>
              <a:gd name="adj1" fmla="val 45000"/>
              <a:gd name="adj2" fmla="val 60000"/>
            </a:avLst>
          </a:prstGeom>
          <a:solidFill>
            <a:srgbClr val="B5B5B5"/>
          </a:solidFill>
          <a:ln>
            <a:noFill/>
          </a:ln>
        </p:spPr>
        <p:txBody>
          <a:bodyPr/>
          <a:lstStyle/>
          <a:p>
            <a:endParaRPr/>
          </a:p>
        </p:txBody>
      </p:sp>
      <p:sp>
        <p:nvSpPr>
          <p:cNvPr id="983" name="StepArr4"/>
          <p:cNvSpPr/>
          <p:nvPr/>
        </p:nvSpPr>
        <p:spPr>
          <a:xfrm>
            <a:off x="23637240" y="10718800"/>
            <a:ext cx="538480" cy="406400"/>
          </a:xfrm>
          <a:prstGeom prst="rightArrow">
            <a:avLst>
              <a:gd name="adj1" fmla="val 45000"/>
              <a:gd name="adj2" fmla="val 60000"/>
            </a:avLst>
          </a:prstGeom>
          <a:solidFill>
            <a:srgbClr val="B5B5B5"/>
          </a:solidFill>
          <a:ln>
            <a:noFill/>
          </a:ln>
        </p:spPr>
        <p:txBody>
          <a:bodyPr/>
          <a:lstStyle/>
          <a:p>
            <a:endParaRPr/>
          </a:p>
        </p:txBody>
      </p:sp>
      <p:sp>
        <p:nvSpPr>
          <p:cNvPr id="984" name="StepArr5"/>
          <p:cNvSpPr/>
          <p:nvPr/>
        </p:nvSpPr>
        <p:spPr>
          <a:xfrm>
            <a:off x="29255720" y="10718800"/>
            <a:ext cx="538480" cy="406400"/>
          </a:xfrm>
          <a:prstGeom prst="rightArrow">
            <a:avLst>
              <a:gd name="adj1" fmla="val 45000"/>
              <a:gd name="adj2" fmla="val 60000"/>
            </a:avLst>
          </a:prstGeom>
          <a:solidFill>
            <a:srgbClr val="B5B5B5"/>
          </a:solidFill>
          <a:ln>
            <a:noFill/>
          </a:ln>
        </p:spPr>
        <p:txBody>
          <a:bodyPr/>
          <a:lstStyle/>
          <a:p>
            <a:endParaRPr/>
          </a:p>
        </p:txBody>
      </p:sp>
    </p:spTree>
    <p:extLst>
      <p:ext uri="{BB962C8B-B14F-4D97-AF65-F5344CB8AC3E}">
        <p14:creationId xmlns:p14="http://schemas.microsoft.com/office/powerpoint/2010/main" val="350897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8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8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8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4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4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8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5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8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5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5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5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92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2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22"/>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23"/>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924"/>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2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2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2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92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92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93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93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932"/>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93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93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3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3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3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93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93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94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41"/>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942"/>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943"/>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94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94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529"/>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70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70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0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70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0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70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70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70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7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P spid="123" grpId="0" animBg="1"/>
      <p:bldP spid="124" grpId="0"/>
      <p:bldP spid="125" grpId="0"/>
      <p:bldP spid="126" grpId="0"/>
      <p:bldP spid="128" grpId="0" animBg="1"/>
      <p:bldP spid="129" grpId="0" animBg="1"/>
      <p:bldP spid="130" grpId="0"/>
      <p:bldP spid="131" grpId="0"/>
      <p:bldP spid="132" grpId="0"/>
      <p:bldP spid="134" grpId="0" animBg="1"/>
      <p:bldP spid="135" grpId="0" animBg="1"/>
      <p:bldP spid="136" grpId="0"/>
      <p:bldP spid="137" grpId="0"/>
      <p:bldP spid="138" grpId="0"/>
      <p:bldP spid="140" grpId="0" animBg="1"/>
      <p:bldP spid="141" grpId="0" animBg="1"/>
      <p:bldP spid="142" grpId="0"/>
      <p:bldP spid="143" grpId="0"/>
      <p:bldP spid="144" grpId="0"/>
      <p:bldP spid="146" grpId="0" animBg="1"/>
      <p:bldP spid="147" grpId="0" animBg="1"/>
      <p:bldP spid="148" grpId="0"/>
      <p:bldP spid="149" grpId="0"/>
      <p:bldP spid="150" grpId="0"/>
      <p:bldP spid="152" grpId="0" animBg="1"/>
      <p:bldP spid="153" grpId="0" animBg="1"/>
      <p:bldP spid="154" grpId="0"/>
      <p:bldP spid="155" grpId="0"/>
      <p:bldP spid="156" grpId="0"/>
      <p:bldP spid="302" grpId="0" animBg="1"/>
      <p:bldP spid="303" grpId="0"/>
      <p:bldP spid="304" grpId="0"/>
      <p:bldP spid="307" grpId="0" animBg="1"/>
      <p:bldP spid="308" grpId="0" animBg="1"/>
      <p:bldP spid="309" grpId="0"/>
      <p:bldP spid="310" grpId="0"/>
      <p:bldP spid="529" grpId="0"/>
      <p:bldP spid="700" grpId="0" animBg="1"/>
      <p:bldP spid="701" grpId="0"/>
      <p:bldP spid="702" grpId="0"/>
      <p:bldP spid="703" grpId="0" animBg="1"/>
      <p:bldP spid="704" grpId="0"/>
      <p:bldP spid="705" grpId="0"/>
      <p:bldP spid="706" grpId="0" animBg="1"/>
      <p:bldP spid="707" grpId="0"/>
      <p:bldP spid="708" grpId="0"/>
      <p:bldP spid="810" grpId="0" animBg="1"/>
      <p:bldP spid="920" grpId="0" animBg="1"/>
      <p:bldP spid="921" grpId="0"/>
      <p:bldP spid="922" grpId="0" animBg="1"/>
      <p:bldP spid="923" grpId="0" animBg="1"/>
      <p:bldP spid="924" grpId="0"/>
      <p:bldP spid="925" grpId="0" animBg="1"/>
      <p:bldP spid="926" grpId="0" animBg="1"/>
      <p:bldP spid="927" grpId="0"/>
      <p:bldP spid="928" grpId="0" animBg="1"/>
      <p:bldP spid="929" grpId="0" animBg="1"/>
      <p:bldP spid="930" grpId="0"/>
      <p:bldP spid="931" grpId="0" animBg="1"/>
      <p:bldP spid="932" grpId="0" animBg="1"/>
      <p:bldP spid="933" grpId="0"/>
      <p:bldP spid="934" grpId="0" animBg="1"/>
      <p:bldP spid="935" grpId="0" animBg="1"/>
      <p:bldP spid="936" grpId="0"/>
      <p:bldP spid="937" grpId="0" animBg="1"/>
      <p:bldP spid="938" grpId="0" animBg="1"/>
      <p:bldP spid="939" grpId="0"/>
      <p:bldP spid="940" grpId="0" animBg="1"/>
      <p:bldP spid="941" grpId="0"/>
      <p:bldP spid="942" grpId="0" animBg="1"/>
      <p:bldP spid="943" grpId="0" animBg="1"/>
      <p:bldP spid="944" grpId="0"/>
      <p:bldP spid="945" grpId="0" animBg="1"/>
      <p:bldP spid="980" grpId="0" animBg="1"/>
      <p:bldP spid="981" grpId="0" animBg="1"/>
      <p:bldP spid="982" grpId="0" animBg="1"/>
      <p:bldP spid="983" grpId="0" animBg="1"/>
      <p:bldP spid="98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32DB0-1C18-45B8-9A48-7EE0720FF6B7}"/>
            </a:ext>
          </a:extLst>
        </p:cNvPr>
        <p:cNvGrpSpPr/>
        <p:nvPr/>
      </p:nvGrpSpPr>
      <p:grpSpPr>
        <a:xfrm>
          <a:off x="0" y="0"/>
          <a:ext cx="0" cy="0"/>
          <a:chOff x="0" y="0"/>
          <a:chExt cx="0" cy="0"/>
        </a:xfrm>
      </p:grpSpPr>
      <p:sp>
        <p:nvSpPr>
          <p:cNvPr id="3" name="TitleTx">
            <a:extLst>
              <a:ext uri="{FF2B5EF4-FFF2-40B4-BE49-F238E27FC236}">
                <a16:creationId xmlns:a16="http://schemas.microsoft.com/office/drawing/2014/main" id="{E3510788-18D5-93FE-5762-0BE2A7972D8A}"/>
              </a:ext>
            </a:extLst>
          </p:cNvPr>
          <p:cNvSpPr txBox="1"/>
          <p:nvPr/>
        </p:nvSpPr>
        <p:spPr>
          <a:xfrm>
            <a:off x="1828800" y="1143000"/>
            <a:ext cx="32918400" cy="1905000"/>
          </a:xfrm>
          <a:prstGeom prst="rect">
            <a:avLst/>
          </a:prstGeom>
          <a:noFill/>
        </p:spPr>
        <p:txBody>
          <a:bodyPr vertOverflow="overflow" vert="horz" wrap="square" rtlCol="0" anchor="t">
            <a:noAutofit/>
          </a:bodyPr>
          <a:lstStyle/>
          <a:p>
            <a:pPr algn="l"/>
            <a:r>
              <a:rPr lang="en-US" sz="8800">
                <a:latin typeface="NVIDIA Sans Medium"/>
                <a:cs typeface="NVIDIA Sans Medium"/>
              </a:rPr>
              <a:t>My AI Workflow for this internship</a:t>
            </a:r>
          </a:p>
        </p:txBody>
      </p:sp>
      <p:sp>
        <p:nvSpPr>
          <p:cNvPr id="4" name="SubTx">
            <a:extLst>
              <a:ext uri="{FF2B5EF4-FFF2-40B4-BE49-F238E27FC236}">
                <a16:creationId xmlns:a16="http://schemas.microsoft.com/office/drawing/2014/main" id="{36AC6C71-37DA-453D-1781-2F52165F1A92}"/>
              </a:ext>
            </a:extLst>
          </p:cNvPr>
          <p:cNvSpPr txBox="1"/>
          <p:nvPr/>
        </p:nvSpPr>
        <p:spPr>
          <a:xfrm>
            <a:off x="1828800" y="3175000"/>
            <a:ext cx="32918400" cy="1651000"/>
          </a:xfrm>
          <a:prstGeom prst="rect">
            <a:avLst/>
          </a:prstGeom>
          <a:noFill/>
        </p:spPr>
        <p:txBody>
          <a:bodyPr vertOverflow="overflow" vert="horz" wrap="square" rtlCol="0" anchor="t">
            <a:noAutofit/>
          </a:bodyPr>
          <a:lstStyle/>
          <a:p>
            <a:pPr algn="l"/>
            <a:r>
              <a:rPr lang="en-US" sz="3400">
                <a:solidFill>
                  <a:srgbClr val="757575"/>
                </a:solidFill>
                <a:latin typeface="NVIDIA Sans"/>
                <a:cs typeface="NVIDIA Sans"/>
              </a:rPr>
              <a:t>Roughly </a:t>
            </a:r>
            <a:r>
              <a:rPr lang="en-US" sz="4200" b="1">
                <a:solidFill>
                  <a:srgbClr val="313131"/>
                </a:solidFill>
                <a:latin typeface="NVIDIA Sans"/>
                <a:cs typeface="NVIDIA Sans"/>
              </a:rPr>
              <a:t>96 billion tokens</a:t>
            </a:r>
            <a:r>
              <a:rPr lang="en-US" sz="3400">
                <a:solidFill>
                  <a:srgbClr val="757575"/>
                </a:solidFill>
                <a:latin typeface="NVIDIA Sans"/>
                <a:cs typeface="NVIDIA Sans"/>
              </a:rPr>
              <a:t> over the internship, with agents kept in the loop on work that does not scale by hand.</a:t>
            </a:r>
          </a:p>
        </p:txBody>
      </p:sp>
      <p:sp>
        <p:nvSpPr>
          <p:cNvPr id="950" name="LinkTx"/>
          <p:cNvSpPr txBox="1"/>
          <p:nvPr/>
        </p:nvSpPr>
        <p:spPr>
          <a:xfrm>
            <a:off x="1828800" y="18161000"/>
            <a:ext cx="32918400" cy="1016000"/>
          </a:xfrm>
          <a:prstGeom prst="rect">
            <a:avLst/>
          </a:prstGeom>
          <a:noFill/>
        </p:spPr>
        <p:txBody>
          <a:bodyPr wrap="square" lIns="0" tIns="0" rIns="0" bIns="0" anchor="t">
            <a:noAutofit/>
          </a:bodyPr>
          <a:lstStyle/>
          <a:p>
            <a:pPr algn="l"/>
            <a:r>
              <a:rPr lang="en-US" sz="3200">
                <a:solidFill>
                  <a:srgbClr val="313131"/>
                </a:solidFill>
                <a:latin typeface="NVIDIA Sans"/>
                <a:cs typeface="NVIDIA Sans"/>
              </a:rPr>
              <a:t>Recommended watch: the Claude Code creator talk at YC AI Startup School, on building software at scale. </a:t>
            </a:r>
            <a:r>
              <a:rPr lang="en-US" sz="3200" b="1">
                <a:solidFill>
                  <a:srgbClr val="76B900"/>
                </a:solidFill>
                <a:latin typeface="NVIDIA Sans"/>
                <a:cs typeface="NVIDIA Sans"/>
              </a:rPr>
              <a:t>youtube.com/watch?v=qyPCVqFUyDo</a:t>
            </a:r>
          </a:p>
        </p:txBody>
      </p:sp>
      <p:sp>
        <p:nvSpPr>
          <p:cNvPr id="960" name="LeftHead2"/>
          <p:cNvSpPr txBox="1"/>
          <p:nvPr/>
        </p:nvSpPr>
        <p:spPr>
          <a:xfrm>
            <a:off x="1828800" y="5080000"/>
            <a:ext cx="32918400" cy="812800"/>
          </a:xfrm>
          <a:prstGeom prst="rect">
            <a:avLst/>
          </a:prstGeom>
          <a:noFill/>
        </p:spPr>
        <p:txBody>
          <a:bodyPr wrap="square" lIns="0" tIns="0" rIns="0" bIns="0" anchor="t">
            <a:noAutofit/>
          </a:bodyPr>
          <a:lstStyle/>
          <a:p>
            <a:pPr algn="l">
              <a:buNone/>
            </a:pPr>
            <a:r>
              <a:rPr lang="en-US" sz="3400" b="1" spc="300">
                <a:solidFill>
                  <a:srgbClr val="757575"/>
                </a:solidFill>
                <a:latin typeface="NVIDIA Sans"/>
                <a:cs typeface="NVIDIA Sans"/>
              </a:rPr>
              <a:t>WHERE THE AGENTS RAN</a:t>
            </a:r>
          </a:p>
        </p:txBody>
      </p:sp>
      <p:sp>
        <p:nvSpPr>
          <p:cNvPr id="961" name="RightHead2"/>
          <p:cNvSpPr txBox="1"/>
          <p:nvPr/>
        </p:nvSpPr>
        <p:spPr>
          <a:xfrm>
            <a:off x="1828800" y="10033000"/>
            <a:ext cx="32918400" cy="812800"/>
          </a:xfrm>
          <a:prstGeom prst="rect">
            <a:avLst/>
          </a:prstGeom>
          <a:noFill/>
        </p:spPr>
        <p:txBody>
          <a:bodyPr wrap="square" lIns="0" tIns="0" rIns="0" bIns="0" anchor="t">
            <a:noAutofit/>
          </a:bodyPr>
          <a:lstStyle/>
          <a:p>
            <a:pPr algn="l">
              <a:buNone/>
            </a:pPr>
            <a:r>
              <a:rPr lang="en-US" sz="3400" b="1" spc="300">
                <a:solidFill>
                  <a:srgbClr val="757575"/>
                </a:solidFill>
                <a:latin typeface="NVIDIA Sans"/>
                <a:cs typeface="NVIDIA Sans"/>
              </a:rPr>
              <a:t>RECOMMENDATIONS</a:t>
            </a:r>
          </a:p>
        </p:txBody>
      </p:sp>
      <p:sp>
        <p:nvSpPr>
          <p:cNvPr id="980" name="AgentList"/>
          <p:cNvSpPr txBox="1"/>
          <p:nvPr/>
        </p:nvSpPr>
        <p:spPr>
          <a:xfrm>
            <a:off x="1828800" y="6172200"/>
            <a:ext cx="32918400" cy="3048000"/>
          </a:xfrm>
          <a:prstGeom prst="rect">
            <a:avLst/>
          </a:prstGeom>
          <a:noFill/>
        </p:spPr>
        <p:txBody>
          <a:bodyPr wrap="square" lIns="0" tIns="0" rIns="0" bIns="0" anchor="t">
            <a:noAutofit/>
          </a:bodyPr>
          <a:lstStyle/>
          <a:p>
            <a:pPr algn="l">
              <a:lnSpc>
                <a:spcPts val="5000"/>
              </a:lnSpc>
              <a:spcBef>
                <a:spcPts val="400"/>
              </a:spcBef>
              <a:buNone/>
            </a:pPr>
            <a:r>
              <a:rPr lang="en-US" sz="4200" b="1">
                <a:solidFill>
                  <a:srgbClr val="313131"/>
                </a:solidFill>
                <a:latin typeface="NVIDIA Sans"/>
                <a:cs typeface="NVIDIA Sans"/>
              </a:rPr>
              <a:t>Formal verification: </a:t>
            </a:r>
            <a:r>
              <a:rPr lang="en-US" sz="4200">
                <a:solidFill>
                  <a:srgbClr val="313131"/>
                </a:solidFill>
                <a:latin typeface="NVIDIA Sans"/>
                <a:cs typeface="NVIDIA Sans"/>
              </a:rPr>
              <a:t>agents re-ran the proofs after every change.</a:t>
            </a:r>
          </a:p>
          <a:p>
            <a:pPr algn="l">
              <a:lnSpc>
                <a:spcPts val="5000"/>
              </a:lnSpc>
              <a:spcBef>
                <a:spcPts val="3600"/>
              </a:spcBef>
              <a:buNone/>
            </a:pPr>
            <a:r>
              <a:rPr lang="en-US" sz="4200" b="1">
                <a:solidFill>
                  <a:srgbClr val="313131"/>
                </a:solidFill>
                <a:latin typeface="NVIDIA Sans"/>
                <a:cs typeface="NVIDIA Sans"/>
              </a:rPr>
              <a:t>Code development: </a:t>
            </a:r>
            <a:r>
              <a:rPr lang="en-US" sz="4200">
                <a:solidFill>
                  <a:srgbClr val="313131"/>
                </a:solidFill>
                <a:latin typeface="NVIDIA Sans"/>
                <a:cs typeface="NVIDIA Sans"/>
              </a:rPr>
              <a:t>kernels, passes and refactors written agent-first.</a:t>
            </a:r>
          </a:p>
          <a:p>
            <a:pPr algn="l">
              <a:lnSpc>
                <a:spcPts val="5000"/>
              </a:lnSpc>
              <a:spcBef>
                <a:spcPts val="3600"/>
              </a:spcBef>
              <a:buNone/>
            </a:pPr>
            <a:r>
              <a:rPr lang="en-US" sz="4200" b="1">
                <a:solidFill>
                  <a:srgbClr val="313131"/>
                </a:solidFill>
                <a:latin typeface="NVIDIA Sans"/>
                <a:cs typeface="NVIDIA Sans"/>
              </a:rPr>
              <a:t>Test case creation: </a:t>
            </a:r>
            <a:r>
              <a:rPr lang="en-US" sz="4200">
                <a:solidFill>
                  <a:srgbClr val="313131"/>
                </a:solidFill>
                <a:latin typeface="NVIDIA Sans"/>
                <a:cs typeface="NVIDIA Sans"/>
              </a:rPr>
              <a:t>coverage far past what hand-written tests reach.</a:t>
            </a:r>
          </a:p>
        </p:txBody>
      </p:sp>
      <p:sp>
        <p:nvSpPr>
          <p:cNvPr id="981" name="RecList"/>
          <p:cNvSpPr txBox="1"/>
          <p:nvPr/>
        </p:nvSpPr>
        <p:spPr>
          <a:xfrm>
            <a:off x="1828800" y="11125200"/>
            <a:ext cx="32918400" cy="5334000"/>
          </a:xfrm>
          <a:prstGeom prst="rect">
            <a:avLst/>
          </a:prstGeom>
          <a:noFill/>
        </p:spPr>
        <p:txBody>
          <a:bodyPr wrap="square" lIns="0" tIns="0" rIns="0" bIns="0" anchor="t">
            <a:noAutofit/>
          </a:bodyPr>
          <a:lstStyle/>
          <a:p>
            <a:pPr algn="l">
              <a:lnSpc>
                <a:spcPts val="5000"/>
              </a:lnSpc>
              <a:spcBef>
                <a:spcPts val="400"/>
              </a:spcBef>
              <a:buNone/>
            </a:pPr>
            <a:r>
              <a:rPr lang="en-US" sz="4200" b="1">
                <a:solidFill>
                  <a:srgbClr val="313131"/>
                </a:solidFill>
                <a:latin typeface="NVIDIA Sans"/>
                <a:cs typeface="NVIDIA Sans"/>
              </a:rPr>
              <a:t>Use the harness: </a:t>
            </a:r>
            <a:r>
              <a:rPr lang="en-US" sz="4200">
                <a:solidFill>
                  <a:srgbClr val="313131"/>
                </a:solidFill>
                <a:latin typeface="NVIDIA Sans"/>
                <a:cs typeface="NVIDIA Sans"/>
              </a:rPr>
              <a:t>Anthropic models inside Claude Code do not behave like the same model inside Cursor.</a:t>
            </a:r>
          </a:p>
          <a:p>
            <a:pPr algn="l">
              <a:lnSpc>
                <a:spcPts val="5000"/>
              </a:lnSpc>
              <a:spcBef>
                <a:spcPts val="3600"/>
              </a:spcBef>
              <a:buNone/>
            </a:pPr>
            <a:r>
              <a:rPr lang="en-US" sz="4200" b="1">
                <a:solidFill>
                  <a:srgbClr val="313131"/>
                </a:solidFill>
                <a:latin typeface="NVIDIA Sans"/>
                <a:cs typeface="NVIDIA Sans"/>
              </a:rPr>
              <a:t>Pick per task: </a:t>
            </a:r>
            <a:r>
              <a:rPr lang="en-US" sz="4200">
                <a:solidFill>
                  <a:srgbClr val="313131"/>
                </a:solidFill>
                <a:latin typeface="NVIDIA Sans"/>
                <a:cs typeface="NVIDIA Sans"/>
              </a:rPr>
              <a:t>Codex is strong on straightforward work; Claude Code matches it and goes further on open-ended problems.</a:t>
            </a:r>
          </a:p>
          <a:p>
            <a:pPr algn="l">
              <a:lnSpc>
                <a:spcPts val="5000"/>
              </a:lnSpc>
              <a:spcBef>
                <a:spcPts val="3600"/>
              </a:spcBef>
              <a:buNone/>
            </a:pPr>
            <a:r>
              <a:rPr lang="en-US" sz="4200" b="1">
                <a:solidFill>
                  <a:srgbClr val="313131"/>
                </a:solidFill>
                <a:latin typeface="NVIDIA Sans"/>
                <a:cs typeface="NVIDIA Sans"/>
              </a:rPr>
              <a:t>Keep the main context clean: </a:t>
            </a:r>
            <a:r>
              <a:rPr lang="en-US" sz="4200">
                <a:solidFill>
                  <a:srgbClr val="313131"/>
                </a:solidFill>
                <a:latin typeface="NVIDIA Sans"/>
                <a:cs typeface="NVIDIA Sans"/>
              </a:rPr>
              <a:t>orchestrate, and delegate the work out.</a:t>
            </a:r>
          </a:p>
          <a:p>
            <a:pPr algn="l">
              <a:lnSpc>
                <a:spcPts val="5000"/>
              </a:lnSpc>
              <a:spcBef>
                <a:spcPts val="3600"/>
              </a:spcBef>
              <a:buNone/>
            </a:pPr>
            <a:r>
              <a:rPr lang="en-US" sz="4200" b="1">
                <a:solidFill>
                  <a:srgbClr val="313131"/>
                </a:solidFill>
                <a:latin typeface="NVIDIA Sans"/>
                <a:cs typeface="NVIDIA Sans"/>
              </a:rPr>
              <a:t>Turn the effort up: </a:t>
            </a:r>
            <a:r>
              <a:rPr lang="en-US" sz="4200">
                <a:solidFill>
                  <a:srgbClr val="313131"/>
                </a:solidFill>
                <a:latin typeface="NVIDIA Sans"/>
                <a:cs typeface="NVIDIA Sans"/>
              </a:rPr>
              <a:t>Ultra Code, maximum effort plus dynamic workflow.</a:t>
            </a:r>
          </a:p>
          <a:p>
            <a:pPr algn="l">
              <a:lnSpc>
                <a:spcPts val="5000"/>
              </a:lnSpc>
              <a:spcBef>
                <a:spcPts val="3600"/>
              </a:spcBef>
              <a:buNone/>
            </a:pPr>
            <a:r>
              <a:rPr lang="en-US" sz="4200" b="1">
                <a:solidFill>
                  <a:srgbClr val="313131"/>
                </a:solidFill>
                <a:latin typeface="NVIDIA Sans"/>
                <a:cs typeface="NVIDIA Sans"/>
              </a:rPr>
              <a:t>Skip prompt engineering: </a:t>
            </a:r>
            <a:r>
              <a:rPr lang="en-US" sz="4200">
                <a:solidFill>
                  <a:srgbClr val="313131"/>
                </a:solidFill>
                <a:latin typeface="NVIDIA Sans"/>
                <a:cs typeface="NVIDIA Sans"/>
              </a:rPr>
              <a:t>the model writes its own prompts.</a:t>
            </a:r>
          </a:p>
        </p:txBody>
      </p:sp>
    </p:spTree>
    <p:extLst>
      <p:ext uri="{BB962C8B-B14F-4D97-AF65-F5344CB8AC3E}">
        <p14:creationId xmlns:p14="http://schemas.microsoft.com/office/powerpoint/2010/main" val="247083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0"/>
                                        </p:tgtEl>
                                        <p:attrNameLst>
                                          <p:attrName>style.visibility</p:attrName>
                                        </p:attrNameLst>
                                      </p:cBhvr>
                                      <p:to>
                                        <p:strVal val="visible"/>
                                      </p:to>
                                    </p:set>
                                    <p:animEffect transition="in" filter="fade">
                                      <p:cBhvr>
                                        <p:cTn id="7" dur="400"/>
                                        <p:tgtEl>
                                          <p:spTgt spid="960"/>
                                        </p:tgtEl>
                                      </p:cBhvr>
                                    </p:animEffect>
                                  </p:childTnLst>
                                </p:cTn>
                              </p:par>
                              <p:par>
                                <p:cTn id="8" presetID="10" presetClass="entr" presetSubtype="0" fill="hold" nodeType="withEffect">
                                  <p:stCondLst>
                                    <p:cond delay="0"/>
                                  </p:stCondLst>
                                  <p:childTnLst>
                                    <p:set>
                                      <p:cBhvr>
                                        <p:cTn id="9" dur="1" fill="hold">
                                          <p:stCondLst>
                                            <p:cond delay="0"/>
                                          </p:stCondLst>
                                        </p:cTn>
                                        <p:tgtEl>
                                          <p:spTgt spid="980"/>
                                        </p:tgtEl>
                                        <p:attrNameLst>
                                          <p:attrName>style.visibility</p:attrName>
                                        </p:attrNameLst>
                                      </p:cBhvr>
                                      <p:to>
                                        <p:strVal val="visible"/>
                                      </p:to>
                                    </p:set>
                                    <p:animEffect transition="in" filter="fade">
                                      <p:cBhvr>
                                        <p:cTn id="10" dur="400"/>
                                        <p:tgtEl>
                                          <p:spTgt spid="98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61"/>
                                        </p:tgtEl>
                                        <p:attrNameLst>
                                          <p:attrName>style.visibility</p:attrName>
                                        </p:attrNameLst>
                                      </p:cBhvr>
                                      <p:to>
                                        <p:strVal val="visible"/>
                                      </p:to>
                                    </p:set>
                                    <p:animEffect transition="in" filter="fade">
                                      <p:cBhvr>
                                        <p:cTn id="15" dur="400"/>
                                        <p:tgtEl>
                                          <p:spTgt spid="961"/>
                                        </p:tgtEl>
                                      </p:cBhvr>
                                    </p:animEffect>
                                  </p:childTnLst>
                                </p:cTn>
                              </p:par>
                              <p:par>
                                <p:cTn id="16" presetID="10" presetClass="entr" presetSubtype="0" fill="hold" nodeType="withEffect">
                                  <p:stCondLst>
                                    <p:cond delay="0"/>
                                  </p:stCondLst>
                                  <p:childTnLst>
                                    <p:set>
                                      <p:cBhvr>
                                        <p:cTn id="17" dur="1" fill="hold">
                                          <p:stCondLst>
                                            <p:cond delay="0"/>
                                          </p:stCondLst>
                                        </p:cTn>
                                        <p:tgtEl>
                                          <p:spTgt spid="981"/>
                                        </p:tgtEl>
                                        <p:attrNameLst>
                                          <p:attrName>style.visibility</p:attrName>
                                        </p:attrNameLst>
                                      </p:cBhvr>
                                      <p:to>
                                        <p:strVal val="visible"/>
                                      </p:to>
                                    </p:set>
                                    <p:animEffect transition="in" filter="fade">
                                      <p:cBhvr>
                                        <p:cTn id="18" dur="400"/>
                                        <p:tgtEl>
                                          <p:spTgt spid="98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50"/>
                                        </p:tgtEl>
                                        <p:attrNameLst>
                                          <p:attrName>style.visibility</p:attrName>
                                        </p:attrNameLst>
                                      </p:cBhvr>
                                      <p:to>
                                        <p:strVal val="visible"/>
                                      </p:to>
                                    </p:set>
                                    <p:animEffect transition="in" filter="fade">
                                      <p:cBhvr>
                                        <p:cTn id="23" dur="400"/>
                                        <p:tgtEl>
                                          <p:spTgt spid="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Tx">
            <a:extLst>
              <a:ext uri="{FF2B5EF4-FFF2-40B4-BE49-F238E27FC236}">
                <a16:creationId xmlns:a16="http://schemas.microsoft.com/office/drawing/2014/main" id="{82556EAA-2B64-4C4A-9120-CC19B91AD5B9}"/>
              </a:ext>
            </a:extLst>
          </p:cNvPr>
          <p:cNvSpPr txBox="1"/>
          <p:nvPr/>
        </p:nvSpPr>
        <p:spPr>
          <a:xfrm>
            <a:off x="1828800" y="711200"/>
            <a:ext cx="32918400" cy="1651000"/>
          </a:xfrm>
          <a:prstGeom prst="rect">
            <a:avLst/>
          </a:prstGeom>
          <a:noFill/>
        </p:spPr>
        <p:txBody>
          <a:bodyPr vertOverflow="overflow" vert="horz" wrap="none" rtlCol="0" anchor="t" anchorCtr="0">
            <a:noAutofit/>
          </a:bodyPr>
          <a:lstStyle/>
          <a:p>
            <a:pPr algn="l"/>
            <a:r>
              <a:rPr lang="en-US" sz="6400">
                <a:latin typeface="NVIDIA Sans Medium"/>
                <a:cs typeface="NVIDIA Sans Medium"/>
              </a:rPr>
              <a:t>Conclusion</a:t>
            </a:r>
          </a:p>
        </p:txBody>
      </p:sp>
      <p:sp>
        <p:nvSpPr>
          <p:cNvPr id="3" name="CR1">
            <a:extLst>
              <a:ext uri="{FF2B5EF4-FFF2-40B4-BE49-F238E27FC236}">
                <a16:creationId xmlns:a16="http://schemas.microsoft.com/office/drawing/2014/main" id="{12E7791C-A213-0146-B625-67615FC2EE55}"/>
              </a:ext>
            </a:extLst>
          </p:cNvPr>
          <p:cNvSpPr/>
          <p:nvPr/>
        </p:nvSpPr>
        <p:spPr>
          <a:xfrm>
            <a:off x="1828800" y="3810000"/>
            <a:ext cx="32918400" cy="508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CH1">
            <a:extLst>
              <a:ext uri="{FF2B5EF4-FFF2-40B4-BE49-F238E27FC236}">
                <a16:creationId xmlns:a16="http://schemas.microsoft.com/office/drawing/2014/main" id="{D434385C-2C7B-CD44-94AA-5905402D4249}"/>
              </a:ext>
            </a:extLst>
          </p:cNvPr>
          <p:cNvSpPr txBox="1"/>
          <p:nvPr/>
        </p:nvSpPr>
        <p:spPr>
          <a:xfrm>
            <a:off x="1828800" y="4140200"/>
            <a:ext cx="32918400" cy="889000"/>
          </a:xfrm>
          <a:prstGeom prst="rect">
            <a:avLst/>
          </a:prstGeom>
          <a:noFill/>
        </p:spPr>
        <p:txBody>
          <a:bodyPr vertOverflow="overflow" vert="horz" wrap="none" rtlCol="0" anchor="t" anchorCtr="0">
            <a:noAutofit/>
          </a:bodyPr>
          <a:lstStyle/>
          <a:p>
            <a:pPr algn="l">
              <a:lnSpc>
                <a:spcPts val="4200"/>
              </a:lnSpc>
              <a:spcBef>
                <a:spcPts val="0"/>
              </a:spcBef>
              <a:buNone/>
            </a:pPr>
            <a:r>
              <a:rPr lang="en-US" sz="3600" b="1">
                <a:solidFill>
                  <a:srgbClr val="76B900"/>
                </a:solidFill>
                <a:latin typeface="NVIDIA Sans"/>
                <a:cs typeface="NVIDIA Sans"/>
              </a:rPr>
              <a:t>01  </a:t>
            </a:r>
            <a:r>
              <a:rPr lang="en-US" sz="3600" b="1">
                <a:solidFill>
                  <a:srgbClr val="000000"/>
                </a:solidFill>
                <a:latin typeface="NVIDIA Sans"/>
                <a:cs typeface="NVIDIA Sans"/>
              </a:rPr>
              <a:t>Python stays Python, and abstractions can be built on it</a:t>
            </a:r>
          </a:p>
        </p:txBody>
      </p:sp>
      <p:sp>
        <p:nvSpPr>
          <p:cNvPr id="5" name="CB1">
            <a:extLst>
              <a:ext uri="{FF2B5EF4-FFF2-40B4-BE49-F238E27FC236}">
                <a16:creationId xmlns:a16="http://schemas.microsoft.com/office/drawing/2014/main" id="{317B2EC7-221D-7540-B615-031FD1793FF2}"/>
              </a:ext>
            </a:extLst>
          </p:cNvPr>
          <p:cNvSpPr txBox="1"/>
          <p:nvPr/>
        </p:nvSpPr>
        <p:spPr>
          <a:xfrm>
            <a:off x="1828800" y="5130800"/>
            <a:ext cx="32918400" cy="1778000"/>
          </a:xfrm>
          <a:prstGeom prst="rect">
            <a:avLst/>
          </a:prstGeom>
          <a:noFill/>
        </p:spPr>
        <p:txBody>
          <a:bodyPr vertOverflow="overflow" vert="horz" wrap="square" rtlCol="0" anchor="t" anchorCtr="0">
            <a:noAutofit/>
          </a:bodyPr>
          <a:lstStyle/>
          <a:p>
            <a:pPr algn="l">
              <a:lnSpc>
                <a:spcPts val="3800"/>
              </a:lnSpc>
              <a:spcBef>
                <a:spcPts val="0"/>
              </a:spcBef>
              <a:buNone/>
            </a:pPr>
            <a:r>
              <a:rPr lang="en-US" sz="3200">
                <a:solidFill>
                  <a:srgbClr val="000000"/>
                </a:solidFill>
                <a:latin typeface="NVIDIA Sans"/>
                <a:cs typeface="NVIDIA Sans"/>
              </a:rPr>
              <a:t>Classes, dicts and mutation survive tracing, so libraries can be written in the language itself.</a:t>
            </a:r>
          </a:p>
          <a:p>
            <a:pPr algn="l">
              <a:lnSpc>
                <a:spcPts val="3800"/>
              </a:lnSpc>
              <a:spcBef>
                <a:spcPts val="400"/>
              </a:spcBef>
              <a:buNone/>
            </a:pPr>
            <a:r>
              <a:rPr lang="en-US" sz="3200">
                <a:solidFill>
                  <a:srgbClr val="757575"/>
                </a:solidFill>
                <a:latin typeface="NVIDIA Sans"/>
                <a:cs typeface="NVIDIA Sans"/>
              </a:rPr>
              <a:t>cutlasspy is one of those libraries.</a:t>
            </a:r>
          </a:p>
        </p:txBody>
      </p:sp>
      <p:sp>
        <p:nvSpPr>
          <p:cNvPr id="6" name="CR2">
            <a:extLst>
              <a:ext uri="{FF2B5EF4-FFF2-40B4-BE49-F238E27FC236}">
                <a16:creationId xmlns:a16="http://schemas.microsoft.com/office/drawing/2014/main" id="{D142E286-5F0B-F74A-B814-DAC3BFC2E51F}"/>
              </a:ext>
            </a:extLst>
          </p:cNvPr>
          <p:cNvSpPr/>
          <p:nvPr/>
        </p:nvSpPr>
        <p:spPr>
          <a:xfrm>
            <a:off x="1828800" y="7112000"/>
            <a:ext cx="32918400" cy="508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CH2">
            <a:extLst>
              <a:ext uri="{FF2B5EF4-FFF2-40B4-BE49-F238E27FC236}">
                <a16:creationId xmlns:a16="http://schemas.microsoft.com/office/drawing/2014/main" id="{670CD8B5-9F61-8D4A-8A1C-C4BE3348E9CD}"/>
              </a:ext>
            </a:extLst>
          </p:cNvPr>
          <p:cNvSpPr txBox="1"/>
          <p:nvPr/>
        </p:nvSpPr>
        <p:spPr>
          <a:xfrm>
            <a:off x="1828800" y="7442200"/>
            <a:ext cx="32918400" cy="889000"/>
          </a:xfrm>
          <a:prstGeom prst="rect">
            <a:avLst/>
          </a:prstGeom>
          <a:noFill/>
        </p:spPr>
        <p:txBody>
          <a:bodyPr vertOverflow="overflow" vert="horz" wrap="none" rtlCol="0" anchor="t" anchorCtr="0">
            <a:noAutofit/>
          </a:bodyPr>
          <a:lstStyle/>
          <a:p>
            <a:pPr algn="l">
              <a:lnSpc>
                <a:spcPts val="4200"/>
              </a:lnSpc>
              <a:spcBef>
                <a:spcPts val="0"/>
              </a:spcBef>
              <a:buNone/>
            </a:pPr>
            <a:r>
              <a:rPr lang="en-US" sz="3600" b="1">
                <a:solidFill>
                  <a:srgbClr val="76B900"/>
                </a:solidFill>
                <a:latin typeface="NVIDIA Sans"/>
                <a:cs typeface="NVIDIA Sans"/>
              </a:rPr>
              <a:t>02  </a:t>
            </a:r>
            <a:r>
              <a:rPr lang="en-US" sz="3600" b="1">
                <a:solidFill>
                  <a:srgbClr val="000000"/>
                </a:solidFill>
                <a:latin typeface="NVIDIA Sans"/>
                <a:cs typeface="NVIDIA Sans"/>
              </a:rPr>
              <a:t>A system this complex needs proof, not only tests</a:t>
            </a:r>
          </a:p>
        </p:txBody>
      </p:sp>
      <p:sp>
        <p:nvSpPr>
          <p:cNvPr id="8" name="CB2">
            <a:extLst>
              <a:ext uri="{FF2B5EF4-FFF2-40B4-BE49-F238E27FC236}">
                <a16:creationId xmlns:a16="http://schemas.microsoft.com/office/drawing/2014/main" id="{BEAA034E-857F-F74F-B359-1BF29E461BAE}"/>
              </a:ext>
            </a:extLst>
          </p:cNvPr>
          <p:cNvSpPr txBox="1"/>
          <p:nvPr/>
        </p:nvSpPr>
        <p:spPr>
          <a:xfrm>
            <a:off x="1828800" y="8432800"/>
            <a:ext cx="32918400" cy="1778000"/>
          </a:xfrm>
          <a:prstGeom prst="rect">
            <a:avLst/>
          </a:prstGeom>
          <a:noFill/>
        </p:spPr>
        <p:txBody>
          <a:bodyPr vertOverflow="overflow" vert="horz" wrap="square" rtlCol="0" anchor="t" anchorCtr="0">
            <a:noAutofit/>
          </a:bodyPr>
          <a:lstStyle/>
          <a:p>
            <a:pPr algn="l">
              <a:lnSpc>
                <a:spcPts val="3800"/>
              </a:lnSpc>
              <a:spcBef>
                <a:spcPts val="0"/>
              </a:spcBef>
              <a:buNone/>
            </a:pPr>
            <a:r>
              <a:rPr lang="en-US" sz="3200">
                <a:solidFill>
                  <a:srgbClr val="000000"/>
                </a:solidFill>
                <a:latin typeface="NVIDIA Sans"/>
                <a:cs typeface="NVIDIA Sans"/>
              </a:rPr>
              <a:t>The tracer's decision rules are formalized in Lean, so the guarantees hold for every case.</a:t>
            </a:r>
          </a:p>
          <a:p>
            <a:pPr algn="l">
              <a:lnSpc>
                <a:spcPts val="3800"/>
              </a:lnSpc>
              <a:spcBef>
                <a:spcPts val="400"/>
              </a:spcBef>
              <a:buNone/>
            </a:pPr>
            <a:r>
              <a:rPr lang="en-US" sz="3200">
                <a:solidFill>
                  <a:srgbClr val="757575"/>
                </a:solidFill>
                <a:latin typeface="NVIDIA Sans"/>
                <a:cs typeface="NVIDIA Sans"/>
              </a:rPr>
              <a:t>Sampling reaches the common paths; the proof reaches the rest.</a:t>
            </a:r>
          </a:p>
        </p:txBody>
      </p:sp>
      <p:sp>
        <p:nvSpPr>
          <p:cNvPr id="12" name="CR4">
            <a:extLst>
              <a:ext uri="{FF2B5EF4-FFF2-40B4-BE49-F238E27FC236}">
                <a16:creationId xmlns:a16="http://schemas.microsoft.com/office/drawing/2014/main" id="{2A5EE93F-0B81-B34A-BE49-F6F67C828EB2}"/>
              </a:ext>
            </a:extLst>
          </p:cNvPr>
          <p:cNvSpPr/>
          <p:nvPr/>
        </p:nvSpPr>
        <p:spPr>
          <a:xfrm>
            <a:off x="1828800" y="10541000"/>
            <a:ext cx="32918400" cy="50800"/>
          </a:xfrm>
          <a:prstGeom prst="rect">
            <a:avLst/>
          </a:prstGeom>
          <a:solidFill>
            <a:srgbClr val="D9D9D9"/>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CH4">
            <a:extLst>
              <a:ext uri="{FF2B5EF4-FFF2-40B4-BE49-F238E27FC236}">
                <a16:creationId xmlns:a16="http://schemas.microsoft.com/office/drawing/2014/main" id="{F794ADAE-7735-5F4A-849A-49E31BE07EA2}"/>
              </a:ext>
            </a:extLst>
          </p:cNvPr>
          <p:cNvSpPr txBox="1"/>
          <p:nvPr/>
        </p:nvSpPr>
        <p:spPr>
          <a:xfrm>
            <a:off x="1828800" y="10871200"/>
            <a:ext cx="32918400" cy="889000"/>
          </a:xfrm>
          <a:prstGeom prst="rect">
            <a:avLst/>
          </a:prstGeom>
          <a:noFill/>
        </p:spPr>
        <p:txBody>
          <a:bodyPr vertOverflow="overflow" vert="horz" wrap="square" rtlCol="0" anchor="t" anchorCtr="0">
            <a:noAutofit/>
          </a:bodyPr>
          <a:lstStyle/>
          <a:p>
            <a:pPr algn="l">
              <a:lnSpc>
                <a:spcPts val="4200"/>
              </a:lnSpc>
              <a:buNone/>
            </a:pPr>
            <a:r>
              <a:rPr lang="en-US" sz="3600" b="1">
                <a:solidFill>
                  <a:srgbClr val="000000"/>
                </a:solidFill>
                <a:latin typeface="NVIDIA Sans"/>
                <a:cs typeface="NVIDIA Sans"/>
              </a:rPr>
              <a:t>Acknowledgements</a:t>
            </a:r>
          </a:p>
        </p:txBody>
      </p:sp>
      <p:sp>
        <p:nvSpPr>
          <p:cNvPr id="10" name="CB4">
            <a:extLst>
              <a:ext uri="{FF2B5EF4-FFF2-40B4-BE49-F238E27FC236}">
                <a16:creationId xmlns:a16="http://schemas.microsoft.com/office/drawing/2014/main" id="{8D7D1603-CD38-2C47-B73B-F7617F0EE791}"/>
              </a:ext>
            </a:extLst>
          </p:cNvPr>
          <p:cNvSpPr txBox="1"/>
          <p:nvPr/>
        </p:nvSpPr>
        <p:spPr>
          <a:xfrm>
            <a:off x="1828800" y="11938000"/>
            <a:ext cx="32918400" cy="2286000"/>
          </a:xfrm>
          <a:prstGeom prst="rect">
            <a:avLst/>
          </a:prstGeom>
          <a:noFill/>
        </p:spPr>
        <p:txBody>
          <a:bodyPr vertOverflow="overflow" vert="horz" wrap="square" rtlCol="0" anchor="t" anchorCtr="0">
            <a:noAutofit/>
          </a:bodyPr>
          <a:lstStyle/>
          <a:p>
            <a:pPr algn="l">
              <a:lnSpc>
                <a:spcPts val="3800"/>
              </a:lnSpc>
              <a:buNone/>
            </a:pPr>
            <a:r>
              <a:rPr lang="en-US" sz="3000" b="1">
                <a:solidFill>
                  <a:srgbClr val="000000"/>
                </a:solidFill>
                <a:latin typeface="NVIDIA Sans"/>
                <a:cs typeface="NVIDIA Sans"/>
              </a:rPr>
              <a:t>Guray Ozen</a:t>
            </a:r>
            <a:r>
              <a:rPr lang="en-US" sz="3000">
                <a:solidFill>
                  <a:srgbClr val="9A9A9A"/>
                </a:solidFill>
                <a:latin typeface="NVIDIA Sans"/>
                <a:cs typeface="NVIDIA Sans"/>
              </a:rPr>
              <a:t>   ·   </a:t>
            </a:r>
            <a:r>
              <a:rPr lang="en-US" sz="3000" b="1">
                <a:solidFill>
                  <a:srgbClr val="000000"/>
                </a:solidFill>
                <a:latin typeface="NVIDIA Sans"/>
                <a:cs typeface="NVIDIA Sans"/>
              </a:rPr>
              <a:t>Kihiro Bando</a:t>
            </a:r>
            <a:r>
              <a:rPr lang="en-US" sz="3000">
                <a:solidFill>
                  <a:srgbClr val="9A9A9A"/>
                </a:solidFill>
                <a:latin typeface="NVIDIA Sans"/>
                <a:cs typeface="NVIDIA Sans"/>
              </a:rPr>
              <a:t>   ·   </a:t>
            </a:r>
            <a:r>
              <a:rPr lang="en-US" sz="3000" b="1">
                <a:solidFill>
                  <a:srgbClr val="000000"/>
                </a:solidFill>
                <a:latin typeface="NVIDIA Sans"/>
                <a:cs typeface="NVIDIA Sans"/>
              </a:rPr>
              <a:t>Mihir Awatramani</a:t>
            </a:r>
            <a:r>
              <a:rPr lang="en-US" sz="3000">
                <a:solidFill>
                  <a:srgbClr val="9A9A9A"/>
                </a:solidFill>
                <a:latin typeface="NVIDIA Sans"/>
                <a:cs typeface="NVIDIA Sans"/>
              </a:rPr>
              <a:t>   ·   </a:t>
            </a:r>
            <a:r>
              <a:rPr lang="en-US" sz="3000" b="1">
                <a:solidFill>
                  <a:srgbClr val="000000"/>
                </a:solidFill>
                <a:latin typeface="NVIDIA Sans"/>
                <a:cs typeface="NVIDIA Sans"/>
              </a:rPr>
              <a:t>Pradeep Ramani</a:t>
            </a:r>
            <a:r>
              <a:rPr lang="en-US" sz="3000">
                <a:solidFill>
                  <a:srgbClr val="9A9A9A"/>
                </a:solidFill>
                <a:latin typeface="NVIDIA Sans"/>
                <a:cs typeface="NVIDIA Sans"/>
              </a:rPr>
              <a:t>   ·   </a:t>
            </a:r>
            <a:r>
              <a:rPr lang="en-US" sz="3000" b="1">
                <a:solidFill>
                  <a:srgbClr val="000000"/>
                </a:solidFill>
                <a:latin typeface="NVIDIA Sans"/>
                <a:cs typeface="NVIDIA Sans"/>
              </a:rPr>
              <a:t>Ahmed Taei</a:t>
            </a:r>
          </a:p>
        </p:txBody>
      </p:sp>
    </p:spTree>
    <p:extLst>
      <p:ext uri="{BB962C8B-B14F-4D97-AF65-F5344CB8AC3E}">
        <p14:creationId xmlns:p14="http://schemas.microsoft.com/office/powerpoint/2010/main" val="3536449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83394"/>
      </p:ext>
    </p:extLst>
  </p:cSld>
  <p:clrMapOvr>
    <a:masterClrMapping/>
  </p:clrMapOvr>
</p:sld>
</file>

<file path=ppt/theme/theme1.xml><?xml version="1.0" encoding="utf-8"?>
<a:theme xmlns:a="http://schemas.openxmlformats.org/drawingml/2006/main" name="NVIDIA26_Corp Template_LIGHT_v2">
  <a:themeElements>
    <a:clrScheme name="NVIDIA26_Corp">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6B900"/>
      </a:hlink>
      <a:folHlink>
        <a:srgbClr val="A7A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VIDIA26_Corp Template_LIGHT">
  <a:themeElements>
    <a:clrScheme name="NVIDIA26_Corp">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A7A7A7"/>
      </a:accent6>
      <a:hlink>
        <a:srgbClr val="A7A7A7"/>
      </a:hlink>
      <a:folHlink>
        <a:srgbClr val="A7A7A7"/>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000" kern="100" dirty="0" smtClean="0"/>
        </a:defPPr>
      </a:lstStyle>
    </a:txDef>
  </a:objectDefaults>
  <a:extraClrSchemeLst/>
  <a:extLst>
    <a:ext uri="{05A4C25C-085E-4340-85A3-A5531E510DB2}">
      <thm15:themeFamily xmlns:thm15="http://schemas.microsoft.com/office/thememl/2012/main" name="Presentation1" id="{181A97F3-0346-421B-8F1A-433CB50E183A}" vid="{B33A3A3D-932B-464A-A279-ED424C45256D}"/>
    </a:ext>
  </a:extLst>
</a:theme>
</file>

<file path=ppt/theme/theme3.xml><?xml version="1.0" encoding="utf-8"?>
<a:theme xmlns:a="http://schemas.openxmlformats.org/drawingml/2006/main" name="Office Theme">
  <a:themeElements>
    <a:clrScheme name="NVIDIA 26">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A7A7A7"/>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1D13C5C-4FD0-154A-B2FE-98C3679A6AC4}">
  <we:reference id="WA200010001" version="1.0.0.1" store="Omex" storeType="OMEX"/>
  <we:alternateReferences>
    <we:reference id="WA200010001" version="1.0.0.1" store="WA200010001" storeType="OMEX"/>
  </we:alternateReferences>
  <we:properties>
    <we:property name="claude.fileId" value="&quot;f24c91d6-1cf4-4e4d-882b-15ce3010f862&quot;"/>
  </we:properties>
  <we:bindings/>
  <we:snapshot xmlns:r="http://schemas.openxmlformats.org/officeDocument/2006/relationships"/>
</we:webextension>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otalTime>0</TotalTime>
  <Words>10392</Words>
  <Application>Microsoft Macintosh PowerPoint</Application>
  <PresentationFormat>Custom</PresentationFormat>
  <Paragraphs>1093</Paragraphs>
  <Slides>39</Slides>
  <Notes>15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39</vt:i4>
      </vt:variant>
    </vt:vector>
  </HeadingPairs>
  <TitlesOfParts>
    <vt:vector size="47" baseType="lpstr">
      <vt:lpstr>Consolas</vt:lpstr>
      <vt:lpstr>Arial</vt:lpstr>
      <vt:lpstr>Roboto Mono</vt:lpstr>
      <vt:lpstr>Roboto Mono Medium</vt:lpstr>
      <vt:lpstr>NVIDIA Sans Medium</vt:lpstr>
      <vt:lpstr>NVIDIA Sans</vt:lpstr>
      <vt:lpstr>NVIDIA26_Corp Template_LIGHT_v2</vt:lpstr>
      <vt:lpstr>NVIDIA26_Corp Template_LIGHT</vt:lpstr>
      <vt:lpstr>PowerPoint Presentation</vt:lpstr>
      <vt:lpstr>PowerPoint Presentation</vt:lpstr>
      <vt:lpstr>PowerPoint Presentation</vt:lpstr>
      <vt:lpstr>PowerPoint Presentation</vt:lpstr>
      <vt:lpstr>AST Lowering</vt:lpstr>
      <vt:lpstr>PowerPoint Presentation</vt:lpstr>
      <vt:lpstr>PowerPoint Presentation</vt:lpstr>
      <vt:lpstr>PowerPoint Presentation</vt:lpstr>
      <vt:lpstr>DkgDSL v2: Keep Your Python</vt:lpstr>
      <vt:lpstr>PowerPoint Presentation</vt:lpstr>
      <vt:lpstr>PowerPoint Presentation</vt:lpstr>
      <vt:lpstr>PowerPoint Presentation</vt:lpstr>
      <vt:lpstr>The Python File We Write</vt:lpstr>
      <vt:lpstr>AST rewrite</vt:lpstr>
      <vt:lpstr>The MLIR Tracing Produces</vt:lpstr>
      <vt:lpstr>PowerPoint Presentation</vt:lpstr>
      <vt:lpstr>PowerPoint Presentation</vt:lpstr>
      <vt:lpstr>PowerPoint Presentation</vt:lpstr>
      <vt:lpstr>PowerPoint Presentation</vt:lpstr>
      <vt:lpstr>PowerPoint Presentation</vt:lpstr>
      <vt:lpstr>PowerPoint Presentation</vt:lpstr>
      <vt:lpstr>A Torture Test Example</vt:lpstr>
      <vt:lpstr>PowerPoint Presentation</vt:lpstr>
      <vt:lpstr>Beyond Differential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Corpus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Guray Ozen</cp:lastModifiedBy>
  <cp:revision>2</cp:revision>
  <dcterms:modified xsi:type="dcterms:W3CDTF">2026-08-21T12:21:53Z</dcterms:modified>
</cp:coreProperties>
</file>