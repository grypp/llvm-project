
<file path=[Content_Types].xml><?xml version="1.0" encoding="utf-8"?>
<Types xmlns="http://schemas.openxmlformats.org/package/2006/content-types">
  <Default Extension="bin" ContentType="application/vnd.openxmlformats-officedocument.presentationml.printerSettings"/>
  <Default Extension="fntdata" ContentType="application/x-fontdata"/>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0" autoCompressPictures="0" embedTrueTypeFonts="1">
  <p:sldMasterIdLst>
    <p:sldMasterId id="2147483648" r:id="rId1"/>
  </p:sld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 id="289" r:id="rId46"/>
    <p:sldId id="290" r:id="rId47"/>
    <p:sldId id="291" r:id="rId48"/>
    <p:sldId id="292" r:id="rId49"/>
    <p:sldId id="293" r:id="rId50"/>
    <p:sldId id="294" r:id="rId51"/>
    <p:sldId id="295" r:id="rId52"/>
    <p:sldId id="296" r:id="rId53"/>
    <p:sldId id="297" r:id="rId54"/>
  </p:sldIdLst>
  <p:sldSz cx="9144000" cy="5143500" type="screen16x9"/>
  <p:notesSz cx="6858000" cy="9144000"/>
  <p:embeddedFontLst>
    <p:embeddedFont>
      <p:font typeface="NVIDIA Sans"/>
      <p:regular r:id="rIdEmbeddedFont1"/>
      <p:bold r:id="rIdEmbeddedFont2"/>
    </p:embeddedFont>
    <p:embeddedFont>
      <p:font typeface="NVIDIA Sans Light"/>
      <p:regular r:id="rIdEmbeddedFont3"/>
    </p:embeddedFont>
    <p:embeddedFont>
      <p:font typeface="JetBrains Mono"/>
      <p:regular r:id="rIdEmbeddedFont4"/>
      <p:bold r:id="rIdEmbeddedFont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EmbeddedFont1" Type="http://schemas.openxmlformats.org/officeDocument/2006/relationships/font" Target="fonts/codexFont1.fntdata"/><Relationship Id="rIdEmbeddedFont2" Type="http://schemas.openxmlformats.org/officeDocument/2006/relationships/font" Target="fonts/codexFont2.fntdata"/><Relationship Id="rIdEmbeddedFont3" Type="http://schemas.openxmlformats.org/officeDocument/2006/relationships/font" Target="fonts/codexFont3.fntdata"/><Relationship Id="rIdEmbeddedFont4" Type="http://schemas.openxmlformats.org/officeDocument/2006/relationships/font" Target="fonts/codexFont4.fntdata"/><Relationship Id="rIdEmbeddedFont5" Type="http://schemas.openxmlformats.org/officeDocument/2006/relationships/font" Target="fonts/codexFont5.fntdata"/><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8" Type="http://schemas.openxmlformats.org/officeDocument/2006/relationships/notesMaster" Target="notesMasters/notesMaster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 Id="rId49" Type="http://schemas.openxmlformats.org/officeDocument/2006/relationships/slide" Target="slides/slide37.xml"/><Relationship Id="rId50" Type="http://schemas.openxmlformats.org/officeDocument/2006/relationships/slide" Target="slides/slide38.xml"/><Relationship Id="rId51" Type="http://schemas.openxmlformats.org/officeDocument/2006/relationships/slide" Target="slides/slide39.xml"/><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01 — How to build a Python DSL for MLIR</a:t>
            </a:r>
          </a:p>
          <a:p>
            <a:r>
              <a:t>Owner: Guray Ozen</a:t>
            </a:r>
          </a:p>
          <a:p>
            <a:r>
              <a:t>Clock: 00:00–00:15</a:t>
            </a:r>
          </a:p>
          <a:p>
            <a:r>
              <a:t>Target duration: 00:15</a:t>
            </a:r>
          </a:p>
          <a:p/>
          <a:p>
            <a:r>
              <a:t>Guray opens the tutorial. Amir’s role and affiliation await confirmation; do not invent them. Schedule: Guray 30 minutes, Amir 10 minutes on advanced mutation tracking, Guray returns for a five-slide Tile IR adapter walkthrough. The talk date is supplied by the presenters; the official event runs October 26–28. The purpose is to extract DkgDSL, not to define the framework by the subset currently landed in the prototype.</a:t>
            </a:r>
          </a:p>
          <a:p/>
          <a:p>
            <a:r>
              <a:t>SOURCES / PREPARATION</a:t>
            </a:r>
          </a:p>
          <a:p>
            <a:r>
              <a:t>https://llvm.org/devmtg/2026-10/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02 — Why a Python DSL for MLIR?</a:t>
            </a:r>
          </a:p>
          <a:p>
            <a:r>
              <a:t>Owner: Guray Ozen</a:t>
            </a:r>
          </a:p>
          <a:p>
            <a:r>
              <a:t>Clock: 00:15–01:15</a:t>
            </a:r>
          </a:p>
          <a:p>
            <a:r>
              <a:t>Target duration: 01:00</a:t>
            </a:r>
          </a:p>
          <a:p/>
          <a:p>
            <a:r>
              <a:t>Motivation is broader than GPU kernels. First, a public-to-internal-to-LLVM pipeline often makes an internal transformation awkward to test: directly generate the internal dialect with Python and test that pass. Second, an MLIR dialect can describe recipes consumed by a non-MLIR runtime; it need not lower to LLVM. Do not name the private recipe dialect. Third, a downstream DSL can reuse only services it needs. Fourth, NVIDIA CuTe DSL is an external production example of this approach; it is not the name of our tutorial implementation.</a:t>
            </a:r>
          </a:p>
          <a:p/>
          <a:p>
            <a:r>
              <a:t>V6 framing: Four useful things to build with mlir dsl. Use as much of the infrastructure as your dialect needs.</a:t>
            </a:r>
          </a:p>
          <a:p/>
          <a:p>
            <a:r>
              <a:t>Presenter context: Generate the intermediate IR directly; test its lowering in isolation. Use Python to author IR for a consumer outside MLIR. Bring JIT, caching, and environment management to your own DSL. A production example: NVIDIA CuTe DSL / CUTLASS Python.</a:t>
            </a:r>
          </a:p>
          <a:p/>
          <a:p>
            <a:r>
              <a:t>SOURCES / PREPARATION</a:t>
            </a:r>
          </a:p>
          <a:p>
            <a:r>
              <a:t>https://docs.nvidia.com/cutlass/latest/media/docs/pythonDSL/cute_dsl_general/dsl_introduction.html</a:t>
            </a:r>
          </a:p>
          <a:p>
            <a:r>
              <a:t>mlir/python/mlir/dsl/core/dsl.py:387</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03 — One core. Many DSLs.</a:t>
            </a:r>
          </a:p>
          <a:p>
            <a:r>
              <a:t>Owner: Guray Ozen</a:t>
            </a:r>
          </a:p>
          <a:p>
            <a:r>
              <a:t>Clock: 01:15–02:00</a:t>
            </a:r>
          </a:p>
          <a:p>
            <a:r>
              <a:t>Target duration: 00:45</a:t>
            </a:r>
          </a:p>
          <a:p/>
          <a:p>
            <a:r>
              <a:t>Redrawn from cutedsl_llvm25.pptx slides 46–47, with editable boxes. BaseDSL provides common infrastructure; some boxes are extension points rather than a promise that every downstream dialect requires zero work. The default mlir dsl implementation supplies numeric wrappers and SCF callbacks. The lower row deliberately uses a generic sub-DSL name. The feature boxes summarize the extraction target. Some mechanisms are already present in the LLVM checkout; Array and richer compile/export APIs still need extraction. DialectPlugin is a modular addition to the original subclass hooks. Do not interpret a shared box as a claim that every DKG feature is already ported.</a:t>
            </a:r>
          </a:p>
          <a:p/>
          <a:p>
            <a:r>
              <a:t>V6 framing: Extract the common machinery from DkgDSL; keep target choices in sub-DSLs. DkgDSL base_dsl → mlir dsl core; dialect operations and device policy stay downstream.</a:t>
            </a:r>
          </a:p>
          <a:p/>
          <a:p>
            <a:r>
              <a:t>Presenter context: </a:t>
            </a:r>
          </a:p>
          <a:p/>
          <a:p>
            <a:r>
              <a:t>SOURCES / PREPARATION</a:t>
            </a:r>
          </a:p>
          <a:p>
            <a:r>
              <a:t>presentations/llvm-mlir-dsl-2026/cutedsl_llvm25.pptx:46-47</a:t>
            </a:r>
          </a:p>
          <a:p>
            <a:r>
              <a:t>mlir/python/mlir/dsl/core/dsl.py:387</a:t>
            </a:r>
          </a:p>
          <a:p>
            <a:r>
              <a:t>mlir/python/mlir/dsl/core/plugin.py:27</a:t>
            </a:r>
          </a:p>
          <a:p>
            <a:r>
              <a:t>/home/gozen/work/dkg4/DkgDSL/base_dsl/dsl.py</a:t>
            </a:r>
          </a:p>
          <a:p>
            <a:r>
              <a:t>/home/gozen/work/dkg4/DkgDSL/base_dsl/compiler.py</a:t>
            </a:r>
          </a:p>
          <a:p>
            <a:r>
              <a:t>/home/gozen/work/dkg4/DkgDSL/base_dsl/array.py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04 — Design principles</a:t>
            </a:r>
          </a:p>
          <a:p>
            <a:r>
              <a:t>Owner: Guray Ozen</a:t>
            </a:r>
          </a:p>
          <a:p>
            <a:r>
              <a:t>Clock: 02:00–02:30</a:t>
            </a:r>
          </a:p>
          <a:p>
            <a:r>
              <a:t>Target duration: 00:30</a:t>
            </a:r>
          </a:p>
          <a:p/>
          <a:p>
            <a:r>
              <a:t>Keep this slide short. These are design goals: ordinary Python remains the host metaprogram. The staged subset and explicit DSL APIs describe target operations. We are not claiming arbitrary Python objects or effects can execute in the compiled target.</a:t>
            </a:r>
          </a:p>
          <a:p/>
          <a:p>
            <a:r>
              <a:t>V6 framing: Keep the language familiar. This leads to multi-stage programming.</a:t>
            </a:r>
          </a:p>
          <a:p/>
          <a:p>
            <a:r>
              <a:t>Presenter context: Reuse Python objects, imports, libraries, and metaprogramming. Keep Python’s meaning; expose MLIR through a DSL namespace.</a:t>
            </a:r>
          </a:p>
          <a:p/>
          <a:p>
            <a:r>
              <a:t>SOURCES / PREPARATION</a:t>
            </a:r>
          </a:p>
          <a:p>
            <a:r>
              <a:t>mlir/python/mlir/dsl/__init__.py:5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05 — What is multi-stage programming?</a:t>
            </a:r>
          </a:p>
          <a:p>
            <a:r>
              <a:t>Owner: Guray Ozen</a:t>
            </a:r>
          </a:p>
          <a:p>
            <a:r>
              <a:t>Clock: 02:30–03:15</a:t>
            </a:r>
          </a:p>
          <a:p>
            <a:r>
              <a:t>Target duration: 00:45</a:t>
            </a:r>
          </a:p>
          <a:p/>
          <a:p>
            <a:r>
              <a:t>Read the three visual pipelines from top to bottom. Traditional compiler: source.cpp goes through the compiler and produces a binary. Multi-stage compilers: a generated binary is itself a generator; RUN it to emit the next source.cpp, compile that source, and continue as needed. The loop explicitly says to run the binary and generate the next stage: merely compiling a generator does not execute it. The C++ stages and repetition arrow illustrate the idea, not a requirement that every multi-stage program cycle forever or use C++ at every stage. In our case the generator is Python, so the Python interpreter executes source.py and builds MLIR. The diagram shows the requested source.py → Python interpreter → *.mlir → mlir-opt → binary sequence. The final arrow is labelled LLVM codegen / JIT because mlir-opt runs optimization/lowering passes rather than directly producing a CPU binary. For this tutorial the generated MLIR can stay in memory: Compiler uses PassManager and ExecutionEngine, rather than spawning the mlir-opt executable or necessarily creating a .mlir file. Python is the meta-language; MLIR is the object language. Known computations execute while Python generates the program; runtime computations remain in its IR.</a:t>
            </a:r>
          </a:p>
          <a:p/>
          <a:p>
            <a:r>
              <a:t>V6 framing: Run a program to generate the next program. Python is the generator; MLIR is the generated program.</a:t>
            </a:r>
          </a:p>
          <a:p/>
          <a:p>
            <a:r>
              <a:t>SOURCES / PREPARATION</a:t>
            </a:r>
          </a:p>
          <a:p>
            <a:r>
              <a:t>mlir/python/mlir/dsl/core/dsl.py:1869</a:t>
            </a:r>
          </a:p>
          <a:p>
            <a:r>
              <a:t>mlir/python/mlir/dsl/types/typing.py:688</a:t>
            </a:r>
          </a:p>
          <a:p>
            <a:r>
              <a:t>mlir/test/python/dsl/expression.py:8</a:t>
            </a:r>
          </a:p>
          <a:p>
            <a:r>
              <a:t>mlir/docs/Tutorials/MlirOpt.md:73</a:t>
            </a:r>
          </a:p>
          <a:p>
            <a:r>
              <a:t>mlir/python/mlir/dsl/compiler/compiler.py:351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06 — Why multi-stage programming?</a:t>
            </a:r>
          </a:p>
          <a:p>
            <a:r>
              <a:t>Owner: Guray Ozen</a:t>
            </a:r>
          </a:p>
          <a:p>
            <a:r>
              <a:t>Clock: 03:15–04:00</a:t>
            </a:r>
          </a:p>
          <a:p>
            <a:r>
              <a:t>Target duration: 00:45</a:t>
            </a:r>
          </a:p>
          <a:p/>
          <a:p>
            <a:r>
              <a:t>Two reasons for multi-stage programming. First, use the entire host language for the meta-program: Python objects, imports, libraries, helper functions, and metaprogramming execute while constructing the target program. The generator is ordinary Python; this does not mean arbitrary Python effects execute in the compiled target. Second, keep MLIR types and builders in an explicit DSL namespace, without replacing Python builtins globally. In the tutorial namespace, imported as m, a for loop over range(4) executes during generation, while a for loop over m.range(4) emits scf.for even though its bound is known. The figure shows the loop iterator expressions, not standalone complete programs; both are inside @m.jit. This contrast is covered by the unrolled and forced examples in meta_loop.py. Namespaces make builder selection explicit; they are not the only staging mechanism. Proxy values and binding time also control staging, and native range over a runtime bound can become scf.for. The same Python generator can compose builders for different MLIR dialects. The next slide introduces mlir dsl as the tutorial implementation of these ideas.</a:t>
            </a:r>
          </a:p>
          <a:p/>
          <a:p>
            <a:r>
              <a:t>V6 framing: Keep Python’s expressiveness. Make MLIR generation explicit. Python builds the program. The DSL namespace makes MLIR capture explicit.</a:t>
            </a:r>
          </a:p>
          <a:p/>
          <a:p>
            <a:r>
              <a:t>Presenter context: Objects, imports, libraries, and metaprogramming are available to build the program. Put MLIR types and builders in a DSL namespace. Choose what to capture through that API.</a:t>
            </a:r>
          </a:p>
          <a:p/>
          <a:p>
            <a:r>
              <a:t>SOURCES / PREPARATION</a:t>
            </a:r>
          </a:p>
          <a:p>
            <a:r>
              <a:t>mlir/python/mlir/dsl/__init__.py:5</a:t>
            </a:r>
          </a:p>
          <a:p>
            <a:r>
              <a:t>mlir/test/python/dsl/meta_loop.py:4</a:t>
            </a:r>
          </a:p>
          <a:p>
            <a:r>
              <a:t>mlir/python/mlir/dsl/frontend/ast_helpers.py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07 — How to build a Python DSL for MLIR</a:t>
            </a:r>
          </a:p>
          <a:p>
            <a:r>
              <a:t>Owner: Guray Ozen</a:t>
            </a:r>
          </a:p>
          <a:p>
            <a:r>
              <a:t>Clock: 04:00–05:15</a:t>
            </a:r>
          </a:p>
          <a:p>
            <a:r>
              <a:t>Target duration: 01:15</a:t>
            </a:r>
          </a:p>
          <a:p/>
          <a:p>
            <a:r>
              <a:t>This is the central idea. @jit traces a decorated Python function with proxy values for runtime arguments. Python computes with known data and performs normal object dispatch. Operator methods and namespaced builders append MLIR operations. A small AST pass will later capture native runtime control flow. The output can be lowered and executed, tested as IR, or consumed as a recipe. The diagram shows a body excerpt, omitting the llvm.func wrapper and SSA name details. This is the architecture, not an AST interpreter for all of Python. DKG already implements this model. The extraction separates reusable capture, value, and compilation infrastructure from CuTe/CUDA imports, target pipelines, and launch/runtime policy. The displayed namespace is the mlir dsl teaching surface.</a:t>
            </a:r>
          </a:p>
          <a:p/>
          <a:p>
            <a:r>
              <a:t>V6 framing: Run Python. Let DSL values and builders generate the target program. The interpreter runs the generator; your dialect defines the generated program.</a:t>
            </a:r>
          </a:p>
          <a:p/>
          <a:p>
            <a:r>
              <a:t>Presenter context: factor = 3 Compute in Python x = SSA value Emit MLIR operations</a:t>
            </a:r>
          </a:p>
          <a:p/>
          <a:p>
            <a:r>
              <a:t>SOURCES / PREPARATION</a:t>
            </a:r>
          </a:p>
          <a:p>
            <a:r>
              <a:t>mlir/python/mlir/dsl/core/dsl.py:2000</a:t>
            </a:r>
          </a:p>
          <a:p>
            <a:r>
              <a:t>mlir/python/mlir/dsl/types/typing.py:688</a:t>
            </a:r>
          </a:p>
          <a:p>
            <a:r>
              <a:t>mlir/test/python/dsl/expression.py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08 — One program. Two binding times.</a:t>
            </a:r>
          </a:p>
          <a:p>
            <a:r>
              <a:t>Owner: Guray Ozen</a:t>
            </a:r>
          </a:p>
          <a:p>
            <a:r>
              <a:t>Clock: 05:15–06:00</a:t>
            </a:r>
          </a:p>
          <a:p>
            <a:r>
              <a:t>Target duration: 00:45</a:t>
            </a:r>
          </a:p>
          <a:p/>
          <a:p>
            <a:r>
              <a:t>The user’s “non-Python is captured” is expressed as DSL values and operations: unsupported arbitrary objects are not automatically translated. Both are manipulated by the Python interpreter during generation. The staged value represents an SSA result, and its operations produce target IR. Native control flow depends on whether its condition or bounds are known. Use the following examples to make the distinction concrete. DKG LanguageSemantic.md supplies the Meta/Stage model. mlir dsl intentionally changes argument defaults: unannotated Python args specialize, Constexpr is optional, and bare range follows the binding time of its bound.</a:t>
            </a:r>
          </a:p>
          <a:p/>
          <a:p>
            <a:r>
              <a:t>V6 framing: Python is the metaprogram. DSL operations become MLIR. Binding time decides what runs now and what runs in the generated program.</a:t>
            </a:r>
          </a:p>
          <a:p/>
          <a:p>
            <a:r>
              <a:t>Presenter context: Objects, dictionaries, functions, and configuration use Python semantics. Typed proxy values and builders describe work for the generated program.</a:t>
            </a:r>
          </a:p>
          <a:p/>
          <a:p>
            <a:r>
              <a:t>SOURCES / PREPARATION</a:t>
            </a:r>
          </a:p>
          <a:p>
            <a:r>
              <a:t>mlir/python/mlir/dsl/types/typing.py:795</a:t>
            </a:r>
          </a:p>
          <a:p>
            <a:r>
              <a:t>mlir/python/mlir/dsl/frontend/ast_helpers.py:302</a:t>
            </a:r>
          </a:p>
          <a:p>
            <a:r>
              <a:t>/home/gozen/work/dkg4/DkgDSL/LanguageSemantic.md:13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09 — Agenda</a:t>
            </a:r>
          </a:p>
          <a:p>
            <a:r>
              <a:t>Owner: Guray Ozen</a:t>
            </a:r>
          </a:p>
          <a:p>
            <a:r>
              <a:t>Clock: 06:00–06:15</a:t>
            </a:r>
          </a:p>
          <a:p>
            <a:r>
              <a:t>Target duration: 00:15</a:t>
            </a:r>
          </a:p>
          <a:p/>
          <a:p>
            <a:r>
              <a:t>Plain text agenda: no boxes or visible minute ranges. Guray presents the core until minute 30. Amir has minutes 30–40. Guray returns for five Tile IR adapter slides from minute 40 to 45. The old GenAI feedback section is removed from this new tutorial structure.</a:t>
            </a:r>
          </a:p>
          <a:p/>
          <a:p>
            <a:r>
              <a:t>V6 framing: From a reusable core to your own dialect. </a:t>
            </a:r>
          </a:p>
          <a:p/>
          <a:p>
            <a:r>
              <a:t>Presenter context: </a:t>
            </a:r>
          </a:p>
          <a:p/>
          <a:p>
            <a:r>
              <a:t>SOURCES / PREPARATION</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Start with BaseDSL</a:t>
            </a:r>
          </a:p>
          <a:p>
            <a:r>
              <a:t>Owner: Guray Ozen</a:t>
            </a:r>
          </a:p>
          <a:p>
            <a:r>
              <a:t>Clock: 06:15–07:00</a:t>
            </a:r>
          </a:p>
          <a:p>
            <a:r>
              <a:t>Target duration: 00:45</a:t>
            </a:r>
          </a:p>
          <a:p/>
          <a:p>
            <a:r>
              <a:t>DkgDSL already has BaseDSL and concrete CuTe/CUDA Tile subclasses. This slide uses the extracted plugin API to package target policy. target_config stands for the configured constructor fields; a concrete CPU example is dict(compiler_provider=m.Compiler(passmanager,execution_engine), pass_sm_arch_name="cubin-chip", preprocess=False). Import execution_engine and passmanager from mlir. The full tested prototype constructor is in verification/v6. A future cleanup can replace the GPU-specific option key with generic target configuration; do not imply an unconfigured subclass is executable. The takeaway is to inherit the reusable orchestration and supply policy once.</a:t>
            </a:r>
          </a:p>
          <a:p/>
          <a:p>
            <a:r>
              <a:t>V6 framing: Give your DSL an identity and a compiler provider. A subclass chooses policy; BaseDSL supplies shared infrastructure.</a:t>
            </a:r>
          </a:p>
          <a:p/>
          <a:p>
            <a:r>
              <a:t>Presenter context: Capture, specialization, compilation, and invocation. Compiler, passes, value adapters, and control-flow builders.</a:t>
            </a:r>
          </a:p>
          <a:p/>
          <a:p>
            <a:r>
              <a:t>SOURCES / PREPARATION</a:t>
            </a:r>
          </a:p>
          <a:p>
            <a:r>
              <a:t>mlir/python/mlir/dsl/core/dsl.py:428</a:t>
            </a:r>
          </a:p>
          <a:p>
            <a:r>
              <a:t>verification/v6/mlir-tutorial-core-smoke.py</a:t>
            </a:r>
          </a:p>
          <a:p>
            <a:r>
              <a:t>/home/gozen/work/dkg4/DkgDSL/base_dsl/dsl.py:348</a:t>
            </a:r>
          </a:p>
          <a:p>
            <a:r>
              <a:t>/home/gozen/work/dkg4/DkgDSL/cutlass_dsl/cutlass.py:603</a:t>
            </a:r>
          </a:p>
          <a:p>
            <a:r>
              <a:t>/home/gozen/work/dkg4/DkgDSL/cuda_tile_dsl/cuda_tile.py:622</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BaseDSL building blocks</a:t>
            </a:r>
          </a:p>
          <a:p>
            <a:r>
              <a:t>Owner: Guray Ozen</a:t>
            </a:r>
          </a:p>
          <a:p>
            <a:r>
              <a:t>Clock: 07:00–07:30</a:t>
            </a:r>
          </a:p>
          <a:p>
            <a:r>
              <a:t>Target duration: 00:30</a:t>
            </a:r>
          </a:p>
          <a:p/>
          <a:p>
            <a:r>
              <a:t>These are real BaseDSL responsibilities. name controls the environment prefix through EnvironmentVarManager. Pass pipeline precedence: call override, environment override, then plugin passes plus core lowering. Name mangling includes Meta arguments; do not imply changing the Python subclass name alone changes the environment prefix. No public IR-only consumer adapter is claimed to be shipped; that is a use of the framework extension surface. DKG BaseDSL is the source of these services. The extraction cleans up imports, renames the environment prefix, and makes host entry/pipeline/backend choices explicit.</a:t>
            </a:r>
          </a:p>
          <a:p/>
          <a:p>
            <a:r>
              <a:t>V6 framing: Six services that should not be rebuilt for every dialect. Keep the service classes; move target-specific defaults behind providers and plugins.</a:t>
            </a:r>
          </a:p>
          <a:p/>
          <a:p>
            <a:r>
              <a:t>Presenter context: </a:t>
            </a:r>
          </a:p>
          <a:p/>
          <a:p>
            <a:r>
              <a:t>SOURCES / PREPARATION</a:t>
            </a:r>
          </a:p>
          <a:p>
            <a:r>
              <a:t>mlir/python/mlir/dsl/core/dsl.py:533</a:t>
            </a:r>
          </a:p>
          <a:p>
            <a:r>
              <a:t>mlir/python/mlir/dsl/core/dsl.py:814</a:t>
            </a:r>
          </a:p>
          <a:p>
            <a:r>
              <a:t>mlir/python/mlir/dsl/core/dsl.py:888</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Environment, per DSL</a:t>
            </a:r>
          </a:p>
          <a:p>
            <a:r>
              <a:t>Owner: Guray Ozen</a:t>
            </a:r>
          </a:p>
          <a:p>
            <a:r>
              <a:t>Clock: 07:30–08:00</a:t>
            </a:r>
          </a:p>
          <a:p>
            <a:r>
              <a:t>Target duration: 00:30</a:t>
            </a:r>
          </a:p>
          <a:p/>
          <a:p>
            <a:r>
              <a:t>EnvironmentVarManager/env_var are actual extracted APIs from mlir.dsl.core.env_manager. The class is an excerpt: configure BaseDSL as on the preceding setup slide. Prefix comes from name in the constructor, not Python class spelling. The supplied matrix reports29 extracted settings versus49 in DKG at its snapshot; counts are preparation metadata rather than stable API promises.</a:t>
            </a:r>
          </a:p>
          <a:p/>
          <a:p>
            <a:r>
              <a:t>V6 framing: Give each DSL its own prefix and make compile-affecting settings explicit. Reuse the manager; keep GPU architecture and device-specific defaults in the sub-DSL.</a:t>
            </a:r>
          </a:p>
          <a:p/>
          <a:p>
            <a:r>
              <a:t>Presenter context: MY_DSL_PRINT_IR MY_DSL_CACHE_DIR Compile-affecting values participate in specialization.</a:t>
            </a:r>
          </a:p>
          <a:p/>
          <a:p>
            <a:r>
              <a:t>SOURCES / PREPARATION</a:t>
            </a:r>
          </a:p>
          <a:p>
            <a:r>
              <a:t>mlir/python/mlir/dsl/core/env_manager.py</a:t>
            </a:r>
          </a:p>
          <a:p>
            <a:r>
              <a:t>/home/gozen/work/dkg4/DkgDSL/base_dsl/env_manager.py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Plug in your dialect</a:t>
            </a:r>
          </a:p>
          <a:p>
            <a:r>
              <a:t>Owner: Guray Ozen</a:t>
            </a:r>
          </a:p>
          <a:p>
            <a:r>
              <a:t>Clock: 08:00–08:45</a:t>
            </a:r>
          </a:p>
          <a:p>
            <a:r>
              <a:t>Target duration: 00:45</a:t>
            </a:r>
          </a:p>
          <a:p/>
          <a:p>
            <a:r>
              <a:t>mydialect bindings and pass names are downstream placeholders. The methods and class-level plugins protocol are real. This example replaces the default plugin list; use [*m.MlirDSL.plugins, MyDialectPlugin()] to retain them. register_leaf registrations for custom values should happen once at module import. A tested concrete example uses the upstream complex dialect and convert-complex-to-llvm; its log is included in verification/v6. DialectPlugin is new in the extraction. Original DKG uses BaseDSL subclass overrides and executor callbacks rather than this exact declarative class-list protocol. Additional plugin hooks include shared_libs, attach_to_module and wrap_compiled_function, used by optional exports.</a:t>
            </a:r>
          </a:p>
          <a:p/>
          <a:p>
            <a:r>
              <a:t>V6 framing: Package DkgDSL’s extension points as an explicit plugin lifecycle. Your plugin supplies the dialect-specific pieces.</a:t>
            </a:r>
          </a:p>
          <a:p/>
          <a:p>
            <a:r>
              <a:t>Presenter context: Use bindings built against the same MLIR runtime. Provide your lowering passes and runtime dependencies.</a:t>
            </a:r>
          </a:p>
          <a:p/>
          <a:p>
            <a:r>
              <a:t>SOURCES / PREPARATION</a:t>
            </a:r>
          </a:p>
          <a:p>
            <a:r>
              <a:t>mlir/python/mlir/dsl/core/plugin.py:27</a:t>
            </a:r>
          </a:p>
          <a:p>
            <a:r>
              <a:t>verification/v6/mlir-tutorial-core-smoke.py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 @jit and @kernel</a:t>
            </a:r>
          </a:p>
          <a:p>
            <a:r>
              <a:t>Owner: Guray Ozen</a:t>
            </a:r>
          </a:p>
          <a:p>
            <a:r>
              <a:t>Clock: 08:45–10:00</a:t>
            </a:r>
          </a:p>
          <a:p>
            <a:r>
              <a:t>Target duration: 01:15</a:t>
            </a:r>
          </a:p>
          <a:p/>
          <a:p>
            <a:r>
              <a:t>The diagram shows the familiar default host path from the reference slide. Shared decorators call target hooks, rather than enforcing one universal GPU calling convention. CuTe/default extracted GPU plugin uses a host @jit launch; the existing DKG CudaTileIR backend sets device_compilation_only=True and directs users to call @kernel from Python. Nested @jit/Python helpers execute during generation and inline their IR. The closing five slides explain the existing Tile target and its extraction. The prototype default LAUNCH_OUTSIDE_JIT restriction is specific to its GPU plugin, not a limit of DkgDSL architecture.</a:t>
            </a:r>
          </a:p>
          <a:p/>
          <a:p>
            <a:r>
              <a:t>V6 framing: @jit is general; @kernel describes a GPU kernel. The familiar host path is Python → @jit → @kernel; device-only sub-DSLs can launch directly.</a:t>
            </a:r>
          </a:p>
          <a:p/>
          <a:p>
            <a:r>
              <a:t>Presenter context: Specialize, compile, and execute the host entry. Capture a device kernel and its GPU launch. Nested helpers run during tracing. Tile IR also supports Python → @kernel directly.</a:t>
            </a:r>
          </a:p>
          <a:p/>
          <a:p>
            <a:r>
              <a:t>SOURCES / PREPARATION</a:t>
            </a:r>
          </a:p>
          <a:p>
            <a:r>
              <a:t>presentations/llvm-mlir-dsl-2026/cutedsl_llvm25.pptx:49</a:t>
            </a:r>
          </a:p>
          <a:p>
            <a:r>
              <a:t>mlir/python/mlir/dsl/core/dsl.py:344</a:t>
            </a:r>
          </a:p>
          <a:p>
            <a:r>
              <a:t>mlir/python/mlir/dsl/core/dsl.py:668</a:t>
            </a:r>
          </a:p>
          <a:p>
            <a:r>
              <a:t>/home/gozen/work/dkg4/DkgDSL/base_dsl/dsl.py:769</a:t>
            </a:r>
          </a:p>
          <a:p>
            <a:r>
              <a:t>/home/gozen/work/dkg4/DkgDSL/cuda_tile_dsl/cuda_tile.py:706</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 Types: Python values → MLIR</a:t>
            </a:r>
          </a:p>
          <a:p>
            <a:r>
              <a:t>Owner: Guray Ozen</a:t>
            </a:r>
          </a:p>
          <a:p>
            <a:r>
              <a:t>Clock: 10:00–11:00</a:t>
            </a:r>
          </a:p>
          <a:p>
            <a:r>
              <a:t>Target duration: 01:00</a:t>
            </a:r>
          </a:p>
          <a:p/>
          <a:p>
            <a:r>
              <a:t>The figure is the conceptual value model shared by the source and extracted implementation. DKG Numeric.value may hold a Python scalar or an IR value wrapper. NumericMeta carries width, dtype and MLIR type factories. After promotion, Python arithmetic on known payloads computes immediately; ArithValue operator methods emit arith.addi/addf. The smaller extracted implementation uses its own fixed emitter dispatch. Do not describe its __slots__ layout as the literal DKG class. These implementation differences preserve the same teaching model.</a:t>
            </a:r>
          </a:p>
          <a:p/>
          <a:p>
            <a:r>
              <a:t>V6 framing: One wrapper can hold a known Python value or an MLIR SSA value. The Python class carries type policy; the SSA value carries the MLIR type.</a:t>
            </a:r>
          </a:p>
          <a:p/>
          <a:p>
            <a:r>
              <a:t>V7 type walkthrough: x32 is a staged Int32; y64 is a staged Int64; f32 is staged Float32. Numeric wrappers hold a Python payload or an MLIR SSA value. m.Int32(7) does not emit eagerly: it materializes arith.constant when consumed as staged IR (or via .ir_value()). Python defaults at the conversion boundary are bool → Boolean, int → Int32 or Int64 if required, float → Float32. Signed Int32 plus Int64 implicitly widens via arith.extsi then emits arith.addi : i64. An explicit upcast is x32.to(m.Int64). Narrowing y64.to(m.Int32) emits arith.trunci, with no runtime range check. Integer to float emits sitofp; float to integer emits fptosi (unsigned counterparts use unsigned ops). Trying x32.to(int) raises PHASE_REQUIRES_CONSTANT: a runtime value cannot become a Python value during tracing. Incompatible FP8 format mixes raise TYPE_IMPLICIT_PROMOTION_UNSUPPORTED and require an explicit cast. Mixed signed/unsigned integer arithmetic is supported; do not claim it is inherently an error. Builtin MLIR types carry representation; arith provides operations. Scalars, Pointer/Vector/Struct, and custom leaves are completed on slides16–19. Conversion examples were executed against the current extracted implementation and the emitted module verified.</a:t>
            </a:r>
          </a:p>
          <a:p/>
          <a:p>
            <a:r>
              <a:t>SOURCES / PREPARATION</a:t>
            </a:r>
          </a:p>
          <a:p>
            <a:r>
              <a:t>mlir/python/mlir/dsl/types/typing.py:132</a:t>
            </a:r>
          </a:p>
          <a:p>
            <a:r>
              <a:t>mlir/python/mlir/dsl/types/typing.py:688</a:t>
            </a:r>
          </a:p>
          <a:p>
            <a:r>
              <a:t>mlir/python/mlir/dsl/types/typing.py:795</a:t>
            </a:r>
          </a:p>
          <a:p>
            <a:r>
              <a:t>/home/gozen/work/dkg4/DkgDSL/base_dsl/typing.py</a:t>
            </a:r>
          </a:p>
          <a:p>
            <a:r>
              <a:t>/home/gozen/work/dkg4/DkgDSL/_mlir_helpers/arith.py:571</a:t>
            </a:r>
          </a:p>
          <a:p>
            <a:r>
              <a:t>/home/gozen/work/llvm-project/mlir/python/mlir/dsl/types/typing.py:493</a:t>
            </a:r>
          </a:p>
          <a:p>
            <a:r>
              <a:t>/home/gozen/work/llvm-project/mlir/python/mlir/dsl/types/typing.py:780</a:t>
            </a:r>
          </a:p>
          <a:p>
            <a:r>
              <a:t>/home/gozen/work/llvm-project/mlir/python/mlir/dsl/types/typing.py:1096</a:t>
            </a:r>
          </a:p>
          <a:p>
            <a:r>
              <a:t>/home/gozen/work/llvm-project/mlir/python/mlir/dsl/_mlir_helpers/arith.py:128</a:t>
            </a:r>
          </a:p>
          <a:p>
            <a:r>
              <a:t>verification/v7/type-conversions.txt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 Beyond scalars</a:t>
            </a:r>
          </a:p>
          <a:p>
            <a:r>
              <a:t>Owner: Guray Ozen</a:t>
            </a:r>
          </a:p>
          <a:p>
            <a:r>
              <a:t>Clock: 11:00–11:45</a:t>
            </a:r>
          </a:p>
          <a:p>
            <a:r>
              <a:t>Target duration: 00:45</a:t>
            </a:r>
          </a:p>
          <a:p/>
          <a:p>
            <a:r>
              <a:t>Feature groups from the supplied extraction inventory. Pointer and math APIs are intentionally reduced versus DKG; do not imply all target-specific gather/swizzle/NVVM helpers are retained. Struct supports zero_init and packed policy; Vector is intentionally small. GridConstant/Constexpr retain role markers. GPU-specific pointer/address-space operations can stay downstream. The family list is a capability summary, not literal call syntax.</a:t>
            </a:r>
          </a:p>
          <a:p/>
          <a:p>
            <a:r>
              <a:t>V6 framing: Keep the common type machinery; extend the domain-specific values. Core types compose with registered leaves such as mydialect.Tensor.</a:t>
            </a:r>
          </a:p>
          <a:p/>
          <a:p>
            <a:r>
              <a:t>Presenter context: </a:t>
            </a:r>
          </a:p>
          <a:p/>
          <a:p>
            <a:r>
              <a:t>SOURCES / PREPARATION</a:t>
            </a:r>
          </a:p>
          <a:p>
            <a:r>
              <a:t>mlir/python/mlir/dsl/types/typing.py</a:t>
            </a:r>
          </a:p>
          <a:p>
            <a:r>
              <a:t>mlir/python/mlir/dsl/types/vector.py</a:t>
            </a:r>
          </a:p>
          <a:p>
            <a:r>
              <a:t>mlir/python/mlir/dsl/types/torch.py</a:t>
            </a:r>
          </a:p>
          <a:p>
            <a:r>
              <a:t>/home/gozen/work/dkg4/DkgDSL/base_dsl/typing.py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 Local type inference</a:t>
            </a:r>
          </a:p>
          <a:p>
            <a:r>
              <a:t>Owner: Guray Ozen</a:t>
            </a:r>
          </a:p>
          <a:p>
            <a:r>
              <a:t>Clock: 11:45–12:30</a:t>
            </a:r>
          </a:p>
          <a:p>
            <a:r>
              <a:t>Target duration: 00:45</a:t>
            </a:r>
          </a:p>
          <a:p/>
          <a:p>
            <a:r>
              <a:t>Default literal coercion: bool to Boolean, int to Int32 or Int64 if outside signed32 range, float to Float32. Normal Python integers remain normal Python integers until crossing the DSL conversion boundary. Numeric operators have promotion policy; comparisons return Boolean. Branch results must have compatible leaf types; there is no general automatic i32/f32 join conversion. Explicit annotations and casts can override boundary choices. This slide presents the deliberate mlir dsl policy from the supplied feature matrix: unannotated Python scalars are Meta, unlike DKG host argument adapters that stage them by default.</a:t>
            </a:r>
          </a:p>
          <a:p/>
          <a:p>
            <a:r>
              <a:t>V6 framing: Types follow annotations, operands, and MLIR results. Inference is local to typed values; it is not whole-program Python type inference.</a:t>
            </a:r>
          </a:p>
          <a:p/>
          <a:p>
            <a:r>
              <a:t>Presenter context: Annotations select runtime types; plain configuration can specialize. Promote operand types, materialize constants, and wrap the IR result. Carry the same leaf structure and stable MLIR types.</a:t>
            </a:r>
          </a:p>
          <a:p/>
          <a:p>
            <a:r>
              <a:t>SOURCES / PREPARATION</a:t>
            </a:r>
          </a:p>
          <a:p>
            <a:r>
              <a:t>mlir/python/mlir/dsl/types/typing.py:492</a:t>
            </a:r>
          </a:p>
          <a:p>
            <a:r>
              <a:t>mlir/python/mlir/dsl/types/typing.py:1096</a:t>
            </a:r>
          </a:p>
          <a:p>
            <a:r>
              <a:t>mlir/python/mlir/dsl/types/typing.py:1341</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 Your arithmetic, your dialect</a:t>
            </a:r>
          </a:p>
          <a:p>
            <a:r>
              <a:t>Owner: Guray Ozen</a:t>
            </a:r>
          </a:p>
          <a:p>
            <a:r>
              <a:t>Clock: 12:30–13:15</a:t>
            </a:r>
          </a:p>
          <a:p>
            <a:r>
              <a:t>Target duration: 00:45</a:t>
            </a:r>
          </a:p>
          <a:p/>
          <a:p>
            <a:r>
              <a:t>DKG separates Numeric promotion from ArithValue operation emission. The current extraction supports downstream wrappers and registered leaves as shown here. The fictional myarith binding/pass names denote a downstream extension. A configurable emitter policy at that boundary is a natural further extraction hook; neither inspected codebase currently has an arith= parameter on NumericMeta, so do not invent one. Existing CUDA Tile value wrappers demonstrate target-specific overloaded arithmetic. Register MyNumber as a leaf or implement the corresponding extract/rebuild protocol.</a:t>
            </a:r>
          </a:p>
          <a:p/>
          <a:p>
            <a:r>
              <a:t>V6 framing: Keep numeric policy separate from operation emission. Python operators select arith or your dialect’s operations; each value type owns its policy.</a:t>
            </a:r>
          </a:p>
          <a:p/>
          <a:p>
            <a:r>
              <a:t>Presenter context: </a:t>
            </a:r>
          </a:p>
          <a:p/>
          <a:p>
            <a:r>
              <a:t>SOURCES / PREPARATION</a:t>
            </a:r>
          </a:p>
          <a:p>
            <a:r>
              <a:t>mlir/python/mlir/dsl/types/typing.py:650</a:t>
            </a:r>
          </a:p>
          <a:p>
            <a:r>
              <a:t>mlir/python/mlir/dsl/core/plugin.py:46</a:t>
            </a:r>
          </a:p>
          <a:p>
            <a:r>
              <a:t>verification/v6/mlir-tutorial-core-smoke.py</a:t>
            </a:r>
          </a:p>
          <a:p>
            <a:r>
              <a:t>/home/gozen/work/dkg4/DkgDSL/base_dsl/typing.py:1049</a:t>
            </a:r>
          </a:p>
          <a:p>
            <a:r>
              <a:t>/home/gozen/work/dkg4/DkgDSL/_mlir_helpers/arith.py:659</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 Add mydialect.Tensor</a:t>
            </a:r>
          </a:p>
          <a:p>
            <a:r>
              <a:t>Owner: Guray Ozen</a:t>
            </a:r>
          </a:p>
          <a:p>
            <a:r>
              <a:t>Clock: 13:15–14:15</a:t>
            </a:r>
          </a:p>
          <a:p>
            <a:r>
              <a:t>Target duration: 01:00</a:t>
            </a:r>
          </a:p>
          <a:p/>
          <a:p>
            <a:r>
              <a:t>DKG DynamicExpression defines __extract_mlir_values__ and __new_from_mlir_values__; JitArgument adds MLIR type and host ABI marshalling methods. The extracted register_leaf API packages the same flatten/rebuild contract as callbacks. Tensor is a downstream wrapper; the slide uses actual register_leaf syntax. This is an existing capability carried into a more explicit registration API, not a claim the target Tensor dialect is shipped. Host framework objects still require a runtime adapter/marshal policy.</a:t>
            </a:r>
          </a:p>
          <a:p/>
          <a:p>
            <a:r>
              <a:t>V6 framing: Package DkgDSL’s extract/rebuild value protocol as registered leaves. A new dialect type can reuse the same staging and control-flow machinery.</a:t>
            </a:r>
          </a:p>
          <a:p/>
          <a:p>
            <a:r>
              <a:t>Presenter context: Carry the tensor’s SSA value through calls and regions. Add an argument adapter when host objects cross into compiled code.</a:t>
            </a:r>
          </a:p>
          <a:p/>
          <a:p>
            <a:r>
              <a:t>SOURCES / PREPARATION</a:t>
            </a:r>
          </a:p>
          <a:p>
            <a:r>
              <a:t>mlir/python/mlir/dsl/util/tree_utils.py:152</a:t>
            </a:r>
          </a:p>
          <a:p>
            <a:r>
              <a:t>mlir/python/mlir/dsl/runtime/jit_arg_adapters.py</a:t>
            </a:r>
          </a:p>
          <a:p>
            <a:r>
              <a:t>/home/gozen/work/dkg4/DkgDSL/base_dsl/typing.py:77</a:t>
            </a:r>
          </a:p>
          <a:p>
            <a:r>
              <a:t>/home/gozen/work/dkg4/DkgDSL/base_dsl/typing.py:148</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 Python values specialize the program</a:t>
            </a:r>
          </a:p>
          <a:p>
            <a:r>
              <a:t>Owner: Guray Ozen</a:t>
            </a:r>
          </a:p>
          <a:p>
            <a:r>
              <a:t>Clock: 14:15–15:15</a:t>
            </a:r>
          </a:p>
          <a:p>
            <a:r>
              <a:t>Target duration: 01:00</a:t>
            </a:r>
          </a:p>
          <a:p/>
          <a:p>
            <a:r>
              <a:t>Verified on CPU against the current checkout. The IR excerpt uses simplified SSA names. Only x is an i32 function argument; scale and bias are known during tracing and specialize the symbol. With scale3 and bias4 the call returns25. Metaprogramming is ordinary Python work that constructs a specialized target program.</a:t>
            </a:r>
          </a:p>
          <a:p/>
          <a:p>
            <a:r>
              <a:t>V6 framing: Python configuration becomes constants in the generated program. scale and bias run in the metaprogram; x remains a runtime argument.</a:t>
            </a:r>
          </a:p>
          <a:p/>
          <a:p>
            <a:r>
              <a:t>Presenter context: </a:t>
            </a:r>
          </a:p>
          <a:p/>
          <a:p>
            <a:r>
              <a:t>SOURCES / PREPARATION</a:t>
            </a:r>
          </a:p>
          <a:p>
            <a:r>
              <a:t>verification/v6/mlir-tutorial-runtime-examples.py</a:t>
            </a:r>
          </a:p>
          <a:p>
            <a:r>
              <a:t>verification/v6/mlir-tutorial-runtime-examples.ir.log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 Objects + dictionaries → arithmetic</a:t>
            </a:r>
          </a:p>
          <a:p>
            <a:r>
              <a:t>Owner: Guray Ozen</a:t>
            </a:r>
          </a:p>
          <a:p>
            <a:r>
              <a:t>Clock: 15:15–16:30</a:t>
            </a:r>
          </a:p>
          <a:p>
            <a:r>
              <a:t>Target duration: 01:15</a:t>
            </a:r>
          </a:p>
          <a:p/>
          <a:p>
            <a:r>
              <a:t>This exact class hierarchy and dictionary were executed successfully. Python preserves dictionary insertion order, resolves op.apply, reads n/k and runs the known loop at generation time. MLIR contains arith.addi and arith.muli, not a vtable or dictionary. These are ordinary non-frozen Python objects because they are Meta configuration. Later restrictions on staged state must not be presented as restrictions on all Python classes.</a:t>
            </a:r>
          </a:p>
          <a:p/>
          <a:p>
            <a:r>
              <a:t>V6 framing: Python chooses the operations; the generated program contains their arithmetic. No runtime dictionary lookup or virtual dispatch is needed for these known objects.</a:t>
            </a:r>
          </a:p>
          <a:p/>
          <a:p>
            <a:r>
              <a:t>Presenter context: </a:t>
            </a:r>
          </a:p>
          <a:p/>
          <a:p>
            <a:r>
              <a:t>SOURCES / PREPARATION</a:t>
            </a:r>
          </a:p>
          <a:p>
            <a:r>
              <a:t>verification/v6/mlir-tutorial-runtime-examples.py</a:t>
            </a:r>
          </a:p>
          <a:p>
            <a:r>
              <a:t>verification/v6/mlir-tutorial-runtime-examples.ir.log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 The same recipe, on a GPU</a:t>
            </a:r>
          </a:p>
          <a:p>
            <a:r>
              <a:t>Owner: Guray Ozen</a:t>
            </a:r>
          </a:p>
          <a:p>
            <a:r>
              <a:t>Clock: 16:30–17:30</a:t>
            </a:r>
          </a:p>
          <a:p>
            <a:r>
              <a:t>Target duration: 01:00</a:t>
            </a:r>
          </a:p>
          <a:p/>
          <a:p>
            <a:r>
              <a:t>This uses the intended m.Array spelling of the existing DKG Array capability. DKG Array wraps a pointer plus shape/stride/dtype metadata and supports load/store syntax. That wrapper and DLPack bridge are still extraction work in the current smaller LLVM package. The polymorphic objects are Meta; the kernel thread index and memory/arithmetic are staged. Launch from the standard host @jit path. A bounds-safe launch or an explicit bounds check is required for general sizes. The extracted prototype CPU counterpart was executed; this renamed Array GPU example is source-backed, not GPU-executed in this tutorial preparation.</a:t>
            </a:r>
          </a:p>
          <a:p/>
          <a:p>
            <a:r>
              <a:t>V6 framing: Keep Python object dispatch; capture loads, arithmetic, and stores. The abstraction lives in Python; the generated kernel contains the selected operations.</a:t>
            </a:r>
          </a:p>
          <a:p/>
          <a:p>
            <a:r>
              <a:t>Presenter context: Iterating ops and selecting AddN.apply / MulN.apply. Thread index, load, add, multiply, and store.</a:t>
            </a:r>
          </a:p>
          <a:p/>
          <a:p>
            <a:r>
              <a:t>SOURCES / PREPARATION</a:t>
            </a:r>
          </a:p>
          <a:p>
            <a:r>
              <a:t>mlir/python/mlir/dsl/dialect_plugins/gpu.py:182</a:t>
            </a:r>
          </a:p>
          <a:p>
            <a:r>
              <a:t>verification/v6/mlir-tutorial-runtime-examples.py</a:t>
            </a:r>
          </a:p>
          <a:p>
            <a:r>
              <a:t>/home/gozen/work/dkg4/DkgDSL/base_dsl/array.py:3246</a:t>
            </a:r>
          </a:p>
          <a:p>
            <a:r>
              <a:t>/home/gozen/work/dkg4/DkgDSL/test/ctm/test_array_dlpack.py:74</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 Framework tensors → m.Array</a:t>
            </a:r>
          </a:p>
          <a:p>
            <a:r>
              <a:t>Owner: Guray Ozen</a:t>
            </a:r>
          </a:p>
          <a:p>
            <a:r>
              <a:t>Clock: 17:30–18:30</a:t>
            </a:r>
          </a:p>
          <a:p>
            <a:r>
              <a:t>Target duration: 01:00</a:t>
            </a:r>
          </a:p>
          <a:p/>
          <a:p>
            <a:r>
              <a:t>DkgDSL base_dsl already has Array, TensorDescriptor and DLPack ingestion. Current Array is a frozen descriptor around an LLVM pointer and Python shape/stride/dtype metadata; describing it only as memref-based is outdated for the inspected source. Preserve dynamic dimensions in the argument signature, lifetime/keepalive and synchronization; separate CuTe conversion and device allocation factories. Source has Torch DLPack tests, but no JAX execution was performed here. The protocol architecture covers frameworks exposing __dlpack__ with supported CPU/CUDA device kinds. m.Array names the extraction target; the current mlir dsl subset still uses Pointer plus explicit sizes. The user-provided matrix records that boundary as a deliberate reduced/dropped component to revisit.</a:t>
            </a:r>
          </a:p>
          <a:p/>
          <a:p>
            <a:r>
              <a:t>V6 framing: PyTorch, JAX, or NumPy storage → a typed view for generated code. Generate loads and stores while preserving the tensor’s layout and lifetime.</a:t>
            </a:r>
          </a:p>
          <a:p/>
          <a:p>
            <a:r>
              <a:t>Presenter context: PyTorch / JAX / NumPy with __dlpack__ Pointer, dtype, device, shape, strides, ownership LLVM pointer + shape, strides, dtype metadata Pointer + dynamic shape / stride values</a:t>
            </a:r>
          </a:p>
          <a:p/>
          <a:p>
            <a:r>
              <a:t>SOURCES / PREPARATION</a:t>
            </a:r>
          </a:p>
          <a:p>
            <a:r>
              <a:t>/home/gozen/work/dkg4/DkgDSL/base_dsl/array.py:1772</a:t>
            </a:r>
          </a:p>
          <a:p>
            <a:r>
              <a:t>/home/gozen/work/dkg4/DkgDSL/base_dsl/array.py:3246</a:t>
            </a:r>
          </a:p>
          <a:p>
            <a:r>
              <a:t>/home/gozen/work/dkg4/DkgDSL/base_dsl/runtime/tensor_descriptor.py:52</a:t>
            </a:r>
          </a:p>
          <a:p>
            <a:r>
              <a:t>/home/gozen/work/dkg4/DkgDSL/base_dsl/runtime/csrc/dlpack_runtime.cpp:113</a:t>
            </a:r>
          </a:p>
          <a:p>
            <a:r>
              <a:t>/home/gozen/work/dkg4/DkgDSL/test/ctm/test_array_dlpack.py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 Compile. Run. Export.</a:t>
            </a:r>
          </a:p>
          <a:p>
            <a:r>
              <a:t>Owner: Guray Ozen</a:t>
            </a:r>
          </a:p>
          <a:p>
            <a:r>
              <a:t>Clock: 18:30–19:15</a:t>
            </a:r>
          </a:p>
          <a:p>
            <a:r>
              <a:t>Target duration: 00:45</a:t>
            </a:r>
          </a:p>
          <a:p/>
          <a:p>
            <a:r>
              <a:t>The user is correct: DKG CompileCallable implements __getitem__, so compile[options](func,*args) is real in the source project. It also has to_precompiled_mlir and compile_to stages, and JitCompiledFunction.export_to_c. The slide uses the intended m namespace to show what to extract; these are not all present in the smaller LLVM package yet, which currently has m.compile(func,*args,**kwargs). GenerateLineInfo is an existing DKG option. The named a_sig/b_sig/out_sig represent valid fake/runtime signatures; launch is @jit, not a bare @kernel. Keep portable option/lifecycle machinery in the core, target option catalog and artifact serializers downstream.</a:t>
            </a:r>
          </a:p>
          <a:p/>
          <a:p>
            <a:r>
              <a:t>V6 framing: CompileCallable separates specialization, execution, and artifact export. Retain the compile API; put target options and artifact formats behind providers.</a:t>
            </a:r>
          </a:p>
          <a:p/>
          <a:p>
            <a:r>
              <a:t>Presenter context: Use representative or fake values; select options and target artifacts. Call the executable, emit C artifacts, or hand IR to another consumer.</a:t>
            </a:r>
          </a:p>
          <a:p/>
          <a:p>
            <a:r>
              <a:t>SOURCES / PREPARATION</a:t>
            </a:r>
          </a:p>
          <a:p>
            <a:r>
              <a:t>/home/gozen/work/dkg4/DkgDSL/base_dsl/compiler.py:2404</a:t>
            </a:r>
          </a:p>
          <a:p>
            <a:r>
              <a:t>/home/gozen/work/dkg4/DkgDSL/base_dsl/compiler.py:2464</a:t>
            </a:r>
          </a:p>
          <a:p>
            <a:r>
              <a:t>/home/gozen/work/dkg4/DkgDSL/base_dsl/compiler.py:2486</a:t>
            </a:r>
          </a:p>
          <a:p>
            <a:r>
              <a:t>/home/gozen/work/dkg4/DkgDSL/base_dsl/jit_executor.py:1958</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 Adapters + export plugins</a:t>
            </a:r>
          </a:p>
          <a:p>
            <a:r>
              <a:t>Owner: Guray Ozen</a:t>
            </a:r>
          </a:p>
          <a:p>
            <a:r>
              <a:t>Clock: 19:15–20:00</a:t>
            </a:r>
          </a:p>
          <a:p>
            <a:r>
              <a:t>Target duration: 00:45</a:t>
            </a:r>
          </a:p>
          <a:p/>
          <a:p>
            <a:r>
              <a:t>The extraction retains scoped adapters and uses lazy Torch handling. The TVM-FFI builder has been ported into an optional TvmFfiPlugin using attach_to_module and wrap_compiled_function hooks. Do not infer generic DLPack/JAX ingestion from that plugin: the current Pointer provider uses raw-address DataPointer. host_entry can select llvm or func, with convert-func-to-llvm added for func. External bitcode FFI via @extern is pending in the supplied inventory and is not claimed on this slide.</a:t>
            </a:r>
          </a:p>
          <a:p/>
          <a:p>
            <a:r>
              <a:t>V6 framing: Keep the Python signature, the runtime ABI, and exported entry points connected. Adapters describe data; plugins attach and wrap the compiled entry.</a:t>
            </a:r>
          </a:p>
          <a:p/>
          <a:p>
            <a:r>
              <a:t>Presenter context: Scalars, NumPy, Torch, frozen records Scoped conversions and runtime marshalling Select llvm.func or func.func + C interface TVM-FFI builder wraps the callable</a:t>
            </a:r>
          </a:p>
          <a:p/>
          <a:p>
            <a:r>
              <a:t>SOURCES / PREPARATION</a:t>
            </a:r>
          </a:p>
          <a:p>
            <a:r>
              <a:t>mlir/python/mlir/dsl/runtime/jit_arg_adapters.py</a:t>
            </a:r>
          </a:p>
          <a:p>
            <a:r>
              <a:t>mlir/python/mlir/dsl/dialect_plugins/tvm_ffi.py</a:t>
            </a:r>
          </a:p>
          <a:p>
            <a:r>
              <a:t>mlir/python/mlir/dsl/core/plugin.py</a:t>
            </a:r>
          </a:p>
          <a:p>
            <a:r>
              <a:t>/home/gozen/work/dkg4/DkgDSL/base_dsl/tvm_ffi_builder/README.md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 Errors + MLIR remarks</a:t>
            </a:r>
          </a:p>
          <a:p>
            <a:r>
              <a:t>Owner: Guray Ozen</a:t>
            </a:r>
          </a:p>
          <a:p>
            <a:r>
              <a:t>Clock: 20:00–21:00</a:t>
            </a:r>
          </a:p>
          <a:p>
            <a:r>
              <a:t>Target duration: 01:00</a:t>
            </a:r>
          </a:p>
          <a:p/>
          <a:p>
            <a:r>
              <a:t>The error is an excerpt of the real diagnostics test in a function whose n is staged. The actual remediation text names Int32(0). DEBUGINFO attaches file/line locations; VERIFY_TRACE can verify operations as built. Structured optimization/analysis remarks are separate from frontend exceptions. The same remark session spans tracing and passes, exposed through dsl.collected_remarks; REMARKS_OUTPUT streams a file. The remarks.py test emits a TraceDecision analysis remark, returns42, and passes FileCheck. Do not imply every frontend error is emitted via RemarkEngine. DKG contributes the renderer, source frames and structured remark lifecycle. The extraction replaces private bindings with the new local mlir-c/Remarks.h and Context.enable_remarks work; this is not a claim it is already accepted in an upstream release. The current extracted prototype intentionally diagnoses this Meta mutation; DKG’s advanced PyIR path has broader behavior, which Amir owns.</a:t>
            </a:r>
          </a:p>
          <a:p/>
          <a:p>
            <a:r>
              <a:t>V6 framing: Connect Python locations to MLIR diagnostics and structured remarks. MLIR_DSL_DEBUGINFO=1 · MLIR_DSL_REMARKS=.*</a:t>
            </a:r>
          </a:p>
          <a:p/>
          <a:p>
            <a:r>
              <a:t>Presenter context: Python file, line, code frame, and a suggested correction. Collect analysis and pass remarks; render them or write a remark file.</a:t>
            </a:r>
          </a:p>
          <a:p/>
          <a:p>
            <a:r>
              <a:t>SOURCES / PREPARATION</a:t>
            </a:r>
          </a:p>
          <a:p>
            <a:r>
              <a:t>mlir/python/mlir/dsl/core/diagnostics.py</a:t>
            </a:r>
          </a:p>
          <a:p>
            <a:r>
              <a:t>mlir/python/mlir/dsl/compiler/compiler.py:164</a:t>
            </a:r>
          </a:p>
          <a:p>
            <a:r>
              <a:t>mlir/test/python/dsl/diagnostics.py</a:t>
            </a:r>
          </a:p>
          <a:p>
            <a:r>
              <a:t>verification/v6/mlir-tutorial-remarks.log</a:t>
            </a:r>
          </a:p>
          <a:p>
            <a:r>
              <a:t>/home/gozen/work/dkg4/DkgDSL/base_dsl/diagnostics.py:259</a:t>
            </a:r>
          </a:p>
          <a:p>
            <a:r>
              <a:t>mlir/include/mlir-c/Remarks.h</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 See what the compiler does</a:t>
            </a:r>
          </a:p>
          <a:p>
            <a:r>
              <a:t>Owner: Guray Ozen</a:t>
            </a:r>
          </a:p>
          <a:p>
            <a:r>
              <a:t>Clock: 21:00–21:45</a:t>
            </a:r>
          </a:p>
          <a:p>
            <a:r>
              <a:t>Target duration: 00:45</a:t>
            </a:r>
          </a:p>
          <a:p/>
          <a:p>
            <a:r>
              <a:t>These are the existing extracted tooling names. DKG has additional GPU artifacts and line-info options; keep those in target providers. MLIR_DSL_DEBUGINFO and LOC_TRACEBACKS connect source and op locations. Existing extracted remarks tests plus C API/binding work support structured collection. The user reports15 Python/binding tests and the C API remarks test passing; this slide describes mechanisms rather than claiming a new full-suite run.</a:t>
            </a:r>
          </a:p>
          <a:p/>
          <a:p>
            <a:r>
              <a:t>V6 framing: The same tooling should work for every sub-DSL. Extract the source mapping, diagnostics, and profiler alongside compilation.</a:t>
            </a:r>
          </a:p>
          <a:p/>
          <a:p>
            <a:r>
              <a:t>Presenter context: </a:t>
            </a:r>
          </a:p>
          <a:p/>
          <a:p>
            <a:r>
              <a:t>SOURCES / PREPARATION</a:t>
            </a:r>
          </a:p>
          <a:p>
            <a:r>
              <a:t>mlir/python/mlir/dsl/core/env_manager.py</a:t>
            </a:r>
          </a:p>
          <a:p>
            <a:r>
              <a:t>mlir/python/mlir/dsl/util/phase_profiler.py</a:t>
            </a:r>
          </a:p>
          <a:p>
            <a:r>
              <a:t>mlir/python/mlir/dsl/_mlir_helpers/op.py</a:t>
            </a:r>
          </a:p>
          <a:p>
            <a:r>
              <a:t>mlir/include/mlir-c/Remarks.h</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28 — Cache compilation work</a:t>
            </a:r>
          </a:p>
          <a:p>
            <a:r>
              <a:t>Owner: Guray Ozen</a:t>
            </a:r>
          </a:p>
          <a:p>
            <a:r>
              <a:t>Clock: 21:45–22:45</a:t>
            </a:r>
          </a:p>
          <a:p>
            <a:r>
              <a:t>Target duration: 01:00</a:t>
            </a:r>
          </a:p>
          <a:p/>
          <a:p>
            <a:r>
              <a:t>The persistent cache is implemented in the current checkout and tested across two processes. It stores lowered MLIR bytecode plus integrity information, not native machine code. The key hashes serialized module IR, compile-affecting environment fields, pipeline, supplied link-library paths and toolchain identity; do not call it a guaranteed canonicalized IR hash. First process FILE_HITS0 MISSES1 MEM_HITS1; second FILE_HITS1 MISSES0 MEM_HITS1. Both returned42 and8. NO_CACHE and DISABLE_FILE_CACHING control the respective paths. Changing a custom env_var with affects_compile=True contributes to the key. DKG has the same portable mechanism in cache_helpers.py and compile_backend.py. The on-disk container is lowered MLIR bytecode with CRC32 and atomic replacement; it can contain device binary payloads. The extraction changes toolchain identity from DKG commit stamping to the chosen compiler/package identity.</a:t>
            </a:r>
          </a:p>
          <a:p/>
          <a:p>
            <a:r>
              <a:t>V6 framing: Trace to identify the program; reuse the expensive compilation work. Extract cache policy once; let each backend own its compiled artifact and loading.</a:t>
            </a:r>
          </a:p>
          <a:p/>
          <a:p>
            <a:r>
              <a:t>Presenter context: </a:t>
            </a:r>
          </a:p>
          <a:p/>
          <a:p>
            <a:r>
              <a:t>SOURCES / PREPARATION</a:t>
            </a:r>
          </a:p>
          <a:p>
            <a:r>
              <a:t>mlir/python/mlir/dsl/core/dsl.py:1541</a:t>
            </a:r>
          </a:p>
          <a:p>
            <a:r>
              <a:t>mlir/python/mlir/dsl/core/dsl.py:1913</a:t>
            </a:r>
          </a:p>
          <a:p>
            <a:r>
              <a:t>mlir/python/mlir/dsl/compiler/cache_helpers.py</a:t>
            </a:r>
          </a:p>
          <a:p>
            <a:r>
              <a:t>verification/v6/mlir-tutorial-cache-check.log</a:t>
            </a:r>
          </a:p>
          <a:p>
            <a:r>
              <a:t>/home/gozen/work/dkg4/DkgDSL/base_dsl/cache_helpers.py:140</a:t>
            </a:r>
          </a:p>
          <a:p>
            <a:r>
              <a:t>/home/gozen/work/dkg4/DkgDSL/base_dsl/compile_backend.py:99</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29 — Control flow needs the AST</a:t>
            </a:r>
          </a:p>
          <a:p>
            <a:r>
              <a:t>Owner: Guray Ozen</a:t>
            </a:r>
          </a:p>
          <a:p>
            <a:r>
              <a:t>Clock: 22:45–23:45</a:t>
            </a:r>
          </a:p>
          <a:p>
            <a:r>
              <a:t>Target duration: 01:00</a:t>
            </a:r>
          </a:p>
          <a:p/>
          <a:p>
            <a:r>
              <a:t>Redraw reference slide48 in this template. Proxy arithmetic intercepts x+y, but the Python interpreter cannot choose a runtime branch or record a runtime loop through operator overloading alone. The AST pass builds intermediate Python functions/callbacks, with names that must be returned as carries. Executing that transformed Python still uses the actual host interpreter. The default implementation’s callbacks emit SCF; a downstream implementation can emit its own typed control-flow regions.</a:t>
            </a:r>
          </a:p>
          <a:p/>
          <a:p>
            <a:r>
              <a:t>V6 framing: Operator overloading cannot capture Python’s native if, for, and while by itself. Use the AST for control-flow structure; keep Python for the metaprogram.</a:t>
            </a:r>
          </a:p>
          <a:p/>
          <a:p>
            <a:r>
              <a:t>Presenter context: </a:t>
            </a:r>
          </a:p>
          <a:p/>
          <a:p>
            <a:r>
              <a:t>SOURCES / PREPARATION</a:t>
            </a:r>
          </a:p>
          <a:p>
            <a:r>
              <a:t>presentations/llvm-mlir-dsl-2026/cutedsl_llvm25.pptx:48</a:t>
            </a:r>
          </a:p>
          <a:p>
            <a:r>
              <a:t>mlir/python/mlir/dsl/frontend/ast_preprocessor.py:1064</a:t>
            </a:r>
          </a:p>
          <a:p>
            <a:r>
              <a:t>mlir/python/mlir/dsl/frontend/ast_helpers.py:139</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30 — Assigned name → iter_arg</a:t>
            </a:r>
          </a:p>
          <a:p>
            <a:r>
              <a:t>Owner: Guray Ozen</a:t>
            </a:r>
          </a:p>
          <a:p>
            <a:r>
              <a:t>Clock: 23:45–25:00</a:t>
            </a:r>
          </a:p>
          <a:p>
            <a:r>
              <a:t>Target duration: 01:15</a:t>
            </a:r>
          </a:p>
          <a:p/>
          <a:p>
            <a:r>
              <a:t>Current implementation analyzes stores/rebinding in the AST and intersects them with active outer symbols. ScfGenerator flattens typed values, creates block arguments and loop results, and restores Python wrappers. The diagram is a simplified IR excerpt using named constants. acc starts as m.Int32(0), not plain0: the latter is rejected on staged mutation. Pointer writes such as out[i]=v are memory side effects, while rebinding a pointer can require a carry. This explains today’s approach before Amir discusses more general mutation tracking.</a:t>
            </a:r>
          </a:p>
          <a:p/>
          <a:p>
            <a:r>
              <a:t>V6 framing: The AST finds the carried name; tracing supplies its SSA value. Flatten the carried value, build the region, yield the update, rebuild the result.</a:t>
            </a:r>
          </a:p>
          <a:p/>
          <a:p>
            <a:r>
              <a:t>Presenter context: </a:t>
            </a:r>
          </a:p>
          <a:p/>
          <a:p>
            <a:r>
              <a:t>SOURCES / PREPARATION</a:t>
            </a:r>
          </a:p>
          <a:p>
            <a:r>
              <a:t>mlir/python/mlir/dsl/frontend/ast_preprocessor.py:1091</a:t>
            </a:r>
          </a:p>
          <a:p>
            <a:r>
              <a:t>mlir/python/mlir/dsl/mlir_dsl/mlir_dsl_ast_decorators.py:185</a:t>
            </a:r>
          </a:p>
          <a:p>
            <a:r>
              <a:t>mlir/python/mlir/dsl/mlir_dsl/mlir_dsl_ast_decorators.py:383</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31 — Frozen records carry staged state</a:t>
            </a:r>
          </a:p>
          <a:p>
            <a:r>
              <a:t>Owner: Guray Ozen</a:t>
            </a:r>
          </a:p>
          <a:p>
            <a:r>
              <a:t>Clock: 25:00–26:00</a:t>
            </a:r>
          </a:p>
          <a:p>
            <a:r>
              <a:t>Target duration: 01:00</a:t>
            </a:r>
          </a:p>
          <a:p/>
          <a:p>
            <a:r>
              <a:t>Executed example returns45 and produces one i32 loop carry. The restriction is about records carrying staged values through regions/runtime boundaries, not a ban on all mutable Python classes. A non-frozen dataclass with DSL leaves is rejected; unsupported custom containers hiding DSL leaves also require a registered protocol. AddN/MulN remain valid Meta objects from the earlier example. Tuple/list/dict and namedtuple support follows tree_utils rules; do not claim frozen dataclasses are the only legal state containers. This is a deliberate extraction/tutorial boundary, not a claim that DKG rejects every non-frozen class. DKG’s pytree protocols and advanced tracing cover broader objects. Array descriptors can be frozen while arr[i]=... still emits memory stores. Plain Meta objects remain unrestricted by this staged-record policy.</a:t>
            </a:r>
          </a:p>
          <a:p/>
          <a:p>
            <a:r>
              <a:t>V6 framing: Rebind a new immutable record when its SSA fields change. A simple first model: frozen records and registered leaves. Amir adds richer mutation tracking.</a:t>
            </a:r>
          </a:p>
          <a:p/>
          <a:p>
            <a:r>
              <a:t>Presenter context: </a:t>
            </a:r>
          </a:p>
          <a:p/>
          <a:p>
            <a:r>
              <a:t>SOURCES / PREPARATION</a:t>
            </a:r>
          </a:p>
          <a:p>
            <a:r>
              <a:t>mlir/python/mlir/dsl/util/tree_utils.py:436</a:t>
            </a:r>
          </a:p>
          <a:p>
            <a:r>
              <a:t>mlir/python/mlir/dsl/runtime/jit_arg_adapters.py:428</a:t>
            </a:r>
          </a:p>
          <a:p>
            <a:r>
              <a:t>verification/v6/mlir-tutorial-state-example.py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32 — Swap the control-flow dialect</a:t>
            </a:r>
          </a:p>
          <a:p>
            <a:r>
              <a:t>Owner: Guray Ozen</a:t>
            </a:r>
          </a:p>
          <a:p>
            <a:r>
              <a:t>Clock: 26:00–27:00</a:t>
            </a:r>
          </a:p>
          <a:p>
            <a:r>
              <a:t>Target duration: 01:00</a:t>
            </a:r>
          </a:p>
          <a:p/>
          <a:p>
            <a:r>
              <a:t>mydialect_executors is a downstream dictionary containing implementations of is_dynamic_expression, loop_execute_range_dynamic, if_dynamic, while_dynamic, compare_executor, and any optional hooks needed. A one-key partial set_functions call is not valid. Use BaseDSL to install custom hooks, or replace hooks after super().__init__ if deriving from MlirDSL, whose constructor installs SCF callbacks after plugins. The class is an excerpt: its configured constructor was shown earlier. There is no shipped generic yourdialect.cf emitter. DKG already has this callback protocol and an actual cuda_tile_dsl for-loop implementation. The explicit plugin lifecycle is how the extraction packages those existing seams.</a:t>
            </a:r>
          </a:p>
          <a:p/>
          <a:p>
            <a:r>
              <a:t>V6 framing: Replace the callbacks that build regions and thread their carried values. Reuse AST analysis and the carry protocol; change the region-building callbacks.</a:t>
            </a:r>
          </a:p>
          <a:p/>
          <a:p>
            <a:r>
              <a:t>Presenter context: Loop / branch callbacks emit scf.for, scf.if, scf.while. The same callbacks can emit yourdialect.cf regions and yields.</a:t>
            </a:r>
          </a:p>
          <a:p/>
          <a:p>
            <a:r>
              <a:t>SOURCES / PREPARATION</a:t>
            </a:r>
          </a:p>
          <a:p>
            <a:r>
              <a:t>mlir/python/mlir/dsl/core/plugin.py:38</a:t>
            </a:r>
          </a:p>
          <a:p>
            <a:r>
              <a:t>mlir/python/mlir/dsl/frontend/ast_helpers.py:139</a:t>
            </a:r>
          </a:p>
          <a:p>
            <a:r>
              <a:t>mlir/python/mlir/dsl/mlir_dsl/mlir_dsl.py:184</a:t>
            </a:r>
          </a:p>
          <a:p>
            <a:r>
              <a:t>/home/gozen/work/dkg4/DkgDSL/base_dsl/ast_helpers.py:122</a:t>
            </a:r>
          </a:p>
          <a:p>
            <a:r>
              <a:t>/home/gozen/work/dkg4/DkgDSL/cuda_tile_dsl/cuda_tile_ast_decorators.py:16</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33 — Or build regions explicitly</a:t>
            </a:r>
          </a:p>
          <a:p>
            <a:r>
              <a:t>Owner: Guray Ozen</a:t>
            </a:r>
          </a:p>
          <a:p>
            <a:r>
              <a:t>Clock: 27:00–27:45</a:t>
            </a:r>
          </a:p>
          <a:p>
            <a:r>
              <a:t>Target duration: 00:45</a:t>
            </a:r>
          </a:p>
          <a:p/>
          <a:p>
            <a:r>
              <a:t>This snippet follows the executed cumsum_builders example in builders.py: the iterator exposes induction variable, body argument and loop result; m.yield_ closes the region. The feature inventory identifies these builders and Boolean helpers as moved into the base. Native early exit remains a restriction in the initial capture path; target loop annotations are an extension surface. const_expr/dynamic-expression markers and preprocessing opt-out remain useful for explicit staging choices.</a:t>
            </a:r>
          </a:p>
          <a:p/>
          <a:p>
            <a:r>
              <a:t>V6 framing: Expose region construction even when AST preprocessing is disabled. Move reusable builders out of the original target DSL and into the shared core.</a:t>
            </a:r>
          </a:p>
          <a:p/>
          <a:p>
            <a:r>
              <a:t>Presenter context: m.for_ / m.if_ / m.while_ with m.yield_. and_ / or_ / not_ / any_ / all_ with dialect-aware comparisons.</a:t>
            </a:r>
          </a:p>
          <a:p/>
          <a:p>
            <a:r>
              <a:t>SOURCES / PREPARATION</a:t>
            </a:r>
          </a:p>
          <a:p>
            <a:r>
              <a:t>mlir/test/python/dsl/builders.py</a:t>
            </a:r>
          </a:p>
          <a:p>
            <a:r>
              <a:t>mlir/python/mlir/dsl/mlir_dsl/mlir_dsl_ast_decorators.py</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34 — Python → MLIR → 45</a:t>
            </a:r>
          </a:p>
          <a:p>
            <a:r>
              <a:t>Owner: Guray Ozen</a:t>
            </a:r>
          </a:p>
          <a:p>
            <a:r>
              <a:t>Clock: 27:45–28:45</a:t>
            </a:r>
          </a:p>
          <a:p>
            <a:r>
              <a:t>Target duration: 01:00</a:t>
            </a:r>
          </a:p>
          <a:p/>
          <a:p>
            <a:r>
              <a:t>Use the tested current cumsum example; IR is abridged with simplified SSA names. Show n is a runtime argument and the accumulator is an explicit carry. In the next example memory effects and Meta dispatch coexist inside a staged loop.</a:t>
            </a:r>
          </a:p>
          <a:p/>
          <a:p>
            <a:r>
              <a:t>V6 framing: A runtime trip count and an SSA accumulator. Trace to IR → lower SCF / arith to LLVM → execute → 45.</a:t>
            </a:r>
          </a:p>
          <a:p/>
          <a:p>
            <a:r>
              <a:t>Presenter context: </a:t>
            </a:r>
          </a:p>
          <a:p/>
          <a:p>
            <a:r>
              <a:t>SOURCES / PREPARATION</a:t>
            </a:r>
          </a:p>
          <a:p>
            <a:r>
              <a:t>mlir/test/python/dsl/cumsum.py</a:t>
            </a:r>
          </a:p>
          <a:p>
            <a:r>
              <a:t>verification/cumsum.ir.log</a:t>
            </a:r>
          </a:p>
          <a:p>
            <a:r>
              <a:t>verification/cumsum.exec.log</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35 — Fuse a Python recipe</a:t>
            </a:r>
          </a:p>
          <a:p>
            <a:r>
              <a:t>Owner: Guray Ozen</a:t>
            </a:r>
          </a:p>
          <a:p>
            <a:r>
              <a:t>Clock: 28:45–29:45</a:t>
            </a:r>
          </a:p>
          <a:p>
            <a:r>
              <a:t>Target duration: 01:00</a:t>
            </a:r>
          </a:p>
          <a:p/>
          <a:p>
            <a:r>
              <a:t>Executed CPU example uses np.arange(4,dtype=np.float32) and ops={shift:AddN(2),scale:MulN(3)}. Observed result [6.,9.,12.,15.]. IR excerpt omits the outer loop and alignment attributes; getelementptr uses i32 index in the actual output. This is m.Pointer with direct NumPy adaptation. It does not claim a generic DLPack Array interface. Source and full emitted IR are included.</a:t>
            </a:r>
          </a:p>
          <a:p/>
          <a:p>
            <a:r>
              <a:t>V6 framing: A known dictionary specializes arithmetic inside a runtime loop. The array loop is staged. The object dispatch and recipe loop disappear during generation.</a:t>
            </a:r>
          </a:p>
          <a:p/>
          <a:p>
            <a:r>
              <a:t>Presenter context: </a:t>
            </a:r>
          </a:p>
          <a:p/>
          <a:p>
            <a:r>
              <a:t>SOURCES / PREPARATION</a:t>
            </a:r>
          </a:p>
          <a:p>
            <a:r>
              <a:t>verification/v6/mlir-tutorial-runtime-examples.py</a:t>
            </a:r>
          </a:p>
          <a:p>
            <a:r>
              <a:t>verification/v6/mlir-tutorial-runtime-examples.ir.log</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36 — Richer mutation</a:t>
            </a:r>
          </a:p>
          <a:p>
            <a:r>
              <a:t>Owner: Guray Ozen</a:t>
            </a:r>
          </a:p>
          <a:p>
            <a:r>
              <a:t>Clock: 29:45–30:00</a:t>
            </a:r>
          </a:p>
          <a:p>
            <a:r>
              <a:t>Target duration: 00:15</a:t>
            </a:r>
          </a:p>
          <a:p/>
          <a:p>
            <a:r>
              <a:t>Hand over at minute30. We have shown symbolic AST carries for typed values and immutable records. The next challenge is richer object mutation and aliasing. Amir owns the design and his examples; do not add a PyIR implementation or technical slides on his behalf.</a:t>
            </a:r>
          </a:p>
          <a:p/>
          <a:p>
            <a:r>
              <a:t>Presenter context: How do we preserve object mutation and aliasing across staged control flow? Amir develops an advanced mutation tracking system.</a:t>
            </a:r>
          </a:p>
          <a:p/>
          <a:p>
            <a:r>
              <a:t>SOURCES / PREPARATION</a:t>
            </a:r>
          </a:p>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37 — Advanced mutation tracking</a:t>
            </a:r>
          </a:p>
          <a:p>
            <a:r>
              <a:t>Owner: Amir Tavakkoli</a:t>
            </a:r>
          </a:p>
          <a:p>
            <a:r>
              <a:t>Clock: 30:00–40:00</a:t>
            </a:r>
          </a:p>
          <a:p>
            <a:r>
              <a:t>Target duration: 10:00</a:t>
            </a:r>
          </a:p>
          <a:p/>
          <a:p>
            <a:r>
              <a:t>Replace this section marker with Amir’s own material. He has ten minutes, from30:00 to40:00. Guray returns immediately after this section for the five-slide Tile IR sub-DSL walkthrough. No PyIR implementation or technical content has been authored here.</a:t>
            </a:r>
          </a:p>
          <a:p/>
          <a:p>
            <a:r>
              <a:t>Presenter context: Reserved for Amir’s slides on the PyIR idea.</a:t>
            </a:r>
          </a:p>
          <a:p/>
          <a:p>
            <a:r>
              <a:t>SOURCES / PREPARATION</a:t>
            </a:r>
          </a:p>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38 — Tile IR: reuse BaseDSL</a:t>
            </a:r>
          </a:p>
          <a:p>
            <a:r>
              <a:t>Owner: Guray Ozen</a:t>
            </a:r>
          </a:p>
          <a:p>
            <a:r>
              <a:t>Clock: 40:00–41:00</a:t>
            </a:r>
          </a:p>
          <a:p>
            <a:r>
              <a:t>Target duration: 01:00</a:t>
            </a:r>
          </a:p>
          <a:p/>
          <a:p>
            <a:r>
              <a:t>The code is an abridged existing constructor: compiler_provider is compiler.Compiler(passmanager,execution_engine). The source subclass creates Tile IR modules/entries, not gpu.func. The extraction relocates the common BaseDSL and makes provider boundaries explicit; it does not need to invent a Tile backend from scratch. Source currently sets no_cache=True; cache infrastructure exists in the base but this target does not use it. Current implementation has no full native if/while callback support; the completed for-loop is shown next. No Tile GPU execution was performed for this deck.</a:t>
            </a:r>
          </a:p>
          <a:p/>
          <a:p>
            <a:r>
              <a:t>V6 framing: 1 / 5 · Extract the common frontend; retain the target implementation. DkgDSL already has this target. Move its common dependency to mlir dsl.</a:t>
            </a:r>
          </a:p>
          <a:p/>
          <a:p>
            <a:r>
              <a:t>Presenter context: AST capture, staging, diagnostics, environment, and name mangling. Tile values and entry ops, serialization, codegen, launch.</a:t>
            </a:r>
          </a:p>
          <a:p/>
          <a:p>
            <a:r>
              <a:t>SOURCES / PREPARATION</a:t>
            </a:r>
          </a:p>
          <a:p>
            <a:r>
              <a:t>/home/gozen/work/dkg4/DkgDSL/cuda_tile_dsl/cuda_tile.py:622</a:t>
            </a:r>
          </a:p>
          <a:p>
            <a:r>
              <a:t>/home/gozen/work/dkg4/DkgDSL/cuda_tile_dsl/cuda_tile.py:689</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39 — Tile IR: supply the loop builder</a:t>
            </a:r>
          </a:p>
          <a:p>
            <a:r>
              <a:t>Owner: Guray Ozen</a:t>
            </a:r>
          </a:p>
          <a:p>
            <a:r>
              <a:t>Clock: 41:00–42:00</a:t>
            </a:r>
          </a:p>
          <a:p>
            <a:r>
              <a:t>Target duration: 01:00</a:t>
            </a:r>
          </a:p>
          <a:p/>
          <a:p>
            <a:r>
              <a:t>This is a source-grounded excerpt of the dynamic-for callback, using simplified variable names and the nonempty-carry case. The full callback handles a zero-carry return separately. Existing DKG source implements this native for path; its native dynamic if/while callbacks still raise NotImplementedError, although explicit Tile IR builders exist. Do not claim the entire Python control-flow surface is complete in this particular target. The extraction can install this callback through its per-DSL executor/plugin lifecycle.</a:t>
            </a:r>
          </a:p>
          <a:p/>
          <a:p>
            <a:r>
              <a:t>V6 framing: 2 / 5 · The carried-value protocol survives a change of dialect. The same capture protocol can produce a different dialect’s regions.</a:t>
            </a:r>
          </a:p>
          <a:p/>
          <a:p>
            <a:r>
              <a:t>Presenter context: Native loop + assigned names become a body and write_args. cuda_tile.for + continue replace scf.for + yield.</a:t>
            </a:r>
          </a:p>
          <a:p/>
          <a:p>
            <a:r>
              <a:t>SOURCES / PREPARATION</a:t>
            </a:r>
          </a:p>
          <a:p>
            <a:r>
              <a:t>/home/gozen/work/dkg4/DkgDSL/cuda_tile_dsl/cuda_tile_ast_decorators.py:16</a:t>
            </a:r>
          </a:p>
          <a:p>
            <a:r>
              <a:t>/home/gozen/work/dkg4/DkgDSL/cuda_tile_dsl/cuda_tile.py:246</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40 — Tile IR: a typed Python kernel</a:t>
            </a:r>
          </a:p>
          <a:p>
            <a:r>
              <a:t>Owner: Guray Ozen</a:t>
            </a:r>
          </a:p>
          <a:p>
            <a:r>
              <a:t>Clock: 42:00–43:00</a:t>
            </a:r>
          </a:p>
          <a:p>
            <a:r>
              <a:t>Target duration: 01:00</a:t>
            </a:r>
          </a:p>
          <a:p/>
          <a:p>
            <a:r>
              <a:t>The tutorial uses the intended extracted mlir dsl interface: a direct tile.Int32 annotation selects a runtime scalar tile, tile.constant(0) creates the staged accumulator, and native range captures the loop when its bound is staged. This is a target interface sketch, not a verbatim executable example of the current DKG boundary adapter. The extraction must connect direct type annotations and native range to the existing Tile value and loop-builder protocols. Python configuration arguments stay Meta. The IR excerpt is source-checked against the public syntax and DKG test_for_01.py, but was not locally parsed or GPU-executed. The cuda_tile prefix is elided by custom syntax inside cuda_tile.module. Expected sum for 10 is 45; this is not a reported GPU run.</a:t>
            </a:r>
          </a:p>
          <a:p/>
          <a:p>
            <a:r>
              <a:t>SOURCES / PREPARATION</a:t>
            </a:r>
          </a:p>
          <a:p>
            <a:r>
              <a:t>/home/gozen/work/dkg4/DkgDSL/cuda_tile_dsl/__init__.py</a:t>
            </a:r>
          </a:p>
          <a:p>
            <a:r>
              <a:t>/home/gozen/work/dkg4/tile_ir/compiler/test/python/Integration/CudaTile/test_for_01.py</a:t>
            </a:r>
          </a:p>
          <a:p>
            <a:r>
              <a:t>https://docs.nvidia.com/cuda/tile-ir/13.1/sections/operations.html</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41 — Tile IR: compile for the GPU</a:t>
            </a:r>
          </a:p>
          <a:p>
            <a:r>
              <a:t>Owner: Guray Ozen</a:t>
            </a:r>
          </a:p>
          <a:p>
            <a:r>
              <a:t>Clock: 43:00–44:00</a:t>
            </a:r>
          </a:p>
          <a:p>
            <a:r>
              <a:t>Target duration: 01:00</a:t>
            </a:r>
          </a:p>
          <a:p/>
          <a:p>
            <a:r>
              <a:t>These are alternatives, not sequential calls. The existing Python backend serializes using writeBytecode directly; cuda-tile-translate is the corresponding public CLI route, not the literal existing implementation. setup/lifetimes and arch/options are omitted. _backends.py has offline and GPU_DRIVER_JIT paths. Current Tile target bypasses cache, so no cache hit is claimed. Public CUDA Tile documentation corroborates the bytecode/toolchain boundary; the private DKG sources establish the exact Python backend.</a:t>
            </a:r>
          </a:p>
          <a:p/>
          <a:p>
            <a:r>
              <a:t>V6 framing: 4 / 5 · Shared lifecycle, target serialization and code generation. Generation is shared; serialization and device code generation are target policy.</a:t>
            </a:r>
          </a:p>
          <a:p/>
          <a:p>
            <a:r>
              <a:t>Presenter context: Serialize Tile IR bytecode; run tileiras for the target GPU. Load Tile IR bytecode through the CUDA driver library API.</a:t>
            </a:r>
          </a:p>
          <a:p/>
          <a:p>
            <a:r>
              <a:t>SOURCES / PREPARATION</a:t>
            </a:r>
          </a:p>
          <a:p>
            <a:r>
              <a:t>/home/gozen/work/dkg4/DkgDSL/cuda_tile_dsl/_backends.py:45</a:t>
            </a:r>
          </a:p>
          <a:p>
            <a:r>
              <a:t>/home/gozen/work/dkg4/DkgDSL/cuda_tile_dsl/_backends.py:111</a:t>
            </a:r>
          </a:p>
          <a:p>
            <a:r>
              <a:t>/home/gozen/work/dkg4/DkgDSL/cuda_tile_dsl/_backends.py:247</a:t>
            </a:r>
          </a:p>
          <a:p>
            <a:r>
              <a:t>https://github.com/NVIDIA/cuda-tile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42 — Tile IR: call the kernel</a:t>
            </a:r>
          </a:p>
          <a:p>
            <a:r>
              <a:t>Owner: Guray Ozen</a:t>
            </a:r>
          </a:p>
          <a:p>
            <a:r>
              <a:t>Clock: 44:00–45:00</a:t>
            </a:r>
          </a:p>
          <a:p>
            <a:r>
              <a:t>Target duration: 01:00</a:t>
            </a:r>
          </a:p>
          <a:p/>
          <a:p>
            <a:r>
              <a:t>The existing CudaTileIR target explicitly asks users to call @kernel directly. The shown helpers wrap CUDA Python driver APIs; they are not the newer ObjectCode.from_cubin abstraction. num_tiles is the existing user keyword and defines the grid; block=(1,1,1), shared-memory size0 follow the source target. Default stream path synchronizes, caller-supplied stream may preserve asynchronous execution. Proper argument packing and module lifetime are part of the shared runtime machinery. The example is source-backed and expected output45 was not measured on GPU for this deck. End by emphasizing what stays reusable and what remains downstream.</a:t>
            </a:r>
          </a:p>
          <a:p/>
          <a:p>
            <a:r>
              <a:t>V6 framing: 5 / 5 · CUDA Python driver helpers behind a normal Python call. Extract the machinery once. Each sub-DSL chooses its dialect, compiler, and runtime.</a:t>
            </a:r>
          </a:p>
          <a:p/>
          <a:p>
            <a:r>
              <a:t>Presenter context: sum_upto(10,     num_tiles=[1, 1, 1]) sum=45 No host @jit wrapper is required.</a:t>
            </a:r>
          </a:p>
          <a:p/>
          <a:p>
            <a:r>
              <a:t>The Python invocation uses the intended direct-annotation interface from slide40; the CUDA helper excerpt is source-backed. No GPU run is claimed.</a:t>
            </a:r>
          </a:p>
          <a:p/>
          <a:p>
            <a:r>
              <a:t>SOURCES / PREPARATION</a:t>
            </a:r>
          </a:p>
          <a:p>
            <a:r>
              <a:t>/home/gozen/work/dkg4/DkgDSL/cuda_tile_dsl/cuda_tile.py:706</a:t>
            </a:r>
          </a:p>
          <a:p>
            <a:r>
              <a:t>/home/gozen/work/dkg4/DkgDSL/cuda_tile_dsl/_backends.py:149</a:t>
            </a:r>
          </a:p>
          <a:p>
            <a:r>
              <a:t>/home/gozen/work/dkg4/DkgDSL/base_dsl/runtime/cuda.py:561</a:t>
            </a:r>
          </a:p>
          <a:p>
            <a:r>
              <a:t>/home/gozen/work/dkg4/DkgDSL/base_dsl/runtime/cuda.py:741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hyperlink" Target="https://docs.nvidia.com/cutlass/latest/media/docs/pythonDSL/cute_dsl_general/dsl_introduction.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0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01</a:t>
            </a:r>
          </a:p>
        </p:txBody>
      </p:sp>
      <p:sp>
        <p:nvSpPr>
          <p:cNvPr id="5" name="2026 US LLVM Developers’ Meeting"/>
          <p:cNvSpPr txBox="1"/>
          <p:nvPr/>
        </p:nvSpPr>
        <p:spPr>
          <a:xfrm>
            <a:off x="475488" y="530352"/>
            <a:ext cx="8193024" cy="274320"/>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2026 US LLVM Developers’ Meeting</a:t>
            </a:r>
          </a:p>
        </p:txBody>
      </p:sp>
      <p:sp>
        <p:nvSpPr>
          <p:cNvPr id="6" name="27 October 2026"/>
          <p:cNvSpPr txBox="1"/>
          <p:nvPr/>
        </p:nvSpPr>
        <p:spPr>
          <a:xfrm>
            <a:off x="475488" y="905256"/>
            <a:ext cx="8193024" cy="25603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27 October 2026</a:t>
            </a:r>
          </a:p>
        </p:txBody>
      </p:sp>
      <p:sp>
        <p:nvSpPr>
          <p:cNvPr id="7" name="How to build a Python DSL / for MLIR"/>
          <p:cNvSpPr txBox="1"/>
          <p:nvPr/>
        </p:nvSpPr>
        <p:spPr>
          <a:xfrm>
            <a:off x="438912" y="1655064"/>
            <a:ext cx="8266175" cy="1124712"/>
          </a:xfrm>
          <a:prstGeom prst="rect">
            <a:avLst/>
          </a:prstGeom>
          <a:noFill/>
        </p:spPr>
        <p:txBody>
          <a:bodyPr wrap="none" anchor="t" lIns="0" rIns="0" tIns="0" bIns="0">
            <a:noAutofit/>
          </a:bodyPr>
          <a:lstStyle/>
          <a:p>
            <a:pPr algn="l">
              <a:lnSpc>
                <a:spcPts val="3596"/>
              </a:lnSpc>
              <a:spcBef>
                <a:spcPts val="0"/>
              </a:spcBef>
              <a:spcAft>
                <a:spcPts val="0"/>
              </a:spcAft>
            </a:pPr>
            <a:r>
              <a:rPr sz="3100" b="0">
                <a:solidFill>
                  <a:srgbClr val="000000"/>
                </a:solidFill>
                <a:latin typeface="NVIDIA Sans Light"/>
              </a:rPr>
              <a:t>How to build a Python DSL</a:t>
            </a:r>
          </a:p>
          <a:p>
            <a:pPr algn="l">
              <a:lnSpc>
                <a:spcPts val="3596"/>
              </a:lnSpc>
              <a:spcBef>
                <a:spcPts val="0"/>
              </a:spcBef>
              <a:spcAft>
                <a:spcPts val="0"/>
              </a:spcAft>
            </a:pPr>
            <a:r>
              <a:rPr sz="3100" b="0">
                <a:solidFill>
                  <a:srgbClr val="000000"/>
                </a:solidFill>
                <a:latin typeface="NVIDIA Sans Light"/>
              </a:rPr>
              <a:t>for MLIR</a:t>
            </a:r>
          </a:p>
        </p:txBody>
      </p:sp>
      <p:sp>
        <p:nvSpPr>
          <p:cNvPr id="8" name="Extracting DkgDSL’s reusable core into mlir dsl"/>
          <p:cNvSpPr txBox="1"/>
          <p:nvPr/>
        </p:nvSpPr>
        <p:spPr>
          <a:xfrm>
            <a:off x="475488" y="2990088"/>
            <a:ext cx="8211312" cy="365760"/>
          </a:xfrm>
          <a:prstGeom prst="rect">
            <a:avLst/>
          </a:prstGeom>
          <a:noFill/>
        </p:spPr>
        <p:txBody>
          <a:bodyPr wrap="none" anchor="t" lIns="0" rIns="0" tIns="0" bIns="0">
            <a:noAutofit/>
          </a:bodyPr>
          <a:lstStyle/>
          <a:p>
            <a:pPr algn="l">
              <a:lnSpc>
                <a:spcPts val="1623"/>
              </a:lnSpc>
              <a:spcBef>
                <a:spcPts val="0"/>
              </a:spcBef>
              <a:spcAft>
                <a:spcPts val="0"/>
              </a:spcAft>
            </a:pPr>
            <a:r>
              <a:rPr sz="1400" b="0">
                <a:solidFill>
                  <a:srgbClr val="416600"/>
                </a:solidFill>
                <a:latin typeface="NVIDIA Sans"/>
              </a:rPr>
              <a:t>Extracting DkgDSL’s reusable core into mlir dsl</a:t>
            </a:r>
          </a:p>
        </p:txBody>
      </p:sp>
      <p:sp>
        <p:nvSpPr>
          <p:cNvPr id="9" name="Guray Ozen"/>
          <p:cNvSpPr txBox="1"/>
          <p:nvPr/>
        </p:nvSpPr>
        <p:spPr>
          <a:xfrm>
            <a:off x="475488" y="3758184"/>
            <a:ext cx="3840480" cy="329184"/>
          </a:xfrm>
          <a:prstGeom prst="rect">
            <a:avLst/>
          </a:prstGeom>
          <a:noFill/>
        </p:spPr>
        <p:txBody>
          <a:bodyPr wrap="none" anchor="t" lIns="0" rIns="0" tIns="0" bIns="0">
            <a:noAutofit/>
          </a:bodyPr>
          <a:lstStyle/>
          <a:p>
            <a:pPr algn="l">
              <a:lnSpc>
                <a:spcPts val="2088"/>
              </a:lnSpc>
              <a:spcBef>
                <a:spcPts val="0"/>
              </a:spcBef>
              <a:spcAft>
                <a:spcPts val="0"/>
              </a:spcAft>
            </a:pPr>
            <a:r>
              <a:rPr sz="1800" b="0">
                <a:solidFill>
                  <a:srgbClr val="000000"/>
                </a:solidFill>
                <a:latin typeface="NVIDIA Sans"/>
              </a:rPr>
              <a:t>Guray Ozen</a:t>
            </a:r>
          </a:p>
        </p:txBody>
      </p:sp>
      <p:sp>
        <p:nvSpPr>
          <p:cNvPr id="10" name="Principal Compiler Engineer, NVIDIA"/>
          <p:cNvSpPr txBox="1"/>
          <p:nvPr/>
        </p:nvSpPr>
        <p:spPr>
          <a:xfrm>
            <a:off x="475488" y="4187952"/>
            <a:ext cx="3840480" cy="402336"/>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616161"/>
                </a:solidFill>
                <a:latin typeface="NVIDIA Sans"/>
              </a:rPr>
              <a:t>Principal Compiler Engineer, NVIDIA</a:t>
            </a:r>
          </a:p>
        </p:txBody>
      </p:sp>
      <p:sp>
        <p:nvSpPr>
          <p:cNvPr id="11" name="Amir Tavakkoli"/>
          <p:cNvSpPr txBox="1"/>
          <p:nvPr/>
        </p:nvSpPr>
        <p:spPr>
          <a:xfrm>
            <a:off x="4700016" y="3758184"/>
            <a:ext cx="3840480" cy="329184"/>
          </a:xfrm>
          <a:prstGeom prst="rect">
            <a:avLst/>
          </a:prstGeom>
          <a:noFill/>
        </p:spPr>
        <p:txBody>
          <a:bodyPr wrap="none" anchor="t" lIns="0" rIns="0" tIns="0" bIns="0">
            <a:noAutofit/>
          </a:bodyPr>
          <a:lstStyle/>
          <a:p>
            <a:pPr algn="l">
              <a:lnSpc>
                <a:spcPts val="2088"/>
              </a:lnSpc>
              <a:spcBef>
                <a:spcPts val="0"/>
              </a:spcBef>
              <a:spcAft>
                <a:spcPts val="0"/>
              </a:spcAft>
            </a:pPr>
            <a:r>
              <a:rPr sz="1800" b="0">
                <a:solidFill>
                  <a:srgbClr val="000000"/>
                </a:solidFill>
                <a:latin typeface="NVIDIA Sans"/>
              </a:rPr>
              <a:t>Amir Tavakkoli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hy a Python DSL for MLI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Why a Python DSL for MLIR?</a:t>
            </a:r>
          </a:p>
        </p:txBody>
      </p:sp>
      <p:sp>
        <p:nvSpPr>
          <p:cNvPr id="5" name="0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02</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Rectangle 6"/>
          <p:cNvSpPr/>
          <p:nvPr/>
        </p:nvSpPr>
        <p:spPr>
          <a:xfrm>
            <a:off x="484632" y="1463040"/>
            <a:ext cx="3959352" cy="1197864"/>
          </a:xfrm>
          <a:prstGeom prst="rect">
            <a:avLst/>
          </a:prstGeom>
          <a:solidFill>
            <a:srgbClr val="F7F7F7"/>
          </a:solidFill>
          <a:ln>
            <a:noFill/>
          </a:ln>
          <a:effectLst/>
        </p:spPr>
        <p:txBody>
          <a:bodyPr rtlCol="0" anchor="ctr"/>
          <a:lstStyle/>
          <a:p>
            <a:pPr algn="ctr"/>
          </a:p>
        </p:txBody>
      </p:sp>
      <p:sp>
        <p:nvSpPr>
          <p:cNvPr id="8" name="Rectangle 7"/>
          <p:cNvSpPr/>
          <p:nvPr/>
        </p:nvSpPr>
        <p:spPr>
          <a:xfrm>
            <a:off x="484632" y="1463040"/>
            <a:ext cx="41148" cy="1197864"/>
          </a:xfrm>
          <a:prstGeom prst="rect">
            <a:avLst/>
          </a:prstGeom>
          <a:solidFill>
            <a:srgbClr val="76B900"/>
          </a:solidFill>
          <a:ln>
            <a:noFill/>
          </a:ln>
          <a:effectLst/>
        </p:spPr>
        <p:txBody>
          <a:bodyPr rtlCol="0" anchor="ctr"/>
          <a:lstStyle/>
          <a:p>
            <a:pPr algn="ctr"/>
          </a:p>
        </p:txBody>
      </p:sp>
      <p:sp>
        <p:nvSpPr>
          <p:cNvPr id="9" name="Rectangle 8"/>
          <p:cNvSpPr/>
          <p:nvPr/>
        </p:nvSpPr>
        <p:spPr>
          <a:xfrm>
            <a:off x="694944" y="1741932"/>
            <a:ext cx="109728" cy="164592"/>
          </a:xfrm>
          <a:prstGeom prst="rect">
            <a:avLst/>
          </a:prstGeom>
          <a:solidFill>
            <a:srgbClr val="FFFFFF"/>
          </a:solidFill>
          <a:ln w="8890">
            <a:solidFill>
              <a:srgbClr val="416600"/>
            </a:solidFill>
          </a:ln>
          <a:effectLst/>
        </p:spPr>
        <p:txBody>
          <a:bodyPr rtlCol="0" anchor="ctr"/>
          <a:lstStyle/>
          <a:p>
            <a:pPr algn="ctr"/>
          </a:p>
        </p:txBody>
      </p:sp>
      <p:sp>
        <p:nvSpPr>
          <p:cNvPr id="10" name="Rectangle 9"/>
          <p:cNvSpPr/>
          <p:nvPr/>
        </p:nvSpPr>
        <p:spPr>
          <a:xfrm>
            <a:off x="859536" y="1741932"/>
            <a:ext cx="109728" cy="164592"/>
          </a:xfrm>
          <a:prstGeom prst="rect">
            <a:avLst/>
          </a:prstGeom>
          <a:solidFill>
            <a:srgbClr val="76B900"/>
          </a:solidFill>
          <a:ln w="8890">
            <a:solidFill>
              <a:srgbClr val="416600"/>
            </a:solidFill>
          </a:ln>
          <a:effectLst/>
        </p:spPr>
        <p:txBody>
          <a:bodyPr rtlCol="0" anchor="ctr"/>
          <a:lstStyle/>
          <a:p>
            <a:pPr algn="ctr"/>
          </a:p>
        </p:txBody>
      </p:sp>
      <p:sp>
        <p:nvSpPr>
          <p:cNvPr id="11" name="Rectangle 10"/>
          <p:cNvSpPr/>
          <p:nvPr/>
        </p:nvSpPr>
        <p:spPr>
          <a:xfrm>
            <a:off x="1024128" y="1741932"/>
            <a:ext cx="109728" cy="164592"/>
          </a:xfrm>
          <a:prstGeom prst="rect">
            <a:avLst/>
          </a:prstGeom>
          <a:solidFill>
            <a:srgbClr val="FFFFFF"/>
          </a:solidFill>
          <a:ln w="8890">
            <a:solidFill>
              <a:srgbClr val="416600"/>
            </a:solidFill>
          </a:ln>
          <a:effectLst/>
        </p:spPr>
        <p:txBody>
          <a:bodyPr rtlCol="0" anchor="ctr"/>
          <a:lstStyle/>
          <a:p>
            <a:pPr algn="ctr"/>
          </a:p>
        </p:txBody>
      </p:sp>
      <p:cxnSp>
        <p:nvCxnSpPr>
          <p:cNvPr id="12" name="Connector 11"/>
          <p:cNvCxnSpPr/>
          <p:nvPr/>
        </p:nvCxnSpPr>
        <p:spPr>
          <a:xfrm>
            <a:off x="804672" y="1824228"/>
            <a:ext cx="5486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69264" y="1824228"/>
            <a:ext cx="5486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14" name="Test a dialect"/>
          <p:cNvSpPr txBox="1"/>
          <p:nvPr/>
        </p:nvSpPr>
        <p:spPr>
          <a:xfrm>
            <a:off x="1307592" y="1682496"/>
            <a:ext cx="2953512" cy="356616"/>
          </a:xfrm>
          <a:prstGeom prst="rect">
            <a:avLst/>
          </a:prstGeom>
          <a:noFill/>
        </p:spPr>
        <p:txBody>
          <a:bodyPr wrap="none" anchor="t" lIns="0" rIns="0" tIns="0" bIns="0">
            <a:noAutofit/>
          </a:bodyPr>
          <a:lstStyle/>
          <a:p>
            <a:pPr algn="l">
              <a:lnSpc>
                <a:spcPts val="2204"/>
              </a:lnSpc>
              <a:spcBef>
                <a:spcPts val="0"/>
              </a:spcBef>
              <a:spcAft>
                <a:spcPts val="0"/>
              </a:spcAft>
            </a:pPr>
            <a:r>
              <a:rPr sz="1900" b="0">
                <a:solidFill>
                  <a:srgbClr val="000000"/>
                </a:solidFill>
                <a:latin typeface="NVIDIA Sans Light"/>
              </a:rPr>
              <a:t>Test a dialect</a:t>
            </a:r>
          </a:p>
        </p:txBody>
      </p:sp>
      <p:sp>
        <p:nvSpPr>
          <p:cNvPr id="15" name="Public → Internal → LLVM"/>
          <p:cNvSpPr txBox="1"/>
          <p:nvPr/>
        </p:nvSpPr>
        <p:spPr>
          <a:xfrm>
            <a:off x="704088" y="2176272"/>
            <a:ext cx="3520440" cy="24688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Public → Internal → LLVM</a:t>
            </a:r>
          </a:p>
        </p:txBody>
      </p:sp>
      <p:sp>
        <p:nvSpPr>
          <p:cNvPr id="16" name="Rectangle 15"/>
          <p:cNvSpPr/>
          <p:nvPr/>
        </p:nvSpPr>
        <p:spPr>
          <a:xfrm>
            <a:off x="4700016" y="1463040"/>
            <a:ext cx="3959352" cy="1197864"/>
          </a:xfrm>
          <a:prstGeom prst="rect">
            <a:avLst/>
          </a:prstGeom>
          <a:solidFill>
            <a:srgbClr val="F7F7F7"/>
          </a:solidFill>
          <a:ln>
            <a:noFill/>
          </a:ln>
          <a:effectLst/>
        </p:spPr>
        <p:txBody>
          <a:bodyPr rtlCol="0" anchor="ctr"/>
          <a:lstStyle/>
          <a:p>
            <a:pPr algn="ctr"/>
          </a:p>
        </p:txBody>
      </p:sp>
      <p:sp>
        <p:nvSpPr>
          <p:cNvPr id="17" name="Rectangle 16"/>
          <p:cNvSpPr/>
          <p:nvPr/>
        </p:nvSpPr>
        <p:spPr>
          <a:xfrm>
            <a:off x="4700016" y="1463040"/>
            <a:ext cx="41148" cy="1197864"/>
          </a:xfrm>
          <a:prstGeom prst="rect">
            <a:avLst/>
          </a:prstGeom>
          <a:solidFill>
            <a:srgbClr val="76B900"/>
          </a:solidFill>
          <a:ln>
            <a:noFill/>
          </a:ln>
          <a:effectLst/>
        </p:spPr>
        <p:txBody>
          <a:bodyPr rtlCol="0" anchor="ctr"/>
          <a:lstStyle/>
          <a:p>
            <a:pPr algn="ctr"/>
          </a:p>
        </p:txBody>
      </p:sp>
      <p:sp>
        <p:nvSpPr>
          <p:cNvPr id="18" name="Rectangle 17"/>
          <p:cNvSpPr/>
          <p:nvPr/>
        </p:nvSpPr>
        <p:spPr>
          <a:xfrm>
            <a:off x="4983480" y="1682496"/>
            <a:ext cx="265176" cy="329184"/>
          </a:xfrm>
          <a:prstGeom prst="rect">
            <a:avLst/>
          </a:prstGeom>
          <a:solidFill>
            <a:srgbClr val="FFFFFF"/>
          </a:solidFill>
          <a:ln w="8890">
            <a:solidFill>
              <a:srgbClr val="416600"/>
            </a:solidFill>
          </a:ln>
          <a:effectLst/>
        </p:spPr>
        <p:txBody>
          <a:bodyPr rtlCol="0" anchor="ctr"/>
          <a:lstStyle/>
          <a:p>
            <a:pPr algn="ctr"/>
          </a:p>
        </p:txBody>
      </p:sp>
      <p:cxnSp>
        <p:nvCxnSpPr>
          <p:cNvPr id="19" name="Connector 18"/>
          <p:cNvCxnSpPr/>
          <p:nvPr/>
        </p:nvCxnSpPr>
        <p:spPr>
          <a:xfrm>
            <a:off x="5038344" y="1769364"/>
            <a:ext cx="14630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038344" y="1837944"/>
            <a:ext cx="14630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038344" y="1906524"/>
            <a:ext cx="10058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22" name="Generate recipe IR"/>
          <p:cNvSpPr txBox="1"/>
          <p:nvPr/>
        </p:nvSpPr>
        <p:spPr>
          <a:xfrm>
            <a:off x="5522976" y="1682496"/>
            <a:ext cx="2953512" cy="356616"/>
          </a:xfrm>
          <a:prstGeom prst="rect">
            <a:avLst/>
          </a:prstGeom>
          <a:noFill/>
        </p:spPr>
        <p:txBody>
          <a:bodyPr wrap="none" anchor="t" lIns="0" rIns="0" tIns="0" bIns="0">
            <a:noAutofit/>
          </a:bodyPr>
          <a:lstStyle/>
          <a:p>
            <a:pPr algn="l">
              <a:lnSpc>
                <a:spcPts val="2204"/>
              </a:lnSpc>
              <a:spcBef>
                <a:spcPts val="0"/>
              </a:spcBef>
              <a:spcAft>
                <a:spcPts val="0"/>
              </a:spcAft>
            </a:pPr>
            <a:r>
              <a:rPr sz="1900" b="0">
                <a:solidFill>
                  <a:srgbClr val="000000"/>
                </a:solidFill>
                <a:latin typeface="NVIDIA Sans Light"/>
              </a:rPr>
              <a:t>Generate recipe IR</a:t>
            </a:r>
          </a:p>
        </p:txBody>
      </p:sp>
      <p:sp>
        <p:nvSpPr>
          <p:cNvPr id="23" name="Python → Recipe IR → Consumer"/>
          <p:cNvSpPr txBox="1"/>
          <p:nvPr/>
        </p:nvSpPr>
        <p:spPr>
          <a:xfrm>
            <a:off x="4919472" y="2176272"/>
            <a:ext cx="3520440" cy="24688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Python → Recipe IR → Consumer</a:t>
            </a:r>
          </a:p>
        </p:txBody>
      </p:sp>
      <p:sp>
        <p:nvSpPr>
          <p:cNvPr id="24" name="Rectangle 23"/>
          <p:cNvSpPr/>
          <p:nvPr/>
        </p:nvSpPr>
        <p:spPr>
          <a:xfrm>
            <a:off x="484632" y="2834640"/>
            <a:ext cx="3959352" cy="1197864"/>
          </a:xfrm>
          <a:prstGeom prst="rect">
            <a:avLst/>
          </a:prstGeom>
          <a:solidFill>
            <a:srgbClr val="F7F7F7"/>
          </a:solidFill>
          <a:ln>
            <a:noFill/>
          </a:ln>
          <a:effectLst/>
        </p:spPr>
        <p:txBody>
          <a:bodyPr rtlCol="0" anchor="ctr"/>
          <a:lstStyle/>
          <a:p>
            <a:pPr algn="ctr"/>
          </a:p>
        </p:txBody>
      </p:sp>
      <p:sp>
        <p:nvSpPr>
          <p:cNvPr id="25" name="Rectangle 24"/>
          <p:cNvSpPr/>
          <p:nvPr/>
        </p:nvSpPr>
        <p:spPr>
          <a:xfrm>
            <a:off x="484632" y="2834640"/>
            <a:ext cx="41148" cy="1197864"/>
          </a:xfrm>
          <a:prstGeom prst="rect">
            <a:avLst/>
          </a:prstGeom>
          <a:solidFill>
            <a:srgbClr val="76B900"/>
          </a:solidFill>
          <a:ln>
            <a:noFill/>
          </a:ln>
          <a:effectLst/>
        </p:spPr>
        <p:txBody>
          <a:bodyPr rtlCol="0" anchor="ctr"/>
          <a:lstStyle/>
          <a:p>
            <a:pPr algn="ctr"/>
          </a:p>
        </p:txBody>
      </p:sp>
      <p:sp>
        <p:nvSpPr>
          <p:cNvPr id="26" name="Rectangle 25"/>
          <p:cNvSpPr/>
          <p:nvPr/>
        </p:nvSpPr>
        <p:spPr>
          <a:xfrm>
            <a:off x="736092" y="3063240"/>
            <a:ext cx="132588" cy="132588"/>
          </a:xfrm>
          <a:prstGeom prst="rect">
            <a:avLst/>
          </a:prstGeom>
          <a:solidFill>
            <a:srgbClr val="76B900"/>
          </a:solidFill>
          <a:ln w="8890">
            <a:solidFill>
              <a:srgbClr val="416600"/>
            </a:solidFill>
          </a:ln>
          <a:effectLst/>
        </p:spPr>
        <p:txBody>
          <a:bodyPr rtlCol="0" anchor="ctr"/>
          <a:lstStyle/>
          <a:p>
            <a:pPr algn="ctr"/>
          </a:p>
        </p:txBody>
      </p:sp>
      <p:sp>
        <p:nvSpPr>
          <p:cNvPr id="27" name="Rectangle 26"/>
          <p:cNvSpPr/>
          <p:nvPr/>
        </p:nvSpPr>
        <p:spPr>
          <a:xfrm>
            <a:off x="909828" y="3063240"/>
            <a:ext cx="132588" cy="132588"/>
          </a:xfrm>
          <a:prstGeom prst="rect">
            <a:avLst/>
          </a:prstGeom>
          <a:solidFill>
            <a:srgbClr val="FFFFFF"/>
          </a:solidFill>
          <a:ln w="8890">
            <a:solidFill>
              <a:srgbClr val="416600"/>
            </a:solidFill>
          </a:ln>
          <a:effectLst/>
        </p:spPr>
        <p:txBody>
          <a:bodyPr rtlCol="0" anchor="ctr"/>
          <a:lstStyle/>
          <a:p>
            <a:pPr algn="ctr"/>
          </a:p>
        </p:txBody>
      </p:sp>
      <p:sp>
        <p:nvSpPr>
          <p:cNvPr id="28" name="Rectangle 27"/>
          <p:cNvSpPr/>
          <p:nvPr/>
        </p:nvSpPr>
        <p:spPr>
          <a:xfrm>
            <a:off x="736092" y="3236976"/>
            <a:ext cx="132588" cy="132588"/>
          </a:xfrm>
          <a:prstGeom prst="rect">
            <a:avLst/>
          </a:prstGeom>
          <a:solidFill>
            <a:srgbClr val="FFFFFF"/>
          </a:solidFill>
          <a:ln w="8890">
            <a:solidFill>
              <a:srgbClr val="416600"/>
            </a:solidFill>
          </a:ln>
          <a:effectLst/>
        </p:spPr>
        <p:txBody>
          <a:bodyPr rtlCol="0" anchor="ctr"/>
          <a:lstStyle/>
          <a:p>
            <a:pPr algn="ctr"/>
          </a:p>
        </p:txBody>
      </p:sp>
      <p:sp>
        <p:nvSpPr>
          <p:cNvPr id="29" name="Rectangle 28"/>
          <p:cNvSpPr/>
          <p:nvPr/>
        </p:nvSpPr>
        <p:spPr>
          <a:xfrm>
            <a:off x="909828" y="3236976"/>
            <a:ext cx="132588" cy="132588"/>
          </a:xfrm>
          <a:prstGeom prst="rect">
            <a:avLst/>
          </a:prstGeom>
          <a:solidFill>
            <a:srgbClr val="76B900"/>
          </a:solidFill>
          <a:ln w="8890">
            <a:solidFill>
              <a:srgbClr val="416600"/>
            </a:solidFill>
          </a:ln>
          <a:effectLst/>
        </p:spPr>
        <p:txBody>
          <a:bodyPr rtlCol="0" anchor="ctr"/>
          <a:lstStyle/>
          <a:p>
            <a:pPr algn="ctr"/>
          </a:p>
        </p:txBody>
      </p:sp>
      <p:sp>
        <p:nvSpPr>
          <p:cNvPr id="30" name="Reuse building blocks"/>
          <p:cNvSpPr txBox="1"/>
          <p:nvPr/>
        </p:nvSpPr>
        <p:spPr>
          <a:xfrm>
            <a:off x="1307592" y="3054096"/>
            <a:ext cx="2953512" cy="356616"/>
          </a:xfrm>
          <a:prstGeom prst="rect">
            <a:avLst/>
          </a:prstGeom>
          <a:noFill/>
        </p:spPr>
        <p:txBody>
          <a:bodyPr wrap="none" anchor="t" lIns="0" rIns="0" tIns="0" bIns="0">
            <a:noAutofit/>
          </a:bodyPr>
          <a:lstStyle/>
          <a:p>
            <a:pPr algn="l">
              <a:lnSpc>
                <a:spcPts val="2204"/>
              </a:lnSpc>
              <a:spcBef>
                <a:spcPts val="0"/>
              </a:spcBef>
              <a:spcAft>
                <a:spcPts val="0"/>
              </a:spcAft>
            </a:pPr>
            <a:r>
              <a:rPr sz="1900" b="0">
                <a:solidFill>
                  <a:srgbClr val="000000"/>
                </a:solidFill>
                <a:latin typeface="NVIDIA Sans Light"/>
              </a:rPr>
              <a:t>Reuse building blocks</a:t>
            </a:r>
          </a:p>
        </p:txBody>
      </p:sp>
      <p:sp>
        <p:nvSpPr>
          <p:cNvPr id="31" name="JIT · Cache · Environment"/>
          <p:cNvSpPr txBox="1"/>
          <p:nvPr/>
        </p:nvSpPr>
        <p:spPr>
          <a:xfrm>
            <a:off x="704088" y="3547872"/>
            <a:ext cx="3520440" cy="24688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JIT · Cache · Environment</a:t>
            </a:r>
          </a:p>
        </p:txBody>
      </p:sp>
      <p:sp>
        <p:nvSpPr>
          <p:cNvPr id="32" name="Rectangle 31"/>
          <p:cNvSpPr/>
          <p:nvPr/>
        </p:nvSpPr>
        <p:spPr>
          <a:xfrm>
            <a:off x="4700016" y="2834640"/>
            <a:ext cx="3959352" cy="1197864"/>
          </a:xfrm>
          <a:prstGeom prst="rect">
            <a:avLst/>
          </a:prstGeom>
          <a:solidFill>
            <a:srgbClr val="F7F7F7"/>
          </a:solidFill>
          <a:ln>
            <a:noFill/>
          </a:ln>
          <a:effectLst/>
        </p:spPr>
        <p:txBody>
          <a:bodyPr rtlCol="0" anchor="ctr"/>
          <a:lstStyle/>
          <a:p>
            <a:pPr algn="ctr"/>
          </a:p>
        </p:txBody>
      </p:sp>
      <p:sp>
        <p:nvSpPr>
          <p:cNvPr id="33" name="Rectangle 32"/>
          <p:cNvSpPr/>
          <p:nvPr/>
        </p:nvSpPr>
        <p:spPr>
          <a:xfrm>
            <a:off x="4700016" y="2834640"/>
            <a:ext cx="41148" cy="1197864"/>
          </a:xfrm>
          <a:prstGeom prst="rect">
            <a:avLst/>
          </a:prstGeom>
          <a:solidFill>
            <a:srgbClr val="76B900"/>
          </a:solidFill>
          <a:ln>
            <a:noFill/>
          </a:ln>
          <a:effectLst/>
        </p:spPr>
        <p:txBody>
          <a:bodyPr rtlCol="0" anchor="ctr"/>
          <a:lstStyle/>
          <a:p>
            <a:pPr algn="ctr"/>
          </a:p>
        </p:txBody>
      </p:sp>
      <p:sp>
        <p:nvSpPr>
          <p:cNvPr id="34" name="&lt;/&gt;"/>
          <p:cNvSpPr txBox="1"/>
          <p:nvPr/>
        </p:nvSpPr>
        <p:spPr>
          <a:xfrm>
            <a:off x="4892040" y="3058668"/>
            <a:ext cx="502920" cy="338328"/>
          </a:xfrm>
          <a:prstGeom prst="rect">
            <a:avLst/>
          </a:prstGeom>
          <a:noFill/>
        </p:spPr>
        <p:txBody>
          <a:bodyPr wrap="none" anchor="t" lIns="0" rIns="0" tIns="0" bIns="0">
            <a:noAutofit/>
          </a:bodyPr>
          <a:lstStyle/>
          <a:p>
            <a:pPr algn="ctr">
              <a:lnSpc>
                <a:spcPts val="2520"/>
              </a:lnSpc>
              <a:spcBef>
                <a:spcPts val="0"/>
              </a:spcBef>
              <a:spcAft>
                <a:spcPts val="0"/>
              </a:spcAft>
            </a:pPr>
            <a:r>
              <a:rPr sz="2000" b="0">
                <a:solidFill>
                  <a:srgbClr val="416600"/>
                </a:solidFill>
                <a:latin typeface="JetBrains Mono"/>
              </a:rPr>
              <a:t>&lt;/&gt;</a:t>
            </a:r>
          </a:p>
        </p:txBody>
      </p:sp>
      <p:sp>
        <p:nvSpPr>
          <p:cNvPr id="35" name="Build a language"/>
          <p:cNvSpPr txBox="1"/>
          <p:nvPr/>
        </p:nvSpPr>
        <p:spPr>
          <a:xfrm>
            <a:off x="5522976" y="3054096"/>
            <a:ext cx="2953512" cy="356616"/>
          </a:xfrm>
          <a:prstGeom prst="rect">
            <a:avLst/>
          </a:prstGeom>
          <a:noFill/>
        </p:spPr>
        <p:txBody>
          <a:bodyPr wrap="none" anchor="t" lIns="0" rIns="0" tIns="0" bIns="0">
            <a:noAutofit/>
          </a:bodyPr>
          <a:lstStyle/>
          <a:p>
            <a:pPr algn="l">
              <a:lnSpc>
                <a:spcPts val="2204"/>
              </a:lnSpc>
              <a:spcBef>
                <a:spcPts val="0"/>
              </a:spcBef>
              <a:spcAft>
                <a:spcPts val="0"/>
              </a:spcAft>
            </a:pPr>
            <a:r>
              <a:rPr sz="1900" b="0">
                <a:solidFill>
                  <a:srgbClr val="000000"/>
                </a:solidFill>
                <a:latin typeface="NVIDIA Sans Light"/>
              </a:rPr>
              <a:t>Build a language</a:t>
            </a:r>
          </a:p>
        </p:txBody>
      </p:sp>
      <p:sp>
        <p:nvSpPr>
          <p:cNvPr id="36" name="NVIDIA CuTe DSL / CUTLASS Python"/>
          <p:cNvSpPr txBox="1"/>
          <p:nvPr/>
        </p:nvSpPr>
        <p:spPr>
          <a:xfrm>
            <a:off x="4919472" y="3547872"/>
            <a:ext cx="3520440" cy="24688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NVIDIA CuTe DSL / CUTLASS Python</a:t>
            </a:r>
          </a:p>
        </p:txBody>
      </p:sp>
      <p:sp>
        <p:nvSpPr>
          <p:cNvPr id="37" name="NVIDIA documentation"/>
          <p:cNvSpPr txBox="1"/>
          <p:nvPr/>
        </p:nvSpPr>
        <p:spPr>
          <a:xfrm>
            <a:off x="4919472" y="3831336"/>
            <a:ext cx="3520440" cy="173736"/>
          </a:xfrm>
          <a:prstGeom prst="rect">
            <a:avLst/>
          </a:prstGeom>
          <a:noFill/>
        </p:spPr>
        <p:txBody>
          <a:bodyPr wrap="none" anchor="t" lIns="0" rIns="0" tIns="0" bIns="0">
            <a:noAutofit/>
          </a:bodyPr>
          <a:lstStyle/>
          <a:p>
            <a:pPr algn="l">
              <a:lnSpc>
                <a:spcPts val="1090"/>
              </a:lnSpc>
              <a:spcBef>
                <a:spcPts val="0"/>
              </a:spcBef>
              <a:spcAft>
                <a:spcPts val="0"/>
              </a:spcAft>
            </a:pPr>
            <a:r>
              <a:rPr sz="940" b="0" u="sng">
                <a:solidFill>
                  <a:srgbClr val="416600"/>
                </a:solidFill>
                <a:latin typeface="NVIDIA Sans"/>
                <a:hlinkClick r:id="rId3"/>
              </a:rPr>
              <a:t>NVIDIA documentation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One core. Many DSL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One core. Many DSLs.</a:t>
            </a:r>
          </a:p>
        </p:txBody>
      </p:sp>
      <p:sp>
        <p:nvSpPr>
          <p:cNvPr id="5" name="0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03</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cxnSp>
        <p:nvCxnSpPr>
          <p:cNvPr id="7" name="Connector 6"/>
          <p:cNvCxnSpPr/>
          <p:nvPr/>
        </p:nvCxnSpPr>
        <p:spPr>
          <a:xfrm flipV="1">
            <a:off x="4572000" y="2761488"/>
            <a:ext cx="0" cy="34747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700784" y="2761488"/>
            <a:ext cx="5742432"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700784" y="2423160"/>
            <a:ext cx="0" cy="338328"/>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484632" y="1527048"/>
            <a:ext cx="2432304" cy="859536"/>
          </a:xfrm>
          <a:prstGeom prst="rect">
            <a:avLst/>
          </a:prstGeom>
          <a:solidFill>
            <a:srgbClr val="F0F6E6"/>
          </a:solidFill>
          <a:ln w="8890">
            <a:solidFill>
              <a:srgbClr val="76B900"/>
            </a:solidFill>
          </a:ln>
          <a:effectLst/>
        </p:spPr>
        <p:txBody>
          <a:bodyPr rtlCol="0" anchor="ctr"/>
          <a:lstStyle/>
          <a:p>
            <a:pPr algn="ctr"/>
          </a:p>
        </p:txBody>
      </p:sp>
      <p:sp>
        <p:nvSpPr>
          <p:cNvPr id="11" name="CPU DSL"/>
          <p:cNvSpPr txBox="1"/>
          <p:nvPr/>
        </p:nvSpPr>
        <p:spPr>
          <a:xfrm>
            <a:off x="594360" y="1700784"/>
            <a:ext cx="2212848" cy="320040"/>
          </a:xfrm>
          <a:prstGeom prst="rect">
            <a:avLst/>
          </a:prstGeom>
          <a:noFill/>
        </p:spPr>
        <p:txBody>
          <a:bodyPr wrap="none" anchor="t" lIns="0" rIns="0" tIns="0" bIns="0">
            <a:noAutofit/>
          </a:bodyPr>
          <a:lstStyle/>
          <a:p>
            <a:pPr algn="ctr">
              <a:lnSpc>
                <a:spcPts val="2320"/>
              </a:lnSpc>
              <a:spcBef>
                <a:spcPts val="0"/>
              </a:spcBef>
              <a:spcAft>
                <a:spcPts val="0"/>
              </a:spcAft>
            </a:pPr>
            <a:r>
              <a:rPr sz="2000" b="0">
                <a:solidFill>
                  <a:srgbClr val="416600"/>
                </a:solidFill>
                <a:latin typeface="NVIDIA Sans Light"/>
              </a:rPr>
              <a:t>CPU DSL</a:t>
            </a:r>
          </a:p>
        </p:txBody>
      </p:sp>
      <p:sp>
        <p:nvSpPr>
          <p:cNvPr id="12" name="arith · llvm"/>
          <p:cNvSpPr txBox="1"/>
          <p:nvPr/>
        </p:nvSpPr>
        <p:spPr>
          <a:xfrm>
            <a:off x="594360" y="2084831"/>
            <a:ext cx="2212848" cy="228600"/>
          </a:xfrm>
          <a:prstGeom prst="rect">
            <a:avLst/>
          </a:prstGeom>
          <a:noFill/>
        </p:spPr>
        <p:txBody>
          <a:bodyPr wrap="none" anchor="t" lIns="0" rIns="0" tIns="0" bIns="0">
            <a:noAutofit/>
          </a:bodyPr>
          <a:lstStyle/>
          <a:p>
            <a:pPr algn="ctr">
              <a:lnSpc>
                <a:spcPts val="1449"/>
              </a:lnSpc>
              <a:spcBef>
                <a:spcPts val="0"/>
              </a:spcBef>
              <a:spcAft>
                <a:spcPts val="0"/>
              </a:spcAft>
            </a:pPr>
            <a:r>
              <a:rPr sz="1250" b="0">
                <a:solidFill>
                  <a:srgbClr val="616161"/>
                </a:solidFill>
                <a:latin typeface="NVIDIA Sans"/>
              </a:rPr>
              <a:t>arith · llvm</a:t>
            </a:r>
          </a:p>
        </p:txBody>
      </p:sp>
      <p:cxnSp>
        <p:nvCxnSpPr>
          <p:cNvPr id="13" name="Connector 12"/>
          <p:cNvCxnSpPr/>
          <p:nvPr/>
        </p:nvCxnSpPr>
        <p:spPr>
          <a:xfrm flipV="1">
            <a:off x="4572000" y="2423160"/>
            <a:ext cx="0" cy="338328"/>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3355848" y="1527048"/>
            <a:ext cx="2432304" cy="859536"/>
          </a:xfrm>
          <a:prstGeom prst="rect">
            <a:avLst/>
          </a:prstGeom>
          <a:solidFill>
            <a:srgbClr val="F0F6E6"/>
          </a:solidFill>
          <a:ln w="8890">
            <a:solidFill>
              <a:srgbClr val="76B900"/>
            </a:solidFill>
          </a:ln>
          <a:effectLst/>
        </p:spPr>
        <p:txBody>
          <a:bodyPr rtlCol="0" anchor="ctr"/>
          <a:lstStyle/>
          <a:p>
            <a:pPr algn="ctr"/>
          </a:p>
        </p:txBody>
      </p:sp>
      <p:sp>
        <p:nvSpPr>
          <p:cNvPr id="15" name="GPU DSL"/>
          <p:cNvSpPr txBox="1"/>
          <p:nvPr/>
        </p:nvSpPr>
        <p:spPr>
          <a:xfrm>
            <a:off x="3465576" y="1700784"/>
            <a:ext cx="2212848" cy="320040"/>
          </a:xfrm>
          <a:prstGeom prst="rect">
            <a:avLst/>
          </a:prstGeom>
          <a:noFill/>
        </p:spPr>
        <p:txBody>
          <a:bodyPr wrap="none" anchor="t" lIns="0" rIns="0" tIns="0" bIns="0">
            <a:noAutofit/>
          </a:bodyPr>
          <a:lstStyle/>
          <a:p>
            <a:pPr algn="ctr">
              <a:lnSpc>
                <a:spcPts val="2320"/>
              </a:lnSpc>
              <a:spcBef>
                <a:spcPts val="0"/>
              </a:spcBef>
              <a:spcAft>
                <a:spcPts val="0"/>
              </a:spcAft>
            </a:pPr>
            <a:r>
              <a:rPr sz="2000" b="0">
                <a:solidFill>
                  <a:srgbClr val="416600"/>
                </a:solidFill>
                <a:latin typeface="NVIDIA Sans Light"/>
              </a:rPr>
              <a:t>GPU DSL</a:t>
            </a:r>
          </a:p>
        </p:txBody>
      </p:sp>
      <p:sp>
        <p:nvSpPr>
          <p:cNvPr id="16" name="gpu · nvvm"/>
          <p:cNvSpPr txBox="1"/>
          <p:nvPr/>
        </p:nvSpPr>
        <p:spPr>
          <a:xfrm>
            <a:off x="3465576" y="2084831"/>
            <a:ext cx="2212848" cy="228600"/>
          </a:xfrm>
          <a:prstGeom prst="rect">
            <a:avLst/>
          </a:prstGeom>
          <a:noFill/>
        </p:spPr>
        <p:txBody>
          <a:bodyPr wrap="none" anchor="t" lIns="0" rIns="0" tIns="0" bIns="0">
            <a:noAutofit/>
          </a:bodyPr>
          <a:lstStyle/>
          <a:p>
            <a:pPr algn="ctr">
              <a:lnSpc>
                <a:spcPts val="1449"/>
              </a:lnSpc>
              <a:spcBef>
                <a:spcPts val="0"/>
              </a:spcBef>
              <a:spcAft>
                <a:spcPts val="0"/>
              </a:spcAft>
            </a:pPr>
            <a:r>
              <a:rPr sz="1250" b="0">
                <a:solidFill>
                  <a:srgbClr val="616161"/>
                </a:solidFill>
                <a:latin typeface="NVIDIA Sans"/>
              </a:rPr>
              <a:t>gpu · nvvm</a:t>
            </a:r>
          </a:p>
        </p:txBody>
      </p:sp>
      <p:cxnSp>
        <p:nvCxnSpPr>
          <p:cNvPr id="17" name="Connector 16"/>
          <p:cNvCxnSpPr/>
          <p:nvPr/>
        </p:nvCxnSpPr>
        <p:spPr>
          <a:xfrm flipV="1">
            <a:off x="7443216" y="2423160"/>
            <a:ext cx="0" cy="338328"/>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6227064" y="1527048"/>
            <a:ext cx="2432304" cy="859536"/>
          </a:xfrm>
          <a:prstGeom prst="rect">
            <a:avLst/>
          </a:prstGeom>
          <a:solidFill>
            <a:srgbClr val="F0F6E6"/>
          </a:solidFill>
          <a:ln w="8890">
            <a:solidFill>
              <a:srgbClr val="76B900"/>
            </a:solidFill>
          </a:ln>
          <a:effectLst/>
        </p:spPr>
        <p:txBody>
          <a:bodyPr rtlCol="0" anchor="ctr"/>
          <a:lstStyle/>
          <a:p>
            <a:pPr algn="ctr"/>
          </a:p>
        </p:txBody>
      </p:sp>
      <p:sp>
        <p:nvSpPr>
          <p:cNvPr id="19" name="Your DSL"/>
          <p:cNvSpPr txBox="1"/>
          <p:nvPr/>
        </p:nvSpPr>
        <p:spPr>
          <a:xfrm>
            <a:off x="6336792" y="1700784"/>
            <a:ext cx="2212848" cy="320040"/>
          </a:xfrm>
          <a:prstGeom prst="rect">
            <a:avLst/>
          </a:prstGeom>
          <a:noFill/>
        </p:spPr>
        <p:txBody>
          <a:bodyPr wrap="none" anchor="t" lIns="0" rIns="0" tIns="0" bIns="0">
            <a:noAutofit/>
          </a:bodyPr>
          <a:lstStyle/>
          <a:p>
            <a:pPr algn="ctr">
              <a:lnSpc>
                <a:spcPts val="2320"/>
              </a:lnSpc>
              <a:spcBef>
                <a:spcPts val="0"/>
              </a:spcBef>
              <a:spcAft>
                <a:spcPts val="0"/>
              </a:spcAft>
            </a:pPr>
            <a:r>
              <a:rPr sz="2000" b="0">
                <a:solidFill>
                  <a:srgbClr val="416600"/>
                </a:solidFill>
                <a:latin typeface="NVIDIA Sans Light"/>
              </a:rPr>
              <a:t>Your DSL</a:t>
            </a:r>
          </a:p>
        </p:txBody>
      </p:sp>
      <p:sp>
        <p:nvSpPr>
          <p:cNvPr id="20" name="your dialect"/>
          <p:cNvSpPr txBox="1"/>
          <p:nvPr/>
        </p:nvSpPr>
        <p:spPr>
          <a:xfrm>
            <a:off x="6336792" y="2084831"/>
            <a:ext cx="2212848" cy="228600"/>
          </a:xfrm>
          <a:prstGeom prst="rect">
            <a:avLst/>
          </a:prstGeom>
          <a:noFill/>
        </p:spPr>
        <p:txBody>
          <a:bodyPr wrap="none" anchor="t" lIns="0" rIns="0" tIns="0" bIns="0">
            <a:noAutofit/>
          </a:bodyPr>
          <a:lstStyle/>
          <a:p>
            <a:pPr algn="ctr">
              <a:lnSpc>
                <a:spcPts val="1449"/>
              </a:lnSpc>
              <a:spcBef>
                <a:spcPts val="0"/>
              </a:spcBef>
              <a:spcAft>
                <a:spcPts val="0"/>
              </a:spcAft>
            </a:pPr>
            <a:r>
              <a:rPr sz="1250" b="0">
                <a:solidFill>
                  <a:srgbClr val="616161"/>
                </a:solidFill>
                <a:latin typeface="NVIDIA Sans"/>
              </a:rPr>
              <a:t>your dialect</a:t>
            </a:r>
          </a:p>
        </p:txBody>
      </p:sp>
      <p:sp>
        <p:nvSpPr>
          <p:cNvPr id="21" name="Rectangle 20"/>
          <p:cNvSpPr/>
          <p:nvPr/>
        </p:nvSpPr>
        <p:spPr>
          <a:xfrm>
            <a:off x="484632" y="3108960"/>
            <a:ext cx="8174736" cy="1060704"/>
          </a:xfrm>
          <a:prstGeom prst="rect">
            <a:avLst/>
          </a:prstGeom>
          <a:solidFill>
            <a:srgbClr val="F7F7F7"/>
          </a:solidFill>
          <a:ln w="8890">
            <a:solidFill>
              <a:srgbClr val="D5D5D5"/>
            </a:solidFill>
          </a:ln>
          <a:effectLst/>
        </p:spPr>
        <p:txBody>
          <a:bodyPr rtlCol="0" anchor="ctr"/>
          <a:lstStyle/>
          <a:p>
            <a:pPr algn="ctr"/>
          </a:p>
        </p:txBody>
      </p:sp>
      <p:sp>
        <p:nvSpPr>
          <p:cNvPr id="22" name="BaseDSL"/>
          <p:cNvSpPr txBox="1"/>
          <p:nvPr/>
        </p:nvSpPr>
        <p:spPr>
          <a:xfrm>
            <a:off x="685800" y="3227832"/>
            <a:ext cx="7772400" cy="301752"/>
          </a:xfrm>
          <a:prstGeom prst="rect">
            <a:avLst/>
          </a:prstGeom>
          <a:noFill/>
        </p:spPr>
        <p:txBody>
          <a:bodyPr wrap="none" anchor="t" lIns="0" rIns="0" tIns="0" bIns="0">
            <a:noAutofit/>
          </a:bodyPr>
          <a:lstStyle/>
          <a:p>
            <a:pPr algn="ctr">
              <a:lnSpc>
                <a:spcPts val="2088"/>
              </a:lnSpc>
              <a:spcBef>
                <a:spcPts val="0"/>
              </a:spcBef>
              <a:spcAft>
                <a:spcPts val="0"/>
              </a:spcAft>
            </a:pPr>
            <a:r>
              <a:rPr sz="1800" b="1">
                <a:solidFill>
                  <a:srgbClr val="416600"/>
                </a:solidFill>
                <a:latin typeface="NVIDIA Sans"/>
              </a:rPr>
              <a:t>BaseDSL</a:t>
            </a:r>
          </a:p>
        </p:txBody>
      </p:sp>
      <p:sp>
        <p:nvSpPr>
          <p:cNvPr id="23" name="Rectangle 22"/>
          <p:cNvSpPr/>
          <p:nvPr/>
        </p:nvSpPr>
        <p:spPr>
          <a:xfrm>
            <a:off x="676656" y="3675887"/>
            <a:ext cx="1222248" cy="329184"/>
          </a:xfrm>
          <a:prstGeom prst="rect">
            <a:avLst/>
          </a:prstGeom>
          <a:solidFill>
            <a:srgbClr val="FFFFFF"/>
          </a:solidFill>
          <a:ln>
            <a:noFill/>
          </a:ln>
          <a:effectLst/>
        </p:spPr>
        <p:txBody>
          <a:bodyPr rtlCol="0" anchor="ctr"/>
          <a:lstStyle/>
          <a:p>
            <a:pPr algn="ctr"/>
          </a:p>
        </p:txBody>
      </p:sp>
      <p:sp>
        <p:nvSpPr>
          <p:cNvPr id="24" name="Types"/>
          <p:cNvSpPr txBox="1"/>
          <p:nvPr/>
        </p:nvSpPr>
        <p:spPr>
          <a:xfrm>
            <a:off x="699516" y="3735324"/>
            <a:ext cx="1176528" cy="210312"/>
          </a:xfrm>
          <a:prstGeom prst="rect">
            <a:avLst/>
          </a:prstGeom>
          <a:noFill/>
        </p:spPr>
        <p:txBody>
          <a:bodyPr wrap="none" anchor="t" lIns="0" rIns="0" tIns="0" bIns="0">
            <a:noAutofit/>
          </a:bodyPr>
          <a:lstStyle/>
          <a:p>
            <a:pPr algn="ctr">
              <a:lnSpc>
                <a:spcPts val="1252"/>
              </a:lnSpc>
              <a:spcBef>
                <a:spcPts val="0"/>
              </a:spcBef>
              <a:spcAft>
                <a:spcPts val="0"/>
              </a:spcAft>
            </a:pPr>
            <a:r>
              <a:rPr sz="1080" b="0">
                <a:solidFill>
                  <a:srgbClr val="000000"/>
                </a:solidFill>
                <a:latin typeface="NVIDIA Sans"/>
              </a:rPr>
              <a:t>Types</a:t>
            </a:r>
          </a:p>
        </p:txBody>
      </p:sp>
      <p:sp>
        <p:nvSpPr>
          <p:cNvPr id="25" name="Rectangle 24"/>
          <p:cNvSpPr/>
          <p:nvPr/>
        </p:nvSpPr>
        <p:spPr>
          <a:xfrm>
            <a:off x="1990344" y="3675887"/>
            <a:ext cx="1222248" cy="329184"/>
          </a:xfrm>
          <a:prstGeom prst="rect">
            <a:avLst/>
          </a:prstGeom>
          <a:solidFill>
            <a:srgbClr val="FFFFFF"/>
          </a:solidFill>
          <a:ln>
            <a:noFill/>
          </a:ln>
          <a:effectLst/>
        </p:spPr>
        <p:txBody>
          <a:bodyPr rtlCol="0" anchor="ctr"/>
          <a:lstStyle/>
          <a:p>
            <a:pPr algn="ctr"/>
          </a:p>
        </p:txBody>
      </p:sp>
      <p:sp>
        <p:nvSpPr>
          <p:cNvPr id="26" name="AST capture"/>
          <p:cNvSpPr txBox="1"/>
          <p:nvPr/>
        </p:nvSpPr>
        <p:spPr>
          <a:xfrm>
            <a:off x="2013204" y="3735324"/>
            <a:ext cx="1176528" cy="210312"/>
          </a:xfrm>
          <a:prstGeom prst="rect">
            <a:avLst/>
          </a:prstGeom>
          <a:noFill/>
        </p:spPr>
        <p:txBody>
          <a:bodyPr wrap="none" anchor="t" lIns="0" rIns="0" tIns="0" bIns="0">
            <a:noAutofit/>
          </a:bodyPr>
          <a:lstStyle/>
          <a:p>
            <a:pPr algn="ctr">
              <a:lnSpc>
                <a:spcPts val="1252"/>
              </a:lnSpc>
              <a:spcBef>
                <a:spcPts val="0"/>
              </a:spcBef>
              <a:spcAft>
                <a:spcPts val="0"/>
              </a:spcAft>
            </a:pPr>
            <a:r>
              <a:rPr sz="1080" b="0">
                <a:solidFill>
                  <a:srgbClr val="000000"/>
                </a:solidFill>
                <a:latin typeface="NVIDIA Sans"/>
              </a:rPr>
              <a:t>AST capture</a:t>
            </a:r>
          </a:p>
        </p:txBody>
      </p:sp>
      <p:sp>
        <p:nvSpPr>
          <p:cNvPr id="27" name="Rectangle 26"/>
          <p:cNvSpPr/>
          <p:nvPr/>
        </p:nvSpPr>
        <p:spPr>
          <a:xfrm>
            <a:off x="3304032" y="3675887"/>
            <a:ext cx="1222248" cy="329184"/>
          </a:xfrm>
          <a:prstGeom prst="rect">
            <a:avLst/>
          </a:prstGeom>
          <a:solidFill>
            <a:srgbClr val="FFFFFF"/>
          </a:solidFill>
          <a:ln>
            <a:noFill/>
          </a:ln>
          <a:effectLst/>
        </p:spPr>
        <p:txBody>
          <a:bodyPr rtlCol="0" anchor="ctr"/>
          <a:lstStyle/>
          <a:p>
            <a:pPr algn="ctr"/>
          </a:p>
        </p:txBody>
      </p:sp>
      <p:sp>
        <p:nvSpPr>
          <p:cNvPr id="28" name="JIT + cache"/>
          <p:cNvSpPr txBox="1"/>
          <p:nvPr/>
        </p:nvSpPr>
        <p:spPr>
          <a:xfrm>
            <a:off x="3326892" y="3735324"/>
            <a:ext cx="1176528" cy="210312"/>
          </a:xfrm>
          <a:prstGeom prst="rect">
            <a:avLst/>
          </a:prstGeom>
          <a:noFill/>
        </p:spPr>
        <p:txBody>
          <a:bodyPr wrap="none" anchor="t" lIns="0" rIns="0" tIns="0" bIns="0">
            <a:noAutofit/>
          </a:bodyPr>
          <a:lstStyle/>
          <a:p>
            <a:pPr algn="ctr">
              <a:lnSpc>
                <a:spcPts val="1252"/>
              </a:lnSpc>
              <a:spcBef>
                <a:spcPts val="0"/>
              </a:spcBef>
              <a:spcAft>
                <a:spcPts val="0"/>
              </a:spcAft>
            </a:pPr>
            <a:r>
              <a:rPr sz="1080" b="0">
                <a:solidFill>
                  <a:srgbClr val="000000"/>
                </a:solidFill>
                <a:latin typeface="NVIDIA Sans"/>
              </a:rPr>
              <a:t>JIT + cache</a:t>
            </a:r>
          </a:p>
        </p:txBody>
      </p:sp>
      <p:sp>
        <p:nvSpPr>
          <p:cNvPr id="29" name="Rectangle 28"/>
          <p:cNvSpPr/>
          <p:nvPr/>
        </p:nvSpPr>
        <p:spPr>
          <a:xfrm>
            <a:off x="4617720" y="3675887"/>
            <a:ext cx="1222248" cy="329184"/>
          </a:xfrm>
          <a:prstGeom prst="rect">
            <a:avLst/>
          </a:prstGeom>
          <a:solidFill>
            <a:srgbClr val="FFFFFF"/>
          </a:solidFill>
          <a:ln>
            <a:noFill/>
          </a:ln>
          <a:effectLst/>
        </p:spPr>
        <p:txBody>
          <a:bodyPr rtlCol="0" anchor="ctr"/>
          <a:lstStyle/>
          <a:p>
            <a:pPr algn="ctr"/>
          </a:p>
        </p:txBody>
      </p:sp>
      <p:sp>
        <p:nvSpPr>
          <p:cNvPr id="30" name="Diagnostics"/>
          <p:cNvSpPr txBox="1"/>
          <p:nvPr/>
        </p:nvSpPr>
        <p:spPr>
          <a:xfrm>
            <a:off x="4640580" y="3735324"/>
            <a:ext cx="1176528" cy="210312"/>
          </a:xfrm>
          <a:prstGeom prst="rect">
            <a:avLst/>
          </a:prstGeom>
          <a:noFill/>
        </p:spPr>
        <p:txBody>
          <a:bodyPr wrap="none" anchor="t" lIns="0" rIns="0" tIns="0" bIns="0">
            <a:noAutofit/>
          </a:bodyPr>
          <a:lstStyle/>
          <a:p>
            <a:pPr algn="ctr">
              <a:lnSpc>
                <a:spcPts val="1252"/>
              </a:lnSpc>
              <a:spcBef>
                <a:spcPts val="0"/>
              </a:spcBef>
              <a:spcAft>
                <a:spcPts val="0"/>
              </a:spcAft>
            </a:pPr>
            <a:r>
              <a:rPr sz="1080" b="0">
                <a:solidFill>
                  <a:srgbClr val="000000"/>
                </a:solidFill>
                <a:latin typeface="NVIDIA Sans"/>
              </a:rPr>
              <a:t>Diagnostics</a:t>
            </a:r>
          </a:p>
        </p:txBody>
      </p:sp>
      <p:sp>
        <p:nvSpPr>
          <p:cNvPr id="31" name="Rectangle 30"/>
          <p:cNvSpPr/>
          <p:nvPr/>
        </p:nvSpPr>
        <p:spPr>
          <a:xfrm>
            <a:off x="5931408" y="3675887"/>
            <a:ext cx="1222248" cy="329184"/>
          </a:xfrm>
          <a:prstGeom prst="rect">
            <a:avLst/>
          </a:prstGeom>
          <a:solidFill>
            <a:srgbClr val="FFFFFF"/>
          </a:solidFill>
          <a:ln>
            <a:noFill/>
          </a:ln>
          <a:effectLst/>
        </p:spPr>
        <p:txBody>
          <a:bodyPr rtlCol="0" anchor="ctr"/>
          <a:lstStyle/>
          <a:p>
            <a:pPr algn="ctr"/>
          </a:p>
        </p:txBody>
      </p:sp>
      <p:sp>
        <p:nvSpPr>
          <p:cNvPr id="32" name="Environment"/>
          <p:cNvSpPr txBox="1"/>
          <p:nvPr/>
        </p:nvSpPr>
        <p:spPr>
          <a:xfrm>
            <a:off x="5954268" y="3735324"/>
            <a:ext cx="1176528" cy="210312"/>
          </a:xfrm>
          <a:prstGeom prst="rect">
            <a:avLst/>
          </a:prstGeom>
          <a:noFill/>
        </p:spPr>
        <p:txBody>
          <a:bodyPr wrap="none" anchor="t" lIns="0" rIns="0" tIns="0" bIns="0">
            <a:noAutofit/>
          </a:bodyPr>
          <a:lstStyle/>
          <a:p>
            <a:pPr algn="ctr">
              <a:lnSpc>
                <a:spcPts val="1252"/>
              </a:lnSpc>
              <a:spcBef>
                <a:spcPts val="0"/>
              </a:spcBef>
              <a:spcAft>
                <a:spcPts val="0"/>
              </a:spcAft>
            </a:pPr>
            <a:r>
              <a:rPr sz="1080" b="0">
                <a:solidFill>
                  <a:srgbClr val="000000"/>
                </a:solidFill>
                <a:latin typeface="NVIDIA Sans"/>
              </a:rPr>
              <a:t>Environment</a:t>
            </a:r>
          </a:p>
        </p:txBody>
      </p:sp>
      <p:sp>
        <p:nvSpPr>
          <p:cNvPr id="33" name="Rectangle 32"/>
          <p:cNvSpPr/>
          <p:nvPr/>
        </p:nvSpPr>
        <p:spPr>
          <a:xfrm>
            <a:off x="7245096" y="3675887"/>
            <a:ext cx="1222248" cy="329184"/>
          </a:xfrm>
          <a:prstGeom prst="rect">
            <a:avLst/>
          </a:prstGeom>
          <a:solidFill>
            <a:srgbClr val="FFFFFF"/>
          </a:solidFill>
          <a:ln>
            <a:noFill/>
          </a:ln>
          <a:effectLst/>
        </p:spPr>
        <p:txBody>
          <a:bodyPr rtlCol="0" anchor="ctr"/>
          <a:lstStyle/>
          <a:p>
            <a:pPr algn="ctr"/>
          </a:p>
        </p:txBody>
      </p:sp>
      <p:sp>
        <p:nvSpPr>
          <p:cNvPr id="34" name="Plugins"/>
          <p:cNvSpPr txBox="1"/>
          <p:nvPr/>
        </p:nvSpPr>
        <p:spPr>
          <a:xfrm>
            <a:off x="7267956" y="3735324"/>
            <a:ext cx="1176528" cy="210312"/>
          </a:xfrm>
          <a:prstGeom prst="rect">
            <a:avLst/>
          </a:prstGeom>
          <a:noFill/>
        </p:spPr>
        <p:txBody>
          <a:bodyPr wrap="none" anchor="t" lIns="0" rIns="0" tIns="0" bIns="0">
            <a:noAutofit/>
          </a:bodyPr>
          <a:lstStyle/>
          <a:p>
            <a:pPr algn="ctr">
              <a:lnSpc>
                <a:spcPts val="1252"/>
              </a:lnSpc>
              <a:spcBef>
                <a:spcPts val="0"/>
              </a:spcBef>
              <a:spcAft>
                <a:spcPts val="0"/>
              </a:spcAft>
            </a:pPr>
            <a:r>
              <a:rPr sz="1080" b="0">
                <a:solidFill>
                  <a:srgbClr val="000000"/>
                </a:solidFill>
                <a:latin typeface="NVIDIA Sans"/>
              </a:rPr>
              <a:t>Plugins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Design principl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Design principles</a:t>
            </a:r>
          </a:p>
        </p:txBody>
      </p:sp>
      <p:sp>
        <p:nvSpPr>
          <p:cNvPr id="5" name="0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04</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01"/>
          <p:cNvSpPr txBox="1"/>
          <p:nvPr/>
        </p:nvSpPr>
        <p:spPr>
          <a:xfrm>
            <a:off x="512064" y="1682496"/>
            <a:ext cx="429768" cy="365760"/>
          </a:xfrm>
          <a:prstGeom prst="rect">
            <a:avLst/>
          </a:prstGeom>
          <a:noFill/>
        </p:spPr>
        <p:txBody>
          <a:bodyPr wrap="none" anchor="t" lIns="0" rIns="0" tIns="0" bIns="0">
            <a:noAutofit/>
          </a:bodyPr>
          <a:lstStyle/>
          <a:p>
            <a:pPr algn="l">
              <a:lnSpc>
                <a:spcPts val="2088"/>
              </a:lnSpc>
              <a:spcBef>
                <a:spcPts val="0"/>
              </a:spcBef>
              <a:spcAft>
                <a:spcPts val="0"/>
              </a:spcAft>
            </a:pPr>
            <a:r>
              <a:rPr sz="1800" b="1">
                <a:solidFill>
                  <a:srgbClr val="416600"/>
                </a:solidFill>
                <a:latin typeface="NVIDIA Sans"/>
              </a:rPr>
              <a:t>01</a:t>
            </a:r>
          </a:p>
        </p:txBody>
      </p:sp>
      <p:sp>
        <p:nvSpPr>
          <p:cNvPr id="8" name="No new language."/>
          <p:cNvSpPr txBox="1"/>
          <p:nvPr/>
        </p:nvSpPr>
        <p:spPr>
          <a:xfrm>
            <a:off x="1170432" y="1655064"/>
            <a:ext cx="7452360" cy="484632"/>
          </a:xfrm>
          <a:prstGeom prst="rect">
            <a:avLst/>
          </a:prstGeom>
          <a:noFill/>
        </p:spPr>
        <p:txBody>
          <a:bodyPr wrap="none" anchor="t" lIns="0" rIns="0" tIns="0" bIns="0">
            <a:noAutofit/>
          </a:bodyPr>
          <a:lstStyle/>
          <a:p>
            <a:pPr algn="l">
              <a:lnSpc>
                <a:spcPts val="2668"/>
              </a:lnSpc>
              <a:spcBef>
                <a:spcPts val="0"/>
              </a:spcBef>
              <a:spcAft>
                <a:spcPts val="0"/>
              </a:spcAft>
            </a:pPr>
            <a:r>
              <a:rPr sz="2300" b="0">
                <a:solidFill>
                  <a:srgbClr val="000000"/>
                </a:solidFill>
                <a:latin typeface="NVIDIA Sans Light"/>
              </a:rPr>
              <a:t>No new language.</a:t>
            </a:r>
          </a:p>
        </p:txBody>
      </p:sp>
      <p:sp>
        <p:nvSpPr>
          <p:cNvPr id="9" name="Objects · imports · libraries"/>
          <p:cNvSpPr txBox="1"/>
          <p:nvPr/>
        </p:nvSpPr>
        <p:spPr>
          <a:xfrm>
            <a:off x="1188720" y="2231136"/>
            <a:ext cx="7406640" cy="38404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Objects · imports · libraries</a:t>
            </a:r>
          </a:p>
        </p:txBody>
      </p:sp>
      <p:sp>
        <p:nvSpPr>
          <p:cNvPr id="10" name="02"/>
          <p:cNvSpPr txBox="1"/>
          <p:nvPr/>
        </p:nvSpPr>
        <p:spPr>
          <a:xfrm>
            <a:off x="512064" y="2688336"/>
            <a:ext cx="429768" cy="365760"/>
          </a:xfrm>
          <a:prstGeom prst="rect">
            <a:avLst/>
          </a:prstGeom>
          <a:noFill/>
        </p:spPr>
        <p:txBody>
          <a:bodyPr wrap="none" anchor="t" lIns="0" rIns="0" tIns="0" bIns="0">
            <a:noAutofit/>
          </a:bodyPr>
          <a:lstStyle/>
          <a:p>
            <a:pPr algn="l">
              <a:lnSpc>
                <a:spcPts val="2088"/>
              </a:lnSpc>
              <a:spcBef>
                <a:spcPts val="0"/>
              </a:spcBef>
              <a:spcAft>
                <a:spcPts val="0"/>
              </a:spcAft>
            </a:pPr>
            <a:r>
              <a:rPr sz="1800" b="1">
                <a:solidFill>
                  <a:srgbClr val="416600"/>
                </a:solidFill>
                <a:latin typeface="NVIDIA Sans"/>
              </a:rPr>
              <a:t>02</a:t>
            </a:r>
          </a:p>
        </p:txBody>
      </p:sp>
      <p:sp>
        <p:nvSpPr>
          <p:cNvPr id="11" name="Python stays Python."/>
          <p:cNvSpPr txBox="1"/>
          <p:nvPr/>
        </p:nvSpPr>
        <p:spPr>
          <a:xfrm>
            <a:off x="1170432" y="2660904"/>
            <a:ext cx="7452360" cy="484632"/>
          </a:xfrm>
          <a:prstGeom prst="rect">
            <a:avLst/>
          </a:prstGeom>
          <a:noFill/>
        </p:spPr>
        <p:txBody>
          <a:bodyPr wrap="none" anchor="t" lIns="0" rIns="0" tIns="0" bIns="0">
            <a:noAutofit/>
          </a:bodyPr>
          <a:lstStyle/>
          <a:p>
            <a:pPr algn="l">
              <a:lnSpc>
                <a:spcPts val="2668"/>
              </a:lnSpc>
              <a:spcBef>
                <a:spcPts val="0"/>
              </a:spcBef>
              <a:spcAft>
                <a:spcPts val="0"/>
              </a:spcAft>
            </a:pPr>
            <a:r>
              <a:rPr sz="2300" b="0">
                <a:solidFill>
                  <a:srgbClr val="000000"/>
                </a:solidFill>
                <a:latin typeface="NVIDIA Sans Light"/>
              </a:rPr>
              <a:t>Python stays Python.</a:t>
            </a:r>
          </a:p>
        </p:txBody>
      </p:sp>
      <p:sp>
        <p:nvSpPr>
          <p:cNvPr id="12" name="MLIR through a DSL namespace"/>
          <p:cNvSpPr txBox="1"/>
          <p:nvPr/>
        </p:nvSpPr>
        <p:spPr>
          <a:xfrm>
            <a:off x="1188720" y="3236976"/>
            <a:ext cx="7406640" cy="38404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MLIR through a DSL namespace</a:t>
            </a:r>
          </a:p>
        </p:txBody>
      </p:sp>
      <p:sp>
        <p:nvSpPr>
          <p:cNvPr id="13" name="This leads to multi-stage programming."/>
          <p:cNvSpPr txBox="1"/>
          <p:nvPr/>
        </p:nvSpPr>
        <p:spPr>
          <a:xfrm>
            <a:off x="502920" y="4005072"/>
            <a:ext cx="8138160" cy="356616"/>
          </a:xfrm>
          <a:prstGeom prst="rect">
            <a:avLst/>
          </a:prstGeom>
          <a:noFill/>
        </p:spPr>
        <p:txBody>
          <a:bodyPr wrap="none" anchor="t" lIns="0" rIns="0" tIns="0" bIns="0">
            <a:noAutofit/>
          </a:bodyPr>
          <a:lstStyle/>
          <a:p>
            <a:pPr algn="l">
              <a:lnSpc>
                <a:spcPts val="1855"/>
              </a:lnSpc>
              <a:spcBef>
                <a:spcPts val="0"/>
              </a:spcBef>
              <a:spcAft>
                <a:spcPts val="0"/>
              </a:spcAft>
            </a:pPr>
            <a:r>
              <a:rPr sz="1600" b="0">
                <a:solidFill>
                  <a:srgbClr val="416600"/>
                </a:solidFill>
                <a:latin typeface="NVIDIA Sans"/>
              </a:rPr>
              <a:t>This leads to </a:t>
            </a:r>
            <a:r>
              <a:rPr sz="1600" b="1">
                <a:solidFill>
                  <a:srgbClr val="416600"/>
                </a:solidFill>
                <a:latin typeface="NVIDIA Sans"/>
              </a:rPr>
              <a:t>multi-stage programming.</a:t>
            </a:r>
            <a:r>
              <a:rPr sz="1600" b="0">
                <a:solidFill>
                  <a:srgbClr val="416600"/>
                </a:solidFill>
                <a:latin typeface="NVIDIA Sans"/>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hat is multi-stage programming?"/>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What is multi-stage programming?</a:t>
            </a:r>
          </a:p>
        </p:txBody>
      </p:sp>
      <p:sp>
        <p:nvSpPr>
          <p:cNvPr id="5" name="0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05</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Traditional compiler"/>
          <p:cNvSpPr txBox="1"/>
          <p:nvPr/>
        </p:nvSpPr>
        <p:spPr>
          <a:xfrm>
            <a:off x="457200" y="1344168"/>
            <a:ext cx="4114800" cy="265176"/>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000000"/>
                </a:solidFill>
                <a:latin typeface="NVIDIA Sans"/>
              </a:rPr>
              <a:t>Traditional compiler</a:t>
            </a:r>
          </a:p>
        </p:txBody>
      </p:sp>
      <p:sp>
        <p:nvSpPr>
          <p:cNvPr id="8" name="Rectangle 7"/>
          <p:cNvSpPr/>
          <p:nvPr/>
        </p:nvSpPr>
        <p:spPr>
          <a:xfrm>
            <a:off x="758952" y="1627632"/>
            <a:ext cx="274320" cy="347472"/>
          </a:xfrm>
          <a:prstGeom prst="rect">
            <a:avLst/>
          </a:prstGeom>
          <a:solidFill>
            <a:srgbClr val="FFFFFF"/>
          </a:solidFill>
          <a:ln w="8890">
            <a:solidFill>
              <a:srgbClr val="616161"/>
            </a:solidFill>
          </a:ln>
          <a:effectLst/>
        </p:spPr>
        <p:txBody>
          <a:bodyPr rtlCol="0" anchor="ctr"/>
          <a:lstStyle/>
          <a:p>
            <a:pPr algn="ctr"/>
          </a:p>
        </p:txBody>
      </p:sp>
      <p:cxnSp>
        <p:nvCxnSpPr>
          <p:cNvPr id="9" name="Connector 8"/>
          <p:cNvCxnSpPr/>
          <p:nvPr/>
        </p:nvCxnSpPr>
        <p:spPr>
          <a:xfrm>
            <a:off x="932688" y="1627632"/>
            <a:ext cx="0"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32688" y="1723644"/>
            <a:ext cx="100583"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32688" y="1627632"/>
            <a:ext cx="100583"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12" name="&lt;/&gt;"/>
          <p:cNvSpPr txBox="1"/>
          <p:nvPr/>
        </p:nvSpPr>
        <p:spPr>
          <a:xfrm>
            <a:off x="779068" y="1773936"/>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616161"/>
                </a:solidFill>
                <a:latin typeface="JetBrains Mono"/>
              </a:rPr>
              <a:t>&lt;/&gt;</a:t>
            </a:r>
          </a:p>
        </p:txBody>
      </p:sp>
      <p:sp>
        <p:nvSpPr>
          <p:cNvPr id="13" name="source.cpp"/>
          <p:cNvSpPr txBox="1"/>
          <p:nvPr/>
        </p:nvSpPr>
        <p:spPr>
          <a:xfrm>
            <a:off x="164591" y="2039112"/>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000000"/>
                </a:solidFill>
                <a:latin typeface="JetBrains Mono"/>
              </a:rPr>
              <a:t>source.cpp</a:t>
            </a:r>
          </a:p>
        </p:txBody>
      </p:sp>
      <p:cxnSp>
        <p:nvCxnSpPr>
          <p:cNvPr id="14" name="Connector 13"/>
          <p:cNvCxnSpPr/>
          <p:nvPr/>
        </p:nvCxnSpPr>
        <p:spPr>
          <a:xfrm>
            <a:off x="1143000" y="1801368"/>
            <a:ext cx="135331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15" name="Gear 6 14"/>
          <p:cNvSpPr/>
          <p:nvPr/>
        </p:nvSpPr>
        <p:spPr>
          <a:xfrm>
            <a:off x="2564892" y="1627632"/>
            <a:ext cx="356616" cy="356616"/>
          </a:xfrm>
          <a:prstGeom prst="gear6">
            <a:avLst/>
          </a:prstGeom>
          <a:solidFill>
            <a:srgbClr val="F7F7F7"/>
          </a:solidFill>
          <a:ln w="11430">
            <a:solidFill>
              <a:srgbClr val="616161"/>
            </a:solidFill>
          </a:ln>
          <a:effectLst/>
        </p:spPr>
        <p:txBody>
          <a:bodyPr rtlCol="0" anchor="ctr"/>
          <a:lstStyle/>
          <a:p>
            <a:pPr algn="ctr"/>
          </a:p>
        </p:txBody>
      </p:sp>
      <p:sp>
        <p:nvSpPr>
          <p:cNvPr id="16" name="compiler"/>
          <p:cNvSpPr txBox="1"/>
          <p:nvPr/>
        </p:nvSpPr>
        <p:spPr>
          <a:xfrm>
            <a:off x="2011680" y="2039112"/>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compiler</a:t>
            </a:r>
          </a:p>
        </p:txBody>
      </p:sp>
      <p:cxnSp>
        <p:nvCxnSpPr>
          <p:cNvPr id="17" name="Connector 16"/>
          <p:cNvCxnSpPr/>
          <p:nvPr/>
        </p:nvCxnSpPr>
        <p:spPr>
          <a:xfrm>
            <a:off x="2990088" y="1801368"/>
            <a:ext cx="135331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4453127" y="1664208"/>
            <a:ext cx="274320" cy="274320"/>
          </a:xfrm>
          <a:prstGeom prst="rect">
            <a:avLst/>
          </a:prstGeom>
          <a:solidFill>
            <a:srgbClr val="F7F7F7"/>
          </a:solidFill>
          <a:ln w="8890">
            <a:solidFill>
              <a:srgbClr val="616161"/>
            </a:solidFill>
          </a:ln>
          <a:effectLst/>
        </p:spPr>
        <p:txBody>
          <a:bodyPr rtlCol="0" anchor="ctr"/>
          <a:lstStyle/>
          <a:p>
            <a:pPr algn="ctr"/>
          </a:p>
        </p:txBody>
      </p:sp>
      <p:cxnSp>
        <p:nvCxnSpPr>
          <p:cNvPr id="19" name="Connector 18"/>
          <p:cNvCxnSpPr/>
          <p:nvPr/>
        </p:nvCxnSpPr>
        <p:spPr>
          <a:xfrm>
            <a:off x="4517136" y="1627632"/>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517136" y="1938528"/>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416551" y="1728216"/>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727448" y="1728216"/>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590288" y="1627632"/>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590288" y="1938528"/>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416551" y="1801368"/>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727448" y="1801368"/>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663440" y="1627632"/>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663440" y="1938528"/>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416551" y="1874519"/>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727448" y="1874519"/>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31" name="01"/>
          <p:cNvSpPr txBox="1"/>
          <p:nvPr/>
        </p:nvSpPr>
        <p:spPr>
          <a:xfrm>
            <a:off x="4471416" y="1737360"/>
            <a:ext cx="237744" cy="182880"/>
          </a:xfrm>
          <a:prstGeom prst="rect">
            <a:avLst/>
          </a:prstGeom>
          <a:noFill/>
        </p:spPr>
        <p:txBody>
          <a:bodyPr wrap="none" anchor="t" lIns="0" rIns="0" tIns="0" bIns="0">
            <a:noAutofit/>
          </a:bodyPr>
          <a:lstStyle/>
          <a:p>
            <a:pPr algn="ctr">
              <a:lnSpc>
                <a:spcPts val="1134"/>
              </a:lnSpc>
              <a:spcBef>
                <a:spcPts val="0"/>
              </a:spcBef>
              <a:spcAft>
                <a:spcPts val="0"/>
              </a:spcAft>
            </a:pPr>
            <a:r>
              <a:rPr sz="900" b="0">
                <a:solidFill>
                  <a:srgbClr val="616161"/>
                </a:solidFill>
                <a:latin typeface="JetBrains Mono"/>
              </a:rPr>
              <a:t>01</a:t>
            </a:r>
          </a:p>
        </p:txBody>
      </p:sp>
      <p:sp>
        <p:nvSpPr>
          <p:cNvPr id="32" name="binary"/>
          <p:cNvSpPr txBox="1"/>
          <p:nvPr/>
        </p:nvSpPr>
        <p:spPr>
          <a:xfrm>
            <a:off x="3858768" y="2039112"/>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binary</a:t>
            </a:r>
          </a:p>
        </p:txBody>
      </p:sp>
      <p:sp>
        <p:nvSpPr>
          <p:cNvPr id="33" name="Multi-stage compilers"/>
          <p:cNvSpPr txBox="1"/>
          <p:nvPr/>
        </p:nvSpPr>
        <p:spPr>
          <a:xfrm>
            <a:off x="457200" y="2304288"/>
            <a:ext cx="4114800" cy="265176"/>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000000"/>
                </a:solidFill>
                <a:latin typeface="NVIDIA Sans"/>
              </a:rPr>
              <a:t>Multi-stage compilers</a:t>
            </a:r>
          </a:p>
        </p:txBody>
      </p:sp>
      <p:sp>
        <p:nvSpPr>
          <p:cNvPr id="34" name="Rectangle 33"/>
          <p:cNvSpPr/>
          <p:nvPr/>
        </p:nvSpPr>
        <p:spPr>
          <a:xfrm>
            <a:off x="758952" y="2615184"/>
            <a:ext cx="274320" cy="347472"/>
          </a:xfrm>
          <a:prstGeom prst="rect">
            <a:avLst/>
          </a:prstGeom>
          <a:solidFill>
            <a:srgbClr val="FFFFFF"/>
          </a:solidFill>
          <a:ln w="8890">
            <a:solidFill>
              <a:srgbClr val="616161"/>
            </a:solidFill>
          </a:ln>
          <a:effectLst/>
        </p:spPr>
        <p:txBody>
          <a:bodyPr rtlCol="0" anchor="ctr"/>
          <a:lstStyle/>
          <a:p>
            <a:pPr algn="ctr"/>
          </a:p>
        </p:txBody>
      </p:sp>
      <p:cxnSp>
        <p:nvCxnSpPr>
          <p:cNvPr id="35" name="Connector 34"/>
          <p:cNvCxnSpPr/>
          <p:nvPr/>
        </p:nvCxnSpPr>
        <p:spPr>
          <a:xfrm>
            <a:off x="932688" y="2615184"/>
            <a:ext cx="0"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32688" y="2711196"/>
            <a:ext cx="100583"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32688" y="2615184"/>
            <a:ext cx="100583"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38" name="&lt;/&gt;"/>
          <p:cNvSpPr txBox="1"/>
          <p:nvPr/>
        </p:nvSpPr>
        <p:spPr>
          <a:xfrm>
            <a:off x="779068" y="2761488"/>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616161"/>
                </a:solidFill>
                <a:latin typeface="JetBrains Mono"/>
              </a:rPr>
              <a:t>&lt;/&gt;</a:t>
            </a:r>
          </a:p>
        </p:txBody>
      </p:sp>
      <p:sp>
        <p:nvSpPr>
          <p:cNvPr id="39" name="source.cpp"/>
          <p:cNvSpPr txBox="1"/>
          <p:nvPr/>
        </p:nvSpPr>
        <p:spPr>
          <a:xfrm>
            <a:off x="164591" y="3026664"/>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000000"/>
                </a:solidFill>
                <a:latin typeface="JetBrains Mono"/>
              </a:rPr>
              <a:t>source.cpp</a:t>
            </a:r>
          </a:p>
        </p:txBody>
      </p:sp>
      <p:cxnSp>
        <p:nvCxnSpPr>
          <p:cNvPr id="40" name="Connector 39"/>
          <p:cNvCxnSpPr/>
          <p:nvPr/>
        </p:nvCxnSpPr>
        <p:spPr>
          <a:xfrm>
            <a:off x="1143000" y="2788920"/>
            <a:ext cx="135331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41" name="Gear 6 40"/>
          <p:cNvSpPr/>
          <p:nvPr/>
        </p:nvSpPr>
        <p:spPr>
          <a:xfrm>
            <a:off x="2564892" y="2615184"/>
            <a:ext cx="356616" cy="356616"/>
          </a:xfrm>
          <a:prstGeom prst="gear6">
            <a:avLst/>
          </a:prstGeom>
          <a:solidFill>
            <a:srgbClr val="F7F7F7"/>
          </a:solidFill>
          <a:ln w="11430">
            <a:solidFill>
              <a:srgbClr val="616161"/>
            </a:solidFill>
          </a:ln>
          <a:effectLst/>
        </p:spPr>
        <p:txBody>
          <a:bodyPr rtlCol="0" anchor="ctr"/>
          <a:lstStyle/>
          <a:p>
            <a:pPr algn="ctr"/>
          </a:p>
        </p:txBody>
      </p:sp>
      <p:sp>
        <p:nvSpPr>
          <p:cNvPr id="42" name="compiler"/>
          <p:cNvSpPr txBox="1"/>
          <p:nvPr/>
        </p:nvSpPr>
        <p:spPr>
          <a:xfrm>
            <a:off x="2011680" y="3026664"/>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compiler</a:t>
            </a:r>
          </a:p>
        </p:txBody>
      </p:sp>
      <p:cxnSp>
        <p:nvCxnSpPr>
          <p:cNvPr id="43" name="Connector 42"/>
          <p:cNvCxnSpPr/>
          <p:nvPr/>
        </p:nvCxnSpPr>
        <p:spPr>
          <a:xfrm>
            <a:off x="2990088" y="2788920"/>
            <a:ext cx="135331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4453127" y="2651760"/>
            <a:ext cx="274320" cy="274320"/>
          </a:xfrm>
          <a:prstGeom prst="rect">
            <a:avLst/>
          </a:prstGeom>
          <a:solidFill>
            <a:srgbClr val="F7F7F7"/>
          </a:solidFill>
          <a:ln w="8890">
            <a:solidFill>
              <a:srgbClr val="616161"/>
            </a:solidFill>
          </a:ln>
          <a:effectLst/>
        </p:spPr>
        <p:txBody>
          <a:bodyPr rtlCol="0" anchor="ctr"/>
          <a:lstStyle/>
          <a:p>
            <a:pPr algn="ctr"/>
          </a:p>
        </p:txBody>
      </p:sp>
      <p:cxnSp>
        <p:nvCxnSpPr>
          <p:cNvPr id="45" name="Connector 44"/>
          <p:cNvCxnSpPr/>
          <p:nvPr/>
        </p:nvCxnSpPr>
        <p:spPr>
          <a:xfrm>
            <a:off x="4517136" y="2615184"/>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517136" y="2926079"/>
            <a:ext cx="0" cy="36577"/>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416551" y="2715768"/>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4727448" y="2715768"/>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4590288" y="2615184"/>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4590288" y="2926079"/>
            <a:ext cx="0" cy="36577"/>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4416551" y="2788920"/>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4727448" y="2788920"/>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4663440" y="2615184"/>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4663440" y="2926079"/>
            <a:ext cx="0" cy="36577"/>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4416551" y="2862072"/>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4727448" y="2862072"/>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57" name="01"/>
          <p:cNvSpPr txBox="1"/>
          <p:nvPr/>
        </p:nvSpPr>
        <p:spPr>
          <a:xfrm>
            <a:off x="4471416" y="2724912"/>
            <a:ext cx="237744" cy="182880"/>
          </a:xfrm>
          <a:prstGeom prst="rect">
            <a:avLst/>
          </a:prstGeom>
          <a:noFill/>
        </p:spPr>
        <p:txBody>
          <a:bodyPr wrap="none" anchor="t" lIns="0" rIns="0" tIns="0" bIns="0">
            <a:noAutofit/>
          </a:bodyPr>
          <a:lstStyle/>
          <a:p>
            <a:pPr algn="ctr">
              <a:lnSpc>
                <a:spcPts val="1134"/>
              </a:lnSpc>
              <a:spcBef>
                <a:spcPts val="0"/>
              </a:spcBef>
              <a:spcAft>
                <a:spcPts val="0"/>
              </a:spcAft>
            </a:pPr>
            <a:r>
              <a:rPr sz="900" b="0">
                <a:solidFill>
                  <a:srgbClr val="616161"/>
                </a:solidFill>
                <a:latin typeface="JetBrains Mono"/>
              </a:rPr>
              <a:t>01</a:t>
            </a:r>
          </a:p>
        </p:txBody>
      </p:sp>
      <p:sp>
        <p:nvSpPr>
          <p:cNvPr id="58" name="binary"/>
          <p:cNvSpPr txBox="1"/>
          <p:nvPr/>
        </p:nvSpPr>
        <p:spPr>
          <a:xfrm>
            <a:off x="3858768" y="3026664"/>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binary</a:t>
            </a:r>
          </a:p>
        </p:txBody>
      </p:sp>
      <p:cxnSp>
        <p:nvCxnSpPr>
          <p:cNvPr id="59" name="Connector 58"/>
          <p:cNvCxnSpPr/>
          <p:nvPr/>
        </p:nvCxnSpPr>
        <p:spPr>
          <a:xfrm>
            <a:off x="4837175" y="2788920"/>
            <a:ext cx="402337"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5239512" y="2788920"/>
            <a:ext cx="0" cy="521208"/>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a:off x="384048" y="3310128"/>
            <a:ext cx="485546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384048" y="2788920"/>
            <a:ext cx="0" cy="521208"/>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384048" y="2788920"/>
            <a:ext cx="26517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64" name="Run → generate the next source"/>
          <p:cNvSpPr txBox="1"/>
          <p:nvPr/>
        </p:nvSpPr>
        <p:spPr>
          <a:xfrm>
            <a:off x="640080" y="3364992"/>
            <a:ext cx="4389120" cy="219456"/>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416600"/>
                </a:solidFill>
                <a:latin typeface="NVIDIA Sans"/>
              </a:rPr>
              <a:t>Run → generate the next source</a:t>
            </a:r>
          </a:p>
        </p:txBody>
      </p:sp>
      <p:sp>
        <p:nvSpPr>
          <p:cNvPr id="65" name="…"/>
          <p:cNvSpPr txBox="1"/>
          <p:nvPr/>
        </p:nvSpPr>
        <p:spPr>
          <a:xfrm>
            <a:off x="5605272" y="2660903"/>
            <a:ext cx="475488" cy="365760"/>
          </a:xfrm>
          <a:prstGeom prst="rect">
            <a:avLst/>
          </a:prstGeom>
          <a:noFill/>
        </p:spPr>
        <p:txBody>
          <a:bodyPr wrap="none" anchor="t" lIns="0" rIns="0" tIns="0" bIns="0">
            <a:noAutofit/>
          </a:bodyPr>
          <a:lstStyle/>
          <a:p>
            <a:pPr algn="ctr">
              <a:lnSpc>
                <a:spcPts val="2436"/>
              </a:lnSpc>
              <a:spcBef>
                <a:spcPts val="0"/>
              </a:spcBef>
              <a:spcAft>
                <a:spcPts val="0"/>
              </a:spcAft>
            </a:pPr>
            <a:r>
              <a:rPr sz="2100" b="0">
                <a:solidFill>
                  <a:srgbClr val="616161"/>
                </a:solidFill>
                <a:latin typeface="NVIDIA Sans Light"/>
              </a:rPr>
              <a:t>…</a:t>
            </a:r>
          </a:p>
        </p:txBody>
      </p:sp>
      <p:sp>
        <p:nvSpPr>
          <p:cNvPr id="66" name="Repeat…"/>
          <p:cNvSpPr txBox="1"/>
          <p:nvPr/>
        </p:nvSpPr>
        <p:spPr>
          <a:xfrm>
            <a:off x="6291072" y="2715768"/>
            <a:ext cx="2395728" cy="493776"/>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Repeat…</a:t>
            </a:r>
          </a:p>
        </p:txBody>
      </p:sp>
      <p:sp>
        <p:nvSpPr>
          <p:cNvPr id="67" name="In our case"/>
          <p:cNvSpPr txBox="1"/>
          <p:nvPr/>
        </p:nvSpPr>
        <p:spPr>
          <a:xfrm>
            <a:off x="457200" y="3602736"/>
            <a:ext cx="4114800" cy="265176"/>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In our case</a:t>
            </a:r>
          </a:p>
        </p:txBody>
      </p:sp>
      <p:sp>
        <p:nvSpPr>
          <p:cNvPr id="68" name="Rectangle 67"/>
          <p:cNvSpPr/>
          <p:nvPr/>
        </p:nvSpPr>
        <p:spPr>
          <a:xfrm>
            <a:off x="758952" y="3886200"/>
            <a:ext cx="274320" cy="347472"/>
          </a:xfrm>
          <a:prstGeom prst="rect">
            <a:avLst/>
          </a:prstGeom>
          <a:solidFill>
            <a:srgbClr val="FFFFFF"/>
          </a:solidFill>
          <a:ln w="8890">
            <a:solidFill>
              <a:srgbClr val="416600"/>
            </a:solidFill>
          </a:ln>
          <a:effectLst/>
        </p:spPr>
        <p:txBody>
          <a:bodyPr rtlCol="0" anchor="ctr"/>
          <a:lstStyle/>
          <a:p>
            <a:pPr algn="ctr"/>
          </a:p>
        </p:txBody>
      </p:sp>
      <p:cxnSp>
        <p:nvCxnSpPr>
          <p:cNvPr id="69" name="Connector 68"/>
          <p:cNvCxnSpPr/>
          <p:nvPr/>
        </p:nvCxnSpPr>
        <p:spPr>
          <a:xfrm>
            <a:off x="932688" y="3886200"/>
            <a:ext cx="0"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932688" y="3982212"/>
            <a:ext cx="100583"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932688" y="3886200"/>
            <a:ext cx="100583"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72" name="&lt;/&gt;"/>
          <p:cNvSpPr txBox="1"/>
          <p:nvPr/>
        </p:nvSpPr>
        <p:spPr>
          <a:xfrm>
            <a:off x="779068" y="4032504"/>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416600"/>
                </a:solidFill>
                <a:latin typeface="JetBrains Mono"/>
              </a:rPr>
              <a:t>&lt;/&gt;</a:t>
            </a:r>
          </a:p>
        </p:txBody>
      </p:sp>
      <p:sp>
        <p:nvSpPr>
          <p:cNvPr id="73" name="source.py"/>
          <p:cNvSpPr txBox="1"/>
          <p:nvPr/>
        </p:nvSpPr>
        <p:spPr>
          <a:xfrm>
            <a:off x="164591" y="4297680"/>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416600"/>
                </a:solidFill>
                <a:latin typeface="JetBrains Mono"/>
              </a:rPr>
              <a:t>source.py</a:t>
            </a:r>
          </a:p>
        </p:txBody>
      </p:sp>
      <p:cxnSp>
        <p:nvCxnSpPr>
          <p:cNvPr id="74" name="Connector 73"/>
          <p:cNvCxnSpPr/>
          <p:nvPr/>
        </p:nvCxnSpPr>
        <p:spPr>
          <a:xfrm>
            <a:off x="1143000" y="4059936"/>
            <a:ext cx="134416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75" name="Gear 6 74"/>
          <p:cNvSpPr/>
          <p:nvPr/>
        </p:nvSpPr>
        <p:spPr>
          <a:xfrm>
            <a:off x="2555748" y="3886200"/>
            <a:ext cx="356616" cy="356616"/>
          </a:xfrm>
          <a:prstGeom prst="gear6">
            <a:avLst/>
          </a:prstGeom>
          <a:solidFill>
            <a:srgbClr val="E4F0D0"/>
          </a:solidFill>
          <a:ln w="11430">
            <a:solidFill>
              <a:srgbClr val="416600"/>
            </a:solidFill>
          </a:ln>
          <a:effectLst/>
        </p:spPr>
        <p:txBody>
          <a:bodyPr rtlCol="0" anchor="ctr"/>
          <a:lstStyle/>
          <a:p>
            <a:pPr algn="ctr"/>
          </a:p>
        </p:txBody>
      </p:sp>
      <p:sp>
        <p:nvSpPr>
          <p:cNvPr id="76" name="Python / interpreter"/>
          <p:cNvSpPr txBox="1"/>
          <p:nvPr/>
        </p:nvSpPr>
        <p:spPr>
          <a:xfrm>
            <a:off x="2002535" y="4297680"/>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416600"/>
                </a:solidFill>
                <a:latin typeface="NVIDIA Sans"/>
              </a:rPr>
              <a:t>Python</a:t>
            </a:r>
          </a:p>
          <a:p>
            <a:pPr algn="ctr">
              <a:lnSpc>
                <a:spcPts val="1218"/>
              </a:lnSpc>
              <a:spcBef>
                <a:spcPts val="0"/>
              </a:spcBef>
              <a:spcAft>
                <a:spcPts val="0"/>
              </a:spcAft>
            </a:pPr>
            <a:r>
              <a:rPr sz="1050" b="0">
                <a:solidFill>
                  <a:srgbClr val="416600"/>
                </a:solidFill>
                <a:latin typeface="NVIDIA Sans"/>
              </a:rPr>
              <a:t>interpreter</a:t>
            </a:r>
          </a:p>
        </p:txBody>
      </p:sp>
      <p:cxnSp>
        <p:nvCxnSpPr>
          <p:cNvPr id="77" name="Connector 76"/>
          <p:cNvCxnSpPr/>
          <p:nvPr/>
        </p:nvCxnSpPr>
        <p:spPr>
          <a:xfrm>
            <a:off x="2980944" y="4059936"/>
            <a:ext cx="134416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78" name="Rectangle 77"/>
          <p:cNvSpPr/>
          <p:nvPr/>
        </p:nvSpPr>
        <p:spPr>
          <a:xfrm>
            <a:off x="4434840" y="3886200"/>
            <a:ext cx="274320" cy="347472"/>
          </a:xfrm>
          <a:prstGeom prst="rect">
            <a:avLst/>
          </a:prstGeom>
          <a:solidFill>
            <a:srgbClr val="FFFFFF"/>
          </a:solidFill>
          <a:ln w="8890">
            <a:solidFill>
              <a:srgbClr val="416600"/>
            </a:solidFill>
          </a:ln>
          <a:effectLst/>
        </p:spPr>
        <p:txBody>
          <a:bodyPr rtlCol="0" anchor="ctr"/>
          <a:lstStyle/>
          <a:p>
            <a:pPr algn="ctr"/>
          </a:p>
        </p:txBody>
      </p:sp>
      <p:cxnSp>
        <p:nvCxnSpPr>
          <p:cNvPr id="79" name="Connector 78"/>
          <p:cNvCxnSpPr/>
          <p:nvPr/>
        </p:nvCxnSpPr>
        <p:spPr>
          <a:xfrm>
            <a:off x="4608576" y="3886200"/>
            <a:ext cx="0"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4608576" y="3982212"/>
            <a:ext cx="10058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4608576" y="3886200"/>
            <a:ext cx="100584"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82" name="&lt;/&gt;"/>
          <p:cNvSpPr txBox="1"/>
          <p:nvPr/>
        </p:nvSpPr>
        <p:spPr>
          <a:xfrm>
            <a:off x="4454956" y="4032504"/>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416600"/>
                </a:solidFill>
                <a:latin typeface="JetBrains Mono"/>
              </a:rPr>
              <a:t>&lt;/&gt;</a:t>
            </a:r>
          </a:p>
        </p:txBody>
      </p:sp>
      <p:sp>
        <p:nvSpPr>
          <p:cNvPr id="83" name="*.mlir"/>
          <p:cNvSpPr txBox="1"/>
          <p:nvPr/>
        </p:nvSpPr>
        <p:spPr>
          <a:xfrm>
            <a:off x="3840480" y="4297680"/>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416600"/>
                </a:solidFill>
                <a:latin typeface="JetBrains Mono"/>
              </a:rPr>
              <a:t>*.mlir</a:t>
            </a:r>
          </a:p>
        </p:txBody>
      </p:sp>
      <p:cxnSp>
        <p:nvCxnSpPr>
          <p:cNvPr id="84" name="Connector 83"/>
          <p:cNvCxnSpPr/>
          <p:nvPr/>
        </p:nvCxnSpPr>
        <p:spPr>
          <a:xfrm>
            <a:off x="4818888" y="4059936"/>
            <a:ext cx="134416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85" name="Gear 6 84"/>
          <p:cNvSpPr/>
          <p:nvPr/>
        </p:nvSpPr>
        <p:spPr>
          <a:xfrm>
            <a:off x="6231636" y="3886200"/>
            <a:ext cx="356616" cy="356616"/>
          </a:xfrm>
          <a:prstGeom prst="gear6">
            <a:avLst/>
          </a:prstGeom>
          <a:solidFill>
            <a:srgbClr val="E4F0D0"/>
          </a:solidFill>
          <a:ln w="11430">
            <a:solidFill>
              <a:srgbClr val="416600"/>
            </a:solidFill>
          </a:ln>
          <a:effectLst/>
        </p:spPr>
        <p:txBody>
          <a:bodyPr rtlCol="0" anchor="ctr"/>
          <a:lstStyle/>
          <a:p>
            <a:pPr algn="ctr"/>
          </a:p>
        </p:txBody>
      </p:sp>
      <p:sp>
        <p:nvSpPr>
          <p:cNvPr id="86" name="mlir-opt"/>
          <p:cNvSpPr txBox="1"/>
          <p:nvPr/>
        </p:nvSpPr>
        <p:spPr>
          <a:xfrm>
            <a:off x="5678424" y="4297680"/>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416600"/>
                </a:solidFill>
                <a:latin typeface="JetBrains Mono"/>
              </a:rPr>
              <a:t>mlir-opt</a:t>
            </a:r>
          </a:p>
        </p:txBody>
      </p:sp>
      <p:cxnSp>
        <p:nvCxnSpPr>
          <p:cNvPr id="87" name="Connector 86"/>
          <p:cNvCxnSpPr/>
          <p:nvPr/>
        </p:nvCxnSpPr>
        <p:spPr>
          <a:xfrm>
            <a:off x="6656831" y="4059936"/>
            <a:ext cx="1344169"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88" name="Rectangle 87"/>
          <p:cNvSpPr/>
          <p:nvPr/>
        </p:nvSpPr>
        <p:spPr>
          <a:xfrm>
            <a:off x="8110727" y="3922776"/>
            <a:ext cx="274320" cy="274320"/>
          </a:xfrm>
          <a:prstGeom prst="rect">
            <a:avLst/>
          </a:prstGeom>
          <a:solidFill>
            <a:srgbClr val="F0F6E6"/>
          </a:solidFill>
          <a:ln w="8890">
            <a:solidFill>
              <a:srgbClr val="416600"/>
            </a:solidFill>
          </a:ln>
          <a:effectLst/>
        </p:spPr>
        <p:txBody>
          <a:bodyPr rtlCol="0" anchor="ctr"/>
          <a:lstStyle/>
          <a:p>
            <a:pPr algn="ctr"/>
          </a:p>
        </p:txBody>
      </p:sp>
      <p:cxnSp>
        <p:nvCxnSpPr>
          <p:cNvPr id="89" name="Connector 88"/>
          <p:cNvCxnSpPr/>
          <p:nvPr/>
        </p:nvCxnSpPr>
        <p:spPr>
          <a:xfrm>
            <a:off x="8174736" y="3886200"/>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8174736" y="4197096"/>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8074152" y="3986784"/>
            <a:ext cx="36575"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8385048" y="3986784"/>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8247888" y="3886200"/>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8247888" y="4197096"/>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8074152" y="4059936"/>
            <a:ext cx="36575"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8385048" y="4059936"/>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8321040" y="3886200"/>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8321040" y="4197096"/>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8074152" y="4133088"/>
            <a:ext cx="36575"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8385048" y="4133088"/>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101" name="01"/>
          <p:cNvSpPr txBox="1"/>
          <p:nvPr/>
        </p:nvSpPr>
        <p:spPr>
          <a:xfrm>
            <a:off x="8129015" y="3995928"/>
            <a:ext cx="237744" cy="182880"/>
          </a:xfrm>
          <a:prstGeom prst="rect">
            <a:avLst/>
          </a:prstGeom>
          <a:noFill/>
        </p:spPr>
        <p:txBody>
          <a:bodyPr wrap="none" anchor="t" lIns="0" rIns="0" tIns="0" bIns="0">
            <a:noAutofit/>
          </a:bodyPr>
          <a:lstStyle/>
          <a:p>
            <a:pPr algn="ctr">
              <a:lnSpc>
                <a:spcPts val="1134"/>
              </a:lnSpc>
              <a:spcBef>
                <a:spcPts val="0"/>
              </a:spcBef>
              <a:spcAft>
                <a:spcPts val="0"/>
              </a:spcAft>
            </a:pPr>
            <a:r>
              <a:rPr sz="900" b="0">
                <a:solidFill>
                  <a:srgbClr val="416600"/>
                </a:solidFill>
                <a:latin typeface="JetBrains Mono"/>
              </a:rPr>
              <a:t>01</a:t>
            </a:r>
          </a:p>
        </p:txBody>
      </p:sp>
      <p:sp>
        <p:nvSpPr>
          <p:cNvPr id="102" name="binary"/>
          <p:cNvSpPr txBox="1"/>
          <p:nvPr/>
        </p:nvSpPr>
        <p:spPr>
          <a:xfrm>
            <a:off x="7516367" y="4297680"/>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416600"/>
                </a:solidFill>
                <a:latin typeface="NVIDIA Sans"/>
              </a:rPr>
              <a:t>binary</a:t>
            </a:r>
          </a:p>
        </p:txBody>
      </p:sp>
      <p:sp>
        <p:nvSpPr>
          <p:cNvPr id="103" name="LLVM codegen / JIT"/>
          <p:cNvSpPr txBox="1"/>
          <p:nvPr/>
        </p:nvSpPr>
        <p:spPr>
          <a:xfrm>
            <a:off x="6542532" y="3721608"/>
            <a:ext cx="1572768" cy="192024"/>
          </a:xfrm>
          <a:prstGeom prst="rect">
            <a:avLst/>
          </a:prstGeom>
          <a:noFill/>
        </p:spPr>
        <p:txBody>
          <a:bodyPr wrap="none" anchor="t" lIns="0" rIns="0" tIns="0" bIns="0">
            <a:noAutofit/>
          </a:bodyPr>
          <a:lstStyle/>
          <a:p>
            <a:pPr algn="ctr">
              <a:lnSpc>
                <a:spcPts val="1044"/>
              </a:lnSpc>
              <a:spcBef>
                <a:spcPts val="0"/>
              </a:spcBef>
              <a:spcAft>
                <a:spcPts val="0"/>
              </a:spcAft>
            </a:pPr>
            <a:r>
              <a:rPr sz="900" b="0">
                <a:solidFill>
                  <a:srgbClr val="416600"/>
                </a:solidFill>
                <a:latin typeface="NVIDIA Sans"/>
              </a:rPr>
              <a:t>LLVM codegen / JIT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hy multi-stage programming?"/>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Why multi-stage programming?</a:t>
            </a:r>
          </a:p>
        </p:txBody>
      </p:sp>
      <p:sp>
        <p:nvSpPr>
          <p:cNvPr id="5" name="0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06</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Rectangle 6"/>
          <p:cNvSpPr/>
          <p:nvPr/>
        </p:nvSpPr>
        <p:spPr>
          <a:xfrm>
            <a:off x="4498848" y="1536192"/>
            <a:ext cx="10972" cy="1353312"/>
          </a:xfrm>
          <a:prstGeom prst="rect">
            <a:avLst/>
          </a:prstGeom>
          <a:solidFill>
            <a:srgbClr val="D5D5D5"/>
          </a:solidFill>
          <a:ln>
            <a:noFill/>
          </a:ln>
          <a:effectLst/>
        </p:spPr>
        <p:txBody>
          <a:bodyPr rtlCol="0" anchor="ctr"/>
          <a:lstStyle/>
          <a:p>
            <a:pPr algn="ctr"/>
          </a:p>
        </p:txBody>
      </p:sp>
      <p:sp>
        <p:nvSpPr>
          <p:cNvPr id="8" name="01"/>
          <p:cNvSpPr txBox="1"/>
          <p:nvPr/>
        </p:nvSpPr>
        <p:spPr>
          <a:xfrm>
            <a:off x="502920" y="1554480"/>
            <a:ext cx="310896" cy="228600"/>
          </a:xfrm>
          <a:prstGeom prst="rect">
            <a:avLst/>
          </a:prstGeom>
          <a:noFill/>
        </p:spPr>
        <p:txBody>
          <a:bodyPr wrap="none" anchor="t" lIns="0" rIns="0" tIns="0" bIns="0">
            <a:noAutofit/>
          </a:bodyPr>
          <a:lstStyle/>
          <a:p>
            <a:pPr algn="l">
              <a:lnSpc>
                <a:spcPts val="1218"/>
              </a:lnSpc>
              <a:spcBef>
                <a:spcPts val="0"/>
              </a:spcBef>
              <a:spcAft>
                <a:spcPts val="0"/>
              </a:spcAft>
            </a:pPr>
            <a:r>
              <a:rPr sz="1050" b="1">
                <a:solidFill>
                  <a:srgbClr val="416600"/>
                </a:solidFill>
                <a:latin typeface="NVIDIA Sans"/>
              </a:rPr>
              <a:t>01</a:t>
            </a:r>
          </a:p>
        </p:txBody>
      </p:sp>
      <p:sp>
        <p:nvSpPr>
          <p:cNvPr id="9" name="METAPROGRAM"/>
          <p:cNvSpPr txBox="1"/>
          <p:nvPr/>
        </p:nvSpPr>
        <p:spPr>
          <a:xfrm>
            <a:off x="941832" y="1554480"/>
            <a:ext cx="3401568" cy="228600"/>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416600"/>
                </a:solidFill>
                <a:latin typeface="NVIDIA Sans"/>
              </a:rPr>
              <a:t>METAPROGRAM</a:t>
            </a:r>
          </a:p>
        </p:txBody>
      </p:sp>
      <p:sp>
        <p:nvSpPr>
          <p:cNvPr id="10" name="All of Python."/>
          <p:cNvSpPr txBox="1"/>
          <p:nvPr/>
        </p:nvSpPr>
        <p:spPr>
          <a:xfrm>
            <a:off x="502920" y="1938528"/>
            <a:ext cx="3840480" cy="429768"/>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All of Python.</a:t>
            </a:r>
          </a:p>
        </p:txBody>
      </p:sp>
      <p:sp>
        <p:nvSpPr>
          <p:cNvPr id="11" name="Objects · imports · libraries"/>
          <p:cNvSpPr txBox="1"/>
          <p:nvPr/>
        </p:nvSpPr>
        <p:spPr>
          <a:xfrm>
            <a:off x="502920" y="2542032"/>
            <a:ext cx="3840480" cy="530352"/>
          </a:xfrm>
          <a:prstGeom prst="rect">
            <a:avLst/>
          </a:prstGeom>
          <a:noFill/>
        </p:spPr>
        <p:txBody>
          <a:bodyPr wrap="none" anchor="t" lIns="0" rIns="0" tIns="0" bIns="0">
            <a:noAutofit/>
          </a:bodyPr>
          <a:lstStyle/>
          <a:p>
            <a:pPr algn="l">
              <a:lnSpc>
                <a:spcPts val="1449"/>
              </a:lnSpc>
              <a:spcBef>
                <a:spcPts val="0"/>
              </a:spcBef>
              <a:spcAft>
                <a:spcPts val="0"/>
              </a:spcAft>
            </a:pPr>
            <a:r>
              <a:rPr sz="1250" b="0">
                <a:solidFill>
                  <a:srgbClr val="616161"/>
                </a:solidFill>
                <a:latin typeface="NVIDIA Sans"/>
              </a:rPr>
              <a:t>Objects · imports · libraries</a:t>
            </a:r>
          </a:p>
        </p:txBody>
      </p:sp>
      <p:sp>
        <p:nvSpPr>
          <p:cNvPr id="12" name="02"/>
          <p:cNvSpPr txBox="1"/>
          <p:nvPr/>
        </p:nvSpPr>
        <p:spPr>
          <a:xfrm>
            <a:off x="4800600" y="1554480"/>
            <a:ext cx="310896" cy="228600"/>
          </a:xfrm>
          <a:prstGeom prst="rect">
            <a:avLst/>
          </a:prstGeom>
          <a:noFill/>
        </p:spPr>
        <p:txBody>
          <a:bodyPr wrap="none" anchor="t" lIns="0" rIns="0" tIns="0" bIns="0">
            <a:noAutofit/>
          </a:bodyPr>
          <a:lstStyle/>
          <a:p>
            <a:pPr algn="l">
              <a:lnSpc>
                <a:spcPts val="1218"/>
              </a:lnSpc>
              <a:spcBef>
                <a:spcPts val="0"/>
              </a:spcBef>
              <a:spcAft>
                <a:spcPts val="0"/>
              </a:spcAft>
            </a:pPr>
            <a:r>
              <a:rPr sz="1050" b="1">
                <a:solidFill>
                  <a:srgbClr val="416600"/>
                </a:solidFill>
                <a:latin typeface="NVIDIA Sans"/>
              </a:rPr>
              <a:t>02</a:t>
            </a:r>
          </a:p>
        </p:txBody>
      </p:sp>
      <p:sp>
        <p:nvSpPr>
          <p:cNvPr id="13" name="DSL NAMESPACE"/>
          <p:cNvSpPr txBox="1"/>
          <p:nvPr/>
        </p:nvSpPr>
        <p:spPr>
          <a:xfrm>
            <a:off x="5239512" y="1554480"/>
            <a:ext cx="3401568" cy="228600"/>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416600"/>
                </a:solidFill>
                <a:latin typeface="NVIDIA Sans"/>
              </a:rPr>
              <a:t>DSL NAMESPACE</a:t>
            </a:r>
          </a:p>
        </p:txBody>
      </p:sp>
      <p:sp>
        <p:nvSpPr>
          <p:cNvPr id="14" name="Explicit capture."/>
          <p:cNvSpPr txBox="1"/>
          <p:nvPr/>
        </p:nvSpPr>
        <p:spPr>
          <a:xfrm>
            <a:off x="4800600" y="1938528"/>
            <a:ext cx="3840480" cy="429768"/>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Explicit capture.</a:t>
            </a:r>
          </a:p>
        </p:txBody>
      </p:sp>
      <p:sp>
        <p:nvSpPr>
          <p:cNvPr id="15" name="Types · operators · builders"/>
          <p:cNvSpPr txBox="1"/>
          <p:nvPr/>
        </p:nvSpPr>
        <p:spPr>
          <a:xfrm>
            <a:off x="4800600" y="2542032"/>
            <a:ext cx="3840480" cy="530352"/>
          </a:xfrm>
          <a:prstGeom prst="rect">
            <a:avLst/>
          </a:prstGeom>
          <a:noFill/>
        </p:spPr>
        <p:txBody>
          <a:bodyPr wrap="none" anchor="t" lIns="0" rIns="0" tIns="0" bIns="0">
            <a:noAutofit/>
          </a:bodyPr>
          <a:lstStyle/>
          <a:p>
            <a:pPr algn="l">
              <a:lnSpc>
                <a:spcPts val="1449"/>
              </a:lnSpc>
              <a:spcBef>
                <a:spcPts val="0"/>
              </a:spcBef>
              <a:spcAft>
                <a:spcPts val="0"/>
              </a:spcAft>
            </a:pPr>
            <a:r>
              <a:rPr sz="1250" b="0">
                <a:solidFill>
                  <a:srgbClr val="616161"/>
                </a:solidFill>
                <a:latin typeface="NVIDIA Sans"/>
              </a:rPr>
              <a:t>Types · operators · builders</a:t>
            </a:r>
          </a:p>
        </p:txBody>
      </p:sp>
      <p:sp>
        <p:nvSpPr>
          <p:cNvPr id="16" name="Rectangle 15"/>
          <p:cNvSpPr/>
          <p:nvPr/>
        </p:nvSpPr>
        <p:spPr>
          <a:xfrm>
            <a:off x="502920" y="3182112"/>
            <a:ext cx="8138160" cy="10972"/>
          </a:xfrm>
          <a:prstGeom prst="rect">
            <a:avLst/>
          </a:prstGeom>
          <a:solidFill>
            <a:srgbClr val="D5D5D5"/>
          </a:solidFill>
          <a:ln>
            <a:noFill/>
          </a:ln>
          <a:effectLst/>
        </p:spPr>
        <p:txBody>
          <a:bodyPr rtlCol="0" anchor="ctr"/>
          <a:lstStyle/>
          <a:p>
            <a:pPr algn="ctr"/>
          </a:p>
        </p:txBody>
      </p:sp>
      <p:sp>
        <p:nvSpPr>
          <p:cNvPr id="17" name="Inside @m.jit · import mlir.dsl as m"/>
          <p:cNvSpPr txBox="1"/>
          <p:nvPr/>
        </p:nvSpPr>
        <p:spPr>
          <a:xfrm>
            <a:off x="502920" y="3300984"/>
            <a:ext cx="8138160" cy="237744"/>
          </a:xfrm>
          <a:prstGeom prst="rect">
            <a:avLst/>
          </a:prstGeom>
          <a:noFill/>
        </p:spPr>
        <p:txBody>
          <a:bodyPr wrap="none" anchor="t" lIns="0" rIns="0" tIns="0" bIns="0">
            <a:noAutofit/>
          </a:bodyPr>
          <a:lstStyle/>
          <a:p>
            <a:pPr algn="l">
              <a:lnSpc>
                <a:spcPts val="1160"/>
              </a:lnSpc>
              <a:spcBef>
                <a:spcPts val="0"/>
              </a:spcBef>
              <a:spcAft>
                <a:spcPts val="0"/>
              </a:spcAft>
            </a:pPr>
            <a:r>
              <a:rPr sz="1000" b="0">
                <a:solidFill>
                  <a:srgbClr val="616161"/>
                </a:solidFill>
                <a:latin typeface="NVIDIA Sans"/>
              </a:rPr>
              <a:t>Inside @m.jit · import mlir.dsl as m</a:t>
            </a:r>
          </a:p>
        </p:txBody>
      </p:sp>
      <p:sp>
        <p:nvSpPr>
          <p:cNvPr id="18" name="range(4)"/>
          <p:cNvSpPr txBox="1"/>
          <p:nvPr/>
        </p:nvSpPr>
        <p:spPr>
          <a:xfrm>
            <a:off x="502920" y="3675887"/>
            <a:ext cx="1481328" cy="320040"/>
          </a:xfrm>
          <a:prstGeom prst="rect">
            <a:avLst/>
          </a:prstGeom>
          <a:noFill/>
        </p:spPr>
        <p:txBody>
          <a:bodyPr wrap="none" anchor="t" lIns="0" rIns="0" tIns="0" bIns="0">
            <a:noAutofit/>
          </a:bodyPr>
          <a:lstStyle/>
          <a:p>
            <a:pPr algn="l">
              <a:lnSpc>
                <a:spcPts val="1764"/>
              </a:lnSpc>
              <a:spcBef>
                <a:spcPts val="0"/>
              </a:spcBef>
              <a:spcAft>
                <a:spcPts val="0"/>
              </a:spcAft>
            </a:pPr>
            <a:r>
              <a:rPr sz="1400" b="0">
                <a:solidFill>
                  <a:srgbClr val="616161"/>
                </a:solidFill>
                <a:latin typeface="JetBrains Mono"/>
              </a:rPr>
              <a:t>range(4)</a:t>
            </a:r>
          </a:p>
        </p:txBody>
      </p:sp>
      <p:cxnSp>
        <p:nvCxnSpPr>
          <p:cNvPr id="19" name="Connector 18"/>
          <p:cNvCxnSpPr/>
          <p:nvPr/>
        </p:nvCxnSpPr>
        <p:spPr>
          <a:xfrm>
            <a:off x="2121408" y="3822191"/>
            <a:ext cx="39319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20" name="Python loop"/>
          <p:cNvSpPr txBox="1"/>
          <p:nvPr/>
        </p:nvSpPr>
        <p:spPr>
          <a:xfrm>
            <a:off x="2706624" y="3666744"/>
            <a:ext cx="1691640" cy="301752"/>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616161"/>
                </a:solidFill>
                <a:latin typeface="NVIDIA Sans"/>
              </a:rPr>
              <a:t>Python loop</a:t>
            </a:r>
          </a:p>
        </p:txBody>
      </p:sp>
      <p:sp>
        <p:nvSpPr>
          <p:cNvPr id="21" name="Runs now"/>
          <p:cNvSpPr txBox="1"/>
          <p:nvPr/>
        </p:nvSpPr>
        <p:spPr>
          <a:xfrm>
            <a:off x="2706624" y="4005072"/>
            <a:ext cx="1691640" cy="228600"/>
          </a:xfrm>
          <a:prstGeom prst="rect">
            <a:avLst/>
          </a:prstGeom>
          <a:noFill/>
        </p:spPr>
        <p:txBody>
          <a:bodyPr wrap="none" anchor="t" lIns="0" rIns="0" tIns="0" bIns="0">
            <a:noAutofit/>
          </a:bodyPr>
          <a:lstStyle/>
          <a:p>
            <a:pPr algn="l">
              <a:lnSpc>
                <a:spcPts val="1160"/>
              </a:lnSpc>
              <a:spcBef>
                <a:spcPts val="0"/>
              </a:spcBef>
              <a:spcAft>
                <a:spcPts val="0"/>
              </a:spcAft>
            </a:pPr>
            <a:r>
              <a:rPr sz="1000" b="0">
                <a:solidFill>
                  <a:srgbClr val="616161"/>
                </a:solidFill>
                <a:latin typeface="NVIDIA Sans"/>
              </a:rPr>
              <a:t>Runs now</a:t>
            </a:r>
          </a:p>
        </p:txBody>
      </p:sp>
      <p:sp>
        <p:nvSpPr>
          <p:cNvPr id="22" name="m.range(4)"/>
          <p:cNvSpPr txBox="1"/>
          <p:nvPr/>
        </p:nvSpPr>
        <p:spPr>
          <a:xfrm>
            <a:off x="4800600" y="3675887"/>
            <a:ext cx="1481328" cy="320040"/>
          </a:xfrm>
          <a:prstGeom prst="rect">
            <a:avLst/>
          </a:prstGeom>
          <a:noFill/>
        </p:spPr>
        <p:txBody>
          <a:bodyPr wrap="none" anchor="t" lIns="0" rIns="0" tIns="0" bIns="0">
            <a:noAutofit/>
          </a:bodyPr>
          <a:lstStyle/>
          <a:p>
            <a:pPr algn="l">
              <a:lnSpc>
                <a:spcPts val="1764"/>
              </a:lnSpc>
              <a:spcBef>
                <a:spcPts val="0"/>
              </a:spcBef>
              <a:spcAft>
                <a:spcPts val="0"/>
              </a:spcAft>
            </a:pPr>
            <a:r>
              <a:rPr sz="1400" b="0">
                <a:solidFill>
                  <a:srgbClr val="416600"/>
                </a:solidFill>
                <a:latin typeface="JetBrains Mono"/>
              </a:rPr>
              <a:t>m.range(4)</a:t>
            </a:r>
          </a:p>
        </p:txBody>
      </p:sp>
      <p:cxnSp>
        <p:nvCxnSpPr>
          <p:cNvPr id="23" name="Connector 22"/>
          <p:cNvCxnSpPr/>
          <p:nvPr/>
        </p:nvCxnSpPr>
        <p:spPr>
          <a:xfrm>
            <a:off x="6419088" y="3822191"/>
            <a:ext cx="3931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4" name="scf.for"/>
          <p:cNvSpPr txBox="1"/>
          <p:nvPr/>
        </p:nvSpPr>
        <p:spPr>
          <a:xfrm>
            <a:off x="7004304" y="3666744"/>
            <a:ext cx="1691640" cy="301752"/>
          </a:xfrm>
          <a:prstGeom prst="rect">
            <a:avLst/>
          </a:prstGeom>
          <a:noFill/>
        </p:spPr>
        <p:txBody>
          <a:bodyPr wrap="none" anchor="t" lIns="0" rIns="0" tIns="0" bIns="0">
            <a:noAutofit/>
          </a:bodyPr>
          <a:lstStyle/>
          <a:p>
            <a:pPr algn="l">
              <a:lnSpc>
                <a:spcPts val="1764"/>
              </a:lnSpc>
              <a:spcBef>
                <a:spcPts val="0"/>
              </a:spcBef>
              <a:spcAft>
                <a:spcPts val="0"/>
              </a:spcAft>
            </a:pPr>
            <a:r>
              <a:rPr sz="1400" b="0">
                <a:solidFill>
                  <a:srgbClr val="416600"/>
                </a:solidFill>
                <a:latin typeface="JetBrains Mono"/>
              </a:rPr>
              <a:t>scf.for</a:t>
            </a:r>
          </a:p>
        </p:txBody>
      </p:sp>
      <p:sp>
        <p:nvSpPr>
          <p:cNvPr id="25" name="Runs later"/>
          <p:cNvSpPr txBox="1"/>
          <p:nvPr/>
        </p:nvSpPr>
        <p:spPr>
          <a:xfrm>
            <a:off x="7004304" y="4005072"/>
            <a:ext cx="1691640" cy="228600"/>
          </a:xfrm>
          <a:prstGeom prst="rect">
            <a:avLst/>
          </a:prstGeom>
          <a:noFill/>
        </p:spPr>
        <p:txBody>
          <a:bodyPr wrap="none" anchor="t" lIns="0" rIns="0" tIns="0" bIns="0">
            <a:noAutofit/>
          </a:bodyPr>
          <a:lstStyle/>
          <a:p>
            <a:pPr algn="l">
              <a:lnSpc>
                <a:spcPts val="1160"/>
              </a:lnSpc>
              <a:spcBef>
                <a:spcPts val="0"/>
              </a:spcBef>
              <a:spcAft>
                <a:spcPts val="0"/>
              </a:spcAft>
            </a:pPr>
            <a:r>
              <a:rPr sz="1000" b="0">
                <a:solidFill>
                  <a:srgbClr val="616161"/>
                </a:solidFill>
                <a:latin typeface="NVIDIA Sans"/>
              </a:rPr>
              <a:t>Runs later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How to build a Python DSL for MLI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How to build a Python DSL for MLIR</a:t>
            </a:r>
          </a:p>
        </p:txBody>
      </p:sp>
      <p:sp>
        <p:nvSpPr>
          <p:cNvPr id="5" name="07"/>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07</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Python"/>
          <p:cNvSpPr txBox="1"/>
          <p:nvPr/>
        </p:nvSpPr>
        <p:spPr>
          <a:xfrm>
            <a:off x="493776" y="1399032"/>
            <a:ext cx="3035808" cy="246888"/>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Python</a:t>
            </a:r>
          </a:p>
        </p:txBody>
      </p:sp>
      <p:sp>
        <p:nvSpPr>
          <p:cNvPr id="8" name="Trace: execute Python"/>
          <p:cNvSpPr txBox="1"/>
          <p:nvPr/>
        </p:nvSpPr>
        <p:spPr>
          <a:xfrm>
            <a:off x="3621024" y="1399032"/>
            <a:ext cx="1901952" cy="246888"/>
          </a:xfrm>
          <a:prstGeom prst="rect">
            <a:avLst/>
          </a:prstGeom>
          <a:noFill/>
        </p:spPr>
        <p:txBody>
          <a:bodyPr wrap="none" anchor="t" lIns="0" rIns="0" tIns="0" bIns="0">
            <a:noAutofit/>
          </a:bodyPr>
          <a:lstStyle/>
          <a:p>
            <a:pPr algn="ctr">
              <a:lnSpc>
                <a:spcPts val="1276"/>
              </a:lnSpc>
              <a:spcBef>
                <a:spcPts val="0"/>
              </a:spcBef>
              <a:spcAft>
                <a:spcPts val="0"/>
              </a:spcAft>
            </a:pPr>
            <a:r>
              <a:rPr sz="1100" b="1">
                <a:solidFill>
                  <a:srgbClr val="416600"/>
                </a:solidFill>
                <a:latin typeface="NVIDIA Sans"/>
              </a:rPr>
              <a:t>Trace: execute Python</a:t>
            </a:r>
          </a:p>
        </p:txBody>
      </p:sp>
      <p:sp>
        <p:nvSpPr>
          <p:cNvPr id="9" name="MLIR"/>
          <p:cNvSpPr txBox="1"/>
          <p:nvPr/>
        </p:nvSpPr>
        <p:spPr>
          <a:xfrm>
            <a:off x="5650992" y="1399032"/>
            <a:ext cx="2999232" cy="246888"/>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416600"/>
                </a:solidFill>
                <a:latin typeface="NVIDIA Sans"/>
              </a:rPr>
              <a:t>MLIR</a:t>
            </a:r>
          </a:p>
        </p:txBody>
      </p:sp>
      <p:sp>
        <p:nvSpPr>
          <p:cNvPr id="10" name="Rectangle 9"/>
          <p:cNvSpPr/>
          <p:nvPr/>
        </p:nvSpPr>
        <p:spPr>
          <a:xfrm>
            <a:off x="457200" y="1819656"/>
            <a:ext cx="3044952" cy="1856231"/>
          </a:xfrm>
          <a:prstGeom prst="rect">
            <a:avLst/>
          </a:prstGeom>
          <a:solidFill>
            <a:srgbClr val="F7F7F7"/>
          </a:solidFill>
          <a:ln>
            <a:noFill/>
          </a:ln>
          <a:effectLst/>
        </p:spPr>
        <p:txBody>
          <a:bodyPr rtlCol="0" anchor="ctr"/>
          <a:lstStyle/>
          <a:p>
            <a:pPr algn="ctr"/>
          </a:p>
        </p:txBody>
      </p:sp>
      <p:sp>
        <p:nvSpPr>
          <p:cNvPr id="11" name="Rectangle 10"/>
          <p:cNvSpPr/>
          <p:nvPr/>
        </p:nvSpPr>
        <p:spPr>
          <a:xfrm>
            <a:off x="457200" y="1819656"/>
            <a:ext cx="3044952" cy="365760"/>
          </a:xfrm>
          <a:prstGeom prst="rect">
            <a:avLst/>
          </a:prstGeom>
          <a:solidFill>
            <a:srgbClr val="76B900"/>
          </a:solidFill>
          <a:ln>
            <a:noFill/>
          </a:ln>
          <a:effectLst/>
        </p:spPr>
        <p:txBody>
          <a:bodyPr rtlCol="0" anchor="ctr"/>
          <a:lstStyle/>
          <a:p>
            <a:pPr algn="ctr"/>
          </a:p>
        </p:txBody>
      </p:sp>
      <p:sp>
        <p:nvSpPr>
          <p:cNvPr id="12" name="Python"/>
          <p:cNvSpPr txBox="1"/>
          <p:nvPr/>
        </p:nvSpPr>
        <p:spPr>
          <a:xfrm>
            <a:off x="612648" y="1915668"/>
            <a:ext cx="2734056"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a:t>
            </a:r>
          </a:p>
        </p:txBody>
      </p:sp>
      <p:sp>
        <p:nvSpPr>
          <p:cNvPr id="13" name="import mlir.dsl as m"/>
          <p:cNvSpPr txBox="1"/>
          <p:nvPr/>
        </p:nvSpPr>
        <p:spPr>
          <a:xfrm>
            <a:off x="612648" y="2304288"/>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import mlir.dsl as m</a:t>
            </a:r>
          </a:p>
        </p:txBody>
      </p:sp>
      <p:sp>
        <p:nvSpPr>
          <p:cNvPr id="14" name=""/>
          <p:cNvSpPr txBox="1"/>
          <p:nvPr/>
        </p:nvSpPr>
        <p:spPr>
          <a:xfrm>
            <a:off x="612648" y="2476601"/>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
            </a:r>
          </a:p>
        </p:txBody>
      </p:sp>
      <p:sp>
        <p:nvSpPr>
          <p:cNvPr id="15" name="@m.jit"/>
          <p:cNvSpPr txBox="1"/>
          <p:nvPr/>
        </p:nvSpPr>
        <p:spPr>
          <a:xfrm>
            <a:off x="612648" y="2648915"/>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1">
                <a:solidFill>
                  <a:srgbClr val="416600"/>
                </a:solidFill>
                <a:latin typeface="JetBrains Mono"/>
              </a:rPr>
              <a:t>@m.jit</a:t>
            </a:r>
          </a:p>
        </p:txBody>
      </p:sp>
      <p:sp>
        <p:nvSpPr>
          <p:cNvPr id="16" name="def scale(x: m.Int32, factor):"/>
          <p:cNvSpPr txBox="1"/>
          <p:nvPr/>
        </p:nvSpPr>
        <p:spPr>
          <a:xfrm>
            <a:off x="612648" y="2821228"/>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def scale(x: m.Int32, factor):</a:t>
            </a:r>
          </a:p>
        </p:txBody>
      </p:sp>
      <p:sp>
        <p:nvSpPr>
          <p:cNvPr id="17" name="    return x * factor"/>
          <p:cNvSpPr txBox="1"/>
          <p:nvPr/>
        </p:nvSpPr>
        <p:spPr>
          <a:xfrm>
            <a:off x="612648" y="2993542"/>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    return x * factor</a:t>
            </a:r>
          </a:p>
        </p:txBody>
      </p:sp>
      <p:sp>
        <p:nvSpPr>
          <p:cNvPr id="18" name=""/>
          <p:cNvSpPr txBox="1"/>
          <p:nvPr/>
        </p:nvSpPr>
        <p:spPr>
          <a:xfrm>
            <a:off x="612648" y="3165856"/>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
            </a:r>
          </a:p>
        </p:txBody>
      </p:sp>
      <p:sp>
        <p:nvSpPr>
          <p:cNvPr id="19" name="scale(4, 3)"/>
          <p:cNvSpPr txBox="1"/>
          <p:nvPr/>
        </p:nvSpPr>
        <p:spPr>
          <a:xfrm>
            <a:off x="612648" y="3338169"/>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scale(4, 3)</a:t>
            </a:r>
          </a:p>
        </p:txBody>
      </p:sp>
      <p:sp>
        <p:nvSpPr>
          <p:cNvPr id="20" name="Rectangle 19"/>
          <p:cNvSpPr/>
          <p:nvPr/>
        </p:nvSpPr>
        <p:spPr>
          <a:xfrm>
            <a:off x="5641848" y="1819656"/>
            <a:ext cx="3044952" cy="1856231"/>
          </a:xfrm>
          <a:prstGeom prst="rect">
            <a:avLst/>
          </a:prstGeom>
          <a:solidFill>
            <a:srgbClr val="F0F6E6"/>
          </a:solidFill>
          <a:ln>
            <a:noFill/>
          </a:ln>
          <a:effectLst/>
        </p:spPr>
        <p:txBody>
          <a:bodyPr rtlCol="0" anchor="ctr"/>
          <a:lstStyle/>
          <a:p>
            <a:pPr algn="ctr"/>
          </a:p>
        </p:txBody>
      </p:sp>
      <p:sp>
        <p:nvSpPr>
          <p:cNvPr id="21" name="Rectangle 20"/>
          <p:cNvSpPr/>
          <p:nvPr/>
        </p:nvSpPr>
        <p:spPr>
          <a:xfrm>
            <a:off x="5641848" y="1819656"/>
            <a:ext cx="3044952" cy="365760"/>
          </a:xfrm>
          <a:prstGeom prst="rect">
            <a:avLst/>
          </a:prstGeom>
          <a:solidFill>
            <a:srgbClr val="76B900"/>
          </a:solidFill>
          <a:ln>
            <a:noFill/>
          </a:ln>
          <a:effectLst/>
        </p:spPr>
        <p:txBody>
          <a:bodyPr rtlCol="0" anchor="ctr"/>
          <a:lstStyle/>
          <a:p>
            <a:pPr algn="ctr"/>
          </a:p>
        </p:txBody>
      </p:sp>
      <p:sp>
        <p:nvSpPr>
          <p:cNvPr id="22" name="Generated MLIR"/>
          <p:cNvSpPr txBox="1"/>
          <p:nvPr/>
        </p:nvSpPr>
        <p:spPr>
          <a:xfrm>
            <a:off x="5797296" y="1915668"/>
            <a:ext cx="2734056"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Generated MLIR</a:t>
            </a:r>
          </a:p>
        </p:txBody>
      </p:sp>
      <p:sp>
        <p:nvSpPr>
          <p:cNvPr id="23" name="// x is a runtime i32"/>
          <p:cNvSpPr txBox="1"/>
          <p:nvPr/>
        </p:nvSpPr>
        <p:spPr>
          <a:xfrm>
            <a:off x="5797296" y="2304288"/>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 x is a runtime i32</a:t>
            </a:r>
          </a:p>
        </p:txBody>
      </p:sp>
      <p:sp>
        <p:nvSpPr>
          <p:cNvPr id="24" name="%c3 = arith.constant 3 : i32"/>
          <p:cNvSpPr txBox="1"/>
          <p:nvPr/>
        </p:nvSpPr>
        <p:spPr>
          <a:xfrm>
            <a:off x="5797296" y="2476601"/>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%c3 = arith.constant 3 : i32</a:t>
            </a:r>
          </a:p>
        </p:txBody>
      </p:sp>
      <p:sp>
        <p:nvSpPr>
          <p:cNvPr id="25" name="%r = arith.muli %x, %c3 : i32"/>
          <p:cNvSpPr txBox="1"/>
          <p:nvPr/>
        </p:nvSpPr>
        <p:spPr>
          <a:xfrm>
            <a:off x="5797296" y="2648915"/>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%r = arith.muli %x, %c3 : i32</a:t>
            </a:r>
          </a:p>
        </p:txBody>
      </p:sp>
      <p:sp>
        <p:nvSpPr>
          <p:cNvPr id="26" name="llvm.return %r : i32"/>
          <p:cNvSpPr txBox="1"/>
          <p:nvPr/>
        </p:nvSpPr>
        <p:spPr>
          <a:xfrm>
            <a:off x="5797296" y="2821228"/>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llvm.return %r : i32</a:t>
            </a:r>
          </a:p>
        </p:txBody>
      </p:sp>
      <p:cxnSp>
        <p:nvCxnSpPr>
          <p:cNvPr id="27" name="Connector 26"/>
          <p:cNvCxnSpPr/>
          <p:nvPr/>
        </p:nvCxnSpPr>
        <p:spPr>
          <a:xfrm>
            <a:off x="3511296" y="2651760"/>
            <a:ext cx="137160"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3648456" y="2286000"/>
            <a:ext cx="0" cy="9509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648456" y="2286000"/>
            <a:ext cx="137159"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648456" y="3236976"/>
            <a:ext cx="137159"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376672" y="3236976"/>
            <a:ext cx="24688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3803904" y="1938528"/>
            <a:ext cx="1545336" cy="694944"/>
          </a:xfrm>
          <a:prstGeom prst="rect">
            <a:avLst/>
          </a:prstGeom>
          <a:solidFill>
            <a:srgbClr val="F7F7F7"/>
          </a:solidFill>
          <a:ln>
            <a:noFill/>
          </a:ln>
          <a:effectLst/>
        </p:spPr>
        <p:txBody>
          <a:bodyPr rtlCol="0" anchor="ctr"/>
          <a:lstStyle/>
          <a:p>
            <a:pPr algn="ctr"/>
          </a:p>
        </p:txBody>
      </p:sp>
      <p:sp>
        <p:nvSpPr>
          <p:cNvPr id="33" name="Meta"/>
          <p:cNvSpPr txBox="1"/>
          <p:nvPr/>
        </p:nvSpPr>
        <p:spPr>
          <a:xfrm>
            <a:off x="3886200" y="2029968"/>
            <a:ext cx="1380744" cy="219456"/>
          </a:xfrm>
          <a:prstGeom prst="rect">
            <a:avLst/>
          </a:prstGeom>
          <a:noFill/>
        </p:spPr>
        <p:txBody>
          <a:bodyPr wrap="none" anchor="t" lIns="0" rIns="0" tIns="0" bIns="0">
            <a:noAutofit/>
          </a:bodyPr>
          <a:lstStyle/>
          <a:p>
            <a:pPr algn="ctr">
              <a:lnSpc>
                <a:spcPts val="1391"/>
              </a:lnSpc>
              <a:spcBef>
                <a:spcPts val="0"/>
              </a:spcBef>
              <a:spcAft>
                <a:spcPts val="0"/>
              </a:spcAft>
            </a:pPr>
            <a:r>
              <a:rPr sz="1200" b="1">
                <a:solidFill>
                  <a:srgbClr val="616161"/>
                </a:solidFill>
                <a:latin typeface="NVIDIA Sans"/>
              </a:rPr>
              <a:t>Meta</a:t>
            </a:r>
          </a:p>
        </p:txBody>
      </p:sp>
      <p:sp>
        <p:nvSpPr>
          <p:cNvPr id="34" name="factor = 3 / Run Python"/>
          <p:cNvSpPr txBox="1"/>
          <p:nvPr/>
        </p:nvSpPr>
        <p:spPr>
          <a:xfrm>
            <a:off x="3886200" y="2295144"/>
            <a:ext cx="1380744" cy="320040"/>
          </a:xfrm>
          <a:prstGeom prst="rect">
            <a:avLst/>
          </a:prstGeom>
          <a:noFill/>
        </p:spPr>
        <p:txBody>
          <a:bodyPr wrap="none" anchor="t" lIns="0" rIns="0" tIns="0" bIns="0">
            <a:noAutofit/>
          </a:bodyPr>
          <a:lstStyle/>
          <a:p>
            <a:pPr algn="ctr">
              <a:lnSpc>
                <a:spcPts val="1183"/>
              </a:lnSpc>
              <a:spcBef>
                <a:spcPts val="0"/>
              </a:spcBef>
              <a:spcAft>
                <a:spcPts val="0"/>
              </a:spcAft>
            </a:pPr>
            <a:r>
              <a:rPr sz="1019" b="0">
                <a:solidFill>
                  <a:srgbClr val="616161"/>
                </a:solidFill>
                <a:latin typeface="NVIDIA Sans"/>
              </a:rPr>
              <a:t>factor = 3</a:t>
            </a:r>
          </a:p>
          <a:p>
            <a:pPr algn="ctr">
              <a:lnSpc>
                <a:spcPts val="1183"/>
              </a:lnSpc>
              <a:spcBef>
                <a:spcPts val="0"/>
              </a:spcBef>
              <a:spcAft>
                <a:spcPts val="0"/>
              </a:spcAft>
            </a:pPr>
            <a:r>
              <a:rPr sz="1019" b="0">
                <a:solidFill>
                  <a:srgbClr val="616161"/>
                </a:solidFill>
                <a:latin typeface="NVIDIA Sans"/>
              </a:rPr>
              <a:t>Run Python</a:t>
            </a:r>
          </a:p>
        </p:txBody>
      </p:sp>
      <p:sp>
        <p:nvSpPr>
          <p:cNvPr id="35" name="Rectangle 34"/>
          <p:cNvSpPr/>
          <p:nvPr/>
        </p:nvSpPr>
        <p:spPr>
          <a:xfrm>
            <a:off x="3803904" y="2889504"/>
            <a:ext cx="1545336" cy="694944"/>
          </a:xfrm>
          <a:prstGeom prst="rect">
            <a:avLst/>
          </a:prstGeom>
          <a:solidFill>
            <a:srgbClr val="F0F6E6"/>
          </a:solidFill>
          <a:ln>
            <a:noFill/>
          </a:ln>
          <a:effectLst/>
        </p:spPr>
        <p:txBody>
          <a:bodyPr rtlCol="0" anchor="ctr"/>
          <a:lstStyle/>
          <a:p>
            <a:pPr algn="ctr"/>
          </a:p>
        </p:txBody>
      </p:sp>
      <p:sp>
        <p:nvSpPr>
          <p:cNvPr id="36" name="Staged"/>
          <p:cNvSpPr txBox="1"/>
          <p:nvPr/>
        </p:nvSpPr>
        <p:spPr>
          <a:xfrm>
            <a:off x="3886200" y="2980944"/>
            <a:ext cx="1380744" cy="219456"/>
          </a:xfrm>
          <a:prstGeom prst="rect">
            <a:avLst/>
          </a:prstGeom>
          <a:noFill/>
        </p:spPr>
        <p:txBody>
          <a:bodyPr wrap="none" anchor="t" lIns="0" rIns="0" tIns="0" bIns="0">
            <a:noAutofit/>
          </a:bodyPr>
          <a:lstStyle/>
          <a:p>
            <a:pPr algn="ctr">
              <a:lnSpc>
                <a:spcPts val="1391"/>
              </a:lnSpc>
              <a:spcBef>
                <a:spcPts val="0"/>
              </a:spcBef>
              <a:spcAft>
                <a:spcPts val="0"/>
              </a:spcAft>
            </a:pPr>
            <a:r>
              <a:rPr sz="1200" b="1">
                <a:solidFill>
                  <a:srgbClr val="416600"/>
                </a:solidFill>
                <a:latin typeface="NVIDIA Sans"/>
              </a:rPr>
              <a:t>Staged</a:t>
            </a:r>
          </a:p>
        </p:txBody>
      </p:sp>
      <p:sp>
        <p:nvSpPr>
          <p:cNvPr id="37" name="x = SSA / Emit MLIR"/>
          <p:cNvSpPr txBox="1"/>
          <p:nvPr/>
        </p:nvSpPr>
        <p:spPr>
          <a:xfrm>
            <a:off x="3886200" y="3246120"/>
            <a:ext cx="1380744" cy="320040"/>
          </a:xfrm>
          <a:prstGeom prst="rect">
            <a:avLst/>
          </a:prstGeom>
          <a:noFill/>
        </p:spPr>
        <p:txBody>
          <a:bodyPr wrap="none" anchor="t" lIns="0" rIns="0" tIns="0" bIns="0">
            <a:noAutofit/>
          </a:bodyPr>
          <a:lstStyle/>
          <a:p>
            <a:pPr algn="ctr">
              <a:lnSpc>
                <a:spcPts val="1183"/>
              </a:lnSpc>
              <a:spcBef>
                <a:spcPts val="0"/>
              </a:spcBef>
              <a:spcAft>
                <a:spcPts val="0"/>
              </a:spcAft>
            </a:pPr>
            <a:r>
              <a:rPr sz="1019" b="0">
                <a:solidFill>
                  <a:srgbClr val="616161"/>
                </a:solidFill>
                <a:latin typeface="NVIDIA Sans"/>
              </a:rPr>
              <a:t>x = SSA</a:t>
            </a:r>
          </a:p>
          <a:p>
            <a:pPr algn="ctr">
              <a:lnSpc>
                <a:spcPts val="1183"/>
              </a:lnSpc>
              <a:spcBef>
                <a:spcPts val="0"/>
              </a:spcBef>
              <a:spcAft>
                <a:spcPts val="0"/>
              </a:spcAft>
            </a:pPr>
            <a:r>
              <a:rPr sz="1019" b="0">
                <a:solidFill>
                  <a:srgbClr val="616161"/>
                </a:solidFill>
                <a:latin typeface="NVIDIA Sans"/>
              </a:rPr>
              <a:t>Emit MLIR</a:t>
            </a:r>
          </a:p>
        </p:txBody>
      </p:sp>
      <p:sp>
        <p:nvSpPr>
          <p:cNvPr id="38" name="Objects · imports · metaprogramming"/>
          <p:cNvSpPr txBox="1"/>
          <p:nvPr/>
        </p:nvSpPr>
        <p:spPr>
          <a:xfrm>
            <a:off x="493776" y="3794760"/>
            <a:ext cx="3657600" cy="246888"/>
          </a:xfrm>
          <a:prstGeom prst="rect">
            <a:avLst/>
          </a:prstGeom>
          <a:noFill/>
        </p:spPr>
        <p:txBody>
          <a:bodyPr wrap="none" anchor="t" lIns="0" rIns="0" tIns="0" bIns="0">
            <a:noAutofit/>
          </a:bodyPr>
          <a:lstStyle/>
          <a:p>
            <a:pPr algn="l">
              <a:lnSpc>
                <a:spcPts val="1171"/>
              </a:lnSpc>
              <a:spcBef>
                <a:spcPts val="0"/>
              </a:spcBef>
              <a:spcAft>
                <a:spcPts val="0"/>
              </a:spcAft>
            </a:pPr>
            <a:r>
              <a:rPr sz="1010" b="0">
                <a:solidFill>
                  <a:srgbClr val="616161"/>
                </a:solidFill>
                <a:latin typeface="NVIDIA Sans"/>
              </a:rPr>
              <a:t>Objects · imports · metaprogramming</a:t>
            </a:r>
          </a:p>
        </p:txBody>
      </p:sp>
      <p:cxnSp>
        <p:nvCxnSpPr>
          <p:cNvPr id="39" name="Connector 38"/>
          <p:cNvCxnSpPr/>
          <p:nvPr/>
        </p:nvCxnSpPr>
        <p:spPr>
          <a:xfrm>
            <a:off x="7164324" y="3685032"/>
            <a:ext cx="0" cy="8229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6149340" y="3767328"/>
            <a:ext cx="101498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6149340" y="3767328"/>
            <a:ext cx="0" cy="109728"/>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42" name="Compile"/>
          <p:cNvSpPr txBox="1"/>
          <p:nvPr/>
        </p:nvSpPr>
        <p:spPr>
          <a:xfrm>
            <a:off x="5669280" y="3922776"/>
            <a:ext cx="960120" cy="310896"/>
          </a:xfrm>
          <a:prstGeom prst="rect">
            <a:avLst/>
          </a:prstGeom>
          <a:noFill/>
        </p:spPr>
        <p:txBody>
          <a:bodyPr wrap="none" anchor="t" lIns="0" rIns="0" tIns="0" bIns="0">
            <a:noAutofit/>
          </a:bodyPr>
          <a:lstStyle/>
          <a:p>
            <a:pPr algn="ctr">
              <a:lnSpc>
                <a:spcPts val="1148"/>
              </a:lnSpc>
              <a:spcBef>
                <a:spcPts val="0"/>
              </a:spcBef>
              <a:spcAft>
                <a:spcPts val="0"/>
              </a:spcAft>
            </a:pPr>
            <a:r>
              <a:rPr sz="990" b="0">
                <a:solidFill>
                  <a:srgbClr val="416600"/>
                </a:solidFill>
                <a:latin typeface="NVIDIA Sans"/>
              </a:rPr>
              <a:t>Compile</a:t>
            </a:r>
          </a:p>
        </p:txBody>
      </p:sp>
      <p:cxnSp>
        <p:nvCxnSpPr>
          <p:cNvPr id="43" name="Connector 42"/>
          <p:cNvCxnSpPr/>
          <p:nvPr/>
        </p:nvCxnSpPr>
        <p:spPr>
          <a:xfrm>
            <a:off x="7164324" y="3767328"/>
            <a:ext cx="0"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7164324" y="3767328"/>
            <a:ext cx="0" cy="109728"/>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45" name="Test"/>
          <p:cNvSpPr txBox="1"/>
          <p:nvPr/>
        </p:nvSpPr>
        <p:spPr>
          <a:xfrm>
            <a:off x="6684264" y="3922776"/>
            <a:ext cx="960120" cy="310896"/>
          </a:xfrm>
          <a:prstGeom prst="rect">
            <a:avLst/>
          </a:prstGeom>
          <a:noFill/>
        </p:spPr>
        <p:txBody>
          <a:bodyPr wrap="none" anchor="t" lIns="0" rIns="0" tIns="0" bIns="0">
            <a:noAutofit/>
          </a:bodyPr>
          <a:lstStyle/>
          <a:p>
            <a:pPr algn="ctr">
              <a:lnSpc>
                <a:spcPts val="1148"/>
              </a:lnSpc>
              <a:spcBef>
                <a:spcPts val="0"/>
              </a:spcBef>
              <a:spcAft>
                <a:spcPts val="0"/>
              </a:spcAft>
            </a:pPr>
            <a:r>
              <a:rPr sz="990" b="0">
                <a:solidFill>
                  <a:srgbClr val="416600"/>
                </a:solidFill>
                <a:latin typeface="NVIDIA Sans"/>
              </a:rPr>
              <a:t>Test</a:t>
            </a:r>
          </a:p>
        </p:txBody>
      </p:sp>
      <p:cxnSp>
        <p:nvCxnSpPr>
          <p:cNvPr id="46" name="Connector 45"/>
          <p:cNvCxnSpPr/>
          <p:nvPr/>
        </p:nvCxnSpPr>
        <p:spPr>
          <a:xfrm>
            <a:off x="7164324" y="3767328"/>
            <a:ext cx="101498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8179308" y="3767328"/>
            <a:ext cx="0" cy="109728"/>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48" name="Consume IR"/>
          <p:cNvSpPr txBox="1"/>
          <p:nvPr/>
        </p:nvSpPr>
        <p:spPr>
          <a:xfrm>
            <a:off x="7699248" y="3922776"/>
            <a:ext cx="960120" cy="310896"/>
          </a:xfrm>
          <a:prstGeom prst="rect">
            <a:avLst/>
          </a:prstGeom>
          <a:noFill/>
        </p:spPr>
        <p:txBody>
          <a:bodyPr wrap="none" anchor="t" lIns="0" rIns="0" tIns="0" bIns="0">
            <a:noAutofit/>
          </a:bodyPr>
          <a:lstStyle/>
          <a:p>
            <a:pPr algn="ctr">
              <a:lnSpc>
                <a:spcPts val="1148"/>
              </a:lnSpc>
              <a:spcBef>
                <a:spcPts val="0"/>
              </a:spcBef>
              <a:spcAft>
                <a:spcPts val="0"/>
              </a:spcAft>
            </a:pPr>
            <a:r>
              <a:rPr sz="990" b="0">
                <a:solidFill>
                  <a:srgbClr val="416600"/>
                </a:solidFill>
                <a:latin typeface="NVIDIA Sans"/>
              </a:rPr>
              <a:t>Consume IR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One program. Two binding tim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One program. Two binding times.</a:t>
            </a:r>
          </a:p>
        </p:txBody>
      </p:sp>
      <p:sp>
        <p:nvSpPr>
          <p:cNvPr id="5" name="08"/>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08</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Python / Meta"/>
          <p:cNvSpPr txBox="1"/>
          <p:nvPr/>
        </p:nvSpPr>
        <p:spPr>
          <a:xfrm>
            <a:off x="475488" y="1691640"/>
            <a:ext cx="3803904" cy="548640"/>
          </a:xfrm>
          <a:prstGeom prst="rect">
            <a:avLst/>
          </a:prstGeom>
          <a:noFill/>
        </p:spPr>
        <p:txBody>
          <a:bodyPr wrap="none" anchor="t" lIns="0" rIns="0" tIns="0" bIns="0">
            <a:noAutofit/>
          </a:bodyPr>
          <a:lstStyle/>
          <a:p>
            <a:pPr algn="l">
              <a:lnSpc>
                <a:spcPts val="2088"/>
              </a:lnSpc>
              <a:spcBef>
                <a:spcPts val="0"/>
              </a:spcBef>
              <a:spcAft>
                <a:spcPts val="0"/>
              </a:spcAft>
            </a:pPr>
            <a:r>
              <a:rPr sz="1800" b="0">
                <a:solidFill>
                  <a:srgbClr val="000000"/>
                </a:solidFill>
                <a:latin typeface="NVIDIA Sans"/>
              </a:rPr>
              <a:t>Python / Meta</a:t>
            </a:r>
          </a:p>
        </p:txBody>
      </p:sp>
      <p:sp>
        <p:nvSpPr>
          <p:cNvPr id="8" name="RUNS NOW"/>
          <p:cNvSpPr txBox="1"/>
          <p:nvPr/>
        </p:nvSpPr>
        <p:spPr>
          <a:xfrm>
            <a:off x="475488" y="2331720"/>
            <a:ext cx="3803904" cy="36576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RUNS NOW</a:t>
            </a:r>
          </a:p>
        </p:txBody>
      </p:sp>
      <p:sp>
        <p:nvSpPr>
          <p:cNvPr id="9" name="Objects · functions · dictionaries"/>
          <p:cNvSpPr txBox="1"/>
          <p:nvPr/>
        </p:nvSpPr>
        <p:spPr>
          <a:xfrm>
            <a:off x="475488" y="2843784"/>
            <a:ext cx="3803904" cy="1078992"/>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Objects · functions · dictionaries</a:t>
            </a:r>
          </a:p>
        </p:txBody>
      </p:sp>
      <p:sp>
        <p:nvSpPr>
          <p:cNvPr id="10" name="DSL / Staged"/>
          <p:cNvSpPr txBox="1"/>
          <p:nvPr/>
        </p:nvSpPr>
        <p:spPr>
          <a:xfrm>
            <a:off x="4864608" y="1691640"/>
            <a:ext cx="3803904" cy="548640"/>
          </a:xfrm>
          <a:prstGeom prst="rect">
            <a:avLst/>
          </a:prstGeom>
          <a:noFill/>
        </p:spPr>
        <p:txBody>
          <a:bodyPr wrap="none" anchor="t" lIns="0" rIns="0" tIns="0" bIns="0">
            <a:noAutofit/>
          </a:bodyPr>
          <a:lstStyle/>
          <a:p>
            <a:pPr algn="l">
              <a:lnSpc>
                <a:spcPts val="2088"/>
              </a:lnSpc>
              <a:spcBef>
                <a:spcPts val="0"/>
              </a:spcBef>
              <a:spcAft>
                <a:spcPts val="0"/>
              </a:spcAft>
            </a:pPr>
            <a:r>
              <a:rPr sz="1800" b="0">
                <a:solidFill>
                  <a:srgbClr val="000000"/>
                </a:solidFill>
                <a:latin typeface="NVIDIA Sans"/>
              </a:rPr>
              <a:t>DSL / Staged</a:t>
            </a:r>
          </a:p>
        </p:txBody>
      </p:sp>
      <p:sp>
        <p:nvSpPr>
          <p:cNvPr id="11" name="RUNS LATER"/>
          <p:cNvSpPr txBox="1"/>
          <p:nvPr/>
        </p:nvSpPr>
        <p:spPr>
          <a:xfrm>
            <a:off x="4864608" y="2331720"/>
            <a:ext cx="3803904" cy="36576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RUNS LATER</a:t>
            </a:r>
          </a:p>
        </p:txBody>
      </p:sp>
      <p:sp>
        <p:nvSpPr>
          <p:cNvPr id="12" name="Typed values · MLIR operations"/>
          <p:cNvSpPr txBox="1"/>
          <p:nvPr/>
        </p:nvSpPr>
        <p:spPr>
          <a:xfrm>
            <a:off x="4864608" y="2843784"/>
            <a:ext cx="3803904" cy="1078992"/>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Typed values · MLIR operations</a:t>
            </a:r>
          </a:p>
        </p:txBody>
      </p:sp>
      <p:cxnSp>
        <p:nvCxnSpPr>
          <p:cNvPr id="13" name="Connector 12"/>
          <p:cNvCxnSpPr/>
          <p:nvPr/>
        </p:nvCxnSpPr>
        <p:spPr>
          <a:xfrm>
            <a:off x="4306824" y="2450592"/>
            <a:ext cx="36576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4" name="compile"/>
          <p:cNvSpPr txBox="1"/>
          <p:nvPr/>
        </p:nvSpPr>
        <p:spPr>
          <a:xfrm>
            <a:off x="4215384" y="2660904"/>
            <a:ext cx="594360" cy="201168"/>
          </a:xfrm>
          <a:prstGeom prst="rect">
            <a:avLst/>
          </a:prstGeom>
          <a:noFill/>
        </p:spPr>
        <p:txBody>
          <a:bodyPr wrap="none" anchor="t" lIns="0" rIns="0" tIns="0" bIns="0">
            <a:noAutofit/>
          </a:bodyPr>
          <a:lstStyle/>
          <a:p>
            <a:pPr algn="ctr">
              <a:lnSpc>
                <a:spcPts val="1067"/>
              </a:lnSpc>
              <a:spcBef>
                <a:spcPts val="0"/>
              </a:spcBef>
              <a:spcAft>
                <a:spcPts val="0"/>
              </a:spcAft>
            </a:pPr>
            <a:r>
              <a:rPr sz="919" b="0">
                <a:solidFill>
                  <a:srgbClr val="616161"/>
                </a:solidFill>
                <a:latin typeface="NVIDIA Sans"/>
              </a:rPr>
              <a:t>compile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genda"/>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Agenda</a:t>
            </a:r>
          </a:p>
        </p:txBody>
      </p:sp>
      <p:sp>
        <p:nvSpPr>
          <p:cNvPr id="5" name="09"/>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09</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01"/>
          <p:cNvSpPr txBox="1"/>
          <p:nvPr/>
        </p:nvSpPr>
        <p:spPr>
          <a:xfrm>
            <a:off x="502920" y="1577339"/>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01</a:t>
            </a:r>
          </a:p>
        </p:txBody>
      </p:sp>
      <p:sp>
        <p:nvSpPr>
          <p:cNvPr id="8" name="BaseDSL + plugins"/>
          <p:cNvSpPr txBox="1"/>
          <p:nvPr/>
        </p:nvSpPr>
        <p:spPr>
          <a:xfrm>
            <a:off x="1060704" y="1554480"/>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BaseDSL + plugins</a:t>
            </a:r>
          </a:p>
        </p:txBody>
      </p:sp>
      <p:sp>
        <p:nvSpPr>
          <p:cNvPr id="9" name="02"/>
          <p:cNvSpPr txBox="1"/>
          <p:nvPr/>
        </p:nvSpPr>
        <p:spPr>
          <a:xfrm>
            <a:off x="502920" y="2199132"/>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02</a:t>
            </a:r>
          </a:p>
        </p:txBody>
      </p:sp>
      <p:sp>
        <p:nvSpPr>
          <p:cNvPr id="10" name="Types + metaprogramming"/>
          <p:cNvSpPr txBox="1"/>
          <p:nvPr/>
        </p:nvSpPr>
        <p:spPr>
          <a:xfrm>
            <a:off x="1060704" y="2176272"/>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Types + metaprogramming</a:t>
            </a:r>
          </a:p>
        </p:txBody>
      </p:sp>
      <p:sp>
        <p:nvSpPr>
          <p:cNvPr id="11" name="03"/>
          <p:cNvSpPr txBox="1"/>
          <p:nvPr/>
        </p:nvSpPr>
        <p:spPr>
          <a:xfrm>
            <a:off x="502920" y="2820924"/>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03</a:t>
            </a:r>
          </a:p>
        </p:txBody>
      </p:sp>
      <p:sp>
        <p:nvSpPr>
          <p:cNvPr id="12" name="Compilation + control flow"/>
          <p:cNvSpPr txBox="1"/>
          <p:nvPr/>
        </p:nvSpPr>
        <p:spPr>
          <a:xfrm>
            <a:off x="1060704" y="2798064"/>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Compilation + control flow</a:t>
            </a:r>
          </a:p>
        </p:txBody>
      </p:sp>
      <p:sp>
        <p:nvSpPr>
          <p:cNvPr id="13" name="04"/>
          <p:cNvSpPr txBox="1"/>
          <p:nvPr/>
        </p:nvSpPr>
        <p:spPr>
          <a:xfrm>
            <a:off x="502920" y="3442716"/>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04</a:t>
            </a:r>
          </a:p>
        </p:txBody>
      </p:sp>
      <p:sp>
        <p:nvSpPr>
          <p:cNvPr id="14" name="Amir: mutation tracking"/>
          <p:cNvSpPr txBox="1"/>
          <p:nvPr/>
        </p:nvSpPr>
        <p:spPr>
          <a:xfrm>
            <a:off x="1060704" y="3419856"/>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Amir: mutation tracking</a:t>
            </a:r>
          </a:p>
        </p:txBody>
      </p:sp>
      <p:sp>
        <p:nvSpPr>
          <p:cNvPr id="15" name="05"/>
          <p:cNvSpPr txBox="1"/>
          <p:nvPr/>
        </p:nvSpPr>
        <p:spPr>
          <a:xfrm>
            <a:off x="502920" y="4064508"/>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05</a:t>
            </a:r>
          </a:p>
        </p:txBody>
      </p:sp>
      <p:sp>
        <p:nvSpPr>
          <p:cNvPr id="16" name="Tile IR: a sub-DSL"/>
          <p:cNvSpPr txBox="1"/>
          <p:nvPr/>
        </p:nvSpPr>
        <p:spPr>
          <a:xfrm>
            <a:off x="1060704" y="4041648"/>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Tile IR: a sub-DSL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Start with BaseDSL"/>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Start with BaseDSL</a:t>
            </a:r>
          </a:p>
        </p:txBody>
      </p:sp>
      <p:sp>
        <p:nvSpPr>
          <p:cNvPr id="5" name="10"/>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10</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Sub-DSL setup"/>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Sub-DSL setup</a:t>
            </a:r>
          </a:p>
        </p:txBody>
      </p:sp>
      <p:sp>
        <p:nvSpPr>
          <p:cNvPr id="10" name="class MySubDSL(m.BaseDSL):"/>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MySubDSL(m.BaseDSL):</a:t>
            </a:r>
          </a:p>
        </p:txBody>
      </p:sp>
      <p:sp>
        <p:nvSpPr>
          <p:cNvPr id="11" name="    plugins = [MyDialectPlugin()]"/>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plugins = [MyDialectPlugin()]</a:t>
            </a:r>
          </a:p>
        </p:txBody>
      </p:sp>
      <p:sp>
        <p:nvSpPr>
          <p:cNvPr id="12" name=""/>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3" name="    def __init__(self):"/>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def __init__(self):</a:t>
            </a:r>
          </a:p>
        </p:txBody>
      </p:sp>
      <p:sp>
        <p:nvSpPr>
          <p:cNvPr id="14" name="        super().__init__("/>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super().__init__(</a:t>
            </a:r>
          </a:p>
        </p:txBody>
      </p:sp>
      <p:sp>
        <p:nvSpPr>
          <p:cNvPr id="15" name="            name=&quot;MY_DSL&quot;,"/>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name="MY_DSL",</a:t>
            </a:r>
          </a:p>
        </p:txBody>
      </p:sp>
      <p:sp>
        <p:nvSpPr>
          <p:cNvPr id="16" name="            dsl_package_name=[&quot;mydsl&quot;],"/>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dsl_package_name=["mydsl"],</a:t>
            </a:r>
          </a:p>
        </p:txBody>
      </p:sp>
      <p:sp>
        <p:nvSpPr>
          <p:cNvPr id="17" name="            **target_config)"/>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**target_config)</a:t>
            </a:r>
          </a:p>
        </p:txBody>
      </p:sp>
      <p:sp>
        <p:nvSpPr>
          <p:cNvPr id="18" name="Inherit"/>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Inherit</a:t>
            </a:r>
          </a:p>
        </p:txBody>
      </p:sp>
      <p:sp>
        <p:nvSpPr>
          <p:cNvPr id="19" name="Capture · compile · execute"/>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Capture · compile · execute</a:t>
            </a:r>
          </a:p>
        </p:txBody>
      </p:sp>
      <p:sp>
        <p:nvSpPr>
          <p:cNvPr id="20" name="Customize"/>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Customize</a:t>
            </a:r>
          </a:p>
        </p:txBody>
      </p:sp>
      <p:sp>
        <p:nvSpPr>
          <p:cNvPr id="21" name="Dialect · passes · runtime"/>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Dialect · passes · runtime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BaseDSL building block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BaseDSL building blocks</a:t>
            </a:r>
          </a:p>
        </p:txBody>
      </p:sp>
      <p:sp>
        <p:nvSpPr>
          <p:cNvPr id="5" name="1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11</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8" name="Service"/>
          <p:cNvSpPr txBox="1"/>
          <p:nvPr/>
        </p:nvSpPr>
        <p:spPr>
          <a:xfrm>
            <a:off x="576072" y="1618488"/>
            <a:ext cx="25054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Service</a:t>
            </a:r>
          </a:p>
        </p:txBody>
      </p:sp>
      <p:sp>
        <p:nvSpPr>
          <p:cNvPr id="9" name="Interface"/>
          <p:cNvSpPr txBox="1"/>
          <p:nvPr/>
        </p:nvSpPr>
        <p:spPr>
          <a:xfrm>
            <a:off x="3355848" y="1618488"/>
            <a:ext cx="521208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Interface</a:t>
            </a:r>
          </a:p>
        </p:txBody>
      </p:sp>
      <p:sp>
        <p:nvSpPr>
          <p:cNvPr id="10" name="Rectangle 9"/>
          <p:cNvSpPr/>
          <p:nvPr/>
        </p:nvSpPr>
        <p:spPr>
          <a:xfrm>
            <a:off x="438912" y="1956816"/>
            <a:ext cx="8266175" cy="356615"/>
          </a:xfrm>
          <a:prstGeom prst="rect">
            <a:avLst/>
          </a:prstGeom>
          <a:solidFill>
            <a:srgbClr val="F7F7F7"/>
          </a:solidFill>
          <a:ln>
            <a:noFill/>
          </a:ln>
          <a:effectLst/>
        </p:spPr>
        <p:txBody>
          <a:bodyPr rtlCol="0" anchor="ctr"/>
          <a:lstStyle/>
          <a:p>
            <a:pPr algn="ctr"/>
          </a:p>
        </p:txBody>
      </p:sp>
      <p:sp>
        <p:nvSpPr>
          <p:cNvPr id="11" name="Name"/>
          <p:cNvSpPr txBox="1"/>
          <p:nvPr/>
        </p:nvSpPr>
        <p:spPr>
          <a:xfrm>
            <a:off x="576072" y="2075688"/>
            <a:ext cx="2505456" cy="173735"/>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Name</a:t>
            </a:r>
          </a:p>
        </p:txBody>
      </p:sp>
      <p:sp>
        <p:nvSpPr>
          <p:cNvPr id="12" name="DSL identity"/>
          <p:cNvSpPr txBox="1"/>
          <p:nvPr/>
        </p:nvSpPr>
        <p:spPr>
          <a:xfrm>
            <a:off x="3355848" y="2075688"/>
            <a:ext cx="5212080" cy="17373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DSL identity</a:t>
            </a:r>
          </a:p>
        </p:txBody>
      </p:sp>
      <p:sp>
        <p:nvSpPr>
          <p:cNvPr id="13" name="Rectangle 12"/>
          <p:cNvSpPr/>
          <p:nvPr/>
        </p:nvSpPr>
        <p:spPr>
          <a:xfrm>
            <a:off x="438912" y="2313432"/>
            <a:ext cx="8266175" cy="356615"/>
          </a:xfrm>
          <a:prstGeom prst="rect">
            <a:avLst/>
          </a:prstGeom>
          <a:solidFill>
            <a:srgbClr val="FFFFFF"/>
          </a:solidFill>
          <a:ln>
            <a:noFill/>
          </a:ln>
          <a:effectLst/>
        </p:spPr>
        <p:txBody>
          <a:bodyPr rtlCol="0" anchor="ctr"/>
          <a:lstStyle/>
          <a:p>
            <a:pPr algn="ctr"/>
          </a:p>
        </p:txBody>
      </p:sp>
      <p:sp>
        <p:nvSpPr>
          <p:cNvPr id="14" name="Environment"/>
          <p:cNvSpPr txBox="1"/>
          <p:nvPr/>
        </p:nvSpPr>
        <p:spPr>
          <a:xfrm>
            <a:off x="576072" y="2432304"/>
            <a:ext cx="2505456" cy="173735"/>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Environment</a:t>
            </a:r>
          </a:p>
        </p:txBody>
      </p:sp>
      <p:sp>
        <p:nvSpPr>
          <p:cNvPr id="15" name="MY_DSL_*"/>
          <p:cNvSpPr txBox="1"/>
          <p:nvPr/>
        </p:nvSpPr>
        <p:spPr>
          <a:xfrm>
            <a:off x="3355848" y="2432304"/>
            <a:ext cx="5212080" cy="17373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MY_DSL_*</a:t>
            </a:r>
          </a:p>
        </p:txBody>
      </p:sp>
      <p:sp>
        <p:nvSpPr>
          <p:cNvPr id="16" name="Rectangle 15"/>
          <p:cNvSpPr/>
          <p:nvPr/>
        </p:nvSpPr>
        <p:spPr>
          <a:xfrm>
            <a:off x="438912" y="2670048"/>
            <a:ext cx="8266175" cy="356615"/>
          </a:xfrm>
          <a:prstGeom prst="rect">
            <a:avLst/>
          </a:prstGeom>
          <a:solidFill>
            <a:srgbClr val="F7F7F7"/>
          </a:solidFill>
          <a:ln>
            <a:noFill/>
          </a:ln>
          <a:effectLst/>
        </p:spPr>
        <p:txBody>
          <a:bodyPr rtlCol="0" anchor="ctr"/>
          <a:lstStyle/>
          <a:p>
            <a:pPr algn="ctr"/>
          </a:p>
        </p:txBody>
      </p:sp>
      <p:sp>
        <p:nvSpPr>
          <p:cNvPr id="17" name="Plugins"/>
          <p:cNvSpPr txBox="1"/>
          <p:nvPr/>
        </p:nvSpPr>
        <p:spPr>
          <a:xfrm>
            <a:off x="576072" y="2788920"/>
            <a:ext cx="2505456" cy="173735"/>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Plugins</a:t>
            </a:r>
          </a:p>
        </p:txBody>
      </p:sp>
      <p:sp>
        <p:nvSpPr>
          <p:cNvPr id="18" name="Dialects · libraries · hooks"/>
          <p:cNvSpPr txBox="1"/>
          <p:nvPr/>
        </p:nvSpPr>
        <p:spPr>
          <a:xfrm>
            <a:off x="3355848" y="2788920"/>
            <a:ext cx="5212080" cy="17373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Dialects · libraries · hooks</a:t>
            </a:r>
          </a:p>
        </p:txBody>
      </p:sp>
      <p:sp>
        <p:nvSpPr>
          <p:cNvPr id="19" name="Rectangle 18"/>
          <p:cNvSpPr/>
          <p:nvPr/>
        </p:nvSpPr>
        <p:spPr>
          <a:xfrm>
            <a:off x="438912" y="3026664"/>
            <a:ext cx="8266175" cy="356615"/>
          </a:xfrm>
          <a:prstGeom prst="rect">
            <a:avLst/>
          </a:prstGeom>
          <a:solidFill>
            <a:srgbClr val="FFFFFF"/>
          </a:solidFill>
          <a:ln>
            <a:noFill/>
          </a:ln>
          <a:effectLst/>
        </p:spPr>
        <p:txBody>
          <a:bodyPr rtlCol="0" anchor="ctr"/>
          <a:lstStyle/>
          <a:p>
            <a:pPr algn="ctr"/>
          </a:p>
        </p:txBody>
      </p:sp>
      <p:sp>
        <p:nvSpPr>
          <p:cNvPr id="20" name="Pipeline"/>
          <p:cNvSpPr txBox="1"/>
          <p:nvPr/>
        </p:nvSpPr>
        <p:spPr>
          <a:xfrm>
            <a:off x="576072" y="3145536"/>
            <a:ext cx="2505456" cy="173735"/>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Pipeline</a:t>
            </a:r>
          </a:p>
        </p:txBody>
      </p:sp>
      <p:sp>
        <p:nvSpPr>
          <p:cNvPr id="21" name="Passes + options"/>
          <p:cNvSpPr txBox="1"/>
          <p:nvPr/>
        </p:nvSpPr>
        <p:spPr>
          <a:xfrm>
            <a:off x="3355848" y="3145536"/>
            <a:ext cx="5212080" cy="17373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Passes + options</a:t>
            </a:r>
          </a:p>
        </p:txBody>
      </p:sp>
      <p:sp>
        <p:nvSpPr>
          <p:cNvPr id="22" name="Rectangle 21"/>
          <p:cNvSpPr/>
          <p:nvPr/>
        </p:nvSpPr>
        <p:spPr>
          <a:xfrm>
            <a:off x="438912" y="3383280"/>
            <a:ext cx="8266175" cy="356615"/>
          </a:xfrm>
          <a:prstGeom prst="rect">
            <a:avLst/>
          </a:prstGeom>
          <a:solidFill>
            <a:srgbClr val="F7F7F7"/>
          </a:solidFill>
          <a:ln>
            <a:noFill/>
          </a:ln>
          <a:effectLst/>
        </p:spPr>
        <p:txBody>
          <a:bodyPr rtlCol="0" anchor="ctr"/>
          <a:lstStyle/>
          <a:p>
            <a:pPr algn="ctr"/>
          </a:p>
        </p:txBody>
      </p:sp>
      <p:sp>
        <p:nvSpPr>
          <p:cNvPr id="23" name="JIT"/>
          <p:cNvSpPr txBox="1"/>
          <p:nvPr/>
        </p:nvSpPr>
        <p:spPr>
          <a:xfrm>
            <a:off x="576072" y="3502152"/>
            <a:ext cx="2505456" cy="173735"/>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JIT</a:t>
            </a:r>
          </a:p>
        </p:txBody>
      </p:sp>
      <p:sp>
        <p:nvSpPr>
          <p:cNvPr id="24" name="Trace → compile → execute"/>
          <p:cNvSpPr txBox="1"/>
          <p:nvPr/>
        </p:nvSpPr>
        <p:spPr>
          <a:xfrm>
            <a:off x="3355848" y="3502152"/>
            <a:ext cx="5212080" cy="17373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Trace → compile → execute</a:t>
            </a:r>
          </a:p>
        </p:txBody>
      </p:sp>
      <p:sp>
        <p:nvSpPr>
          <p:cNvPr id="25" name="Rectangle 24"/>
          <p:cNvSpPr/>
          <p:nvPr/>
        </p:nvSpPr>
        <p:spPr>
          <a:xfrm>
            <a:off x="438912" y="3739896"/>
            <a:ext cx="8266175" cy="356615"/>
          </a:xfrm>
          <a:prstGeom prst="rect">
            <a:avLst/>
          </a:prstGeom>
          <a:solidFill>
            <a:srgbClr val="FFFFFF"/>
          </a:solidFill>
          <a:ln>
            <a:noFill/>
          </a:ln>
          <a:effectLst/>
        </p:spPr>
        <p:txBody>
          <a:bodyPr rtlCol="0" anchor="ctr"/>
          <a:lstStyle/>
          <a:p>
            <a:pPr algn="ctr"/>
          </a:p>
        </p:txBody>
      </p:sp>
      <p:sp>
        <p:nvSpPr>
          <p:cNvPr id="26" name="Name mangling"/>
          <p:cNvSpPr txBox="1"/>
          <p:nvPr/>
        </p:nvSpPr>
        <p:spPr>
          <a:xfrm>
            <a:off x="576072" y="3858768"/>
            <a:ext cx="2505456" cy="173735"/>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Name mangling</a:t>
            </a:r>
          </a:p>
        </p:txBody>
      </p:sp>
      <p:sp>
        <p:nvSpPr>
          <p:cNvPr id="27" name="Specialized symbols"/>
          <p:cNvSpPr txBox="1"/>
          <p:nvPr/>
        </p:nvSpPr>
        <p:spPr>
          <a:xfrm>
            <a:off x="3355848" y="3858768"/>
            <a:ext cx="5212080" cy="17373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Specialized symbols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Environment, per DSL"/>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Environment, per DSL</a:t>
            </a:r>
          </a:p>
        </p:txBody>
      </p:sp>
      <p:sp>
        <p:nvSpPr>
          <p:cNvPr id="5" name="1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12</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Environment manager"/>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Environment manager</a:t>
            </a:r>
          </a:p>
        </p:txBody>
      </p:sp>
      <p:sp>
        <p:nvSpPr>
          <p:cNvPr id="10" name="class MyEnv(EnvironmentVarManager):"/>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MyEnv(EnvironmentVarManager):</a:t>
            </a:r>
          </a:p>
        </p:txBody>
      </p:sp>
      <p:sp>
        <p:nvSpPr>
          <p:cNvPr id="11" name="    fast_math: bool = env_var("/>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fast_math: bool = env_var(</a:t>
            </a:r>
          </a:p>
        </p:txBody>
      </p:sp>
      <p:sp>
        <p:nvSpPr>
          <p:cNvPr id="12" name="        &quot;FAST_MATH&quot;, default=False,"/>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"FAST_MATH", default=False,</a:t>
            </a:r>
          </a:p>
        </p:txBody>
      </p:sp>
      <p:sp>
        <p:nvSpPr>
          <p:cNvPr id="13" name="        affects_compile=True)"/>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affects_compile=True)</a:t>
            </a:r>
          </a:p>
        </p:txBody>
      </p:sp>
      <p:sp>
        <p:nvSpPr>
          <p:cNvPr id="14" name=""/>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5" name="class MySubDSL(m.BaseDSL):"/>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MySubDSL(m.BaseDSL):</a:t>
            </a:r>
          </a:p>
        </p:txBody>
      </p:sp>
      <p:sp>
        <p:nvSpPr>
          <p:cNvPr id="16" name="    _env_class = MyEnv"/>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_env_class = MyEnv</a:t>
            </a:r>
          </a:p>
        </p:txBody>
      </p:sp>
      <p:sp>
        <p:nvSpPr>
          <p:cNvPr id="17" name="    # name=&quot;MY_DSL&quot; in its constructor"/>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 name="MY_DSL" in its constructor</a:t>
            </a:r>
          </a:p>
        </p:txBody>
      </p:sp>
      <p:sp>
        <p:nvSpPr>
          <p:cNvPr id="18" name="Namespace"/>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Namespace</a:t>
            </a:r>
          </a:p>
        </p:txBody>
      </p:sp>
      <p:sp>
        <p:nvSpPr>
          <p:cNvPr id="19" name="MY_DSL_PRINT_IR / MY_DSL_CACHE_DIR"/>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MY_DSL_PRINT_IR</a:t>
            </a:r>
          </a:p>
          <a:p>
            <a:pPr algn="l">
              <a:lnSpc>
                <a:spcPts val="1391"/>
              </a:lnSpc>
              <a:spcBef>
                <a:spcPts val="0"/>
              </a:spcBef>
              <a:spcAft>
                <a:spcPts val="0"/>
              </a:spcAft>
            </a:pPr>
            <a:r>
              <a:rPr sz="1200" b="0">
                <a:solidFill>
                  <a:srgbClr val="616161"/>
                </a:solidFill>
                <a:latin typeface="NVIDIA Sans"/>
              </a:rPr>
              <a:t>MY_DSL_CACHE_DIR</a:t>
            </a:r>
          </a:p>
        </p:txBody>
      </p:sp>
      <p:sp>
        <p:nvSpPr>
          <p:cNvPr id="20" name="Cache identity"/>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Cache identity</a:t>
            </a:r>
          </a:p>
        </p:txBody>
      </p:sp>
      <p:sp>
        <p:nvSpPr>
          <p:cNvPr id="21" name="affects_compile=True"/>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affects_compile=True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Plug in your dialect"/>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Plug in your dialect</a:t>
            </a:r>
          </a:p>
        </p:txBody>
      </p:sp>
      <p:sp>
        <p:nvSpPr>
          <p:cNvPr id="5" name="1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13</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Downstream plugin · implementation excerpt"/>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Downstream plugin · implementation excerpt</a:t>
            </a:r>
          </a:p>
        </p:txBody>
      </p:sp>
      <p:sp>
        <p:nvSpPr>
          <p:cNvPr id="10" name="class MyDialectPlugin(m.DialectPlugin):"/>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MyDialectPlugin(m.DialectPlugin):</a:t>
            </a:r>
          </a:p>
        </p:txBody>
      </p:sp>
      <p:sp>
        <p:nvSpPr>
          <p:cNvPr id="11" name="    name = &quot;mydialect&quot;"/>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name = "mydialect"</a:t>
            </a:r>
          </a:p>
        </p:txBody>
      </p:sp>
      <p:sp>
        <p:nvSpPr>
          <p:cNvPr id="12" name="    def register_dialects(self, context):"/>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def register_dialects(self, context):</a:t>
            </a:r>
          </a:p>
        </p:txBody>
      </p:sp>
      <p:sp>
        <p:nvSpPr>
          <p:cNvPr id="13" name="        mydialect.register_dialect(context)"/>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mydialect.register_dialect(context)</a:t>
            </a:r>
          </a:p>
        </p:txBody>
      </p:sp>
      <p:sp>
        <p:nvSpPr>
          <p:cNvPr id="14" name="    def pipeline_passes(self):"/>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def pipeline_passes(self):</a:t>
            </a:r>
          </a:p>
        </p:txBody>
      </p:sp>
      <p:sp>
        <p:nvSpPr>
          <p:cNvPr id="15" name="        return [&quot;convert-mydialect-to-llvm&quot;]"/>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["convert-mydialect-to-llvm"]</a:t>
            </a:r>
          </a:p>
        </p:txBody>
      </p:sp>
      <p:sp>
        <p:nvSpPr>
          <p:cNvPr id="16" name=""/>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7" name="class MySubDSL(m.MlirDSL):"/>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MySubDSL(m.MlirDSL):</a:t>
            </a:r>
          </a:p>
        </p:txBody>
      </p:sp>
      <p:sp>
        <p:nvSpPr>
          <p:cNvPr id="18" name="    plugins = [MyDialectPlugin()]"/>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plugins = [MyDialectPlugin()]</a:t>
            </a:r>
          </a:p>
        </p:txBody>
      </p:sp>
      <p:sp>
        <p:nvSpPr>
          <p:cNvPr id="19" name="Register"/>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Register</a:t>
            </a:r>
          </a:p>
        </p:txBody>
      </p:sp>
      <p:sp>
        <p:nvSpPr>
          <p:cNvPr id="20" name="Dialect bindings"/>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Dialect bindings</a:t>
            </a:r>
          </a:p>
        </p:txBody>
      </p:sp>
      <p:sp>
        <p:nvSpPr>
          <p:cNvPr id="21" name="Lower"/>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Lower</a:t>
            </a:r>
          </a:p>
        </p:txBody>
      </p:sp>
      <p:sp>
        <p:nvSpPr>
          <p:cNvPr id="22" name="Passes + runtime libraries"/>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Passes + runtime libraries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jit and @kernel"/>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@jit and @kernel</a:t>
            </a:r>
          </a:p>
        </p:txBody>
      </p:sp>
      <p:sp>
        <p:nvSpPr>
          <p:cNvPr id="5" name="1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14</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667512" y="1673352"/>
            <a:ext cx="1920240" cy="585216"/>
          </a:xfrm>
          <a:prstGeom prst="rect">
            <a:avLst/>
          </a:prstGeom>
          <a:solidFill>
            <a:srgbClr val="F7F7F7"/>
          </a:solidFill>
          <a:ln w="8890">
            <a:solidFill>
              <a:srgbClr val="D5D5D5"/>
            </a:solidFill>
          </a:ln>
          <a:effectLst/>
        </p:spPr>
        <p:txBody>
          <a:bodyPr rtlCol="0" anchor="ctr"/>
          <a:lstStyle/>
          <a:p>
            <a:pPr algn="ctr"/>
          </a:p>
        </p:txBody>
      </p:sp>
      <p:sp>
        <p:nvSpPr>
          <p:cNvPr id="8" name="Python"/>
          <p:cNvSpPr txBox="1"/>
          <p:nvPr/>
        </p:nvSpPr>
        <p:spPr>
          <a:xfrm>
            <a:off x="777240" y="1746504"/>
            <a:ext cx="1700784" cy="438912"/>
          </a:xfrm>
          <a:prstGeom prst="rect">
            <a:avLst/>
          </a:prstGeom>
          <a:noFill/>
        </p:spPr>
        <p:txBody>
          <a:bodyPr wrap="none" anchor="t" lIns="0" rIns="0" tIns="0" bIns="0">
            <a:noAutofit/>
          </a:bodyPr>
          <a:lstStyle/>
          <a:p>
            <a:pPr algn="ctr">
              <a:lnSpc>
                <a:spcPts val="2088"/>
              </a:lnSpc>
              <a:spcBef>
                <a:spcPts val="0"/>
              </a:spcBef>
              <a:spcAft>
                <a:spcPts val="0"/>
              </a:spcAft>
            </a:pPr>
            <a:r>
              <a:rPr sz="1800" b="0">
                <a:solidFill>
                  <a:srgbClr val="000000"/>
                </a:solidFill>
                <a:latin typeface="NVIDIA Sans"/>
              </a:rPr>
              <a:t>Python</a:t>
            </a:r>
          </a:p>
        </p:txBody>
      </p:sp>
      <p:cxnSp>
        <p:nvCxnSpPr>
          <p:cNvPr id="9" name="Connector 8"/>
          <p:cNvCxnSpPr/>
          <p:nvPr/>
        </p:nvCxnSpPr>
        <p:spPr>
          <a:xfrm>
            <a:off x="2633472" y="1965960"/>
            <a:ext cx="90525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3602736" y="1673352"/>
            <a:ext cx="1920240" cy="585216"/>
          </a:xfrm>
          <a:prstGeom prst="rect">
            <a:avLst/>
          </a:prstGeom>
          <a:solidFill>
            <a:srgbClr val="F0F6E6"/>
          </a:solidFill>
          <a:ln w="8890">
            <a:solidFill>
              <a:srgbClr val="D5D5D5"/>
            </a:solidFill>
          </a:ln>
          <a:effectLst/>
        </p:spPr>
        <p:txBody>
          <a:bodyPr rtlCol="0" anchor="ctr"/>
          <a:lstStyle/>
          <a:p>
            <a:pPr algn="ctr"/>
          </a:p>
        </p:txBody>
      </p:sp>
      <p:sp>
        <p:nvSpPr>
          <p:cNvPr id="11" name="@jit"/>
          <p:cNvSpPr txBox="1"/>
          <p:nvPr/>
        </p:nvSpPr>
        <p:spPr>
          <a:xfrm>
            <a:off x="3712463" y="1746504"/>
            <a:ext cx="1700784" cy="438912"/>
          </a:xfrm>
          <a:prstGeom prst="rect">
            <a:avLst/>
          </a:prstGeom>
          <a:noFill/>
        </p:spPr>
        <p:txBody>
          <a:bodyPr wrap="none" anchor="t" lIns="0" rIns="0" tIns="0" bIns="0">
            <a:noAutofit/>
          </a:bodyPr>
          <a:lstStyle/>
          <a:p>
            <a:pPr algn="ctr">
              <a:lnSpc>
                <a:spcPts val="2088"/>
              </a:lnSpc>
              <a:spcBef>
                <a:spcPts val="0"/>
              </a:spcBef>
              <a:spcAft>
                <a:spcPts val="0"/>
              </a:spcAft>
            </a:pPr>
            <a:r>
              <a:rPr sz="1800" b="1">
                <a:solidFill>
                  <a:srgbClr val="416600"/>
                </a:solidFill>
                <a:latin typeface="NVIDIA Sans"/>
              </a:rPr>
              <a:t>@jit</a:t>
            </a:r>
          </a:p>
        </p:txBody>
      </p:sp>
      <p:cxnSp>
        <p:nvCxnSpPr>
          <p:cNvPr id="12" name="Connector 11"/>
          <p:cNvCxnSpPr/>
          <p:nvPr/>
        </p:nvCxnSpPr>
        <p:spPr>
          <a:xfrm>
            <a:off x="5568696" y="1965960"/>
            <a:ext cx="90525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6537960" y="1673352"/>
            <a:ext cx="1920240" cy="585216"/>
          </a:xfrm>
          <a:prstGeom prst="rect">
            <a:avLst/>
          </a:prstGeom>
          <a:solidFill>
            <a:srgbClr val="F0F6E6"/>
          </a:solidFill>
          <a:ln w="8890">
            <a:solidFill>
              <a:srgbClr val="D5D5D5"/>
            </a:solidFill>
          </a:ln>
          <a:effectLst/>
        </p:spPr>
        <p:txBody>
          <a:bodyPr rtlCol="0" anchor="ctr"/>
          <a:lstStyle/>
          <a:p>
            <a:pPr algn="ctr"/>
          </a:p>
        </p:txBody>
      </p:sp>
      <p:sp>
        <p:nvSpPr>
          <p:cNvPr id="14" name="@kernel"/>
          <p:cNvSpPr txBox="1"/>
          <p:nvPr/>
        </p:nvSpPr>
        <p:spPr>
          <a:xfrm>
            <a:off x="6647688" y="1746504"/>
            <a:ext cx="1700784" cy="438912"/>
          </a:xfrm>
          <a:prstGeom prst="rect">
            <a:avLst/>
          </a:prstGeom>
          <a:noFill/>
        </p:spPr>
        <p:txBody>
          <a:bodyPr wrap="none" anchor="t" lIns="0" rIns="0" tIns="0" bIns="0">
            <a:noAutofit/>
          </a:bodyPr>
          <a:lstStyle/>
          <a:p>
            <a:pPr algn="ctr">
              <a:lnSpc>
                <a:spcPts val="2088"/>
              </a:lnSpc>
              <a:spcBef>
                <a:spcPts val="0"/>
              </a:spcBef>
              <a:spcAft>
                <a:spcPts val="0"/>
              </a:spcAft>
            </a:pPr>
            <a:r>
              <a:rPr sz="1800" b="1">
                <a:solidFill>
                  <a:srgbClr val="416600"/>
                </a:solidFill>
                <a:latin typeface="NVIDIA Sans"/>
              </a:rPr>
              <a:t>@kernel</a:t>
            </a:r>
          </a:p>
        </p:txBody>
      </p:sp>
      <p:sp>
        <p:nvSpPr>
          <p:cNvPr id="15" name="compile / invoke"/>
          <p:cNvSpPr txBox="1"/>
          <p:nvPr/>
        </p:nvSpPr>
        <p:spPr>
          <a:xfrm>
            <a:off x="2660904" y="1472184"/>
            <a:ext cx="868680" cy="356616"/>
          </a:xfrm>
          <a:prstGeom prst="rect">
            <a:avLst/>
          </a:prstGeom>
          <a:noFill/>
        </p:spPr>
        <p:txBody>
          <a:bodyPr wrap="none" anchor="t" lIns="0" rIns="0" tIns="0" bIns="0">
            <a:noAutofit/>
          </a:bodyPr>
          <a:lstStyle/>
          <a:p>
            <a:pPr algn="ctr">
              <a:lnSpc>
                <a:spcPts val="1078"/>
              </a:lnSpc>
              <a:spcBef>
                <a:spcPts val="0"/>
              </a:spcBef>
              <a:spcAft>
                <a:spcPts val="0"/>
              </a:spcAft>
            </a:pPr>
            <a:r>
              <a:rPr sz="930" b="0">
                <a:solidFill>
                  <a:srgbClr val="616161"/>
                </a:solidFill>
                <a:latin typeface="NVIDIA Sans"/>
              </a:rPr>
              <a:t>compile /</a:t>
            </a:r>
          </a:p>
          <a:p>
            <a:pPr algn="ctr">
              <a:lnSpc>
                <a:spcPts val="1078"/>
              </a:lnSpc>
              <a:spcBef>
                <a:spcPts val="0"/>
              </a:spcBef>
              <a:spcAft>
                <a:spcPts val="0"/>
              </a:spcAft>
            </a:pPr>
            <a:r>
              <a:rPr sz="930" b="0">
                <a:solidFill>
                  <a:srgbClr val="616161"/>
                </a:solidFill>
                <a:latin typeface="NVIDIA Sans"/>
              </a:rPr>
              <a:t>invoke</a:t>
            </a:r>
          </a:p>
        </p:txBody>
      </p:sp>
      <p:sp>
        <p:nvSpPr>
          <p:cNvPr id="16" name="GPU launch"/>
          <p:cNvSpPr txBox="1"/>
          <p:nvPr/>
        </p:nvSpPr>
        <p:spPr>
          <a:xfrm>
            <a:off x="5614416" y="1572768"/>
            <a:ext cx="841248" cy="256032"/>
          </a:xfrm>
          <a:prstGeom prst="rect">
            <a:avLst/>
          </a:prstGeom>
          <a:noFill/>
        </p:spPr>
        <p:txBody>
          <a:bodyPr wrap="none" anchor="t" lIns="0" rIns="0" tIns="0" bIns="0">
            <a:noAutofit/>
          </a:bodyPr>
          <a:lstStyle/>
          <a:p>
            <a:pPr algn="ctr">
              <a:lnSpc>
                <a:spcPts val="1078"/>
              </a:lnSpc>
              <a:spcBef>
                <a:spcPts val="0"/>
              </a:spcBef>
              <a:spcAft>
                <a:spcPts val="0"/>
              </a:spcAft>
            </a:pPr>
            <a:r>
              <a:rPr sz="930" b="0">
                <a:solidFill>
                  <a:srgbClr val="616161"/>
                </a:solidFill>
                <a:latin typeface="NVIDIA Sans"/>
              </a:rPr>
              <a:t>GPU launch</a:t>
            </a:r>
          </a:p>
        </p:txBody>
      </p:sp>
      <p:cxnSp>
        <p:nvCxnSpPr>
          <p:cNvPr id="17" name="Connector 16"/>
          <p:cNvCxnSpPr/>
          <p:nvPr/>
        </p:nvCxnSpPr>
        <p:spPr>
          <a:xfrm>
            <a:off x="4562856" y="2267712"/>
            <a:ext cx="0" cy="30175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618488" y="2569464"/>
            <a:ext cx="2944368"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618488" y="2295144"/>
            <a:ext cx="0" cy="27432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0" name="Python helpers run while tracing"/>
          <p:cNvSpPr txBox="1"/>
          <p:nvPr/>
        </p:nvSpPr>
        <p:spPr>
          <a:xfrm>
            <a:off x="1819656" y="2651760"/>
            <a:ext cx="3209544" cy="256032"/>
          </a:xfrm>
          <a:prstGeom prst="rect">
            <a:avLst/>
          </a:prstGeom>
          <a:noFill/>
        </p:spPr>
        <p:txBody>
          <a:bodyPr wrap="none" anchor="t" lIns="0" rIns="0" tIns="0" bIns="0">
            <a:noAutofit/>
          </a:bodyPr>
          <a:lstStyle/>
          <a:p>
            <a:pPr algn="ctr">
              <a:lnSpc>
                <a:spcPts val="1194"/>
              </a:lnSpc>
              <a:spcBef>
                <a:spcPts val="0"/>
              </a:spcBef>
              <a:spcAft>
                <a:spcPts val="0"/>
              </a:spcAft>
            </a:pPr>
            <a:r>
              <a:rPr sz="1030" b="0">
                <a:solidFill>
                  <a:srgbClr val="416600"/>
                </a:solidFill>
                <a:latin typeface="NVIDIA Sans"/>
              </a:rPr>
              <a:t>Python helpers run while tracing</a:t>
            </a:r>
          </a:p>
        </p:txBody>
      </p:sp>
      <p:sp>
        <p:nvSpPr>
          <p:cNvPr id="21" name="Host"/>
          <p:cNvSpPr txBox="1"/>
          <p:nvPr/>
        </p:nvSpPr>
        <p:spPr>
          <a:xfrm>
            <a:off x="566928" y="3255264"/>
            <a:ext cx="2514600" cy="347472"/>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Host</a:t>
            </a:r>
          </a:p>
        </p:txBody>
      </p:sp>
      <p:sp>
        <p:nvSpPr>
          <p:cNvPr id="22" name="Specialize · compile · call"/>
          <p:cNvSpPr txBox="1"/>
          <p:nvPr/>
        </p:nvSpPr>
        <p:spPr>
          <a:xfrm>
            <a:off x="566928" y="3657600"/>
            <a:ext cx="2514600" cy="493776"/>
          </a:xfrm>
          <a:prstGeom prst="rect">
            <a:avLst/>
          </a:prstGeom>
          <a:noFill/>
        </p:spPr>
        <p:txBody>
          <a:bodyPr wrap="none" anchor="t" lIns="0" rIns="0" tIns="0" bIns="0">
            <a:noAutofit/>
          </a:bodyPr>
          <a:lstStyle/>
          <a:p>
            <a:pPr algn="l">
              <a:lnSpc>
                <a:spcPts val="1310"/>
              </a:lnSpc>
              <a:spcBef>
                <a:spcPts val="0"/>
              </a:spcBef>
              <a:spcAft>
                <a:spcPts val="0"/>
              </a:spcAft>
            </a:pPr>
            <a:r>
              <a:rPr sz="1130" b="0">
                <a:solidFill>
                  <a:srgbClr val="616161"/>
                </a:solidFill>
                <a:latin typeface="NVIDIA Sans"/>
              </a:rPr>
              <a:t>Specialize · compile · call</a:t>
            </a:r>
          </a:p>
        </p:txBody>
      </p:sp>
      <p:sp>
        <p:nvSpPr>
          <p:cNvPr id="23" name="GPU"/>
          <p:cNvSpPr txBox="1"/>
          <p:nvPr/>
        </p:nvSpPr>
        <p:spPr>
          <a:xfrm>
            <a:off x="3502152" y="3255264"/>
            <a:ext cx="2514600" cy="347472"/>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GPU</a:t>
            </a:r>
          </a:p>
        </p:txBody>
      </p:sp>
      <p:sp>
        <p:nvSpPr>
          <p:cNvPr id="24" name="Build kernel + launch"/>
          <p:cNvSpPr txBox="1"/>
          <p:nvPr/>
        </p:nvSpPr>
        <p:spPr>
          <a:xfrm>
            <a:off x="3502152" y="3657600"/>
            <a:ext cx="2514600" cy="493776"/>
          </a:xfrm>
          <a:prstGeom prst="rect">
            <a:avLst/>
          </a:prstGeom>
          <a:noFill/>
        </p:spPr>
        <p:txBody>
          <a:bodyPr wrap="none" anchor="t" lIns="0" rIns="0" tIns="0" bIns="0">
            <a:noAutofit/>
          </a:bodyPr>
          <a:lstStyle/>
          <a:p>
            <a:pPr algn="l">
              <a:lnSpc>
                <a:spcPts val="1310"/>
              </a:lnSpc>
              <a:spcBef>
                <a:spcPts val="0"/>
              </a:spcBef>
              <a:spcAft>
                <a:spcPts val="0"/>
              </a:spcAft>
            </a:pPr>
            <a:r>
              <a:rPr sz="1130" b="0">
                <a:solidFill>
                  <a:srgbClr val="616161"/>
                </a:solidFill>
                <a:latin typeface="NVIDIA Sans"/>
              </a:rPr>
              <a:t>Build kernel + launch</a:t>
            </a:r>
          </a:p>
        </p:txBody>
      </p:sp>
      <p:sp>
        <p:nvSpPr>
          <p:cNvPr id="25" name="Direct launch"/>
          <p:cNvSpPr txBox="1"/>
          <p:nvPr/>
        </p:nvSpPr>
        <p:spPr>
          <a:xfrm>
            <a:off x="6437376" y="3255264"/>
            <a:ext cx="2514600" cy="347472"/>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Direct launch</a:t>
            </a:r>
          </a:p>
        </p:txBody>
      </p:sp>
      <p:sp>
        <p:nvSpPr>
          <p:cNvPr id="26" name="Python → @kernel / Target policy"/>
          <p:cNvSpPr txBox="1"/>
          <p:nvPr/>
        </p:nvSpPr>
        <p:spPr>
          <a:xfrm>
            <a:off x="6437376" y="3657600"/>
            <a:ext cx="2514600" cy="493776"/>
          </a:xfrm>
          <a:prstGeom prst="rect">
            <a:avLst/>
          </a:prstGeom>
          <a:noFill/>
        </p:spPr>
        <p:txBody>
          <a:bodyPr wrap="none" anchor="t" lIns="0" rIns="0" tIns="0" bIns="0">
            <a:noAutofit/>
          </a:bodyPr>
          <a:lstStyle/>
          <a:p>
            <a:pPr algn="l">
              <a:lnSpc>
                <a:spcPts val="1310"/>
              </a:lnSpc>
              <a:spcBef>
                <a:spcPts val="0"/>
              </a:spcBef>
              <a:spcAft>
                <a:spcPts val="0"/>
              </a:spcAft>
            </a:pPr>
            <a:r>
              <a:rPr sz="1130" b="0">
                <a:solidFill>
                  <a:srgbClr val="616161"/>
                </a:solidFill>
                <a:latin typeface="NVIDIA Sans"/>
              </a:rPr>
              <a:t>Python → @kernel</a:t>
            </a:r>
          </a:p>
          <a:p>
            <a:pPr algn="l">
              <a:lnSpc>
                <a:spcPts val="1310"/>
              </a:lnSpc>
              <a:spcBef>
                <a:spcPts val="0"/>
              </a:spcBef>
              <a:spcAft>
                <a:spcPts val="0"/>
              </a:spcAft>
            </a:pPr>
            <a:r>
              <a:rPr sz="1130" b="0">
                <a:solidFill>
                  <a:srgbClr val="616161"/>
                </a:solidFill>
                <a:latin typeface="NVIDIA Sans"/>
              </a:rPr>
              <a:t>Target policy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ypes: Python values → MLI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Types: Python values → MLIR</a:t>
            </a:r>
          </a:p>
        </p:txBody>
      </p:sp>
      <p:sp>
        <p:nvSpPr>
          <p:cNvPr id="5" name="1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15</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84632" y="1380744"/>
            <a:ext cx="1371600" cy="347472"/>
          </a:xfrm>
          <a:prstGeom prst="rect">
            <a:avLst/>
          </a:prstGeom>
          <a:solidFill>
            <a:srgbClr val="F7F7F7"/>
          </a:solidFill>
          <a:ln>
            <a:noFill/>
          </a:ln>
          <a:effectLst/>
        </p:spPr>
        <p:txBody>
          <a:bodyPr rtlCol="0" anchor="ctr"/>
          <a:lstStyle/>
          <a:p>
            <a:pPr algn="ctr"/>
          </a:p>
        </p:txBody>
      </p:sp>
      <p:sp>
        <p:nvSpPr>
          <p:cNvPr id="8" name="Bool · i1"/>
          <p:cNvSpPr txBox="1"/>
          <p:nvPr/>
        </p:nvSpPr>
        <p:spPr>
          <a:xfrm>
            <a:off x="548640" y="1463040"/>
            <a:ext cx="1243584" cy="210312"/>
          </a:xfrm>
          <a:prstGeom prst="rect">
            <a:avLst/>
          </a:prstGeom>
          <a:noFill/>
        </p:spPr>
        <p:txBody>
          <a:bodyPr wrap="none" anchor="t" lIns="0" rIns="0" tIns="0" bIns="0">
            <a:noAutofit/>
          </a:bodyPr>
          <a:lstStyle/>
          <a:p>
            <a:pPr algn="ctr">
              <a:lnSpc>
                <a:spcPts val="1322"/>
              </a:lnSpc>
              <a:spcBef>
                <a:spcPts val="0"/>
              </a:spcBef>
              <a:spcAft>
                <a:spcPts val="0"/>
              </a:spcAft>
            </a:pPr>
            <a:r>
              <a:rPr sz="1140" b="0">
                <a:solidFill>
                  <a:srgbClr val="616161"/>
                </a:solidFill>
                <a:latin typeface="NVIDIA Sans"/>
              </a:rPr>
              <a:t>Bool · i1</a:t>
            </a:r>
          </a:p>
        </p:txBody>
      </p:sp>
      <p:sp>
        <p:nvSpPr>
          <p:cNvPr id="9" name="Rectangle 8"/>
          <p:cNvSpPr/>
          <p:nvPr/>
        </p:nvSpPr>
        <p:spPr>
          <a:xfrm>
            <a:off x="2002536" y="1380744"/>
            <a:ext cx="2103120" cy="347472"/>
          </a:xfrm>
          <a:prstGeom prst="rect">
            <a:avLst/>
          </a:prstGeom>
          <a:solidFill>
            <a:srgbClr val="F7F7F7"/>
          </a:solidFill>
          <a:ln>
            <a:noFill/>
          </a:ln>
          <a:effectLst/>
        </p:spPr>
        <p:txBody>
          <a:bodyPr rtlCol="0" anchor="ctr"/>
          <a:lstStyle/>
          <a:p>
            <a:pPr algn="ctr"/>
          </a:p>
        </p:txBody>
      </p:sp>
      <p:sp>
        <p:nvSpPr>
          <p:cNvPr id="10" name="Int / Uint · 8–64"/>
          <p:cNvSpPr txBox="1"/>
          <p:nvPr/>
        </p:nvSpPr>
        <p:spPr>
          <a:xfrm>
            <a:off x="2066543" y="1463040"/>
            <a:ext cx="1975103" cy="210312"/>
          </a:xfrm>
          <a:prstGeom prst="rect">
            <a:avLst/>
          </a:prstGeom>
          <a:noFill/>
        </p:spPr>
        <p:txBody>
          <a:bodyPr wrap="none" anchor="t" lIns="0" rIns="0" tIns="0" bIns="0">
            <a:noAutofit/>
          </a:bodyPr>
          <a:lstStyle/>
          <a:p>
            <a:pPr algn="ctr">
              <a:lnSpc>
                <a:spcPts val="1322"/>
              </a:lnSpc>
              <a:spcBef>
                <a:spcPts val="0"/>
              </a:spcBef>
              <a:spcAft>
                <a:spcPts val="0"/>
              </a:spcAft>
            </a:pPr>
            <a:r>
              <a:rPr sz="1140" b="0">
                <a:solidFill>
                  <a:srgbClr val="616161"/>
                </a:solidFill>
                <a:latin typeface="NVIDIA Sans"/>
              </a:rPr>
              <a:t>Int / Uint · 8–64</a:t>
            </a:r>
          </a:p>
        </p:txBody>
      </p:sp>
      <p:sp>
        <p:nvSpPr>
          <p:cNvPr id="11" name="Rectangle 10"/>
          <p:cNvSpPr/>
          <p:nvPr/>
        </p:nvSpPr>
        <p:spPr>
          <a:xfrm>
            <a:off x="4251960" y="1380744"/>
            <a:ext cx="2286000" cy="347472"/>
          </a:xfrm>
          <a:prstGeom prst="rect">
            <a:avLst/>
          </a:prstGeom>
          <a:solidFill>
            <a:srgbClr val="F7F7F7"/>
          </a:solidFill>
          <a:ln>
            <a:noFill/>
          </a:ln>
          <a:effectLst/>
        </p:spPr>
        <p:txBody>
          <a:bodyPr rtlCol="0" anchor="ctr"/>
          <a:lstStyle/>
          <a:p>
            <a:pPr algn="ctr"/>
          </a:p>
        </p:txBody>
      </p:sp>
      <p:sp>
        <p:nvSpPr>
          <p:cNvPr id="12" name="FP64/32/16 · BF16"/>
          <p:cNvSpPr txBox="1"/>
          <p:nvPr/>
        </p:nvSpPr>
        <p:spPr>
          <a:xfrm>
            <a:off x="4315968" y="1463040"/>
            <a:ext cx="2157984" cy="210312"/>
          </a:xfrm>
          <a:prstGeom prst="rect">
            <a:avLst/>
          </a:prstGeom>
          <a:noFill/>
        </p:spPr>
        <p:txBody>
          <a:bodyPr wrap="none" anchor="t" lIns="0" rIns="0" tIns="0" bIns="0">
            <a:noAutofit/>
          </a:bodyPr>
          <a:lstStyle/>
          <a:p>
            <a:pPr algn="ctr">
              <a:lnSpc>
                <a:spcPts val="1322"/>
              </a:lnSpc>
              <a:spcBef>
                <a:spcPts val="0"/>
              </a:spcBef>
              <a:spcAft>
                <a:spcPts val="0"/>
              </a:spcAft>
            </a:pPr>
            <a:r>
              <a:rPr sz="1140" b="0">
                <a:solidFill>
                  <a:srgbClr val="616161"/>
                </a:solidFill>
                <a:latin typeface="NVIDIA Sans"/>
              </a:rPr>
              <a:t>FP64/32/16 · BF16</a:t>
            </a:r>
          </a:p>
        </p:txBody>
      </p:sp>
      <p:sp>
        <p:nvSpPr>
          <p:cNvPr id="13" name="Rectangle 12"/>
          <p:cNvSpPr/>
          <p:nvPr/>
        </p:nvSpPr>
        <p:spPr>
          <a:xfrm>
            <a:off x="6684264" y="1380744"/>
            <a:ext cx="1975104" cy="347472"/>
          </a:xfrm>
          <a:prstGeom prst="rect">
            <a:avLst/>
          </a:prstGeom>
          <a:solidFill>
            <a:srgbClr val="F7F7F7"/>
          </a:solidFill>
          <a:ln>
            <a:noFill/>
          </a:ln>
          <a:effectLst/>
        </p:spPr>
        <p:txBody>
          <a:bodyPr rtlCol="0" anchor="ctr"/>
          <a:lstStyle/>
          <a:p>
            <a:pPr algn="ctr"/>
          </a:p>
        </p:txBody>
      </p:sp>
      <p:sp>
        <p:nvSpPr>
          <p:cNvPr id="14" name="FP8/6/4 · TF32"/>
          <p:cNvSpPr txBox="1"/>
          <p:nvPr/>
        </p:nvSpPr>
        <p:spPr>
          <a:xfrm>
            <a:off x="6748272" y="1463040"/>
            <a:ext cx="1847088" cy="210312"/>
          </a:xfrm>
          <a:prstGeom prst="rect">
            <a:avLst/>
          </a:prstGeom>
          <a:noFill/>
        </p:spPr>
        <p:txBody>
          <a:bodyPr wrap="none" anchor="t" lIns="0" rIns="0" tIns="0" bIns="0">
            <a:noAutofit/>
          </a:bodyPr>
          <a:lstStyle/>
          <a:p>
            <a:pPr algn="ctr">
              <a:lnSpc>
                <a:spcPts val="1322"/>
              </a:lnSpc>
              <a:spcBef>
                <a:spcPts val="0"/>
              </a:spcBef>
              <a:spcAft>
                <a:spcPts val="0"/>
              </a:spcAft>
            </a:pPr>
            <a:r>
              <a:rPr sz="1140" b="0">
                <a:solidFill>
                  <a:srgbClr val="616161"/>
                </a:solidFill>
                <a:latin typeface="NVIDIA Sans"/>
              </a:rPr>
              <a:t>FP8/6/4 · TF32</a:t>
            </a:r>
          </a:p>
        </p:txBody>
      </p:sp>
      <p:sp>
        <p:nvSpPr>
          <p:cNvPr id="15" name="Python or SSA value"/>
          <p:cNvSpPr txBox="1"/>
          <p:nvPr/>
        </p:nvSpPr>
        <p:spPr>
          <a:xfrm>
            <a:off x="758952" y="1938528"/>
            <a:ext cx="1965960" cy="283464"/>
          </a:xfrm>
          <a:prstGeom prst="rect">
            <a:avLst/>
          </a:prstGeom>
          <a:noFill/>
        </p:spPr>
        <p:txBody>
          <a:bodyPr wrap="none" anchor="t" lIns="0" rIns="0" tIns="0" bIns="0">
            <a:noAutofit/>
          </a:bodyPr>
          <a:lstStyle/>
          <a:p>
            <a:pPr algn="ctr">
              <a:lnSpc>
                <a:spcPts val="1855"/>
              </a:lnSpc>
              <a:spcBef>
                <a:spcPts val="0"/>
              </a:spcBef>
              <a:spcAft>
                <a:spcPts val="0"/>
              </a:spcAft>
            </a:pPr>
            <a:r>
              <a:rPr sz="1600" b="0">
                <a:solidFill>
                  <a:srgbClr val="000000"/>
                </a:solidFill>
                <a:latin typeface="NVIDIA Sans"/>
              </a:rPr>
              <a:t>Python or SSA value</a:t>
            </a:r>
          </a:p>
        </p:txBody>
      </p:sp>
      <p:cxnSp>
        <p:nvCxnSpPr>
          <p:cNvPr id="16" name="Connector 15"/>
          <p:cNvCxnSpPr/>
          <p:nvPr/>
        </p:nvCxnSpPr>
        <p:spPr>
          <a:xfrm>
            <a:off x="2834640" y="2057400"/>
            <a:ext cx="58521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7" name="dtype + promotion"/>
          <p:cNvSpPr txBox="1"/>
          <p:nvPr/>
        </p:nvSpPr>
        <p:spPr>
          <a:xfrm>
            <a:off x="3593592" y="1938528"/>
            <a:ext cx="1965960" cy="283464"/>
          </a:xfrm>
          <a:prstGeom prst="rect">
            <a:avLst/>
          </a:prstGeom>
          <a:noFill/>
        </p:spPr>
        <p:txBody>
          <a:bodyPr wrap="none" anchor="t" lIns="0" rIns="0" tIns="0" bIns="0">
            <a:noAutofit/>
          </a:bodyPr>
          <a:lstStyle/>
          <a:p>
            <a:pPr algn="ctr">
              <a:lnSpc>
                <a:spcPts val="1855"/>
              </a:lnSpc>
              <a:spcBef>
                <a:spcPts val="0"/>
              </a:spcBef>
              <a:spcAft>
                <a:spcPts val="0"/>
              </a:spcAft>
            </a:pPr>
            <a:r>
              <a:rPr sz="1600" b="0">
                <a:solidFill>
                  <a:srgbClr val="416600"/>
                </a:solidFill>
                <a:latin typeface="NVIDIA Sans"/>
              </a:rPr>
              <a:t>dtype + promotion</a:t>
            </a:r>
          </a:p>
        </p:txBody>
      </p:sp>
      <p:cxnSp>
        <p:nvCxnSpPr>
          <p:cNvPr id="18" name="Connector 17"/>
          <p:cNvCxnSpPr/>
          <p:nvPr/>
        </p:nvCxnSpPr>
        <p:spPr>
          <a:xfrm>
            <a:off x="5669280" y="2057400"/>
            <a:ext cx="58521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9" name="arith operations"/>
          <p:cNvSpPr txBox="1"/>
          <p:nvPr/>
        </p:nvSpPr>
        <p:spPr>
          <a:xfrm>
            <a:off x="6428232" y="1938528"/>
            <a:ext cx="1965960" cy="283464"/>
          </a:xfrm>
          <a:prstGeom prst="rect">
            <a:avLst/>
          </a:prstGeom>
          <a:noFill/>
        </p:spPr>
        <p:txBody>
          <a:bodyPr wrap="none" anchor="t" lIns="0" rIns="0" tIns="0" bIns="0">
            <a:noAutofit/>
          </a:bodyPr>
          <a:lstStyle/>
          <a:p>
            <a:pPr algn="ctr">
              <a:lnSpc>
                <a:spcPts val="1855"/>
              </a:lnSpc>
              <a:spcBef>
                <a:spcPts val="0"/>
              </a:spcBef>
              <a:spcAft>
                <a:spcPts val="0"/>
              </a:spcAft>
            </a:pPr>
            <a:r>
              <a:rPr sz="1600" b="0">
                <a:solidFill>
                  <a:srgbClr val="416600"/>
                </a:solidFill>
                <a:latin typeface="NVIDIA Sans"/>
              </a:rPr>
              <a:t>arith operations</a:t>
            </a:r>
          </a:p>
        </p:txBody>
      </p:sp>
      <p:sp>
        <p:nvSpPr>
          <p:cNvPr id="20" name="Conversion"/>
          <p:cNvSpPr txBox="1"/>
          <p:nvPr/>
        </p:nvSpPr>
        <p:spPr>
          <a:xfrm>
            <a:off x="630936" y="2359152"/>
            <a:ext cx="1316736" cy="228600"/>
          </a:xfrm>
          <a:prstGeom prst="rect">
            <a:avLst/>
          </a:prstGeom>
          <a:noFill/>
        </p:spPr>
        <p:txBody>
          <a:bodyPr wrap="none" anchor="t" lIns="0" rIns="0" tIns="0" bIns="0">
            <a:noAutofit/>
          </a:bodyPr>
          <a:lstStyle/>
          <a:p>
            <a:pPr algn="l">
              <a:lnSpc>
                <a:spcPts val="1194"/>
              </a:lnSpc>
              <a:spcBef>
                <a:spcPts val="0"/>
              </a:spcBef>
              <a:spcAft>
                <a:spcPts val="0"/>
              </a:spcAft>
            </a:pPr>
            <a:r>
              <a:rPr sz="1030" b="1">
                <a:solidFill>
                  <a:srgbClr val="616161"/>
                </a:solidFill>
                <a:latin typeface="NVIDIA Sans"/>
              </a:rPr>
              <a:t>Conversion</a:t>
            </a:r>
          </a:p>
        </p:txBody>
      </p:sp>
      <p:sp>
        <p:nvSpPr>
          <p:cNvPr id="21" name="Python"/>
          <p:cNvSpPr txBox="1"/>
          <p:nvPr/>
        </p:nvSpPr>
        <p:spPr>
          <a:xfrm>
            <a:off x="2130552" y="2359152"/>
            <a:ext cx="3044952" cy="228600"/>
          </a:xfrm>
          <a:prstGeom prst="rect">
            <a:avLst/>
          </a:prstGeom>
          <a:noFill/>
        </p:spPr>
        <p:txBody>
          <a:bodyPr wrap="none" anchor="t" lIns="0" rIns="0" tIns="0" bIns="0">
            <a:noAutofit/>
          </a:bodyPr>
          <a:lstStyle/>
          <a:p>
            <a:pPr algn="l">
              <a:lnSpc>
                <a:spcPts val="1194"/>
              </a:lnSpc>
              <a:spcBef>
                <a:spcPts val="0"/>
              </a:spcBef>
              <a:spcAft>
                <a:spcPts val="0"/>
              </a:spcAft>
            </a:pPr>
            <a:r>
              <a:rPr sz="1030" b="1">
                <a:solidFill>
                  <a:srgbClr val="616161"/>
                </a:solidFill>
                <a:latin typeface="NVIDIA Sans"/>
              </a:rPr>
              <a:t>Python</a:t>
            </a:r>
          </a:p>
        </p:txBody>
      </p:sp>
      <p:sp>
        <p:nvSpPr>
          <p:cNvPr id="22" name="MLIR"/>
          <p:cNvSpPr txBox="1"/>
          <p:nvPr/>
        </p:nvSpPr>
        <p:spPr>
          <a:xfrm>
            <a:off x="5358384" y="2359152"/>
            <a:ext cx="3108960" cy="228600"/>
          </a:xfrm>
          <a:prstGeom prst="rect">
            <a:avLst/>
          </a:prstGeom>
          <a:noFill/>
        </p:spPr>
        <p:txBody>
          <a:bodyPr wrap="none" anchor="t" lIns="0" rIns="0" tIns="0" bIns="0">
            <a:noAutofit/>
          </a:bodyPr>
          <a:lstStyle/>
          <a:p>
            <a:pPr algn="l">
              <a:lnSpc>
                <a:spcPts val="1194"/>
              </a:lnSpc>
              <a:spcBef>
                <a:spcPts val="0"/>
              </a:spcBef>
              <a:spcAft>
                <a:spcPts val="0"/>
              </a:spcAft>
            </a:pPr>
            <a:r>
              <a:rPr sz="1030" b="1">
                <a:solidFill>
                  <a:srgbClr val="616161"/>
                </a:solidFill>
                <a:latin typeface="NVIDIA Sans"/>
              </a:rPr>
              <a:t>MLIR</a:t>
            </a:r>
          </a:p>
        </p:txBody>
      </p:sp>
      <p:sp>
        <p:nvSpPr>
          <p:cNvPr id="23" name="Rectangle 22"/>
          <p:cNvSpPr/>
          <p:nvPr/>
        </p:nvSpPr>
        <p:spPr>
          <a:xfrm>
            <a:off x="484632" y="2624328"/>
            <a:ext cx="8174736" cy="10972"/>
          </a:xfrm>
          <a:prstGeom prst="rect">
            <a:avLst/>
          </a:prstGeom>
          <a:solidFill>
            <a:srgbClr val="D5D5D5"/>
          </a:solidFill>
          <a:ln>
            <a:noFill/>
          </a:ln>
          <a:effectLst/>
        </p:spPr>
        <p:txBody>
          <a:bodyPr rtlCol="0" anchor="ctr"/>
          <a:lstStyle/>
          <a:p>
            <a:pPr algn="ctr"/>
          </a:p>
        </p:txBody>
      </p:sp>
      <p:sp>
        <p:nvSpPr>
          <p:cNvPr id="24" name="Capture"/>
          <p:cNvSpPr txBox="1"/>
          <p:nvPr/>
        </p:nvSpPr>
        <p:spPr>
          <a:xfrm>
            <a:off x="630936" y="2688336"/>
            <a:ext cx="1316736" cy="256032"/>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Capture</a:t>
            </a:r>
          </a:p>
        </p:txBody>
      </p:sp>
      <p:sp>
        <p:nvSpPr>
          <p:cNvPr id="25" name="m.Int32(7) → staged use"/>
          <p:cNvSpPr txBox="1"/>
          <p:nvPr/>
        </p:nvSpPr>
        <p:spPr>
          <a:xfrm>
            <a:off x="2130552" y="2688336"/>
            <a:ext cx="3044952"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m.Int32(7) → staged use</a:t>
            </a:r>
          </a:p>
        </p:txBody>
      </p:sp>
      <p:sp>
        <p:nvSpPr>
          <p:cNvPr id="26" name="arith.constant : i32"/>
          <p:cNvSpPr txBox="1"/>
          <p:nvPr/>
        </p:nvSpPr>
        <p:spPr>
          <a:xfrm>
            <a:off x="5358384" y="2688336"/>
            <a:ext cx="3108960"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arith.constant : i32</a:t>
            </a:r>
          </a:p>
        </p:txBody>
      </p:sp>
      <p:sp>
        <p:nvSpPr>
          <p:cNvPr id="27" name="Promote / upcast"/>
          <p:cNvSpPr txBox="1"/>
          <p:nvPr/>
        </p:nvSpPr>
        <p:spPr>
          <a:xfrm>
            <a:off x="630936" y="2955340"/>
            <a:ext cx="1316736" cy="256032"/>
          </a:xfrm>
          <a:prstGeom prst="rect">
            <a:avLst/>
          </a:prstGeom>
          <a:noFill/>
        </p:spPr>
        <p:txBody>
          <a:bodyPr wrap="none" anchor="t" lIns="0" rIns="0" tIns="0" bIns="0">
            <a:noAutofit/>
          </a:bodyPr>
          <a:lstStyle/>
          <a:p>
            <a:pPr algn="l">
              <a:lnSpc>
                <a:spcPts val="1421"/>
              </a:lnSpc>
              <a:spcBef>
                <a:spcPts val="0"/>
              </a:spcBef>
              <a:spcAft>
                <a:spcPts val="0"/>
              </a:spcAft>
            </a:pPr>
            <a:r>
              <a:rPr sz="1225" b="1">
                <a:solidFill>
                  <a:srgbClr val="416600"/>
                </a:solidFill>
                <a:latin typeface="NVIDIA Sans"/>
              </a:rPr>
              <a:t>Promote / upcast</a:t>
            </a:r>
          </a:p>
        </p:txBody>
      </p:sp>
      <p:sp>
        <p:nvSpPr>
          <p:cNvPr id="28" name="x32 + y64"/>
          <p:cNvSpPr txBox="1"/>
          <p:nvPr/>
        </p:nvSpPr>
        <p:spPr>
          <a:xfrm>
            <a:off x="2130552" y="2955340"/>
            <a:ext cx="3044952"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x32 + y64</a:t>
            </a:r>
          </a:p>
        </p:txBody>
      </p:sp>
      <p:sp>
        <p:nvSpPr>
          <p:cNvPr id="29" name="extsi → addi : i64"/>
          <p:cNvSpPr txBox="1"/>
          <p:nvPr/>
        </p:nvSpPr>
        <p:spPr>
          <a:xfrm>
            <a:off x="5358384" y="2955340"/>
            <a:ext cx="3108960"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extsi → addi : i64</a:t>
            </a:r>
          </a:p>
        </p:txBody>
      </p:sp>
      <p:sp>
        <p:nvSpPr>
          <p:cNvPr id="30" name="Downcast"/>
          <p:cNvSpPr txBox="1"/>
          <p:nvPr/>
        </p:nvSpPr>
        <p:spPr>
          <a:xfrm>
            <a:off x="630936" y="3222345"/>
            <a:ext cx="1316736" cy="256032"/>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Downcast</a:t>
            </a:r>
          </a:p>
        </p:txBody>
      </p:sp>
      <p:sp>
        <p:nvSpPr>
          <p:cNvPr id="31" name="y64.to(m.Int32)"/>
          <p:cNvSpPr txBox="1"/>
          <p:nvPr/>
        </p:nvSpPr>
        <p:spPr>
          <a:xfrm>
            <a:off x="2130552" y="3222345"/>
            <a:ext cx="3044952"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y64.to(m.Int32)</a:t>
            </a:r>
          </a:p>
        </p:txBody>
      </p:sp>
      <p:sp>
        <p:nvSpPr>
          <p:cNvPr id="32" name="arith.trunci"/>
          <p:cNvSpPr txBox="1"/>
          <p:nvPr/>
        </p:nvSpPr>
        <p:spPr>
          <a:xfrm>
            <a:off x="5358384" y="3222345"/>
            <a:ext cx="3108960"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arith.trunci</a:t>
            </a:r>
          </a:p>
        </p:txBody>
      </p:sp>
      <p:sp>
        <p:nvSpPr>
          <p:cNvPr id="33" name="Int → float"/>
          <p:cNvSpPr txBox="1"/>
          <p:nvPr/>
        </p:nvSpPr>
        <p:spPr>
          <a:xfrm>
            <a:off x="630936" y="3489350"/>
            <a:ext cx="1316736" cy="256032"/>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Int → float</a:t>
            </a:r>
          </a:p>
        </p:txBody>
      </p:sp>
      <p:sp>
        <p:nvSpPr>
          <p:cNvPr id="34" name="x32.to(m.Float32)"/>
          <p:cNvSpPr txBox="1"/>
          <p:nvPr/>
        </p:nvSpPr>
        <p:spPr>
          <a:xfrm>
            <a:off x="2130552" y="3489350"/>
            <a:ext cx="3044952"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x32.to(m.Float32)</a:t>
            </a:r>
          </a:p>
        </p:txBody>
      </p:sp>
      <p:sp>
        <p:nvSpPr>
          <p:cNvPr id="35" name="arith.sitofp"/>
          <p:cNvSpPr txBox="1"/>
          <p:nvPr/>
        </p:nvSpPr>
        <p:spPr>
          <a:xfrm>
            <a:off x="5358384" y="3489350"/>
            <a:ext cx="3108960"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arith.sitofp</a:t>
            </a:r>
          </a:p>
        </p:txBody>
      </p:sp>
      <p:sp>
        <p:nvSpPr>
          <p:cNvPr id="36" name="Float → int"/>
          <p:cNvSpPr txBox="1"/>
          <p:nvPr/>
        </p:nvSpPr>
        <p:spPr>
          <a:xfrm>
            <a:off x="630936" y="3756355"/>
            <a:ext cx="1316736" cy="256032"/>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Float → int</a:t>
            </a:r>
          </a:p>
        </p:txBody>
      </p:sp>
      <p:sp>
        <p:nvSpPr>
          <p:cNvPr id="37" name="f32.to(m.Int32)"/>
          <p:cNvSpPr txBox="1"/>
          <p:nvPr/>
        </p:nvSpPr>
        <p:spPr>
          <a:xfrm>
            <a:off x="2130552" y="3756355"/>
            <a:ext cx="3044952"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f32.to(m.Int32)</a:t>
            </a:r>
          </a:p>
        </p:txBody>
      </p:sp>
      <p:sp>
        <p:nvSpPr>
          <p:cNvPr id="38" name="arith.fptosi"/>
          <p:cNvSpPr txBox="1"/>
          <p:nvPr/>
        </p:nvSpPr>
        <p:spPr>
          <a:xfrm>
            <a:off x="5358384" y="3756355"/>
            <a:ext cx="3108960"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arith.fptosi</a:t>
            </a:r>
          </a:p>
        </p:txBody>
      </p:sp>
      <p:sp>
        <p:nvSpPr>
          <p:cNvPr id="39" name="Error"/>
          <p:cNvSpPr txBox="1"/>
          <p:nvPr/>
        </p:nvSpPr>
        <p:spPr>
          <a:xfrm>
            <a:off x="630936" y="4023360"/>
            <a:ext cx="1316736" cy="256032"/>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Error</a:t>
            </a:r>
          </a:p>
        </p:txBody>
      </p:sp>
      <p:sp>
        <p:nvSpPr>
          <p:cNvPr id="40" name="x32.to(int)"/>
          <p:cNvSpPr txBox="1"/>
          <p:nvPr/>
        </p:nvSpPr>
        <p:spPr>
          <a:xfrm>
            <a:off x="2130552" y="4023360"/>
            <a:ext cx="3044952"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x32.to(int)</a:t>
            </a:r>
          </a:p>
        </p:txBody>
      </p:sp>
      <p:sp>
        <p:nvSpPr>
          <p:cNvPr id="41" name="Runtime ≠ Python value"/>
          <p:cNvSpPr txBox="1"/>
          <p:nvPr/>
        </p:nvSpPr>
        <p:spPr>
          <a:xfrm>
            <a:off x="5358384" y="4023360"/>
            <a:ext cx="3108960"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Runtime ≠ Python value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Beyond scalar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Beyond scalars</a:t>
            </a:r>
          </a:p>
        </p:txBody>
      </p:sp>
      <p:sp>
        <p:nvSpPr>
          <p:cNvPr id="5" name="1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16</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Extend with mydialect.Tensor."/>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Extend with mydialect.Tensor.</a:t>
            </a:r>
          </a:p>
        </p:txBody>
      </p:sp>
      <p:sp>
        <p:nvSpPr>
          <p:cNvPr id="8" name="Rectangle 7"/>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9" name="Value"/>
          <p:cNvSpPr txBox="1"/>
          <p:nvPr/>
        </p:nvSpPr>
        <p:spPr>
          <a:xfrm>
            <a:off x="576072" y="1618488"/>
            <a:ext cx="25054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Value</a:t>
            </a:r>
          </a:p>
        </p:txBody>
      </p:sp>
      <p:sp>
        <p:nvSpPr>
          <p:cNvPr id="10" name="Building blocks"/>
          <p:cNvSpPr txBox="1"/>
          <p:nvPr/>
        </p:nvSpPr>
        <p:spPr>
          <a:xfrm>
            <a:off x="3355848" y="1618488"/>
            <a:ext cx="521208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Building blocks</a:t>
            </a:r>
          </a:p>
        </p:txBody>
      </p:sp>
      <p:sp>
        <p:nvSpPr>
          <p:cNvPr id="11" name="Rectangle 10"/>
          <p:cNvSpPr/>
          <p:nvPr/>
        </p:nvSpPr>
        <p:spPr>
          <a:xfrm>
            <a:off x="438912" y="1956816"/>
            <a:ext cx="8266175" cy="427939"/>
          </a:xfrm>
          <a:prstGeom prst="rect">
            <a:avLst/>
          </a:prstGeom>
          <a:solidFill>
            <a:srgbClr val="F7F7F7"/>
          </a:solidFill>
          <a:ln>
            <a:noFill/>
          </a:ln>
          <a:effectLst/>
        </p:spPr>
        <p:txBody>
          <a:bodyPr rtlCol="0" anchor="ctr"/>
          <a:lstStyle/>
          <a:p>
            <a:pPr algn="ctr"/>
          </a:p>
        </p:txBody>
      </p:sp>
      <p:sp>
        <p:nvSpPr>
          <p:cNvPr id="12" name="Numeric"/>
          <p:cNvSpPr txBox="1"/>
          <p:nvPr/>
        </p:nvSpPr>
        <p:spPr>
          <a:xfrm>
            <a:off x="576072" y="2075688"/>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Numeric</a:t>
            </a:r>
          </a:p>
        </p:txBody>
      </p:sp>
      <p:sp>
        <p:nvSpPr>
          <p:cNvPr id="13" name="Promotion · cast · dtype · align"/>
          <p:cNvSpPr txBox="1"/>
          <p:nvPr/>
        </p:nvSpPr>
        <p:spPr>
          <a:xfrm>
            <a:off x="3355848" y="2075688"/>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Promotion · cast · dtype · align</a:t>
            </a:r>
          </a:p>
        </p:txBody>
      </p:sp>
      <p:sp>
        <p:nvSpPr>
          <p:cNvPr id="14" name="Rectangle 13"/>
          <p:cNvSpPr/>
          <p:nvPr/>
        </p:nvSpPr>
        <p:spPr>
          <a:xfrm>
            <a:off x="438912" y="2384755"/>
            <a:ext cx="8266175" cy="427939"/>
          </a:xfrm>
          <a:prstGeom prst="rect">
            <a:avLst/>
          </a:prstGeom>
          <a:solidFill>
            <a:srgbClr val="FFFFFF"/>
          </a:solidFill>
          <a:ln>
            <a:noFill/>
          </a:ln>
          <a:effectLst/>
        </p:spPr>
        <p:txBody>
          <a:bodyPr rtlCol="0" anchor="ctr"/>
          <a:lstStyle/>
          <a:p>
            <a:pPr algn="ctr"/>
          </a:p>
        </p:txBody>
      </p:sp>
      <p:sp>
        <p:nvSpPr>
          <p:cNvPr id="15" name="Pointer"/>
          <p:cNvSpPr txBox="1"/>
          <p:nvPr/>
        </p:nvSpPr>
        <p:spPr>
          <a:xfrm>
            <a:off x="576072" y="2503627"/>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Pointer</a:t>
            </a:r>
          </a:p>
        </p:txBody>
      </p:sp>
      <p:sp>
        <p:nvSpPr>
          <p:cNvPr id="16" name="Load / store · GEP · address space"/>
          <p:cNvSpPr txBox="1"/>
          <p:nvPr/>
        </p:nvSpPr>
        <p:spPr>
          <a:xfrm>
            <a:off x="3355848" y="2503627"/>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Load / store · GEP · address space</a:t>
            </a:r>
          </a:p>
        </p:txBody>
      </p:sp>
      <p:sp>
        <p:nvSpPr>
          <p:cNvPr id="17" name="Rectangle 16"/>
          <p:cNvSpPr/>
          <p:nvPr/>
        </p:nvSpPr>
        <p:spPr>
          <a:xfrm>
            <a:off x="438912" y="2812694"/>
            <a:ext cx="8266175" cy="427939"/>
          </a:xfrm>
          <a:prstGeom prst="rect">
            <a:avLst/>
          </a:prstGeom>
          <a:solidFill>
            <a:srgbClr val="F7F7F7"/>
          </a:solidFill>
          <a:ln>
            <a:noFill/>
          </a:ln>
          <a:effectLst/>
        </p:spPr>
        <p:txBody>
          <a:bodyPr rtlCol="0" anchor="ctr"/>
          <a:lstStyle/>
          <a:p>
            <a:pPr algn="ctr"/>
          </a:p>
        </p:txBody>
      </p:sp>
      <p:sp>
        <p:nvSpPr>
          <p:cNvPr id="18" name="Struct / frozen record"/>
          <p:cNvSpPr txBox="1"/>
          <p:nvPr/>
        </p:nvSpPr>
        <p:spPr>
          <a:xfrm>
            <a:off x="576072" y="2931566"/>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Struct / frozen record</a:t>
            </a:r>
          </a:p>
        </p:txBody>
      </p:sp>
      <p:sp>
        <p:nvSpPr>
          <p:cNvPr id="19" name="Immutable fields"/>
          <p:cNvSpPr txBox="1"/>
          <p:nvPr/>
        </p:nvSpPr>
        <p:spPr>
          <a:xfrm>
            <a:off x="3355848" y="2931566"/>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Immutable fields</a:t>
            </a:r>
          </a:p>
        </p:txBody>
      </p:sp>
      <p:sp>
        <p:nvSpPr>
          <p:cNvPr id="20" name="Rectangle 19"/>
          <p:cNvSpPr/>
          <p:nvPr/>
        </p:nvSpPr>
        <p:spPr>
          <a:xfrm>
            <a:off x="438912" y="3240633"/>
            <a:ext cx="8266175" cy="427939"/>
          </a:xfrm>
          <a:prstGeom prst="rect">
            <a:avLst/>
          </a:prstGeom>
          <a:solidFill>
            <a:srgbClr val="FFFFFF"/>
          </a:solidFill>
          <a:ln>
            <a:noFill/>
          </a:ln>
          <a:effectLst/>
        </p:spPr>
        <p:txBody>
          <a:bodyPr rtlCol="0" anchor="ctr"/>
          <a:lstStyle/>
          <a:p>
            <a:pPr algn="ctr"/>
          </a:p>
        </p:txBody>
      </p:sp>
      <p:sp>
        <p:nvSpPr>
          <p:cNvPr id="21" name="Vector"/>
          <p:cNvSpPr txBox="1"/>
          <p:nvPr/>
        </p:nvSpPr>
        <p:spPr>
          <a:xfrm>
            <a:off x="576072" y="3359505"/>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Vector</a:t>
            </a:r>
          </a:p>
        </p:txBody>
      </p:sp>
      <p:sp>
        <p:nvSpPr>
          <p:cNvPr id="22" name="Splat · sum · lanes"/>
          <p:cNvSpPr txBox="1"/>
          <p:nvPr/>
        </p:nvSpPr>
        <p:spPr>
          <a:xfrm>
            <a:off x="3355848" y="3359505"/>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Splat · sum · lanes</a:t>
            </a:r>
          </a:p>
        </p:txBody>
      </p:sp>
      <p:sp>
        <p:nvSpPr>
          <p:cNvPr id="23" name="Rectangle 22"/>
          <p:cNvSpPr/>
          <p:nvPr/>
        </p:nvSpPr>
        <p:spPr>
          <a:xfrm>
            <a:off x="438912" y="3668572"/>
            <a:ext cx="8266175" cy="427939"/>
          </a:xfrm>
          <a:prstGeom prst="rect">
            <a:avLst/>
          </a:prstGeom>
          <a:solidFill>
            <a:srgbClr val="F7F7F7"/>
          </a:solidFill>
          <a:ln>
            <a:noFill/>
          </a:ln>
          <a:effectLst/>
        </p:spPr>
        <p:txBody>
          <a:bodyPr rtlCol="0" anchor="ctr"/>
          <a:lstStyle/>
          <a:p>
            <a:pPr algn="ctr"/>
          </a:p>
        </p:txBody>
      </p:sp>
      <p:sp>
        <p:nvSpPr>
          <p:cNvPr id="24" name="Interop + math"/>
          <p:cNvSpPr txBox="1"/>
          <p:nvPr/>
        </p:nvSpPr>
        <p:spPr>
          <a:xfrm>
            <a:off x="576072" y="3787444"/>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Interop + math</a:t>
            </a:r>
          </a:p>
        </p:txBody>
      </p:sp>
      <p:sp>
        <p:nvSpPr>
          <p:cNvPr id="25" name="Torch dtypes · math helpers"/>
          <p:cNvSpPr txBox="1"/>
          <p:nvPr/>
        </p:nvSpPr>
        <p:spPr>
          <a:xfrm>
            <a:off x="3355848" y="3787444"/>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Torch dtypes · math helpers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Local type inferenc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Local type inference</a:t>
            </a:r>
          </a:p>
        </p:txBody>
      </p:sp>
      <p:sp>
        <p:nvSpPr>
          <p:cNvPr id="5" name="17"/>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17</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Annotations + local inference"/>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Annotations + local inference</a:t>
            </a:r>
          </a:p>
        </p:txBody>
      </p:sp>
      <p:sp>
        <p:nvSpPr>
          <p:cNvPr id="10" name="@m.jit"/>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a:t>
            </a:r>
          </a:p>
        </p:txBody>
      </p:sp>
      <p:sp>
        <p:nvSpPr>
          <p:cNvPr id="11" name="def affine(x: m.Int32, factor):"/>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affine(x: m.Int32, factor):</a:t>
            </a:r>
          </a:p>
        </p:txBody>
      </p:sp>
      <p:sp>
        <p:nvSpPr>
          <p:cNvPr id="12" name="    return x * factor + 1"/>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x * factor + 1</a:t>
            </a:r>
          </a:p>
        </p:txBody>
      </p:sp>
      <p:sp>
        <p:nvSpPr>
          <p:cNvPr id="13" name=""/>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4" name="affine(4, 3)"/>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affine(4, 3)</a:t>
            </a:r>
          </a:p>
        </p:txBody>
      </p:sp>
      <p:sp>
        <p:nvSpPr>
          <p:cNvPr id="15" name=""/>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6" name="# x       -&gt; runtime i32"/>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x       -&gt; runtime i32</a:t>
            </a:r>
          </a:p>
        </p:txBody>
      </p:sp>
      <p:sp>
        <p:nvSpPr>
          <p:cNvPr id="17" name="# factor  -&gt; known Python int"/>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factor  -&gt; known Python int</a:t>
            </a:r>
          </a:p>
        </p:txBody>
      </p:sp>
      <p:sp>
        <p:nvSpPr>
          <p:cNvPr id="18" name="# result  -&gt; i32"/>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result  -&gt; i32</a:t>
            </a:r>
          </a:p>
        </p:txBody>
      </p:sp>
      <p:sp>
        <p:nvSpPr>
          <p:cNvPr id="19" name="Boundary"/>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Boundary</a:t>
            </a:r>
          </a:p>
        </p:txBody>
      </p:sp>
      <p:sp>
        <p:nvSpPr>
          <p:cNvPr id="20" name="Annotation → runtime type"/>
          <p:cNvSpPr txBox="1"/>
          <p:nvPr/>
        </p:nvSpPr>
        <p:spPr>
          <a:xfrm>
            <a:off x="5916168" y="1984248"/>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Annotation → runtime type</a:t>
            </a:r>
          </a:p>
        </p:txBody>
      </p:sp>
      <p:sp>
        <p:nvSpPr>
          <p:cNvPr id="21" name="Operator"/>
          <p:cNvSpPr txBox="1"/>
          <p:nvPr/>
        </p:nvSpPr>
        <p:spPr>
          <a:xfrm>
            <a:off x="5916168" y="2410968"/>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Operator</a:t>
            </a:r>
          </a:p>
        </p:txBody>
      </p:sp>
      <p:sp>
        <p:nvSpPr>
          <p:cNvPr id="22" name="Promote → emit → wrap"/>
          <p:cNvSpPr txBox="1"/>
          <p:nvPr/>
        </p:nvSpPr>
        <p:spPr>
          <a:xfrm>
            <a:off x="5916168" y="2849880"/>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Promote → emit → wrap</a:t>
            </a:r>
          </a:p>
        </p:txBody>
      </p:sp>
      <p:sp>
        <p:nvSpPr>
          <p:cNvPr id="23" name="Join"/>
          <p:cNvSpPr txBox="1"/>
          <p:nvPr/>
        </p:nvSpPr>
        <p:spPr>
          <a:xfrm>
            <a:off x="5916168" y="3276599"/>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Join</a:t>
            </a:r>
          </a:p>
        </p:txBody>
      </p:sp>
      <p:sp>
        <p:nvSpPr>
          <p:cNvPr id="24" name="Same structure + types"/>
          <p:cNvSpPr txBox="1"/>
          <p:nvPr/>
        </p:nvSpPr>
        <p:spPr>
          <a:xfrm>
            <a:off x="5916168" y="3715511"/>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Same structure + types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Your arithmetic, your dialect"/>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Your arithmetic, your dialect</a:t>
            </a:r>
          </a:p>
        </p:txBody>
      </p:sp>
      <p:sp>
        <p:nvSpPr>
          <p:cNvPr id="5" name="18"/>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18</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9" name="Value wrapper · sketch"/>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Value wrapper · sketch</a:t>
            </a:r>
          </a:p>
        </p:txBody>
      </p:sp>
      <p:sp>
        <p:nvSpPr>
          <p:cNvPr id="10" name="class MyNumber:"/>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class MyNumber:</a:t>
            </a:r>
          </a:p>
        </p:txBody>
      </p:sp>
      <p:sp>
        <p:nvSpPr>
          <p:cNvPr id="11" name="    def __init__(self, value):"/>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__init__(self, value):</a:t>
            </a:r>
          </a:p>
        </p:txBody>
      </p:sp>
      <p:sp>
        <p:nvSpPr>
          <p:cNvPr id="12" name="        self.value = value"/>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self.value = value</a:t>
            </a:r>
          </a:p>
        </p:txBody>
      </p:sp>
      <p:sp>
        <p:nvSpPr>
          <p:cNvPr id="13" name="    def __add__(self, rhs):"/>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__add__(self, rhs):</a:t>
            </a:r>
          </a:p>
        </p:txBody>
      </p:sp>
      <p:sp>
        <p:nvSpPr>
          <p:cNvPr id="14" name="        op = myarith.AddOp("/>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op = myarith.AddOp(</a:t>
            </a:r>
          </a:p>
        </p:txBody>
      </p:sp>
      <p:sp>
        <p:nvSpPr>
          <p:cNvPr id="15" name="            self.value, rhs.value)"/>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self.value, rhs.value)</a:t>
            </a:r>
          </a:p>
        </p:txBody>
      </p:sp>
      <p:sp>
        <p:nvSpPr>
          <p:cNvPr id="16" name="        return MyNumber(op.result)"/>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MyNumber(op.result)</a:t>
            </a:r>
          </a:p>
        </p:txBody>
      </p:sp>
      <p:sp>
        <p:nvSpPr>
          <p:cNvPr id="17" name="Rectangle 16"/>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8" name="Rectangle 17"/>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19" name="Dialect plugin · sketch"/>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Dialect plugin · sketch</a:t>
            </a:r>
          </a:p>
        </p:txBody>
      </p:sp>
      <p:sp>
        <p:nvSpPr>
          <p:cNvPr id="20" name="class MyArithPlugin(m.DialectPlugin):"/>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class MyArithPlugin(m.DialectPlugin):</a:t>
            </a:r>
          </a:p>
        </p:txBody>
      </p:sp>
      <p:sp>
        <p:nvSpPr>
          <p:cNvPr id="21" name="    def register_dialects(self, context):"/>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register_dialects(self, context):</a:t>
            </a:r>
          </a:p>
        </p:txBody>
      </p:sp>
      <p:sp>
        <p:nvSpPr>
          <p:cNvPr id="22" name="        myarith.register_dialect(context)"/>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myarith.register_dialect(context)</a:t>
            </a:r>
          </a:p>
        </p:txBody>
      </p:sp>
      <p:sp>
        <p:nvSpPr>
          <p:cNvPr id="23" name="    def pipeline_passes(self):"/>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pipeline_passes(self):</a:t>
            </a:r>
          </a:p>
        </p:txBody>
      </p:sp>
      <p:sp>
        <p:nvSpPr>
          <p:cNvPr id="24" name="        return [&quot;convert-myarith-to-llvm&quot;]"/>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["convert-myarith-to-llvm"]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dd mydialect.Tenso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Add mydialect.Tensor</a:t>
            </a:r>
          </a:p>
        </p:txBody>
      </p:sp>
      <p:sp>
        <p:nvSpPr>
          <p:cNvPr id="5" name="19"/>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19</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Register a Tensor leaf"/>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Register a Tensor leaf</a:t>
            </a:r>
          </a:p>
        </p:txBody>
      </p:sp>
      <p:sp>
        <p:nvSpPr>
          <p:cNvPr id="10" name="class Tensor:"/>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Tensor:</a:t>
            </a:r>
          </a:p>
        </p:txBody>
      </p:sp>
      <p:sp>
        <p:nvSpPr>
          <p:cNvPr id="11" name="    def __init__(self, value):"/>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def __init__(self, value):</a:t>
            </a:r>
          </a:p>
        </p:txBody>
      </p:sp>
      <p:sp>
        <p:nvSpPr>
          <p:cNvPr id="12" name="        self.value = value"/>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self.value = value</a:t>
            </a:r>
          </a:p>
        </p:txBody>
      </p:sp>
      <p:sp>
        <p:nvSpPr>
          <p:cNvPr id="13" name=""/>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4" name="m.register_leaf("/>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m.register_leaf(</a:t>
            </a:r>
          </a:p>
        </p:txBody>
      </p:sp>
      <p:sp>
        <p:nvSpPr>
          <p:cNvPr id="15" name="    Tensor,"/>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Tensor,</a:t>
            </a:r>
          </a:p>
        </p:txBody>
      </p:sp>
      <p:sp>
        <p:nvSpPr>
          <p:cNvPr id="16" name="    ir_types=lambda t: [t.value.type],"/>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ir_types=lambda t: [t.value.type],</a:t>
            </a:r>
          </a:p>
        </p:txBody>
      </p:sp>
      <p:sp>
        <p:nvSpPr>
          <p:cNvPr id="17" name="    ir_values=lambda t: [t.value],"/>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ir_values=lambda t: [t.value],</a:t>
            </a:r>
          </a:p>
        </p:txBody>
      </p:sp>
      <p:sp>
        <p:nvSpPr>
          <p:cNvPr id="18" name="    from_ir_values=lambda old, values:"/>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from_ir_values=lambda old, values:</a:t>
            </a:r>
          </a:p>
        </p:txBody>
      </p:sp>
      <p:sp>
        <p:nvSpPr>
          <p:cNvPr id="19" name="        Tensor(values[0]))"/>
          <p:cNvSpPr txBox="1"/>
          <p:nvPr/>
        </p:nvSpPr>
        <p:spPr>
          <a:xfrm>
            <a:off x="594360" y="369051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Tensor(values[0]))</a:t>
            </a:r>
          </a:p>
        </p:txBody>
      </p:sp>
      <p:sp>
        <p:nvSpPr>
          <p:cNvPr id="20" name="Value protocol"/>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Value protocol</a:t>
            </a:r>
          </a:p>
        </p:txBody>
      </p:sp>
      <p:sp>
        <p:nvSpPr>
          <p:cNvPr id="21" name="Flatten / rebuild"/>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Flatten / rebuild</a:t>
            </a:r>
          </a:p>
        </p:txBody>
      </p:sp>
      <p:sp>
        <p:nvSpPr>
          <p:cNvPr id="22" name="Runtime boundary"/>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Runtime boundary</a:t>
            </a:r>
          </a:p>
        </p:txBody>
      </p:sp>
      <p:sp>
        <p:nvSpPr>
          <p:cNvPr id="23" name="Argument adapter"/>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Argument adapter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Python values specialize the program"/>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Python values specialize the program</a:t>
            </a:r>
          </a:p>
        </p:txBody>
      </p:sp>
      <p:sp>
        <p:nvSpPr>
          <p:cNvPr id="5" name="20"/>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20</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scale, bias: Meta · x: Staged"/>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scale, bias: Meta · x: Staged</a:t>
            </a:r>
          </a:p>
        </p:txBody>
      </p:sp>
      <p:sp>
        <p:nvSpPr>
          <p:cNvPr id="8" name="Rectangle 7"/>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9" name="Rectangle 8"/>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10" name="Python"/>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a:t>
            </a:r>
          </a:p>
        </p:txBody>
      </p:sp>
      <p:sp>
        <p:nvSpPr>
          <p:cNvPr id="11" name="@m.jit"/>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12" name="def affine(x: m.Int32, scale, bias):"/>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affine(x: m.Int32, scale, bias):</a:t>
            </a:r>
          </a:p>
        </p:txBody>
      </p:sp>
      <p:sp>
        <p:nvSpPr>
          <p:cNvPr id="13" name="    return x * scale + bias"/>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x * scale + bias</a:t>
            </a:r>
          </a:p>
        </p:txBody>
      </p:sp>
      <p:sp>
        <p:nvSpPr>
          <p:cNvPr id="14" name=""/>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5" name="affine(7, 3, 4)  # 25"/>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affine(7, 3, 4)  # 25</a:t>
            </a:r>
          </a:p>
        </p:txBody>
      </p:sp>
      <p:sp>
        <p:nvSpPr>
          <p:cNvPr id="16" name="Rectangle 15"/>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7" name="Rectangle 16"/>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18" name="Generated MLIR"/>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Generated MLIR</a:t>
            </a:r>
          </a:p>
        </p:txBody>
      </p:sp>
      <p:sp>
        <p:nvSpPr>
          <p:cNvPr id="19" name="%c3 = arith.constant 3 : i32"/>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%c3 = arith.constant 3 : i32</a:t>
            </a:r>
          </a:p>
        </p:txBody>
      </p:sp>
      <p:sp>
        <p:nvSpPr>
          <p:cNvPr id="20" name="%c4 = arith.constant 4 : i32"/>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%c4 = arith.constant 4 : i32</a:t>
            </a:r>
          </a:p>
        </p:txBody>
      </p:sp>
      <p:sp>
        <p:nvSpPr>
          <p:cNvPr id="21" name="%a = arith.muli %x, %c3 : i32"/>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 = arith.muli %x, %c3 : i32</a:t>
            </a:r>
          </a:p>
        </p:txBody>
      </p:sp>
      <p:sp>
        <p:nvSpPr>
          <p:cNvPr id="22" name="%r = arith.addi %a, %c4 : i32"/>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%r = arith.addi %a, %c4 : i32</a:t>
            </a:r>
          </a:p>
        </p:txBody>
      </p:sp>
      <p:sp>
        <p:nvSpPr>
          <p:cNvPr id="23" name="llvm.return %r : i32"/>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llvm.return %r : i32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Objects + dictionaries → arithmetic"/>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Objects + dictionaries → arithmetic</a:t>
            </a:r>
          </a:p>
        </p:txBody>
      </p:sp>
      <p:sp>
        <p:nvSpPr>
          <p:cNvPr id="5" name="2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21</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No runtime dictionary or virtual dispatch."/>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No runtime dictionary or virtual dispatch.</a:t>
            </a:r>
          </a:p>
        </p:txBody>
      </p:sp>
      <p:sp>
        <p:nvSpPr>
          <p:cNvPr id="8" name="Rectangle 7"/>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9" name="Rectangle 8"/>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10" name="Python polymorphism"/>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 polymorphism</a:t>
            </a:r>
          </a:p>
        </p:txBody>
      </p:sp>
      <p:sp>
        <p:nvSpPr>
          <p:cNvPr id="11" name="class Op:"/>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class Op:</a:t>
            </a:r>
          </a:p>
        </p:txBody>
      </p:sp>
      <p:sp>
        <p:nvSpPr>
          <p:cNvPr id="12" name="    def apply(self, x):"/>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apply(self, x):</a:t>
            </a:r>
          </a:p>
        </p:txBody>
      </p:sp>
      <p:sp>
        <p:nvSpPr>
          <p:cNvPr id="13" name="        raise NotImplementedError"/>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raise NotImplementedError</a:t>
            </a:r>
          </a:p>
        </p:txBody>
      </p:sp>
      <p:sp>
        <p:nvSpPr>
          <p:cNvPr id="14" name=""/>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5" name="class AddN(Op):"/>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class AddN(Op):</a:t>
            </a:r>
          </a:p>
        </p:txBody>
      </p:sp>
      <p:sp>
        <p:nvSpPr>
          <p:cNvPr id="16" name="    def __init__(self, n): self.n = n"/>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__init__(self, n): self.n = n</a:t>
            </a:r>
          </a:p>
        </p:txBody>
      </p:sp>
      <p:sp>
        <p:nvSpPr>
          <p:cNvPr id="17" name="    def apply(self, x): return x + self.n"/>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apply(self, x): return x + self.n</a:t>
            </a:r>
          </a:p>
        </p:txBody>
      </p:sp>
      <p:sp>
        <p:nvSpPr>
          <p:cNvPr id="18" name=""/>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9" name="class MulN(Op):"/>
          <p:cNvSpPr txBox="1"/>
          <p:nvPr/>
        </p:nvSpPr>
        <p:spPr>
          <a:xfrm>
            <a:off x="594360" y="346293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class MulN(Op):</a:t>
            </a:r>
          </a:p>
        </p:txBody>
      </p:sp>
      <p:sp>
        <p:nvSpPr>
          <p:cNvPr id="20" name="    def __init__(self, k): self.k = k"/>
          <p:cNvSpPr txBox="1"/>
          <p:nvPr/>
        </p:nvSpPr>
        <p:spPr>
          <a:xfrm>
            <a:off x="594360" y="364662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__init__(self, k): self.k = k</a:t>
            </a:r>
          </a:p>
        </p:txBody>
      </p:sp>
      <p:sp>
        <p:nvSpPr>
          <p:cNvPr id="21" name="    def apply(self, x): return x * self.k"/>
          <p:cNvSpPr txBox="1"/>
          <p:nvPr/>
        </p:nvSpPr>
        <p:spPr>
          <a:xfrm>
            <a:off x="594360" y="3830319"/>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apply(self, x): return x * self.k</a:t>
            </a:r>
          </a:p>
        </p:txBody>
      </p:sp>
      <p:sp>
        <p:nvSpPr>
          <p:cNvPr id="22" name="Rectangle 21"/>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23" name="Rectangle 22"/>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4" name="Metaprogram"/>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Metaprogram</a:t>
            </a:r>
          </a:p>
        </p:txBody>
      </p:sp>
      <p:sp>
        <p:nvSpPr>
          <p:cNvPr id="25" name="@m.jit"/>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26" name="def pipeline(x: m.Int32, ops: m.Constexpr):"/>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pipeline(x: m.Int32, ops: m.Constexpr):</a:t>
            </a:r>
          </a:p>
        </p:txBody>
      </p:sp>
      <p:sp>
        <p:nvSpPr>
          <p:cNvPr id="27" name="    for op in ops.values():"/>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op in ops.values():</a:t>
            </a:r>
          </a:p>
        </p:txBody>
      </p:sp>
      <p:sp>
        <p:nvSpPr>
          <p:cNvPr id="28" name="        x = op.apply(x)"/>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x = op.apply(x)</a:t>
            </a:r>
          </a:p>
        </p:txBody>
      </p:sp>
      <p:sp>
        <p:nvSpPr>
          <p:cNvPr id="29" name="    return x"/>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x</a:t>
            </a:r>
          </a:p>
        </p:txBody>
      </p:sp>
      <p:sp>
        <p:nvSpPr>
          <p:cNvPr id="30" name=""/>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31" name="ops = {&quot;shift&quot;: AddN(2), &quot;scale&quot;: MulN(3)}"/>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ops = {"shift": AddN(2), "scale": MulN(3)}</a:t>
            </a:r>
          </a:p>
        </p:txBody>
      </p:sp>
      <p:sp>
        <p:nvSpPr>
          <p:cNvPr id="32" name="pipeline(4, ops)  # 18"/>
          <p:cNvSpPr txBox="1"/>
          <p:nvPr/>
        </p:nvSpPr>
        <p:spPr>
          <a:xfrm>
            <a:off x="4818888" y="327924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pipeline(4, ops)  # 18</a:t>
            </a:r>
          </a:p>
        </p:txBody>
      </p:sp>
      <p:sp>
        <p:nvSpPr>
          <p:cNvPr id="33" name=""/>
          <p:cNvSpPr txBox="1"/>
          <p:nvPr/>
        </p:nvSpPr>
        <p:spPr>
          <a:xfrm>
            <a:off x="4818888" y="346293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34" name="# Captured: (x + 2) * 3"/>
          <p:cNvSpPr txBox="1"/>
          <p:nvPr/>
        </p:nvSpPr>
        <p:spPr>
          <a:xfrm>
            <a:off x="4818888" y="364662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Captured: (x + 2) * 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he same recipe, on a GPU"/>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The same recipe, on a GPU</a:t>
            </a:r>
          </a:p>
        </p:txBody>
      </p:sp>
      <p:sp>
        <p:nvSpPr>
          <p:cNvPr id="5" name="2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22</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Array GPU interface · extraction target"/>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Array GPU interface · extraction target</a:t>
            </a:r>
          </a:p>
        </p:txBody>
      </p:sp>
      <p:sp>
        <p:nvSpPr>
          <p:cNvPr id="10" name="@m.kernel"/>
          <p:cNvSpPr txBox="1"/>
          <p:nvPr/>
        </p:nvSpPr>
        <p:spPr>
          <a:xfrm>
            <a:off x="594360" y="1993391"/>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1">
                <a:solidFill>
                  <a:srgbClr val="416600"/>
                </a:solidFill>
                <a:latin typeface="JetBrains Mono"/>
              </a:rPr>
              <a:t>@m.kernel</a:t>
            </a:r>
          </a:p>
        </p:txBody>
      </p:sp>
      <p:sp>
        <p:nvSpPr>
          <p:cNvPr id="11" name="def fused(arr: m.Array,"/>
          <p:cNvSpPr txBox="1"/>
          <p:nvPr/>
        </p:nvSpPr>
        <p:spPr>
          <a:xfrm>
            <a:off x="594360" y="2177897"/>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def fused(arr: m.Array,</a:t>
            </a:r>
          </a:p>
        </p:txBody>
      </p:sp>
      <p:sp>
        <p:nvSpPr>
          <p:cNvPr id="12" name="          ops: m.Constexpr):"/>
          <p:cNvSpPr txBox="1"/>
          <p:nvPr/>
        </p:nvSpPr>
        <p:spPr>
          <a:xfrm>
            <a:off x="594360" y="2362403"/>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ops: m.Constexpr):</a:t>
            </a:r>
          </a:p>
        </p:txBody>
      </p:sp>
      <p:sp>
        <p:nvSpPr>
          <p:cNvPr id="13" name="    tx, _, _ = m.thread_idx()"/>
          <p:cNvSpPr txBox="1"/>
          <p:nvPr/>
        </p:nvSpPr>
        <p:spPr>
          <a:xfrm>
            <a:off x="594360" y="2546908"/>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tx, _, _ = m.thread_idx()</a:t>
            </a:r>
          </a:p>
        </p:txBody>
      </p:sp>
      <p:sp>
        <p:nvSpPr>
          <p:cNvPr id="14" name="    x = arr[tx]"/>
          <p:cNvSpPr txBox="1"/>
          <p:nvPr/>
        </p:nvSpPr>
        <p:spPr>
          <a:xfrm>
            <a:off x="594360" y="2731414"/>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x = arr[tx]</a:t>
            </a:r>
          </a:p>
        </p:txBody>
      </p:sp>
      <p:sp>
        <p:nvSpPr>
          <p:cNvPr id="15" name="    for op in ops.values():"/>
          <p:cNvSpPr txBox="1"/>
          <p:nvPr/>
        </p:nvSpPr>
        <p:spPr>
          <a:xfrm>
            <a:off x="594360" y="2915919"/>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for op in ops.values():</a:t>
            </a:r>
          </a:p>
        </p:txBody>
      </p:sp>
      <p:sp>
        <p:nvSpPr>
          <p:cNvPr id="16" name="        x = op.apply(x)"/>
          <p:cNvSpPr txBox="1"/>
          <p:nvPr/>
        </p:nvSpPr>
        <p:spPr>
          <a:xfrm>
            <a:off x="594360" y="3100425"/>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x = op.apply(x)</a:t>
            </a:r>
          </a:p>
        </p:txBody>
      </p:sp>
      <p:sp>
        <p:nvSpPr>
          <p:cNvPr id="17" name="    arr[tx] = x"/>
          <p:cNvSpPr txBox="1"/>
          <p:nvPr/>
        </p:nvSpPr>
        <p:spPr>
          <a:xfrm>
            <a:off x="594360" y="3284931"/>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arr[tx] = x</a:t>
            </a:r>
          </a:p>
        </p:txBody>
      </p:sp>
      <p:sp>
        <p:nvSpPr>
          <p:cNvPr id="18" name=""/>
          <p:cNvSpPr txBox="1"/>
          <p:nvPr/>
        </p:nvSpPr>
        <p:spPr>
          <a:xfrm>
            <a:off x="594360" y="3469436"/>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a:r>
          </a:p>
        </p:txBody>
      </p:sp>
      <p:sp>
        <p:nvSpPr>
          <p:cNvPr id="19" name="# In @m.jit:"/>
          <p:cNvSpPr txBox="1"/>
          <p:nvPr/>
        </p:nvSpPr>
        <p:spPr>
          <a:xfrm>
            <a:off x="594360" y="3653942"/>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16600"/>
                </a:solidFill>
                <a:latin typeface="JetBrains Mono"/>
              </a:rPr>
              <a:t># In @m.jit:</a:t>
            </a:r>
          </a:p>
        </p:txBody>
      </p:sp>
      <p:sp>
        <p:nvSpPr>
          <p:cNvPr id="20" name="# fused(arr, ops).launch(grid=..., block=...)"/>
          <p:cNvSpPr txBox="1"/>
          <p:nvPr/>
        </p:nvSpPr>
        <p:spPr>
          <a:xfrm>
            <a:off x="594360" y="3838447"/>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fused(arr, ops).launch(grid=..., block=...)</a:t>
            </a:r>
          </a:p>
        </p:txBody>
      </p:sp>
      <p:sp>
        <p:nvSpPr>
          <p:cNvPr id="21" name="Meta"/>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Meta</a:t>
            </a:r>
          </a:p>
        </p:txBody>
      </p:sp>
      <p:sp>
        <p:nvSpPr>
          <p:cNvPr id="22" name="Objects · dispatch · recipe loop"/>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Objects · dispatch · recipe loop</a:t>
            </a:r>
          </a:p>
        </p:txBody>
      </p:sp>
      <p:sp>
        <p:nvSpPr>
          <p:cNvPr id="23" name="Staged"/>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Staged</a:t>
            </a:r>
          </a:p>
        </p:txBody>
      </p:sp>
      <p:sp>
        <p:nvSpPr>
          <p:cNvPr id="24" name="Thread ID · load · add · store"/>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Thread ID · load · add · store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Framework tensors → m.Array"/>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Framework tensors → m.Array</a:t>
            </a:r>
          </a:p>
        </p:txBody>
      </p:sp>
      <p:sp>
        <p:nvSpPr>
          <p:cNvPr id="5" name="2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23</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8" name="Tensor"/>
          <p:cNvSpPr txBox="1"/>
          <p:nvPr/>
        </p:nvSpPr>
        <p:spPr>
          <a:xfrm>
            <a:off x="566928"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Tensor</a:t>
            </a:r>
          </a:p>
        </p:txBody>
      </p:sp>
      <p:sp>
        <p:nvSpPr>
          <p:cNvPr id="9" name="PyTorch · JAX / NumPy"/>
          <p:cNvSpPr txBox="1"/>
          <p:nvPr/>
        </p:nvSpPr>
        <p:spPr>
          <a:xfrm>
            <a:off x="566928"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PyTorch · JAX</a:t>
            </a:r>
          </a:p>
          <a:p>
            <a:pPr algn="l">
              <a:lnSpc>
                <a:spcPts val="1334"/>
              </a:lnSpc>
              <a:spcBef>
                <a:spcPts val="0"/>
              </a:spcBef>
              <a:spcAft>
                <a:spcPts val="0"/>
              </a:spcAft>
            </a:pPr>
            <a:r>
              <a:rPr sz="1150" b="0">
                <a:solidFill>
                  <a:srgbClr val="616161"/>
                </a:solidFill>
                <a:latin typeface="NVIDIA Sans"/>
              </a:rPr>
              <a:t>NumPy</a:t>
            </a:r>
          </a:p>
        </p:txBody>
      </p:sp>
      <p:cxnSp>
        <p:nvCxnSpPr>
          <p:cNvPr id="10" name="Connector 9"/>
          <p:cNvCxnSpPr/>
          <p:nvPr/>
        </p:nvCxnSpPr>
        <p:spPr>
          <a:xfrm>
            <a:off x="2366010" y="2706624"/>
            <a:ext cx="164591"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2562606"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2" name="DLPack"/>
          <p:cNvSpPr txBox="1"/>
          <p:nvPr/>
        </p:nvSpPr>
        <p:spPr>
          <a:xfrm>
            <a:off x="2690622"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DLPack</a:t>
            </a:r>
          </a:p>
        </p:txBody>
      </p:sp>
      <p:sp>
        <p:nvSpPr>
          <p:cNvPr id="13" name="Pointer · dtype / shape · strides"/>
          <p:cNvSpPr txBox="1"/>
          <p:nvPr/>
        </p:nvSpPr>
        <p:spPr>
          <a:xfrm>
            <a:off x="2690622"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Pointer · dtype</a:t>
            </a:r>
          </a:p>
          <a:p>
            <a:pPr algn="l">
              <a:lnSpc>
                <a:spcPts val="1334"/>
              </a:lnSpc>
              <a:spcBef>
                <a:spcPts val="0"/>
              </a:spcBef>
              <a:spcAft>
                <a:spcPts val="0"/>
              </a:spcAft>
            </a:pPr>
            <a:r>
              <a:rPr sz="1150" b="0">
                <a:solidFill>
                  <a:srgbClr val="616161"/>
                </a:solidFill>
                <a:latin typeface="NVIDIA Sans"/>
              </a:rPr>
              <a:t>shape · strides</a:t>
            </a:r>
          </a:p>
        </p:txBody>
      </p:sp>
      <p:cxnSp>
        <p:nvCxnSpPr>
          <p:cNvPr id="14" name="Connector 13"/>
          <p:cNvCxnSpPr/>
          <p:nvPr/>
        </p:nvCxnSpPr>
        <p:spPr>
          <a:xfrm>
            <a:off x="4489704"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4686300"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6" name="m.Array"/>
          <p:cNvSpPr txBox="1"/>
          <p:nvPr/>
        </p:nvSpPr>
        <p:spPr>
          <a:xfrm>
            <a:off x="4814316"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m.Array</a:t>
            </a:r>
          </a:p>
        </p:txBody>
      </p:sp>
      <p:sp>
        <p:nvSpPr>
          <p:cNvPr id="17" name="Typed view / layout + lifetime"/>
          <p:cNvSpPr txBox="1"/>
          <p:nvPr/>
        </p:nvSpPr>
        <p:spPr>
          <a:xfrm>
            <a:off x="4814316"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Typed view</a:t>
            </a:r>
          </a:p>
          <a:p>
            <a:pPr algn="l">
              <a:lnSpc>
                <a:spcPts val="1334"/>
              </a:lnSpc>
              <a:spcBef>
                <a:spcPts val="0"/>
              </a:spcBef>
              <a:spcAft>
                <a:spcPts val="0"/>
              </a:spcAft>
            </a:pPr>
            <a:r>
              <a:rPr sz="1150" b="0">
                <a:solidFill>
                  <a:srgbClr val="616161"/>
                </a:solidFill>
                <a:latin typeface="NVIDIA Sans"/>
              </a:rPr>
              <a:t>layout + lifetime</a:t>
            </a:r>
          </a:p>
        </p:txBody>
      </p:sp>
      <p:cxnSp>
        <p:nvCxnSpPr>
          <p:cNvPr id="18" name="Connector 17"/>
          <p:cNvCxnSpPr/>
          <p:nvPr/>
        </p:nvCxnSpPr>
        <p:spPr>
          <a:xfrm>
            <a:off x="6613398"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6809994"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20" name="LLVM ABI"/>
          <p:cNvSpPr txBox="1"/>
          <p:nvPr/>
        </p:nvSpPr>
        <p:spPr>
          <a:xfrm>
            <a:off x="6938009"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LLVM ABI</a:t>
            </a:r>
          </a:p>
        </p:txBody>
      </p:sp>
      <p:sp>
        <p:nvSpPr>
          <p:cNvPr id="21" name="Pointer / + dynamic sizes"/>
          <p:cNvSpPr txBox="1"/>
          <p:nvPr/>
        </p:nvSpPr>
        <p:spPr>
          <a:xfrm>
            <a:off x="6938009"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Pointer</a:t>
            </a:r>
          </a:p>
          <a:p>
            <a:pPr algn="l">
              <a:lnSpc>
                <a:spcPts val="1334"/>
              </a:lnSpc>
              <a:spcBef>
                <a:spcPts val="0"/>
              </a:spcBef>
              <a:spcAft>
                <a:spcPts val="0"/>
              </a:spcAft>
            </a:pPr>
            <a:r>
              <a:rPr sz="1150" b="0">
                <a:solidFill>
                  <a:srgbClr val="616161"/>
                </a:solidFill>
                <a:latin typeface="NVIDIA Sans"/>
              </a:rPr>
              <a:t>+ dynamic sizes</a:t>
            </a:r>
          </a:p>
        </p:txBody>
      </p:sp>
      <p:sp>
        <p:nvSpPr>
          <p:cNvPr id="22" name="DkgDSL capability → mlir dsl extraction target"/>
          <p:cNvSpPr txBox="1"/>
          <p:nvPr/>
        </p:nvSpPr>
        <p:spPr>
          <a:xfrm>
            <a:off x="457200" y="3822191"/>
            <a:ext cx="8229600" cy="320040"/>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DkgDSL capability → mlir dsl extraction target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Compile. Run. Export."/>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Compile. Run. Export.</a:t>
            </a:r>
          </a:p>
        </p:txBody>
      </p:sp>
      <p:sp>
        <p:nvSpPr>
          <p:cNvPr id="5" name="2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24</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Compile API · extraction target"/>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Compile API · extraction target</a:t>
            </a:r>
          </a:p>
        </p:txBody>
      </p:sp>
      <p:sp>
        <p:nvSpPr>
          <p:cNvPr id="10" name="compiled = m.compile[m.GenerateLineInfo(True)]("/>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compiled = m.compile[m.GenerateLineInfo(True)](</a:t>
            </a:r>
          </a:p>
        </p:txBody>
      </p:sp>
      <p:sp>
        <p:nvSpPr>
          <p:cNvPr id="11" name="    launch, a_sig, b_sig, out_sig)"/>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launch, a_sig, b_sig, out_sig)</a:t>
            </a:r>
          </a:p>
        </p:txBody>
      </p:sp>
      <p:sp>
        <p:nvSpPr>
          <p:cNvPr id="12" name=""/>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3" name="compiled(a, b, out)"/>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compiled(a, b, out)</a:t>
            </a:r>
          </a:p>
        </p:txBody>
      </p:sp>
      <p:sp>
        <p:nvSpPr>
          <p:cNvPr id="14" name="compiled.export_to_c(&quot;build&quot;, &quot;vector_add&quot;)"/>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compiled.export_to_c("build", "vector_add")</a:t>
            </a:r>
          </a:p>
        </p:txBody>
      </p:sp>
      <p:sp>
        <p:nvSpPr>
          <p:cNvPr id="15" name=""/>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6" name="# IR for a recipe consumer:"/>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IR for a recipe consumer:</a:t>
            </a:r>
          </a:p>
        </p:txBody>
      </p:sp>
      <p:sp>
        <p:nvSpPr>
          <p:cNvPr id="17" name="artifact = m.compile.to_precompiled_mlir("/>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artifact = m.compile.to_precompiled_mlir(</a:t>
            </a:r>
          </a:p>
        </p:txBody>
      </p:sp>
      <p:sp>
        <p:nvSpPr>
          <p:cNvPr id="18" name="    recipe, *signature)"/>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recipe, *signature)</a:t>
            </a:r>
          </a:p>
        </p:txBody>
      </p:sp>
      <p:sp>
        <p:nvSpPr>
          <p:cNvPr id="19" name="Compile"/>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Compile</a:t>
            </a:r>
          </a:p>
        </p:txBody>
      </p:sp>
      <p:sp>
        <p:nvSpPr>
          <p:cNvPr id="20" name="Signature + options"/>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Signature + options</a:t>
            </a:r>
          </a:p>
        </p:txBody>
      </p:sp>
      <p:sp>
        <p:nvSpPr>
          <p:cNvPr id="21" name="Use the artifact"/>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Use the artifact</a:t>
            </a:r>
          </a:p>
        </p:txBody>
      </p:sp>
      <p:sp>
        <p:nvSpPr>
          <p:cNvPr id="22" name="Execute · C export · MLIR"/>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Execute · C export · MLIR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dapters + export plugin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Adapters + export plugins</a:t>
            </a:r>
          </a:p>
        </p:txBody>
      </p:sp>
      <p:sp>
        <p:nvSpPr>
          <p:cNvPr id="5" name="2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25</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8" name="Python"/>
          <p:cNvSpPr txBox="1"/>
          <p:nvPr/>
        </p:nvSpPr>
        <p:spPr>
          <a:xfrm>
            <a:off x="566928"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Python</a:t>
            </a:r>
          </a:p>
        </p:txBody>
      </p:sp>
      <p:sp>
        <p:nvSpPr>
          <p:cNvPr id="9" name="Scalars · tensors / frozen records"/>
          <p:cNvSpPr txBox="1"/>
          <p:nvPr/>
        </p:nvSpPr>
        <p:spPr>
          <a:xfrm>
            <a:off x="566928"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Scalars · tensors</a:t>
            </a:r>
          </a:p>
          <a:p>
            <a:pPr algn="l">
              <a:lnSpc>
                <a:spcPts val="1334"/>
              </a:lnSpc>
              <a:spcBef>
                <a:spcPts val="0"/>
              </a:spcBef>
              <a:spcAft>
                <a:spcPts val="0"/>
              </a:spcAft>
            </a:pPr>
            <a:r>
              <a:rPr sz="1150" b="0">
                <a:solidFill>
                  <a:srgbClr val="616161"/>
                </a:solidFill>
                <a:latin typeface="NVIDIA Sans"/>
              </a:rPr>
              <a:t>frozen records</a:t>
            </a:r>
          </a:p>
        </p:txBody>
      </p:sp>
      <p:cxnSp>
        <p:nvCxnSpPr>
          <p:cNvPr id="10" name="Connector 9"/>
          <p:cNvCxnSpPr/>
          <p:nvPr/>
        </p:nvCxnSpPr>
        <p:spPr>
          <a:xfrm>
            <a:off x="2366010" y="2706624"/>
            <a:ext cx="164591"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2562606"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2" name="Adapters"/>
          <p:cNvSpPr txBox="1"/>
          <p:nvPr/>
        </p:nvSpPr>
        <p:spPr>
          <a:xfrm>
            <a:off x="2690622"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Adapters</a:t>
            </a:r>
          </a:p>
        </p:txBody>
      </p:sp>
      <p:sp>
        <p:nvSpPr>
          <p:cNvPr id="13" name="Convert + marshal"/>
          <p:cNvSpPr txBox="1"/>
          <p:nvPr/>
        </p:nvSpPr>
        <p:spPr>
          <a:xfrm>
            <a:off x="2690622"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Convert + marshal</a:t>
            </a:r>
          </a:p>
        </p:txBody>
      </p:sp>
      <p:cxnSp>
        <p:nvCxnSpPr>
          <p:cNvPr id="14" name="Connector 13"/>
          <p:cNvCxnSpPr/>
          <p:nvPr/>
        </p:nvCxnSpPr>
        <p:spPr>
          <a:xfrm>
            <a:off x="4489704"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4686300"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6" name="Entry"/>
          <p:cNvSpPr txBox="1"/>
          <p:nvPr/>
        </p:nvSpPr>
        <p:spPr>
          <a:xfrm>
            <a:off x="4814316"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Entry</a:t>
            </a:r>
          </a:p>
        </p:txBody>
      </p:sp>
      <p:sp>
        <p:nvSpPr>
          <p:cNvPr id="17" name="llvm.func / or func.func"/>
          <p:cNvSpPr txBox="1"/>
          <p:nvPr/>
        </p:nvSpPr>
        <p:spPr>
          <a:xfrm>
            <a:off x="4814316"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llvm.func</a:t>
            </a:r>
          </a:p>
          <a:p>
            <a:pPr algn="l">
              <a:lnSpc>
                <a:spcPts val="1334"/>
              </a:lnSpc>
              <a:spcBef>
                <a:spcPts val="0"/>
              </a:spcBef>
              <a:spcAft>
                <a:spcPts val="0"/>
              </a:spcAft>
            </a:pPr>
            <a:r>
              <a:rPr sz="1150" b="0">
                <a:solidFill>
                  <a:srgbClr val="616161"/>
                </a:solidFill>
                <a:latin typeface="NVIDIA Sans"/>
              </a:rPr>
              <a:t>or func.func</a:t>
            </a:r>
          </a:p>
        </p:txBody>
      </p:sp>
      <p:cxnSp>
        <p:nvCxnSpPr>
          <p:cNvPr id="18" name="Connector 17"/>
          <p:cNvCxnSpPr/>
          <p:nvPr/>
        </p:nvCxnSpPr>
        <p:spPr>
          <a:xfrm>
            <a:off x="6613398"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6809994"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20" name="Export"/>
          <p:cNvSpPr txBox="1"/>
          <p:nvPr/>
        </p:nvSpPr>
        <p:spPr>
          <a:xfrm>
            <a:off x="6938009"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Export</a:t>
            </a:r>
          </a:p>
        </p:txBody>
      </p:sp>
      <p:sp>
        <p:nvSpPr>
          <p:cNvPr id="21" name="TVM-FFI"/>
          <p:cNvSpPr txBox="1"/>
          <p:nvPr/>
        </p:nvSpPr>
        <p:spPr>
          <a:xfrm>
            <a:off x="6938009"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TVM-FFI</a:t>
            </a:r>
          </a:p>
        </p:txBody>
      </p:sp>
      <p:sp>
        <p:nvSpPr>
          <p:cNvPr id="22" name="Optional: MLIR_DSL_ENABLE_TVM_FFI=1"/>
          <p:cNvSpPr txBox="1"/>
          <p:nvPr/>
        </p:nvSpPr>
        <p:spPr>
          <a:xfrm>
            <a:off x="457200" y="3822191"/>
            <a:ext cx="8229600" cy="320040"/>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Optional: MLIR_DSL_ENABLE_TVM_FFI=1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Errors + MLIR remark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Errors + MLIR remarks</a:t>
            </a:r>
          </a:p>
        </p:txBody>
      </p:sp>
      <p:sp>
        <p:nvSpPr>
          <p:cNvPr id="5" name="2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26</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MLIR_DSL_DEBUGINFO=1 · MLIR_DSL_REMARKS=.*"/>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MLIR_DSL_DEBUGINFO=1 · MLIR_DSL_REMARKS=.*</a:t>
            </a:r>
          </a:p>
        </p:txBody>
      </p:sp>
      <p:sp>
        <p:nvSpPr>
          <p:cNvPr id="8" name="Rectangle 7"/>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9" name="Rectangle 8"/>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10" name="Source error + fix"/>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Source error + fix</a:t>
            </a:r>
          </a:p>
        </p:txBody>
      </p:sp>
      <p:sp>
        <p:nvSpPr>
          <p:cNvPr id="11" name="acc = 0"/>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acc = 0</a:t>
            </a:r>
          </a:p>
        </p:txBody>
      </p:sp>
      <p:sp>
        <p:nvSpPr>
          <p:cNvPr id="12" name="for i in range(n):"/>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for i in range(n):</a:t>
            </a:r>
          </a:p>
        </p:txBody>
      </p:sp>
      <p:sp>
        <p:nvSpPr>
          <p:cNvPr id="13" name="    acc += i"/>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acc += i</a:t>
            </a:r>
          </a:p>
        </p:txBody>
      </p:sp>
      <p:sp>
        <p:nvSpPr>
          <p:cNvPr id="14" name=""/>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5" name="# error[PHASE_MUTATE_PYTHON]"/>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error[PHASE_MUTATE_PYTHON]</a:t>
            </a:r>
          </a:p>
        </p:txBody>
      </p:sp>
      <p:sp>
        <p:nvSpPr>
          <p:cNvPr id="16" name="# `acc` is a Python value."/>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`acc` is a Python value.</a:t>
            </a:r>
          </a:p>
        </p:txBody>
      </p:sp>
      <p:sp>
        <p:nvSpPr>
          <p:cNvPr id="17" name="# Create a runtime value:"/>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Create a runtime value:</a:t>
            </a:r>
          </a:p>
        </p:txBody>
      </p:sp>
      <p:sp>
        <p:nvSpPr>
          <p:cNvPr id="18" name="# acc = m.Int32(0)"/>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acc = m.Int32(0)</a:t>
            </a:r>
          </a:p>
        </p:txBody>
      </p:sp>
      <p:sp>
        <p:nvSpPr>
          <p:cNvPr id="19" name="Errors"/>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Errors</a:t>
            </a:r>
          </a:p>
        </p:txBody>
      </p:sp>
      <p:sp>
        <p:nvSpPr>
          <p:cNvPr id="20" name="File · line · fix"/>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File · line · fix</a:t>
            </a:r>
          </a:p>
        </p:txBody>
      </p:sp>
      <p:sp>
        <p:nvSpPr>
          <p:cNvPr id="21" name="Remarks"/>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Remarks</a:t>
            </a:r>
          </a:p>
        </p:txBody>
      </p:sp>
      <p:sp>
        <p:nvSpPr>
          <p:cNvPr id="22" name="Trace + passes → records"/>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Trace + passes → records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See what the compiler do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See what the compiler does</a:t>
            </a:r>
          </a:p>
        </p:txBody>
      </p:sp>
      <p:sp>
        <p:nvSpPr>
          <p:cNvPr id="5" name="27"/>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27</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8" name="Tool"/>
          <p:cNvSpPr txBox="1"/>
          <p:nvPr/>
        </p:nvSpPr>
        <p:spPr>
          <a:xfrm>
            <a:off x="576072" y="1618488"/>
            <a:ext cx="25054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Tool</a:t>
            </a:r>
          </a:p>
        </p:txBody>
      </p:sp>
      <p:sp>
        <p:nvSpPr>
          <p:cNvPr id="9" name="Setting / output"/>
          <p:cNvSpPr txBox="1"/>
          <p:nvPr/>
        </p:nvSpPr>
        <p:spPr>
          <a:xfrm>
            <a:off x="3355848" y="1618488"/>
            <a:ext cx="521208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Setting / output</a:t>
            </a:r>
          </a:p>
        </p:txBody>
      </p:sp>
      <p:sp>
        <p:nvSpPr>
          <p:cNvPr id="10" name="Rectangle 9"/>
          <p:cNvSpPr/>
          <p:nvPr/>
        </p:nvSpPr>
        <p:spPr>
          <a:xfrm>
            <a:off x="438912" y="1956816"/>
            <a:ext cx="8266175" cy="427939"/>
          </a:xfrm>
          <a:prstGeom prst="rect">
            <a:avLst/>
          </a:prstGeom>
          <a:solidFill>
            <a:srgbClr val="F7F7F7"/>
          </a:solidFill>
          <a:ln>
            <a:noFill/>
          </a:ln>
          <a:effectLst/>
        </p:spPr>
        <p:txBody>
          <a:bodyPr rtlCol="0" anchor="ctr"/>
          <a:lstStyle/>
          <a:p>
            <a:pPr algn="ctr"/>
          </a:p>
        </p:txBody>
      </p:sp>
      <p:sp>
        <p:nvSpPr>
          <p:cNvPr id="11" name="Source locations"/>
          <p:cNvSpPr txBox="1"/>
          <p:nvPr/>
        </p:nvSpPr>
        <p:spPr>
          <a:xfrm>
            <a:off x="576072" y="2075688"/>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Source locations</a:t>
            </a:r>
          </a:p>
        </p:txBody>
      </p:sp>
      <p:sp>
        <p:nvSpPr>
          <p:cNvPr id="12" name="Python line → MLIR location"/>
          <p:cNvSpPr txBox="1"/>
          <p:nvPr/>
        </p:nvSpPr>
        <p:spPr>
          <a:xfrm>
            <a:off x="3355848" y="2075688"/>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Python line → MLIR location</a:t>
            </a:r>
          </a:p>
        </p:txBody>
      </p:sp>
      <p:sp>
        <p:nvSpPr>
          <p:cNvPr id="13" name="Rectangle 12"/>
          <p:cNvSpPr/>
          <p:nvPr/>
        </p:nvSpPr>
        <p:spPr>
          <a:xfrm>
            <a:off x="438912" y="2384755"/>
            <a:ext cx="8266175" cy="427939"/>
          </a:xfrm>
          <a:prstGeom prst="rect">
            <a:avLst/>
          </a:prstGeom>
          <a:solidFill>
            <a:srgbClr val="FFFFFF"/>
          </a:solidFill>
          <a:ln>
            <a:noFill/>
          </a:ln>
          <a:effectLst/>
        </p:spPr>
        <p:txBody>
          <a:bodyPr rtlCol="0" anchor="ctr"/>
          <a:lstStyle/>
          <a:p>
            <a:pPr algn="ctr"/>
          </a:p>
        </p:txBody>
      </p:sp>
      <p:sp>
        <p:nvSpPr>
          <p:cNvPr id="14" name="Verify trace"/>
          <p:cNvSpPr txBox="1"/>
          <p:nvPr/>
        </p:nvSpPr>
        <p:spPr>
          <a:xfrm>
            <a:off x="576072" y="2503627"/>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Verify trace</a:t>
            </a:r>
          </a:p>
        </p:txBody>
      </p:sp>
      <p:sp>
        <p:nvSpPr>
          <p:cNvPr id="15" name="VERIFY_TRACE"/>
          <p:cNvSpPr txBox="1"/>
          <p:nvPr/>
        </p:nvSpPr>
        <p:spPr>
          <a:xfrm>
            <a:off x="3355848" y="2503627"/>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VERIFY_TRACE</a:t>
            </a:r>
          </a:p>
        </p:txBody>
      </p:sp>
      <p:sp>
        <p:nvSpPr>
          <p:cNvPr id="16" name="Rectangle 15"/>
          <p:cNvSpPr/>
          <p:nvPr/>
        </p:nvSpPr>
        <p:spPr>
          <a:xfrm>
            <a:off x="438912" y="2812694"/>
            <a:ext cx="8266175" cy="427939"/>
          </a:xfrm>
          <a:prstGeom prst="rect">
            <a:avLst/>
          </a:prstGeom>
          <a:solidFill>
            <a:srgbClr val="F7F7F7"/>
          </a:solidFill>
          <a:ln>
            <a:noFill/>
          </a:ln>
          <a:effectLst/>
        </p:spPr>
        <p:txBody>
          <a:bodyPr rtlCol="0" anchor="ctr"/>
          <a:lstStyle/>
          <a:p>
            <a:pPr algn="ctr"/>
          </a:p>
        </p:txBody>
      </p:sp>
      <p:sp>
        <p:nvSpPr>
          <p:cNvPr id="17" name="Remarks"/>
          <p:cNvSpPr txBox="1"/>
          <p:nvPr/>
        </p:nvSpPr>
        <p:spPr>
          <a:xfrm>
            <a:off x="576072" y="2931566"/>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Remarks</a:t>
            </a:r>
          </a:p>
        </p:txBody>
      </p:sp>
      <p:sp>
        <p:nvSpPr>
          <p:cNvPr id="18" name="REMARKS · REMARKS_OUTPUT"/>
          <p:cNvSpPr txBox="1"/>
          <p:nvPr/>
        </p:nvSpPr>
        <p:spPr>
          <a:xfrm>
            <a:off x="3355848" y="2931566"/>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REMARKS · REMARKS_OUTPUT</a:t>
            </a:r>
          </a:p>
        </p:txBody>
      </p:sp>
      <p:sp>
        <p:nvSpPr>
          <p:cNvPr id="19" name="Rectangle 18"/>
          <p:cNvSpPr/>
          <p:nvPr/>
        </p:nvSpPr>
        <p:spPr>
          <a:xfrm>
            <a:off x="438912" y="3240633"/>
            <a:ext cx="8266175" cy="427939"/>
          </a:xfrm>
          <a:prstGeom prst="rect">
            <a:avLst/>
          </a:prstGeom>
          <a:solidFill>
            <a:srgbClr val="FFFFFF"/>
          </a:solidFill>
          <a:ln>
            <a:noFill/>
          </a:ln>
          <a:effectLst/>
        </p:spPr>
        <p:txBody>
          <a:bodyPr rtlCol="0" anchor="ctr"/>
          <a:lstStyle/>
          <a:p>
            <a:pPr algn="ctr"/>
          </a:p>
        </p:txBody>
      </p:sp>
      <p:sp>
        <p:nvSpPr>
          <p:cNvPr id="20" name="Inspect IR"/>
          <p:cNvSpPr txBox="1"/>
          <p:nvPr/>
        </p:nvSpPr>
        <p:spPr>
          <a:xfrm>
            <a:off x="576072" y="3359505"/>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Inspect IR</a:t>
            </a:r>
          </a:p>
        </p:txBody>
      </p:sp>
      <p:sp>
        <p:nvSpPr>
          <p:cNvPr id="21" name="PRINT_IR · KEEP_IR"/>
          <p:cNvSpPr txBox="1"/>
          <p:nvPr/>
        </p:nvSpPr>
        <p:spPr>
          <a:xfrm>
            <a:off x="3355848" y="3359505"/>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PRINT_IR · KEEP_IR</a:t>
            </a:r>
          </a:p>
        </p:txBody>
      </p:sp>
      <p:sp>
        <p:nvSpPr>
          <p:cNvPr id="22" name="Rectangle 21"/>
          <p:cNvSpPr/>
          <p:nvPr/>
        </p:nvSpPr>
        <p:spPr>
          <a:xfrm>
            <a:off x="438912" y="3668572"/>
            <a:ext cx="8266175" cy="427939"/>
          </a:xfrm>
          <a:prstGeom prst="rect">
            <a:avLst/>
          </a:prstGeom>
          <a:solidFill>
            <a:srgbClr val="F7F7F7"/>
          </a:solidFill>
          <a:ln>
            <a:noFill/>
          </a:ln>
          <a:effectLst/>
        </p:spPr>
        <p:txBody>
          <a:bodyPr rtlCol="0" anchor="ctr"/>
          <a:lstStyle/>
          <a:p>
            <a:pPr algn="ctr"/>
          </a:p>
        </p:txBody>
      </p:sp>
      <p:sp>
        <p:nvSpPr>
          <p:cNvPr id="23" name="Profile"/>
          <p:cNvSpPr txBox="1"/>
          <p:nvPr/>
        </p:nvSpPr>
        <p:spPr>
          <a:xfrm>
            <a:off x="576072" y="3787444"/>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Profile</a:t>
            </a:r>
          </a:p>
        </p:txBody>
      </p:sp>
      <p:sp>
        <p:nvSpPr>
          <p:cNvPr id="24" name="PROFILE_COMPILER"/>
          <p:cNvSpPr txBox="1"/>
          <p:nvPr/>
        </p:nvSpPr>
        <p:spPr>
          <a:xfrm>
            <a:off x="3355848" y="3787444"/>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PROFILE_COMPILER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Cache compilation work"/>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Cache compilation work</a:t>
            </a:r>
          </a:p>
        </p:txBody>
      </p:sp>
      <p:sp>
        <p:nvSpPr>
          <p:cNvPr id="5" name="28"/>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28</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8" name="Cache"/>
          <p:cNvSpPr txBox="1"/>
          <p:nvPr/>
        </p:nvSpPr>
        <p:spPr>
          <a:xfrm>
            <a:off x="576072" y="1618488"/>
            <a:ext cx="1600199"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Cache</a:t>
            </a:r>
          </a:p>
        </p:txBody>
      </p:sp>
      <p:sp>
        <p:nvSpPr>
          <p:cNvPr id="9" name="Stores"/>
          <p:cNvSpPr txBox="1"/>
          <p:nvPr/>
        </p:nvSpPr>
        <p:spPr>
          <a:xfrm>
            <a:off x="2450591" y="1618488"/>
            <a:ext cx="288036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Stores</a:t>
            </a:r>
          </a:p>
        </p:txBody>
      </p:sp>
      <p:sp>
        <p:nvSpPr>
          <p:cNvPr id="10" name="Hit"/>
          <p:cNvSpPr txBox="1"/>
          <p:nvPr/>
        </p:nvSpPr>
        <p:spPr>
          <a:xfrm>
            <a:off x="5605272" y="1618488"/>
            <a:ext cx="29626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Hit</a:t>
            </a:r>
          </a:p>
        </p:txBody>
      </p:sp>
      <p:sp>
        <p:nvSpPr>
          <p:cNvPr id="11" name="Rectangle 10"/>
          <p:cNvSpPr/>
          <p:nvPr/>
        </p:nvSpPr>
        <p:spPr>
          <a:xfrm>
            <a:off x="438912" y="1956816"/>
            <a:ext cx="8266175" cy="713231"/>
          </a:xfrm>
          <a:prstGeom prst="rect">
            <a:avLst/>
          </a:prstGeom>
          <a:solidFill>
            <a:srgbClr val="F7F7F7"/>
          </a:solidFill>
          <a:ln>
            <a:noFill/>
          </a:ln>
          <a:effectLst/>
        </p:spPr>
        <p:txBody>
          <a:bodyPr rtlCol="0" anchor="ctr"/>
          <a:lstStyle/>
          <a:p>
            <a:pPr algn="ctr"/>
          </a:p>
        </p:txBody>
      </p:sp>
      <p:sp>
        <p:nvSpPr>
          <p:cNvPr id="12" name="Memory"/>
          <p:cNvSpPr txBox="1"/>
          <p:nvPr/>
        </p:nvSpPr>
        <p:spPr>
          <a:xfrm>
            <a:off x="576072" y="2075688"/>
            <a:ext cx="1600199" cy="530351"/>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Memory</a:t>
            </a:r>
          </a:p>
        </p:txBody>
      </p:sp>
      <p:sp>
        <p:nvSpPr>
          <p:cNvPr id="13" name="Callable + engine"/>
          <p:cNvSpPr txBox="1"/>
          <p:nvPr/>
        </p:nvSpPr>
        <p:spPr>
          <a:xfrm>
            <a:off x="2450591" y="2075688"/>
            <a:ext cx="2880360"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Callable + engine</a:t>
            </a:r>
          </a:p>
        </p:txBody>
      </p:sp>
      <p:sp>
        <p:nvSpPr>
          <p:cNvPr id="14" name="Reuse callable"/>
          <p:cNvSpPr txBox="1"/>
          <p:nvPr/>
        </p:nvSpPr>
        <p:spPr>
          <a:xfrm>
            <a:off x="5605272" y="2075688"/>
            <a:ext cx="2962656"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Reuse callable</a:t>
            </a:r>
          </a:p>
        </p:txBody>
      </p:sp>
      <p:sp>
        <p:nvSpPr>
          <p:cNvPr id="15" name="Rectangle 14"/>
          <p:cNvSpPr/>
          <p:nvPr/>
        </p:nvSpPr>
        <p:spPr>
          <a:xfrm>
            <a:off x="438912" y="2670048"/>
            <a:ext cx="8266175" cy="713231"/>
          </a:xfrm>
          <a:prstGeom prst="rect">
            <a:avLst/>
          </a:prstGeom>
          <a:solidFill>
            <a:srgbClr val="FFFFFF"/>
          </a:solidFill>
          <a:ln>
            <a:noFill/>
          </a:ln>
          <a:effectLst/>
        </p:spPr>
        <p:txBody>
          <a:bodyPr rtlCol="0" anchor="ctr"/>
          <a:lstStyle/>
          <a:p>
            <a:pPr algn="ctr"/>
          </a:p>
        </p:txBody>
      </p:sp>
      <p:sp>
        <p:nvSpPr>
          <p:cNvPr id="16" name="Disk"/>
          <p:cNvSpPr txBox="1"/>
          <p:nvPr/>
        </p:nvSpPr>
        <p:spPr>
          <a:xfrm>
            <a:off x="576072" y="2788920"/>
            <a:ext cx="1600199" cy="530351"/>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Disk</a:t>
            </a:r>
          </a:p>
        </p:txBody>
      </p:sp>
      <p:sp>
        <p:nvSpPr>
          <p:cNvPr id="17" name="Lowered bytecode"/>
          <p:cNvSpPr txBox="1"/>
          <p:nvPr/>
        </p:nvSpPr>
        <p:spPr>
          <a:xfrm>
            <a:off x="2450591" y="2788920"/>
            <a:ext cx="2880360"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Lowered bytecode</a:t>
            </a:r>
          </a:p>
        </p:txBody>
      </p:sp>
      <p:sp>
        <p:nvSpPr>
          <p:cNvPr id="18" name="Skip passes"/>
          <p:cNvSpPr txBox="1"/>
          <p:nvPr/>
        </p:nvSpPr>
        <p:spPr>
          <a:xfrm>
            <a:off x="5605272" y="2788920"/>
            <a:ext cx="2962656"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Skip passes</a:t>
            </a:r>
          </a:p>
        </p:txBody>
      </p:sp>
      <p:sp>
        <p:nvSpPr>
          <p:cNvPr id="19" name="Rectangle 18"/>
          <p:cNvSpPr/>
          <p:nvPr/>
        </p:nvSpPr>
        <p:spPr>
          <a:xfrm>
            <a:off x="438912" y="3383280"/>
            <a:ext cx="8266175" cy="713231"/>
          </a:xfrm>
          <a:prstGeom prst="rect">
            <a:avLst/>
          </a:prstGeom>
          <a:solidFill>
            <a:srgbClr val="F7F7F7"/>
          </a:solidFill>
          <a:ln>
            <a:noFill/>
          </a:ln>
          <a:effectLst/>
        </p:spPr>
        <p:txBody>
          <a:bodyPr rtlCol="0" anchor="ctr"/>
          <a:lstStyle/>
          <a:p>
            <a:pPr algn="ctr"/>
          </a:p>
        </p:txBody>
      </p:sp>
      <p:sp>
        <p:nvSpPr>
          <p:cNvPr id="20" name="Identity"/>
          <p:cNvSpPr txBox="1"/>
          <p:nvPr/>
        </p:nvSpPr>
        <p:spPr>
          <a:xfrm>
            <a:off x="576072" y="3502152"/>
            <a:ext cx="1600199" cy="530351"/>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Identity</a:t>
            </a:r>
          </a:p>
        </p:txBody>
      </p:sp>
      <p:sp>
        <p:nvSpPr>
          <p:cNvPr id="21" name="IR + settings + toolchain"/>
          <p:cNvSpPr txBox="1"/>
          <p:nvPr/>
        </p:nvSpPr>
        <p:spPr>
          <a:xfrm>
            <a:off x="2450591" y="3502152"/>
            <a:ext cx="2880360"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IR + settings + toolchain</a:t>
            </a:r>
          </a:p>
        </p:txBody>
      </p:sp>
      <p:sp>
        <p:nvSpPr>
          <p:cNvPr id="22" name="Compatible programs"/>
          <p:cNvSpPr txBox="1"/>
          <p:nvPr/>
        </p:nvSpPr>
        <p:spPr>
          <a:xfrm>
            <a:off x="5605272" y="3502152"/>
            <a:ext cx="2962656"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Compatible programs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Control flow needs the AST"/>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Control flow needs the AST</a:t>
            </a:r>
          </a:p>
        </p:txBody>
      </p:sp>
      <p:sp>
        <p:nvSpPr>
          <p:cNvPr id="5" name="29"/>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29</a:t>
            </a:r>
          </a:p>
        </p:txBody>
      </p:sp>
      <p:sp>
        <p:nvSpPr>
          <p:cNvPr id="6" name="Control flow"/>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Control flow</a:t>
            </a:r>
          </a:p>
        </p:txBody>
      </p:sp>
      <p:sp>
        <p:nvSpPr>
          <p:cNvPr id="7" name="Operators capture expressions. The AST captures structure."/>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Operators capture expressions. The AST captures structure.</a:t>
            </a:r>
          </a:p>
        </p:txBody>
      </p:sp>
      <p:sp>
        <p:nvSpPr>
          <p:cNvPr id="8" name="Rectangle 7"/>
          <p:cNvSpPr/>
          <p:nvPr/>
        </p:nvSpPr>
        <p:spPr>
          <a:xfrm>
            <a:off x="484632" y="1691640"/>
            <a:ext cx="1858517" cy="1444752"/>
          </a:xfrm>
          <a:prstGeom prst="rect">
            <a:avLst/>
          </a:prstGeom>
          <a:solidFill>
            <a:srgbClr val="F7F7F7"/>
          </a:solidFill>
          <a:ln w="8890">
            <a:solidFill>
              <a:srgbClr val="D5D5D5"/>
            </a:solidFill>
          </a:ln>
          <a:effectLst/>
        </p:spPr>
        <p:txBody>
          <a:bodyPr rtlCol="0" anchor="ctr"/>
          <a:lstStyle/>
          <a:p>
            <a:pPr algn="ctr"/>
          </a:p>
        </p:txBody>
      </p:sp>
      <p:sp>
        <p:nvSpPr>
          <p:cNvPr id="9" name="Python"/>
          <p:cNvSpPr txBox="1"/>
          <p:nvPr/>
        </p:nvSpPr>
        <p:spPr>
          <a:xfrm>
            <a:off x="603504" y="1865376"/>
            <a:ext cx="1620773" cy="50292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000000"/>
                </a:solidFill>
                <a:latin typeface="NVIDIA Sans"/>
              </a:rPr>
              <a:t>Python</a:t>
            </a:r>
          </a:p>
        </p:txBody>
      </p:sp>
      <p:sp>
        <p:nvSpPr>
          <p:cNvPr id="10" name="if · for · while"/>
          <p:cNvSpPr txBox="1"/>
          <p:nvPr/>
        </p:nvSpPr>
        <p:spPr>
          <a:xfrm>
            <a:off x="603504" y="2441448"/>
            <a:ext cx="1620773" cy="512064"/>
          </a:xfrm>
          <a:prstGeom prst="rect">
            <a:avLst/>
          </a:prstGeom>
          <a:noFill/>
        </p:spPr>
        <p:txBody>
          <a:bodyPr wrap="none" anchor="t" lIns="0" rIns="0" tIns="0" bIns="0">
            <a:noAutofit/>
          </a:bodyPr>
          <a:lstStyle/>
          <a:p>
            <a:pPr algn="l">
              <a:lnSpc>
                <a:spcPts val="1206"/>
              </a:lnSpc>
              <a:spcBef>
                <a:spcPts val="0"/>
              </a:spcBef>
              <a:spcAft>
                <a:spcPts val="0"/>
              </a:spcAft>
            </a:pPr>
            <a:r>
              <a:rPr sz="1040" b="0">
                <a:solidFill>
                  <a:srgbClr val="616161"/>
                </a:solidFill>
                <a:latin typeface="NVIDIA Sans"/>
              </a:rPr>
              <a:t>if · for · while</a:t>
            </a:r>
          </a:p>
        </p:txBody>
      </p:sp>
      <p:cxnSp>
        <p:nvCxnSpPr>
          <p:cNvPr id="11" name="Connector 10"/>
          <p:cNvCxnSpPr/>
          <p:nvPr/>
        </p:nvCxnSpPr>
        <p:spPr>
          <a:xfrm>
            <a:off x="2375154" y="2414016"/>
            <a:ext cx="18288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2590037" y="1691640"/>
            <a:ext cx="1858517" cy="1444752"/>
          </a:xfrm>
          <a:prstGeom prst="rect">
            <a:avLst/>
          </a:prstGeom>
          <a:solidFill>
            <a:srgbClr val="F0F6E6"/>
          </a:solidFill>
          <a:ln w="8890">
            <a:solidFill>
              <a:srgbClr val="D5D5D5"/>
            </a:solidFill>
          </a:ln>
          <a:effectLst/>
        </p:spPr>
        <p:txBody>
          <a:bodyPr rtlCol="0" anchor="ctr"/>
          <a:lstStyle/>
          <a:p>
            <a:pPr algn="ctr"/>
          </a:p>
        </p:txBody>
      </p:sp>
      <p:sp>
        <p:nvSpPr>
          <p:cNvPr id="13" name="AST capture"/>
          <p:cNvSpPr txBox="1"/>
          <p:nvPr/>
        </p:nvSpPr>
        <p:spPr>
          <a:xfrm>
            <a:off x="2708909" y="1865376"/>
            <a:ext cx="1620773" cy="50292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AST capture</a:t>
            </a:r>
          </a:p>
        </p:txBody>
      </p:sp>
      <p:sp>
        <p:nvSpPr>
          <p:cNvPr id="14" name="Regions + assigned names"/>
          <p:cNvSpPr txBox="1"/>
          <p:nvPr/>
        </p:nvSpPr>
        <p:spPr>
          <a:xfrm>
            <a:off x="2708909" y="2441448"/>
            <a:ext cx="1620773" cy="512064"/>
          </a:xfrm>
          <a:prstGeom prst="rect">
            <a:avLst/>
          </a:prstGeom>
          <a:noFill/>
        </p:spPr>
        <p:txBody>
          <a:bodyPr wrap="none" anchor="t" lIns="0" rIns="0" tIns="0" bIns="0">
            <a:noAutofit/>
          </a:bodyPr>
          <a:lstStyle/>
          <a:p>
            <a:pPr algn="l">
              <a:lnSpc>
                <a:spcPts val="1206"/>
              </a:lnSpc>
              <a:spcBef>
                <a:spcPts val="0"/>
              </a:spcBef>
              <a:spcAft>
                <a:spcPts val="0"/>
              </a:spcAft>
            </a:pPr>
            <a:r>
              <a:rPr sz="1040" b="0">
                <a:solidFill>
                  <a:srgbClr val="616161"/>
                </a:solidFill>
                <a:latin typeface="NVIDIA Sans"/>
              </a:rPr>
              <a:t>Regions + assigned</a:t>
            </a:r>
          </a:p>
          <a:p>
            <a:pPr algn="l">
              <a:lnSpc>
                <a:spcPts val="1206"/>
              </a:lnSpc>
              <a:spcBef>
                <a:spcPts val="0"/>
              </a:spcBef>
              <a:spcAft>
                <a:spcPts val="0"/>
              </a:spcAft>
            </a:pPr>
            <a:r>
              <a:rPr sz="1040" b="0">
                <a:solidFill>
                  <a:srgbClr val="616161"/>
                </a:solidFill>
                <a:latin typeface="NVIDIA Sans"/>
              </a:rPr>
              <a:t>names</a:t>
            </a:r>
          </a:p>
        </p:txBody>
      </p:sp>
      <p:cxnSp>
        <p:nvCxnSpPr>
          <p:cNvPr id="15" name="Connector 14"/>
          <p:cNvCxnSpPr/>
          <p:nvPr/>
        </p:nvCxnSpPr>
        <p:spPr>
          <a:xfrm>
            <a:off x="4480559" y="2414016"/>
            <a:ext cx="182881"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4695444" y="1691640"/>
            <a:ext cx="1858517" cy="1444752"/>
          </a:xfrm>
          <a:prstGeom prst="rect">
            <a:avLst/>
          </a:prstGeom>
          <a:solidFill>
            <a:srgbClr val="F7F7F7"/>
          </a:solidFill>
          <a:ln w="8890">
            <a:solidFill>
              <a:srgbClr val="D5D5D5"/>
            </a:solidFill>
          </a:ln>
          <a:effectLst/>
        </p:spPr>
        <p:txBody>
          <a:bodyPr rtlCol="0" anchor="ctr"/>
          <a:lstStyle/>
          <a:p>
            <a:pPr algn="ctr"/>
          </a:p>
        </p:txBody>
      </p:sp>
      <p:sp>
        <p:nvSpPr>
          <p:cNvPr id="17" name="Rewrite"/>
          <p:cNvSpPr txBox="1"/>
          <p:nvPr/>
        </p:nvSpPr>
        <p:spPr>
          <a:xfrm>
            <a:off x="4814316" y="1865376"/>
            <a:ext cx="1620773" cy="50292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000000"/>
                </a:solidFill>
                <a:latin typeface="NVIDIA Sans"/>
              </a:rPr>
              <a:t>Rewrite</a:t>
            </a:r>
          </a:p>
        </p:txBody>
      </p:sp>
      <p:sp>
        <p:nvSpPr>
          <p:cNvPr id="18" name="Functions + carries"/>
          <p:cNvSpPr txBox="1"/>
          <p:nvPr/>
        </p:nvSpPr>
        <p:spPr>
          <a:xfrm>
            <a:off x="4814316" y="2441448"/>
            <a:ext cx="1620773" cy="512064"/>
          </a:xfrm>
          <a:prstGeom prst="rect">
            <a:avLst/>
          </a:prstGeom>
          <a:noFill/>
        </p:spPr>
        <p:txBody>
          <a:bodyPr wrap="none" anchor="t" lIns="0" rIns="0" tIns="0" bIns="0">
            <a:noAutofit/>
          </a:bodyPr>
          <a:lstStyle/>
          <a:p>
            <a:pPr algn="l">
              <a:lnSpc>
                <a:spcPts val="1206"/>
              </a:lnSpc>
              <a:spcBef>
                <a:spcPts val="0"/>
              </a:spcBef>
              <a:spcAft>
                <a:spcPts val="0"/>
              </a:spcAft>
            </a:pPr>
            <a:r>
              <a:rPr sz="1040" b="0">
                <a:solidFill>
                  <a:srgbClr val="616161"/>
                </a:solidFill>
                <a:latin typeface="NVIDIA Sans"/>
              </a:rPr>
              <a:t>Functions + carries</a:t>
            </a:r>
          </a:p>
        </p:txBody>
      </p:sp>
      <p:cxnSp>
        <p:nvCxnSpPr>
          <p:cNvPr id="19" name="Connector 18"/>
          <p:cNvCxnSpPr/>
          <p:nvPr/>
        </p:nvCxnSpPr>
        <p:spPr>
          <a:xfrm>
            <a:off x="6585966" y="2414016"/>
            <a:ext cx="18288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6800849" y="1691640"/>
            <a:ext cx="1858517" cy="1444752"/>
          </a:xfrm>
          <a:prstGeom prst="rect">
            <a:avLst/>
          </a:prstGeom>
          <a:solidFill>
            <a:srgbClr val="F0F6E6"/>
          </a:solidFill>
          <a:ln w="8890">
            <a:solidFill>
              <a:srgbClr val="D5D5D5"/>
            </a:solidFill>
          </a:ln>
          <a:effectLst/>
        </p:spPr>
        <p:txBody>
          <a:bodyPr rtlCol="0" anchor="ctr"/>
          <a:lstStyle/>
          <a:p>
            <a:pPr algn="ctr"/>
          </a:p>
        </p:txBody>
      </p:sp>
      <p:sp>
        <p:nvSpPr>
          <p:cNvPr id="21" name="Execute"/>
          <p:cNvSpPr txBox="1"/>
          <p:nvPr/>
        </p:nvSpPr>
        <p:spPr>
          <a:xfrm>
            <a:off x="6919721" y="1865376"/>
            <a:ext cx="1620773" cy="50292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Execute</a:t>
            </a:r>
          </a:p>
        </p:txBody>
      </p:sp>
      <p:sp>
        <p:nvSpPr>
          <p:cNvPr id="22" name="Build regions"/>
          <p:cNvSpPr txBox="1"/>
          <p:nvPr/>
        </p:nvSpPr>
        <p:spPr>
          <a:xfrm>
            <a:off x="6919721" y="2441448"/>
            <a:ext cx="1620773" cy="512064"/>
          </a:xfrm>
          <a:prstGeom prst="rect">
            <a:avLst/>
          </a:prstGeom>
          <a:noFill/>
        </p:spPr>
        <p:txBody>
          <a:bodyPr wrap="none" anchor="t" lIns="0" rIns="0" tIns="0" bIns="0">
            <a:noAutofit/>
          </a:bodyPr>
          <a:lstStyle/>
          <a:p>
            <a:pPr algn="l">
              <a:lnSpc>
                <a:spcPts val="1206"/>
              </a:lnSpc>
              <a:spcBef>
                <a:spcPts val="0"/>
              </a:spcBef>
              <a:spcAft>
                <a:spcPts val="0"/>
              </a:spcAft>
            </a:pPr>
            <a:r>
              <a:rPr sz="1040" b="0">
                <a:solidFill>
                  <a:srgbClr val="616161"/>
                </a:solidFill>
                <a:latin typeface="NVIDIA Sans"/>
              </a:rPr>
              <a:t>Build regions</a:t>
            </a:r>
          </a:p>
        </p:txBody>
      </p:sp>
      <p:sp>
        <p:nvSpPr>
          <p:cNvPr id="23" name="Same capture · pluggable builders"/>
          <p:cNvSpPr txBox="1"/>
          <p:nvPr/>
        </p:nvSpPr>
        <p:spPr>
          <a:xfrm>
            <a:off x="539496" y="3593592"/>
            <a:ext cx="3840480" cy="301752"/>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416600"/>
                </a:solidFill>
                <a:latin typeface="NVIDIA Sans"/>
              </a:rPr>
              <a:t>Same capture · pluggable builders</a:t>
            </a:r>
          </a:p>
        </p:txBody>
      </p:sp>
      <p:cxnSp>
        <p:nvCxnSpPr>
          <p:cNvPr id="24" name="Connector 23"/>
          <p:cNvCxnSpPr/>
          <p:nvPr/>
        </p:nvCxnSpPr>
        <p:spPr>
          <a:xfrm>
            <a:off x="7730108" y="3154680"/>
            <a:ext cx="0" cy="237744"/>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5596128" y="3392424"/>
            <a:ext cx="2133980"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596128" y="3392424"/>
            <a:ext cx="0" cy="173736"/>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4709160" y="3593592"/>
            <a:ext cx="1783080" cy="493776"/>
          </a:xfrm>
          <a:prstGeom prst="rect">
            <a:avLst/>
          </a:prstGeom>
          <a:solidFill>
            <a:srgbClr val="F7F7F7"/>
          </a:solidFill>
          <a:ln w="8890">
            <a:solidFill>
              <a:srgbClr val="D5D5D5"/>
            </a:solidFill>
          </a:ln>
          <a:effectLst/>
        </p:spPr>
        <p:txBody>
          <a:bodyPr rtlCol="0" anchor="ctr"/>
          <a:lstStyle/>
          <a:p>
            <a:pPr algn="ctr"/>
          </a:p>
        </p:txBody>
      </p:sp>
      <p:sp>
        <p:nvSpPr>
          <p:cNvPr id="28" name="scf"/>
          <p:cNvSpPr txBox="1"/>
          <p:nvPr/>
        </p:nvSpPr>
        <p:spPr>
          <a:xfrm>
            <a:off x="4818888" y="3666744"/>
            <a:ext cx="1563624" cy="347472"/>
          </a:xfrm>
          <a:prstGeom prst="rect">
            <a:avLst/>
          </a:prstGeom>
          <a:noFill/>
        </p:spPr>
        <p:txBody>
          <a:bodyPr wrap="none" anchor="t" lIns="0" rIns="0" tIns="0" bIns="0">
            <a:noAutofit/>
          </a:bodyPr>
          <a:lstStyle/>
          <a:p>
            <a:pPr algn="ctr">
              <a:lnSpc>
                <a:spcPts val="1507"/>
              </a:lnSpc>
              <a:spcBef>
                <a:spcPts val="0"/>
              </a:spcBef>
              <a:spcAft>
                <a:spcPts val="0"/>
              </a:spcAft>
            </a:pPr>
            <a:r>
              <a:rPr sz="1300" b="0">
                <a:solidFill>
                  <a:srgbClr val="000000"/>
                </a:solidFill>
                <a:latin typeface="NVIDIA Sans"/>
              </a:rPr>
              <a:t>scf</a:t>
            </a:r>
          </a:p>
        </p:txBody>
      </p:sp>
      <p:cxnSp>
        <p:nvCxnSpPr>
          <p:cNvPr id="29" name="Connector 28"/>
          <p:cNvCxnSpPr/>
          <p:nvPr/>
        </p:nvCxnSpPr>
        <p:spPr>
          <a:xfrm flipH="1">
            <a:off x="7616952" y="3392424"/>
            <a:ext cx="11315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7616952" y="3392424"/>
            <a:ext cx="0" cy="173736"/>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6729984" y="3593592"/>
            <a:ext cx="1783080" cy="493776"/>
          </a:xfrm>
          <a:prstGeom prst="rect">
            <a:avLst/>
          </a:prstGeom>
          <a:solidFill>
            <a:srgbClr val="F0F6E6"/>
          </a:solidFill>
          <a:ln w="8890">
            <a:solidFill>
              <a:srgbClr val="D5D5D5"/>
            </a:solidFill>
          </a:ln>
          <a:effectLst/>
        </p:spPr>
        <p:txBody>
          <a:bodyPr rtlCol="0" anchor="ctr"/>
          <a:lstStyle/>
          <a:p>
            <a:pPr algn="ctr"/>
          </a:p>
        </p:txBody>
      </p:sp>
      <p:sp>
        <p:nvSpPr>
          <p:cNvPr id="32" name="yourdialect.cf"/>
          <p:cNvSpPr txBox="1"/>
          <p:nvPr/>
        </p:nvSpPr>
        <p:spPr>
          <a:xfrm>
            <a:off x="6839712" y="3666744"/>
            <a:ext cx="1563624" cy="347472"/>
          </a:xfrm>
          <a:prstGeom prst="rect">
            <a:avLst/>
          </a:prstGeom>
          <a:noFill/>
        </p:spPr>
        <p:txBody>
          <a:bodyPr wrap="none" anchor="t" lIns="0" rIns="0" tIns="0" bIns="0">
            <a:noAutofit/>
          </a:bodyPr>
          <a:lstStyle/>
          <a:p>
            <a:pPr algn="ctr">
              <a:lnSpc>
                <a:spcPts val="1507"/>
              </a:lnSpc>
              <a:spcBef>
                <a:spcPts val="0"/>
              </a:spcBef>
              <a:spcAft>
                <a:spcPts val="0"/>
              </a:spcAft>
            </a:pPr>
            <a:r>
              <a:rPr sz="1300" b="1">
                <a:solidFill>
                  <a:srgbClr val="416600"/>
                </a:solidFill>
                <a:latin typeface="NVIDIA Sans"/>
              </a:rPr>
              <a:t>yourdialect.cf</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ssigned name → iter_arg"/>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Assigned name → iter_arg</a:t>
            </a:r>
          </a:p>
        </p:txBody>
      </p:sp>
      <p:sp>
        <p:nvSpPr>
          <p:cNvPr id="5" name="30"/>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30</a:t>
            </a:r>
          </a:p>
        </p:txBody>
      </p:sp>
      <p:sp>
        <p:nvSpPr>
          <p:cNvPr id="6" name="Control flow"/>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Control flow</a:t>
            </a:r>
          </a:p>
        </p:txBody>
      </p:sp>
      <p:sp>
        <p:nvSpPr>
          <p:cNvPr id="7" name="Flatten → build region → yield → rebuild"/>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Flatten → build region → yield → rebuild</a:t>
            </a:r>
          </a:p>
        </p:txBody>
      </p:sp>
      <p:sp>
        <p:nvSpPr>
          <p:cNvPr id="8" name="Rectangle 7"/>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9" name="Rectangle 8"/>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10" name="Python · find the carry"/>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 · find the carry</a:t>
            </a:r>
          </a:p>
        </p:txBody>
      </p:sp>
      <p:sp>
        <p:nvSpPr>
          <p:cNvPr id="11" name="acc = m.Int32(0)"/>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acc = m.Int32(0)</a:t>
            </a:r>
          </a:p>
        </p:txBody>
      </p:sp>
      <p:sp>
        <p:nvSpPr>
          <p:cNvPr id="12" name="for i in range(n):"/>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for i in range(n):</a:t>
            </a:r>
          </a:p>
        </p:txBody>
      </p:sp>
      <p:sp>
        <p:nvSpPr>
          <p:cNvPr id="13" name="    acc = acc + i"/>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acc + i</a:t>
            </a:r>
          </a:p>
        </p:txBody>
      </p:sp>
      <p:sp>
        <p:nvSpPr>
          <p:cNvPr id="14" name=""/>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5" name="# Defined outside: acc"/>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Defined outside: acc</a:t>
            </a:r>
          </a:p>
        </p:txBody>
      </p:sp>
      <p:sp>
        <p:nvSpPr>
          <p:cNvPr id="16" name="# Written inside:  acc"/>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Written inside:  acc</a:t>
            </a:r>
          </a:p>
        </p:txBody>
      </p:sp>
      <p:sp>
        <p:nvSpPr>
          <p:cNvPr id="17" name="# write_args = [&quot;acc&quot;]"/>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write_args = ["acc"]</a:t>
            </a:r>
          </a:p>
        </p:txBody>
      </p:sp>
      <p:sp>
        <p:nvSpPr>
          <p:cNvPr id="18" name="Rectangle 17"/>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9" name="Rectangle 18"/>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0" name="MLIR · thread the SSA value"/>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MLIR · thread the SSA value</a:t>
            </a:r>
          </a:p>
        </p:txBody>
      </p:sp>
      <p:sp>
        <p:nvSpPr>
          <p:cNvPr id="21" name="%sum = scf.for %i = %c0 to %n"/>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%sum = scf.for %i = %c0 to %n</a:t>
            </a:r>
          </a:p>
        </p:txBody>
      </p:sp>
      <p:sp>
        <p:nvSpPr>
          <p:cNvPr id="22" name="    step %c1 iter_args(%acc = %zero)"/>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16600"/>
                </a:solidFill>
                <a:latin typeface="JetBrains Mono"/>
              </a:rPr>
              <a:t>    step %c1 iter_args(%acc = %zero)</a:t>
            </a:r>
          </a:p>
        </p:txBody>
      </p:sp>
      <p:sp>
        <p:nvSpPr>
          <p:cNvPr id="23" name="    -&gt; (i32) : i32 {"/>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-&gt; (i32) : i32 {</a:t>
            </a:r>
          </a:p>
        </p:txBody>
      </p:sp>
      <p:sp>
        <p:nvSpPr>
          <p:cNvPr id="24" name="  %next = arith.addi %acc, %i : i32"/>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%next = arith.addi %acc, %i : i32</a:t>
            </a:r>
          </a:p>
        </p:txBody>
      </p:sp>
      <p:sp>
        <p:nvSpPr>
          <p:cNvPr id="25" name="  scf.yield %next : i32"/>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16600"/>
                </a:solidFill>
                <a:latin typeface="JetBrains Mono"/>
              </a:rPr>
              <a:t>  scf.yield %next : i32</a:t>
            </a:r>
          </a:p>
        </p:txBody>
      </p:sp>
      <p:sp>
        <p:nvSpPr>
          <p:cNvPr id="26" name="}"/>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Frozen records carry staged stat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Frozen records carry staged state</a:t>
            </a:r>
          </a:p>
        </p:txBody>
      </p:sp>
      <p:sp>
        <p:nvSpPr>
          <p:cNvPr id="5" name="3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31</a:t>
            </a:r>
          </a:p>
        </p:txBody>
      </p:sp>
      <p:sp>
        <p:nvSpPr>
          <p:cNvPr id="6" name="Control flow"/>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Control flow</a:t>
            </a:r>
          </a:p>
        </p:txBody>
      </p:sp>
      <p:sp>
        <p:nvSpPr>
          <p:cNvPr id="7" name="New SSA values → a new record"/>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New SSA values → a new record</a:t>
            </a:r>
          </a:p>
        </p:txBody>
      </p:sp>
      <p:sp>
        <p:nvSpPr>
          <p:cNvPr id="8" name="Rectangle 7"/>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9" name="Rectangle 8"/>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10" name="Immutable record"/>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Immutable record</a:t>
            </a:r>
          </a:p>
        </p:txBody>
      </p:sp>
      <p:sp>
        <p:nvSpPr>
          <p:cNvPr id="11" name="from dataclasses import dataclass, replace"/>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from dataclasses import dataclass, replace</a:t>
            </a:r>
          </a:p>
        </p:txBody>
      </p:sp>
      <p:sp>
        <p:nvSpPr>
          <p:cNvPr id="12" name=""/>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3" name="@dataclass(frozen=True)"/>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84848"/>
                </a:solidFill>
                <a:latin typeface="JetBrains Mono"/>
              </a:rPr>
              <a:t>@dataclass(frozen=True)</a:t>
            </a:r>
          </a:p>
        </p:txBody>
      </p:sp>
      <p:sp>
        <p:nvSpPr>
          <p:cNvPr id="14" name="class State:"/>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class State:</a:t>
            </a:r>
          </a:p>
        </p:txBody>
      </p:sp>
      <p:sp>
        <p:nvSpPr>
          <p:cNvPr id="15" name="    total: m.Int32"/>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total: m.Int32</a:t>
            </a:r>
          </a:p>
        </p:txBody>
      </p:sp>
      <p:sp>
        <p:nvSpPr>
          <p:cNvPr id="16" name="Rectangle 15"/>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7" name="Rectangle 16"/>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18" name="Rebind across the loop"/>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Rebind across the loop</a:t>
            </a:r>
          </a:p>
        </p:txBody>
      </p:sp>
      <p:sp>
        <p:nvSpPr>
          <p:cNvPr id="19" name="@m.jit"/>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20" name="def sum_record(n: m.Int32):"/>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sum_record(n: m.Int32):</a:t>
            </a:r>
          </a:p>
        </p:txBody>
      </p:sp>
      <p:sp>
        <p:nvSpPr>
          <p:cNvPr id="21" name="    state = State(m.Int32(0))"/>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state = State(m.Int32(0))</a:t>
            </a:r>
          </a:p>
        </p:txBody>
      </p:sp>
      <p:sp>
        <p:nvSpPr>
          <p:cNvPr id="22" name="    for i in range(n):"/>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i in range(n):</a:t>
            </a:r>
          </a:p>
        </p:txBody>
      </p:sp>
      <p:sp>
        <p:nvSpPr>
          <p:cNvPr id="23" name="        state = replace(state,"/>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state = replace(state,</a:t>
            </a:r>
          </a:p>
        </p:txBody>
      </p:sp>
      <p:sp>
        <p:nvSpPr>
          <p:cNvPr id="24" name="            total=state.total + i)"/>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total=state.total + i)</a:t>
            </a:r>
          </a:p>
        </p:txBody>
      </p:sp>
      <p:sp>
        <p:nvSpPr>
          <p:cNvPr id="25" name="    return state.total"/>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state.total</a:t>
            </a:r>
          </a:p>
        </p:txBody>
      </p:sp>
      <p:sp>
        <p:nvSpPr>
          <p:cNvPr id="26" name=""/>
          <p:cNvSpPr txBox="1"/>
          <p:nvPr/>
        </p:nvSpPr>
        <p:spPr>
          <a:xfrm>
            <a:off x="4818888" y="327924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27" name="sum_record(10)  # 45"/>
          <p:cNvSpPr txBox="1"/>
          <p:nvPr/>
        </p:nvSpPr>
        <p:spPr>
          <a:xfrm>
            <a:off x="4818888" y="346293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sum_record(10)  # 45</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Swap the control-flow dialect"/>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Swap the control-flow dialect</a:t>
            </a:r>
          </a:p>
        </p:txBody>
      </p:sp>
      <p:sp>
        <p:nvSpPr>
          <p:cNvPr id="5" name="3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32</a:t>
            </a:r>
          </a:p>
        </p:txBody>
      </p:sp>
      <p:sp>
        <p:nvSpPr>
          <p:cNvPr id="6" name="Control flow"/>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Control flow</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Control-flow plugin · sketch"/>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Control-flow plugin · sketch</a:t>
            </a:r>
          </a:p>
        </p:txBody>
      </p:sp>
      <p:sp>
        <p:nvSpPr>
          <p:cNvPr id="10" name="class MyControlFlow(m.DialectPlugin):"/>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MyControlFlow(m.DialectPlugin):</a:t>
            </a:r>
          </a:p>
        </p:txBody>
      </p:sp>
      <p:sp>
        <p:nvSpPr>
          <p:cNvPr id="11" name="    def install(self, dsl):"/>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def install(self, dsl):</a:t>
            </a:r>
          </a:p>
        </p:txBody>
      </p:sp>
      <p:sp>
        <p:nvSpPr>
          <p:cNvPr id="12" name="        super().install(dsl)"/>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super().install(dsl)</a:t>
            </a:r>
          </a:p>
        </p:txBody>
      </p:sp>
      <p:sp>
        <p:nvSpPr>
          <p:cNvPr id="13" name="        dsl.executor.set_functions("/>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dsl.executor.set_functions(</a:t>
            </a:r>
          </a:p>
        </p:txBody>
      </p:sp>
      <p:sp>
        <p:nvSpPr>
          <p:cNvPr id="14" name="            **mydialect_executors)"/>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**mydialect_executors)</a:t>
            </a:r>
          </a:p>
        </p:txBody>
      </p:sp>
      <p:sp>
        <p:nvSpPr>
          <p:cNvPr id="15" name=""/>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6" name="class MySubDSL(m.BaseDSL):"/>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MySubDSL(m.BaseDSL):</a:t>
            </a:r>
          </a:p>
        </p:txBody>
      </p:sp>
      <p:sp>
        <p:nvSpPr>
          <p:cNvPr id="17" name="    plugins = [MyControlFlow()]"/>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plugins = [MyControlFlow()]</a:t>
            </a:r>
          </a:p>
        </p:txBody>
      </p:sp>
      <p:sp>
        <p:nvSpPr>
          <p:cNvPr id="18" name="    # Configure BaseDSL as before."/>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 Configure BaseDSL as before.</a:t>
            </a:r>
          </a:p>
        </p:txBody>
      </p:sp>
      <p:sp>
        <p:nvSpPr>
          <p:cNvPr id="19" name="Default"/>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Default</a:t>
            </a:r>
          </a:p>
        </p:txBody>
      </p:sp>
      <p:sp>
        <p:nvSpPr>
          <p:cNvPr id="20" name="scf.for · if · while"/>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scf.for · if · while</a:t>
            </a:r>
          </a:p>
        </p:txBody>
      </p:sp>
      <p:sp>
        <p:nvSpPr>
          <p:cNvPr id="21" name="Your dialect"/>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Your dialect</a:t>
            </a:r>
          </a:p>
        </p:txBody>
      </p:sp>
      <p:sp>
        <p:nvSpPr>
          <p:cNvPr id="22" name="Custom regions + yields"/>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Custom regions + yields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Or build regions explicitly"/>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Or build regions explicitly</a:t>
            </a:r>
          </a:p>
        </p:txBody>
      </p:sp>
      <p:sp>
        <p:nvSpPr>
          <p:cNvPr id="5" name="3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33</a:t>
            </a:r>
          </a:p>
        </p:txBody>
      </p:sp>
      <p:sp>
        <p:nvSpPr>
          <p:cNvPr id="6" name="Control flow"/>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Control flow</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Explicit control flow"/>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Explicit control flow</a:t>
            </a:r>
          </a:p>
        </p:txBody>
      </p:sp>
      <p:sp>
        <p:nvSpPr>
          <p:cNvPr id="10" name="@m.jit(preprocess=False)"/>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@m.jit(preprocess=False)</a:t>
            </a:r>
          </a:p>
        </p:txBody>
      </p:sp>
      <p:sp>
        <p:nvSpPr>
          <p:cNvPr id="11" name="def sum_upto(n: m.Int32):"/>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sum_upto(n: m.Int32):</a:t>
            </a:r>
          </a:p>
        </p:txBody>
      </p:sp>
      <p:sp>
        <p:nvSpPr>
          <p:cNvPr id="12" name="    acc = m.Int32(0)"/>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acc = m.Int32(0)</a:t>
            </a:r>
          </a:p>
        </p:txBody>
      </p:sp>
      <p:sp>
        <p:nvSpPr>
          <p:cNvPr id="13" name="    for i, current, result in m.for_("/>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for i, current, result in m.for_(</a:t>
            </a:r>
          </a:p>
        </p:txBody>
      </p:sp>
      <p:sp>
        <p:nvSpPr>
          <p:cNvPr id="14" name="            0, n, 1, [acc]):"/>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0, n, 1, [acc]):</a:t>
            </a:r>
          </a:p>
        </p:txBody>
      </p:sp>
      <p:sp>
        <p:nvSpPr>
          <p:cNvPr id="15" name="        m.yield_([current + i])"/>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m.yield_([current + i])</a:t>
            </a:r>
          </a:p>
        </p:txBody>
      </p:sp>
      <p:sp>
        <p:nvSpPr>
          <p:cNvPr id="16" name="    return result"/>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result</a:t>
            </a:r>
          </a:p>
        </p:txBody>
      </p:sp>
      <p:sp>
        <p:nvSpPr>
          <p:cNvPr id="17" name="Builders"/>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Builders</a:t>
            </a:r>
          </a:p>
        </p:txBody>
      </p:sp>
      <p:sp>
        <p:nvSpPr>
          <p:cNvPr id="18" name="for_ · if_ · while_ · yield_"/>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for_ · if_ · while_ · yield_</a:t>
            </a:r>
          </a:p>
        </p:txBody>
      </p:sp>
      <p:sp>
        <p:nvSpPr>
          <p:cNvPr id="19" name="Boolean helpers"/>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Boolean helpers</a:t>
            </a:r>
          </a:p>
        </p:txBody>
      </p:sp>
      <p:sp>
        <p:nvSpPr>
          <p:cNvPr id="20" name="and_ · or_ · not_ / any_ · all_"/>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and_ · or_ · not_</a:t>
            </a:r>
          </a:p>
          <a:p>
            <a:pPr algn="l">
              <a:lnSpc>
                <a:spcPts val="1391"/>
              </a:lnSpc>
              <a:spcBef>
                <a:spcPts val="0"/>
              </a:spcBef>
              <a:spcAft>
                <a:spcPts val="0"/>
              </a:spcAft>
            </a:pPr>
            <a:r>
              <a:rPr sz="1200" b="0">
                <a:solidFill>
                  <a:srgbClr val="616161"/>
                </a:solidFill>
                <a:latin typeface="NVIDIA Sans"/>
              </a:rPr>
              <a:t>any_ · all_</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Python → MLIR → 45"/>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Python → MLIR → 45</a:t>
            </a:r>
          </a:p>
        </p:txBody>
      </p:sp>
      <p:sp>
        <p:nvSpPr>
          <p:cNvPr id="5" name="3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34</a:t>
            </a:r>
          </a:p>
        </p:txBody>
      </p:sp>
      <p:sp>
        <p:nvSpPr>
          <p:cNvPr id="6" name="Worked examples"/>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Worked examples</a:t>
            </a:r>
          </a:p>
        </p:txBody>
      </p:sp>
      <p:sp>
        <p:nvSpPr>
          <p:cNvPr id="7" name="Rectangle 6"/>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9" name="Python · executed"/>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 · executed</a:t>
            </a:r>
          </a:p>
        </p:txBody>
      </p:sp>
      <p:sp>
        <p:nvSpPr>
          <p:cNvPr id="10" name="@m.jit"/>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11" name="def sum_upto(n: m.Int32):"/>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sum_upto(n: m.Int32):</a:t>
            </a:r>
          </a:p>
        </p:txBody>
      </p:sp>
      <p:sp>
        <p:nvSpPr>
          <p:cNvPr id="12" name="    acc = m.Int32(0)"/>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m.Int32(0)</a:t>
            </a:r>
          </a:p>
        </p:txBody>
      </p:sp>
      <p:sp>
        <p:nvSpPr>
          <p:cNvPr id="13" name="    for i in range(n):"/>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i in range(n):</a:t>
            </a:r>
          </a:p>
        </p:txBody>
      </p:sp>
      <p:sp>
        <p:nvSpPr>
          <p:cNvPr id="14" name="        acc += i"/>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i</a:t>
            </a:r>
          </a:p>
        </p:txBody>
      </p:sp>
      <p:sp>
        <p:nvSpPr>
          <p:cNvPr id="15" name="    return acc"/>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acc</a:t>
            </a:r>
          </a:p>
        </p:txBody>
      </p:sp>
      <p:sp>
        <p:nvSpPr>
          <p:cNvPr id="16" name=""/>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7" name="sum_upto(10)  # 45"/>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sum_upto(10)  # 45</a:t>
            </a:r>
          </a:p>
        </p:txBody>
      </p:sp>
      <p:sp>
        <p:nvSpPr>
          <p:cNvPr id="18" name="Rectangle 17"/>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9" name="Rectangle 18"/>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0" name="Generated MLIR"/>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Generated MLIR</a:t>
            </a:r>
          </a:p>
        </p:txBody>
      </p:sp>
      <p:sp>
        <p:nvSpPr>
          <p:cNvPr id="21" name="%sum = scf.for %i = %c0 to %n"/>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%sum = scf.for %i = %c0 to %n</a:t>
            </a:r>
          </a:p>
        </p:txBody>
      </p:sp>
      <p:sp>
        <p:nvSpPr>
          <p:cNvPr id="22" name="    step %c1 iter_args(%a = %zero)"/>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16600"/>
                </a:solidFill>
                <a:latin typeface="JetBrains Mono"/>
              </a:rPr>
              <a:t>    step %c1 iter_args(%a = %zero)</a:t>
            </a:r>
          </a:p>
        </p:txBody>
      </p:sp>
      <p:sp>
        <p:nvSpPr>
          <p:cNvPr id="23" name="    -&gt; (i32) : i32 {"/>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-&gt; (i32) : i32 {</a:t>
            </a:r>
          </a:p>
        </p:txBody>
      </p:sp>
      <p:sp>
        <p:nvSpPr>
          <p:cNvPr id="24" name="  %next = arith.addi %a, %i : i32"/>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%next = arith.addi %a, %i : i32</a:t>
            </a:r>
          </a:p>
        </p:txBody>
      </p:sp>
      <p:sp>
        <p:nvSpPr>
          <p:cNvPr id="25" name="  scf.yield %next : i32"/>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16600"/>
                </a:solidFill>
                <a:latin typeface="JetBrains Mono"/>
              </a:rPr>
              <a:t>  scf.yield %next : i32</a:t>
            </a:r>
          </a:p>
        </p:txBody>
      </p:sp>
      <p:sp>
        <p:nvSpPr>
          <p:cNvPr id="26" name="}"/>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t>
            </a:r>
          </a:p>
        </p:txBody>
      </p:sp>
      <p:sp>
        <p:nvSpPr>
          <p:cNvPr id="27" name="llvm.return %sum : i32"/>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llvm.return %sum : i32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Fuse a Python recip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Fuse a Python recipe</a:t>
            </a:r>
          </a:p>
        </p:txBody>
      </p:sp>
      <p:sp>
        <p:nvSpPr>
          <p:cNvPr id="5" name="3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35</a:t>
            </a:r>
          </a:p>
        </p:txBody>
      </p:sp>
      <p:sp>
        <p:nvSpPr>
          <p:cNvPr id="6" name="Worked examples"/>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Worked examples</a:t>
            </a:r>
          </a:p>
        </p:txBody>
      </p:sp>
      <p:sp>
        <p:nvSpPr>
          <p:cNvPr id="7" name="Staged array loop · Meta recipe loop"/>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Staged array loop · Meta recipe loop</a:t>
            </a:r>
          </a:p>
        </p:txBody>
      </p:sp>
      <p:sp>
        <p:nvSpPr>
          <p:cNvPr id="8" name="Rectangle 7"/>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9" name="Rectangle 8"/>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10" name="Python · NumPy buffer"/>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 · NumPy buffer</a:t>
            </a:r>
          </a:p>
        </p:txBody>
      </p:sp>
      <p:sp>
        <p:nvSpPr>
          <p:cNvPr id="11" name="@m.jit"/>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12" name="def fused(arr: m.Pointer[m.Float32],"/>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fused(arr: m.Pointer[m.Float32],</a:t>
            </a:r>
          </a:p>
        </p:txBody>
      </p:sp>
      <p:sp>
        <p:nvSpPr>
          <p:cNvPr id="13" name="          ops: m.Constexpr):"/>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ops: m.Constexpr):</a:t>
            </a:r>
          </a:p>
        </p:txBody>
      </p:sp>
      <p:sp>
        <p:nvSpPr>
          <p:cNvPr id="14" name="    for i in m.range(4):"/>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i in m.range(4):</a:t>
            </a:r>
          </a:p>
        </p:txBody>
      </p:sp>
      <p:sp>
        <p:nvSpPr>
          <p:cNvPr id="15" name="        x = arr[i]"/>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x = arr[i]</a:t>
            </a:r>
          </a:p>
        </p:txBody>
      </p:sp>
      <p:sp>
        <p:nvSpPr>
          <p:cNvPr id="16" name="        for op in ops.values():"/>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op in ops.values():</a:t>
            </a:r>
          </a:p>
        </p:txBody>
      </p:sp>
      <p:sp>
        <p:nvSpPr>
          <p:cNvPr id="17" name="            x = op.apply(x)"/>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x = op.apply(x)</a:t>
            </a:r>
          </a:p>
        </p:txBody>
      </p:sp>
      <p:sp>
        <p:nvSpPr>
          <p:cNvPr id="18" name="        arr[i] = x"/>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arr[i] = x</a:t>
            </a:r>
          </a:p>
        </p:txBody>
      </p:sp>
      <p:sp>
        <p:nvSpPr>
          <p:cNvPr id="19" name=""/>
          <p:cNvSpPr txBox="1"/>
          <p:nvPr/>
        </p:nvSpPr>
        <p:spPr>
          <a:xfrm>
            <a:off x="594360" y="346293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20" name="# [0, 1, 2, 3] -&gt; [6, 9, 12, 15]"/>
          <p:cNvSpPr txBox="1"/>
          <p:nvPr/>
        </p:nvSpPr>
        <p:spPr>
          <a:xfrm>
            <a:off x="594360" y="364662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[0, 1, 2, 3] -&gt; [6, 9, 12, 15]</a:t>
            </a:r>
          </a:p>
        </p:txBody>
      </p:sp>
      <p:sp>
        <p:nvSpPr>
          <p:cNvPr id="21" name="Rectangle 20"/>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22" name="Rectangle 21"/>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3" name="Loop body · MLIR"/>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Loop body · MLIR</a:t>
            </a:r>
          </a:p>
        </p:txBody>
      </p:sp>
      <p:sp>
        <p:nvSpPr>
          <p:cNvPr id="24" name="%p = llvm.getelementptr %arr[%i]"/>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%p = llvm.getelementptr %arr[%i]</a:t>
            </a:r>
          </a:p>
        </p:txBody>
      </p:sp>
      <p:sp>
        <p:nvSpPr>
          <p:cNvPr id="25" name="    : (!llvm.ptr, i32) -&gt; !llvm.ptr, f32"/>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 (!llvm.ptr, i32) -&gt; !llvm.ptr, f32</a:t>
            </a:r>
          </a:p>
        </p:txBody>
      </p:sp>
      <p:sp>
        <p:nvSpPr>
          <p:cNvPr id="26" name="%x = llvm.load %p : !llvm.ptr -&gt; f32"/>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%x = llvm.load %p : !llvm.ptr -&gt; f32</a:t>
            </a:r>
          </a:p>
        </p:txBody>
      </p:sp>
      <p:sp>
        <p:nvSpPr>
          <p:cNvPr id="27" name="%a = arith.addf %x, %two : f32"/>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 = arith.addf %x, %two : f32</a:t>
            </a:r>
          </a:p>
        </p:txBody>
      </p:sp>
      <p:sp>
        <p:nvSpPr>
          <p:cNvPr id="28" name="%r = arith.mulf %a, %three : f32"/>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%r = arith.mulf %a, %three : f32</a:t>
            </a:r>
          </a:p>
        </p:txBody>
      </p:sp>
      <p:sp>
        <p:nvSpPr>
          <p:cNvPr id="29" name="llvm.store %r, %p : f32, !llvm.ptr"/>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llvm.store %r, %p : f32, !llvm.ptr</a:t>
            </a:r>
          </a:p>
        </p:txBody>
      </p:sp>
      <p:sp>
        <p:nvSpPr>
          <p:cNvPr id="30" name="scf.yield"/>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16600"/>
                </a:solidFill>
                <a:latin typeface="JetBrains Mono"/>
              </a:rPr>
              <a:t>scf.yield</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3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36</a:t>
            </a:r>
          </a:p>
        </p:txBody>
      </p:sp>
      <p:sp>
        <p:nvSpPr>
          <p:cNvPr id="5" name="NEXT · AMIR TAVAKKOLI"/>
          <p:cNvSpPr txBox="1"/>
          <p:nvPr/>
        </p:nvSpPr>
        <p:spPr>
          <a:xfrm>
            <a:off x="475488" y="658368"/>
            <a:ext cx="8183879" cy="320040"/>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416600"/>
                </a:solidFill>
                <a:latin typeface="NVIDIA Sans"/>
              </a:rPr>
              <a:t>NEXT · AMIR TAVAKKOLI</a:t>
            </a:r>
          </a:p>
        </p:txBody>
      </p:sp>
      <p:sp>
        <p:nvSpPr>
          <p:cNvPr id="6" name="Richer mutation"/>
          <p:cNvSpPr txBox="1"/>
          <p:nvPr/>
        </p:nvSpPr>
        <p:spPr>
          <a:xfrm>
            <a:off x="448056" y="1627632"/>
            <a:ext cx="8229600" cy="1234440"/>
          </a:xfrm>
          <a:prstGeom prst="rect">
            <a:avLst/>
          </a:prstGeom>
          <a:noFill/>
        </p:spPr>
        <p:txBody>
          <a:bodyPr wrap="none" anchor="t" lIns="0" rIns="0" tIns="0" bIns="0">
            <a:noAutofit/>
          </a:bodyPr>
          <a:lstStyle/>
          <a:p>
            <a:pPr algn="l">
              <a:lnSpc>
                <a:spcPts val="3247"/>
              </a:lnSpc>
              <a:spcBef>
                <a:spcPts val="0"/>
              </a:spcBef>
              <a:spcAft>
                <a:spcPts val="0"/>
              </a:spcAft>
            </a:pPr>
            <a:r>
              <a:rPr sz="2800" b="0">
                <a:solidFill>
                  <a:srgbClr val="000000"/>
                </a:solidFill>
                <a:latin typeface="NVIDIA Sans Light"/>
              </a:rPr>
              <a:t>Richer mutation</a:t>
            </a:r>
          </a:p>
        </p:txBody>
      </p:sp>
      <p:sp>
        <p:nvSpPr>
          <p:cNvPr id="7" name="Objects · aliasing · staged control flow"/>
          <p:cNvSpPr txBox="1"/>
          <p:nvPr/>
        </p:nvSpPr>
        <p:spPr>
          <a:xfrm>
            <a:off x="475488" y="3118104"/>
            <a:ext cx="8193024" cy="804672"/>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616161"/>
                </a:solidFill>
                <a:latin typeface="NVIDIA Sans"/>
              </a:rPr>
              <a:t>Objects · aliasing · staged control flow</a:t>
            </a:r>
          </a:p>
        </p:txBody>
      </p:sp>
      <p:sp>
        <p:nvSpPr>
          <p:cNvPr id="8" name="Rectangle 7"/>
          <p:cNvSpPr/>
          <p:nvPr/>
        </p:nvSpPr>
        <p:spPr>
          <a:xfrm>
            <a:off x="475488" y="4169663"/>
            <a:ext cx="438912" cy="54864"/>
          </a:xfrm>
          <a:prstGeom prst="rect">
            <a:avLst/>
          </a:prstGeom>
          <a:solidFill>
            <a:srgbClr val="76B900"/>
          </a:solidFill>
          <a:ln>
            <a:noFill/>
          </a:ln>
          <a:effectLst/>
        </p:spPr>
        <p:txBody>
          <a:bodyPr rtlCol="0" anchor="ctr"/>
          <a:lstStyle/>
          <a:p>
            <a:pPr algn="ctr"/>
          </a:p>
        </p:txBody>
      </p:sp>
      <p:sp>
        <p:nvSpPr>
          <p:cNvPr id="9" name="Guray Ozen"/>
          <p:cNvSpPr txBox="1"/>
          <p:nvPr/>
        </p:nvSpPr>
        <p:spPr>
          <a:xfrm>
            <a:off x="1051560" y="4087368"/>
            <a:ext cx="7315200" cy="365760"/>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416600"/>
                </a:solidFill>
                <a:latin typeface="NVIDIA Sans"/>
              </a:rPr>
              <a:t>Guray Ozen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37"/>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37</a:t>
            </a:r>
          </a:p>
        </p:txBody>
      </p:sp>
      <p:sp>
        <p:nvSpPr>
          <p:cNvPr id="5" name="AMIR TAVAKKOLI"/>
          <p:cNvSpPr txBox="1"/>
          <p:nvPr/>
        </p:nvSpPr>
        <p:spPr>
          <a:xfrm>
            <a:off x="475488" y="658368"/>
            <a:ext cx="8183879" cy="320040"/>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416600"/>
                </a:solidFill>
                <a:latin typeface="NVIDIA Sans"/>
              </a:rPr>
              <a:t>AMIR TAVAKKOLI</a:t>
            </a:r>
          </a:p>
        </p:txBody>
      </p:sp>
      <p:sp>
        <p:nvSpPr>
          <p:cNvPr id="6" name="Advanced mutation tracking"/>
          <p:cNvSpPr txBox="1"/>
          <p:nvPr/>
        </p:nvSpPr>
        <p:spPr>
          <a:xfrm>
            <a:off x="448056" y="1627632"/>
            <a:ext cx="8229600" cy="1234440"/>
          </a:xfrm>
          <a:prstGeom prst="rect">
            <a:avLst/>
          </a:prstGeom>
          <a:noFill/>
        </p:spPr>
        <p:txBody>
          <a:bodyPr wrap="none" anchor="t" lIns="0" rIns="0" tIns="0" bIns="0">
            <a:noAutofit/>
          </a:bodyPr>
          <a:lstStyle/>
          <a:p>
            <a:pPr algn="l">
              <a:lnSpc>
                <a:spcPts val="3247"/>
              </a:lnSpc>
              <a:spcBef>
                <a:spcPts val="0"/>
              </a:spcBef>
              <a:spcAft>
                <a:spcPts val="0"/>
              </a:spcAft>
            </a:pPr>
            <a:r>
              <a:rPr sz="2800" b="0">
                <a:solidFill>
                  <a:srgbClr val="000000"/>
                </a:solidFill>
                <a:latin typeface="NVIDIA Sans Light"/>
              </a:rPr>
              <a:t>Advanced mutation tracking</a:t>
            </a:r>
          </a:p>
        </p:txBody>
      </p:sp>
      <p:sp>
        <p:nvSpPr>
          <p:cNvPr id="7" name="PyIR · Amir Tavakkoli"/>
          <p:cNvSpPr txBox="1"/>
          <p:nvPr/>
        </p:nvSpPr>
        <p:spPr>
          <a:xfrm>
            <a:off x="475488" y="3118104"/>
            <a:ext cx="8193024" cy="804672"/>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616161"/>
                </a:solidFill>
                <a:latin typeface="NVIDIA Sans"/>
              </a:rPr>
              <a:t>PyIR · Amir Tavakkoli</a:t>
            </a:r>
          </a:p>
        </p:txBody>
      </p:sp>
      <p:sp>
        <p:nvSpPr>
          <p:cNvPr id="8" name="Rectangle 7"/>
          <p:cNvSpPr/>
          <p:nvPr/>
        </p:nvSpPr>
        <p:spPr>
          <a:xfrm>
            <a:off x="475488" y="4169663"/>
            <a:ext cx="438912" cy="54864"/>
          </a:xfrm>
          <a:prstGeom prst="rect">
            <a:avLst/>
          </a:prstGeom>
          <a:solidFill>
            <a:srgbClr val="76B900"/>
          </a:solidFill>
          <a:ln>
            <a:noFill/>
          </a:ln>
          <a:effectLst/>
        </p:spPr>
        <p:txBody>
          <a:bodyPr rtlCol="0" anchor="ctr"/>
          <a:lstStyle/>
          <a:p>
            <a:pPr algn="ctr"/>
          </a:p>
        </p:txBody>
      </p:sp>
      <p:sp>
        <p:nvSpPr>
          <p:cNvPr id="9" name="Amir Tavakkoli"/>
          <p:cNvSpPr txBox="1"/>
          <p:nvPr/>
        </p:nvSpPr>
        <p:spPr>
          <a:xfrm>
            <a:off x="1051560" y="4087368"/>
            <a:ext cx="7315200" cy="365760"/>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416600"/>
                </a:solidFill>
                <a:latin typeface="NVIDIA Sans"/>
              </a:rPr>
              <a:t>Amir Tavakkoli</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ile IR: reuse BaseDSL"/>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Tile IR: reuse BaseDSL</a:t>
            </a:r>
          </a:p>
        </p:txBody>
      </p:sp>
      <p:sp>
        <p:nvSpPr>
          <p:cNvPr id="5" name="38"/>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38</a:t>
            </a:r>
          </a:p>
        </p:txBody>
      </p:sp>
      <p:sp>
        <p:nvSpPr>
          <p:cNvPr id="6" name="Tile IR sub-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Tile IR sub-DSL</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Tile IR backend · excerpt"/>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Tile IR backend · excerpt</a:t>
            </a:r>
          </a:p>
        </p:txBody>
      </p:sp>
      <p:sp>
        <p:nvSpPr>
          <p:cNvPr id="10" name="class CudaTileIR(BaseDSL):"/>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CudaTileIR(BaseDSL):</a:t>
            </a:r>
          </a:p>
        </p:txBody>
      </p:sp>
      <p:sp>
        <p:nvSpPr>
          <p:cNvPr id="11" name="    _env_class = CudaTileIREnvironmentManager"/>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_env_class = CudaTileIREnvironmentManager</a:t>
            </a:r>
          </a:p>
        </p:txBody>
      </p:sp>
      <p:sp>
        <p:nvSpPr>
          <p:cNvPr id="12" name="    def __init__(self):"/>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def __init__(self):</a:t>
            </a:r>
          </a:p>
        </p:txBody>
      </p:sp>
      <p:sp>
        <p:nvSpPr>
          <p:cNvPr id="13" name="        super().__init__("/>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super().__init__(</a:t>
            </a:r>
          </a:p>
        </p:txBody>
      </p:sp>
      <p:sp>
        <p:nvSpPr>
          <p:cNvPr id="14" name="            name=&quot;CUDA_TILE_DSL&quot;,"/>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name="CUDA_TILE_DSL",</a:t>
            </a:r>
          </a:p>
        </p:txBody>
      </p:sp>
      <p:sp>
        <p:nvSpPr>
          <p:cNvPr id="15" name="            dsl_package_name=[&quot;tile_ir&quot;],"/>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dsl_package_name=["tile_ir"],</a:t>
            </a:r>
          </a:p>
        </p:txBody>
      </p:sp>
      <p:sp>
        <p:nvSpPr>
          <p:cNvPr id="16" name="            compiler_provider=compiler_provider,"/>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compiler_provider=compiler_provider,</a:t>
            </a:r>
          </a:p>
        </p:txBody>
      </p:sp>
      <p:sp>
        <p:nvSpPr>
          <p:cNvPr id="17" name="            pass_sm_arch_name=&quot;compute-capability&quot;,"/>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pass_sm_arch_name="compute-capability",</a:t>
            </a:r>
          </a:p>
        </p:txBody>
      </p:sp>
      <p:sp>
        <p:nvSpPr>
          <p:cNvPr id="18" name="            device_compilation_only=True,"/>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device_compilation_only=True,</a:t>
            </a:r>
          </a:p>
        </p:txBody>
      </p:sp>
      <p:sp>
        <p:nvSpPr>
          <p:cNvPr id="19" name="            preprocess=True)"/>
          <p:cNvSpPr txBox="1"/>
          <p:nvPr/>
        </p:nvSpPr>
        <p:spPr>
          <a:xfrm>
            <a:off x="594360" y="369051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preprocess=True)</a:t>
            </a:r>
          </a:p>
        </p:txBody>
      </p:sp>
      <p:sp>
        <p:nvSpPr>
          <p:cNvPr id="20" name="Shared core"/>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Shared core</a:t>
            </a:r>
          </a:p>
        </p:txBody>
      </p:sp>
      <p:sp>
        <p:nvSpPr>
          <p:cNvPr id="21" name="Capture · types · diagnostics"/>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Capture · types · diagnostics</a:t>
            </a:r>
          </a:p>
        </p:txBody>
      </p:sp>
      <p:sp>
        <p:nvSpPr>
          <p:cNvPr id="22" name="Target policy"/>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Target policy</a:t>
            </a:r>
          </a:p>
        </p:txBody>
      </p:sp>
      <p:sp>
        <p:nvSpPr>
          <p:cNvPr id="23" name="Tile IR · codegen · launch"/>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Tile IR · codegen · launch</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ile IR: supply the loop builde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Tile IR: supply the loop builder</a:t>
            </a:r>
          </a:p>
        </p:txBody>
      </p:sp>
      <p:sp>
        <p:nvSpPr>
          <p:cNvPr id="5" name="39"/>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39</a:t>
            </a:r>
          </a:p>
        </p:txBody>
      </p:sp>
      <p:sp>
        <p:nvSpPr>
          <p:cNvPr id="6" name="Tile IR sub-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Tile IR sub-DSL</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Tile IR loop builder · excerpt"/>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Tile IR loop builder · excerpt</a:t>
            </a:r>
          </a:p>
        </p:txBody>
      </p:sp>
      <p:sp>
        <p:nvSpPr>
          <p:cNvPr id="10" name="def build_loop():"/>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build_loop():</a:t>
            </a:r>
          </a:p>
        </p:txBody>
      </p:sp>
      <p:sp>
        <p:nvSpPr>
          <p:cNvPr id="11" name="    def body(iv, *carried):"/>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def body(iv, *carried):</a:t>
            </a:r>
          </a:p>
        </p:txBody>
      </p:sp>
      <p:sp>
        <p:nvSpPr>
          <p:cNvPr id="12" name="        updated = captured_body(iv, *carried)"/>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updated = captured_body(iv, *carried)</a:t>
            </a:r>
          </a:p>
        </p:txBody>
      </p:sp>
      <p:sp>
        <p:nvSpPr>
          <p:cNvPr id="13" name="        tile.loop_continue(tuple(updated))"/>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tile.loop_continue(tuple(updated))</a:t>
            </a:r>
          </a:p>
        </p:txBody>
      </p:sp>
      <p:sp>
        <p:nvSpPr>
          <p:cNvPr id="14" name=""/>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5" name="    return tile.for_loop("/>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tile.for_loop(</a:t>
            </a:r>
          </a:p>
        </p:txBody>
      </p:sp>
      <p:sp>
        <p:nvSpPr>
          <p:cNvPr id="16" name="        body, lower_bound=start,"/>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body, lower_bound=start,</a:t>
            </a:r>
          </a:p>
        </p:txBody>
      </p:sp>
      <p:sp>
        <p:nvSpPr>
          <p:cNvPr id="17" name="        upper_bound=stop, step=step,"/>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upper_bound=stop, step=step,</a:t>
            </a:r>
          </a:p>
        </p:txBody>
      </p:sp>
      <p:sp>
        <p:nvSpPr>
          <p:cNvPr id="18" name="        init_values=list(write_args))"/>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init_values=list(write_args))</a:t>
            </a:r>
          </a:p>
        </p:txBody>
      </p:sp>
      <p:sp>
        <p:nvSpPr>
          <p:cNvPr id="19" name="Shared"/>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Shared</a:t>
            </a:r>
          </a:p>
        </p:txBody>
      </p:sp>
      <p:sp>
        <p:nvSpPr>
          <p:cNvPr id="20" name="Body + carried values"/>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Body + carried values</a:t>
            </a:r>
          </a:p>
        </p:txBody>
      </p:sp>
      <p:sp>
        <p:nvSpPr>
          <p:cNvPr id="21" name="Tile IR"/>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Tile IR</a:t>
            </a:r>
          </a:p>
        </p:txBody>
      </p:sp>
      <p:sp>
        <p:nvSpPr>
          <p:cNvPr id="22" name="for + continue"/>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for + continue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ile IR: a typed Python kernel"/>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Tile IR: a typed Python kernel</a:t>
            </a:r>
          </a:p>
        </p:txBody>
      </p:sp>
      <p:sp>
        <p:nvSpPr>
          <p:cNvPr id="5" name="40"/>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40</a:t>
            </a:r>
          </a:p>
        </p:txBody>
      </p:sp>
      <p:sp>
        <p:nvSpPr>
          <p:cNvPr id="6" name="Tile IR sub-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Tile IR sub-DSL</a:t>
            </a:r>
          </a:p>
        </p:txBody>
      </p:sp>
      <p:sp>
        <p:nvSpPr>
          <p:cNvPr id="7" name="Rectangle 6"/>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9" name="mlir dsl interface · target sketch"/>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mlir dsl interface · target sketch</a:t>
            </a:r>
          </a:p>
        </p:txBody>
      </p:sp>
      <p:sp>
        <p:nvSpPr>
          <p:cNvPr id="10" name="import tile_ir.cuda_tile_dsl as tile"/>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import tile_ir.cuda_tile_dsl as tile</a:t>
            </a:r>
          </a:p>
        </p:txBody>
      </p:sp>
      <p:sp>
        <p:nvSpPr>
          <p:cNvPr id="11" name=""/>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2" name="@tile.kernel"/>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84848"/>
                </a:solidFill>
                <a:latin typeface="JetBrains Mono"/>
              </a:rPr>
              <a:t>@tile.kernel</a:t>
            </a:r>
          </a:p>
        </p:txBody>
      </p:sp>
      <p:sp>
        <p:nvSpPr>
          <p:cNvPr id="13" name="def sum_upto(n: tile.Int32):"/>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sum_upto(n: tile.Int32):</a:t>
            </a:r>
          </a:p>
        </p:txBody>
      </p:sp>
      <p:sp>
        <p:nvSpPr>
          <p:cNvPr id="14" name="    acc = tile.constant(0)"/>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tile.constant(0)</a:t>
            </a:r>
          </a:p>
        </p:txBody>
      </p:sp>
      <p:sp>
        <p:nvSpPr>
          <p:cNvPr id="15" name="    for i in range(n):"/>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i in range(n):</a:t>
            </a:r>
          </a:p>
        </p:txBody>
      </p:sp>
      <p:sp>
        <p:nvSpPr>
          <p:cNvPr id="16" name="        acc += i"/>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i</a:t>
            </a:r>
          </a:p>
        </p:txBody>
      </p:sp>
      <p:sp>
        <p:nvSpPr>
          <p:cNvPr id="17" name="    tile.print_tko(&quot;sum=%i\n&quot;, [acc])"/>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tile.print_tko("sum=%i\n", [acc])</a:t>
            </a:r>
          </a:p>
        </p:txBody>
      </p:sp>
      <p:sp>
        <p:nvSpPr>
          <p:cNvPr id="18" name="Rectangle 17"/>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9" name="Rectangle 18"/>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0" name="Tile IR · loop body"/>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Tile IR · loop body</a:t>
            </a:r>
          </a:p>
        </p:txBody>
      </p:sp>
      <p:sp>
        <p:nvSpPr>
          <p:cNvPr id="21" name="%sum = for %i in (%zero to %n,"/>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%sum = for %i in (%zero to %n,</a:t>
            </a:r>
          </a:p>
        </p:txBody>
      </p:sp>
      <p:sp>
        <p:nvSpPr>
          <p:cNvPr id="22" name="    step %one) : tile&lt;i32&gt;"/>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step %one) : tile&lt;i32&gt;</a:t>
            </a:r>
          </a:p>
        </p:txBody>
      </p:sp>
      <p:sp>
        <p:nvSpPr>
          <p:cNvPr id="23" name="    iter_values(%acc = %zero)"/>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iter_values(%acc = %zero)</a:t>
            </a:r>
          </a:p>
        </p:txBody>
      </p:sp>
      <p:sp>
        <p:nvSpPr>
          <p:cNvPr id="24" name="    -&gt; (tile&lt;i32&gt;) {"/>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-&gt; (tile&lt;i32&gt;) {</a:t>
            </a:r>
          </a:p>
        </p:txBody>
      </p:sp>
      <p:sp>
        <p:nvSpPr>
          <p:cNvPr id="25" name="  %next = addi %acc, %i : tile&lt;i32&gt;"/>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%next = addi %acc, %i : tile&lt;i32&gt;</a:t>
            </a:r>
          </a:p>
        </p:txBody>
      </p:sp>
      <p:sp>
        <p:nvSpPr>
          <p:cNvPr id="26" name="  continue %next : tile&lt;i32&gt;"/>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continue %next : tile&lt;i32&gt;</a:t>
            </a:r>
          </a:p>
        </p:txBody>
      </p:sp>
      <p:sp>
        <p:nvSpPr>
          <p:cNvPr id="27" name="}"/>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ile IR: compile for the GPU"/>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Tile IR: compile for the GPU</a:t>
            </a:r>
          </a:p>
        </p:txBody>
      </p:sp>
      <p:sp>
        <p:nvSpPr>
          <p:cNvPr id="5" name="4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41</a:t>
            </a:r>
          </a:p>
        </p:txBody>
      </p:sp>
      <p:sp>
        <p:nvSpPr>
          <p:cNvPr id="6" name="Tile IR sub-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Tile IR sub-DSL</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Backend routes · excerpt"/>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Backend routes · excerpt</a:t>
            </a:r>
          </a:p>
        </p:txBody>
      </p:sp>
      <p:sp>
        <p:nvSpPr>
          <p:cNvPr id="10" name="# Offline path: Tile IR bytecode -&gt; cubin"/>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Offline path: Tile IR bytecode -&gt; cubin</a:t>
            </a:r>
          </a:p>
        </p:txBody>
      </p:sp>
      <p:sp>
        <p:nvSpPr>
          <p:cNvPr id="11" name="writeBytecode(output, module.operation)"/>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writeBytecode(output, module.operation)</a:t>
            </a:r>
          </a:p>
        </p:txBody>
      </p:sp>
      <p:sp>
        <p:nvSpPr>
          <p:cNvPr id="12" name="cubin = self._tileiras_compile_cubin(path)"/>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cubin = self._tileiras_compile_cubin(path)</a:t>
            </a:r>
          </a:p>
        </p:txBody>
      </p:sp>
      <p:sp>
        <p:nvSpPr>
          <p:cNvPr id="13" name=""/>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4" name="# Alternative: CUDA driver JIT"/>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Alternative: CUDA driver JIT</a:t>
            </a:r>
          </a:p>
        </p:txBody>
      </p:sp>
      <p:sp>
        <p:nvSpPr>
          <p:cNvPr id="15" name="library = cuda_helpers.load_library_from_file(path)"/>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library = cuda_helpers.load_library_from_file(path)</a:t>
            </a:r>
          </a:p>
        </p:txBody>
      </p:sp>
      <p:sp>
        <p:nvSpPr>
          <p:cNvPr id="16" name="kernel = cuda_helpers.get_library_kernel("/>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kernel = cuda_helpers.get_library_kernel(</a:t>
            </a:r>
          </a:p>
        </p:txBody>
      </p:sp>
      <p:sp>
        <p:nvSpPr>
          <p:cNvPr id="17" name="    library, name)"/>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library, name)</a:t>
            </a:r>
          </a:p>
        </p:txBody>
      </p:sp>
      <p:sp>
        <p:nvSpPr>
          <p:cNvPr id="18" name="Offline"/>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Offline</a:t>
            </a:r>
          </a:p>
        </p:txBody>
      </p:sp>
      <p:sp>
        <p:nvSpPr>
          <p:cNvPr id="19" name="Bytecode → tileiras → cubin"/>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Bytecode → tileiras → cubin</a:t>
            </a:r>
          </a:p>
        </p:txBody>
      </p:sp>
      <p:sp>
        <p:nvSpPr>
          <p:cNvPr id="20" name="Driver JIT"/>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Driver JIT</a:t>
            </a:r>
          </a:p>
        </p:txBody>
      </p:sp>
      <p:sp>
        <p:nvSpPr>
          <p:cNvPr id="21" name="Bytecode → CUDA driver"/>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Bytecode → CUDA driver</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ile IR: call the kernel"/>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Tile IR: call the kernel</a:t>
            </a:r>
          </a:p>
        </p:txBody>
      </p:sp>
      <p:sp>
        <p:nvSpPr>
          <p:cNvPr id="5" name="4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42</a:t>
            </a:r>
          </a:p>
        </p:txBody>
      </p:sp>
      <p:sp>
        <p:nvSpPr>
          <p:cNvPr id="6" name="Tile IR sub-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Tile IR sub-DSL</a:t>
            </a:r>
          </a:p>
        </p:txBody>
      </p:sp>
      <p:sp>
        <p:nvSpPr>
          <p:cNvPr id="7" name="Shared core. Your dialect, compiler, runtime."/>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Shared core. Your dialect, compiler, runtime.</a:t>
            </a:r>
          </a:p>
        </p:txBody>
      </p:sp>
      <p:sp>
        <p:nvSpPr>
          <p:cNvPr id="8" name="Rectangle 7"/>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9" name="Rectangle 8"/>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10" name="CUDA Python launch · excerpt"/>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CUDA Python launch · excerpt</a:t>
            </a:r>
          </a:p>
        </p:txBody>
      </p:sp>
      <p:sp>
        <p:nvSpPr>
          <p:cNvPr id="11" name="module = cuda_helpers.load_cubin_module(cubin)"/>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module = cuda_helpers.load_cubin_module(cubin)</a:t>
            </a:r>
          </a:p>
        </p:txBody>
      </p:sp>
      <p:sp>
        <p:nvSpPr>
          <p:cNvPr id="12" name="kernel = cuda_helpers.get_kernel_function("/>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kernel = cuda_helpers.get_kernel_function(</a:t>
            </a:r>
          </a:p>
        </p:txBody>
      </p:sp>
      <p:sp>
        <p:nvSpPr>
          <p:cNvPr id="13" name="    module, name)"/>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module, name)</a:t>
            </a:r>
          </a:p>
        </p:txBody>
      </p:sp>
      <p:sp>
        <p:nvSpPr>
          <p:cNvPr id="14" name="cuda_helpers.launch_kernel("/>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cuda_helpers.launch_kernel(</a:t>
            </a:r>
          </a:p>
        </p:txBody>
      </p:sp>
      <p:sp>
        <p:nvSpPr>
          <p:cNvPr id="15" name="    kernel, num_tiles, (1, 1, 1), stream,"/>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kernel, num_tiles, (1, 1, 1), stream,</a:t>
            </a:r>
          </a:p>
        </p:txBody>
      </p:sp>
      <p:sp>
        <p:nvSpPr>
          <p:cNvPr id="16" name="    smem_size=0, kernel_args=packed_args)"/>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smem_size=0, kernel_args=packed_args)</a:t>
            </a:r>
          </a:p>
        </p:txBody>
      </p:sp>
      <p:sp>
        <p:nvSpPr>
          <p:cNvPr id="17" name="Python call"/>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Python call</a:t>
            </a:r>
          </a:p>
        </p:txBody>
      </p:sp>
      <p:sp>
        <p:nvSpPr>
          <p:cNvPr id="18" name="sum_upto(10, /     num_tiles=[1, 1, 1])"/>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sum_upto(10,</a:t>
            </a:r>
          </a:p>
          <a:p>
            <a:pPr algn="l">
              <a:lnSpc>
                <a:spcPts val="1391"/>
              </a:lnSpc>
              <a:spcBef>
                <a:spcPts val="0"/>
              </a:spcBef>
              <a:spcAft>
                <a:spcPts val="0"/>
              </a:spcAft>
            </a:pPr>
            <a:r>
              <a:rPr sz="1200" b="0">
                <a:solidFill>
                  <a:srgbClr val="616161"/>
                </a:solidFill>
                <a:latin typeface="NVIDIA Sans"/>
              </a:rPr>
              <a:t>    num_tiles=[1, 1, 1])</a:t>
            </a:r>
          </a:p>
        </p:txBody>
      </p:sp>
      <p:sp>
        <p:nvSpPr>
          <p:cNvPr id="19" name="Expected"/>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Expected</a:t>
            </a:r>
          </a:p>
        </p:txBody>
      </p:sp>
      <p:sp>
        <p:nvSpPr>
          <p:cNvPr id="20" name="sum=45"/>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sum=45</a:t>
            </a:r>
          </a:p>
        </p:txBody>
      </p:sp>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build a Python DSL for MLIR</dc:title>
  <dc:subject>LLVM conference tutorial · mlir dsl · core: 30 minutes; mutation: 10 minutes; showcase: 5 minutes</dc:subject>
  <dc:creator>Guray Ozen; Amir Tavakkoli</dc:creator>
  <cp:keywords>MLIR, Python, DSL, tutorial, draft</cp:keywords>
  <dc:description>Draft v7. Uses the supplied cutlass-python-pytorch-v22 template and style.</dc:description>
  <cp:lastModifiedBy>Steve Canny</cp:lastModifiedBy>
  <cp:revision>1</cp:revision>
  <dcterms:created xsi:type="dcterms:W3CDTF">2013-01-27T09:14:16Z</dcterms:created>
  <dcterms:modified xsi:type="dcterms:W3CDTF">2013-01-27T09:15:58Z</dcterms:modified>
  <cp:category/>
</cp:coreProperties>
</file>