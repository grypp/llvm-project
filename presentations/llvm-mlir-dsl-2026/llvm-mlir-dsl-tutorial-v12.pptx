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Four use cases, shown as concrete pictures. (1) An ordinary public→internal→LLVM compiler pipeline is shown, with Python tests injecting IR directly at the internal dialect. This isolates an internal pass without having to manufacture a source program that reaches it. (2) Python generates recipe IR consumed by an external application; LLVM lowering is optional. (3) JIT, cache and environment modules compose inside a downstream DSL. (4) A user-facing Python language compiles to a GPU; NVIDIA CuTe DSL/CUTLASS Python is the linked production example. Each picture should be narrated, not read as a sentence. The recipe dialect is intentionally generic. V10: use cases are explicitly numbered 1–4; pause on each diagram for its motivation.</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Design principles</a:t>
            </a:r>
          </a:p>
          <a:p>
            <a:r>
              <a:t>Owner: Guray Ozen</a:t>
            </a:r>
          </a:p>
          <a:p>
            <a:r>
              <a:t>Clock: 01:15–01:45</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What is multi-stage programming?</a:t>
            </a:r>
          </a:p>
          <a:p>
            <a:r>
              <a:t>Owner: Guray Ozen</a:t>
            </a:r>
          </a:p>
          <a:p>
            <a:r>
              <a:t>Clock: 01:45–02:30</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Why multi-stage programming?</a:t>
            </a:r>
          </a:p>
          <a:p>
            <a:r>
              <a:t>Owner: Guray Ozen</a:t>
            </a:r>
          </a:p>
          <a:p>
            <a:r>
              <a:t>Clock: 02:30–03:15</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How to build a Python DSL for MLIR</a:t>
            </a:r>
          </a:p>
          <a:p>
            <a:r>
              <a:t>Owner: Guray Ozen</a:t>
            </a:r>
          </a:p>
          <a:p>
            <a:r>
              <a:t>Clock: 03:15–04:15</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One program. Two binding times.</a:t>
            </a:r>
          </a:p>
          <a:p>
            <a:r>
              <a:t>Owner: Guray Ozen</a:t>
            </a:r>
          </a:p>
          <a:p>
            <a:r>
              <a:t>Clock: 04:15–05:00</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MLIR compilers make different choices</a:t>
            </a:r>
          </a:p>
          <a:p>
            <a:r>
              <a:t>Owner: Guray Ozen</a:t>
            </a:r>
          </a:p>
          <a:p>
            <a:r>
              <a:t>Clock: 05:00–05:15</a:t>
            </a:r>
          </a:p>
          <a:p>
            <a:r>
              <a:t>Target duration: 00:15</a:t>
            </a:r>
          </a:p>
          <a:p/>
          <a:p>
            <a:r>
              <a:t>After the use cases and the choice of Python as a metaprogram, explain why MLIR needs a composable DSL architecture. MLIR serves many dialects, pass pipelines and frontend capture rules; one fixed frontend/lowering choice cannot cover all of them. This is the motivation for a shared core with selected plugins. Keep this slide as three short spoken prompts, not a compiler or region diagram. Compiler A and B may use unrelated dialects and lowering pipelines; their Python frontends can also require different capture rules. The shared DSL infrastructure therefore needs replaceable target-specific behavior. Ask how one core can support those choices, then define the plugin concept before drawing the solution. If a concrete control-flow example helps, use the source-checked comparison below verbally.</a:t>
            </a:r>
          </a:p>
          <a:p/>
          <a:p>
            <a:r>
              <a:t>Optional presenter example retained from v9: Use a precise IR comparison, not the blanket claim that SCF cannot express early termination. CUDA Tile IR loop has a break terminator that may occur in a nested if and targets its enclosing loop. SCF for is a counted, single-block region ending in scf.yield, without a direct break terminator. SCF while can terminate via scf.condition; a frontend can lower Python break using a different representation or rewrite. Therefore identical Python surface syntax may need a different AST strategy, callback set, region construction and lowering per target. The picture compares IR capabilities, not a claim that the current DKG Tile frontend already captures every early exit. Do not conflate loop break with early function return: Tile rules differ by operation/version. Sources are recorded in the accompanying evidence file. CUDA Tile for also disallows early termination: the left picture deliberately uses loop, not for. A custom ASTPreprocessorPlugin may need to replace preprocessor_class itself because the current shared rewrite can reject staged exits before callbacks run; changing only the loop executor does not guarantee support.</a:t>
            </a:r>
          </a:p>
          <a:p/>
          <a:p>
            <a:r>
              <a:t>SOURCES / PREPARATION</a:t>
            </a:r>
          </a:p>
          <a:p>
            <a:r>
              <a:t>verification/v9/control-flow-evidence.txt</a:t>
            </a:r>
          </a:p>
          <a:p>
            <a:r>
              <a:t>/home/gozen/work/llvm-project/mlir/tools/mlir-dsl/README.md</a:t>
            </a:r>
          </a:p>
          <a:p>
            <a:r>
              <a:t>https://docs.nvidia.com/cuda/tile-ir/latest/sections/introduction.html</a:t>
            </a:r>
          </a:p>
          <a:p>
            <a:r>
              <a:t>/home/gozen/work/llvm-project/mlir/tools/mlir-dsl/dsl/core/plugin.py</a:t>
            </a:r>
          </a:p>
          <a:p>
            <a:r>
              <a:t>https://docs.nvidia.com/cuda/tile-ir/latest/sections/operations.html</a:t>
            </a:r>
          </a:p>
          <a:p>
            <a:r>
              <a:t>https://docs.nvidia.com/cuda/tile-ir/13.1/sections/operations.html</a:t>
            </a:r>
          </a:p>
          <a:p>
            <a:r>
              <a:t>https://mlir.llvm.org/docs/Dialects/SCFDialect/</a:t>
            </a:r>
          </a:p>
          <a:p>
            <a:r>
              <a:t>/home/gozen/work/llvm-project/mlir/include/mlir/Dialect/SCF/IR/SCFOps.td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What is a plugin?</a:t>
            </a:r>
          </a:p>
          <a:p>
            <a:r>
              <a:t>Owner: Guray Ozen</a:t>
            </a:r>
          </a:p>
          <a:p>
            <a:r>
              <a:t>Clock: 05:15–05:30</a:t>
            </a:r>
          </a:p>
          <a:p>
            <a:r>
              <a:t>Target duration: 00:15</a:t>
            </a:r>
          </a:p>
          <a:p/>
          <a:p>
            <a:r>
              <a:t>A plugin is a reusable component that implements hooks provided by the core. The DSL author selects it; the core invokes it during tracing, compilation or runtime integration. One concrete existing example is the LLVM dialect plugin: it supplies the default type/operation emitter, host-entry construction and compiler provider. The next slide distinguishes all three plugin families. Plugins can be reused by the reference mlir dsl and by a new downstream DSL. No single plugin must implement every hook.</a:t>
            </a:r>
          </a:p>
          <a:p/>
          <a:p>
            <a:r>
              <a:t>SOURCES / PREPARATION</a:t>
            </a:r>
          </a:p>
          <a:p>
            <a:r>
              <a:t>/home/gozen/work/llvm-project/mlir/tools/mlir-dsl/dsl/core/plugin.py</a:t>
            </a:r>
          </a:p>
          <a:p>
            <a:r>
              <a:t>/home/gozen/work/llvm-project/mlir/tools/mlir-dsl/README.md</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What does each plugin supply?</a:t>
            </a:r>
          </a:p>
          <a:p>
            <a:r>
              <a:t>Owner: Guray Ozen</a:t>
            </a:r>
          </a:p>
          <a:p>
            <a:r>
              <a:t>Clock: 05:30–06:15</a:t>
            </a:r>
          </a:p>
          <a:p>
            <a:r>
              <a:t>Target duration: 00:45</a:t>
            </a:r>
          </a:p>
          <a:p/>
          <a:p>
            <a:r>
              <a:t>Explain the extension mechanism with three transformations. The core calls selected hooks; plugins provide their implementations. (1) For a staged Int32, the core type policy infers/promotes operands and delegates addition to the active emitter; LlvmEmitter.add emits arith.addi. The LLVM dialect plugin also supplies type construction, host entries, lowering and compiler providers. The literal one becomes a constant as needed. (2) With a staged bound n, the SCF AST plugin rewrites native Python for into helper calls; its executor callbacks build scf.for via the SCF builders. Meta bounds can instead run in Python. It is a rewrite-plus-builder collaboration, not the AST pass alone emitting the operation. (3) The DLPack plugin installs an argument adapter: a supported contiguous DLPack producer becomes a Pointer while the lease retains the producer; dimensions remain separate arguments. Other third-party plugins export calls, for example TVM-FFI. These are shipped implementations that a new DSL can reuse or replace. Shared diagnostics, AST orchestration, cache and inference are not reimplemented by each plugin. The core alone does not specify an end-to-end language; BaseDSL can run after composing default SCF/LLVM plugins. Full protocol signatures and lifecycle hooks follow later in the tutorial.</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a:p>
            <a:r>
              <a:t>/home/gozen/work/llvm-project/mlir/tools/mlir-dsl/dsl/plugins/dialects/llvm/emitter.py</a:t>
            </a:r>
          </a:p>
          <a:p>
            <a:r>
              <a:t>/home/gozen/work/llvm-project/mlir/tools/mlir-dsl/dsl/plugins/ast_preprocessor/scf.py</a:t>
            </a:r>
          </a:p>
          <a:p>
            <a:r>
              <a:t>/home/gozen/work/llvm-project/mlir/tools/mlir-dsl/dsl/plugins/dialects/scf/executors.py</a:t>
            </a:r>
          </a:p>
          <a:p>
            <a:r>
              <a:t>/home/gozen/work/llvm-project/mlir/tools/mlir-dsl/dsl/plugins/thirdparty/dlpack/plugin.py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mlir dsl: plugins make it runnable</a:t>
            </a:r>
          </a:p>
          <a:p>
            <a:r>
              <a:t>Owner: Guray Ozen</a:t>
            </a:r>
          </a:p>
          <a:p>
            <a:r>
              <a:t>Clock: 06:15–07:00</a:t>
            </a:r>
          </a:p>
          <a:p>
            <a:r>
              <a:t>Target duration: 00:45</a:t>
            </a:r>
          </a:p>
          <a:p/>
          <a:p>
            <a:r>
              <a:t>Follow a concrete end-to-end reference program. The reference namespace mlir.mlir_dsl exposes decorators and selected plugin helpers; mlir.dsl is the reusable authoring core. The working CPU composition includes the SCF and LLVM dialect plugins and the SCF AST plugin. For this tiny scalar example, factor=3 is Python Meta configuration, while annotated x is a runtime i32. The core specializes the function; the LLVM emitter produces the shown arith.constant and arith.muli inside a func.func host entry. The three IR lines are a body excerpt, not a standalone module. The LLVM plugin supplies the compiler/host-entry provider and lowering path; MLIR ExecutionEngine runs the resulting CPU function with x=4 and returns 12. SCF and its AST plugin are available in the reference language but this straight-line example does not need a staged loop. The exact Python computation already passed in verification/v8/presentation-examples.txt; no fresh implementation or GPU execution is claimed. Below, show a real plugin selection excerpt for a downstream BaseDSL subclass. Imports, class declaration, namespace exports and initialization are omitted; these are taught immediately after the agenda. ScfDialectPlugin precedes LlvmDialectPlugin because SCF lowering introduces arithmetic operations. Listing the LLVM emitter suppresses automatic dialect defaults, so SCF is selected explicitly. MyDialectPlugin here is an additive registration/lowering plugin with no replacement emitter: reuse SCF/LLVM and native capture, add a dialect. This snippet illustrates API composition and has not been separately executed. A replacement emitter needs compatible host/compiler/control-flow providers rather than blindly combining arbitrary plugins. Third-party adapters/exports are optional additions and are not needed by this scalar program.</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a:p>
            <a:r>
              <a:t>/home/gozen/work/llvm-project/mlir/tools/mlir-dsl/dsl/core/plugin.py</a:t>
            </a:r>
          </a:p>
          <a:p>
            <a:r>
              <a:t>verification/v8/presentation-examples.py</a:t>
            </a:r>
          </a:p>
          <a:p>
            <a:r>
              <a:t>verification/v8/presentation-examples.txt</a:t>
            </a:r>
          </a:p>
          <a:p>
            <a:r>
              <a:t>/home/gozen/work/llvm-project/mlir/tools/mlir-dsl/dsl/plugins/dialects/llvm/plugin.py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Agenda</a:t>
            </a:r>
          </a:p>
          <a:p>
            <a:r>
              <a:t>Owner: Guray Ozen</a:t>
            </a:r>
          </a:p>
          <a:p>
            <a:r>
              <a:t>Clock: 07:00–07:15</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Build your language from BaseDSL</a:t>
            </a:r>
          </a:p>
          <a:p>
            <a:r>
              <a:t>Owner: Guray Ozen</a:t>
            </a:r>
          </a:p>
          <a:p>
            <a:r>
              <a:t>Clock: 07:15–08:00</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Core API ≠ language namespace</a:t>
            </a:r>
          </a:p>
          <a:p>
            <a:r>
              <a:t>Owner: Guray Ozen</a:t>
            </a:r>
          </a:p>
          <a:p>
            <a:r>
              <a:t>Clock: 08:00–08:30</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Three plugin families</a:t>
            </a:r>
          </a:p>
          <a:p>
            <a:r>
              <a:t>Owner: Guray Ozen</a:t>
            </a:r>
          </a:p>
          <a:p>
            <a:r>
              <a:t>Clock: 08:30–09:00</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Extend a dialect—or replace its IR</a:t>
            </a:r>
          </a:p>
          <a:p>
            <a:r>
              <a:t>Owner: Guray Ozen</a:t>
            </a:r>
          </a:p>
          <a:p>
            <a:r>
              <a:t>Clock: 09:00–09:45</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A plugin follows the compilation lifecycle</a:t>
            </a:r>
          </a:p>
          <a:p>
            <a:r>
              <a:t>Owner: Guray Ozen</a:t>
            </a:r>
          </a:p>
          <a:p>
            <a:r>
              <a:t>Clock: 09:45–10:45</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@jit and @kernel</a:t>
            </a:r>
          </a:p>
          <a:p>
            <a:r>
              <a:t>Owner: Guray Ozen</a:t>
            </a:r>
          </a:p>
          <a:p>
            <a:r>
              <a:t>Clock: 10:45–11:45</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Types keep policy; emitters choose IR</a:t>
            </a:r>
          </a:p>
          <a:p>
            <a:r>
              <a:t>Owner: Guray Ozen</a:t>
            </a:r>
          </a:p>
          <a:p>
            <a:r>
              <a:t>Clock: 11:45–12:45</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One emitter, three value families</a:t>
            </a:r>
          </a:p>
          <a:p>
            <a:r>
              <a:t>Owner: Guray Ozen</a:t>
            </a:r>
          </a:p>
          <a:p>
            <a:r>
              <a:t>Clock: 12:45–13:15</a:t>
            </a:r>
          </a:p>
          <a:p>
            <a:r>
              <a:t>Target duration: 00:30</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Local type inference</a:t>
            </a:r>
          </a:p>
          <a:p>
            <a:r>
              <a:t>Owner: Guray Ozen</a:t>
            </a:r>
          </a:p>
          <a:p>
            <a:r>
              <a:t>Clock: 13:15–14:00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Same Python types. Different IR.</a:t>
            </a:r>
          </a:p>
          <a:p>
            <a:r>
              <a:t>Owner: Guray Ozen</a:t>
            </a:r>
          </a:p>
          <a:p>
            <a:r>
              <a:t>Clock: 14:00–14:45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Install the emitter as a dialect plugin</a:t>
            </a:r>
          </a:p>
          <a:p>
            <a:r>
              <a:t>Owner: Guray Ozen</a:t>
            </a:r>
          </a:p>
          <a:p>
            <a:r>
              <a:t>Clock: 14:45–15:45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Add mydialect.Tensor</a:t>
            </a:r>
          </a:p>
          <a:p>
            <a:r>
              <a:t>Owner: Guray Ozen</a:t>
            </a:r>
          </a:p>
          <a:p>
            <a:r>
              <a:t>Clock: 15:45–16:45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Python values specialize the program</a:t>
            </a:r>
          </a:p>
          <a:p>
            <a:r>
              <a:t>Owner: Guray Ozen</a:t>
            </a:r>
          </a:p>
          <a:p>
            <a:r>
              <a:t>Clock: 16:45–17:30</a:t>
            </a:r>
          </a:p>
          <a:p>
            <a:r>
              <a:t>Target duration: 00:45</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Objects + dictionaries → arithmetic</a:t>
            </a:r>
          </a:p>
          <a:p>
            <a:r>
              <a:t>Owner: Guray Ozen</a:t>
            </a:r>
          </a:p>
          <a:p>
            <a:r>
              <a:t>Clock: 17:30–18:30</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A GPU plugin supplies kernel + launch</a:t>
            </a:r>
          </a:p>
          <a:p>
            <a:r>
              <a:t>Owner: Guray Ozen</a:t>
            </a:r>
          </a:p>
          <a:p>
            <a:r>
              <a:t>Clock: 18:30–19:15</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DLPack is a boundary plugin</a:t>
            </a:r>
          </a:p>
          <a:p>
            <a:r>
              <a:t>Owner: Guray Ozen</a:t>
            </a:r>
          </a:p>
          <a:p>
            <a:r>
              <a:t>Clock: 19:15–20:00</a:t>
            </a:r>
          </a:p>
          <a:p>
            <a:r>
              <a:t>Target duration: 00:45</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Compile now. Call later.</a:t>
            </a:r>
          </a:p>
          <a:p>
            <a:r>
              <a:t>Owner: Guray Ozen</a:t>
            </a:r>
          </a:p>
          <a:p>
            <a:r>
              <a:t>Clock: 20:00–20:45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An export plugin wraps both sides</a:t>
            </a:r>
          </a:p>
          <a:p>
            <a:r>
              <a:t>Owner: Guray Ozen</a:t>
            </a:r>
          </a:p>
          <a:p>
            <a:r>
              <a:t>Clock: 20:45–21:30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Errors + MLIR remarks</a:t>
            </a:r>
          </a:p>
          <a:p>
            <a:r>
              <a:t>Owner: Guray Ozen</a:t>
            </a:r>
          </a:p>
          <a:p>
            <a:r>
              <a:t>Clock: 21:30–22:00</a:t>
            </a:r>
          </a:p>
          <a:p>
            <a:r>
              <a:t>Target duration: 00:30</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See what the compiler does</a:t>
            </a:r>
          </a:p>
          <a:p>
            <a:r>
              <a:t>Owner: Guray Ozen</a:t>
            </a:r>
          </a:p>
          <a:p>
            <a:r>
              <a:t>Clock: 22:00–22:30</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Cache compilation work</a:t>
            </a:r>
          </a:p>
          <a:p>
            <a:r>
              <a:t>Owner: Guray Ozen</a:t>
            </a:r>
          </a:p>
          <a:p>
            <a:r>
              <a:t>Clock: 22:30–23:15</a:t>
            </a:r>
          </a:p>
          <a:p>
            <a:r>
              <a:t>Target duration: 00:45</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shared core + reusable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shared core + reusable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07592"/>
            <a:ext cx="3959352" cy="141732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307592"/>
            <a:ext cx="41148" cy="1417320"/>
          </a:xfrm>
          <a:prstGeom prst="rect">
            <a:avLst/>
          </a:prstGeom>
          <a:solidFill>
            <a:srgbClr val="76B900"/>
          </a:solidFill>
          <a:ln>
            <a:noFill/>
          </a:ln>
          <a:effectLst/>
        </p:spPr>
        <p:txBody>
          <a:bodyPr rtlCol="0" anchor="ctr"/>
          <a:lstStyle/>
          <a:p>
            <a:pPr algn="ctr"/>
          </a:p>
        </p:txBody>
      </p:sp>
      <p:sp>
        <p:nvSpPr>
          <p:cNvPr id="9" name="Rectangle 8"/>
          <p:cNvSpPr/>
          <p:nvPr/>
        </p:nvSpPr>
        <p:spPr>
          <a:xfrm>
            <a:off x="640080" y="1403604"/>
            <a:ext cx="320040" cy="320040"/>
          </a:xfrm>
          <a:prstGeom prst="rect">
            <a:avLst/>
          </a:prstGeom>
          <a:solidFill>
            <a:srgbClr val="76B900"/>
          </a:solidFill>
          <a:ln>
            <a:noFill/>
          </a:ln>
          <a:effectLst/>
        </p:spPr>
        <p:txBody>
          <a:bodyPr rtlCol="0" anchor="ctr"/>
          <a:lstStyle/>
          <a:p>
            <a:pPr algn="ctr"/>
          </a:p>
        </p:txBody>
      </p:sp>
      <p:sp>
        <p:nvSpPr>
          <p:cNvPr id="10" name="01"/>
          <p:cNvSpPr txBox="1"/>
          <p:nvPr/>
        </p:nvSpPr>
        <p:spPr>
          <a:xfrm>
            <a:off x="649224"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1" name="Test internal IR"/>
          <p:cNvSpPr txBox="1"/>
          <p:nvPr/>
        </p:nvSpPr>
        <p:spPr>
          <a:xfrm>
            <a:off x="1088136"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Test internal IR</a:t>
            </a:r>
          </a:p>
        </p:txBody>
      </p:sp>
      <p:sp>
        <p:nvSpPr>
          <p:cNvPr id="12" name="Rectangle 11"/>
          <p:cNvSpPr/>
          <p:nvPr/>
        </p:nvSpPr>
        <p:spPr>
          <a:xfrm>
            <a:off x="685800" y="2221991"/>
            <a:ext cx="868680" cy="329184"/>
          </a:xfrm>
          <a:prstGeom prst="rect">
            <a:avLst/>
          </a:prstGeom>
          <a:solidFill>
            <a:srgbClr val="FFFFFF"/>
          </a:solidFill>
          <a:ln w="8890">
            <a:solidFill>
              <a:srgbClr val="D5D5D5"/>
            </a:solidFill>
          </a:ln>
          <a:effectLst/>
        </p:spPr>
        <p:txBody>
          <a:bodyPr rtlCol="0" anchor="ctr"/>
          <a:lstStyle/>
          <a:p>
            <a:pPr algn="ctr"/>
          </a:p>
        </p:txBody>
      </p:sp>
      <p:sp>
        <p:nvSpPr>
          <p:cNvPr id="13" name="Public"/>
          <p:cNvSpPr txBox="1"/>
          <p:nvPr/>
        </p:nvSpPr>
        <p:spPr>
          <a:xfrm>
            <a:off x="708660" y="2290572"/>
            <a:ext cx="822959"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Public</a:t>
            </a:r>
          </a:p>
        </p:txBody>
      </p:sp>
      <p:cxnSp>
        <p:nvCxnSpPr>
          <p:cNvPr id="14" name="Connector 13"/>
          <p:cNvCxnSpPr/>
          <p:nvPr/>
        </p:nvCxnSpPr>
        <p:spPr>
          <a:xfrm>
            <a:off x="1586484" y="2386584"/>
            <a:ext cx="329184"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956816" y="2221991"/>
            <a:ext cx="1033271" cy="329184"/>
          </a:xfrm>
          <a:prstGeom prst="rect">
            <a:avLst/>
          </a:prstGeom>
          <a:solidFill>
            <a:srgbClr val="F0F6E6"/>
          </a:solidFill>
          <a:ln w="8890">
            <a:solidFill>
              <a:srgbClr val="76B900"/>
            </a:solidFill>
          </a:ln>
          <a:effectLst/>
        </p:spPr>
        <p:txBody>
          <a:bodyPr rtlCol="0" anchor="ctr"/>
          <a:lstStyle/>
          <a:p>
            <a:pPr algn="ctr"/>
          </a:p>
        </p:txBody>
      </p:sp>
      <p:sp>
        <p:nvSpPr>
          <p:cNvPr id="16" name="Internal"/>
          <p:cNvSpPr txBox="1"/>
          <p:nvPr/>
        </p:nvSpPr>
        <p:spPr>
          <a:xfrm>
            <a:off x="1979676" y="2290572"/>
            <a:ext cx="987551"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Internal</a:t>
            </a:r>
          </a:p>
        </p:txBody>
      </p:sp>
      <p:cxnSp>
        <p:nvCxnSpPr>
          <p:cNvPr id="17" name="Connector 16"/>
          <p:cNvCxnSpPr/>
          <p:nvPr/>
        </p:nvCxnSpPr>
        <p:spPr>
          <a:xfrm>
            <a:off x="3022092" y="238658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28415" y="2221991"/>
            <a:ext cx="896112" cy="329184"/>
          </a:xfrm>
          <a:prstGeom prst="rect">
            <a:avLst/>
          </a:prstGeom>
          <a:solidFill>
            <a:srgbClr val="FFFFFF"/>
          </a:solidFill>
          <a:ln w="8890">
            <a:solidFill>
              <a:srgbClr val="D5D5D5"/>
            </a:solidFill>
          </a:ln>
          <a:effectLst/>
        </p:spPr>
        <p:txBody>
          <a:bodyPr rtlCol="0" anchor="ctr"/>
          <a:lstStyle/>
          <a:p>
            <a:pPr algn="ctr"/>
          </a:p>
        </p:txBody>
      </p:sp>
      <p:sp>
        <p:nvSpPr>
          <p:cNvPr id="19" name="LLVM"/>
          <p:cNvSpPr txBox="1"/>
          <p:nvPr/>
        </p:nvSpPr>
        <p:spPr>
          <a:xfrm>
            <a:off x="3351275" y="2290572"/>
            <a:ext cx="850392"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LLVM</a:t>
            </a:r>
          </a:p>
        </p:txBody>
      </p:sp>
      <p:sp>
        <p:nvSpPr>
          <p:cNvPr id="20" name="Rectangle 19"/>
          <p:cNvSpPr/>
          <p:nvPr/>
        </p:nvSpPr>
        <p:spPr>
          <a:xfrm>
            <a:off x="1920240" y="1810512"/>
            <a:ext cx="1106424" cy="256032"/>
          </a:xfrm>
          <a:prstGeom prst="rect">
            <a:avLst/>
          </a:prstGeom>
          <a:solidFill>
            <a:srgbClr val="76B900"/>
          </a:solidFill>
          <a:ln>
            <a:noFill/>
          </a:ln>
          <a:effectLst/>
        </p:spPr>
        <p:txBody>
          <a:bodyPr rtlCol="0" anchor="ctr"/>
          <a:lstStyle/>
          <a:p>
            <a:pPr algn="ctr"/>
          </a:p>
        </p:txBody>
      </p:sp>
      <p:sp>
        <p:nvSpPr>
          <p:cNvPr id="21" name="Python test"/>
          <p:cNvSpPr txBox="1"/>
          <p:nvPr/>
        </p:nvSpPr>
        <p:spPr>
          <a:xfrm>
            <a:off x="1956816" y="1860804"/>
            <a:ext cx="1033271" cy="17373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000000"/>
                </a:solidFill>
                <a:latin typeface="NVIDIA Sans"/>
              </a:rPr>
              <a:t>Python test</a:t>
            </a:r>
          </a:p>
        </p:txBody>
      </p:sp>
      <p:cxnSp>
        <p:nvCxnSpPr>
          <p:cNvPr id="22" name="Connector 21"/>
          <p:cNvCxnSpPr/>
          <p:nvPr/>
        </p:nvCxnSpPr>
        <p:spPr>
          <a:xfrm>
            <a:off x="2473452" y="2080260"/>
            <a:ext cx="0" cy="105155"/>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00016" y="1307592"/>
            <a:ext cx="3959352" cy="1417320"/>
          </a:xfrm>
          <a:prstGeom prst="rect">
            <a:avLst/>
          </a:prstGeom>
          <a:solidFill>
            <a:srgbClr val="F7F7F7"/>
          </a:solidFill>
          <a:ln>
            <a:noFill/>
          </a:ln>
          <a:effectLst/>
        </p:spPr>
        <p:txBody>
          <a:bodyPr rtlCol="0" anchor="ctr"/>
          <a:lstStyle/>
          <a:p>
            <a:pPr algn="ctr"/>
          </a:p>
        </p:txBody>
      </p:sp>
      <p:sp>
        <p:nvSpPr>
          <p:cNvPr id="24" name="Rectangle 23"/>
          <p:cNvSpPr/>
          <p:nvPr/>
        </p:nvSpPr>
        <p:spPr>
          <a:xfrm>
            <a:off x="4700016" y="1307592"/>
            <a:ext cx="41148" cy="1417320"/>
          </a:xfrm>
          <a:prstGeom prst="rect">
            <a:avLst/>
          </a:prstGeom>
          <a:solidFill>
            <a:srgbClr val="76B900"/>
          </a:solidFill>
          <a:ln>
            <a:noFill/>
          </a:ln>
          <a:effectLst/>
        </p:spPr>
        <p:txBody>
          <a:bodyPr rtlCol="0" anchor="ctr"/>
          <a:lstStyle/>
          <a:p>
            <a:pPr algn="ctr"/>
          </a:p>
        </p:txBody>
      </p:sp>
      <p:sp>
        <p:nvSpPr>
          <p:cNvPr id="25" name="Rectangle 24"/>
          <p:cNvSpPr/>
          <p:nvPr/>
        </p:nvSpPr>
        <p:spPr>
          <a:xfrm>
            <a:off x="4855464" y="1403604"/>
            <a:ext cx="320040" cy="320040"/>
          </a:xfrm>
          <a:prstGeom prst="rect">
            <a:avLst/>
          </a:prstGeom>
          <a:solidFill>
            <a:srgbClr val="76B900"/>
          </a:solidFill>
          <a:ln>
            <a:noFill/>
          </a:ln>
          <a:effectLst/>
        </p:spPr>
        <p:txBody>
          <a:bodyPr rtlCol="0" anchor="ctr"/>
          <a:lstStyle/>
          <a:p>
            <a:pPr algn="ctr"/>
          </a:p>
        </p:txBody>
      </p:sp>
      <p:sp>
        <p:nvSpPr>
          <p:cNvPr id="26" name="02"/>
          <p:cNvSpPr txBox="1"/>
          <p:nvPr/>
        </p:nvSpPr>
        <p:spPr>
          <a:xfrm>
            <a:off x="4864608"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7" name="Generate recipe IR"/>
          <p:cNvSpPr txBox="1"/>
          <p:nvPr/>
        </p:nvSpPr>
        <p:spPr>
          <a:xfrm>
            <a:off x="5303520"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Generate recipe IR</a:t>
            </a:r>
          </a:p>
        </p:txBody>
      </p:sp>
      <p:sp>
        <p:nvSpPr>
          <p:cNvPr id="28" name="Rectangle 27"/>
          <p:cNvSpPr/>
          <p:nvPr/>
        </p:nvSpPr>
        <p:spPr>
          <a:xfrm>
            <a:off x="5230368" y="177393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9" name="Connector 28"/>
          <p:cNvCxnSpPr/>
          <p:nvPr/>
        </p:nvCxnSpPr>
        <p:spPr>
          <a:xfrm>
            <a:off x="5404104" y="177393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04104" y="186994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04104" y="177393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lt;/&gt;"/>
          <p:cNvSpPr txBox="1"/>
          <p:nvPr/>
        </p:nvSpPr>
        <p:spPr>
          <a:xfrm>
            <a:off x="5250484"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3" name="Python"/>
          <p:cNvSpPr txBox="1"/>
          <p:nvPr/>
        </p:nvSpPr>
        <p:spPr>
          <a:xfrm>
            <a:off x="4768596"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4" name="Connector 33"/>
          <p:cNvCxnSpPr/>
          <p:nvPr/>
        </p:nvCxnSpPr>
        <p:spPr>
          <a:xfrm>
            <a:off x="5623560"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19672" y="1773936"/>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6" name="Connector 35"/>
          <p:cNvCxnSpPr/>
          <p:nvPr/>
        </p:nvCxnSpPr>
        <p:spPr>
          <a:xfrm>
            <a:off x="6693408" y="1773936"/>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93408" y="1869948"/>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93408" y="1773936"/>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6539788"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40" name="Recipe IR"/>
          <p:cNvSpPr txBox="1"/>
          <p:nvPr/>
        </p:nvSpPr>
        <p:spPr>
          <a:xfrm>
            <a:off x="6057900"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41" name="Connector 40"/>
          <p:cNvCxnSpPr/>
          <p:nvPr/>
        </p:nvCxnSpPr>
        <p:spPr>
          <a:xfrm>
            <a:off x="6912864"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7767828" y="1773936"/>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External / consumer"/>
          <p:cNvSpPr txBox="1"/>
          <p:nvPr/>
        </p:nvSpPr>
        <p:spPr>
          <a:xfrm>
            <a:off x="7347204" y="218541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External</a:t>
            </a:r>
          </a:p>
          <a:p>
            <a:pPr algn="ctr">
              <a:lnSpc>
                <a:spcPts val="1218"/>
              </a:lnSpc>
              <a:spcBef>
                <a:spcPts val="0"/>
              </a:spcBef>
              <a:spcAft>
                <a:spcPts val="0"/>
              </a:spcAft>
            </a:pPr>
            <a:r>
              <a:rPr sz="1050" b="0">
                <a:solidFill>
                  <a:srgbClr val="000000"/>
                </a:solidFill>
                <a:latin typeface="NVIDIA Sans"/>
              </a:rPr>
              <a:t>consumer</a:t>
            </a:r>
          </a:p>
        </p:txBody>
      </p:sp>
      <p:sp>
        <p:nvSpPr>
          <p:cNvPr id="44" name="Rectangle 43"/>
          <p:cNvSpPr/>
          <p:nvPr/>
        </p:nvSpPr>
        <p:spPr>
          <a:xfrm>
            <a:off x="484632" y="2816352"/>
            <a:ext cx="3959352" cy="1417320"/>
          </a:xfrm>
          <a:prstGeom prst="rect">
            <a:avLst/>
          </a:prstGeom>
          <a:solidFill>
            <a:srgbClr val="F7F7F7"/>
          </a:solidFill>
          <a:ln>
            <a:noFill/>
          </a:ln>
          <a:effectLst/>
        </p:spPr>
        <p:txBody>
          <a:bodyPr rtlCol="0" anchor="ctr"/>
          <a:lstStyle/>
          <a:p>
            <a:pPr algn="ctr"/>
          </a:p>
        </p:txBody>
      </p:sp>
      <p:sp>
        <p:nvSpPr>
          <p:cNvPr id="45" name="Rectangle 44"/>
          <p:cNvSpPr/>
          <p:nvPr/>
        </p:nvSpPr>
        <p:spPr>
          <a:xfrm>
            <a:off x="484632" y="2816352"/>
            <a:ext cx="41148" cy="1417320"/>
          </a:xfrm>
          <a:prstGeom prst="rect">
            <a:avLst/>
          </a:prstGeom>
          <a:solidFill>
            <a:srgbClr val="76B900"/>
          </a:solidFill>
          <a:ln>
            <a:noFill/>
          </a:ln>
          <a:effectLst/>
        </p:spPr>
        <p:txBody>
          <a:bodyPr rtlCol="0" anchor="ctr"/>
          <a:lstStyle/>
          <a:p>
            <a:pPr algn="ctr"/>
          </a:p>
        </p:txBody>
      </p:sp>
      <p:sp>
        <p:nvSpPr>
          <p:cNvPr id="46" name="Rectangle 45"/>
          <p:cNvSpPr/>
          <p:nvPr/>
        </p:nvSpPr>
        <p:spPr>
          <a:xfrm>
            <a:off x="640080" y="2912364"/>
            <a:ext cx="320040" cy="320040"/>
          </a:xfrm>
          <a:prstGeom prst="rect">
            <a:avLst/>
          </a:prstGeom>
          <a:solidFill>
            <a:srgbClr val="76B900"/>
          </a:solidFill>
          <a:ln>
            <a:noFill/>
          </a:ln>
          <a:effectLst/>
        </p:spPr>
        <p:txBody>
          <a:bodyPr rtlCol="0" anchor="ctr"/>
          <a:lstStyle/>
          <a:p>
            <a:pPr algn="ctr"/>
          </a:p>
        </p:txBody>
      </p:sp>
      <p:sp>
        <p:nvSpPr>
          <p:cNvPr id="47" name="03"/>
          <p:cNvSpPr txBox="1"/>
          <p:nvPr/>
        </p:nvSpPr>
        <p:spPr>
          <a:xfrm>
            <a:off x="649224"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8" name="Reuse building blocks"/>
          <p:cNvSpPr txBox="1"/>
          <p:nvPr/>
        </p:nvSpPr>
        <p:spPr>
          <a:xfrm>
            <a:off x="1088136"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Reuse building blocks</a:t>
            </a:r>
          </a:p>
        </p:txBody>
      </p:sp>
      <p:sp>
        <p:nvSpPr>
          <p:cNvPr id="49" name="Rectangle 48"/>
          <p:cNvSpPr/>
          <p:nvPr/>
        </p:nvSpPr>
        <p:spPr>
          <a:xfrm>
            <a:off x="2295144" y="3300984"/>
            <a:ext cx="1929384" cy="832104"/>
          </a:xfrm>
          <a:prstGeom prst="rect">
            <a:avLst/>
          </a:prstGeom>
          <a:solidFill>
            <a:srgbClr val="FFFFFF"/>
          </a:solidFill>
          <a:ln w="8890">
            <a:solidFill>
              <a:srgbClr val="76B900"/>
            </a:solidFill>
          </a:ln>
          <a:effectLst/>
        </p:spPr>
        <p:txBody>
          <a:bodyPr rtlCol="0" anchor="ctr"/>
          <a:lstStyle/>
          <a:p>
            <a:pPr algn="ctr"/>
          </a:p>
        </p:txBody>
      </p:sp>
      <p:sp>
        <p:nvSpPr>
          <p:cNvPr id="50" name="MyDSL"/>
          <p:cNvSpPr txBox="1"/>
          <p:nvPr/>
        </p:nvSpPr>
        <p:spPr>
          <a:xfrm>
            <a:off x="2862072" y="3602736"/>
            <a:ext cx="1124712" cy="283464"/>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MyDSL</a:t>
            </a:r>
          </a:p>
        </p:txBody>
      </p:sp>
      <p:sp>
        <p:nvSpPr>
          <p:cNvPr id="51" name="Rectangle 50"/>
          <p:cNvSpPr/>
          <p:nvPr/>
        </p:nvSpPr>
        <p:spPr>
          <a:xfrm>
            <a:off x="713232" y="3319272"/>
            <a:ext cx="1024128" cy="228600"/>
          </a:xfrm>
          <a:prstGeom prst="rect">
            <a:avLst/>
          </a:prstGeom>
          <a:solidFill>
            <a:srgbClr val="F0F6E6"/>
          </a:solidFill>
          <a:ln w="8890">
            <a:solidFill>
              <a:srgbClr val="76B900"/>
            </a:solidFill>
          </a:ln>
          <a:effectLst/>
        </p:spPr>
        <p:txBody>
          <a:bodyPr rtlCol="0" anchor="ctr"/>
          <a:lstStyle/>
          <a:p>
            <a:pPr algn="ctr"/>
          </a:p>
        </p:txBody>
      </p:sp>
      <p:sp>
        <p:nvSpPr>
          <p:cNvPr id="52" name="JIT"/>
          <p:cNvSpPr txBox="1"/>
          <p:nvPr/>
        </p:nvSpPr>
        <p:spPr>
          <a:xfrm>
            <a:off x="745236" y="3358591"/>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JIT</a:t>
            </a:r>
          </a:p>
        </p:txBody>
      </p:sp>
      <p:cxnSp>
        <p:nvCxnSpPr>
          <p:cNvPr id="53" name="Connector 52"/>
          <p:cNvCxnSpPr/>
          <p:nvPr/>
        </p:nvCxnSpPr>
        <p:spPr>
          <a:xfrm>
            <a:off x="1783080" y="3433572"/>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2414015" y="3351276"/>
            <a:ext cx="182880" cy="164592"/>
          </a:xfrm>
          <a:prstGeom prst="rect">
            <a:avLst/>
          </a:prstGeom>
          <a:solidFill>
            <a:srgbClr val="76B900"/>
          </a:solidFill>
          <a:ln>
            <a:noFill/>
          </a:ln>
          <a:effectLst/>
        </p:spPr>
        <p:txBody>
          <a:bodyPr rtlCol="0" anchor="ctr"/>
          <a:lstStyle/>
          <a:p>
            <a:pPr algn="ctr"/>
          </a:p>
        </p:txBody>
      </p:sp>
      <p:sp>
        <p:nvSpPr>
          <p:cNvPr id="55" name="Rectangle 54"/>
          <p:cNvSpPr/>
          <p:nvPr/>
        </p:nvSpPr>
        <p:spPr>
          <a:xfrm>
            <a:off x="713232" y="3602736"/>
            <a:ext cx="1024128" cy="228600"/>
          </a:xfrm>
          <a:prstGeom prst="rect">
            <a:avLst/>
          </a:prstGeom>
          <a:solidFill>
            <a:srgbClr val="F0F6E6"/>
          </a:solidFill>
          <a:ln w="8890">
            <a:solidFill>
              <a:srgbClr val="76B900"/>
            </a:solidFill>
          </a:ln>
          <a:effectLst/>
        </p:spPr>
        <p:txBody>
          <a:bodyPr rtlCol="0" anchor="ctr"/>
          <a:lstStyle/>
          <a:p>
            <a:pPr algn="ctr"/>
          </a:p>
        </p:txBody>
      </p:sp>
      <p:sp>
        <p:nvSpPr>
          <p:cNvPr id="56" name="Cache"/>
          <p:cNvSpPr txBox="1"/>
          <p:nvPr/>
        </p:nvSpPr>
        <p:spPr>
          <a:xfrm>
            <a:off x="745236" y="3642055"/>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Cache</a:t>
            </a:r>
          </a:p>
        </p:txBody>
      </p:sp>
      <p:cxnSp>
        <p:nvCxnSpPr>
          <p:cNvPr id="57" name="Connector 56"/>
          <p:cNvCxnSpPr/>
          <p:nvPr/>
        </p:nvCxnSpPr>
        <p:spPr>
          <a:xfrm>
            <a:off x="1783080" y="3717035"/>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414015" y="3634740"/>
            <a:ext cx="182880" cy="164592"/>
          </a:xfrm>
          <a:prstGeom prst="rect">
            <a:avLst/>
          </a:prstGeom>
          <a:solidFill>
            <a:srgbClr val="76B900"/>
          </a:solidFill>
          <a:ln>
            <a:noFill/>
          </a:ln>
          <a:effectLst/>
        </p:spPr>
        <p:txBody>
          <a:bodyPr rtlCol="0" anchor="ctr"/>
          <a:lstStyle/>
          <a:p>
            <a:pPr algn="ctr"/>
          </a:p>
        </p:txBody>
      </p:sp>
      <p:sp>
        <p:nvSpPr>
          <p:cNvPr id="59" name="Rectangle 58"/>
          <p:cNvSpPr/>
          <p:nvPr/>
        </p:nvSpPr>
        <p:spPr>
          <a:xfrm>
            <a:off x="713232" y="3886200"/>
            <a:ext cx="1024128" cy="228600"/>
          </a:xfrm>
          <a:prstGeom prst="rect">
            <a:avLst/>
          </a:prstGeom>
          <a:solidFill>
            <a:srgbClr val="F0F6E6"/>
          </a:solidFill>
          <a:ln w="8890">
            <a:solidFill>
              <a:srgbClr val="76B900"/>
            </a:solidFill>
          </a:ln>
          <a:effectLst/>
        </p:spPr>
        <p:txBody>
          <a:bodyPr rtlCol="0" anchor="ctr"/>
          <a:lstStyle/>
          <a:p>
            <a:pPr algn="ctr"/>
          </a:p>
        </p:txBody>
      </p:sp>
      <p:sp>
        <p:nvSpPr>
          <p:cNvPr id="60" name="Env"/>
          <p:cNvSpPr txBox="1"/>
          <p:nvPr/>
        </p:nvSpPr>
        <p:spPr>
          <a:xfrm>
            <a:off x="745236" y="3925519"/>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Env</a:t>
            </a:r>
          </a:p>
        </p:txBody>
      </p:sp>
      <p:cxnSp>
        <p:nvCxnSpPr>
          <p:cNvPr id="61" name="Connector 60"/>
          <p:cNvCxnSpPr/>
          <p:nvPr/>
        </p:nvCxnSpPr>
        <p:spPr>
          <a:xfrm>
            <a:off x="1783080" y="4000500"/>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414015" y="3918204"/>
            <a:ext cx="182880" cy="164592"/>
          </a:xfrm>
          <a:prstGeom prst="rect">
            <a:avLst/>
          </a:prstGeom>
          <a:solidFill>
            <a:srgbClr val="76B900"/>
          </a:solidFill>
          <a:ln>
            <a:noFill/>
          </a:ln>
          <a:effectLst/>
        </p:spPr>
        <p:txBody>
          <a:bodyPr rtlCol="0" anchor="ctr"/>
          <a:lstStyle/>
          <a:p>
            <a:pPr algn="ctr"/>
          </a:p>
        </p:txBody>
      </p:sp>
      <p:sp>
        <p:nvSpPr>
          <p:cNvPr id="63" name="Rectangle 62"/>
          <p:cNvSpPr/>
          <p:nvPr/>
        </p:nvSpPr>
        <p:spPr>
          <a:xfrm>
            <a:off x="4700016" y="2816352"/>
            <a:ext cx="3959352" cy="1417320"/>
          </a:xfrm>
          <a:prstGeom prst="rect">
            <a:avLst/>
          </a:prstGeom>
          <a:solidFill>
            <a:srgbClr val="F7F7F7"/>
          </a:solidFill>
          <a:ln>
            <a:noFill/>
          </a:ln>
          <a:effectLst/>
        </p:spPr>
        <p:txBody>
          <a:bodyPr rtlCol="0" anchor="ctr"/>
          <a:lstStyle/>
          <a:p>
            <a:pPr algn="ctr"/>
          </a:p>
        </p:txBody>
      </p:sp>
      <p:sp>
        <p:nvSpPr>
          <p:cNvPr id="64" name="Rectangle 63"/>
          <p:cNvSpPr/>
          <p:nvPr/>
        </p:nvSpPr>
        <p:spPr>
          <a:xfrm>
            <a:off x="4700016" y="2816352"/>
            <a:ext cx="41148" cy="1417320"/>
          </a:xfrm>
          <a:prstGeom prst="rect">
            <a:avLst/>
          </a:prstGeom>
          <a:solidFill>
            <a:srgbClr val="76B900"/>
          </a:solidFill>
          <a:ln>
            <a:noFill/>
          </a:ln>
          <a:effectLst/>
        </p:spPr>
        <p:txBody>
          <a:bodyPr rtlCol="0" anchor="ctr"/>
          <a:lstStyle/>
          <a:p>
            <a:pPr algn="ctr"/>
          </a:p>
        </p:txBody>
      </p:sp>
      <p:sp>
        <p:nvSpPr>
          <p:cNvPr id="65" name="Rectangle 64"/>
          <p:cNvSpPr/>
          <p:nvPr/>
        </p:nvSpPr>
        <p:spPr>
          <a:xfrm>
            <a:off x="4855464" y="2912364"/>
            <a:ext cx="320040" cy="320040"/>
          </a:xfrm>
          <a:prstGeom prst="rect">
            <a:avLst/>
          </a:prstGeom>
          <a:solidFill>
            <a:srgbClr val="76B900"/>
          </a:solidFill>
          <a:ln>
            <a:noFill/>
          </a:ln>
          <a:effectLst/>
        </p:spPr>
        <p:txBody>
          <a:bodyPr rtlCol="0" anchor="ctr"/>
          <a:lstStyle/>
          <a:p>
            <a:pPr algn="ctr"/>
          </a:p>
        </p:txBody>
      </p:sp>
      <p:sp>
        <p:nvSpPr>
          <p:cNvPr id="66" name="04"/>
          <p:cNvSpPr txBox="1"/>
          <p:nvPr/>
        </p:nvSpPr>
        <p:spPr>
          <a:xfrm>
            <a:off x="4864608"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67" name="Build a full language"/>
          <p:cNvSpPr txBox="1"/>
          <p:nvPr/>
        </p:nvSpPr>
        <p:spPr>
          <a:xfrm>
            <a:off x="5303520"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Build a full language</a:t>
            </a:r>
          </a:p>
        </p:txBody>
      </p:sp>
      <p:sp>
        <p:nvSpPr>
          <p:cNvPr id="68" name="Rectangle 67"/>
          <p:cNvSpPr/>
          <p:nvPr/>
        </p:nvSpPr>
        <p:spPr>
          <a:xfrm>
            <a:off x="5230368" y="328269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9" name="Connector 68"/>
          <p:cNvCxnSpPr/>
          <p:nvPr/>
        </p:nvCxnSpPr>
        <p:spPr>
          <a:xfrm>
            <a:off x="5404104" y="328269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04104" y="337870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04104" y="328269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5250484" y="342900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73" name="Python code"/>
          <p:cNvSpPr txBox="1"/>
          <p:nvPr/>
        </p:nvSpPr>
        <p:spPr>
          <a:xfrm>
            <a:off x="4768596" y="369417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 code</a:t>
            </a:r>
          </a:p>
        </p:txBody>
      </p:sp>
      <p:cxnSp>
        <p:nvCxnSpPr>
          <p:cNvPr id="74" name="Connector 73"/>
          <p:cNvCxnSpPr/>
          <p:nvPr/>
        </p:nvCxnSpPr>
        <p:spPr>
          <a:xfrm>
            <a:off x="5623560"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6478524" y="3282696"/>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DSL compiler"/>
          <p:cNvSpPr txBox="1"/>
          <p:nvPr/>
        </p:nvSpPr>
        <p:spPr>
          <a:xfrm>
            <a:off x="6057900"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 compiler</a:t>
            </a:r>
          </a:p>
        </p:txBody>
      </p:sp>
      <p:cxnSp>
        <p:nvCxnSpPr>
          <p:cNvPr id="77" name="Connector 76"/>
          <p:cNvCxnSpPr/>
          <p:nvPr/>
        </p:nvCxnSpPr>
        <p:spPr>
          <a:xfrm>
            <a:off x="6912864"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7808976" y="3319272"/>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79" name="Connector 78"/>
          <p:cNvCxnSpPr/>
          <p:nvPr/>
        </p:nvCxnSpPr>
        <p:spPr>
          <a:xfrm>
            <a:off x="7872984"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72984"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72400"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083296"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946136"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946136"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772400"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083296"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019288"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019288"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772400"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083296"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91" name="01"/>
          <p:cNvSpPr txBox="1"/>
          <p:nvPr/>
        </p:nvSpPr>
        <p:spPr>
          <a:xfrm>
            <a:off x="7827264" y="3392424"/>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92" name="GPU"/>
          <p:cNvSpPr txBox="1"/>
          <p:nvPr/>
        </p:nvSpPr>
        <p:spPr>
          <a:xfrm>
            <a:off x="7347204"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GPU</a:t>
            </a:r>
          </a:p>
        </p:txBody>
      </p:sp>
      <p:sp>
        <p:nvSpPr>
          <p:cNvPr id="93" name="NVIDIA CuTe DSL / CUTLASS Python"/>
          <p:cNvSpPr txBox="1"/>
          <p:nvPr/>
        </p:nvSpPr>
        <p:spPr>
          <a:xfrm>
            <a:off x="4864608" y="4050791"/>
            <a:ext cx="3630168" cy="164592"/>
          </a:xfrm>
          <a:prstGeom prst="rect">
            <a:avLst/>
          </a:prstGeom>
          <a:noFill/>
        </p:spPr>
        <p:txBody>
          <a:bodyPr wrap="none" anchor="t" lIns="0" rIns="0" tIns="0" bIns="0">
            <a:noAutofit/>
          </a:bodyPr>
          <a:lstStyle/>
          <a:p>
            <a:pPr algn="ctr">
              <a:lnSpc>
                <a:spcPts val="1090"/>
              </a:lnSpc>
              <a:spcBef>
                <a:spcPts val="0"/>
              </a:spcBef>
              <a:spcAft>
                <a:spcPts val="0"/>
              </a:spcAft>
            </a:pPr>
            <a:r>
              <a:rPr sz="940" b="0" u="sng">
                <a:solidFill>
                  <a:srgbClr val="416600"/>
                </a:solidFill>
                <a:latin typeface="NVIDIA Sans"/>
                <a:hlinkClick r:id="rId3"/>
              </a:rPr>
              <a:t>NVIDIA CuTe DSL / CUTLASS Python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compilers make different cho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compilers make different choices</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Different dialects."/>
          <p:cNvSpPr txBox="1"/>
          <p:nvPr/>
        </p:nvSpPr>
        <p:spPr>
          <a:xfrm>
            <a:off x="557784" y="1572768"/>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dialects.</a:t>
            </a:r>
          </a:p>
        </p:txBody>
      </p:sp>
      <p:sp>
        <p:nvSpPr>
          <p:cNvPr id="8" name="Different passes."/>
          <p:cNvSpPr txBox="1"/>
          <p:nvPr/>
        </p:nvSpPr>
        <p:spPr>
          <a:xfrm>
            <a:off x="557784" y="2249424"/>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passes.</a:t>
            </a:r>
          </a:p>
        </p:txBody>
      </p:sp>
      <p:sp>
        <p:nvSpPr>
          <p:cNvPr id="9" name="Different capture rules."/>
          <p:cNvSpPr txBox="1"/>
          <p:nvPr/>
        </p:nvSpPr>
        <p:spPr>
          <a:xfrm>
            <a:off x="557784" y="2926080"/>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capture rules.</a:t>
            </a:r>
          </a:p>
        </p:txBody>
      </p:sp>
      <p:sp>
        <p:nvSpPr>
          <p:cNvPr id="10" name="How can we reuse one DSL core?"/>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How can we reuse one DSL 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A reusable component that adds DSL behavior."/>
          <p:cNvSpPr txBox="1"/>
          <p:nvPr/>
        </p:nvSpPr>
        <p:spPr>
          <a:xfrm>
            <a:off x="539496" y="1508760"/>
            <a:ext cx="8046720" cy="731520"/>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A reusable component that adds DSL behavior.</a:t>
            </a:r>
          </a:p>
        </p:txBody>
      </p:sp>
      <p:sp>
        <p:nvSpPr>
          <p:cNvPr id="8" name="Your DSL selects plugins."/>
          <p:cNvSpPr txBox="1"/>
          <p:nvPr/>
        </p:nvSpPr>
        <p:spPr>
          <a:xfrm>
            <a:off x="557784" y="256946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Your DSL selects plugins.</a:t>
            </a:r>
          </a:p>
        </p:txBody>
      </p:sp>
      <p:sp>
        <p:nvSpPr>
          <p:cNvPr id="9" name="The core calls their hooks."/>
          <p:cNvSpPr txBox="1"/>
          <p:nvPr/>
        </p:nvSpPr>
        <p:spPr>
          <a:xfrm>
            <a:off x="557784" y="316382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The core calls their hooks.</a:t>
            </a:r>
          </a:p>
        </p:txBody>
      </p:sp>
      <p:sp>
        <p:nvSpPr>
          <p:cNvPr id="10" name="Example: the LLVM plugin supplies IR and compilation."/>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Example: the LLVM plugin supplies IR and compilation.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does each plugin supp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does each plugin supply?</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he core calls plugin hooks"/>
          <p:cNvSpPr txBox="1"/>
          <p:nvPr/>
        </p:nvSpPr>
        <p:spPr>
          <a:xfrm>
            <a:off x="539496" y="1243584"/>
            <a:ext cx="3849624" cy="274320"/>
          </a:xfrm>
          <a:prstGeom prst="rect">
            <a:avLst/>
          </a:prstGeom>
          <a:noFill/>
        </p:spPr>
        <p:txBody>
          <a:bodyPr wrap="none" anchor="t" lIns="0" rIns="0" tIns="0" bIns="0">
            <a:noAutofit/>
          </a:bodyPr>
          <a:lstStyle/>
          <a:p>
            <a:pPr algn="l">
              <a:lnSpc>
                <a:spcPts val="1670"/>
              </a:lnSpc>
              <a:spcBef>
                <a:spcPts val="0"/>
              </a:spcBef>
              <a:spcAft>
                <a:spcPts val="0"/>
              </a:spcAft>
            </a:pPr>
            <a:r>
              <a:rPr sz="1440" b="1">
                <a:solidFill>
                  <a:srgbClr val="000000"/>
                </a:solidFill>
                <a:latin typeface="NVIDIA Sans"/>
              </a:rPr>
              <a:t>The core calls plugin hooks</a:t>
            </a:r>
          </a:p>
        </p:txBody>
      </p:sp>
      <p:sp>
        <p:nvSpPr>
          <p:cNvPr id="8" name="The core alone is not an end-to-end DSL."/>
          <p:cNvSpPr txBox="1"/>
          <p:nvPr/>
        </p:nvSpPr>
        <p:spPr>
          <a:xfrm>
            <a:off x="4471416" y="1266444"/>
            <a:ext cx="4078224" cy="228600"/>
          </a:xfrm>
          <a:prstGeom prst="rect">
            <a:avLst/>
          </a:prstGeom>
          <a:noFill/>
        </p:spPr>
        <p:txBody>
          <a:bodyPr wrap="none" anchor="t" lIns="0" rIns="0" tIns="0" bIns="0">
            <a:noAutofit/>
          </a:bodyPr>
          <a:lstStyle/>
          <a:p>
            <a:pPr algn="r">
              <a:lnSpc>
                <a:spcPts val="1334"/>
              </a:lnSpc>
              <a:spcBef>
                <a:spcPts val="0"/>
              </a:spcBef>
              <a:spcAft>
                <a:spcPts val="0"/>
              </a:spcAft>
            </a:pPr>
            <a:r>
              <a:rPr sz="1150" b="0">
                <a:solidFill>
                  <a:srgbClr val="616161"/>
                </a:solidFill>
                <a:latin typeface="NVIDIA Sans"/>
              </a:rPr>
              <a:t>The core alone is not an end-to-end DSL.</a:t>
            </a:r>
          </a:p>
        </p:txBody>
      </p:sp>
      <p:sp>
        <p:nvSpPr>
          <p:cNvPr id="9" name="Rectangle 8"/>
          <p:cNvSpPr/>
          <p:nvPr/>
        </p:nvSpPr>
        <p:spPr>
          <a:xfrm>
            <a:off x="484632" y="1627632"/>
            <a:ext cx="8174736" cy="301752"/>
          </a:xfrm>
          <a:prstGeom prst="rect">
            <a:avLst/>
          </a:prstGeom>
          <a:solidFill>
            <a:srgbClr val="F7F7F7"/>
          </a:solidFill>
          <a:ln>
            <a:noFill/>
          </a:ln>
          <a:effectLst/>
        </p:spPr>
        <p:txBody>
          <a:bodyPr rtlCol="0" anchor="ctr"/>
          <a:lstStyle/>
          <a:p>
            <a:pPr algn="ctr"/>
          </a:p>
        </p:txBody>
      </p:sp>
      <p:sp>
        <p:nvSpPr>
          <p:cNvPr id="10" name="Diagnostics"/>
          <p:cNvSpPr txBox="1"/>
          <p:nvPr/>
        </p:nvSpPr>
        <p:spPr>
          <a:xfrm>
            <a:off x="640080" y="1670608"/>
            <a:ext cx="1874519" cy="228600"/>
          </a:xfrm>
          <a:prstGeom prst="rect">
            <a:avLst/>
          </a:prstGeom>
          <a:noFill/>
        </p:spPr>
        <p:txBody>
          <a:bodyPr wrap="none" anchor="t" lIns="0" rIns="0" tIns="0" bIns="0">
            <a:noAutofit/>
          </a:bodyPr>
          <a:lstStyle/>
          <a:p>
            <a:pPr algn="ctr">
              <a:lnSpc>
                <a:spcPts val="1461"/>
              </a:lnSpc>
              <a:spcBef>
                <a:spcPts val="0"/>
              </a:spcBef>
              <a:spcAft>
                <a:spcPts val="0"/>
              </a:spcAft>
            </a:pPr>
            <a:r>
              <a:rPr sz="1260" b="0">
                <a:solidFill>
                  <a:srgbClr val="616161"/>
                </a:solidFill>
                <a:latin typeface="NVIDIA Sans"/>
              </a:rPr>
              <a:t>Diagnostics</a:t>
            </a:r>
          </a:p>
        </p:txBody>
      </p:sp>
      <p:sp>
        <p:nvSpPr>
          <p:cNvPr id="11" name="AST-preprocess hooks"/>
          <p:cNvSpPr txBox="1"/>
          <p:nvPr/>
        </p:nvSpPr>
        <p:spPr>
          <a:xfrm>
            <a:off x="2679191" y="1670608"/>
            <a:ext cx="1874519" cy="228600"/>
          </a:xfrm>
          <a:prstGeom prst="rect">
            <a:avLst/>
          </a:prstGeom>
          <a:noFill/>
        </p:spPr>
        <p:txBody>
          <a:bodyPr wrap="none" anchor="t" lIns="0" rIns="0" tIns="0" bIns="0">
            <a:noAutofit/>
          </a:bodyPr>
          <a:lstStyle/>
          <a:p>
            <a:pPr algn="ctr">
              <a:lnSpc>
                <a:spcPts val="1461"/>
              </a:lnSpc>
              <a:spcBef>
                <a:spcPts val="0"/>
              </a:spcBef>
              <a:spcAft>
                <a:spcPts val="0"/>
              </a:spcAft>
            </a:pPr>
            <a:r>
              <a:rPr sz="1260" b="0">
                <a:solidFill>
                  <a:srgbClr val="616161"/>
                </a:solidFill>
                <a:latin typeface="NVIDIA Sans"/>
              </a:rPr>
              <a:t>AST-preprocess hooks</a:t>
            </a:r>
          </a:p>
        </p:txBody>
      </p:sp>
      <p:sp>
        <p:nvSpPr>
          <p:cNvPr id="12" name="JIT cache"/>
          <p:cNvSpPr txBox="1"/>
          <p:nvPr/>
        </p:nvSpPr>
        <p:spPr>
          <a:xfrm>
            <a:off x="4718304" y="1670608"/>
            <a:ext cx="1874519" cy="228600"/>
          </a:xfrm>
          <a:prstGeom prst="rect">
            <a:avLst/>
          </a:prstGeom>
          <a:noFill/>
        </p:spPr>
        <p:txBody>
          <a:bodyPr wrap="none" anchor="t" lIns="0" rIns="0" tIns="0" bIns="0">
            <a:noAutofit/>
          </a:bodyPr>
          <a:lstStyle/>
          <a:p>
            <a:pPr algn="ctr">
              <a:lnSpc>
                <a:spcPts val="1461"/>
              </a:lnSpc>
              <a:spcBef>
                <a:spcPts val="0"/>
              </a:spcBef>
              <a:spcAft>
                <a:spcPts val="0"/>
              </a:spcAft>
            </a:pPr>
            <a:r>
              <a:rPr sz="1260" b="0">
                <a:solidFill>
                  <a:srgbClr val="616161"/>
                </a:solidFill>
                <a:latin typeface="NVIDIA Sans"/>
              </a:rPr>
              <a:t>JIT cache</a:t>
            </a:r>
          </a:p>
        </p:txBody>
      </p:sp>
      <p:sp>
        <p:nvSpPr>
          <p:cNvPr id="13" name="Type inference"/>
          <p:cNvSpPr txBox="1"/>
          <p:nvPr/>
        </p:nvSpPr>
        <p:spPr>
          <a:xfrm>
            <a:off x="6757416" y="1670608"/>
            <a:ext cx="1874519" cy="228600"/>
          </a:xfrm>
          <a:prstGeom prst="rect">
            <a:avLst/>
          </a:prstGeom>
          <a:noFill/>
        </p:spPr>
        <p:txBody>
          <a:bodyPr wrap="none" anchor="t" lIns="0" rIns="0" tIns="0" bIns="0">
            <a:noAutofit/>
          </a:bodyPr>
          <a:lstStyle/>
          <a:p>
            <a:pPr algn="ctr">
              <a:lnSpc>
                <a:spcPts val="1461"/>
              </a:lnSpc>
              <a:spcBef>
                <a:spcPts val="0"/>
              </a:spcBef>
              <a:spcAft>
                <a:spcPts val="0"/>
              </a:spcAft>
            </a:pPr>
            <a:r>
              <a:rPr sz="1260" b="0">
                <a:solidFill>
                  <a:srgbClr val="616161"/>
                </a:solidFill>
                <a:latin typeface="NVIDIA Sans"/>
              </a:rPr>
              <a:t>Type inference</a:t>
            </a:r>
          </a:p>
        </p:txBody>
      </p:sp>
      <p:sp>
        <p:nvSpPr>
          <p:cNvPr id="14" name="Rectangle 13"/>
          <p:cNvSpPr/>
          <p:nvPr/>
        </p:nvSpPr>
        <p:spPr>
          <a:xfrm>
            <a:off x="521207" y="2093976"/>
            <a:ext cx="301752" cy="301752"/>
          </a:xfrm>
          <a:prstGeom prst="rect">
            <a:avLst/>
          </a:prstGeom>
          <a:solidFill>
            <a:srgbClr val="76B900"/>
          </a:solidFill>
          <a:ln>
            <a:noFill/>
          </a:ln>
          <a:effectLst/>
        </p:spPr>
        <p:txBody>
          <a:bodyPr rtlCol="0" anchor="ctr"/>
          <a:lstStyle/>
          <a:p>
            <a:pPr algn="ctr"/>
          </a:p>
        </p:txBody>
      </p:sp>
      <p:sp>
        <p:nvSpPr>
          <p:cNvPr id="15" name="1"/>
          <p:cNvSpPr txBox="1"/>
          <p:nvPr/>
        </p:nvSpPr>
        <p:spPr>
          <a:xfrm>
            <a:off x="539496" y="2153412"/>
            <a:ext cx="265176" cy="192024"/>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1</a:t>
            </a:r>
          </a:p>
        </p:txBody>
      </p:sp>
      <p:sp>
        <p:nvSpPr>
          <p:cNvPr id="16" name="Dialect"/>
          <p:cNvSpPr txBox="1"/>
          <p:nvPr/>
        </p:nvSpPr>
        <p:spPr>
          <a:xfrm>
            <a:off x="950976" y="2061972"/>
            <a:ext cx="1892807" cy="274320"/>
          </a:xfrm>
          <a:prstGeom prst="rect">
            <a:avLst/>
          </a:prstGeom>
          <a:noFill/>
        </p:spPr>
        <p:txBody>
          <a:bodyPr wrap="none" anchor="t" lIns="0" rIns="0" tIns="0" bIns="0">
            <a:noAutofit/>
          </a:bodyPr>
          <a:lstStyle/>
          <a:p>
            <a:pPr algn="l">
              <a:lnSpc>
                <a:spcPts val="1774"/>
              </a:lnSpc>
              <a:spcBef>
                <a:spcPts val="0"/>
              </a:spcBef>
              <a:spcAft>
                <a:spcPts val="0"/>
              </a:spcAft>
            </a:pPr>
            <a:r>
              <a:rPr sz="1530" b="1">
                <a:solidFill>
                  <a:srgbClr val="416600"/>
                </a:solidFill>
                <a:latin typeface="NVIDIA Sans"/>
              </a:rPr>
              <a:t>Dialect</a:t>
            </a:r>
          </a:p>
        </p:txBody>
      </p:sp>
      <p:sp>
        <p:nvSpPr>
          <p:cNvPr id="17" name="Choose IR + lowering"/>
          <p:cNvSpPr txBox="1"/>
          <p:nvPr/>
        </p:nvSpPr>
        <p:spPr>
          <a:xfrm>
            <a:off x="950976" y="2427732"/>
            <a:ext cx="1892807" cy="246888"/>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Choose IR + lowering</a:t>
            </a:r>
          </a:p>
        </p:txBody>
      </p:sp>
      <p:sp>
        <p:nvSpPr>
          <p:cNvPr id="18" name="x + 1"/>
          <p:cNvSpPr txBox="1"/>
          <p:nvPr/>
        </p:nvSpPr>
        <p:spPr>
          <a:xfrm>
            <a:off x="2962656" y="2249424"/>
            <a:ext cx="1554480" cy="457200"/>
          </a:xfrm>
          <a:prstGeom prst="rect">
            <a:avLst/>
          </a:prstGeom>
          <a:noFill/>
        </p:spPr>
        <p:txBody>
          <a:bodyPr wrap="none" anchor="t" lIns="0" rIns="0" tIns="0" bIns="0">
            <a:noAutofit/>
          </a:bodyPr>
          <a:lstStyle/>
          <a:p>
            <a:pPr algn="ctr">
              <a:lnSpc>
                <a:spcPts val="1562"/>
              </a:lnSpc>
              <a:spcBef>
                <a:spcPts val="0"/>
              </a:spcBef>
              <a:spcAft>
                <a:spcPts val="0"/>
              </a:spcAft>
            </a:pPr>
            <a:r>
              <a:rPr sz="1240" b="0">
                <a:solidFill>
                  <a:srgbClr val="484848"/>
                </a:solidFill>
                <a:latin typeface="JetBrains Mono"/>
              </a:rPr>
              <a:t>x + 1</a:t>
            </a:r>
          </a:p>
        </p:txBody>
      </p:sp>
      <p:cxnSp>
        <p:nvCxnSpPr>
          <p:cNvPr id="19" name="Connector 18"/>
          <p:cNvCxnSpPr/>
          <p:nvPr/>
        </p:nvCxnSpPr>
        <p:spPr>
          <a:xfrm>
            <a:off x="4553712" y="2340864"/>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864608" y="2098548"/>
            <a:ext cx="1618488" cy="493776"/>
          </a:xfrm>
          <a:prstGeom prst="rect">
            <a:avLst/>
          </a:prstGeom>
          <a:solidFill>
            <a:srgbClr val="F0F6E6"/>
          </a:solidFill>
          <a:ln>
            <a:noFill/>
          </a:ln>
          <a:effectLst/>
        </p:spPr>
        <p:txBody>
          <a:bodyPr rtlCol="0" anchor="ctr"/>
          <a:lstStyle/>
          <a:p>
            <a:pPr algn="ctr"/>
          </a:p>
        </p:txBody>
      </p:sp>
      <p:sp>
        <p:nvSpPr>
          <p:cNvPr id="21" name="emitter.add"/>
          <p:cNvSpPr txBox="1"/>
          <p:nvPr/>
        </p:nvSpPr>
        <p:spPr>
          <a:xfrm>
            <a:off x="4937760" y="2217420"/>
            <a:ext cx="1472184" cy="301752"/>
          </a:xfrm>
          <a:prstGeom prst="rect">
            <a:avLst/>
          </a:prstGeom>
          <a:noFill/>
        </p:spPr>
        <p:txBody>
          <a:bodyPr wrap="none" anchor="t" lIns="0" rIns="0" tIns="0" bIns="0">
            <a:noAutofit/>
          </a:bodyPr>
          <a:lstStyle/>
          <a:p>
            <a:pPr algn="ctr">
              <a:lnSpc>
                <a:spcPts val="1438"/>
              </a:lnSpc>
              <a:spcBef>
                <a:spcPts val="0"/>
              </a:spcBef>
              <a:spcAft>
                <a:spcPts val="0"/>
              </a:spcAft>
            </a:pPr>
            <a:r>
              <a:rPr sz="1240" b="1">
                <a:solidFill>
                  <a:srgbClr val="416600"/>
                </a:solidFill>
                <a:latin typeface="NVIDIA Sans"/>
              </a:rPr>
              <a:t>emitter.add</a:t>
            </a:r>
          </a:p>
        </p:txBody>
      </p:sp>
      <p:cxnSp>
        <p:nvCxnSpPr>
          <p:cNvPr id="22" name="Connector 21"/>
          <p:cNvCxnSpPr/>
          <p:nvPr/>
        </p:nvCxnSpPr>
        <p:spPr>
          <a:xfrm>
            <a:off x="6537960" y="2340864"/>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arith.addi"/>
          <p:cNvSpPr txBox="1"/>
          <p:nvPr/>
        </p:nvSpPr>
        <p:spPr>
          <a:xfrm>
            <a:off x="6867144" y="2217420"/>
            <a:ext cx="1645920" cy="320040"/>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arith.addi</a:t>
            </a:r>
          </a:p>
        </p:txBody>
      </p:sp>
      <p:sp>
        <p:nvSpPr>
          <p:cNvPr id="24" name="Staged Int32 operands"/>
          <p:cNvSpPr txBox="1"/>
          <p:nvPr/>
        </p:nvSpPr>
        <p:spPr>
          <a:xfrm>
            <a:off x="2971800" y="2619756"/>
            <a:ext cx="5513832" cy="173736"/>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Staged Int32 operands</a:t>
            </a:r>
          </a:p>
        </p:txBody>
      </p:sp>
      <p:sp>
        <p:nvSpPr>
          <p:cNvPr id="25" name="Rectangle 24"/>
          <p:cNvSpPr/>
          <p:nvPr/>
        </p:nvSpPr>
        <p:spPr>
          <a:xfrm>
            <a:off x="950976" y="2784348"/>
            <a:ext cx="7562088" cy="5486"/>
          </a:xfrm>
          <a:prstGeom prst="rect">
            <a:avLst/>
          </a:prstGeom>
          <a:solidFill>
            <a:srgbClr val="D5D5D5"/>
          </a:solidFill>
          <a:ln>
            <a:noFill/>
          </a:ln>
          <a:effectLst/>
        </p:spPr>
        <p:txBody>
          <a:bodyPr rtlCol="0" anchor="ctr"/>
          <a:lstStyle/>
          <a:p>
            <a:pPr algn="ctr"/>
          </a:p>
        </p:txBody>
      </p:sp>
      <p:sp>
        <p:nvSpPr>
          <p:cNvPr id="26" name="Rectangle 25"/>
          <p:cNvSpPr/>
          <p:nvPr/>
        </p:nvSpPr>
        <p:spPr>
          <a:xfrm>
            <a:off x="521207" y="2862072"/>
            <a:ext cx="301752" cy="301752"/>
          </a:xfrm>
          <a:prstGeom prst="rect">
            <a:avLst/>
          </a:prstGeom>
          <a:solidFill>
            <a:srgbClr val="76B900"/>
          </a:solidFill>
          <a:ln>
            <a:noFill/>
          </a:ln>
          <a:effectLst/>
        </p:spPr>
        <p:txBody>
          <a:bodyPr rtlCol="0" anchor="ctr"/>
          <a:lstStyle/>
          <a:p>
            <a:pPr algn="ctr"/>
          </a:p>
        </p:txBody>
      </p:sp>
      <p:sp>
        <p:nvSpPr>
          <p:cNvPr id="27" name="2"/>
          <p:cNvSpPr txBox="1"/>
          <p:nvPr/>
        </p:nvSpPr>
        <p:spPr>
          <a:xfrm>
            <a:off x="539496" y="2921508"/>
            <a:ext cx="265176" cy="192024"/>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2</a:t>
            </a:r>
          </a:p>
        </p:txBody>
      </p:sp>
      <p:sp>
        <p:nvSpPr>
          <p:cNvPr id="28" name="AST preprocessor"/>
          <p:cNvSpPr txBox="1"/>
          <p:nvPr/>
        </p:nvSpPr>
        <p:spPr>
          <a:xfrm>
            <a:off x="950976" y="2830068"/>
            <a:ext cx="1892807" cy="274320"/>
          </a:xfrm>
          <a:prstGeom prst="rect">
            <a:avLst/>
          </a:prstGeom>
          <a:noFill/>
        </p:spPr>
        <p:txBody>
          <a:bodyPr wrap="none" anchor="t" lIns="0" rIns="0" tIns="0" bIns="0">
            <a:noAutofit/>
          </a:bodyPr>
          <a:lstStyle/>
          <a:p>
            <a:pPr algn="l">
              <a:lnSpc>
                <a:spcPts val="1774"/>
              </a:lnSpc>
              <a:spcBef>
                <a:spcPts val="0"/>
              </a:spcBef>
              <a:spcAft>
                <a:spcPts val="0"/>
              </a:spcAft>
            </a:pPr>
            <a:r>
              <a:rPr sz="1530" b="1">
                <a:solidFill>
                  <a:srgbClr val="416600"/>
                </a:solidFill>
                <a:latin typeface="NVIDIA Sans"/>
              </a:rPr>
              <a:t>AST preprocessor</a:t>
            </a:r>
          </a:p>
        </p:txBody>
      </p:sp>
      <p:sp>
        <p:nvSpPr>
          <p:cNvPr id="29" name="Choose capture rules"/>
          <p:cNvSpPr txBox="1"/>
          <p:nvPr/>
        </p:nvSpPr>
        <p:spPr>
          <a:xfrm>
            <a:off x="950976" y="3195827"/>
            <a:ext cx="1892807" cy="246888"/>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Choose capture rules</a:t>
            </a:r>
          </a:p>
        </p:txBody>
      </p:sp>
      <p:sp>
        <p:nvSpPr>
          <p:cNvPr id="30" name="for i in range(n):"/>
          <p:cNvSpPr txBox="1"/>
          <p:nvPr/>
        </p:nvSpPr>
        <p:spPr>
          <a:xfrm>
            <a:off x="2962656" y="3017520"/>
            <a:ext cx="1554480" cy="457200"/>
          </a:xfrm>
          <a:prstGeom prst="rect">
            <a:avLst/>
          </a:prstGeom>
          <a:noFill/>
        </p:spPr>
        <p:txBody>
          <a:bodyPr wrap="none" anchor="t" lIns="0" rIns="0" tIns="0" bIns="0">
            <a:noAutofit/>
          </a:bodyPr>
          <a:lstStyle/>
          <a:p>
            <a:pPr algn="ctr">
              <a:lnSpc>
                <a:spcPts val="1404"/>
              </a:lnSpc>
              <a:spcBef>
                <a:spcPts val="0"/>
              </a:spcBef>
              <a:spcAft>
                <a:spcPts val="0"/>
              </a:spcAft>
            </a:pPr>
            <a:r>
              <a:rPr sz="1115" b="0">
                <a:solidFill>
                  <a:srgbClr val="484848"/>
                </a:solidFill>
                <a:latin typeface="JetBrains Mono"/>
              </a:rPr>
              <a:t>for i in range(n):</a:t>
            </a:r>
          </a:p>
        </p:txBody>
      </p:sp>
      <p:cxnSp>
        <p:nvCxnSpPr>
          <p:cNvPr id="31" name="Connector 30"/>
          <p:cNvCxnSpPr/>
          <p:nvPr/>
        </p:nvCxnSpPr>
        <p:spPr>
          <a:xfrm>
            <a:off x="4553712" y="3108960"/>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4864608" y="2866644"/>
            <a:ext cx="1618488" cy="493776"/>
          </a:xfrm>
          <a:prstGeom prst="rect">
            <a:avLst/>
          </a:prstGeom>
          <a:solidFill>
            <a:srgbClr val="F0F6E6"/>
          </a:solidFill>
          <a:ln>
            <a:noFill/>
          </a:ln>
          <a:effectLst/>
        </p:spPr>
        <p:txBody>
          <a:bodyPr rtlCol="0" anchor="ctr"/>
          <a:lstStyle/>
          <a:p>
            <a:pPr algn="ctr"/>
          </a:p>
        </p:txBody>
      </p:sp>
      <p:sp>
        <p:nvSpPr>
          <p:cNvPr id="33" name="rewrite + executors"/>
          <p:cNvSpPr txBox="1"/>
          <p:nvPr/>
        </p:nvSpPr>
        <p:spPr>
          <a:xfrm>
            <a:off x="4937760" y="2985515"/>
            <a:ext cx="1472184" cy="301752"/>
          </a:xfrm>
          <a:prstGeom prst="rect">
            <a:avLst/>
          </a:prstGeom>
          <a:noFill/>
        </p:spPr>
        <p:txBody>
          <a:bodyPr wrap="none" anchor="t" lIns="0" rIns="0" tIns="0" bIns="0">
            <a:noAutofit/>
          </a:bodyPr>
          <a:lstStyle/>
          <a:p>
            <a:pPr algn="ctr">
              <a:lnSpc>
                <a:spcPts val="1438"/>
              </a:lnSpc>
              <a:spcBef>
                <a:spcPts val="0"/>
              </a:spcBef>
              <a:spcAft>
                <a:spcPts val="0"/>
              </a:spcAft>
            </a:pPr>
            <a:r>
              <a:rPr sz="1240" b="1">
                <a:solidFill>
                  <a:srgbClr val="416600"/>
                </a:solidFill>
                <a:latin typeface="NVIDIA Sans"/>
              </a:rPr>
              <a:t>rewrite + executors</a:t>
            </a:r>
          </a:p>
        </p:txBody>
      </p:sp>
      <p:cxnSp>
        <p:nvCxnSpPr>
          <p:cNvPr id="34" name="Connector 33"/>
          <p:cNvCxnSpPr/>
          <p:nvPr/>
        </p:nvCxnSpPr>
        <p:spPr>
          <a:xfrm>
            <a:off x="6537960" y="3108960"/>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5" name="scf.for"/>
          <p:cNvSpPr txBox="1"/>
          <p:nvPr/>
        </p:nvSpPr>
        <p:spPr>
          <a:xfrm>
            <a:off x="6867144" y="2985515"/>
            <a:ext cx="1645920" cy="320040"/>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scf.for</a:t>
            </a:r>
          </a:p>
        </p:txBody>
      </p:sp>
      <p:sp>
        <p:nvSpPr>
          <p:cNvPr id="36" name="Staged loop bound"/>
          <p:cNvSpPr txBox="1"/>
          <p:nvPr/>
        </p:nvSpPr>
        <p:spPr>
          <a:xfrm>
            <a:off x="2971800" y="3387852"/>
            <a:ext cx="5513832" cy="173736"/>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Staged loop bound</a:t>
            </a:r>
          </a:p>
        </p:txBody>
      </p:sp>
      <p:sp>
        <p:nvSpPr>
          <p:cNvPr id="37" name="Rectangle 36"/>
          <p:cNvSpPr/>
          <p:nvPr/>
        </p:nvSpPr>
        <p:spPr>
          <a:xfrm>
            <a:off x="950976" y="3552444"/>
            <a:ext cx="7562088" cy="5486"/>
          </a:xfrm>
          <a:prstGeom prst="rect">
            <a:avLst/>
          </a:prstGeom>
          <a:solidFill>
            <a:srgbClr val="D5D5D5"/>
          </a:solidFill>
          <a:ln>
            <a:noFill/>
          </a:ln>
          <a:effectLst/>
        </p:spPr>
        <p:txBody>
          <a:bodyPr rtlCol="0" anchor="ctr"/>
          <a:lstStyle/>
          <a:p>
            <a:pPr algn="ctr"/>
          </a:p>
        </p:txBody>
      </p:sp>
      <p:sp>
        <p:nvSpPr>
          <p:cNvPr id="38" name="Rectangle 37"/>
          <p:cNvSpPr/>
          <p:nvPr/>
        </p:nvSpPr>
        <p:spPr>
          <a:xfrm>
            <a:off x="521207" y="3630168"/>
            <a:ext cx="301752" cy="301752"/>
          </a:xfrm>
          <a:prstGeom prst="rect">
            <a:avLst/>
          </a:prstGeom>
          <a:solidFill>
            <a:srgbClr val="76B900"/>
          </a:solidFill>
          <a:ln>
            <a:noFill/>
          </a:ln>
          <a:effectLst/>
        </p:spPr>
        <p:txBody>
          <a:bodyPr rtlCol="0" anchor="ctr"/>
          <a:lstStyle/>
          <a:p>
            <a:pPr algn="ctr"/>
          </a:p>
        </p:txBody>
      </p:sp>
      <p:sp>
        <p:nvSpPr>
          <p:cNvPr id="39" name="3"/>
          <p:cNvSpPr txBox="1"/>
          <p:nvPr/>
        </p:nvSpPr>
        <p:spPr>
          <a:xfrm>
            <a:off x="539496" y="3689603"/>
            <a:ext cx="265176" cy="192024"/>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3</a:t>
            </a:r>
          </a:p>
        </p:txBody>
      </p:sp>
      <p:sp>
        <p:nvSpPr>
          <p:cNvPr id="40" name="Third party"/>
          <p:cNvSpPr txBox="1"/>
          <p:nvPr/>
        </p:nvSpPr>
        <p:spPr>
          <a:xfrm>
            <a:off x="950976" y="3598163"/>
            <a:ext cx="1892807" cy="274320"/>
          </a:xfrm>
          <a:prstGeom prst="rect">
            <a:avLst/>
          </a:prstGeom>
          <a:noFill/>
        </p:spPr>
        <p:txBody>
          <a:bodyPr wrap="none" anchor="t" lIns="0" rIns="0" tIns="0" bIns="0">
            <a:noAutofit/>
          </a:bodyPr>
          <a:lstStyle/>
          <a:p>
            <a:pPr algn="l">
              <a:lnSpc>
                <a:spcPts val="1774"/>
              </a:lnSpc>
              <a:spcBef>
                <a:spcPts val="0"/>
              </a:spcBef>
              <a:spcAft>
                <a:spcPts val="0"/>
              </a:spcAft>
            </a:pPr>
            <a:r>
              <a:rPr sz="1530" b="1">
                <a:solidFill>
                  <a:srgbClr val="416600"/>
                </a:solidFill>
                <a:latin typeface="NVIDIA Sans"/>
              </a:rPr>
              <a:t>Third party</a:t>
            </a:r>
          </a:p>
        </p:txBody>
      </p:sp>
      <p:sp>
        <p:nvSpPr>
          <p:cNvPr id="41" name="Bridge external libraries"/>
          <p:cNvSpPr txBox="1"/>
          <p:nvPr/>
        </p:nvSpPr>
        <p:spPr>
          <a:xfrm>
            <a:off x="950976" y="3963924"/>
            <a:ext cx="1892807" cy="246888"/>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Bridge external libraries</a:t>
            </a:r>
          </a:p>
        </p:txBody>
      </p:sp>
      <p:sp>
        <p:nvSpPr>
          <p:cNvPr id="42" name="__dlpack__ tensor"/>
          <p:cNvSpPr txBox="1"/>
          <p:nvPr/>
        </p:nvSpPr>
        <p:spPr>
          <a:xfrm>
            <a:off x="2962656" y="3785615"/>
            <a:ext cx="1554480" cy="457200"/>
          </a:xfrm>
          <a:prstGeom prst="rect">
            <a:avLst/>
          </a:prstGeom>
          <a:noFill/>
        </p:spPr>
        <p:txBody>
          <a:bodyPr wrap="none" anchor="t" lIns="0" rIns="0" tIns="0" bIns="0">
            <a:noAutofit/>
          </a:bodyPr>
          <a:lstStyle/>
          <a:p>
            <a:pPr algn="ctr">
              <a:lnSpc>
                <a:spcPts val="1499"/>
              </a:lnSpc>
              <a:spcBef>
                <a:spcPts val="0"/>
              </a:spcBef>
              <a:spcAft>
                <a:spcPts val="0"/>
              </a:spcAft>
            </a:pPr>
            <a:r>
              <a:rPr sz="1190" b="0">
                <a:solidFill>
                  <a:srgbClr val="484848"/>
                </a:solidFill>
                <a:latin typeface="JetBrains Mono"/>
              </a:rPr>
              <a:t>__dlpack__ tensor</a:t>
            </a:r>
          </a:p>
        </p:txBody>
      </p:sp>
      <p:cxnSp>
        <p:nvCxnSpPr>
          <p:cNvPr id="43" name="Connector 42"/>
          <p:cNvCxnSpPr/>
          <p:nvPr/>
        </p:nvCxnSpPr>
        <p:spPr>
          <a:xfrm>
            <a:off x="4553712" y="3877055"/>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864608" y="3634739"/>
            <a:ext cx="1618488" cy="493776"/>
          </a:xfrm>
          <a:prstGeom prst="rect">
            <a:avLst/>
          </a:prstGeom>
          <a:solidFill>
            <a:srgbClr val="F0F6E6"/>
          </a:solidFill>
          <a:ln>
            <a:noFill/>
          </a:ln>
          <a:effectLst/>
        </p:spPr>
        <p:txBody>
          <a:bodyPr rtlCol="0" anchor="ctr"/>
          <a:lstStyle/>
          <a:p>
            <a:pPr algn="ctr"/>
          </a:p>
        </p:txBody>
      </p:sp>
      <p:sp>
        <p:nvSpPr>
          <p:cNvPr id="45" name="argument adapter"/>
          <p:cNvSpPr txBox="1"/>
          <p:nvPr/>
        </p:nvSpPr>
        <p:spPr>
          <a:xfrm>
            <a:off x="4937760" y="3753611"/>
            <a:ext cx="1472184" cy="301752"/>
          </a:xfrm>
          <a:prstGeom prst="rect">
            <a:avLst/>
          </a:prstGeom>
          <a:noFill/>
        </p:spPr>
        <p:txBody>
          <a:bodyPr wrap="none" anchor="t" lIns="0" rIns="0" tIns="0" bIns="0">
            <a:noAutofit/>
          </a:bodyPr>
          <a:lstStyle/>
          <a:p>
            <a:pPr algn="ctr">
              <a:lnSpc>
                <a:spcPts val="1438"/>
              </a:lnSpc>
              <a:spcBef>
                <a:spcPts val="0"/>
              </a:spcBef>
              <a:spcAft>
                <a:spcPts val="0"/>
              </a:spcAft>
            </a:pPr>
            <a:r>
              <a:rPr sz="1240" b="1">
                <a:solidFill>
                  <a:srgbClr val="416600"/>
                </a:solidFill>
                <a:latin typeface="NVIDIA Sans"/>
              </a:rPr>
              <a:t>argument adapter</a:t>
            </a:r>
          </a:p>
        </p:txBody>
      </p:sp>
      <p:cxnSp>
        <p:nvCxnSpPr>
          <p:cNvPr id="46" name="Connector 45"/>
          <p:cNvCxnSpPr/>
          <p:nvPr/>
        </p:nvCxnSpPr>
        <p:spPr>
          <a:xfrm>
            <a:off x="6537960" y="3877055"/>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7" name="Pointer"/>
          <p:cNvSpPr txBox="1"/>
          <p:nvPr/>
        </p:nvSpPr>
        <p:spPr>
          <a:xfrm>
            <a:off x="6867144" y="3753611"/>
            <a:ext cx="1645920" cy="320040"/>
          </a:xfrm>
          <a:prstGeom prst="rect">
            <a:avLst/>
          </a:prstGeom>
          <a:noFill/>
        </p:spPr>
        <p:txBody>
          <a:bodyPr wrap="none" anchor="t" lIns="0" rIns="0" tIns="0" bIns="0">
            <a:noAutofit/>
          </a:bodyPr>
          <a:lstStyle/>
          <a:p>
            <a:pPr algn="ctr">
              <a:lnSpc>
                <a:spcPts val="1764"/>
              </a:lnSpc>
              <a:spcBef>
                <a:spcPts val="0"/>
              </a:spcBef>
              <a:spcAft>
                <a:spcPts val="0"/>
              </a:spcAft>
            </a:pPr>
            <a:r>
              <a:rPr sz="1400" b="0">
                <a:solidFill>
                  <a:srgbClr val="416600"/>
                </a:solidFill>
                <a:latin typeface="JetBrains Mono"/>
              </a:rPr>
              <a:t>Pointer</a:t>
            </a:r>
          </a:p>
        </p:txBody>
      </p:sp>
      <p:sp>
        <p:nvSpPr>
          <p:cNvPr id="48" name="Contiguous; sizes passed separately"/>
          <p:cNvSpPr txBox="1"/>
          <p:nvPr/>
        </p:nvSpPr>
        <p:spPr>
          <a:xfrm>
            <a:off x="2971800" y="4155948"/>
            <a:ext cx="5513832" cy="173736"/>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Contiguous; sizes passed separately</a:t>
            </a:r>
          </a:p>
        </p:txBody>
      </p:sp>
      <p:sp>
        <p:nvSpPr>
          <p:cNvPr id="49" name="Reuse these implementations—or supply your own."/>
          <p:cNvSpPr txBox="1"/>
          <p:nvPr/>
        </p:nvSpPr>
        <p:spPr>
          <a:xfrm>
            <a:off x="539496" y="4471416"/>
            <a:ext cx="8010144" cy="26517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Reuse these implementations—or supply your 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dsl: plugins make it runna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dsl: plugins make it runnable</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he working mlir dsl"/>
          <p:cNvSpPr txBox="1"/>
          <p:nvPr/>
        </p:nvSpPr>
        <p:spPr>
          <a:xfrm>
            <a:off x="521207" y="1243584"/>
            <a:ext cx="2157984" cy="265176"/>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The working mlir dsl</a:t>
            </a:r>
          </a:p>
        </p:txBody>
      </p:sp>
      <p:sp>
        <p:nvSpPr>
          <p:cNvPr id="8" name="Core + SCF + LLVM + SCF AST"/>
          <p:cNvSpPr txBox="1"/>
          <p:nvPr/>
        </p:nvSpPr>
        <p:spPr>
          <a:xfrm>
            <a:off x="2743200" y="1207008"/>
            <a:ext cx="5843016" cy="338328"/>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Core + SCF + LLVM + SCF AST</a:t>
            </a:r>
          </a:p>
        </p:txBody>
      </p:sp>
      <p:sp>
        <p:nvSpPr>
          <p:cNvPr id="9" name="LLVM plugin: emit"/>
          <p:cNvSpPr txBox="1"/>
          <p:nvPr/>
        </p:nvSpPr>
        <p:spPr>
          <a:xfrm>
            <a:off x="3986784" y="1581912"/>
            <a:ext cx="3054096" cy="26517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LLVM plugin: emit</a:t>
            </a:r>
          </a:p>
        </p:txBody>
      </p:sp>
      <p:sp>
        <p:nvSpPr>
          <p:cNvPr id="10" name="LLVM plugin / lower + run"/>
          <p:cNvSpPr txBox="1"/>
          <p:nvPr/>
        </p:nvSpPr>
        <p:spPr>
          <a:xfrm>
            <a:off x="7333488" y="1563624"/>
            <a:ext cx="1316736" cy="512064"/>
          </a:xfrm>
          <a:prstGeom prst="rect">
            <a:avLst/>
          </a:prstGeom>
          <a:noFill/>
        </p:spPr>
        <p:txBody>
          <a:bodyPr wrap="none" anchor="t" lIns="0" rIns="0" tIns="0" bIns="0">
            <a:noAutofit/>
          </a:bodyPr>
          <a:lstStyle/>
          <a:p>
            <a:pPr algn="ctr">
              <a:lnSpc>
                <a:spcPts val="1345"/>
              </a:lnSpc>
              <a:spcBef>
                <a:spcPts val="0"/>
              </a:spcBef>
              <a:spcAft>
                <a:spcPts val="0"/>
              </a:spcAft>
            </a:pPr>
            <a:r>
              <a:rPr sz="1160" b="0">
                <a:solidFill>
                  <a:srgbClr val="416600"/>
                </a:solidFill>
                <a:latin typeface="NVIDIA Sans"/>
              </a:rPr>
              <a:t>LLVM plugin</a:t>
            </a:r>
          </a:p>
          <a:p>
            <a:pPr algn="ctr">
              <a:lnSpc>
                <a:spcPts val="1345"/>
              </a:lnSpc>
              <a:spcBef>
                <a:spcPts val="0"/>
              </a:spcBef>
              <a:spcAft>
                <a:spcPts val="0"/>
              </a:spcAft>
            </a:pPr>
            <a:r>
              <a:rPr sz="1160" b="0">
                <a:solidFill>
                  <a:srgbClr val="416600"/>
                </a:solidFill>
                <a:latin typeface="NVIDIA Sans"/>
              </a:rPr>
              <a:t>lower + run</a:t>
            </a:r>
          </a:p>
        </p:txBody>
      </p:sp>
      <p:sp>
        <p:nvSpPr>
          <p:cNvPr id="11" name="Rectangle 10"/>
          <p:cNvSpPr/>
          <p:nvPr/>
        </p:nvSpPr>
        <p:spPr>
          <a:xfrm>
            <a:off x="484632" y="1901952"/>
            <a:ext cx="3118104" cy="1773936"/>
          </a:xfrm>
          <a:prstGeom prst="rect">
            <a:avLst/>
          </a:prstGeom>
          <a:solidFill>
            <a:srgbClr val="F7F7F7"/>
          </a:solidFill>
          <a:ln>
            <a:noFill/>
          </a:ln>
          <a:effectLst/>
        </p:spPr>
        <p:txBody>
          <a:bodyPr rtlCol="0" anchor="ctr"/>
          <a:lstStyle/>
          <a:p>
            <a:pPr algn="ctr"/>
          </a:p>
        </p:txBody>
      </p:sp>
      <p:sp>
        <p:nvSpPr>
          <p:cNvPr id="12" name="Rectangle 11"/>
          <p:cNvSpPr/>
          <p:nvPr/>
        </p:nvSpPr>
        <p:spPr>
          <a:xfrm>
            <a:off x="484632" y="1901952"/>
            <a:ext cx="3118104" cy="365760"/>
          </a:xfrm>
          <a:prstGeom prst="rect">
            <a:avLst/>
          </a:prstGeom>
          <a:solidFill>
            <a:srgbClr val="76B900"/>
          </a:solidFill>
          <a:ln>
            <a:noFill/>
          </a:ln>
          <a:effectLst/>
        </p:spPr>
        <p:txBody>
          <a:bodyPr rtlCol="0" anchor="ctr"/>
          <a:lstStyle/>
          <a:p>
            <a:pPr algn="ctr"/>
          </a:p>
        </p:txBody>
      </p:sp>
      <p:sp>
        <p:nvSpPr>
          <p:cNvPr id="13" name="Python · reference DSL"/>
          <p:cNvSpPr txBox="1"/>
          <p:nvPr/>
        </p:nvSpPr>
        <p:spPr>
          <a:xfrm>
            <a:off x="640080" y="1997964"/>
            <a:ext cx="2807208"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reference DSL</a:t>
            </a:r>
          </a:p>
        </p:txBody>
      </p:sp>
      <p:sp>
        <p:nvSpPr>
          <p:cNvPr id="14" name="import mlir.mlir_dsl as m"/>
          <p:cNvSpPr txBox="1"/>
          <p:nvPr/>
        </p:nvSpPr>
        <p:spPr>
          <a:xfrm>
            <a:off x="640080" y="2386584"/>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import mlir.mlir_dsl as m</a:t>
            </a:r>
          </a:p>
        </p:txBody>
      </p:sp>
      <p:sp>
        <p:nvSpPr>
          <p:cNvPr id="15" name=""/>
          <p:cNvSpPr txBox="1"/>
          <p:nvPr/>
        </p:nvSpPr>
        <p:spPr>
          <a:xfrm>
            <a:off x="640080" y="2555646"/>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
            </a:r>
          </a:p>
        </p:txBody>
      </p:sp>
      <p:sp>
        <p:nvSpPr>
          <p:cNvPr id="16" name="@m.jit"/>
          <p:cNvSpPr txBox="1"/>
          <p:nvPr/>
        </p:nvSpPr>
        <p:spPr>
          <a:xfrm>
            <a:off x="640080" y="2724708"/>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1">
                <a:solidFill>
                  <a:srgbClr val="416600"/>
                </a:solidFill>
                <a:latin typeface="JetBrains Mono"/>
              </a:rPr>
              <a:t>@m.jit</a:t>
            </a:r>
          </a:p>
        </p:txBody>
      </p:sp>
      <p:sp>
        <p:nvSpPr>
          <p:cNvPr id="17" name="def scale(x: m.Int32, factor):"/>
          <p:cNvSpPr txBox="1"/>
          <p:nvPr/>
        </p:nvSpPr>
        <p:spPr>
          <a:xfrm>
            <a:off x="640080" y="2893771"/>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def scale(x: m.Int32, factor):</a:t>
            </a:r>
          </a:p>
        </p:txBody>
      </p:sp>
      <p:sp>
        <p:nvSpPr>
          <p:cNvPr id="18" name="    return x * factor"/>
          <p:cNvSpPr txBox="1"/>
          <p:nvPr/>
        </p:nvSpPr>
        <p:spPr>
          <a:xfrm>
            <a:off x="640080" y="3062833"/>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    return x * factor</a:t>
            </a:r>
          </a:p>
        </p:txBody>
      </p:sp>
      <p:sp>
        <p:nvSpPr>
          <p:cNvPr id="19" name=""/>
          <p:cNvSpPr txBox="1"/>
          <p:nvPr/>
        </p:nvSpPr>
        <p:spPr>
          <a:xfrm>
            <a:off x="640080" y="3231896"/>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
            </a:r>
          </a:p>
        </p:txBody>
      </p:sp>
      <p:sp>
        <p:nvSpPr>
          <p:cNvPr id="20" name="scale(4, 3)  # 12"/>
          <p:cNvSpPr txBox="1"/>
          <p:nvPr/>
        </p:nvSpPr>
        <p:spPr>
          <a:xfrm>
            <a:off x="640080" y="3400958"/>
            <a:ext cx="2807208" cy="171704"/>
          </a:xfrm>
          <a:prstGeom prst="rect">
            <a:avLst/>
          </a:prstGeom>
          <a:noFill/>
        </p:spPr>
        <p:txBody>
          <a:bodyPr wrap="none" anchor="t" lIns="0" rIns="0" tIns="0" bIns="0">
            <a:noAutofit/>
          </a:bodyPr>
          <a:lstStyle/>
          <a:p>
            <a:pPr algn="l">
              <a:lnSpc>
                <a:spcPts val="1310"/>
              </a:lnSpc>
              <a:spcBef>
                <a:spcPts val="0"/>
              </a:spcBef>
              <a:spcAft>
                <a:spcPts val="0"/>
              </a:spcAft>
            </a:pPr>
            <a:r>
              <a:rPr sz="1040" b="0">
                <a:solidFill>
                  <a:srgbClr val="484848"/>
                </a:solidFill>
                <a:latin typeface="JetBrains Mono"/>
              </a:rPr>
              <a:t>scale(4, 3)  # 12</a:t>
            </a:r>
          </a:p>
        </p:txBody>
      </p:sp>
      <p:cxnSp>
        <p:nvCxnSpPr>
          <p:cNvPr id="21" name="Connector 20"/>
          <p:cNvCxnSpPr/>
          <p:nvPr/>
        </p:nvCxnSpPr>
        <p:spPr>
          <a:xfrm>
            <a:off x="3657600" y="2852928"/>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986784" y="1901952"/>
            <a:ext cx="3054096" cy="1773936"/>
          </a:xfrm>
          <a:prstGeom prst="rect">
            <a:avLst/>
          </a:prstGeom>
          <a:solidFill>
            <a:srgbClr val="F7F7F7"/>
          </a:solidFill>
          <a:ln>
            <a:noFill/>
          </a:ln>
          <a:effectLst/>
        </p:spPr>
        <p:txBody>
          <a:bodyPr rtlCol="0" anchor="ctr"/>
          <a:lstStyle/>
          <a:p>
            <a:pPr algn="ctr"/>
          </a:p>
        </p:txBody>
      </p:sp>
      <p:sp>
        <p:nvSpPr>
          <p:cNvPr id="23" name="Rectangle 22"/>
          <p:cNvSpPr/>
          <p:nvPr/>
        </p:nvSpPr>
        <p:spPr>
          <a:xfrm>
            <a:off x="3986784" y="1901952"/>
            <a:ext cx="3054096" cy="365760"/>
          </a:xfrm>
          <a:prstGeom prst="rect">
            <a:avLst/>
          </a:prstGeom>
          <a:solidFill>
            <a:srgbClr val="76B900"/>
          </a:solidFill>
          <a:ln>
            <a:noFill/>
          </a:ln>
          <a:effectLst/>
        </p:spPr>
        <p:txBody>
          <a:bodyPr rtlCol="0" anchor="ctr"/>
          <a:lstStyle/>
          <a:p>
            <a:pPr algn="ctr"/>
          </a:p>
        </p:txBody>
      </p:sp>
      <p:sp>
        <p:nvSpPr>
          <p:cNvPr id="24" name="Generated IR · excerpt"/>
          <p:cNvSpPr txBox="1"/>
          <p:nvPr/>
        </p:nvSpPr>
        <p:spPr>
          <a:xfrm>
            <a:off x="4142232" y="1997964"/>
            <a:ext cx="274320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IR · excerpt</a:t>
            </a:r>
          </a:p>
        </p:txBody>
      </p:sp>
      <p:sp>
        <p:nvSpPr>
          <p:cNvPr id="25" name="%c3 = arith.constant 3 : i32"/>
          <p:cNvSpPr txBox="1"/>
          <p:nvPr/>
        </p:nvSpPr>
        <p:spPr>
          <a:xfrm>
            <a:off x="4142232" y="2386584"/>
            <a:ext cx="2743200" cy="168402"/>
          </a:xfrm>
          <a:prstGeom prst="rect">
            <a:avLst/>
          </a:prstGeom>
          <a:noFill/>
        </p:spPr>
        <p:txBody>
          <a:bodyPr wrap="none" anchor="t" lIns="0" rIns="0" tIns="0" bIns="0">
            <a:noAutofit/>
          </a:bodyPr>
          <a:lstStyle/>
          <a:p>
            <a:pPr algn="l">
              <a:lnSpc>
                <a:spcPts val="1285"/>
              </a:lnSpc>
              <a:spcBef>
                <a:spcPts val="0"/>
              </a:spcBef>
              <a:spcAft>
                <a:spcPts val="0"/>
              </a:spcAft>
            </a:pPr>
            <a:r>
              <a:rPr sz="1019" b="0">
                <a:solidFill>
                  <a:srgbClr val="484848"/>
                </a:solidFill>
                <a:latin typeface="JetBrains Mono"/>
              </a:rPr>
              <a:t>%c3 = arith.constant 3 : i32</a:t>
            </a:r>
          </a:p>
        </p:txBody>
      </p:sp>
      <p:sp>
        <p:nvSpPr>
          <p:cNvPr id="26" name="%r = arith.muli %x, %c3 : i32"/>
          <p:cNvSpPr txBox="1"/>
          <p:nvPr/>
        </p:nvSpPr>
        <p:spPr>
          <a:xfrm>
            <a:off x="4142232" y="2552395"/>
            <a:ext cx="2743200" cy="168402"/>
          </a:xfrm>
          <a:prstGeom prst="rect">
            <a:avLst/>
          </a:prstGeom>
          <a:noFill/>
        </p:spPr>
        <p:txBody>
          <a:bodyPr wrap="none" anchor="t" lIns="0" rIns="0" tIns="0" bIns="0">
            <a:noAutofit/>
          </a:bodyPr>
          <a:lstStyle/>
          <a:p>
            <a:pPr algn="l">
              <a:lnSpc>
                <a:spcPts val="1285"/>
              </a:lnSpc>
              <a:spcBef>
                <a:spcPts val="0"/>
              </a:spcBef>
              <a:spcAft>
                <a:spcPts val="0"/>
              </a:spcAft>
            </a:pPr>
            <a:r>
              <a:rPr sz="1019" b="0">
                <a:solidFill>
                  <a:srgbClr val="484848"/>
                </a:solidFill>
                <a:latin typeface="JetBrains Mono"/>
              </a:rPr>
              <a:t>%r = arith.muli %x, %c3 : i32</a:t>
            </a:r>
          </a:p>
        </p:txBody>
      </p:sp>
      <p:sp>
        <p:nvSpPr>
          <p:cNvPr id="27" name="func.return %r : i32"/>
          <p:cNvSpPr txBox="1"/>
          <p:nvPr/>
        </p:nvSpPr>
        <p:spPr>
          <a:xfrm>
            <a:off x="4142232" y="2718206"/>
            <a:ext cx="2743200" cy="168402"/>
          </a:xfrm>
          <a:prstGeom prst="rect">
            <a:avLst/>
          </a:prstGeom>
          <a:noFill/>
        </p:spPr>
        <p:txBody>
          <a:bodyPr wrap="none" anchor="t" lIns="0" rIns="0" tIns="0" bIns="0">
            <a:noAutofit/>
          </a:bodyPr>
          <a:lstStyle/>
          <a:p>
            <a:pPr algn="l">
              <a:lnSpc>
                <a:spcPts val="1285"/>
              </a:lnSpc>
              <a:spcBef>
                <a:spcPts val="0"/>
              </a:spcBef>
              <a:spcAft>
                <a:spcPts val="0"/>
              </a:spcAft>
            </a:pPr>
            <a:r>
              <a:rPr sz="1019" b="0">
                <a:solidFill>
                  <a:srgbClr val="484848"/>
                </a:solidFill>
                <a:latin typeface="JetBrains Mono"/>
              </a:rPr>
              <a:t>func.return %r : i32</a:t>
            </a:r>
          </a:p>
        </p:txBody>
      </p:sp>
      <p:cxnSp>
        <p:nvCxnSpPr>
          <p:cNvPr id="28" name="Connector 27"/>
          <p:cNvCxnSpPr/>
          <p:nvPr/>
        </p:nvCxnSpPr>
        <p:spPr>
          <a:xfrm>
            <a:off x="7104888" y="2852928"/>
            <a:ext cx="24688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CPU result"/>
          <p:cNvSpPr txBox="1"/>
          <p:nvPr/>
        </p:nvSpPr>
        <p:spPr>
          <a:xfrm>
            <a:off x="7406640" y="2496312"/>
            <a:ext cx="117957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CPU result</a:t>
            </a:r>
          </a:p>
        </p:txBody>
      </p:sp>
      <p:sp>
        <p:nvSpPr>
          <p:cNvPr id="30" name="12"/>
          <p:cNvSpPr txBox="1"/>
          <p:nvPr/>
        </p:nvSpPr>
        <p:spPr>
          <a:xfrm>
            <a:off x="7406640" y="2926080"/>
            <a:ext cx="1179576" cy="694944"/>
          </a:xfrm>
          <a:prstGeom prst="rect">
            <a:avLst/>
          </a:prstGeom>
          <a:noFill/>
        </p:spPr>
        <p:txBody>
          <a:bodyPr wrap="none" anchor="t" lIns="0" rIns="0" tIns="0" bIns="0">
            <a:noAutofit/>
          </a:bodyPr>
          <a:lstStyle/>
          <a:p>
            <a:pPr algn="ctr">
              <a:lnSpc>
                <a:spcPts val="5104"/>
              </a:lnSpc>
              <a:spcBef>
                <a:spcPts val="0"/>
              </a:spcBef>
              <a:spcAft>
                <a:spcPts val="0"/>
              </a:spcAft>
            </a:pPr>
            <a:r>
              <a:rPr sz="4400" b="1">
                <a:solidFill>
                  <a:srgbClr val="416600"/>
                </a:solidFill>
                <a:latin typeface="NVIDIA Sans"/>
              </a:rPr>
              <a:t>12</a:t>
            </a:r>
          </a:p>
        </p:txBody>
      </p:sp>
      <p:sp>
        <p:nvSpPr>
          <p:cNvPr id="31" name="Rectangle 30"/>
          <p:cNvSpPr/>
          <p:nvPr/>
        </p:nvSpPr>
        <p:spPr>
          <a:xfrm>
            <a:off x="484632" y="3767328"/>
            <a:ext cx="8174736" cy="877824"/>
          </a:xfrm>
          <a:prstGeom prst="rect">
            <a:avLst/>
          </a:prstGeom>
          <a:solidFill>
            <a:srgbClr val="F7F7F7"/>
          </a:solidFill>
          <a:ln>
            <a:noFill/>
          </a:ln>
          <a:effectLst/>
        </p:spPr>
        <p:txBody>
          <a:bodyPr rtlCol="0" anchor="ctr"/>
          <a:lstStyle/>
          <a:p>
            <a:pPr algn="ctr"/>
          </a:p>
        </p:txBody>
      </p:sp>
      <p:sp>
        <p:nvSpPr>
          <p:cNvPr id="32" name="Rectangle 31"/>
          <p:cNvSpPr/>
          <p:nvPr/>
        </p:nvSpPr>
        <p:spPr>
          <a:xfrm>
            <a:off x="484632" y="3767328"/>
            <a:ext cx="8174736" cy="365760"/>
          </a:xfrm>
          <a:prstGeom prst="rect">
            <a:avLst/>
          </a:prstGeom>
          <a:solidFill>
            <a:srgbClr val="76B900"/>
          </a:solidFill>
          <a:ln>
            <a:noFill/>
          </a:ln>
          <a:effectLst/>
        </p:spPr>
        <p:txBody>
          <a:bodyPr rtlCol="0" anchor="ctr"/>
          <a:lstStyle/>
          <a:p>
            <a:pPr algn="ctr"/>
          </a:p>
        </p:txBody>
      </p:sp>
      <p:sp>
        <p:nvSpPr>
          <p:cNvPr id="33" name="Your DSL · plugin selection excerpt"/>
          <p:cNvSpPr txBox="1"/>
          <p:nvPr/>
        </p:nvSpPr>
        <p:spPr>
          <a:xfrm>
            <a:off x="640080" y="3863340"/>
            <a:ext cx="786384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Your DSL · plugin selection excerpt</a:t>
            </a:r>
          </a:p>
        </p:txBody>
      </p:sp>
      <p:sp>
        <p:nvSpPr>
          <p:cNvPr id="34" name="plugins = [ScfDialectPlugin(), LlvmDialectPlugin(),"/>
          <p:cNvSpPr txBox="1"/>
          <p:nvPr/>
        </p:nvSpPr>
        <p:spPr>
          <a:xfrm>
            <a:off x="640080" y="4251960"/>
            <a:ext cx="7863840" cy="157670"/>
          </a:xfrm>
          <a:prstGeom prst="rect">
            <a:avLst/>
          </a:prstGeom>
          <a:noFill/>
        </p:spPr>
        <p:txBody>
          <a:bodyPr wrap="none" anchor="t" lIns="0" rIns="0" tIns="0" bIns="0">
            <a:noAutofit/>
          </a:bodyPr>
          <a:lstStyle/>
          <a:p>
            <a:pPr algn="l">
              <a:lnSpc>
                <a:spcPts val="1203"/>
              </a:lnSpc>
              <a:spcBef>
                <a:spcPts val="0"/>
              </a:spcBef>
              <a:spcAft>
                <a:spcPts val="0"/>
              </a:spcAft>
            </a:pPr>
            <a:r>
              <a:rPr sz="955" b="0">
                <a:solidFill>
                  <a:srgbClr val="484848"/>
                </a:solidFill>
                <a:latin typeface="JetBrains Mono"/>
              </a:rPr>
              <a:t>plugins = [ScfDialectPlugin(), LlvmDialectPlugin(),</a:t>
            </a:r>
          </a:p>
        </p:txBody>
      </p:sp>
      <p:sp>
        <p:nvSpPr>
          <p:cNvPr id="35" name="           ScfASTPreprocessorPlugin(), MyDialectPlugin()]"/>
          <p:cNvSpPr txBox="1"/>
          <p:nvPr/>
        </p:nvSpPr>
        <p:spPr>
          <a:xfrm>
            <a:off x="640080" y="4407204"/>
            <a:ext cx="7863840" cy="157670"/>
          </a:xfrm>
          <a:prstGeom prst="rect">
            <a:avLst/>
          </a:prstGeom>
          <a:noFill/>
        </p:spPr>
        <p:txBody>
          <a:bodyPr wrap="none" anchor="t" lIns="0" rIns="0" tIns="0" bIns="0">
            <a:noAutofit/>
          </a:bodyPr>
          <a:lstStyle/>
          <a:p>
            <a:pPr algn="l">
              <a:lnSpc>
                <a:spcPts val="1203"/>
              </a:lnSpc>
              <a:spcBef>
                <a:spcPts val="0"/>
              </a:spcBef>
              <a:spcAft>
                <a:spcPts val="0"/>
              </a:spcAft>
            </a:pPr>
            <a:r>
              <a:rPr sz="955" b="0">
                <a:solidFill>
                  <a:srgbClr val="484848"/>
                </a:solidFill>
                <a:latin typeface="JetBrains Mono"/>
              </a:rPr>
              <a:t>           ScfASTPreprocessorPlugin(), MyDialectPlugin()]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v12.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