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Lst>
  <p:sldSz cx="9144000" cy="5143500" type="screen16x9"/>
  <p:notesSz cx="6858000" cy="9144000"/>
  <p:embeddedFontLst>
    <p:embeddedFont>
      <p:font typeface="NVIDIA Sans"/>
      <p:regular r:id="rIdEmbeddedFont1"/>
      <p:bold r:id="rIdEmbeddedFont2"/>
    </p:embeddedFont>
    <p:embeddedFont>
      <p:font typeface="NVIDIA Sans Light"/>
      <p:regular r:id="rIdEmbeddedFont3"/>
    </p:embeddedFont>
    <p:embeddedFont>
      <p:font typeface="JetBrains Mono"/>
      <p:regular r:id="rIdEmbeddedFont4"/>
      <p:bold r:id="rIdEmbeddedFont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EmbeddedFont1" Type="http://schemas.openxmlformats.org/officeDocument/2006/relationships/font" Target="fonts/codexFont1.fntdata"/><Relationship Id="rIdEmbeddedFont2" Type="http://schemas.openxmlformats.org/officeDocument/2006/relationships/font" Target="fonts/codexFont2.fntdata"/><Relationship Id="rIdEmbeddedFont3" Type="http://schemas.openxmlformats.org/officeDocument/2006/relationships/font" Target="fonts/codexFont3.fntdata"/><Relationship Id="rIdEmbeddedFont4" Type="http://schemas.openxmlformats.org/officeDocument/2006/relationships/font" Target="fonts/codexFont4.fntdata"/><Relationship Id="rIdEmbeddedFont5" Type="http://schemas.openxmlformats.org/officeDocument/2006/relationships/font" Target="fonts/codexFont5.fntdata"/><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How to build a Python DSL for MLIR</a:t>
            </a:r>
          </a:p>
          <a:p>
            <a:r>
              <a:t>Owner: Guray Ozen</a:t>
            </a:r>
          </a:p>
          <a:p>
            <a:r>
              <a:t>Clock: 00:00–00:15</a:t>
            </a:r>
          </a:p>
          <a:p>
            <a:r>
              <a:t>Target duration: 00:15</a:t>
            </a:r>
          </a:p>
          <a:p/>
          <a:p>
            <a:r>
              <a:t>Guray opens the tutorial. Amir’s role and affiliation await confirmation; do not invent them. Schedule: Guray 30 minutes, Amir 10 minutes on advanced mutation tracking, Guray returns for a five-slide Tile IR adapter walkthrough. The talk date is supplied by the presenters; the official event runs October 26–28. The purpose is to extract DkgDSL, not to define the framework by the subset currently landed in the prototype.</a:t>
            </a:r>
          </a:p>
          <a:p/>
          <a:p>
            <a:r>
              <a:t>SOURCES / PREPARATION</a:t>
            </a:r>
          </a:p>
          <a:p>
            <a:r>
              <a:t>https://llvm.org/devmtg/2026-10/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Why a Python DSL for MLIR?</a:t>
            </a:r>
          </a:p>
          <a:p>
            <a:r>
              <a:t>Owner: Guray Ozen</a:t>
            </a:r>
          </a:p>
          <a:p>
            <a:r>
              <a:t>Clock: 00:15–01:15</a:t>
            </a:r>
          </a:p>
          <a:p>
            <a:r>
              <a:t>Target duration: 01:00</a:t>
            </a:r>
          </a:p>
          <a:p/>
          <a:p>
            <a:r>
              <a:t>Motivation is broader than GPU kernels. First, a public-to-internal-to-LLVM pipeline often makes an internal transformation awkward to test: directly generate the internal dialect with Python and test that pass. Second, an MLIR dialect can describe recipes consumed by a non-MLIR runtime; it need not lower to LLVM. Do not name the private recipe dialect. Third, a downstream DSL can reuse only services it needs. Fourth, NVIDIA CuTe DSL is an external production example of this approach; it is not the name of our tutorial implementation.</a:t>
            </a:r>
          </a:p>
          <a:p/>
          <a:p>
            <a:r>
              <a:t>SOURCES / PREPARATION</a:t>
            </a:r>
          </a:p>
          <a:p>
            <a:r>
              <a:t>https://docs.nvidia.com/cutlass/latest/media/docs/pythonDSL/cute_dsl_general/dsl_introduction.html</a:t>
            </a:r>
          </a:p>
          <a:p>
            <a:r>
              <a:t>mlir/python/mlir/dsl/core/dsl.py:387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What should a Python MLIR DSL provide?</a:t>
            </a:r>
          </a:p>
          <a:p>
            <a:r>
              <a:t>Owner: Guray Ozen</a:t>
            </a:r>
          </a:p>
          <a:p>
            <a:r>
              <a:t>Clock: 01:15–02:00</a:t>
            </a:r>
          </a:p>
          <a:p>
            <a:r>
              <a:t>Target duration: 00:45</a:t>
            </a:r>
          </a:p>
          <a:p/>
          <a:p>
            <a:r>
              <a:t>Redrawn from cutedsl_llvm25.pptx slides 46–47, with editable boxes. BaseDSL provides common infrastructure; some boxes are extension points rather than a promise that every downstream dialect requires zero work. The default mlir dsl implementation supplies numeric wrappers and SCF callbacks. The lower row deliberately uses a generic sub-DSL name. The feature boxes summarize the extraction target. Some mechanisms are already present in the LLVM checkout; Array and richer compile/export APIs still need extraction. DialectPlugin is a modular addition to the original subclass hooks. Do not interpret a shared box as a claim that every DKG feature is already ported.</a:t>
            </a:r>
          </a:p>
          <a:p/>
          <a:p>
            <a:r>
              <a:t>SOURCES / PREPARATION</a:t>
            </a:r>
          </a:p>
          <a:p>
            <a:r>
              <a:t>presentations/llvm-mlir-dsl-2026/cutedsl_llvm25.pptx:46-47</a:t>
            </a:r>
          </a:p>
          <a:p>
            <a:r>
              <a:t>mlir/python/mlir/dsl/core/dsl.py:387</a:t>
            </a:r>
          </a:p>
          <a:p>
            <a:r>
              <a:t>mlir/python/mlir/dsl/core/plugin.py:27</a:t>
            </a:r>
          </a:p>
          <a:p>
            <a:r>
              <a:t>/home/gozen/work/dkg4/DkgDSL/base_dsl/dsl.py</a:t>
            </a:r>
          </a:p>
          <a:p>
            <a:r>
              <a:t>/home/gozen/work/dkg4/DkgDSL/base_dsl/compiler.py</a:t>
            </a:r>
          </a:p>
          <a:p>
            <a:r>
              <a:t>/home/gozen/work/dkg4/DkgDSL/base_dsl/array.py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Design principles</a:t>
            </a:r>
          </a:p>
          <a:p>
            <a:r>
              <a:t>Owner: Guray Ozen</a:t>
            </a:r>
          </a:p>
          <a:p>
            <a:r>
              <a:t>Clock: 02:00–02:30</a:t>
            </a:r>
          </a:p>
          <a:p>
            <a:r>
              <a:t>Target duration: 00:30</a:t>
            </a:r>
          </a:p>
          <a:p/>
          <a:p>
            <a:r>
              <a:t>Keep this slide short. These are design goals: ordinary Python remains the host metaprogram. The staged subset and explicit DSL APIs describe target operations. We are not claiming arbitrary Python objects or effects can execute in the compiled target.</a:t>
            </a:r>
          </a:p>
          <a:p/>
          <a:p>
            <a:r>
              <a:t>SOURCES / PREPARATION</a:t>
            </a:r>
          </a:p>
          <a:p>
            <a:r>
              <a:t>mlir/python/mlir/dsl/__init__.py:5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What is multi-stage programming?</a:t>
            </a:r>
          </a:p>
          <a:p>
            <a:r>
              <a:t>Owner: Guray Ozen</a:t>
            </a:r>
          </a:p>
          <a:p>
            <a:r>
              <a:t>Clock: 02:30–03:15</a:t>
            </a:r>
          </a:p>
          <a:p>
            <a:r>
              <a:t>Target duration: 00:45</a:t>
            </a:r>
          </a:p>
          <a:p/>
          <a:p>
            <a:r>
              <a:t>Read the three visual pipelines from top to bottom. Traditional compiler: source.cpp goes through the compiler and produces a binary. Multi-stage compilers: a generated binary is itself a generator; RUN it to emit the next source.cpp, compile that source, and continue as needed. The loop explicitly says to run the binary and generate the next stage: merely compiling a generator does not execute it. The C++ stages and repetition arrow illustrate the idea, not a requirement that every multi-stage program cycle forever or use C++ at every stage. In our case the generator is Python, so the Python interpreter executes source.py and builds MLIR. The diagram shows the requested source.py → Python interpreter → *.mlir → mlir-opt → binary sequence. The final arrow is labelled LLVM codegen / JIT because mlir-opt runs optimization/lowering passes rather than directly producing a CPU binary. For this tutorial the generated MLIR can stay in memory: Compiler uses PassManager and ExecutionEngine, rather than spawning the mlir-opt executable or necessarily creating a .mlir file. Python is the meta-language; MLIR is the object language. Known computations execute while Python generates the program; runtime computations remain in its IR.</a:t>
            </a:r>
          </a:p>
          <a:p/>
          <a:p>
            <a:r>
              <a:t>SOURCES / PREPARATION</a:t>
            </a:r>
          </a:p>
          <a:p>
            <a:r>
              <a:t>mlir/python/mlir/dsl/core/dsl.py:1869</a:t>
            </a:r>
          </a:p>
          <a:p>
            <a:r>
              <a:t>mlir/python/mlir/dsl/types/typing.py:688</a:t>
            </a:r>
          </a:p>
          <a:p>
            <a:r>
              <a:t>mlir/test/python/dsl/expression.py:8</a:t>
            </a:r>
          </a:p>
          <a:p>
            <a:r>
              <a:t>mlir/docs/Tutorials/MlirOpt.md:73</a:t>
            </a:r>
          </a:p>
          <a:p>
            <a:r>
              <a:t>mlir/python/mlir/dsl/compiler/compiler.py:351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Why multi-stage programming?</a:t>
            </a:r>
          </a:p>
          <a:p>
            <a:r>
              <a:t>Owner: Guray Ozen</a:t>
            </a:r>
          </a:p>
          <a:p>
            <a:r>
              <a:t>Clock: 03:15–04:00</a:t>
            </a:r>
          </a:p>
          <a:p>
            <a:r>
              <a:t>Target duration: 00:45</a:t>
            </a:r>
          </a:p>
          <a:p/>
          <a:p>
            <a:r>
              <a:t>Two reasons for multi-stage programming. First, use the entire host language for the meta-program: Python objects, imports, libraries, helper functions, and metaprogramming execute while constructing the target program. The generator is ordinary Python; this does not mean arbitrary Python effects execute in the compiled target. Second, keep MLIR types and builders in an explicit DSL namespace, without replacing Python builtins globally. In the tutorial namespace, imported as m, a for loop over range(4) executes during generation, while a for loop over m.range(4) emits scf.for even though its bound is known. The figure shows the loop iterator expressions, not standalone complete programs; both are inside @m.jit. This contrast is covered by the unrolled and forced examples in meta_loop.py. Namespaces make builder selection explicit; they are not the only staging mechanism. Proxy values and binding time also control staging, and native range over a runtime bound can become scf.for. The same Python generator can compose builders for different MLIR dialects. The next slide introduces mlir dsl as the tutorial implementation of these ideas.</a:t>
            </a:r>
          </a:p>
          <a:p/>
          <a:p>
            <a:r>
              <a:t>SOURCES / PREPARATION</a:t>
            </a:r>
          </a:p>
          <a:p>
            <a:r>
              <a:t>mlir/python/mlir/dsl/__init__.py:5</a:t>
            </a:r>
          </a:p>
          <a:p>
            <a:r>
              <a:t>mlir/test/python/dsl/meta_loop.py:4</a:t>
            </a:r>
          </a:p>
          <a:p>
            <a:r>
              <a:t>mlir/python/mlir/dsl/frontend/ast_helpers.py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How to build a Python DSL for MLIR</a:t>
            </a:r>
          </a:p>
          <a:p>
            <a:r>
              <a:t>Owner: Guray Ozen</a:t>
            </a:r>
          </a:p>
          <a:p>
            <a:r>
              <a:t>Clock: 04:00–05:15</a:t>
            </a:r>
          </a:p>
          <a:p>
            <a:r>
              <a:t>Target duration: 01:15</a:t>
            </a:r>
          </a:p>
          <a:p/>
          <a:p>
            <a:r>
              <a:t>This is the central idea. @jit traces a decorated Python function with proxy values for runtime arguments. Python computes with known data and performs normal object dispatch. Operator methods and namespaced builders append MLIR operations. A small AST pass will later capture native runtime control flow. The output can be lowered and executed, tested as IR, or consumed as a recipe. The diagram shows a body excerpt, omitting the llvm.func wrapper and SSA name details. This is the architecture, not an AST interpreter for all of Python. DKG already implements this model. The extraction separates reusable capture, value, and compilation infrastructure from CuTe/CUDA imports, target pipelines, and launch/runtime policy. The displayed namespace is the mlir dsl teaching surface.</a:t>
            </a:r>
          </a:p>
          <a:p/>
          <a:p>
            <a:r>
              <a:t>SOURCES / PREPARATION</a:t>
            </a:r>
          </a:p>
          <a:p>
            <a:r>
              <a:t>mlir/python/mlir/dsl/core/dsl.py:2000</a:t>
            </a:r>
          </a:p>
          <a:p>
            <a:r>
              <a:t>mlir/python/mlir/dsl/types/typing.py:688</a:t>
            </a:r>
          </a:p>
          <a:p>
            <a:r>
              <a:t>mlir/test/python/dsl/expression.py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Language semantics: two kinds of values</a:t>
            </a:r>
          </a:p>
          <a:p>
            <a:r>
              <a:t>Owner: Guray Ozen</a:t>
            </a:r>
          </a:p>
          <a:p>
            <a:r>
              <a:t>Clock: 05:15–06:00</a:t>
            </a:r>
          </a:p>
          <a:p>
            <a:r>
              <a:t>Target duration: 00:45</a:t>
            </a:r>
          </a:p>
          <a:p/>
          <a:p>
            <a:r>
              <a:t>The user’s “non-Python is captured” is expressed as DSL values and operations: unsupported arbitrary objects are not automatically translated. Both are manipulated by the Python interpreter during generation. The staged value represents an SSA result, and its operations produce target IR. Native control flow depends on whether its condition or bounds are known. Use the following examples to make the distinction concrete. DKG LanguageSemantic.md supplies the Meta/Stage model. mlir dsl intentionally changes argument defaults: unannotated Python args specialize, Constexpr is optional, and bare range follows the binding time of its bound.</a:t>
            </a:r>
          </a:p>
          <a:p/>
          <a:p>
            <a:r>
              <a:t>SOURCES / PREPARATION</a:t>
            </a:r>
          </a:p>
          <a:p>
            <a:r>
              <a:t>mlir/python/mlir/dsl/types/typing.py:795</a:t>
            </a:r>
          </a:p>
          <a:p>
            <a:r>
              <a:t>mlir/python/mlir/dsl/frontend/ast_helpers.py:302</a:t>
            </a:r>
          </a:p>
          <a:p>
            <a:r>
              <a:t>/home/gozen/work/dkg4/DkgDSL/LanguageSemantic.md:13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Agenda</a:t>
            </a:r>
          </a:p>
          <a:p>
            <a:r>
              <a:t>Owner: Guray Ozen</a:t>
            </a:r>
          </a:p>
          <a:p>
            <a:r>
              <a:t>Clock: 06:00–06:15</a:t>
            </a:r>
          </a:p>
          <a:p>
            <a:r>
              <a:t>Target duration: 00:15</a:t>
            </a:r>
          </a:p>
          <a:p/>
          <a:p>
            <a:r>
              <a:t>Plain text agenda: no boxes or visible minute ranges. Guray presents the core until minute 30. Amir has minutes 30–40. Guray returns for five Tile IR adapter slides from minute 40 to 45. The old GenAI feedback section is removed from this new tutorial structure.</a:t>
            </a:r>
          </a:p>
          <a:p/>
          <a:p>
            <a:r>
              <a:t>SOURCES / PREPARATION</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Start with a BaseDSL subclass</a:t>
            </a:r>
          </a:p>
          <a:p>
            <a:r>
              <a:t>Owner: Guray Ozen</a:t>
            </a:r>
          </a:p>
          <a:p>
            <a:r>
              <a:t>Clock: 06:15–07:00</a:t>
            </a:r>
          </a:p>
          <a:p>
            <a:r>
              <a:t>Target duration: 00:45</a:t>
            </a:r>
          </a:p>
          <a:p/>
          <a:p>
            <a:r>
              <a:t>DkgDSL already has BaseDSL and concrete CuTe/CUDA Tile subclasses. This slide uses the extracted plugin API to package target policy. target_config stands for the configured constructor fields; a concrete CPU example is dict(compiler_provider=m.Compiler(passmanager,execution_engine), pass_sm_arch_name="cubin-chip", preprocess=False). Import execution_engine and passmanager from mlir. The full tested prototype constructor is in verification/v6. A future cleanup can replace the GPU-specific option key with generic target configuration; do not imply an unconfigured subclass is executable. The takeaway is to inherit the reusable orchestration and supply policy once.</a:t>
            </a:r>
          </a:p>
          <a:p/>
          <a:p>
            <a:r>
              <a:t>SOURCES / PREPARATION</a:t>
            </a:r>
          </a:p>
          <a:p>
            <a:r>
              <a:t>mlir/python/mlir/dsl/core/dsl.py:428</a:t>
            </a:r>
          </a:p>
          <a:p>
            <a:r>
              <a:t>verification/v6/mlir-tutorial-core-smoke.py</a:t>
            </a:r>
          </a:p>
          <a:p>
            <a:r>
              <a:t>/home/gozen/work/dkg4/DkgDSL/base_dsl/dsl.py:348</a:t>
            </a:r>
          </a:p>
          <a:p>
            <a:r>
              <a:t>/home/gozen/work/dkg4/DkgDSL/cutlass_dsl/cutlass.py:603</a:t>
            </a:r>
          </a:p>
          <a:p>
            <a:r>
              <a:t>/home/gozen/work/dkg4/DkgDSL/cuda_tile_dsl/cuda_tile.py:622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What BaseDSL gives your sub-DSL</a:t>
            </a:r>
          </a:p>
          <a:p>
            <a:r>
              <a:t>Owner: Guray Ozen</a:t>
            </a:r>
          </a:p>
          <a:p>
            <a:r>
              <a:t>Clock: 07:00–07:30</a:t>
            </a:r>
          </a:p>
          <a:p>
            <a:r>
              <a:t>Target duration: 00:30</a:t>
            </a:r>
          </a:p>
          <a:p/>
          <a:p>
            <a:r>
              <a:t>These are real BaseDSL responsibilities. name controls the environment prefix through EnvironmentVarManager. Pass pipeline precedence: call override, environment override, then plugin passes plus core lowering. Name mangling includes Meta arguments; do not imply changing the Python subclass name alone changes the environment prefix. No public IR-only consumer adapter is claimed to be shipped; that is a use of the framework extension surface. DKG BaseDSL is the source of these services. The extraction cleans up imports, renames the environment prefix, and makes host entry/pipeline/backend choices explicit.</a:t>
            </a:r>
          </a:p>
          <a:p/>
          <a:p>
            <a:r>
              <a:t>SOURCES / PREPARATION</a:t>
            </a:r>
          </a:p>
          <a:p>
            <a:r>
              <a:t>mlir/python/mlir/dsl/core/dsl.py:533</a:t>
            </a:r>
          </a:p>
          <a:p>
            <a:r>
              <a:t>mlir/python/mlir/dsl/core/dsl.py:814</a:t>
            </a:r>
          </a:p>
          <a:p>
            <a:r>
              <a:t>mlir/python/mlir/dsl/core/dsl.py:888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Environment settings are reusable infrastructure</a:t>
            </a:r>
          </a:p>
          <a:p>
            <a:r>
              <a:t>Owner: Guray Ozen</a:t>
            </a:r>
          </a:p>
          <a:p>
            <a:r>
              <a:t>Clock: 07:30–08:00</a:t>
            </a:r>
          </a:p>
          <a:p>
            <a:r>
              <a:t>Target duration: 00:30</a:t>
            </a:r>
          </a:p>
          <a:p/>
          <a:p>
            <a:r>
              <a:t>EnvironmentVarManager/env_var are actual extracted APIs from mlir.dsl.core.env_manager. The class is an excerpt: configure BaseDSL as on the preceding setup slide. Prefix comes from name in the constructor, not Python class spelling. The supplied matrix reports29 extracted settings versus49 in DKG at its snapshot; counts are preparation metadata rather than stable API promises.</a:t>
            </a:r>
          </a:p>
          <a:p/>
          <a:p>
            <a:r>
              <a:t>SOURCES / PREPARATION</a:t>
            </a:r>
          </a:p>
          <a:p>
            <a:r>
              <a:t>mlir/python/mlir/dsl/core/env_manager.py</a:t>
            </a:r>
          </a:p>
          <a:p>
            <a:r>
              <a:t>/home/gozen/work/dkg4/DkgDSL/base_dsl/env_manager.py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Add your downstream dialect with a plugin</a:t>
            </a:r>
          </a:p>
          <a:p>
            <a:r>
              <a:t>Owner: Guray Ozen</a:t>
            </a:r>
          </a:p>
          <a:p>
            <a:r>
              <a:t>Clock: 08:00–08:45</a:t>
            </a:r>
          </a:p>
          <a:p>
            <a:r>
              <a:t>Target duration: 00:45</a:t>
            </a:r>
          </a:p>
          <a:p/>
          <a:p>
            <a:r>
              <a:t>mydialect bindings and pass names are downstream placeholders. The methods and class-level plugins protocol are real. This example replaces the default plugin list; use [*m.MlirDSL.plugins, MyDialectPlugin()] to retain them. register_leaf registrations for custom values should happen once at module import. A tested concrete example uses the upstream complex dialect and convert-complex-to-llvm; its log is included in verification/v6. DialectPlugin is new in the extraction. Original DKG uses BaseDSL subclass overrides and executor callbacks rather than this exact declarative class-list protocol. Additional plugin hooks include shared_libs, attach_to_module and wrap_compiled_function, used by optional exports.</a:t>
            </a:r>
          </a:p>
          <a:p/>
          <a:p>
            <a:r>
              <a:t>SOURCES / PREPARATION</a:t>
            </a:r>
          </a:p>
          <a:p>
            <a:r>
              <a:t>mlir/python/mlir/dsl/core/plugin.py:27</a:t>
            </a:r>
          </a:p>
          <a:p>
            <a:r>
              <a:t>verification/v6/mlir-tutorial-core-smoke.py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Two decorators; the target chooses how to launch</a:t>
            </a:r>
          </a:p>
          <a:p>
            <a:r>
              <a:t>Owner: Guray Ozen</a:t>
            </a:r>
          </a:p>
          <a:p>
            <a:r>
              <a:t>Clock: 08:45–10:00</a:t>
            </a:r>
          </a:p>
          <a:p>
            <a:r>
              <a:t>Target duration: 01:15</a:t>
            </a:r>
          </a:p>
          <a:p/>
          <a:p>
            <a:r>
              <a:t>The diagram shows the familiar default host path from the reference slide. Shared decorators call target hooks, rather than enforcing one universal GPU calling convention. CuTe/default extracted GPU plugin uses a host @jit launch; the existing DKG CudaTileIR backend sets device_compilation_only=True and directs users to call @kernel from Python. Nested @jit/Python helpers execute during generation and inline their IR. The closing five slides explain the existing Tile target and its extraction. The prototype default LAUNCH_OUTSIDE_JIT restriction is specific to its GPU plugin, not a limit of DkgDSL architecture.</a:t>
            </a:r>
          </a:p>
          <a:p/>
          <a:p>
            <a:r>
              <a:t>SOURCES / PREPARATION</a:t>
            </a:r>
          </a:p>
          <a:p>
            <a:r>
              <a:t>presentations/llvm-mlir-dsl-2026/cutedsl_llvm25.pptx:49</a:t>
            </a:r>
          </a:p>
          <a:p>
            <a:r>
              <a:t>mlir/python/mlir/dsl/core/dsl.py:344</a:t>
            </a:r>
          </a:p>
          <a:p>
            <a:r>
              <a:t>mlir/python/mlir/dsl/core/dsl.py:668</a:t>
            </a:r>
          </a:p>
          <a:p>
            <a:r>
              <a:t>/home/gozen/work/dkg4/DkgDSL/base_dsl/dsl.py:769</a:t>
            </a:r>
          </a:p>
          <a:p>
            <a:r>
              <a:t>/home/gozen/work/dkg4/DkgDSL/cuda_tile_dsl/cuda_tile.py:706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Basic types: builtin types, arith operations</a:t>
            </a:r>
          </a:p>
          <a:p>
            <a:r>
              <a:t>Owner: Guray Ozen</a:t>
            </a:r>
          </a:p>
          <a:p>
            <a:r>
              <a:t>Clock: 10:00–11:00</a:t>
            </a:r>
          </a:p>
          <a:p>
            <a:r>
              <a:t>Target duration: 01:00</a:t>
            </a:r>
          </a:p>
          <a:p/>
          <a:p>
            <a:r>
              <a:t>The figure is the conceptual value model shared by the source and extracted implementation. DKG Numeric.value may hold a Python scalar or an IR value wrapper. NumericMeta carries width, dtype and MLIR type factories. After promotion, Python arithmetic on known payloads computes immediately; ArithValue operator methods emit arith.addi/addf. The smaller extracted implementation uses its own fixed emitter dispatch. Do not describe its __slots__ layout as the literal DKG class. These implementation differences preserve the same teaching model.</a:t>
            </a:r>
          </a:p>
          <a:p/>
          <a:p>
            <a:r>
              <a:t>SOURCES / PREPARATION</a:t>
            </a:r>
          </a:p>
          <a:p>
            <a:r>
              <a:t>mlir/python/mlir/dsl/types/typing.py:132</a:t>
            </a:r>
          </a:p>
          <a:p>
            <a:r>
              <a:t>mlir/python/mlir/dsl/types/typing.py:688</a:t>
            </a:r>
          </a:p>
          <a:p>
            <a:r>
              <a:t>mlir/python/mlir/dsl/types/typing.py:795</a:t>
            </a:r>
          </a:p>
          <a:p>
            <a:r>
              <a:t>/home/gozen/work/dkg4/DkgDSL/base_dsl/typing.py</a:t>
            </a:r>
          </a:p>
          <a:p>
            <a:r>
              <a:t>/home/gozen/work/dkg4/DkgDSL/_mlir_helpers/arith.py:571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A small set of reusable value building blocks</a:t>
            </a:r>
          </a:p>
          <a:p>
            <a:r>
              <a:t>Owner: Guray Ozen</a:t>
            </a:r>
          </a:p>
          <a:p>
            <a:r>
              <a:t>Clock: 11:00–11:45</a:t>
            </a:r>
          </a:p>
          <a:p>
            <a:r>
              <a:t>Target duration: 00:45</a:t>
            </a:r>
          </a:p>
          <a:p/>
          <a:p>
            <a:r>
              <a:t>Feature groups from the supplied extraction inventory. Pointer and math APIs are intentionally reduced versus DKG; do not imply all target-specific gather/swizzle/NVVM helpers are retained. Struct supports zero_init and packed policy; Vector is intentionally small. GridConstant/Constexpr retain role markers. GPU-specific pointer/address-space operations can stay downstream. The family list is a capability summary, not literal call syntax.</a:t>
            </a:r>
          </a:p>
          <a:p/>
          <a:p>
            <a:r>
              <a:t>SOURCES / PREPARATION</a:t>
            </a:r>
          </a:p>
          <a:p>
            <a:r>
              <a:t>mlir/python/mlir/dsl/types/typing.py</a:t>
            </a:r>
          </a:p>
          <a:p>
            <a:r>
              <a:t>mlir/python/mlir/dsl/types/vector.py</a:t>
            </a:r>
          </a:p>
          <a:p>
            <a:r>
              <a:t>mlir/python/mlir/dsl/types/torch.py</a:t>
            </a:r>
          </a:p>
          <a:p>
            <a:r>
              <a:t>/home/gozen/work/dkg4/DkgDSL/base_dsl/typing.py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How type inference works</a:t>
            </a:r>
          </a:p>
          <a:p>
            <a:r>
              <a:t>Owner: Guray Ozen</a:t>
            </a:r>
          </a:p>
          <a:p>
            <a:r>
              <a:t>Clock: 11:45–12:30</a:t>
            </a:r>
          </a:p>
          <a:p>
            <a:r>
              <a:t>Target duration: 00:45</a:t>
            </a:r>
          </a:p>
          <a:p/>
          <a:p>
            <a:r>
              <a:t>Default literal coercion: bool to Boolean, int to Int32 or Int64 if outside signed32 range, float to Float32. Normal Python integers remain normal Python integers until crossing the DSL conversion boundary. Numeric operators have promotion policy; comparisons return Boolean. Branch results must have compatible leaf types; there is no general automatic i32/f32 join conversion. Explicit annotations and casts can override boundary choices. This slide presents the deliberate mlir dsl policy from the supplied feature matrix: unannotated Python scalars are Meta, unlike DKG host argument adapters that stage them by default.</a:t>
            </a:r>
          </a:p>
          <a:p/>
          <a:p>
            <a:r>
              <a:t>SOURCES / PREPARATION</a:t>
            </a:r>
          </a:p>
          <a:p>
            <a:r>
              <a:t>mlir/python/mlir/dsl/types/typing.py:492</a:t>
            </a:r>
          </a:p>
          <a:p>
            <a:r>
              <a:t>mlir/python/mlir/dsl/types/typing.py:1096</a:t>
            </a:r>
          </a:p>
          <a:p>
            <a:r>
              <a:t>mlir/python/mlir/dsl/types/typing.py:1341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Use your dialect’s arithmetic</a:t>
            </a:r>
          </a:p>
          <a:p>
            <a:r>
              <a:t>Owner: Guray Ozen</a:t>
            </a:r>
          </a:p>
          <a:p>
            <a:r>
              <a:t>Clock: 12:30–13:15</a:t>
            </a:r>
          </a:p>
          <a:p>
            <a:r>
              <a:t>Target duration: 00:45</a:t>
            </a:r>
          </a:p>
          <a:p/>
          <a:p>
            <a:r>
              <a:t>DKG separates Numeric promotion from ArithValue operation emission. The current extraction supports downstream wrappers and registered leaves as shown here. The fictional myarith binding/pass names denote a downstream extension. A configurable emitter policy at that boundary is a natural further extraction hook; neither inspected codebase currently has an arith= parameter on NumericMeta, so do not invent one. Existing CUDA Tile value wrappers demonstrate target-specific overloaded arithmetic. Register MyNumber as a leaf or implement the corresponding extract/rebuild protocol.</a:t>
            </a:r>
          </a:p>
          <a:p/>
          <a:p>
            <a:r>
              <a:t>SOURCES / PREPARATION</a:t>
            </a:r>
          </a:p>
          <a:p>
            <a:r>
              <a:t>mlir/python/mlir/dsl/types/typing.py:650</a:t>
            </a:r>
          </a:p>
          <a:p>
            <a:r>
              <a:t>mlir/python/mlir/dsl/core/plugin.py:46</a:t>
            </a:r>
          </a:p>
          <a:p>
            <a:r>
              <a:t>verification/v6/mlir-tutorial-core-smoke.py</a:t>
            </a:r>
          </a:p>
          <a:p>
            <a:r>
              <a:t>/home/gozen/work/dkg4/DkgDSL/base_dsl/typing.py:1049</a:t>
            </a:r>
          </a:p>
          <a:p>
            <a:r>
              <a:t>/home/gozen/work/dkg4/DkgDSL/_mlir_helpers/arith.py:659</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Extend the type system: mydialect.Tensor</a:t>
            </a:r>
          </a:p>
          <a:p>
            <a:r>
              <a:t>Owner: Guray Ozen</a:t>
            </a:r>
          </a:p>
          <a:p>
            <a:r>
              <a:t>Clock: 13:15–14:15</a:t>
            </a:r>
          </a:p>
          <a:p>
            <a:r>
              <a:t>Target duration: 01:00</a:t>
            </a:r>
          </a:p>
          <a:p/>
          <a:p>
            <a:r>
              <a:t>DKG DynamicExpression defines __extract_mlir_values__ and __new_from_mlir_values__; JitArgument adds MLIR type and host ABI marshalling methods. The extracted register_leaf API packages the same flatten/rebuild contract as callbacks. Tensor is a downstream wrapper; the slide uses actual register_leaf syntax. This is an existing capability carried into a more explicit registration API, not a claim the target Tensor dialect is shipped. Host framework objects still require a runtime adapter/marshal policy.</a:t>
            </a:r>
          </a:p>
          <a:p/>
          <a:p>
            <a:r>
              <a:t>SOURCES / PREPARATION</a:t>
            </a:r>
          </a:p>
          <a:p>
            <a:r>
              <a:t>mlir/python/mlir/dsl/util/tree_utils.py:152</a:t>
            </a:r>
          </a:p>
          <a:p>
            <a:r>
              <a:t>mlir/python/mlir/dsl/runtime/jit_arg_adapters.py</a:t>
            </a:r>
          </a:p>
          <a:p>
            <a:r>
              <a:t>/home/gozen/work/dkg4/DkgDSL/base_dsl/typing.py:77</a:t>
            </a:r>
          </a:p>
          <a:p>
            <a:r>
              <a:t>/home/gozen/work/dkg4/DkgDSL/base_dsl/typing.py:148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Metaprogramming: specialize with Python values</a:t>
            </a:r>
          </a:p>
          <a:p>
            <a:r>
              <a:t>Owner: Guray Ozen</a:t>
            </a:r>
          </a:p>
          <a:p>
            <a:r>
              <a:t>Clock: 14:15–15:15</a:t>
            </a:r>
          </a:p>
          <a:p>
            <a:r>
              <a:t>Target duration: 01:00</a:t>
            </a:r>
          </a:p>
          <a:p/>
          <a:p>
            <a:r>
              <a:t>Verified on CPU against the current checkout. The IR excerpt uses simplified SSA names. Only x is an i32 function argument; scale and bias are known during tracing and specialize the symbol. With scale3 and bias4 the call returns25. Metaprogramming is ordinary Python work that constructs a specialized target program.</a:t>
            </a:r>
          </a:p>
          <a:p/>
          <a:p>
            <a:r>
              <a:t>SOURCES / PREPARATION</a:t>
            </a:r>
          </a:p>
          <a:p>
            <a:r>
              <a:t>verification/v6/mlir-tutorial-runtime-examples.py</a:t>
            </a:r>
          </a:p>
          <a:p>
            <a:r>
              <a:t>verification/v6/mlir-tutorial-runtime-examples.ir.log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Metaprogramming: objects and dictionaries</a:t>
            </a:r>
          </a:p>
          <a:p>
            <a:r>
              <a:t>Owner: Guray Ozen</a:t>
            </a:r>
          </a:p>
          <a:p>
            <a:r>
              <a:t>Clock: 15:15–16:30</a:t>
            </a:r>
          </a:p>
          <a:p>
            <a:r>
              <a:t>Target duration: 01:15</a:t>
            </a:r>
          </a:p>
          <a:p/>
          <a:p>
            <a:r>
              <a:t>This exact class hierarchy and dictionary were executed successfully. Python preserves dictionary insertion order, resolves op.apply, reads n/k and runs the known loop at generation time. MLIR contains arith.addi and arith.muli, not a vtable or dictionary. These are ordinary non-frozen Python objects because they are Meta configuration. Later restrictions on staged state must not be presented as restrictions on all Python classes.</a:t>
            </a:r>
          </a:p>
          <a:p/>
          <a:p>
            <a:r>
              <a:t>SOURCES / PREPARATION</a:t>
            </a:r>
          </a:p>
          <a:p>
            <a:r>
              <a:t>verification/v6/mlir-tutorial-runtime-examples.py</a:t>
            </a:r>
          </a:p>
          <a:p>
            <a:r>
              <a:t>verification/v6/mlir-tutorial-runtime-examples.ir.log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The same metaprogram can build a GPU body</a:t>
            </a:r>
          </a:p>
          <a:p>
            <a:r>
              <a:t>Owner: Guray Ozen</a:t>
            </a:r>
          </a:p>
          <a:p>
            <a:r>
              <a:t>Clock: 16:30–17:30</a:t>
            </a:r>
          </a:p>
          <a:p>
            <a:r>
              <a:t>Target duration: 01:00</a:t>
            </a:r>
          </a:p>
          <a:p/>
          <a:p>
            <a:r>
              <a:t>This uses the intended m.Array spelling of the existing DKG Array capability. DKG Array wraps a pointer plus shape/stride/dtype metadata and supports load/store syntax. That wrapper and DLPack bridge are still extraction work in the current smaller LLVM package. The polymorphic objects are Meta; the kernel thread index and memory/arithmetic are staged. Launch from the standard host @jit path. A bounds-safe launch or an explicit bounds check is required for general sizes. The extracted prototype CPU counterpart was executed; this renamed Array GPU example is source-backed, not GPU-executed in this tutorial preparation.</a:t>
            </a:r>
          </a:p>
          <a:p/>
          <a:p>
            <a:r>
              <a:t>SOURCES / PREPARATION</a:t>
            </a:r>
          </a:p>
          <a:p>
            <a:r>
              <a:t>mlir/python/mlir/dsl/dialect_plugins/gpu.py:182</a:t>
            </a:r>
          </a:p>
          <a:p>
            <a:r>
              <a:t>verification/v6/mlir-tutorial-runtime-examples.py</a:t>
            </a:r>
          </a:p>
          <a:p>
            <a:r>
              <a:t>/home/gozen/work/dkg4/DkgDSL/base_dsl/array.py:3246</a:t>
            </a:r>
          </a:p>
          <a:p>
            <a:r>
              <a:t>/home/gozen/work/dkg4/DkgDSL/test/ctm/test_array_dlpack.py:74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Carry over Array and the DLPack boundary</a:t>
            </a:r>
          </a:p>
          <a:p>
            <a:r>
              <a:t>Owner: Guray Ozen</a:t>
            </a:r>
          </a:p>
          <a:p>
            <a:r>
              <a:t>Clock: 17:30–18:30</a:t>
            </a:r>
          </a:p>
          <a:p>
            <a:r>
              <a:t>Target duration: 01:00</a:t>
            </a:r>
          </a:p>
          <a:p/>
          <a:p>
            <a:r>
              <a:t>DkgDSL base_dsl already has Array, TensorDescriptor and DLPack ingestion. Current Array is a frozen descriptor around an LLVM pointer and Python shape/stride/dtype metadata; describing it only as memref-based is outdated for the inspected source. Preserve dynamic dimensions in the argument signature, lifetime/keepalive and synchronization; separate CuTe conversion and device allocation factories. Source has Torch DLPack tests, but no JAX execution was performed here. The protocol architecture covers frameworks exposing __dlpack__ with supported CPU/CUDA device kinds. m.Array names the extraction target; the current mlir dsl subset still uses Pointer plus explicit sizes. The user-provided matrix records that boundary as a deliberate reduced/dropped component to revisit.</a:t>
            </a:r>
          </a:p>
          <a:p/>
          <a:p>
            <a:r>
              <a:t>SOURCES / PREPARATION</a:t>
            </a:r>
          </a:p>
          <a:p>
            <a:r>
              <a:t>/home/gozen/work/dkg4/DkgDSL/base_dsl/array.py:1772</a:t>
            </a:r>
          </a:p>
          <a:p>
            <a:r>
              <a:t>/home/gozen/work/dkg4/DkgDSL/base_dsl/array.py:3246</a:t>
            </a:r>
          </a:p>
          <a:p>
            <a:r>
              <a:t>/home/gozen/work/dkg4/DkgDSL/base_dsl/runtime/tensor_descriptor.py:52</a:t>
            </a:r>
          </a:p>
          <a:p>
            <a:r>
              <a:t>/home/gozen/work/dkg4/DkgDSL/base_dsl/runtime/csrc/dlpack_runtime.cpp:113</a:t>
            </a:r>
          </a:p>
          <a:p>
            <a:r>
              <a:t>/home/gozen/work/dkg4/DkgDSL/test/ctm/test_array_dlpack.py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Carry over the compile and AOT APIs</a:t>
            </a:r>
          </a:p>
          <a:p>
            <a:r>
              <a:t>Owner: Guray Ozen</a:t>
            </a:r>
          </a:p>
          <a:p>
            <a:r>
              <a:t>Clock: 18:30–19:15</a:t>
            </a:r>
          </a:p>
          <a:p>
            <a:r>
              <a:t>Target duration: 00:45</a:t>
            </a:r>
          </a:p>
          <a:p/>
          <a:p>
            <a:r>
              <a:t>The user is correct: DKG CompileCallable implements __getitem__, so compile[options](func,*args) is real in the source project. It also has to_precompiled_mlir and compile_to stages, and JitCompiledFunction.export_to_c. The slide uses the intended m namespace to show what to extract; these are not all present in the smaller LLVM package yet, which currently has m.compile(func,*args,**kwargs). GenerateLineInfo is an existing DKG option. The named a_sig/b_sig/out_sig represent valid fake/runtime signatures; launch is @jit, not a bare @kernel. Keep portable option/lifecycle machinery in the core, target option catalog and artifact serializers downstream.</a:t>
            </a:r>
          </a:p>
          <a:p/>
          <a:p>
            <a:r>
              <a:t>SOURCES / PREPARATION</a:t>
            </a:r>
          </a:p>
          <a:p>
            <a:r>
              <a:t>/home/gozen/work/dkg4/DkgDSL/base_dsl/compiler.py:2404</a:t>
            </a:r>
          </a:p>
          <a:p>
            <a:r>
              <a:t>/home/gozen/work/dkg4/DkgDSL/base_dsl/compiler.py:2464</a:t>
            </a:r>
          </a:p>
          <a:p>
            <a:r>
              <a:t>/home/gozen/work/dkg4/DkgDSL/base_dsl/compiler.py:2486</a:t>
            </a:r>
          </a:p>
          <a:p>
            <a:r>
              <a:t>/home/gozen/work/dkg4/DkgDSL/base_dsl/jit_executor.py:1958</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Reuse argument adapters and export as a plugin</a:t>
            </a:r>
          </a:p>
          <a:p>
            <a:r>
              <a:t>Owner: Guray Ozen</a:t>
            </a:r>
          </a:p>
          <a:p>
            <a:r>
              <a:t>Clock: 19:15–20:00</a:t>
            </a:r>
          </a:p>
          <a:p>
            <a:r>
              <a:t>Target duration: 00:45</a:t>
            </a:r>
          </a:p>
          <a:p/>
          <a:p>
            <a:r>
              <a:t>The extraction retains scoped adapters and uses lazy Torch handling. The TVM-FFI builder has been ported into an optional TvmFfiPlugin using attach_to_module and wrap_compiled_function hooks. Do not infer generic DLPack/JAX ingestion from that plugin: the current Pointer provider uses raw-address DataPointer. host_entry can select llvm or func, with convert-func-to-llvm added for func. External bitcode FFI via @extern is pending in the supplied inventory and is not claimed on this slide.</a:t>
            </a:r>
          </a:p>
          <a:p/>
          <a:p>
            <a:r>
              <a:t>SOURCES / PREPARATION</a:t>
            </a:r>
          </a:p>
          <a:p>
            <a:r>
              <a:t>mlir/python/mlir/dsl/runtime/jit_arg_adapters.py</a:t>
            </a:r>
          </a:p>
          <a:p>
            <a:r>
              <a:t>mlir/python/mlir/dsl/dialect_plugins/tvm_ffi.py</a:t>
            </a:r>
          </a:p>
          <a:p>
            <a:r>
              <a:t>mlir/python/mlir/dsl/core/plugin.py</a:t>
            </a:r>
          </a:p>
          <a:p>
            <a:r>
              <a:t>/home/gozen/work/dkg4/DkgDSL/base_dsl/tvm_ffi_builder/README.md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Errors and remarks should explain the source</a:t>
            </a:r>
          </a:p>
          <a:p>
            <a:r>
              <a:t>Owner: Guray Ozen</a:t>
            </a:r>
          </a:p>
          <a:p>
            <a:r>
              <a:t>Clock: 20:00–21:00</a:t>
            </a:r>
          </a:p>
          <a:p>
            <a:r>
              <a:t>Target duration: 01:00</a:t>
            </a:r>
          </a:p>
          <a:p/>
          <a:p>
            <a:r>
              <a:t>The error is an excerpt of the real diagnostics test in a function whose n is staged. The actual remediation text names Int32(0). DEBUGINFO attaches file/line locations; VERIFY_TRACE can verify operations as built. Structured optimization/analysis remarks are separate from frontend exceptions. The same remark session spans tracing and passes, exposed through dsl.collected_remarks; REMARKS_OUTPUT streams a file. The remarks.py test emits a TraceDecision analysis remark, returns42, and passes FileCheck. Do not imply every frontend error is emitted via RemarkEngine. DKG contributes the renderer, source frames and structured remark lifecycle. The extraction replaces private bindings with the new local mlir-c/Remarks.h and Context.enable_remarks work; this is not a claim it is already accepted in an upstream release. The current extracted prototype intentionally diagnoses this Meta mutation; DKG’s advanced PyIR path has broader behavior, which Amir owns.</a:t>
            </a:r>
          </a:p>
          <a:p/>
          <a:p>
            <a:r>
              <a:t>SOURCES / PREPARATION</a:t>
            </a:r>
          </a:p>
          <a:p>
            <a:r>
              <a:t>mlir/python/mlir/dsl/core/diagnostics.py</a:t>
            </a:r>
          </a:p>
          <a:p>
            <a:r>
              <a:t>mlir/python/mlir/dsl/compiler/compiler.py:164</a:t>
            </a:r>
          </a:p>
          <a:p>
            <a:r>
              <a:t>mlir/test/python/dsl/diagnostics.py</a:t>
            </a:r>
          </a:p>
          <a:p>
            <a:r>
              <a:t>verification/v6/mlir-tutorial-remarks.log</a:t>
            </a:r>
          </a:p>
          <a:p>
            <a:r>
              <a:t>/home/gozen/work/dkg4/DkgDSL/base_dsl/diagnostics.py:259</a:t>
            </a:r>
          </a:p>
          <a:p>
            <a:r>
              <a:t>mlir/include/mlir-c/Remarks.h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 Keep compiler work visible</a:t>
            </a:r>
          </a:p>
          <a:p>
            <a:r>
              <a:t>Owner: Guray Ozen</a:t>
            </a:r>
          </a:p>
          <a:p>
            <a:r>
              <a:t>Clock: 21:00–21:45</a:t>
            </a:r>
          </a:p>
          <a:p>
            <a:r>
              <a:t>Target duration: 00:45</a:t>
            </a:r>
          </a:p>
          <a:p/>
          <a:p>
            <a:r>
              <a:t>These are the existing extracted tooling names. DKG has additional GPU artifacts and line-info options; keep those in target providers. MLIR_DSL_DEBUGINFO and LOC_TRACEBACKS connect source and op locations. Existing extracted remarks tests plus C API/binding work support structured collection. The user reports15 Python/binding tests and the C API remarks test passing; this slide describes mechanisms rather than claiming a new full-suite run.</a:t>
            </a:r>
          </a:p>
          <a:p/>
          <a:p>
            <a:r>
              <a:t>SOURCES / PREPARATION</a:t>
            </a:r>
          </a:p>
          <a:p>
            <a:r>
              <a:t>mlir/python/mlir/dsl/core/env_manager.py</a:t>
            </a:r>
          </a:p>
          <a:p>
            <a:r>
              <a:t>mlir/python/mlir/dsl/util/phase_profiler.py</a:t>
            </a:r>
          </a:p>
          <a:p>
            <a:r>
              <a:t>mlir/python/mlir/dsl/_mlir_helpers/op.py</a:t>
            </a:r>
          </a:p>
          <a:p>
            <a:r>
              <a:t>mlir/include/mlir-c/Remarks.h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 JIT caching: in memory and on disk</a:t>
            </a:r>
          </a:p>
          <a:p>
            <a:r>
              <a:t>Owner: Guray Ozen</a:t>
            </a:r>
          </a:p>
          <a:p>
            <a:r>
              <a:t>Clock: 21:45–22:45</a:t>
            </a:r>
          </a:p>
          <a:p>
            <a:r>
              <a:t>Target duration: 01:00</a:t>
            </a:r>
          </a:p>
          <a:p/>
          <a:p>
            <a:r>
              <a:t>The persistent cache is implemented in the current checkout and tested across two processes. It stores lowered MLIR bytecode plus integrity information, not native machine code. The key hashes serialized module IR, compile-affecting environment fields, pipeline, supplied link-library paths and toolchain identity; do not call it a guaranteed canonicalized IR hash. First process FILE_HITS0 MISSES1 MEM_HITS1; second FILE_HITS1 MISSES0 MEM_HITS1. Both returned42 and8. NO_CACHE and DISABLE_FILE_CACHING control the respective paths. Changing a custom env_var with affects_compile=True contributes to the key. DKG has the same portable mechanism in cache_helpers.py and compile_backend.py. The on-disk container is lowered MLIR bytecode with CRC32 and atomic replacement; it can contain device binary payloads. The extraction changes toolchain identity from DKG commit stamping to the chosen compiler/package identity.</a:t>
            </a:r>
          </a:p>
          <a:p/>
          <a:p>
            <a:r>
              <a:t>SOURCES / PREPARATION</a:t>
            </a:r>
          </a:p>
          <a:p>
            <a:r>
              <a:t>mlir/python/mlir/dsl/core/dsl.py:1541</a:t>
            </a:r>
          </a:p>
          <a:p>
            <a:r>
              <a:t>mlir/python/mlir/dsl/core/dsl.py:1913</a:t>
            </a:r>
          </a:p>
          <a:p>
            <a:r>
              <a:t>mlir/python/mlir/dsl/compiler/cache_helpers.py</a:t>
            </a:r>
          </a:p>
          <a:p>
            <a:r>
              <a:t>verification/v6/mlir-tutorial-cache-check.log</a:t>
            </a:r>
          </a:p>
          <a:p>
            <a:r>
              <a:t>/home/gozen/work/dkg4/DkgDSL/base_dsl/cache_helpers.py:140</a:t>
            </a:r>
          </a:p>
          <a:p>
            <a:r>
              <a:t>/home/gozen/work/dkg4/DkgDSL/base_dsl/compile_backend.py:99</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 Control flow: capture the structure with Python’s AST</a:t>
            </a:r>
          </a:p>
          <a:p>
            <a:r>
              <a:t>Owner: Guray Ozen</a:t>
            </a:r>
          </a:p>
          <a:p>
            <a:r>
              <a:t>Clock: 22:45–23:45</a:t>
            </a:r>
          </a:p>
          <a:p>
            <a:r>
              <a:t>Target duration: 01:00</a:t>
            </a:r>
          </a:p>
          <a:p/>
          <a:p>
            <a:r>
              <a:t>Redraw reference slide48 in this template. Proxy arithmetic intercepts x+y, but the Python interpreter cannot choose a runtime branch or record a runtime loop through operator overloading alone. The AST pass builds intermediate Python functions/callbacks, with names that must be returned as carries. Executing that transformed Python still uses the actual host interpreter. The default implementation’s callbacks emit SCF; a downstream implementation can emit its own typed control-flow regions.</a:t>
            </a:r>
          </a:p>
          <a:p/>
          <a:p>
            <a:r>
              <a:t>SOURCES / PREPARATION</a:t>
            </a:r>
          </a:p>
          <a:p>
            <a:r>
              <a:t>presentations/llvm-mlir-dsl-2026/cutedsl_llvm25.pptx:48</a:t>
            </a:r>
          </a:p>
          <a:p>
            <a:r>
              <a:t>mlir/python/mlir/dsl/frontend/ast_preprocessor.py:1064</a:t>
            </a:r>
          </a:p>
          <a:p>
            <a:r>
              <a:t>mlir/python/mlir/dsl/frontend/ast_helpers.py:139</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 From an assigned name to an iter_arg</a:t>
            </a:r>
          </a:p>
          <a:p>
            <a:r>
              <a:t>Owner: Guray Ozen</a:t>
            </a:r>
          </a:p>
          <a:p>
            <a:r>
              <a:t>Clock: 23:45–25:00</a:t>
            </a:r>
          </a:p>
          <a:p>
            <a:r>
              <a:t>Target duration: 01:15</a:t>
            </a:r>
          </a:p>
          <a:p/>
          <a:p>
            <a:r>
              <a:t>Current implementation analyzes stores/rebinding in the AST and intersects them with active outer symbols. ScfGenerator flattens typed values, creates block arguments and loop results, and restores Python wrappers. The diagram is a simplified IR excerpt using named constants. acc starts as m.Int32(0), not plain0: the latter is rejected on staged mutation. Pointer writes such as out[i]=v are memory side effects, while rebinding a pointer can require a carry. This explains today’s approach before Amir discusses more general mutation tracking.</a:t>
            </a:r>
          </a:p>
          <a:p/>
          <a:p>
            <a:r>
              <a:t>SOURCES / PREPARATION</a:t>
            </a:r>
          </a:p>
          <a:p>
            <a:r>
              <a:t>mlir/python/mlir/dsl/frontend/ast_preprocessor.py:1091</a:t>
            </a:r>
          </a:p>
          <a:p>
            <a:r>
              <a:t>mlir/python/mlir/dsl/mlir_dsl/mlir_dsl_ast_decorators.py:185</a:t>
            </a:r>
          </a:p>
          <a:p>
            <a:r>
              <a:t>mlir/python/mlir/dsl/mlir_dsl/mlir_dsl_ast_decorators.py:383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 Start with immutable staged state</a:t>
            </a:r>
          </a:p>
          <a:p>
            <a:r>
              <a:t>Owner: Guray Ozen</a:t>
            </a:r>
          </a:p>
          <a:p>
            <a:r>
              <a:t>Clock: 25:00–26:00</a:t>
            </a:r>
          </a:p>
          <a:p>
            <a:r>
              <a:t>Target duration: 01:00</a:t>
            </a:r>
          </a:p>
          <a:p/>
          <a:p>
            <a:r>
              <a:t>Executed example returns45 and produces one i32 loop carry. The restriction is about records carrying staged values through regions/runtime boundaries, not a ban on all mutable Python classes. A non-frozen dataclass with DSL leaves is rejected; unsupported custom containers hiding DSL leaves also require a registered protocol. AddN/MulN remain valid Meta objects from the earlier example. Tuple/list/dict and namedtuple support follows tree_utils rules; do not claim frozen dataclasses are the only legal state containers. This is a deliberate extraction/tutorial boundary, not a claim that DKG rejects every non-frozen class. DKG’s pytree protocols and advanced tracing cover broader objects. Array descriptors can be frozen while arr[i]=... still emits memory stores. Plain Meta objects remain unrestricted by this staged-record policy.</a:t>
            </a:r>
          </a:p>
          <a:p/>
          <a:p>
            <a:r>
              <a:t>SOURCES / PREPARATION</a:t>
            </a:r>
          </a:p>
          <a:p>
            <a:r>
              <a:t>mlir/python/mlir/dsl/util/tree_utils.py:436</a:t>
            </a:r>
          </a:p>
          <a:p>
            <a:r>
              <a:t>mlir/python/mlir/dsl/runtime/jit_arg_adapters.py:428</a:t>
            </a:r>
          </a:p>
          <a:p>
            <a:r>
              <a:t>verification/v6/mlir-tutorial-state-example.py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 The same capture can emit your control-flow dialect</a:t>
            </a:r>
          </a:p>
          <a:p>
            <a:r>
              <a:t>Owner: Guray Ozen</a:t>
            </a:r>
          </a:p>
          <a:p>
            <a:r>
              <a:t>Clock: 26:00–27:00</a:t>
            </a:r>
          </a:p>
          <a:p>
            <a:r>
              <a:t>Target duration: 01:00</a:t>
            </a:r>
          </a:p>
          <a:p/>
          <a:p>
            <a:r>
              <a:t>mydialect_executors is a downstream dictionary containing implementations of is_dynamic_expression, loop_execute_range_dynamic, if_dynamic, while_dynamic, compare_executor, and any optional hooks needed. A one-key partial set_functions call is not valid. Use BaseDSL to install custom hooks, or replace hooks after super().__init__ if deriving from MlirDSL, whose constructor installs SCF callbacks after plugins. The class is an excerpt: its configured constructor was shown earlier. There is no shipped generic yourdialect.cf emitter. DKG already has this callback protocol and an actual cuda_tile_dsl for-loop implementation. The explicit plugin lifecycle is how the extraction packages those existing seams.</a:t>
            </a:r>
          </a:p>
          <a:p/>
          <a:p>
            <a:r>
              <a:t>SOURCES / PREPARATION</a:t>
            </a:r>
          </a:p>
          <a:p>
            <a:r>
              <a:t>mlir/python/mlir/dsl/core/plugin.py:38</a:t>
            </a:r>
          </a:p>
          <a:p>
            <a:r>
              <a:t>mlir/python/mlir/dsl/frontend/ast_helpers.py:139</a:t>
            </a:r>
          </a:p>
          <a:p>
            <a:r>
              <a:t>mlir/python/mlir/dsl/mlir_dsl/mlir_dsl.py:184</a:t>
            </a:r>
          </a:p>
          <a:p>
            <a:r>
              <a:t>/home/gozen/work/dkg4/DkgDSL/base_dsl/ast_helpers.py:122</a:t>
            </a:r>
          </a:p>
          <a:p>
            <a:r>
              <a:t>/home/gozen/work/dkg4/DkgDSL/cuda_tile_dsl/cuda_tile_ast_decorators.py:16</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 Native syntax and explicit builders share the core</a:t>
            </a:r>
          </a:p>
          <a:p>
            <a:r>
              <a:t>Owner: Guray Ozen</a:t>
            </a:r>
          </a:p>
          <a:p>
            <a:r>
              <a:t>Clock: 27:00–27:45</a:t>
            </a:r>
          </a:p>
          <a:p>
            <a:r>
              <a:t>Target duration: 00:45</a:t>
            </a:r>
          </a:p>
          <a:p/>
          <a:p>
            <a:r>
              <a:t>This snippet follows the executed cumsum_builders example in builders.py: the iterator exposes induction variable, body argument and loop result; m.yield_ closes the region. The feature inventory identifies these builders and Boolean helpers as moved into the base. Native early exit remains a restriction in the initial capture path; target loop annotations are an extension surface. const_expr/dynamic-expression markers and preprocessing opt-out remain useful for explicit staging choices.</a:t>
            </a:r>
          </a:p>
          <a:p/>
          <a:p>
            <a:r>
              <a:t>SOURCES / PREPARATION</a:t>
            </a:r>
          </a:p>
          <a:p>
            <a:r>
              <a:t>mlir/test/python/dsl/builders.py</a:t>
            </a:r>
          </a:p>
          <a:p>
            <a:r>
              <a:t>mlir/python/mlir/dsl/mlir_dsl/mlir_dsl_ast_decorators.py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 Worked example: Python → MLIR → execution</a:t>
            </a:r>
          </a:p>
          <a:p>
            <a:r>
              <a:t>Owner: Guray Ozen</a:t>
            </a:r>
          </a:p>
          <a:p>
            <a:r>
              <a:t>Clock: 27:45–28:45</a:t>
            </a:r>
          </a:p>
          <a:p>
            <a:r>
              <a:t>Target duration: 01:00</a:t>
            </a:r>
          </a:p>
          <a:p/>
          <a:p>
            <a:r>
              <a:t>Use the tested current cumsum example; IR is abridged with simplified SSA names. Show n is a runtime argument and the accumulator is an explicit carry. In the next example memory effects and Meta dispatch coexist inside a staged loop.</a:t>
            </a:r>
          </a:p>
          <a:p/>
          <a:p>
            <a:r>
              <a:t>SOURCES / PREPARATION</a:t>
            </a:r>
          </a:p>
          <a:p>
            <a:r>
              <a:t>mlir/test/python/dsl/cumsum.py</a:t>
            </a:r>
          </a:p>
          <a:p>
            <a:r>
              <a:t>verification/cumsum.ir.log</a:t>
            </a:r>
          </a:p>
          <a:p>
            <a:r>
              <a:t>verification/cumsum.exec.log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 Worked example: fuse a Python recipe</a:t>
            </a:r>
          </a:p>
          <a:p>
            <a:r>
              <a:t>Owner: Guray Ozen</a:t>
            </a:r>
          </a:p>
          <a:p>
            <a:r>
              <a:t>Clock: 28:45–29:45</a:t>
            </a:r>
          </a:p>
          <a:p>
            <a:r>
              <a:t>Target duration: 01:00</a:t>
            </a:r>
          </a:p>
          <a:p/>
          <a:p>
            <a:r>
              <a:t>Executed CPU example uses np.arange(4,dtype=np.float32) and ops={shift:AddN(2),scale:MulN(3)}. Observed result [6.,9.,12.,15.]. IR excerpt omits the outer loop and alignment attributes; getelementptr uses i32 index in the actual output. This is m.Pointer with direct NumPy adaptation. It does not claim a generic DLPack Array interface. Source and full emitted IR are included.</a:t>
            </a:r>
          </a:p>
          <a:p/>
          <a:p>
            <a:r>
              <a:t>SOURCES / PREPARATION</a:t>
            </a:r>
          </a:p>
          <a:p>
            <a:r>
              <a:t>verification/v6/mlir-tutorial-runtime-examples.py</a:t>
            </a:r>
          </a:p>
          <a:p>
            <a:r>
              <a:t>verification/v6/mlir-tutorial-runtime-examples.ir.log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 From SSA values to richer mutation</a:t>
            </a:r>
          </a:p>
          <a:p>
            <a:r>
              <a:t>Owner: Guray Ozen</a:t>
            </a:r>
          </a:p>
          <a:p>
            <a:r>
              <a:t>Clock: 29:45–30:00</a:t>
            </a:r>
          </a:p>
          <a:p>
            <a:r>
              <a:t>Target duration: 00:15</a:t>
            </a:r>
          </a:p>
          <a:p/>
          <a:p>
            <a:r>
              <a:t>Hand over at minute30. We have shown symbolic AST carries for typed values and immutable records. The next challenge is richer object mutation and aliasing. Amir owns the design and his examples; do not add a PyIR implementation or technical slides on his behalf.</a:t>
            </a:r>
          </a:p>
          <a:p/>
          <a:p>
            <a:r>
              <a:t>SOURCES / PREPARATION</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 Advanced mutation tracking</a:t>
            </a:r>
          </a:p>
          <a:p>
            <a:r>
              <a:t>Owner: Amir Tavakkoli</a:t>
            </a:r>
          </a:p>
          <a:p>
            <a:r>
              <a:t>Clock: 30:00–40:00</a:t>
            </a:r>
          </a:p>
          <a:p>
            <a:r>
              <a:t>Target duration: 10:00</a:t>
            </a:r>
          </a:p>
          <a:p/>
          <a:p>
            <a:r>
              <a:t>Replace this section marker with Amir’s own material. He has ten minutes, from30:00 to40:00. Guray returns immediately after this section for the five-slide Tile IR sub-DSL walkthrough. No PyIR implementation or technical content has been authored here.</a:t>
            </a:r>
          </a:p>
          <a:p/>
          <a:p>
            <a:r>
              <a:t>SOURCES / PREPARATION</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 Tile IR: an existing BaseDSL target</a:t>
            </a:r>
          </a:p>
          <a:p>
            <a:r>
              <a:t>Owner: Guray Ozen</a:t>
            </a:r>
          </a:p>
          <a:p>
            <a:r>
              <a:t>Clock: 40:00–41:00</a:t>
            </a:r>
          </a:p>
          <a:p>
            <a:r>
              <a:t>Target duration: 01:00</a:t>
            </a:r>
          </a:p>
          <a:p/>
          <a:p>
            <a:r>
              <a:t>The code is an abridged existing constructor: compiler_provider is compiler.Compiler(passmanager,execution_engine). The source subclass creates Tile IR modules/entries, not gpu.func. The extraction relocates the common BaseDSL and makes provider boundaries explicit; it does not need to invent a Tile backend from scratch. Source currently sets no_cache=True; cache infrastructure exists in the base but this target does not use it. Current implementation has no full native if/while callback support; the completed for-loop is shown next. No Tile GPU execution was performed for this deck.</a:t>
            </a:r>
          </a:p>
          <a:p/>
          <a:p>
            <a:r>
              <a:t>SOURCES / PREPARATION</a:t>
            </a:r>
          </a:p>
          <a:p>
            <a:r>
              <a:t>/home/gozen/work/dkg4/DkgDSL/cuda_tile_dsl/cuda_tile.py:622</a:t>
            </a:r>
          </a:p>
          <a:p>
            <a:r>
              <a:t>/home/gozen/work/dkg4/DkgDSL/cuda_tile_dsl/cuda_tile.py:689</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 — The target supplies the region builder</a:t>
            </a:r>
          </a:p>
          <a:p>
            <a:r>
              <a:t>Owner: Guray Ozen</a:t>
            </a:r>
          </a:p>
          <a:p>
            <a:r>
              <a:t>Clock: 41:00–42:00</a:t>
            </a:r>
          </a:p>
          <a:p>
            <a:r>
              <a:t>Target duration: 01:00</a:t>
            </a:r>
          </a:p>
          <a:p/>
          <a:p>
            <a:r>
              <a:t>This is a source-grounded excerpt of the dynamic-for callback, using simplified variable names and the nonempty-carry case. The full callback handles a zero-carry return separately. Existing DKG source implements this native for path; its native dynamic if/while callbacks still raise NotImplementedError, although explicit Tile IR builders exist. Do not claim the entire Python control-flow surface is complete in this particular target. The extraction can install this callback through its per-DSL executor/plugin lifecycle.</a:t>
            </a:r>
          </a:p>
          <a:p/>
          <a:p>
            <a:r>
              <a:t>SOURCES / PREPARATION</a:t>
            </a:r>
          </a:p>
          <a:p>
            <a:r>
              <a:t>/home/gozen/work/dkg4/DkgDSL/cuda_tile_dsl/cuda_tile_ast_decorators.py:16</a:t>
            </a:r>
          </a:p>
          <a:p>
            <a:r>
              <a:t>/home/gozen/work/dkg4/DkgDSL/cuda_tile_dsl/cuda_tile.py:246</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40 — One Python kernel, a Tile IR loop</a:t>
            </a:r>
          </a:p>
          <a:p>
            <a:r>
              <a:t>Owner: Guray Ozen</a:t>
            </a:r>
          </a:p>
          <a:p>
            <a:r>
              <a:t>Clock: 42:00–43:00</a:t>
            </a:r>
          </a:p>
          <a:p>
            <a:r>
              <a:t>Target duration: 01:00</a:t>
            </a:r>
          </a:p>
          <a:p/>
          <a:p>
            <a:r>
              <a:t>The namespace and annotation are from the existing DKG target: tile.IRValue[tile.Int32] selects a runtime scalar tile, tile.constant(0) creates a staged value, and range_dynamic forces capture. The future package location after extraction is intentionally not invented. The IR excerpt is source-checked against the public syntax and DKG test_for_01.py but not locally parsed/executed here. The cuda_tile prefix is elided by custom syntax inside cuda_tile.module. Expected sum for10 is45, not an observed result in this audit.</a:t>
            </a:r>
          </a:p>
          <a:p/>
          <a:p>
            <a:r>
              <a:t>SOURCES / PREPARATION</a:t>
            </a:r>
          </a:p>
          <a:p>
            <a:r>
              <a:t>/home/gozen/work/dkg4/DkgDSL/cuda_tile_dsl/__init__.py</a:t>
            </a:r>
          </a:p>
          <a:p>
            <a:r>
              <a:t>/home/gozen/work/dkg4/tile_ir/compiler/test/python/Integration/CudaTile/test_for_01.py</a:t>
            </a:r>
          </a:p>
          <a:p>
            <a:r>
              <a:t>https://docs.nvidia.com/cuda/tile-ir/13.1/sections/operations.html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41 — Compile through the target’s toolchain</a:t>
            </a:r>
          </a:p>
          <a:p>
            <a:r>
              <a:t>Owner: Guray Ozen</a:t>
            </a:r>
          </a:p>
          <a:p>
            <a:r>
              <a:t>Clock: 43:00–44:00</a:t>
            </a:r>
          </a:p>
          <a:p>
            <a:r>
              <a:t>Target duration: 01:00</a:t>
            </a:r>
          </a:p>
          <a:p/>
          <a:p>
            <a:r>
              <a:t>These are alternatives, not sequential calls. The existing Python backend serializes using writeBytecode directly; cuda-tile-translate is the corresponding public CLI route, not the literal existing implementation. setup/lifetimes and arch/options are omitted. _backends.py has offline and GPU_DRIVER_JIT paths. Current Tile target bypasses cache, so no cache hit is claimed. Public CUDA Tile documentation corroborates the bytecode/toolchain boundary; the private DKG sources establish the exact Python backend.</a:t>
            </a:r>
          </a:p>
          <a:p/>
          <a:p>
            <a:r>
              <a:t>SOURCES / PREPARATION</a:t>
            </a:r>
          </a:p>
          <a:p>
            <a:r>
              <a:t>/home/gozen/work/dkg4/DkgDSL/cuda_tile_dsl/_backends.py:45</a:t>
            </a:r>
          </a:p>
          <a:p>
            <a:r>
              <a:t>/home/gozen/work/dkg4/DkgDSL/cuda_tile_dsl/_backends.py:111</a:t>
            </a:r>
          </a:p>
          <a:p>
            <a:r>
              <a:t>/home/gozen/work/dkg4/DkgDSL/cuda_tile_dsl/_backends.py:247</a:t>
            </a:r>
          </a:p>
          <a:p>
            <a:r>
              <a:t>https://github.com/NVIDIA/cuda-tile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42 — Direct @kernel calls are a target choice</a:t>
            </a:r>
          </a:p>
          <a:p>
            <a:r>
              <a:t>Owner: Guray Ozen</a:t>
            </a:r>
          </a:p>
          <a:p>
            <a:r>
              <a:t>Clock: 44:00–45:00</a:t>
            </a:r>
          </a:p>
          <a:p>
            <a:r>
              <a:t>Target duration: 01:00</a:t>
            </a:r>
          </a:p>
          <a:p/>
          <a:p>
            <a:r>
              <a:t>The existing CudaTileIR target explicitly asks users to call @kernel directly. The shown helpers wrap CUDA Python driver APIs; they are not the newer ObjectCode.from_cubin abstraction. num_tiles is the existing user keyword and defines the grid; block=(1,1,1), shared-memory size0 follow the source target. Default stream path synchronizes, caller-supplied stream may preserve asynchronous execution. Proper argument packing and module lifetime are part of the shared runtime machinery. The example is source-backed and expected output45 was not measured on GPU for this deck. End by emphasizing what stays reusable and what remains downstream.</a:t>
            </a:r>
          </a:p>
          <a:p/>
          <a:p>
            <a:r>
              <a:t>SOURCES / PREPARATION</a:t>
            </a:r>
          </a:p>
          <a:p>
            <a:r>
              <a:t>/home/gozen/work/dkg4/DkgDSL/cuda_tile_dsl/cuda_tile.py:706</a:t>
            </a:r>
          </a:p>
          <a:p>
            <a:r>
              <a:t>/home/gozen/work/dkg4/DkgDSL/cuda_tile_dsl/_backends.py:149</a:t>
            </a:r>
          </a:p>
          <a:p>
            <a:r>
              <a:t>/home/gozen/work/dkg4/DkgDSL/base_dsl/runtime/cuda.py:561</a:t>
            </a:r>
          </a:p>
          <a:p>
            <a:r>
              <a:t>/home/gozen/work/dkg4/DkgDSL/base_dsl/runtime/cuda.py:741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docs.nvidia.com/cutlass/latest/media/docs/pythonDSL/cute_dsl_general/dsl_introduction.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0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01</a:t>
            </a:r>
          </a:p>
        </p:txBody>
      </p:sp>
      <p:sp>
        <p:nvSpPr>
          <p:cNvPr id="5" name="2026 US LLVM Developers’ Meeting"/>
          <p:cNvSpPr txBox="1"/>
          <p:nvPr/>
        </p:nvSpPr>
        <p:spPr>
          <a:xfrm>
            <a:off x="475488" y="530352"/>
            <a:ext cx="8193024" cy="27432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2026 US LLVM Developers’ Meeting</a:t>
            </a:r>
          </a:p>
        </p:txBody>
      </p:sp>
      <p:sp>
        <p:nvSpPr>
          <p:cNvPr id="6" name="27 October 2026"/>
          <p:cNvSpPr txBox="1"/>
          <p:nvPr/>
        </p:nvSpPr>
        <p:spPr>
          <a:xfrm>
            <a:off x="475488" y="905256"/>
            <a:ext cx="8193024" cy="25603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27 October 2026</a:t>
            </a:r>
          </a:p>
        </p:txBody>
      </p:sp>
      <p:sp>
        <p:nvSpPr>
          <p:cNvPr id="7" name="How to build a Python DSL / for MLIR"/>
          <p:cNvSpPr txBox="1"/>
          <p:nvPr/>
        </p:nvSpPr>
        <p:spPr>
          <a:xfrm>
            <a:off x="438912" y="1655064"/>
            <a:ext cx="8266175" cy="1124712"/>
          </a:xfrm>
          <a:prstGeom prst="rect">
            <a:avLst/>
          </a:prstGeom>
          <a:noFill/>
        </p:spPr>
        <p:txBody>
          <a:bodyPr wrap="none" anchor="t" lIns="0" rIns="0" tIns="0" bIns="0">
            <a:noAutofit/>
          </a:bodyPr>
          <a:lstStyle/>
          <a:p>
            <a:pPr algn="l">
              <a:lnSpc>
                <a:spcPts val="3596"/>
              </a:lnSpc>
              <a:spcBef>
                <a:spcPts val="0"/>
              </a:spcBef>
              <a:spcAft>
                <a:spcPts val="0"/>
              </a:spcAft>
            </a:pPr>
            <a:r>
              <a:rPr sz="3100" b="0">
                <a:solidFill>
                  <a:srgbClr val="000000"/>
                </a:solidFill>
                <a:latin typeface="NVIDIA Sans Light"/>
              </a:rPr>
              <a:t>How to build a Python DSL</a:t>
            </a:r>
          </a:p>
          <a:p>
            <a:pPr algn="l">
              <a:lnSpc>
                <a:spcPts val="3596"/>
              </a:lnSpc>
              <a:spcBef>
                <a:spcPts val="0"/>
              </a:spcBef>
              <a:spcAft>
                <a:spcPts val="0"/>
              </a:spcAft>
            </a:pPr>
            <a:r>
              <a:rPr sz="3100" b="0">
                <a:solidFill>
                  <a:srgbClr val="000000"/>
                </a:solidFill>
                <a:latin typeface="NVIDIA Sans Light"/>
              </a:rPr>
              <a:t>for MLIR</a:t>
            </a:r>
          </a:p>
        </p:txBody>
      </p:sp>
      <p:sp>
        <p:nvSpPr>
          <p:cNvPr id="8" name="Extracting DkgDSL’s reusable core into mlir dsl"/>
          <p:cNvSpPr txBox="1"/>
          <p:nvPr/>
        </p:nvSpPr>
        <p:spPr>
          <a:xfrm>
            <a:off x="475488" y="2990088"/>
            <a:ext cx="8211312" cy="365760"/>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416600"/>
                </a:solidFill>
                <a:latin typeface="NVIDIA Sans"/>
              </a:rPr>
              <a:t>Extracting DkgDSL’s reusable core into mlir dsl</a:t>
            </a:r>
          </a:p>
        </p:txBody>
      </p:sp>
      <p:sp>
        <p:nvSpPr>
          <p:cNvPr id="9" name="Guray Ozen"/>
          <p:cNvSpPr txBox="1"/>
          <p:nvPr/>
        </p:nvSpPr>
        <p:spPr>
          <a:xfrm>
            <a:off x="475488"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Guray Ozen</a:t>
            </a:r>
          </a:p>
        </p:txBody>
      </p:sp>
      <p:sp>
        <p:nvSpPr>
          <p:cNvPr id="10" name="Principal Compiler Engineer, NVIDIA"/>
          <p:cNvSpPr txBox="1"/>
          <p:nvPr/>
        </p:nvSpPr>
        <p:spPr>
          <a:xfrm>
            <a:off x="475488" y="4187952"/>
            <a:ext cx="3840480" cy="402336"/>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616161"/>
                </a:solidFill>
                <a:latin typeface="NVIDIA Sans"/>
              </a:rPr>
              <a:t>Principal Compiler Engineer, NVIDIA</a:t>
            </a:r>
          </a:p>
        </p:txBody>
      </p:sp>
      <p:sp>
        <p:nvSpPr>
          <p:cNvPr id="11" name="Amir Tavakkoli"/>
          <p:cNvSpPr txBox="1"/>
          <p:nvPr/>
        </p:nvSpPr>
        <p:spPr>
          <a:xfrm>
            <a:off x="4700016"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Amir Tavakkoli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y a Python DSL for ML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Why a Python DSL for MLIR?</a:t>
            </a:r>
          </a:p>
        </p:txBody>
      </p:sp>
      <p:sp>
        <p:nvSpPr>
          <p:cNvPr id="5" name="Four useful things to build with mlir dsl."/>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Four useful things to build with mlir dsl.</a:t>
            </a:r>
          </a:p>
        </p:txBody>
      </p:sp>
      <p:sp>
        <p:nvSpPr>
          <p:cNvPr id="6" name="0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02</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Use as much of the infrastructure as your dialect need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Use as much of the infrastructure as your dialect needs.</a:t>
            </a:r>
          </a:p>
        </p:txBody>
      </p:sp>
      <p:sp>
        <p:nvSpPr>
          <p:cNvPr id="9" name="01"/>
          <p:cNvSpPr txBox="1"/>
          <p:nvPr/>
        </p:nvSpPr>
        <p:spPr>
          <a:xfrm>
            <a:off x="475488" y="1472184"/>
            <a:ext cx="365760" cy="265176"/>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01</a:t>
            </a:r>
          </a:p>
        </p:txBody>
      </p:sp>
      <p:sp>
        <p:nvSpPr>
          <p:cNvPr id="10" name="Test an internal dialect"/>
          <p:cNvSpPr txBox="1"/>
          <p:nvPr/>
        </p:nvSpPr>
        <p:spPr>
          <a:xfrm>
            <a:off x="941832" y="1435608"/>
            <a:ext cx="4160520" cy="265176"/>
          </a:xfrm>
          <a:prstGeom prst="rect">
            <a:avLst/>
          </a:prstGeom>
          <a:noFill/>
        </p:spPr>
        <p:txBody>
          <a:bodyPr wrap="none" anchor="t" lIns="0" rIns="0" tIns="0" bIns="0">
            <a:noAutofit/>
          </a:bodyPr>
          <a:lstStyle/>
          <a:p>
            <a:pPr algn="l">
              <a:lnSpc>
                <a:spcPts val="1682"/>
              </a:lnSpc>
              <a:spcBef>
                <a:spcPts val="0"/>
              </a:spcBef>
              <a:spcAft>
                <a:spcPts val="0"/>
              </a:spcAft>
            </a:pPr>
            <a:r>
              <a:rPr sz="1450" b="0">
                <a:solidFill>
                  <a:srgbClr val="000000"/>
                </a:solidFill>
                <a:latin typeface="NVIDIA Sans"/>
              </a:rPr>
              <a:t>Test an internal dialect</a:t>
            </a:r>
          </a:p>
        </p:txBody>
      </p:sp>
      <p:sp>
        <p:nvSpPr>
          <p:cNvPr id="11" name="Generate the intermediate IR directly; test its lowering in isolation."/>
          <p:cNvSpPr txBox="1"/>
          <p:nvPr/>
        </p:nvSpPr>
        <p:spPr>
          <a:xfrm>
            <a:off x="941832" y="1737360"/>
            <a:ext cx="4187952" cy="320040"/>
          </a:xfrm>
          <a:prstGeom prst="rect">
            <a:avLst/>
          </a:prstGeom>
          <a:noFill/>
        </p:spPr>
        <p:txBody>
          <a:bodyPr wrap="none" anchor="t" lIns="0" rIns="0" tIns="0" bIns="0">
            <a:noAutofit/>
          </a:bodyPr>
          <a:lstStyle/>
          <a:p>
            <a:pPr algn="l">
              <a:lnSpc>
                <a:spcPts val="1229"/>
              </a:lnSpc>
              <a:spcBef>
                <a:spcPts val="0"/>
              </a:spcBef>
              <a:spcAft>
                <a:spcPts val="0"/>
              </a:spcAft>
            </a:pPr>
            <a:r>
              <a:rPr sz="1060" b="0">
                <a:solidFill>
                  <a:srgbClr val="616161"/>
                </a:solidFill>
                <a:latin typeface="NVIDIA Sans"/>
              </a:rPr>
              <a:t>Generate the intermediate IR directly; test its lowering in isolation.</a:t>
            </a:r>
          </a:p>
        </p:txBody>
      </p:sp>
      <p:sp>
        <p:nvSpPr>
          <p:cNvPr id="12" name="Public dialect"/>
          <p:cNvSpPr txBox="1"/>
          <p:nvPr/>
        </p:nvSpPr>
        <p:spPr>
          <a:xfrm>
            <a:off x="5330952" y="1536192"/>
            <a:ext cx="917447" cy="411480"/>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616161"/>
                </a:solidFill>
                <a:latin typeface="NVIDIA Sans"/>
              </a:rPr>
              <a:t>Public dialect</a:t>
            </a:r>
          </a:p>
        </p:txBody>
      </p:sp>
      <p:cxnSp>
        <p:nvCxnSpPr>
          <p:cNvPr id="13" name="Connector 12"/>
          <p:cNvCxnSpPr/>
          <p:nvPr/>
        </p:nvCxnSpPr>
        <p:spPr>
          <a:xfrm>
            <a:off x="6280404" y="1673352"/>
            <a:ext cx="21031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4" name="Internal dialect"/>
          <p:cNvSpPr txBox="1"/>
          <p:nvPr/>
        </p:nvSpPr>
        <p:spPr>
          <a:xfrm>
            <a:off x="6522720" y="1536192"/>
            <a:ext cx="917447" cy="411480"/>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616161"/>
                </a:solidFill>
                <a:latin typeface="NVIDIA Sans"/>
              </a:rPr>
              <a:t>Internal</a:t>
            </a:r>
          </a:p>
          <a:p>
            <a:pPr algn="ctr">
              <a:lnSpc>
                <a:spcPts val="1252"/>
              </a:lnSpc>
              <a:spcBef>
                <a:spcPts val="0"/>
              </a:spcBef>
              <a:spcAft>
                <a:spcPts val="0"/>
              </a:spcAft>
            </a:pPr>
            <a:r>
              <a:rPr sz="1080" b="0">
                <a:solidFill>
                  <a:srgbClr val="616161"/>
                </a:solidFill>
                <a:latin typeface="NVIDIA Sans"/>
              </a:rPr>
              <a:t>dialect</a:t>
            </a:r>
          </a:p>
        </p:txBody>
      </p:sp>
      <p:cxnSp>
        <p:nvCxnSpPr>
          <p:cNvPr id="15" name="Connector 14"/>
          <p:cNvCxnSpPr/>
          <p:nvPr/>
        </p:nvCxnSpPr>
        <p:spPr>
          <a:xfrm>
            <a:off x="7472172" y="1673352"/>
            <a:ext cx="21031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6" name="LLVM"/>
          <p:cNvSpPr txBox="1"/>
          <p:nvPr/>
        </p:nvSpPr>
        <p:spPr>
          <a:xfrm>
            <a:off x="7714488" y="1536192"/>
            <a:ext cx="917447" cy="411480"/>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416600"/>
                </a:solidFill>
                <a:latin typeface="NVIDIA Sans"/>
              </a:rPr>
              <a:t>LLVM</a:t>
            </a:r>
          </a:p>
        </p:txBody>
      </p:sp>
      <p:sp>
        <p:nvSpPr>
          <p:cNvPr id="17" name="Rectangle 16"/>
          <p:cNvSpPr/>
          <p:nvPr/>
        </p:nvSpPr>
        <p:spPr>
          <a:xfrm>
            <a:off x="941832" y="2084832"/>
            <a:ext cx="7680960" cy="8229"/>
          </a:xfrm>
          <a:prstGeom prst="rect">
            <a:avLst/>
          </a:prstGeom>
          <a:solidFill>
            <a:srgbClr val="D5D5D5"/>
          </a:solidFill>
          <a:ln>
            <a:noFill/>
          </a:ln>
          <a:effectLst/>
        </p:spPr>
        <p:txBody>
          <a:bodyPr rtlCol="0" anchor="ctr"/>
          <a:lstStyle/>
          <a:p>
            <a:pPr algn="ctr"/>
          </a:p>
        </p:txBody>
      </p:sp>
      <p:sp>
        <p:nvSpPr>
          <p:cNvPr id="18" name="02"/>
          <p:cNvSpPr txBox="1"/>
          <p:nvPr/>
        </p:nvSpPr>
        <p:spPr>
          <a:xfrm>
            <a:off x="475488" y="2167128"/>
            <a:ext cx="365760" cy="265176"/>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02</a:t>
            </a:r>
          </a:p>
        </p:txBody>
      </p:sp>
      <p:sp>
        <p:nvSpPr>
          <p:cNvPr id="19" name="Generate a recipe dialect"/>
          <p:cNvSpPr txBox="1"/>
          <p:nvPr/>
        </p:nvSpPr>
        <p:spPr>
          <a:xfrm>
            <a:off x="941832" y="2130552"/>
            <a:ext cx="4160520" cy="265176"/>
          </a:xfrm>
          <a:prstGeom prst="rect">
            <a:avLst/>
          </a:prstGeom>
          <a:noFill/>
        </p:spPr>
        <p:txBody>
          <a:bodyPr wrap="none" anchor="t" lIns="0" rIns="0" tIns="0" bIns="0">
            <a:noAutofit/>
          </a:bodyPr>
          <a:lstStyle/>
          <a:p>
            <a:pPr algn="l">
              <a:lnSpc>
                <a:spcPts val="1682"/>
              </a:lnSpc>
              <a:spcBef>
                <a:spcPts val="0"/>
              </a:spcBef>
              <a:spcAft>
                <a:spcPts val="0"/>
              </a:spcAft>
            </a:pPr>
            <a:r>
              <a:rPr sz="1450" b="0">
                <a:solidFill>
                  <a:srgbClr val="000000"/>
                </a:solidFill>
                <a:latin typeface="NVIDIA Sans"/>
              </a:rPr>
              <a:t>Generate a recipe dialect</a:t>
            </a:r>
          </a:p>
        </p:txBody>
      </p:sp>
      <p:sp>
        <p:nvSpPr>
          <p:cNvPr id="20" name="Use Python to author IR for a consumer outside MLIR."/>
          <p:cNvSpPr txBox="1"/>
          <p:nvPr/>
        </p:nvSpPr>
        <p:spPr>
          <a:xfrm>
            <a:off x="941832" y="2432304"/>
            <a:ext cx="4187952" cy="320040"/>
          </a:xfrm>
          <a:prstGeom prst="rect">
            <a:avLst/>
          </a:prstGeom>
          <a:noFill/>
        </p:spPr>
        <p:txBody>
          <a:bodyPr wrap="none" anchor="t" lIns="0" rIns="0" tIns="0" bIns="0">
            <a:noAutofit/>
          </a:bodyPr>
          <a:lstStyle/>
          <a:p>
            <a:pPr algn="l">
              <a:lnSpc>
                <a:spcPts val="1229"/>
              </a:lnSpc>
              <a:spcBef>
                <a:spcPts val="0"/>
              </a:spcBef>
              <a:spcAft>
                <a:spcPts val="0"/>
              </a:spcAft>
            </a:pPr>
            <a:r>
              <a:rPr sz="1060" b="0">
                <a:solidFill>
                  <a:srgbClr val="616161"/>
                </a:solidFill>
                <a:latin typeface="NVIDIA Sans"/>
              </a:rPr>
              <a:t>Use Python to author IR for a consumer outside MLIR.</a:t>
            </a:r>
          </a:p>
        </p:txBody>
      </p:sp>
      <p:sp>
        <p:nvSpPr>
          <p:cNvPr id="21" name="Python"/>
          <p:cNvSpPr txBox="1"/>
          <p:nvPr/>
        </p:nvSpPr>
        <p:spPr>
          <a:xfrm>
            <a:off x="5330952" y="2231136"/>
            <a:ext cx="917447" cy="411480"/>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616161"/>
                </a:solidFill>
                <a:latin typeface="NVIDIA Sans"/>
              </a:rPr>
              <a:t>Python</a:t>
            </a:r>
          </a:p>
        </p:txBody>
      </p:sp>
      <p:cxnSp>
        <p:nvCxnSpPr>
          <p:cNvPr id="22" name="Connector 21"/>
          <p:cNvCxnSpPr/>
          <p:nvPr/>
        </p:nvCxnSpPr>
        <p:spPr>
          <a:xfrm>
            <a:off x="6280404" y="2368296"/>
            <a:ext cx="21031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3" name="Recipe IR"/>
          <p:cNvSpPr txBox="1"/>
          <p:nvPr/>
        </p:nvSpPr>
        <p:spPr>
          <a:xfrm>
            <a:off x="6522720" y="2231136"/>
            <a:ext cx="917447" cy="411480"/>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616161"/>
                </a:solidFill>
                <a:latin typeface="NVIDIA Sans"/>
              </a:rPr>
              <a:t>Recipe IR</a:t>
            </a:r>
          </a:p>
        </p:txBody>
      </p:sp>
      <p:cxnSp>
        <p:nvCxnSpPr>
          <p:cNvPr id="24" name="Connector 23"/>
          <p:cNvCxnSpPr/>
          <p:nvPr/>
        </p:nvCxnSpPr>
        <p:spPr>
          <a:xfrm>
            <a:off x="7472172" y="2368296"/>
            <a:ext cx="21031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5" name="External consumer"/>
          <p:cNvSpPr txBox="1"/>
          <p:nvPr/>
        </p:nvSpPr>
        <p:spPr>
          <a:xfrm>
            <a:off x="7714488" y="2231136"/>
            <a:ext cx="917447" cy="411480"/>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416600"/>
                </a:solidFill>
                <a:latin typeface="NVIDIA Sans"/>
              </a:rPr>
              <a:t>External</a:t>
            </a:r>
          </a:p>
          <a:p>
            <a:pPr algn="ctr">
              <a:lnSpc>
                <a:spcPts val="1252"/>
              </a:lnSpc>
              <a:spcBef>
                <a:spcPts val="0"/>
              </a:spcBef>
              <a:spcAft>
                <a:spcPts val="0"/>
              </a:spcAft>
            </a:pPr>
            <a:r>
              <a:rPr sz="1080" b="0">
                <a:solidFill>
                  <a:srgbClr val="416600"/>
                </a:solidFill>
                <a:latin typeface="NVIDIA Sans"/>
              </a:rPr>
              <a:t>consumer</a:t>
            </a:r>
          </a:p>
        </p:txBody>
      </p:sp>
      <p:sp>
        <p:nvSpPr>
          <p:cNvPr id="26" name="Rectangle 25"/>
          <p:cNvSpPr/>
          <p:nvPr/>
        </p:nvSpPr>
        <p:spPr>
          <a:xfrm>
            <a:off x="941832" y="2779776"/>
            <a:ext cx="7680960" cy="8229"/>
          </a:xfrm>
          <a:prstGeom prst="rect">
            <a:avLst/>
          </a:prstGeom>
          <a:solidFill>
            <a:srgbClr val="D5D5D5"/>
          </a:solidFill>
          <a:ln>
            <a:noFill/>
          </a:ln>
          <a:effectLst/>
        </p:spPr>
        <p:txBody>
          <a:bodyPr rtlCol="0" anchor="ctr"/>
          <a:lstStyle/>
          <a:p>
            <a:pPr algn="ctr"/>
          </a:p>
        </p:txBody>
      </p:sp>
      <p:sp>
        <p:nvSpPr>
          <p:cNvPr id="27" name="03"/>
          <p:cNvSpPr txBox="1"/>
          <p:nvPr/>
        </p:nvSpPr>
        <p:spPr>
          <a:xfrm>
            <a:off x="475488" y="2862072"/>
            <a:ext cx="365760" cy="265176"/>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03</a:t>
            </a:r>
          </a:p>
        </p:txBody>
      </p:sp>
      <p:sp>
        <p:nvSpPr>
          <p:cNvPr id="28" name="Reuse the building blocks"/>
          <p:cNvSpPr txBox="1"/>
          <p:nvPr/>
        </p:nvSpPr>
        <p:spPr>
          <a:xfrm>
            <a:off x="941832" y="2825496"/>
            <a:ext cx="4160520" cy="265176"/>
          </a:xfrm>
          <a:prstGeom prst="rect">
            <a:avLst/>
          </a:prstGeom>
          <a:noFill/>
        </p:spPr>
        <p:txBody>
          <a:bodyPr wrap="none" anchor="t" lIns="0" rIns="0" tIns="0" bIns="0">
            <a:noAutofit/>
          </a:bodyPr>
          <a:lstStyle/>
          <a:p>
            <a:pPr algn="l">
              <a:lnSpc>
                <a:spcPts val="1682"/>
              </a:lnSpc>
              <a:spcBef>
                <a:spcPts val="0"/>
              </a:spcBef>
              <a:spcAft>
                <a:spcPts val="0"/>
              </a:spcAft>
            </a:pPr>
            <a:r>
              <a:rPr sz="1450" b="0">
                <a:solidFill>
                  <a:srgbClr val="000000"/>
                </a:solidFill>
                <a:latin typeface="NVIDIA Sans"/>
              </a:rPr>
              <a:t>Reuse the building blocks</a:t>
            </a:r>
          </a:p>
        </p:txBody>
      </p:sp>
      <p:sp>
        <p:nvSpPr>
          <p:cNvPr id="29" name="Bring JIT, caching, and environment management to your own DSL."/>
          <p:cNvSpPr txBox="1"/>
          <p:nvPr/>
        </p:nvSpPr>
        <p:spPr>
          <a:xfrm>
            <a:off x="941832" y="3127248"/>
            <a:ext cx="4187952" cy="320040"/>
          </a:xfrm>
          <a:prstGeom prst="rect">
            <a:avLst/>
          </a:prstGeom>
          <a:noFill/>
        </p:spPr>
        <p:txBody>
          <a:bodyPr wrap="none" anchor="t" lIns="0" rIns="0" tIns="0" bIns="0">
            <a:noAutofit/>
          </a:bodyPr>
          <a:lstStyle/>
          <a:p>
            <a:pPr algn="l">
              <a:lnSpc>
                <a:spcPts val="1229"/>
              </a:lnSpc>
              <a:spcBef>
                <a:spcPts val="0"/>
              </a:spcBef>
              <a:spcAft>
                <a:spcPts val="0"/>
              </a:spcAft>
            </a:pPr>
            <a:r>
              <a:rPr sz="1060" b="0">
                <a:solidFill>
                  <a:srgbClr val="616161"/>
                </a:solidFill>
                <a:latin typeface="NVIDIA Sans"/>
              </a:rPr>
              <a:t>Bring JIT, caching, and environment management to your own</a:t>
            </a:r>
          </a:p>
          <a:p>
            <a:pPr algn="l">
              <a:lnSpc>
                <a:spcPts val="1229"/>
              </a:lnSpc>
              <a:spcBef>
                <a:spcPts val="0"/>
              </a:spcBef>
              <a:spcAft>
                <a:spcPts val="0"/>
              </a:spcAft>
            </a:pPr>
            <a:r>
              <a:rPr sz="1060" b="0">
                <a:solidFill>
                  <a:srgbClr val="616161"/>
                </a:solidFill>
                <a:latin typeface="NVIDIA Sans"/>
              </a:rPr>
              <a:t>DSL.</a:t>
            </a:r>
          </a:p>
        </p:txBody>
      </p:sp>
      <p:sp>
        <p:nvSpPr>
          <p:cNvPr id="30" name="Your DSL"/>
          <p:cNvSpPr txBox="1"/>
          <p:nvPr/>
        </p:nvSpPr>
        <p:spPr>
          <a:xfrm>
            <a:off x="5330952" y="2926079"/>
            <a:ext cx="1513332" cy="411480"/>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616161"/>
                </a:solidFill>
                <a:latin typeface="NVIDIA Sans"/>
              </a:rPr>
              <a:t>Your DSL</a:t>
            </a:r>
          </a:p>
        </p:txBody>
      </p:sp>
      <p:cxnSp>
        <p:nvCxnSpPr>
          <p:cNvPr id="31" name="Connector 30"/>
          <p:cNvCxnSpPr/>
          <p:nvPr/>
        </p:nvCxnSpPr>
        <p:spPr>
          <a:xfrm>
            <a:off x="6876288" y="3063239"/>
            <a:ext cx="21031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2" name="Shared services"/>
          <p:cNvSpPr txBox="1"/>
          <p:nvPr/>
        </p:nvSpPr>
        <p:spPr>
          <a:xfrm>
            <a:off x="7118604" y="2926079"/>
            <a:ext cx="1513332" cy="411480"/>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416600"/>
                </a:solidFill>
                <a:latin typeface="NVIDIA Sans"/>
              </a:rPr>
              <a:t>Shared services</a:t>
            </a:r>
          </a:p>
        </p:txBody>
      </p:sp>
      <p:sp>
        <p:nvSpPr>
          <p:cNvPr id="33" name="Rectangle 32"/>
          <p:cNvSpPr/>
          <p:nvPr/>
        </p:nvSpPr>
        <p:spPr>
          <a:xfrm>
            <a:off x="941832" y="3474720"/>
            <a:ext cx="7680960" cy="8229"/>
          </a:xfrm>
          <a:prstGeom prst="rect">
            <a:avLst/>
          </a:prstGeom>
          <a:solidFill>
            <a:srgbClr val="D5D5D5"/>
          </a:solidFill>
          <a:ln>
            <a:noFill/>
          </a:ln>
          <a:effectLst/>
        </p:spPr>
        <p:txBody>
          <a:bodyPr rtlCol="0" anchor="ctr"/>
          <a:lstStyle/>
          <a:p>
            <a:pPr algn="ctr"/>
          </a:p>
        </p:txBody>
      </p:sp>
      <p:sp>
        <p:nvSpPr>
          <p:cNvPr id="34" name="04"/>
          <p:cNvSpPr txBox="1"/>
          <p:nvPr/>
        </p:nvSpPr>
        <p:spPr>
          <a:xfrm>
            <a:off x="475488" y="3557016"/>
            <a:ext cx="365760" cy="265176"/>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04</a:t>
            </a:r>
          </a:p>
        </p:txBody>
      </p:sp>
      <p:sp>
        <p:nvSpPr>
          <p:cNvPr id="35" name="Build a complete language"/>
          <p:cNvSpPr txBox="1"/>
          <p:nvPr/>
        </p:nvSpPr>
        <p:spPr>
          <a:xfrm>
            <a:off x="941832" y="3520440"/>
            <a:ext cx="4160520" cy="265176"/>
          </a:xfrm>
          <a:prstGeom prst="rect">
            <a:avLst/>
          </a:prstGeom>
          <a:noFill/>
        </p:spPr>
        <p:txBody>
          <a:bodyPr wrap="none" anchor="t" lIns="0" rIns="0" tIns="0" bIns="0">
            <a:noAutofit/>
          </a:bodyPr>
          <a:lstStyle/>
          <a:p>
            <a:pPr algn="l">
              <a:lnSpc>
                <a:spcPts val="1682"/>
              </a:lnSpc>
              <a:spcBef>
                <a:spcPts val="0"/>
              </a:spcBef>
              <a:spcAft>
                <a:spcPts val="0"/>
              </a:spcAft>
            </a:pPr>
            <a:r>
              <a:rPr sz="1450" b="0">
                <a:solidFill>
                  <a:srgbClr val="000000"/>
                </a:solidFill>
                <a:latin typeface="NVIDIA Sans"/>
              </a:rPr>
              <a:t>Build a complete language</a:t>
            </a:r>
          </a:p>
        </p:txBody>
      </p:sp>
      <p:sp>
        <p:nvSpPr>
          <p:cNvPr id="36" name="A production example: NVIDIA CuTe DSL / CUTLASS Python."/>
          <p:cNvSpPr txBox="1"/>
          <p:nvPr/>
        </p:nvSpPr>
        <p:spPr>
          <a:xfrm>
            <a:off x="941832" y="3822192"/>
            <a:ext cx="4187952" cy="320040"/>
          </a:xfrm>
          <a:prstGeom prst="rect">
            <a:avLst/>
          </a:prstGeom>
          <a:noFill/>
        </p:spPr>
        <p:txBody>
          <a:bodyPr wrap="none" anchor="t" lIns="0" rIns="0" tIns="0" bIns="0">
            <a:noAutofit/>
          </a:bodyPr>
          <a:lstStyle/>
          <a:p>
            <a:pPr algn="l">
              <a:lnSpc>
                <a:spcPts val="1229"/>
              </a:lnSpc>
              <a:spcBef>
                <a:spcPts val="0"/>
              </a:spcBef>
              <a:spcAft>
                <a:spcPts val="0"/>
              </a:spcAft>
            </a:pPr>
            <a:r>
              <a:rPr sz="1060" b="0">
                <a:solidFill>
                  <a:srgbClr val="616161"/>
                </a:solidFill>
                <a:latin typeface="NVIDIA Sans"/>
              </a:rPr>
              <a:t>A production example: NVIDIA CuTe DSL / CUTLASS Python.</a:t>
            </a:r>
          </a:p>
        </p:txBody>
      </p:sp>
      <p:sp>
        <p:nvSpPr>
          <p:cNvPr id="37" name="Python frontend"/>
          <p:cNvSpPr txBox="1"/>
          <p:nvPr/>
        </p:nvSpPr>
        <p:spPr>
          <a:xfrm>
            <a:off x="5330952" y="3621024"/>
            <a:ext cx="1513332" cy="411480"/>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616161"/>
                </a:solidFill>
                <a:latin typeface="NVIDIA Sans"/>
              </a:rPr>
              <a:t>Python frontend</a:t>
            </a:r>
          </a:p>
        </p:txBody>
      </p:sp>
      <p:cxnSp>
        <p:nvCxnSpPr>
          <p:cNvPr id="38" name="Connector 37"/>
          <p:cNvCxnSpPr/>
          <p:nvPr/>
        </p:nvCxnSpPr>
        <p:spPr>
          <a:xfrm>
            <a:off x="6876288" y="3758184"/>
            <a:ext cx="21031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9" name="GPU program"/>
          <p:cNvSpPr txBox="1"/>
          <p:nvPr/>
        </p:nvSpPr>
        <p:spPr>
          <a:xfrm>
            <a:off x="7118604" y="3621024"/>
            <a:ext cx="1513332" cy="411480"/>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416600"/>
                </a:solidFill>
                <a:latin typeface="NVIDIA Sans"/>
              </a:rPr>
              <a:t>GPU program</a:t>
            </a:r>
          </a:p>
        </p:txBody>
      </p:sp>
      <p:sp>
        <p:nvSpPr>
          <p:cNvPr id="40" name="NVIDIA CuTe DSL documentation ↗"/>
          <p:cNvSpPr txBox="1"/>
          <p:nvPr/>
        </p:nvSpPr>
        <p:spPr>
          <a:xfrm>
            <a:off x="5330952" y="3968496"/>
            <a:ext cx="3300984" cy="182880"/>
          </a:xfrm>
          <a:prstGeom prst="rect">
            <a:avLst/>
          </a:prstGeom>
          <a:noFill/>
        </p:spPr>
        <p:txBody>
          <a:bodyPr wrap="none" anchor="t" lIns="0" rIns="0" tIns="0" bIns="0">
            <a:noAutofit/>
          </a:bodyPr>
          <a:lstStyle/>
          <a:p>
            <a:pPr algn="ctr">
              <a:lnSpc>
                <a:spcPts val="1067"/>
              </a:lnSpc>
              <a:spcBef>
                <a:spcPts val="0"/>
              </a:spcBef>
              <a:spcAft>
                <a:spcPts val="0"/>
              </a:spcAft>
            </a:pPr>
            <a:r>
              <a:rPr sz="919" b="0" u="sng">
                <a:solidFill>
                  <a:srgbClr val="416600"/>
                </a:solidFill>
                <a:latin typeface="NVIDIA Sans"/>
                <a:hlinkClick r:id="rId3"/>
              </a:rPr>
              <a:t>NVIDIA CuTe DSL documentation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should a Python MLIR DSL provid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should a Python MLIR DSL provide?</a:t>
            </a:r>
          </a:p>
        </p:txBody>
      </p:sp>
      <p:sp>
        <p:nvSpPr>
          <p:cNvPr id="5" name="Extract the common machinery from DkgDSL; keep target choices in sub-DSL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Extract the common machinery from DkgDSL; keep target choices in sub-DSLs.</a:t>
            </a:r>
          </a:p>
        </p:txBody>
      </p:sp>
      <p:sp>
        <p:nvSpPr>
          <p:cNvPr id="6" name="0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03</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DkgDSL base_dsl → mlir dsl core; dialect operations and device policy stay downstream."/>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DkgDSL base_dsl → mlir dsl core; dialect operations and device policy stay downstream.</a:t>
            </a:r>
          </a:p>
        </p:txBody>
      </p:sp>
      <p:sp>
        <p:nvSpPr>
          <p:cNvPr id="9" name="Rectangle 8"/>
          <p:cNvSpPr/>
          <p:nvPr/>
        </p:nvSpPr>
        <p:spPr>
          <a:xfrm>
            <a:off x="484632" y="1463040"/>
            <a:ext cx="8174736" cy="1508760"/>
          </a:xfrm>
          <a:prstGeom prst="rect">
            <a:avLst/>
          </a:prstGeom>
          <a:solidFill>
            <a:srgbClr val="FFFFFF"/>
          </a:solidFill>
          <a:ln w="8890">
            <a:solidFill>
              <a:srgbClr val="D5D5D5"/>
            </a:solidFill>
          </a:ln>
          <a:effectLst/>
        </p:spPr>
        <p:txBody>
          <a:bodyPr rtlCol="0" anchor="ctr"/>
          <a:lstStyle/>
          <a:p>
            <a:pPr algn="ctr"/>
          </a:p>
        </p:txBody>
      </p:sp>
      <p:sp>
        <p:nvSpPr>
          <p:cNvPr id="10" name="mlir dsl · reusable BaseDSL infrastructure"/>
          <p:cNvSpPr txBox="1"/>
          <p:nvPr/>
        </p:nvSpPr>
        <p:spPr>
          <a:xfrm>
            <a:off x="658368" y="1581912"/>
            <a:ext cx="7799831" cy="28346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mlir dsl · reusable BaseDSL infrastructure</a:t>
            </a:r>
          </a:p>
        </p:txBody>
      </p:sp>
      <p:sp>
        <p:nvSpPr>
          <p:cNvPr id="11" name="Rectangle 10"/>
          <p:cNvSpPr/>
          <p:nvPr/>
        </p:nvSpPr>
        <p:spPr>
          <a:xfrm>
            <a:off x="676656" y="1920240"/>
            <a:ext cx="1865376" cy="438912"/>
          </a:xfrm>
          <a:prstGeom prst="rect">
            <a:avLst/>
          </a:prstGeom>
          <a:solidFill>
            <a:srgbClr val="F7F7F7"/>
          </a:solidFill>
          <a:ln w="8890">
            <a:solidFill>
              <a:srgbClr val="D5D5D5"/>
            </a:solidFill>
          </a:ln>
          <a:effectLst/>
        </p:spPr>
        <p:txBody>
          <a:bodyPr rtlCol="0" anchor="ctr"/>
          <a:lstStyle/>
          <a:p>
            <a:pPr algn="ctr"/>
          </a:p>
        </p:txBody>
      </p:sp>
      <p:sp>
        <p:nvSpPr>
          <p:cNvPr id="12" name="Types + inference"/>
          <p:cNvSpPr txBox="1"/>
          <p:nvPr/>
        </p:nvSpPr>
        <p:spPr>
          <a:xfrm>
            <a:off x="786384" y="1993392"/>
            <a:ext cx="1645920" cy="292607"/>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Types + inference</a:t>
            </a:r>
          </a:p>
        </p:txBody>
      </p:sp>
      <p:sp>
        <p:nvSpPr>
          <p:cNvPr id="13" name="Rectangle 12"/>
          <p:cNvSpPr/>
          <p:nvPr/>
        </p:nvSpPr>
        <p:spPr>
          <a:xfrm>
            <a:off x="2651760" y="1920240"/>
            <a:ext cx="1865376" cy="438912"/>
          </a:xfrm>
          <a:prstGeom prst="rect">
            <a:avLst/>
          </a:prstGeom>
          <a:solidFill>
            <a:srgbClr val="F7F7F7"/>
          </a:solidFill>
          <a:ln w="8890">
            <a:solidFill>
              <a:srgbClr val="D5D5D5"/>
            </a:solidFill>
          </a:ln>
          <a:effectLst/>
        </p:spPr>
        <p:txBody>
          <a:bodyPr rtlCol="0" anchor="ctr"/>
          <a:lstStyle/>
          <a:p>
            <a:pPr algn="ctr"/>
          </a:p>
        </p:txBody>
      </p:sp>
      <p:sp>
        <p:nvSpPr>
          <p:cNvPr id="14" name="AST + value trees"/>
          <p:cNvSpPr txBox="1"/>
          <p:nvPr/>
        </p:nvSpPr>
        <p:spPr>
          <a:xfrm>
            <a:off x="2761488" y="1993392"/>
            <a:ext cx="1645920" cy="292607"/>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AST + value trees</a:t>
            </a:r>
          </a:p>
        </p:txBody>
      </p:sp>
      <p:sp>
        <p:nvSpPr>
          <p:cNvPr id="15" name="Rectangle 14"/>
          <p:cNvSpPr/>
          <p:nvPr/>
        </p:nvSpPr>
        <p:spPr>
          <a:xfrm>
            <a:off x="4626864" y="1920240"/>
            <a:ext cx="1865376" cy="438912"/>
          </a:xfrm>
          <a:prstGeom prst="rect">
            <a:avLst/>
          </a:prstGeom>
          <a:solidFill>
            <a:srgbClr val="F7F7F7"/>
          </a:solidFill>
          <a:ln w="8890">
            <a:solidFill>
              <a:srgbClr val="D5D5D5"/>
            </a:solidFill>
          </a:ln>
          <a:effectLst/>
        </p:spPr>
        <p:txBody>
          <a:bodyPr rtlCol="0" anchor="ctr"/>
          <a:lstStyle/>
          <a:p>
            <a:pPr algn="ctr"/>
          </a:p>
        </p:txBody>
      </p:sp>
      <p:sp>
        <p:nvSpPr>
          <p:cNvPr id="16" name="AOT + JIT + cache"/>
          <p:cNvSpPr txBox="1"/>
          <p:nvPr/>
        </p:nvSpPr>
        <p:spPr>
          <a:xfrm>
            <a:off x="4736592" y="1993392"/>
            <a:ext cx="1645920" cy="292607"/>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AOT + JIT + cache</a:t>
            </a:r>
          </a:p>
        </p:txBody>
      </p:sp>
      <p:sp>
        <p:nvSpPr>
          <p:cNvPr id="17" name="Rectangle 16"/>
          <p:cNvSpPr/>
          <p:nvPr/>
        </p:nvSpPr>
        <p:spPr>
          <a:xfrm>
            <a:off x="6601968" y="1920240"/>
            <a:ext cx="1865376" cy="438912"/>
          </a:xfrm>
          <a:prstGeom prst="rect">
            <a:avLst/>
          </a:prstGeom>
          <a:solidFill>
            <a:srgbClr val="F7F7F7"/>
          </a:solidFill>
          <a:ln w="8890">
            <a:solidFill>
              <a:srgbClr val="D5D5D5"/>
            </a:solidFill>
          </a:ln>
          <a:effectLst/>
        </p:spPr>
        <p:txBody>
          <a:bodyPr rtlCol="0" anchor="ctr"/>
          <a:lstStyle/>
          <a:p>
            <a:pPr algn="ctr"/>
          </a:p>
        </p:txBody>
      </p:sp>
      <p:sp>
        <p:nvSpPr>
          <p:cNvPr id="18" name="Compile + execute"/>
          <p:cNvSpPr txBox="1"/>
          <p:nvPr/>
        </p:nvSpPr>
        <p:spPr>
          <a:xfrm>
            <a:off x="6711696" y="1993392"/>
            <a:ext cx="1645920" cy="292607"/>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 + execute</a:t>
            </a:r>
          </a:p>
        </p:txBody>
      </p:sp>
      <p:sp>
        <p:nvSpPr>
          <p:cNvPr id="19" name="Rectangle 18"/>
          <p:cNvSpPr/>
          <p:nvPr/>
        </p:nvSpPr>
        <p:spPr>
          <a:xfrm>
            <a:off x="676656" y="2395728"/>
            <a:ext cx="1865376" cy="438912"/>
          </a:xfrm>
          <a:prstGeom prst="rect">
            <a:avLst/>
          </a:prstGeom>
          <a:solidFill>
            <a:srgbClr val="F7F7F7"/>
          </a:solidFill>
          <a:ln w="8890">
            <a:solidFill>
              <a:srgbClr val="D5D5D5"/>
            </a:solidFill>
          </a:ln>
          <a:effectLst/>
        </p:spPr>
        <p:txBody>
          <a:bodyPr rtlCol="0" anchor="ctr"/>
          <a:lstStyle/>
          <a:p>
            <a:pPr algn="ctr"/>
          </a:p>
        </p:txBody>
      </p:sp>
      <p:sp>
        <p:nvSpPr>
          <p:cNvPr id="20" name="Env + profiling"/>
          <p:cNvSpPr txBox="1"/>
          <p:nvPr/>
        </p:nvSpPr>
        <p:spPr>
          <a:xfrm>
            <a:off x="786384" y="2468880"/>
            <a:ext cx="1645920" cy="292607"/>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Env + profiling</a:t>
            </a:r>
          </a:p>
        </p:txBody>
      </p:sp>
      <p:sp>
        <p:nvSpPr>
          <p:cNvPr id="21" name="Rectangle 20"/>
          <p:cNvSpPr/>
          <p:nvPr/>
        </p:nvSpPr>
        <p:spPr>
          <a:xfrm>
            <a:off x="2651760" y="2395728"/>
            <a:ext cx="1865376" cy="438912"/>
          </a:xfrm>
          <a:prstGeom prst="rect">
            <a:avLst/>
          </a:prstGeom>
          <a:solidFill>
            <a:srgbClr val="F7F7F7"/>
          </a:solidFill>
          <a:ln w="8890">
            <a:solidFill>
              <a:srgbClr val="D5D5D5"/>
            </a:solidFill>
          </a:ln>
          <a:effectLst/>
        </p:spPr>
        <p:txBody>
          <a:bodyPr rtlCol="0" anchor="ctr"/>
          <a:lstStyle/>
          <a:p>
            <a:pPr algn="ctr"/>
          </a:p>
        </p:txBody>
      </p:sp>
      <p:sp>
        <p:nvSpPr>
          <p:cNvPr id="22" name="Errors + remarks"/>
          <p:cNvSpPr txBox="1"/>
          <p:nvPr/>
        </p:nvSpPr>
        <p:spPr>
          <a:xfrm>
            <a:off x="2761488" y="2468880"/>
            <a:ext cx="1645920" cy="292607"/>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Errors + remarks</a:t>
            </a:r>
          </a:p>
        </p:txBody>
      </p:sp>
      <p:sp>
        <p:nvSpPr>
          <p:cNvPr id="23" name="Rectangle 22"/>
          <p:cNvSpPr/>
          <p:nvPr/>
        </p:nvSpPr>
        <p:spPr>
          <a:xfrm>
            <a:off x="4626864" y="2395728"/>
            <a:ext cx="1865376" cy="438912"/>
          </a:xfrm>
          <a:prstGeom prst="rect">
            <a:avLst/>
          </a:prstGeom>
          <a:solidFill>
            <a:srgbClr val="F7F7F7"/>
          </a:solidFill>
          <a:ln w="8890">
            <a:solidFill>
              <a:srgbClr val="D5D5D5"/>
            </a:solidFill>
          </a:ln>
          <a:effectLst/>
        </p:spPr>
        <p:txBody>
          <a:bodyPr rtlCol="0" anchor="ctr"/>
          <a:lstStyle/>
          <a:p>
            <a:pPr algn="ctr"/>
          </a:p>
        </p:txBody>
      </p:sp>
      <p:sp>
        <p:nvSpPr>
          <p:cNvPr id="24" name="Arrays + adapters"/>
          <p:cNvSpPr txBox="1"/>
          <p:nvPr/>
        </p:nvSpPr>
        <p:spPr>
          <a:xfrm>
            <a:off x="4736592" y="2468880"/>
            <a:ext cx="1645920" cy="292607"/>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Arrays + adapters</a:t>
            </a:r>
          </a:p>
        </p:txBody>
      </p:sp>
      <p:sp>
        <p:nvSpPr>
          <p:cNvPr id="25" name="Rectangle 24"/>
          <p:cNvSpPr/>
          <p:nvPr/>
        </p:nvSpPr>
        <p:spPr>
          <a:xfrm>
            <a:off x="6601968" y="2395728"/>
            <a:ext cx="1865376" cy="438912"/>
          </a:xfrm>
          <a:prstGeom prst="rect">
            <a:avLst/>
          </a:prstGeom>
          <a:solidFill>
            <a:srgbClr val="F7F7F7"/>
          </a:solidFill>
          <a:ln w="8890">
            <a:solidFill>
              <a:srgbClr val="D5D5D5"/>
            </a:solidFill>
          </a:ln>
          <a:effectLst/>
        </p:spPr>
        <p:txBody>
          <a:bodyPr rtlCol="0" anchor="ctr"/>
          <a:lstStyle/>
          <a:p>
            <a:pPr algn="ctr"/>
          </a:p>
        </p:txBody>
      </p:sp>
      <p:sp>
        <p:nvSpPr>
          <p:cNvPr id="26" name="FFI + export hooks"/>
          <p:cNvSpPr txBox="1"/>
          <p:nvPr/>
        </p:nvSpPr>
        <p:spPr>
          <a:xfrm>
            <a:off x="6711696" y="2468880"/>
            <a:ext cx="1645920" cy="292607"/>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FFI + export hooks</a:t>
            </a:r>
          </a:p>
        </p:txBody>
      </p:sp>
      <p:cxnSp>
        <p:nvCxnSpPr>
          <p:cNvPr id="27" name="Connector 26"/>
          <p:cNvCxnSpPr/>
          <p:nvPr/>
        </p:nvCxnSpPr>
        <p:spPr>
          <a:xfrm>
            <a:off x="4572000" y="2990088"/>
            <a:ext cx="0" cy="347472"/>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481328" y="3374136"/>
            <a:ext cx="6181344" cy="804672"/>
          </a:xfrm>
          <a:prstGeom prst="rect">
            <a:avLst/>
          </a:prstGeom>
          <a:solidFill>
            <a:srgbClr val="F0F6E6"/>
          </a:solidFill>
          <a:ln w="8890">
            <a:solidFill>
              <a:srgbClr val="76B900"/>
            </a:solidFill>
          </a:ln>
          <a:effectLst/>
        </p:spPr>
        <p:txBody>
          <a:bodyPr rtlCol="0" anchor="ctr"/>
          <a:lstStyle/>
          <a:p>
            <a:pPr algn="ctr"/>
          </a:p>
        </p:txBody>
      </p:sp>
      <p:sp>
        <p:nvSpPr>
          <p:cNvPr id="29" name="Your sub-DSL"/>
          <p:cNvSpPr txBox="1"/>
          <p:nvPr/>
        </p:nvSpPr>
        <p:spPr>
          <a:xfrm>
            <a:off x="1682496" y="3493008"/>
            <a:ext cx="1307592" cy="502920"/>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Your sub-DSL</a:t>
            </a:r>
          </a:p>
        </p:txBody>
      </p:sp>
      <p:sp>
        <p:nvSpPr>
          <p:cNvPr id="30" name="Rectangle 29"/>
          <p:cNvSpPr/>
          <p:nvPr/>
        </p:nvSpPr>
        <p:spPr>
          <a:xfrm>
            <a:off x="3154680" y="3538728"/>
            <a:ext cx="1335024" cy="429768"/>
          </a:xfrm>
          <a:prstGeom prst="rect">
            <a:avLst/>
          </a:prstGeom>
          <a:solidFill>
            <a:srgbClr val="F7F7F7"/>
          </a:solidFill>
          <a:ln w="8890">
            <a:solidFill>
              <a:srgbClr val="D5D5D5"/>
            </a:solidFill>
          </a:ln>
          <a:effectLst/>
        </p:spPr>
        <p:txBody>
          <a:bodyPr rtlCol="0" anchor="ctr"/>
          <a:lstStyle/>
          <a:p>
            <a:pPr algn="ctr"/>
          </a:p>
        </p:txBody>
      </p:sp>
      <p:sp>
        <p:nvSpPr>
          <p:cNvPr id="31" name="Domain types"/>
          <p:cNvSpPr txBox="1"/>
          <p:nvPr/>
        </p:nvSpPr>
        <p:spPr>
          <a:xfrm>
            <a:off x="3264408" y="3611880"/>
            <a:ext cx="1115568" cy="283463"/>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Domain types</a:t>
            </a:r>
          </a:p>
        </p:txBody>
      </p:sp>
      <p:sp>
        <p:nvSpPr>
          <p:cNvPr id="32" name="Rectangle 31"/>
          <p:cNvSpPr/>
          <p:nvPr/>
        </p:nvSpPr>
        <p:spPr>
          <a:xfrm>
            <a:off x="4599432" y="3538728"/>
            <a:ext cx="1335024" cy="429768"/>
          </a:xfrm>
          <a:prstGeom prst="rect">
            <a:avLst/>
          </a:prstGeom>
          <a:solidFill>
            <a:srgbClr val="F7F7F7"/>
          </a:solidFill>
          <a:ln w="8890">
            <a:solidFill>
              <a:srgbClr val="D5D5D5"/>
            </a:solidFill>
          </a:ln>
          <a:effectLst/>
        </p:spPr>
        <p:txBody>
          <a:bodyPr rtlCol="0" anchor="ctr"/>
          <a:lstStyle/>
          <a:p>
            <a:pPr algn="ctr"/>
          </a:p>
        </p:txBody>
      </p:sp>
      <p:sp>
        <p:nvSpPr>
          <p:cNvPr id="33" name="Capture callbacks"/>
          <p:cNvSpPr txBox="1"/>
          <p:nvPr/>
        </p:nvSpPr>
        <p:spPr>
          <a:xfrm>
            <a:off x="4709160" y="3611880"/>
            <a:ext cx="1115568" cy="283463"/>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Capture callbacks</a:t>
            </a:r>
          </a:p>
        </p:txBody>
      </p:sp>
      <p:sp>
        <p:nvSpPr>
          <p:cNvPr id="34" name="Rectangle 33"/>
          <p:cNvSpPr/>
          <p:nvPr/>
        </p:nvSpPr>
        <p:spPr>
          <a:xfrm>
            <a:off x="6044184" y="3538728"/>
            <a:ext cx="1335024" cy="429768"/>
          </a:xfrm>
          <a:prstGeom prst="rect">
            <a:avLst/>
          </a:prstGeom>
          <a:solidFill>
            <a:srgbClr val="F7F7F7"/>
          </a:solidFill>
          <a:ln w="8890">
            <a:solidFill>
              <a:srgbClr val="D5D5D5"/>
            </a:solidFill>
          </a:ln>
          <a:effectLst/>
        </p:spPr>
        <p:txBody>
          <a:bodyPr rtlCol="0" anchor="ctr"/>
          <a:lstStyle/>
          <a:p>
            <a:pPr algn="ctr"/>
          </a:p>
        </p:txBody>
      </p:sp>
      <p:sp>
        <p:nvSpPr>
          <p:cNvPr id="35" name="Dialect + lowering"/>
          <p:cNvSpPr txBox="1"/>
          <p:nvPr/>
        </p:nvSpPr>
        <p:spPr>
          <a:xfrm>
            <a:off x="6153912" y="3611880"/>
            <a:ext cx="1115568" cy="283463"/>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Dialect + lowering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esign principl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Design principles</a:t>
            </a:r>
          </a:p>
        </p:txBody>
      </p:sp>
      <p:sp>
        <p:nvSpPr>
          <p:cNvPr id="5" name="Keep the language familiar."/>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Keep the language familiar.</a:t>
            </a:r>
          </a:p>
        </p:txBody>
      </p:sp>
      <p:sp>
        <p:nvSpPr>
          <p:cNvPr id="6" name="0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04</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01"/>
          <p:cNvSpPr txBox="1"/>
          <p:nvPr/>
        </p:nvSpPr>
        <p:spPr>
          <a:xfrm>
            <a:off x="512064" y="168249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01</a:t>
            </a:r>
          </a:p>
        </p:txBody>
      </p:sp>
      <p:sp>
        <p:nvSpPr>
          <p:cNvPr id="9" name="Don’t make me learn a new language."/>
          <p:cNvSpPr txBox="1"/>
          <p:nvPr/>
        </p:nvSpPr>
        <p:spPr>
          <a:xfrm>
            <a:off x="1170432" y="165506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Don’t make me learn a new language.</a:t>
            </a:r>
          </a:p>
        </p:txBody>
      </p:sp>
      <p:sp>
        <p:nvSpPr>
          <p:cNvPr id="10" name="Reuse Python objects, imports, libraries, and metaprogramming."/>
          <p:cNvSpPr txBox="1"/>
          <p:nvPr/>
        </p:nvSpPr>
        <p:spPr>
          <a:xfrm>
            <a:off x="1188720" y="223113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Reuse Python objects, imports, libraries, and metaprogramming.</a:t>
            </a:r>
          </a:p>
        </p:txBody>
      </p:sp>
      <p:sp>
        <p:nvSpPr>
          <p:cNvPr id="11" name="02"/>
          <p:cNvSpPr txBox="1"/>
          <p:nvPr/>
        </p:nvSpPr>
        <p:spPr>
          <a:xfrm>
            <a:off x="512064" y="268833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02</a:t>
            </a:r>
          </a:p>
        </p:txBody>
      </p:sp>
      <p:sp>
        <p:nvSpPr>
          <p:cNvPr id="12" name="Use Python as-is as the host."/>
          <p:cNvSpPr txBox="1"/>
          <p:nvPr/>
        </p:nvSpPr>
        <p:spPr>
          <a:xfrm>
            <a:off x="1170432" y="266090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Use Python as-is as the host.</a:t>
            </a:r>
          </a:p>
        </p:txBody>
      </p:sp>
      <p:sp>
        <p:nvSpPr>
          <p:cNvPr id="13" name="Keep Python’s meaning; expose MLIR through a DSL namespace."/>
          <p:cNvSpPr txBox="1"/>
          <p:nvPr/>
        </p:nvSpPr>
        <p:spPr>
          <a:xfrm>
            <a:off x="1188720" y="323697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Keep Python’s meaning; expose MLIR through a DSL namespace.</a:t>
            </a:r>
          </a:p>
        </p:txBody>
      </p:sp>
      <p:sp>
        <p:nvSpPr>
          <p:cNvPr id="14" name="This leads to multi-stage programming."/>
          <p:cNvSpPr txBox="1"/>
          <p:nvPr/>
        </p:nvSpPr>
        <p:spPr>
          <a:xfrm>
            <a:off x="502920" y="4005072"/>
            <a:ext cx="8138160" cy="356616"/>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416600"/>
                </a:solidFill>
                <a:latin typeface="NVIDIA Sans"/>
              </a:rPr>
              <a:t>This leads to </a:t>
            </a:r>
            <a:r>
              <a:rPr sz="1600" b="1">
                <a:solidFill>
                  <a:srgbClr val="416600"/>
                </a:solidFill>
                <a:latin typeface="NVIDIA Sans"/>
              </a:rPr>
              <a:t>multi-stage programming.</a:t>
            </a:r>
            <a:r>
              <a:rPr sz="1600" b="0">
                <a:solidFill>
                  <a:srgbClr val="416600"/>
                </a:solidFill>
                <a:latin typeface="NVIDIA Sans"/>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is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is multi-stage programming?</a:t>
            </a:r>
          </a:p>
        </p:txBody>
      </p:sp>
      <p:sp>
        <p:nvSpPr>
          <p:cNvPr id="5" name="Run a program to generate the next program."/>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Run a program to generate the next program.</a:t>
            </a:r>
          </a:p>
        </p:txBody>
      </p:sp>
      <p:sp>
        <p:nvSpPr>
          <p:cNvPr id="6" name="0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05</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Traditional compiler"/>
          <p:cNvSpPr txBox="1"/>
          <p:nvPr/>
        </p:nvSpPr>
        <p:spPr>
          <a:xfrm>
            <a:off x="457200" y="134416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Traditional compiler</a:t>
            </a:r>
          </a:p>
        </p:txBody>
      </p:sp>
      <p:sp>
        <p:nvSpPr>
          <p:cNvPr id="9" name="Rectangle 8"/>
          <p:cNvSpPr/>
          <p:nvPr/>
        </p:nvSpPr>
        <p:spPr>
          <a:xfrm>
            <a:off x="758952" y="1627632"/>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10" name="Connector 9"/>
          <p:cNvCxnSpPr/>
          <p:nvPr/>
        </p:nvCxnSpPr>
        <p:spPr>
          <a:xfrm>
            <a:off x="932688" y="1627632"/>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32688" y="1723644"/>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32688" y="1627632"/>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13" name="&lt;/&gt;"/>
          <p:cNvSpPr txBox="1"/>
          <p:nvPr/>
        </p:nvSpPr>
        <p:spPr>
          <a:xfrm>
            <a:off x="779068" y="1773936"/>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14" name="source.cpp"/>
          <p:cNvSpPr txBox="1"/>
          <p:nvPr/>
        </p:nvSpPr>
        <p:spPr>
          <a:xfrm>
            <a:off x="164591" y="2039112"/>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15" name="Connector 14"/>
          <p:cNvCxnSpPr/>
          <p:nvPr/>
        </p:nvCxnSpPr>
        <p:spPr>
          <a:xfrm>
            <a:off x="1143000"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6" name="Gear 6 15"/>
          <p:cNvSpPr/>
          <p:nvPr/>
        </p:nvSpPr>
        <p:spPr>
          <a:xfrm>
            <a:off x="2564892" y="1627632"/>
            <a:ext cx="356616" cy="356616"/>
          </a:xfrm>
          <a:prstGeom prst="gear6">
            <a:avLst/>
          </a:prstGeom>
          <a:solidFill>
            <a:srgbClr val="F7F7F7"/>
          </a:solidFill>
          <a:ln w="11430">
            <a:solidFill>
              <a:srgbClr val="616161"/>
            </a:solidFill>
          </a:ln>
          <a:effectLst/>
        </p:spPr>
        <p:txBody>
          <a:bodyPr rtlCol="0" anchor="ctr"/>
          <a:lstStyle/>
          <a:p>
            <a:pPr algn="ctr"/>
          </a:p>
        </p:txBody>
      </p:sp>
      <p:sp>
        <p:nvSpPr>
          <p:cNvPr id="17" name="compiler"/>
          <p:cNvSpPr txBox="1"/>
          <p:nvPr/>
        </p:nvSpPr>
        <p:spPr>
          <a:xfrm>
            <a:off x="2011680"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18" name="Connector 17"/>
          <p:cNvCxnSpPr/>
          <p:nvPr/>
        </p:nvCxnSpPr>
        <p:spPr>
          <a:xfrm>
            <a:off x="2990088"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453127" y="1664208"/>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20" name="Connector 19"/>
          <p:cNvCxnSpPr/>
          <p:nvPr/>
        </p:nvCxnSpPr>
        <p:spPr>
          <a:xfrm>
            <a:off x="4517136"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517136"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416551"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727448"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590288"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590288"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416551"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727448"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663440"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663440"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416551"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727448"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2" name="01"/>
          <p:cNvSpPr txBox="1"/>
          <p:nvPr/>
        </p:nvSpPr>
        <p:spPr>
          <a:xfrm>
            <a:off x="4471416" y="1737360"/>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33" name="binary"/>
          <p:cNvSpPr txBox="1"/>
          <p:nvPr/>
        </p:nvSpPr>
        <p:spPr>
          <a:xfrm>
            <a:off x="3858768"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sp>
        <p:nvSpPr>
          <p:cNvPr id="34" name="Multi-stage compilers"/>
          <p:cNvSpPr txBox="1"/>
          <p:nvPr/>
        </p:nvSpPr>
        <p:spPr>
          <a:xfrm>
            <a:off x="457200" y="230428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Multi-stage compilers</a:t>
            </a:r>
          </a:p>
        </p:txBody>
      </p:sp>
      <p:sp>
        <p:nvSpPr>
          <p:cNvPr id="35" name="Rectangle 34"/>
          <p:cNvSpPr/>
          <p:nvPr/>
        </p:nvSpPr>
        <p:spPr>
          <a:xfrm>
            <a:off x="758952" y="2615184"/>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36" name="Connector 35"/>
          <p:cNvCxnSpPr/>
          <p:nvPr/>
        </p:nvCxnSpPr>
        <p:spPr>
          <a:xfrm>
            <a:off x="932688" y="2615184"/>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32688" y="2711196"/>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32688" y="2615184"/>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9" name="&lt;/&gt;"/>
          <p:cNvSpPr txBox="1"/>
          <p:nvPr/>
        </p:nvSpPr>
        <p:spPr>
          <a:xfrm>
            <a:off x="779068" y="2761488"/>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40" name="source.cpp"/>
          <p:cNvSpPr txBox="1"/>
          <p:nvPr/>
        </p:nvSpPr>
        <p:spPr>
          <a:xfrm>
            <a:off x="164591" y="3026664"/>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41" name="Connector 40"/>
          <p:cNvCxnSpPr/>
          <p:nvPr/>
        </p:nvCxnSpPr>
        <p:spPr>
          <a:xfrm>
            <a:off x="1143000"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2" name="Gear 6 41"/>
          <p:cNvSpPr/>
          <p:nvPr/>
        </p:nvSpPr>
        <p:spPr>
          <a:xfrm>
            <a:off x="2564892" y="2615184"/>
            <a:ext cx="356616" cy="356616"/>
          </a:xfrm>
          <a:prstGeom prst="gear6">
            <a:avLst/>
          </a:prstGeom>
          <a:solidFill>
            <a:srgbClr val="F7F7F7"/>
          </a:solidFill>
          <a:ln w="11430">
            <a:solidFill>
              <a:srgbClr val="616161"/>
            </a:solidFill>
          </a:ln>
          <a:effectLst/>
        </p:spPr>
        <p:txBody>
          <a:bodyPr rtlCol="0" anchor="ctr"/>
          <a:lstStyle/>
          <a:p>
            <a:pPr algn="ctr"/>
          </a:p>
        </p:txBody>
      </p:sp>
      <p:sp>
        <p:nvSpPr>
          <p:cNvPr id="43" name="compiler"/>
          <p:cNvSpPr txBox="1"/>
          <p:nvPr/>
        </p:nvSpPr>
        <p:spPr>
          <a:xfrm>
            <a:off x="2011680"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44" name="Connector 43"/>
          <p:cNvCxnSpPr/>
          <p:nvPr/>
        </p:nvCxnSpPr>
        <p:spPr>
          <a:xfrm>
            <a:off x="2990088"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4453127" y="2651760"/>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46" name="Connector 45"/>
          <p:cNvCxnSpPr/>
          <p:nvPr/>
        </p:nvCxnSpPr>
        <p:spPr>
          <a:xfrm>
            <a:off x="4517136"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517136"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416551"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727448"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590288"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4590288"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416551"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4727448"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663440"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663440"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416551"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727448"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58" name="01"/>
          <p:cNvSpPr txBox="1"/>
          <p:nvPr/>
        </p:nvSpPr>
        <p:spPr>
          <a:xfrm>
            <a:off x="4471416" y="2724912"/>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59" name="binary"/>
          <p:cNvSpPr txBox="1"/>
          <p:nvPr/>
        </p:nvSpPr>
        <p:spPr>
          <a:xfrm>
            <a:off x="3858768"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cxnSp>
        <p:nvCxnSpPr>
          <p:cNvPr id="60" name="Connector 59"/>
          <p:cNvCxnSpPr/>
          <p:nvPr/>
        </p:nvCxnSpPr>
        <p:spPr>
          <a:xfrm>
            <a:off x="4837175" y="2788920"/>
            <a:ext cx="402337"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239512"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384048" y="3310128"/>
            <a:ext cx="485546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84048"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84048" y="2788920"/>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5" name="Run binary → generate source for the next stage"/>
          <p:cNvSpPr txBox="1"/>
          <p:nvPr/>
        </p:nvSpPr>
        <p:spPr>
          <a:xfrm>
            <a:off x="640080" y="3364992"/>
            <a:ext cx="4389120" cy="219456"/>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Run binary → generate source for the next stage</a:t>
            </a:r>
          </a:p>
        </p:txBody>
      </p:sp>
      <p:sp>
        <p:nvSpPr>
          <p:cNvPr id="66" name="…"/>
          <p:cNvSpPr txBox="1"/>
          <p:nvPr/>
        </p:nvSpPr>
        <p:spPr>
          <a:xfrm>
            <a:off x="5605272" y="2660903"/>
            <a:ext cx="475488" cy="365760"/>
          </a:xfrm>
          <a:prstGeom prst="rect">
            <a:avLst/>
          </a:prstGeom>
          <a:noFill/>
        </p:spPr>
        <p:txBody>
          <a:bodyPr wrap="none" anchor="t" lIns="0" rIns="0" tIns="0" bIns="0">
            <a:noAutofit/>
          </a:bodyPr>
          <a:lstStyle/>
          <a:p>
            <a:pPr algn="ctr">
              <a:lnSpc>
                <a:spcPts val="2436"/>
              </a:lnSpc>
              <a:spcBef>
                <a:spcPts val="0"/>
              </a:spcBef>
              <a:spcAft>
                <a:spcPts val="0"/>
              </a:spcAft>
            </a:pPr>
            <a:r>
              <a:rPr sz="2100" b="0">
                <a:solidFill>
                  <a:srgbClr val="616161"/>
                </a:solidFill>
                <a:latin typeface="NVIDIA Sans Light"/>
              </a:rPr>
              <a:t>…</a:t>
            </a:r>
          </a:p>
        </p:txBody>
      </p:sp>
      <p:sp>
        <p:nvSpPr>
          <p:cNvPr id="67" name="Repeat for further stages."/>
          <p:cNvSpPr txBox="1"/>
          <p:nvPr/>
        </p:nvSpPr>
        <p:spPr>
          <a:xfrm>
            <a:off x="6291072" y="2715768"/>
            <a:ext cx="2395728" cy="493776"/>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Repeat for further stages.</a:t>
            </a:r>
          </a:p>
        </p:txBody>
      </p:sp>
      <p:sp>
        <p:nvSpPr>
          <p:cNvPr id="68" name="In our case"/>
          <p:cNvSpPr txBox="1"/>
          <p:nvPr/>
        </p:nvSpPr>
        <p:spPr>
          <a:xfrm>
            <a:off x="457200" y="3602736"/>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 our case</a:t>
            </a:r>
          </a:p>
        </p:txBody>
      </p:sp>
      <p:sp>
        <p:nvSpPr>
          <p:cNvPr id="69" name="Rectangle 68"/>
          <p:cNvSpPr/>
          <p:nvPr/>
        </p:nvSpPr>
        <p:spPr>
          <a:xfrm>
            <a:off x="758952"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70" name="Connector 69"/>
          <p:cNvCxnSpPr/>
          <p:nvPr/>
        </p:nvCxnSpPr>
        <p:spPr>
          <a:xfrm>
            <a:off x="932688"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32688" y="3982212"/>
            <a:ext cx="100583"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32688" y="3886200"/>
            <a:ext cx="100583"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73" name="&lt;/&gt;"/>
          <p:cNvSpPr txBox="1"/>
          <p:nvPr/>
        </p:nvSpPr>
        <p:spPr>
          <a:xfrm>
            <a:off x="779068"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74" name="source.py"/>
          <p:cNvSpPr txBox="1"/>
          <p:nvPr/>
        </p:nvSpPr>
        <p:spPr>
          <a:xfrm>
            <a:off x="164591"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source.py</a:t>
            </a:r>
          </a:p>
        </p:txBody>
      </p:sp>
      <p:cxnSp>
        <p:nvCxnSpPr>
          <p:cNvPr id="75" name="Connector 74"/>
          <p:cNvCxnSpPr/>
          <p:nvPr/>
        </p:nvCxnSpPr>
        <p:spPr>
          <a:xfrm>
            <a:off x="1143000"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6" name="Gear 6 75"/>
          <p:cNvSpPr/>
          <p:nvPr/>
        </p:nvSpPr>
        <p:spPr>
          <a:xfrm>
            <a:off x="2555748"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77" name="Python / interpreter"/>
          <p:cNvSpPr txBox="1"/>
          <p:nvPr/>
        </p:nvSpPr>
        <p:spPr>
          <a:xfrm>
            <a:off x="2002535"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Python</a:t>
            </a:r>
          </a:p>
          <a:p>
            <a:pPr algn="ctr">
              <a:lnSpc>
                <a:spcPts val="1218"/>
              </a:lnSpc>
              <a:spcBef>
                <a:spcPts val="0"/>
              </a:spcBef>
              <a:spcAft>
                <a:spcPts val="0"/>
              </a:spcAft>
            </a:pPr>
            <a:r>
              <a:rPr sz="1050" b="0">
                <a:solidFill>
                  <a:srgbClr val="416600"/>
                </a:solidFill>
                <a:latin typeface="NVIDIA Sans"/>
              </a:rPr>
              <a:t>interpreter</a:t>
            </a:r>
          </a:p>
        </p:txBody>
      </p:sp>
      <p:cxnSp>
        <p:nvCxnSpPr>
          <p:cNvPr id="78" name="Connector 77"/>
          <p:cNvCxnSpPr/>
          <p:nvPr/>
        </p:nvCxnSpPr>
        <p:spPr>
          <a:xfrm>
            <a:off x="2980944"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4434840"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80" name="Connector 79"/>
          <p:cNvCxnSpPr/>
          <p:nvPr/>
        </p:nvCxnSpPr>
        <p:spPr>
          <a:xfrm>
            <a:off x="4608576"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608576" y="3982212"/>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4608576" y="3886200"/>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83" name="&lt;/&gt;"/>
          <p:cNvSpPr txBox="1"/>
          <p:nvPr/>
        </p:nvSpPr>
        <p:spPr>
          <a:xfrm>
            <a:off x="4454956"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84" name="*.mlir"/>
          <p:cNvSpPr txBox="1"/>
          <p:nvPr/>
        </p:nvSpPr>
        <p:spPr>
          <a:xfrm>
            <a:off x="3840480"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a:t>
            </a:r>
          </a:p>
        </p:txBody>
      </p:sp>
      <p:cxnSp>
        <p:nvCxnSpPr>
          <p:cNvPr id="85" name="Connector 84"/>
          <p:cNvCxnSpPr/>
          <p:nvPr/>
        </p:nvCxnSpPr>
        <p:spPr>
          <a:xfrm>
            <a:off x="4818888"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6" name="Gear 6 85"/>
          <p:cNvSpPr/>
          <p:nvPr/>
        </p:nvSpPr>
        <p:spPr>
          <a:xfrm>
            <a:off x="6231636"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87" name="mlir-opt"/>
          <p:cNvSpPr txBox="1"/>
          <p:nvPr/>
        </p:nvSpPr>
        <p:spPr>
          <a:xfrm>
            <a:off x="5678424"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mlir-opt</a:t>
            </a:r>
          </a:p>
        </p:txBody>
      </p:sp>
      <p:cxnSp>
        <p:nvCxnSpPr>
          <p:cNvPr id="88" name="Connector 87"/>
          <p:cNvCxnSpPr/>
          <p:nvPr/>
        </p:nvCxnSpPr>
        <p:spPr>
          <a:xfrm>
            <a:off x="6656831" y="4059936"/>
            <a:ext cx="134416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9" name="Rectangle 88"/>
          <p:cNvSpPr/>
          <p:nvPr/>
        </p:nvSpPr>
        <p:spPr>
          <a:xfrm>
            <a:off x="8110727" y="3922776"/>
            <a:ext cx="274320" cy="274320"/>
          </a:xfrm>
          <a:prstGeom prst="rect">
            <a:avLst/>
          </a:prstGeom>
          <a:solidFill>
            <a:srgbClr val="F0F6E6"/>
          </a:solidFill>
          <a:ln w="8890">
            <a:solidFill>
              <a:srgbClr val="416600"/>
            </a:solidFill>
          </a:ln>
          <a:effectLst/>
        </p:spPr>
        <p:txBody>
          <a:bodyPr rtlCol="0" anchor="ctr"/>
          <a:lstStyle/>
          <a:p>
            <a:pPr algn="ctr"/>
          </a:p>
        </p:txBody>
      </p:sp>
      <p:cxnSp>
        <p:nvCxnSpPr>
          <p:cNvPr id="90" name="Connector 89"/>
          <p:cNvCxnSpPr/>
          <p:nvPr/>
        </p:nvCxnSpPr>
        <p:spPr>
          <a:xfrm>
            <a:off x="8174736"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174736"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074152" y="3986784"/>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385048" y="39867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247888"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247888"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074152" y="4059936"/>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385048" y="4059936"/>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321040"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321040"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074152" y="4133088"/>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385048" y="4133088"/>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102" name="01"/>
          <p:cNvSpPr txBox="1"/>
          <p:nvPr/>
        </p:nvSpPr>
        <p:spPr>
          <a:xfrm>
            <a:off x="8129015" y="3995928"/>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416600"/>
                </a:solidFill>
                <a:latin typeface="JetBrains Mono"/>
              </a:rPr>
              <a:t>01</a:t>
            </a:r>
          </a:p>
        </p:txBody>
      </p:sp>
      <p:sp>
        <p:nvSpPr>
          <p:cNvPr id="103" name="binary"/>
          <p:cNvSpPr txBox="1"/>
          <p:nvPr/>
        </p:nvSpPr>
        <p:spPr>
          <a:xfrm>
            <a:off x="7516367"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binary</a:t>
            </a:r>
          </a:p>
        </p:txBody>
      </p:sp>
      <p:sp>
        <p:nvSpPr>
          <p:cNvPr id="104" name="LLVM codegen / JIT"/>
          <p:cNvSpPr txBox="1"/>
          <p:nvPr/>
        </p:nvSpPr>
        <p:spPr>
          <a:xfrm>
            <a:off x="6542532" y="3721608"/>
            <a:ext cx="1572768" cy="192024"/>
          </a:xfrm>
          <a:prstGeom prst="rect">
            <a:avLst/>
          </a:prstGeom>
          <a:noFill/>
        </p:spPr>
        <p:txBody>
          <a:bodyPr wrap="none" anchor="t" lIns="0" rIns="0" tIns="0" bIns="0">
            <a:noAutofit/>
          </a:bodyPr>
          <a:lstStyle/>
          <a:p>
            <a:pPr algn="ctr">
              <a:lnSpc>
                <a:spcPts val="1044"/>
              </a:lnSpc>
              <a:spcBef>
                <a:spcPts val="0"/>
              </a:spcBef>
              <a:spcAft>
                <a:spcPts val="0"/>
              </a:spcAft>
            </a:pPr>
            <a:r>
              <a:rPr sz="900" b="0">
                <a:solidFill>
                  <a:srgbClr val="416600"/>
                </a:solidFill>
                <a:latin typeface="NVIDIA Sans"/>
              </a:rPr>
              <a:t>LLVM codegen / JIT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y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Why multi-stage programming?</a:t>
            </a:r>
          </a:p>
        </p:txBody>
      </p:sp>
      <p:sp>
        <p:nvSpPr>
          <p:cNvPr id="5" name="Keep Python’s expressiveness. Make MLIR generation explicit."/>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Keep Python’s expressiveness. Make MLIR generation explicit.</a:t>
            </a:r>
          </a:p>
        </p:txBody>
      </p:sp>
      <p:sp>
        <p:nvSpPr>
          <p:cNvPr id="6" name="0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06</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Python builds the program. The DSL namespace makes MLIR capture explicit."/>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Python builds the program. The DSL namespace makes MLIR capture explicit.</a:t>
            </a:r>
          </a:p>
        </p:txBody>
      </p:sp>
      <p:sp>
        <p:nvSpPr>
          <p:cNvPr id="9" name="Rectangle 8"/>
          <p:cNvSpPr/>
          <p:nvPr/>
        </p:nvSpPr>
        <p:spPr>
          <a:xfrm>
            <a:off x="4498848" y="1536192"/>
            <a:ext cx="10972" cy="1353312"/>
          </a:xfrm>
          <a:prstGeom prst="rect">
            <a:avLst/>
          </a:prstGeom>
          <a:solidFill>
            <a:srgbClr val="D5D5D5"/>
          </a:solidFill>
          <a:ln>
            <a:noFill/>
          </a:ln>
          <a:effectLst/>
        </p:spPr>
        <p:txBody>
          <a:bodyPr rtlCol="0" anchor="ctr"/>
          <a:lstStyle/>
          <a:p>
            <a:pPr algn="ctr"/>
          </a:p>
        </p:txBody>
      </p:sp>
      <p:sp>
        <p:nvSpPr>
          <p:cNvPr id="10" name="01"/>
          <p:cNvSpPr txBox="1"/>
          <p:nvPr/>
        </p:nvSpPr>
        <p:spPr>
          <a:xfrm>
            <a:off x="50292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01</a:t>
            </a:r>
          </a:p>
        </p:txBody>
      </p:sp>
      <p:sp>
        <p:nvSpPr>
          <p:cNvPr id="11" name="PYTHON AS THE META-PROGRAM"/>
          <p:cNvSpPr txBox="1"/>
          <p:nvPr/>
        </p:nvSpPr>
        <p:spPr>
          <a:xfrm>
            <a:off x="94183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PYTHON AS THE META-PROGRAM</a:t>
            </a:r>
          </a:p>
        </p:txBody>
      </p:sp>
      <p:sp>
        <p:nvSpPr>
          <p:cNvPr id="12" name="Use all of Python."/>
          <p:cNvSpPr txBox="1"/>
          <p:nvPr/>
        </p:nvSpPr>
        <p:spPr>
          <a:xfrm>
            <a:off x="50292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Use all of Python.</a:t>
            </a:r>
          </a:p>
        </p:txBody>
      </p:sp>
      <p:sp>
        <p:nvSpPr>
          <p:cNvPr id="13" name="Objects, imports, libraries, and metaprogramming / are available to build the program."/>
          <p:cNvSpPr txBox="1"/>
          <p:nvPr/>
        </p:nvSpPr>
        <p:spPr>
          <a:xfrm>
            <a:off x="50292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Objects, imports, libraries, and metaprogramming</a:t>
            </a:r>
          </a:p>
          <a:p>
            <a:pPr algn="l">
              <a:lnSpc>
                <a:spcPts val="1449"/>
              </a:lnSpc>
              <a:spcBef>
                <a:spcPts val="0"/>
              </a:spcBef>
              <a:spcAft>
                <a:spcPts val="0"/>
              </a:spcAft>
            </a:pPr>
            <a:r>
              <a:rPr sz="1250" b="0">
                <a:solidFill>
                  <a:srgbClr val="616161"/>
                </a:solidFill>
                <a:latin typeface="NVIDIA Sans"/>
              </a:rPr>
              <a:t>are available to build the program.</a:t>
            </a:r>
          </a:p>
        </p:txBody>
      </p:sp>
      <p:sp>
        <p:nvSpPr>
          <p:cNvPr id="14" name="02"/>
          <p:cNvSpPr txBox="1"/>
          <p:nvPr/>
        </p:nvSpPr>
        <p:spPr>
          <a:xfrm>
            <a:off x="480060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02</a:t>
            </a:r>
          </a:p>
        </p:txBody>
      </p:sp>
      <p:sp>
        <p:nvSpPr>
          <p:cNvPr id="15" name="MLIR THROUGH A NAMESPACE"/>
          <p:cNvSpPr txBox="1"/>
          <p:nvPr/>
        </p:nvSpPr>
        <p:spPr>
          <a:xfrm>
            <a:off x="523951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MLIR THROUGH A NAMESPACE</a:t>
            </a:r>
          </a:p>
        </p:txBody>
      </p:sp>
      <p:sp>
        <p:nvSpPr>
          <p:cNvPr id="16" name="Make capture explicit."/>
          <p:cNvSpPr txBox="1"/>
          <p:nvPr/>
        </p:nvSpPr>
        <p:spPr>
          <a:xfrm>
            <a:off x="480060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Make capture explicit.</a:t>
            </a:r>
          </a:p>
        </p:txBody>
      </p:sp>
      <p:sp>
        <p:nvSpPr>
          <p:cNvPr id="17" name="Put MLIR types and builders in a DSL namespace. / Choose what to capture through that API."/>
          <p:cNvSpPr txBox="1"/>
          <p:nvPr/>
        </p:nvSpPr>
        <p:spPr>
          <a:xfrm>
            <a:off x="480060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Put MLIR types and builders in a DSL namespace.</a:t>
            </a:r>
          </a:p>
          <a:p>
            <a:pPr algn="l">
              <a:lnSpc>
                <a:spcPts val="1449"/>
              </a:lnSpc>
              <a:spcBef>
                <a:spcPts val="0"/>
              </a:spcBef>
              <a:spcAft>
                <a:spcPts val="0"/>
              </a:spcAft>
            </a:pPr>
            <a:r>
              <a:rPr sz="1250" b="0">
                <a:solidFill>
                  <a:srgbClr val="616161"/>
                </a:solidFill>
                <a:latin typeface="NVIDIA Sans"/>
              </a:rPr>
              <a:t>Choose what to capture through that API.</a:t>
            </a:r>
          </a:p>
        </p:txBody>
      </p:sp>
      <p:sp>
        <p:nvSpPr>
          <p:cNvPr id="18" name="Rectangle 17"/>
          <p:cNvSpPr/>
          <p:nvPr/>
        </p:nvSpPr>
        <p:spPr>
          <a:xfrm>
            <a:off x="502920" y="3182112"/>
            <a:ext cx="8138160" cy="10972"/>
          </a:xfrm>
          <a:prstGeom prst="rect">
            <a:avLst/>
          </a:prstGeom>
          <a:solidFill>
            <a:srgbClr val="D5D5D5"/>
          </a:solidFill>
          <a:ln>
            <a:noFill/>
          </a:ln>
          <a:effectLst/>
        </p:spPr>
        <p:txBody>
          <a:bodyPr rtlCol="0" anchor="ctr"/>
          <a:lstStyle/>
          <a:p>
            <a:pPr algn="ctr"/>
          </a:p>
        </p:txBody>
      </p:sp>
      <p:sp>
        <p:nvSpPr>
          <p:cNvPr id="19" name="Inside @m.jit, with import mlir.dsl as m"/>
          <p:cNvSpPr txBox="1"/>
          <p:nvPr/>
        </p:nvSpPr>
        <p:spPr>
          <a:xfrm>
            <a:off x="502920" y="3300984"/>
            <a:ext cx="8138160" cy="237744"/>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Inside @m.jit, with import mlir.dsl as m</a:t>
            </a:r>
          </a:p>
        </p:txBody>
      </p:sp>
      <p:sp>
        <p:nvSpPr>
          <p:cNvPr id="20" name="range(4)"/>
          <p:cNvSpPr txBox="1"/>
          <p:nvPr/>
        </p:nvSpPr>
        <p:spPr>
          <a:xfrm>
            <a:off x="50292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616161"/>
                </a:solidFill>
                <a:latin typeface="JetBrains Mono"/>
              </a:rPr>
              <a:t>range(4)</a:t>
            </a:r>
          </a:p>
        </p:txBody>
      </p:sp>
      <p:cxnSp>
        <p:nvCxnSpPr>
          <p:cNvPr id="21" name="Connector 20"/>
          <p:cNvCxnSpPr/>
          <p:nvPr/>
        </p:nvCxnSpPr>
        <p:spPr>
          <a:xfrm>
            <a:off x="2121408" y="3822191"/>
            <a:ext cx="39319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22" name="Python loop"/>
          <p:cNvSpPr txBox="1"/>
          <p:nvPr/>
        </p:nvSpPr>
        <p:spPr>
          <a:xfrm>
            <a:off x="2706624" y="3666744"/>
            <a:ext cx="1691640" cy="301752"/>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616161"/>
                </a:solidFill>
                <a:latin typeface="NVIDIA Sans"/>
              </a:rPr>
              <a:t>Python loop</a:t>
            </a:r>
          </a:p>
        </p:txBody>
      </p:sp>
      <p:sp>
        <p:nvSpPr>
          <p:cNvPr id="23" name="Runs during generation"/>
          <p:cNvSpPr txBox="1"/>
          <p:nvPr/>
        </p:nvSpPr>
        <p:spPr>
          <a:xfrm>
            <a:off x="270662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during generation</a:t>
            </a:r>
          </a:p>
        </p:txBody>
      </p:sp>
      <p:sp>
        <p:nvSpPr>
          <p:cNvPr id="24" name="m.range(4)"/>
          <p:cNvSpPr txBox="1"/>
          <p:nvPr/>
        </p:nvSpPr>
        <p:spPr>
          <a:xfrm>
            <a:off x="480060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m.range(4)</a:t>
            </a:r>
          </a:p>
        </p:txBody>
      </p:sp>
      <p:cxnSp>
        <p:nvCxnSpPr>
          <p:cNvPr id="25" name="Connector 24"/>
          <p:cNvCxnSpPr/>
          <p:nvPr/>
        </p:nvCxnSpPr>
        <p:spPr>
          <a:xfrm>
            <a:off x="6419088" y="3822191"/>
            <a:ext cx="3931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6" name="scf.for"/>
          <p:cNvSpPr txBox="1"/>
          <p:nvPr/>
        </p:nvSpPr>
        <p:spPr>
          <a:xfrm>
            <a:off x="7004304" y="3666744"/>
            <a:ext cx="1691640" cy="301752"/>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scf.for</a:t>
            </a:r>
          </a:p>
        </p:txBody>
      </p:sp>
      <p:sp>
        <p:nvSpPr>
          <p:cNvPr id="27" name="Captured in MLIR"/>
          <p:cNvSpPr txBox="1"/>
          <p:nvPr/>
        </p:nvSpPr>
        <p:spPr>
          <a:xfrm>
            <a:off x="700430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Captured in MLIR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How to build a Python DSL for ML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How to build a Python DSL for MLIR</a:t>
            </a:r>
          </a:p>
        </p:txBody>
      </p:sp>
      <p:sp>
        <p:nvSpPr>
          <p:cNvPr id="5" name="Run Python. Let DSL values and builders generate the target program."/>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Run Python. Let DSL values and builders generate the target program.</a:t>
            </a:r>
          </a:p>
        </p:txBody>
      </p:sp>
      <p:sp>
        <p:nvSpPr>
          <p:cNvPr id="6" name="0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07</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The interpreter runs the generator; your dialect defines the generated program."/>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interpreter runs the generator; your dialect defines the generated program.</a:t>
            </a:r>
          </a:p>
        </p:txBody>
      </p:sp>
      <p:sp>
        <p:nvSpPr>
          <p:cNvPr id="9" name="Python"/>
          <p:cNvSpPr txBox="1"/>
          <p:nvPr/>
        </p:nvSpPr>
        <p:spPr>
          <a:xfrm>
            <a:off x="493776" y="1399032"/>
            <a:ext cx="3035808" cy="246888"/>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Python</a:t>
            </a:r>
          </a:p>
        </p:txBody>
      </p:sp>
      <p:sp>
        <p:nvSpPr>
          <p:cNvPr id="10" name="Trace: execute Python"/>
          <p:cNvSpPr txBox="1"/>
          <p:nvPr/>
        </p:nvSpPr>
        <p:spPr>
          <a:xfrm>
            <a:off x="3621024" y="1399032"/>
            <a:ext cx="1901952" cy="246888"/>
          </a:xfrm>
          <a:prstGeom prst="rect">
            <a:avLst/>
          </a:prstGeom>
          <a:noFill/>
        </p:spPr>
        <p:txBody>
          <a:bodyPr wrap="none" anchor="t" lIns="0" rIns="0" tIns="0" bIns="0">
            <a:noAutofit/>
          </a:bodyPr>
          <a:lstStyle/>
          <a:p>
            <a:pPr algn="ctr">
              <a:lnSpc>
                <a:spcPts val="1276"/>
              </a:lnSpc>
              <a:spcBef>
                <a:spcPts val="0"/>
              </a:spcBef>
              <a:spcAft>
                <a:spcPts val="0"/>
              </a:spcAft>
            </a:pPr>
            <a:r>
              <a:rPr sz="1100" b="1">
                <a:solidFill>
                  <a:srgbClr val="416600"/>
                </a:solidFill>
                <a:latin typeface="NVIDIA Sans"/>
              </a:rPr>
              <a:t>Trace: execute Python</a:t>
            </a:r>
          </a:p>
        </p:txBody>
      </p:sp>
      <p:sp>
        <p:nvSpPr>
          <p:cNvPr id="11" name="MLIR"/>
          <p:cNvSpPr txBox="1"/>
          <p:nvPr/>
        </p:nvSpPr>
        <p:spPr>
          <a:xfrm>
            <a:off x="5650992" y="1399032"/>
            <a:ext cx="2999232" cy="246888"/>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MLIR</a:t>
            </a:r>
          </a:p>
        </p:txBody>
      </p:sp>
      <p:sp>
        <p:nvSpPr>
          <p:cNvPr id="12" name="Rectangle 11"/>
          <p:cNvSpPr/>
          <p:nvPr/>
        </p:nvSpPr>
        <p:spPr>
          <a:xfrm>
            <a:off x="457200" y="1819656"/>
            <a:ext cx="3044952" cy="1856231"/>
          </a:xfrm>
          <a:prstGeom prst="rect">
            <a:avLst/>
          </a:prstGeom>
          <a:solidFill>
            <a:srgbClr val="F7F7F7"/>
          </a:solidFill>
          <a:ln>
            <a:noFill/>
          </a:ln>
          <a:effectLst/>
        </p:spPr>
        <p:txBody>
          <a:bodyPr rtlCol="0" anchor="ctr"/>
          <a:lstStyle/>
          <a:p>
            <a:pPr algn="ctr"/>
          </a:p>
        </p:txBody>
      </p:sp>
      <p:sp>
        <p:nvSpPr>
          <p:cNvPr id="13" name="Python + a DSL namespace"/>
          <p:cNvSpPr txBox="1"/>
          <p:nvPr/>
        </p:nvSpPr>
        <p:spPr>
          <a:xfrm>
            <a:off x="612648" y="1929384"/>
            <a:ext cx="2734056"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Python + a DSL namespace</a:t>
            </a:r>
          </a:p>
        </p:txBody>
      </p:sp>
      <p:sp>
        <p:nvSpPr>
          <p:cNvPr id="14" name="import mlir.dsl as m"/>
          <p:cNvSpPr txBox="1"/>
          <p:nvPr/>
        </p:nvSpPr>
        <p:spPr>
          <a:xfrm>
            <a:off x="612648" y="230428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import mlir.dsl as m</a:t>
            </a:r>
          </a:p>
        </p:txBody>
      </p:sp>
      <p:sp>
        <p:nvSpPr>
          <p:cNvPr id="15" name=""/>
          <p:cNvSpPr txBox="1"/>
          <p:nvPr/>
        </p:nvSpPr>
        <p:spPr>
          <a:xfrm>
            <a:off x="612648" y="2476601"/>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a:r>
          </a:p>
        </p:txBody>
      </p:sp>
      <p:sp>
        <p:nvSpPr>
          <p:cNvPr id="16" name="@m.jit"/>
          <p:cNvSpPr txBox="1"/>
          <p:nvPr/>
        </p:nvSpPr>
        <p:spPr>
          <a:xfrm>
            <a:off x="612648" y="2648915"/>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1">
                <a:solidFill>
                  <a:srgbClr val="416600"/>
                </a:solidFill>
                <a:latin typeface="JetBrains Mono"/>
              </a:rPr>
              <a:t>@m.jit</a:t>
            </a:r>
          </a:p>
        </p:txBody>
      </p:sp>
      <p:sp>
        <p:nvSpPr>
          <p:cNvPr id="17" name="def scale(x: m.Int32, factor):"/>
          <p:cNvSpPr txBox="1"/>
          <p:nvPr/>
        </p:nvSpPr>
        <p:spPr>
          <a:xfrm>
            <a:off x="612648" y="282122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def scale(x: m.Int32, factor):</a:t>
            </a:r>
          </a:p>
        </p:txBody>
      </p:sp>
      <p:sp>
        <p:nvSpPr>
          <p:cNvPr id="18" name="    return x * factor"/>
          <p:cNvSpPr txBox="1"/>
          <p:nvPr/>
        </p:nvSpPr>
        <p:spPr>
          <a:xfrm>
            <a:off x="612648" y="2993542"/>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return x * factor</a:t>
            </a:r>
          </a:p>
        </p:txBody>
      </p:sp>
      <p:sp>
        <p:nvSpPr>
          <p:cNvPr id="19" name=""/>
          <p:cNvSpPr txBox="1"/>
          <p:nvPr/>
        </p:nvSpPr>
        <p:spPr>
          <a:xfrm>
            <a:off x="612648" y="3165856"/>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a:r>
          </a:p>
        </p:txBody>
      </p:sp>
      <p:sp>
        <p:nvSpPr>
          <p:cNvPr id="20" name="scale(4, 3)"/>
          <p:cNvSpPr txBox="1"/>
          <p:nvPr/>
        </p:nvSpPr>
        <p:spPr>
          <a:xfrm>
            <a:off x="612648" y="3338169"/>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scale(4, 3)</a:t>
            </a:r>
          </a:p>
        </p:txBody>
      </p:sp>
      <p:sp>
        <p:nvSpPr>
          <p:cNvPr id="21" name="Rectangle 20"/>
          <p:cNvSpPr/>
          <p:nvPr/>
        </p:nvSpPr>
        <p:spPr>
          <a:xfrm>
            <a:off x="5641848" y="1819656"/>
            <a:ext cx="3044952" cy="1856231"/>
          </a:xfrm>
          <a:prstGeom prst="rect">
            <a:avLst/>
          </a:prstGeom>
          <a:solidFill>
            <a:srgbClr val="F0F6E6"/>
          </a:solidFill>
          <a:ln>
            <a:noFill/>
          </a:ln>
          <a:effectLst/>
        </p:spPr>
        <p:txBody>
          <a:bodyPr rtlCol="0" anchor="ctr"/>
          <a:lstStyle/>
          <a:p>
            <a:pPr algn="ctr"/>
          </a:p>
        </p:txBody>
      </p:sp>
      <p:sp>
        <p:nvSpPr>
          <p:cNvPr id="22" name="Generated MLIR · body excerpt"/>
          <p:cNvSpPr txBox="1"/>
          <p:nvPr/>
        </p:nvSpPr>
        <p:spPr>
          <a:xfrm>
            <a:off x="5797296" y="1929384"/>
            <a:ext cx="2734056"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Generated MLIR · body excerpt</a:t>
            </a:r>
          </a:p>
        </p:txBody>
      </p:sp>
      <p:sp>
        <p:nvSpPr>
          <p:cNvPr id="23" name="// x is a runtime i32"/>
          <p:cNvSpPr txBox="1"/>
          <p:nvPr/>
        </p:nvSpPr>
        <p:spPr>
          <a:xfrm>
            <a:off x="5797296" y="230428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x is a runtime i32</a:t>
            </a:r>
          </a:p>
        </p:txBody>
      </p:sp>
      <p:sp>
        <p:nvSpPr>
          <p:cNvPr id="24" name="%c3 = arith.constant 3 : i32"/>
          <p:cNvSpPr txBox="1"/>
          <p:nvPr/>
        </p:nvSpPr>
        <p:spPr>
          <a:xfrm>
            <a:off x="5797296" y="2476601"/>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%c3 = arith.constant 3 : i32</a:t>
            </a:r>
          </a:p>
        </p:txBody>
      </p:sp>
      <p:sp>
        <p:nvSpPr>
          <p:cNvPr id="25" name="%r = arith.muli %x, %c3 : i32"/>
          <p:cNvSpPr txBox="1"/>
          <p:nvPr/>
        </p:nvSpPr>
        <p:spPr>
          <a:xfrm>
            <a:off x="5797296" y="2648915"/>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%r = arith.muli %x, %c3 : i32</a:t>
            </a:r>
          </a:p>
        </p:txBody>
      </p:sp>
      <p:sp>
        <p:nvSpPr>
          <p:cNvPr id="26" name="llvm.return %r : i32"/>
          <p:cNvSpPr txBox="1"/>
          <p:nvPr/>
        </p:nvSpPr>
        <p:spPr>
          <a:xfrm>
            <a:off x="5797296" y="282122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llvm.return %r : i32</a:t>
            </a:r>
          </a:p>
        </p:txBody>
      </p:sp>
      <p:cxnSp>
        <p:nvCxnSpPr>
          <p:cNvPr id="27" name="Connector 26"/>
          <p:cNvCxnSpPr/>
          <p:nvPr/>
        </p:nvCxnSpPr>
        <p:spPr>
          <a:xfrm>
            <a:off x="3511296" y="2651760"/>
            <a:ext cx="13716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648456" y="2286000"/>
            <a:ext cx="0" cy="9509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648456" y="2286000"/>
            <a:ext cx="137159"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648456" y="3236976"/>
            <a:ext cx="13715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376672" y="3236976"/>
            <a:ext cx="24688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3803904" y="1938528"/>
            <a:ext cx="1545336" cy="694944"/>
          </a:xfrm>
          <a:prstGeom prst="rect">
            <a:avLst/>
          </a:prstGeom>
          <a:solidFill>
            <a:srgbClr val="F7F7F7"/>
          </a:solidFill>
          <a:ln>
            <a:noFill/>
          </a:ln>
          <a:effectLst/>
        </p:spPr>
        <p:txBody>
          <a:bodyPr rtlCol="0" anchor="ctr"/>
          <a:lstStyle/>
          <a:p>
            <a:pPr algn="ctr"/>
          </a:p>
        </p:txBody>
      </p:sp>
      <p:sp>
        <p:nvSpPr>
          <p:cNvPr id="33" name="Meta"/>
          <p:cNvSpPr txBox="1"/>
          <p:nvPr/>
        </p:nvSpPr>
        <p:spPr>
          <a:xfrm>
            <a:off x="3886200" y="2029968"/>
            <a:ext cx="1380744" cy="219456"/>
          </a:xfrm>
          <a:prstGeom prst="rect">
            <a:avLst/>
          </a:prstGeom>
          <a:noFill/>
        </p:spPr>
        <p:txBody>
          <a:bodyPr wrap="none" anchor="t" lIns="0" rIns="0" tIns="0" bIns="0">
            <a:noAutofit/>
          </a:bodyPr>
          <a:lstStyle/>
          <a:p>
            <a:pPr algn="ctr">
              <a:lnSpc>
                <a:spcPts val="1391"/>
              </a:lnSpc>
              <a:spcBef>
                <a:spcPts val="0"/>
              </a:spcBef>
              <a:spcAft>
                <a:spcPts val="0"/>
              </a:spcAft>
            </a:pPr>
            <a:r>
              <a:rPr sz="1200" b="1">
                <a:solidFill>
                  <a:srgbClr val="616161"/>
                </a:solidFill>
                <a:latin typeface="NVIDIA Sans"/>
              </a:rPr>
              <a:t>Meta</a:t>
            </a:r>
          </a:p>
        </p:txBody>
      </p:sp>
      <p:sp>
        <p:nvSpPr>
          <p:cNvPr id="34" name="factor = 3 / Compute in Python"/>
          <p:cNvSpPr txBox="1"/>
          <p:nvPr/>
        </p:nvSpPr>
        <p:spPr>
          <a:xfrm>
            <a:off x="3886200" y="2295144"/>
            <a:ext cx="1380744" cy="320040"/>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factor = 3</a:t>
            </a:r>
          </a:p>
          <a:p>
            <a:pPr algn="ctr">
              <a:lnSpc>
                <a:spcPts val="1183"/>
              </a:lnSpc>
              <a:spcBef>
                <a:spcPts val="0"/>
              </a:spcBef>
              <a:spcAft>
                <a:spcPts val="0"/>
              </a:spcAft>
            </a:pPr>
            <a:r>
              <a:rPr sz="1019" b="0">
                <a:solidFill>
                  <a:srgbClr val="616161"/>
                </a:solidFill>
                <a:latin typeface="NVIDIA Sans"/>
              </a:rPr>
              <a:t>Compute in Python</a:t>
            </a:r>
          </a:p>
        </p:txBody>
      </p:sp>
      <p:sp>
        <p:nvSpPr>
          <p:cNvPr id="35" name="Rectangle 34"/>
          <p:cNvSpPr/>
          <p:nvPr/>
        </p:nvSpPr>
        <p:spPr>
          <a:xfrm>
            <a:off x="3803904" y="2889504"/>
            <a:ext cx="1545336" cy="694944"/>
          </a:xfrm>
          <a:prstGeom prst="rect">
            <a:avLst/>
          </a:prstGeom>
          <a:solidFill>
            <a:srgbClr val="F0F6E6"/>
          </a:solidFill>
          <a:ln>
            <a:noFill/>
          </a:ln>
          <a:effectLst/>
        </p:spPr>
        <p:txBody>
          <a:bodyPr rtlCol="0" anchor="ctr"/>
          <a:lstStyle/>
          <a:p>
            <a:pPr algn="ctr"/>
          </a:p>
        </p:txBody>
      </p:sp>
      <p:sp>
        <p:nvSpPr>
          <p:cNvPr id="36" name="Staged"/>
          <p:cNvSpPr txBox="1"/>
          <p:nvPr/>
        </p:nvSpPr>
        <p:spPr>
          <a:xfrm>
            <a:off x="3886200" y="2980944"/>
            <a:ext cx="1380744" cy="219456"/>
          </a:xfrm>
          <a:prstGeom prst="rect">
            <a:avLst/>
          </a:prstGeom>
          <a:noFill/>
        </p:spPr>
        <p:txBody>
          <a:bodyPr wrap="none" anchor="t" lIns="0" rIns="0" tIns="0" bIns="0">
            <a:noAutofit/>
          </a:bodyPr>
          <a:lstStyle/>
          <a:p>
            <a:pPr algn="ctr">
              <a:lnSpc>
                <a:spcPts val="1391"/>
              </a:lnSpc>
              <a:spcBef>
                <a:spcPts val="0"/>
              </a:spcBef>
              <a:spcAft>
                <a:spcPts val="0"/>
              </a:spcAft>
            </a:pPr>
            <a:r>
              <a:rPr sz="1200" b="1">
                <a:solidFill>
                  <a:srgbClr val="416600"/>
                </a:solidFill>
                <a:latin typeface="NVIDIA Sans"/>
              </a:rPr>
              <a:t>Staged</a:t>
            </a:r>
          </a:p>
        </p:txBody>
      </p:sp>
      <p:sp>
        <p:nvSpPr>
          <p:cNvPr id="37" name="x = SSA value / Emit MLIR operations"/>
          <p:cNvSpPr txBox="1"/>
          <p:nvPr/>
        </p:nvSpPr>
        <p:spPr>
          <a:xfrm>
            <a:off x="3886200" y="3246120"/>
            <a:ext cx="1380744" cy="320040"/>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x = SSA value</a:t>
            </a:r>
          </a:p>
          <a:p>
            <a:pPr algn="ctr">
              <a:lnSpc>
                <a:spcPts val="1183"/>
              </a:lnSpc>
              <a:spcBef>
                <a:spcPts val="0"/>
              </a:spcBef>
              <a:spcAft>
                <a:spcPts val="0"/>
              </a:spcAft>
            </a:pPr>
            <a:r>
              <a:rPr sz="1019" b="0">
                <a:solidFill>
                  <a:srgbClr val="616161"/>
                </a:solidFill>
                <a:latin typeface="NVIDIA Sans"/>
              </a:rPr>
              <a:t>Emit MLIR operations</a:t>
            </a:r>
          </a:p>
        </p:txBody>
      </p:sp>
      <p:sp>
        <p:nvSpPr>
          <p:cNvPr id="38" name="Objects · imports · metaprogramming"/>
          <p:cNvSpPr txBox="1"/>
          <p:nvPr/>
        </p:nvSpPr>
        <p:spPr>
          <a:xfrm>
            <a:off x="493776" y="3794760"/>
            <a:ext cx="3657600" cy="246888"/>
          </a:xfrm>
          <a:prstGeom prst="rect">
            <a:avLst/>
          </a:prstGeom>
          <a:noFill/>
        </p:spPr>
        <p:txBody>
          <a:bodyPr wrap="none" anchor="t" lIns="0" rIns="0" tIns="0" bIns="0">
            <a:noAutofit/>
          </a:bodyPr>
          <a:lstStyle/>
          <a:p>
            <a:pPr algn="l">
              <a:lnSpc>
                <a:spcPts val="1171"/>
              </a:lnSpc>
              <a:spcBef>
                <a:spcPts val="0"/>
              </a:spcBef>
              <a:spcAft>
                <a:spcPts val="0"/>
              </a:spcAft>
            </a:pPr>
            <a:r>
              <a:rPr sz="1010" b="0">
                <a:solidFill>
                  <a:srgbClr val="616161"/>
                </a:solidFill>
                <a:latin typeface="NVIDIA Sans"/>
              </a:rPr>
              <a:t>Objects · imports · metaprogramming</a:t>
            </a:r>
          </a:p>
        </p:txBody>
      </p:sp>
      <p:cxnSp>
        <p:nvCxnSpPr>
          <p:cNvPr id="39" name="Connector 38"/>
          <p:cNvCxnSpPr/>
          <p:nvPr/>
        </p:nvCxnSpPr>
        <p:spPr>
          <a:xfrm>
            <a:off x="7164324" y="3685032"/>
            <a:ext cx="0" cy="8229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6149340" y="3767328"/>
            <a:ext cx="10149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149340"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2" name="Compile"/>
          <p:cNvSpPr txBox="1"/>
          <p:nvPr/>
        </p:nvSpPr>
        <p:spPr>
          <a:xfrm>
            <a:off x="5669280"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Compile</a:t>
            </a:r>
          </a:p>
        </p:txBody>
      </p:sp>
      <p:cxnSp>
        <p:nvCxnSpPr>
          <p:cNvPr id="43" name="Connector 42"/>
          <p:cNvCxnSpPr/>
          <p:nvPr/>
        </p:nvCxnSpPr>
        <p:spPr>
          <a:xfrm>
            <a:off x="7164324" y="3767328"/>
            <a:ext cx="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164324"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5" name="Test"/>
          <p:cNvSpPr txBox="1"/>
          <p:nvPr/>
        </p:nvSpPr>
        <p:spPr>
          <a:xfrm>
            <a:off x="6684264"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Test</a:t>
            </a:r>
          </a:p>
        </p:txBody>
      </p:sp>
      <p:cxnSp>
        <p:nvCxnSpPr>
          <p:cNvPr id="46" name="Connector 45"/>
          <p:cNvCxnSpPr/>
          <p:nvPr/>
        </p:nvCxnSpPr>
        <p:spPr>
          <a:xfrm>
            <a:off x="7164324" y="3767328"/>
            <a:ext cx="10149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179308"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8" name="Consume IR"/>
          <p:cNvSpPr txBox="1"/>
          <p:nvPr/>
        </p:nvSpPr>
        <p:spPr>
          <a:xfrm>
            <a:off x="7699248"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Consume IR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Language semantics: two kinds of valu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Language semantics: two kinds of values</a:t>
            </a:r>
          </a:p>
        </p:txBody>
      </p:sp>
      <p:sp>
        <p:nvSpPr>
          <p:cNvPr id="5" name="Python is the metaprogram. DSL operations become MLIR."/>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Python is the metaprogram. DSL operations become MLIR.</a:t>
            </a:r>
          </a:p>
        </p:txBody>
      </p:sp>
      <p:sp>
        <p:nvSpPr>
          <p:cNvPr id="6" name="0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08</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Binding time decides what runs now and what runs in the generated program."/>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Binding time decides what runs now and what runs in the generated program.</a:t>
            </a:r>
          </a:p>
        </p:txBody>
      </p:sp>
      <p:sp>
        <p:nvSpPr>
          <p:cNvPr id="9" name="Python / Meta"/>
          <p:cNvSpPr txBox="1"/>
          <p:nvPr/>
        </p:nvSpPr>
        <p:spPr>
          <a:xfrm>
            <a:off x="475488" y="1691640"/>
            <a:ext cx="3803904" cy="548640"/>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Python / Meta</a:t>
            </a:r>
          </a:p>
        </p:txBody>
      </p:sp>
      <p:sp>
        <p:nvSpPr>
          <p:cNvPr id="10" name="EXECUTES WHILE GENERATING"/>
          <p:cNvSpPr txBox="1"/>
          <p:nvPr/>
        </p:nvSpPr>
        <p:spPr>
          <a:xfrm>
            <a:off x="475488" y="2331720"/>
            <a:ext cx="3803904" cy="36576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EXECUTES WHILE GENERATING</a:t>
            </a:r>
          </a:p>
        </p:txBody>
      </p:sp>
      <p:sp>
        <p:nvSpPr>
          <p:cNvPr id="11" name="Objects, dictionaries, functions, and configuration use Python semantics."/>
          <p:cNvSpPr txBox="1"/>
          <p:nvPr/>
        </p:nvSpPr>
        <p:spPr>
          <a:xfrm>
            <a:off x="475488" y="2843784"/>
            <a:ext cx="3803904" cy="107899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Objects, dictionaries, functions, and</a:t>
            </a:r>
          </a:p>
          <a:p>
            <a:pPr algn="l">
              <a:lnSpc>
                <a:spcPts val="1507"/>
              </a:lnSpc>
              <a:spcBef>
                <a:spcPts val="0"/>
              </a:spcBef>
              <a:spcAft>
                <a:spcPts val="0"/>
              </a:spcAft>
            </a:pPr>
            <a:r>
              <a:rPr sz="1300" b="0">
                <a:solidFill>
                  <a:srgbClr val="616161"/>
                </a:solidFill>
                <a:latin typeface="NVIDIA Sans"/>
              </a:rPr>
              <a:t>configuration use Python semantics.</a:t>
            </a:r>
          </a:p>
        </p:txBody>
      </p:sp>
      <p:sp>
        <p:nvSpPr>
          <p:cNvPr id="12" name="DSL / Staged"/>
          <p:cNvSpPr txBox="1"/>
          <p:nvPr/>
        </p:nvSpPr>
        <p:spPr>
          <a:xfrm>
            <a:off x="4864608" y="1691640"/>
            <a:ext cx="3803904" cy="548640"/>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DSL / Staged</a:t>
            </a:r>
          </a:p>
        </p:txBody>
      </p:sp>
      <p:sp>
        <p:nvSpPr>
          <p:cNvPr id="13" name="CAPTURED IN MLIR"/>
          <p:cNvSpPr txBox="1"/>
          <p:nvPr/>
        </p:nvSpPr>
        <p:spPr>
          <a:xfrm>
            <a:off x="4864608" y="2331720"/>
            <a:ext cx="3803904" cy="36576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CAPTURED IN MLIR</a:t>
            </a:r>
          </a:p>
        </p:txBody>
      </p:sp>
      <p:sp>
        <p:nvSpPr>
          <p:cNvPr id="14" name="Typed proxy values and builders describe work for the generated program."/>
          <p:cNvSpPr txBox="1"/>
          <p:nvPr/>
        </p:nvSpPr>
        <p:spPr>
          <a:xfrm>
            <a:off x="4864608" y="2843784"/>
            <a:ext cx="3803904" cy="107899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Typed proxy values and builders describe work</a:t>
            </a:r>
          </a:p>
          <a:p>
            <a:pPr algn="l">
              <a:lnSpc>
                <a:spcPts val="1507"/>
              </a:lnSpc>
              <a:spcBef>
                <a:spcPts val="0"/>
              </a:spcBef>
              <a:spcAft>
                <a:spcPts val="0"/>
              </a:spcAft>
            </a:pPr>
            <a:r>
              <a:rPr sz="1300" b="0">
                <a:solidFill>
                  <a:srgbClr val="616161"/>
                </a:solidFill>
                <a:latin typeface="NVIDIA Sans"/>
              </a:rPr>
              <a:t>for the generated program.</a:t>
            </a:r>
          </a:p>
        </p:txBody>
      </p:sp>
      <p:cxnSp>
        <p:nvCxnSpPr>
          <p:cNvPr id="15" name="Connector 14"/>
          <p:cNvCxnSpPr/>
          <p:nvPr/>
        </p:nvCxnSpPr>
        <p:spPr>
          <a:xfrm>
            <a:off x="4306824" y="2450592"/>
            <a:ext cx="36576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6" name="compile"/>
          <p:cNvSpPr txBox="1"/>
          <p:nvPr/>
        </p:nvSpPr>
        <p:spPr>
          <a:xfrm>
            <a:off x="4215384" y="2660904"/>
            <a:ext cx="594360" cy="201168"/>
          </a:xfrm>
          <a:prstGeom prst="rect">
            <a:avLst/>
          </a:prstGeom>
          <a:noFill/>
        </p:spPr>
        <p:txBody>
          <a:bodyPr wrap="none" anchor="t" lIns="0" rIns="0" tIns="0" bIns="0">
            <a:noAutofit/>
          </a:bodyPr>
          <a:lstStyle/>
          <a:p>
            <a:pPr algn="ctr">
              <a:lnSpc>
                <a:spcPts val="1067"/>
              </a:lnSpc>
              <a:spcBef>
                <a:spcPts val="0"/>
              </a:spcBef>
              <a:spcAft>
                <a:spcPts val="0"/>
              </a:spcAft>
            </a:pPr>
            <a:r>
              <a:rPr sz="919" b="0">
                <a:solidFill>
                  <a:srgbClr val="616161"/>
                </a:solidFill>
                <a:latin typeface="NVIDIA Sans"/>
              </a:rPr>
              <a:t>compile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genda"/>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Agenda</a:t>
            </a:r>
          </a:p>
        </p:txBody>
      </p:sp>
      <p:sp>
        <p:nvSpPr>
          <p:cNvPr id="5" name="From a reusable core to your own dialect."/>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From a reusable core to your own dialect.</a:t>
            </a:r>
          </a:p>
        </p:txBody>
      </p:sp>
      <p:sp>
        <p:nvSpPr>
          <p:cNvPr id="6" name="0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09</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01"/>
          <p:cNvSpPr txBox="1"/>
          <p:nvPr/>
        </p:nvSpPr>
        <p:spPr>
          <a:xfrm>
            <a:off x="502920" y="1577339"/>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01</a:t>
            </a:r>
          </a:p>
        </p:txBody>
      </p:sp>
      <p:sp>
        <p:nvSpPr>
          <p:cNvPr id="9" name="BaseDSL, plugins, and decorators"/>
          <p:cNvSpPr txBox="1"/>
          <p:nvPr/>
        </p:nvSpPr>
        <p:spPr>
          <a:xfrm>
            <a:off x="1060704" y="1554480"/>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BaseDSL, plugins, and decorators</a:t>
            </a:r>
          </a:p>
        </p:txBody>
      </p:sp>
      <p:sp>
        <p:nvSpPr>
          <p:cNvPr id="10" name="02"/>
          <p:cNvSpPr txBox="1"/>
          <p:nvPr/>
        </p:nvSpPr>
        <p:spPr>
          <a:xfrm>
            <a:off x="502920" y="2199132"/>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02</a:t>
            </a:r>
          </a:p>
        </p:txBody>
      </p:sp>
      <p:sp>
        <p:nvSpPr>
          <p:cNvPr id="11" name="Types, metaprogramming, and runtime services"/>
          <p:cNvSpPr txBox="1"/>
          <p:nvPr/>
        </p:nvSpPr>
        <p:spPr>
          <a:xfrm>
            <a:off x="1060704" y="2176272"/>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Types, metaprogramming, and runtime services</a:t>
            </a:r>
          </a:p>
        </p:txBody>
      </p:sp>
      <p:sp>
        <p:nvSpPr>
          <p:cNvPr id="12" name="03"/>
          <p:cNvSpPr txBox="1"/>
          <p:nvPr/>
        </p:nvSpPr>
        <p:spPr>
          <a:xfrm>
            <a:off x="502920" y="2820924"/>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03</a:t>
            </a:r>
          </a:p>
        </p:txBody>
      </p:sp>
      <p:sp>
        <p:nvSpPr>
          <p:cNvPr id="13" name="Control-flow capture and worked examples"/>
          <p:cNvSpPr txBox="1"/>
          <p:nvPr/>
        </p:nvSpPr>
        <p:spPr>
          <a:xfrm>
            <a:off x="1060704" y="2798064"/>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Control-flow capture and worked examples</a:t>
            </a:r>
          </a:p>
        </p:txBody>
      </p:sp>
      <p:sp>
        <p:nvSpPr>
          <p:cNvPr id="14" name="04"/>
          <p:cNvSpPr txBox="1"/>
          <p:nvPr/>
        </p:nvSpPr>
        <p:spPr>
          <a:xfrm>
            <a:off x="502920" y="3442716"/>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04</a:t>
            </a:r>
          </a:p>
        </p:txBody>
      </p:sp>
      <p:sp>
        <p:nvSpPr>
          <p:cNvPr id="15" name="Amir: advanced mutation tracking"/>
          <p:cNvSpPr txBox="1"/>
          <p:nvPr/>
        </p:nvSpPr>
        <p:spPr>
          <a:xfrm>
            <a:off x="1060704" y="3419856"/>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Amir: advanced mutation tracking</a:t>
            </a:r>
          </a:p>
        </p:txBody>
      </p:sp>
      <p:sp>
        <p:nvSpPr>
          <p:cNvPr id="16" name="05"/>
          <p:cNvSpPr txBox="1"/>
          <p:nvPr/>
        </p:nvSpPr>
        <p:spPr>
          <a:xfrm>
            <a:off x="502920" y="4064508"/>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05</a:t>
            </a:r>
          </a:p>
        </p:txBody>
      </p:sp>
      <p:sp>
        <p:nvSpPr>
          <p:cNvPr id="17" name="Guray: build a Tile IR sub-DSL"/>
          <p:cNvSpPr txBox="1"/>
          <p:nvPr/>
        </p:nvSpPr>
        <p:spPr>
          <a:xfrm>
            <a:off x="1060704" y="4041648"/>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Guray: build a Tile IR sub-DSL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tart with a BaseDSL subclas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Start with a BaseDSL subclass</a:t>
            </a:r>
          </a:p>
        </p:txBody>
      </p:sp>
      <p:sp>
        <p:nvSpPr>
          <p:cNvPr id="5" name="Give your DSL an identity and a compiler provider."/>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Give your DSL an identity and a compiler provider.</a:t>
            </a:r>
          </a:p>
        </p:txBody>
      </p:sp>
      <p:sp>
        <p:nvSpPr>
          <p:cNvPr id="6" name="1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10</a:t>
            </a:r>
          </a:p>
        </p:txBody>
      </p:sp>
      <p:sp>
        <p:nvSpPr>
          <p:cNvPr id="7"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8" name="A subclass chooses policy; BaseDSL supplies shared infrastructur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 subclass chooses policy; BaseDSL supplies shared infrastructure.</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Sub-DSL setup · target_config defined in notes"/>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Sub-DSL setup · target_config defined in notes</a:t>
            </a:r>
          </a:p>
        </p:txBody>
      </p:sp>
      <p:sp>
        <p:nvSpPr>
          <p:cNvPr id="11" name="class MySubDSL(m.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MySubDSL(m.BaseDSL):</a:t>
            </a:r>
          </a:p>
        </p:txBody>
      </p:sp>
      <p:sp>
        <p:nvSpPr>
          <p:cNvPr id="12" name="    plugins = [MyDialectPlugin()]"/>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[MyDialectPlugin()]</a:t>
            </a:r>
          </a:p>
        </p:txBody>
      </p:sp>
      <p:sp>
        <p:nvSpPr>
          <p:cNvPr id="13"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    def __init__(self):"/>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__init__(self):</a:t>
            </a:r>
          </a:p>
        </p:txBody>
      </p:sp>
      <p:sp>
        <p:nvSpPr>
          <p:cNvPr id="15" name="        super().__init__("/>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super().__init__(</a:t>
            </a:r>
          </a:p>
        </p:txBody>
      </p:sp>
      <p:sp>
        <p:nvSpPr>
          <p:cNvPr id="16" name="            name=&quot;MY_DSL&quot;,"/>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name="MY_DSL",</a:t>
            </a:r>
          </a:p>
        </p:txBody>
      </p:sp>
      <p:sp>
        <p:nvSpPr>
          <p:cNvPr id="17" name="            dsl_package_name=[&quot;mydsl&quot;],"/>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dsl_package_name=["mydsl"],</a:t>
            </a:r>
          </a:p>
        </p:txBody>
      </p:sp>
      <p:sp>
        <p:nvSpPr>
          <p:cNvPr id="18" name="            **target_config)"/>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**target_config)</a:t>
            </a:r>
          </a:p>
        </p:txBody>
      </p:sp>
      <p:sp>
        <p:nvSpPr>
          <p:cNvPr id="19" name="Inherit the shared machinery"/>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Inherit the shared machinery</a:t>
            </a:r>
          </a:p>
        </p:txBody>
      </p:sp>
      <p:sp>
        <p:nvSpPr>
          <p:cNvPr id="20" name="Capture, specialization, / compilation, and invocation."/>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Capture, specialization,</a:t>
            </a:r>
          </a:p>
          <a:p>
            <a:pPr algn="l">
              <a:lnSpc>
                <a:spcPts val="1391"/>
              </a:lnSpc>
              <a:spcBef>
                <a:spcPts val="0"/>
              </a:spcBef>
              <a:spcAft>
                <a:spcPts val="0"/>
              </a:spcAft>
            </a:pPr>
            <a:r>
              <a:rPr sz="1200" b="0">
                <a:solidFill>
                  <a:srgbClr val="616161"/>
                </a:solidFill>
                <a:latin typeface="NVIDIA Sans"/>
              </a:rPr>
              <a:t>compilation, and invocation.</a:t>
            </a:r>
          </a:p>
        </p:txBody>
      </p:sp>
      <p:sp>
        <p:nvSpPr>
          <p:cNvPr id="21" name="Choose target policy once"/>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Choose target policy once</a:t>
            </a:r>
          </a:p>
        </p:txBody>
      </p:sp>
      <p:sp>
        <p:nvSpPr>
          <p:cNvPr id="22" name="Compiler, passes, value adapters, / and control-flow builder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Compiler, passes, value adapters,</a:t>
            </a:r>
          </a:p>
          <a:p>
            <a:pPr algn="l">
              <a:lnSpc>
                <a:spcPts val="1391"/>
              </a:lnSpc>
              <a:spcBef>
                <a:spcPts val="0"/>
              </a:spcBef>
              <a:spcAft>
                <a:spcPts val="0"/>
              </a:spcAft>
            </a:pPr>
            <a:r>
              <a:rPr sz="1200" b="0">
                <a:solidFill>
                  <a:srgbClr val="616161"/>
                </a:solidFill>
                <a:latin typeface="NVIDIA Sans"/>
              </a:rPr>
              <a:t>and control-flow builders.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BaseDSL gives your sub-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BaseDSL gives your sub-DSL</a:t>
            </a:r>
          </a:p>
        </p:txBody>
      </p:sp>
      <p:sp>
        <p:nvSpPr>
          <p:cNvPr id="5" name="Six services that should not be rebuilt for every dialect."/>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Six services that should not be rebuilt for every dialect.</a:t>
            </a:r>
          </a:p>
        </p:txBody>
      </p:sp>
      <p:sp>
        <p:nvSpPr>
          <p:cNvPr id="6" name="1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11</a:t>
            </a:r>
          </a:p>
        </p:txBody>
      </p:sp>
      <p:sp>
        <p:nvSpPr>
          <p:cNvPr id="7"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8" name="Keep the service classes; move target-specific defaults behind providers and plugin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Keep the service classes; move target-specific defaults behind providers and plugins.</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Service"/>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Service</a:t>
            </a:r>
          </a:p>
        </p:txBody>
      </p:sp>
      <p:sp>
        <p:nvSpPr>
          <p:cNvPr id="11" name="What your DSL supplies or receives"/>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What your DSL supplies or receives</a:t>
            </a:r>
          </a:p>
        </p:txBody>
      </p:sp>
      <p:sp>
        <p:nvSpPr>
          <p:cNvPr id="12" name="Rectangle 11"/>
          <p:cNvSpPr/>
          <p:nvPr/>
        </p:nvSpPr>
        <p:spPr>
          <a:xfrm>
            <a:off x="438912" y="1956816"/>
            <a:ext cx="8266175" cy="356615"/>
          </a:xfrm>
          <a:prstGeom prst="rect">
            <a:avLst/>
          </a:prstGeom>
          <a:solidFill>
            <a:srgbClr val="F7F7F7"/>
          </a:solidFill>
          <a:ln>
            <a:noFill/>
          </a:ln>
          <a:effectLst/>
        </p:spPr>
        <p:txBody>
          <a:bodyPr rtlCol="0" anchor="ctr"/>
          <a:lstStyle/>
          <a:p>
            <a:pPr algn="ctr"/>
          </a:p>
        </p:txBody>
      </p:sp>
      <p:sp>
        <p:nvSpPr>
          <p:cNvPr id="13" name="Name"/>
          <p:cNvSpPr txBox="1"/>
          <p:nvPr/>
        </p:nvSpPr>
        <p:spPr>
          <a:xfrm>
            <a:off x="576072" y="2075688"/>
            <a:ext cx="2505456" cy="173735"/>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Name</a:t>
            </a:r>
          </a:p>
        </p:txBody>
      </p:sp>
      <p:sp>
        <p:nvSpPr>
          <p:cNvPr id="14" name="A DSL identity and specialization namespace"/>
          <p:cNvSpPr txBox="1"/>
          <p:nvPr/>
        </p:nvSpPr>
        <p:spPr>
          <a:xfrm>
            <a:off x="3355848" y="2075688"/>
            <a:ext cx="5212080" cy="17373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 DSL identity and specialization namespace</a:t>
            </a:r>
          </a:p>
        </p:txBody>
      </p:sp>
      <p:sp>
        <p:nvSpPr>
          <p:cNvPr id="15" name="Rectangle 14"/>
          <p:cNvSpPr/>
          <p:nvPr/>
        </p:nvSpPr>
        <p:spPr>
          <a:xfrm>
            <a:off x="438912" y="2313432"/>
            <a:ext cx="8266175" cy="356615"/>
          </a:xfrm>
          <a:prstGeom prst="rect">
            <a:avLst/>
          </a:prstGeom>
          <a:solidFill>
            <a:srgbClr val="FFFFFF"/>
          </a:solidFill>
          <a:ln>
            <a:noFill/>
          </a:ln>
          <a:effectLst/>
        </p:spPr>
        <p:txBody>
          <a:bodyPr rtlCol="0" anchor="ctr"/>
          <a:lstStyle/>
          <a:p>
            <a:pPr algn="ctr"/>
          </a:p>
        </p:txBody>
      </p:sp>
      <p:sp>
        <p:nvSpPr>
          <p:cNvPr id="16" name="Environment"/>
          <p:cNvSpPr txBox="1"/>
          <p:nvPr/>
        </p:nvSpPr>
        <p:spPr>
          <a:xfrm>
            <a:off x="576072" y="2432304"/>
            <a:ext cx="2505456" cy="173735"/>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Environment</a:t>
            </a:r>
          </a:p>
        </p:txBody>
      </p:sp>
      <p:sp>
        <p:nvSpPr>
          <p:cNvPr id="17" name="Settings under your prefix, e.g. MY_DSL_PRINT_IR"/>
          <p:cNvSpPr txBox="1"/>
          <p:nvPr/>
        </p:nvSpPr>
        <p:spPr>
          <a:xfrm>
            <a:off x="3355848" y="2432304"/>
            <a:ext cx="5212080" cy="17373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Settings under your prefix, e.g. MY_DSL_PRINT_IR</a:t>
            </a:r>
          </a:p>
        </p:txBody>
      </p:sp>
      <p:sp>
        <p:nvSpPr>
          <p:cNvPr id="18" name="Rectangle 17"/>
          <p:cNvSpPr/>
          <p:nvPr/>
        </p:nvSpPr>
        <p:spPr>
          <a:xfrm>
            <a:off x="438912" y="2670048"/>
            <a:ext cx="8266175" cy="356615"/>
          </a:xfrm>
          <a:prstGeom prst="rect">
            <a:avLst/>
          </a:prstGeom>
          <a:solidFill>
            <a:srgbClr val="F7F7F7"/>
          </a:solidFill>
          <a:ln>
            <a:noFill/>
          </a:ln>
          <a:effectLst/>
        </p:spPr>
        <p:txBody>
          <a:bodyPr rtlCol="0" anchor="ctr"/>
          <a:lstStyle/>
          <a:p>
            <a:pPr algn="ctr"/>
          </a:p>
        </p:txBody>
      </p:sp>
      <p:sp>
        <p:nvSpPr>
          <p:cNvPr id="19" name="Dialect plugins"/>
          <p:cNvSpPr txBox="1"/>
          <p:nvPr/>
        </p:nvSpPr>
        <p:spPr>
          <a:xfrm>
            <a:off x="576072" y="2788920"/>
            <a:ext cx="2505456" cy="173735"/>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Dialect plugins</a:t>
            </a:r>
          </a:p>
        </p:txBody>
      </p:sp>
      <p:sp>
        <p:nvSpPr>
          <p:cNvPr id="20" name="Registration, passes, libraries, and extension hooks"/>
          <p:cNvSpPr txBox="1"/>
          <p:nvPr/>
        </p:nvSpPr>
        <p:spPr>
          <a:xfrm>
            <a:off x="3355848" y="2788920"/>
            <a:ext cx="5212080" cy="17373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Registration, passes, libraries, and extension hooks</a:t>
            </a:r>
          </a:p>
        </p:txBody>
      </p:sp>
      <p:sp>
        <p:nvSpPr>
          <p:cNvPr id="21" name="Rectangle 20"/>
          <p:cNvSpPr/>
          <p:nvPr/>
        </p:nvSpPr>
        <p:spPr>
          <a:xfrm>
            <a:off x="438912" y="3026664"/>
            <a:ext cx="8266175" cy="356615"/>
          </a:xfrm>
          <a:prstGeom prst="rect">
            <a:avLst/>
          </a:prstGeom>
          <a:solidFill>
            <a:srgbClr val="FFFFFF"/>
          </a:solidFill>
          <a:ln>
            <a:noFill/>
          </a:ln>
          <a:effectLst/>
        </p:spPr>
        <p:txBody>
          <a:bodyPr rtlCol="0" anchor="ctr"/>
          <a:lstStyle/>
          <a:p>
            <a:pPr algn="ctr"/>
          </a:p>
        </p:txBody>
      </p:sp>
      <p:sp>
        <p:nvSpPr>
          <p:cNvPr id="22" name="Pass pipeline"/>
          <p:cNvSpPr txBox="1"/>
          <p:nvPr/>
        </p:nvSpPr>
        <p:spPr>
          <a:xfrm>
            <a:off x="576072" y="3145536"/>
            <a:ext cx="2505456" cy="173735"/>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Pass pipeline</a:t>
            </a:r>
          </a:p>
        </p:txBody>
      </p:sp>
      <p:sp>
        <p:nvSpPr>
          <p:cNvPr id="23" name="Explicit options + environment + plugin passes"/>
          <p:cNvSpPr txBox="1"/>
          <p:nvPr/>
        </p:nvSpPr>
        <p:spPr>
          <a:xfrm>
            <a:off x="3355848" y="3145536"/>
            <a:ext cx="5212080" cy="17373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Explicit options + environment + plugin passes</a:t>
            </a:r>
          </a:p>
        </p:txBody>
      </p:sp>
      <p:sp>
        <p:nvSpPr>
          <p:cNvPr id="24" name="Rectangle 23"/>
          <p:cNvSpPr/>
          <p:nvPr/>
        </p:nvSpPr>
        <p:spPr>
          <a:xfrm>
            <a:off x="438912" y="3383280"/>
            <a:ext cx="8266175" cy="356615"/>
          </a:xfrm>
          <a:prstGeom prst="rect">
            <a:avLst/>
          </a:prstGeom>
          <a:solidFill>
            <a:srgbClr val="F7F7F7"/>
          </a:solidFill>
          <a:ln>
            <a:noFill/>
          </a:ln>
          <a:effectLst/>
        </p:spPr>
        <p:txBody>
          <a:bodyPr rtlCol="0" anchor="ctr"/>
          <a:lstStyle/>
          <a:p>
            <a:pPr algn="ctr"/>
          </a:p>
        </p:txBody>
      </p:sp>
      <p:sp>
        <p:nvSpPr>
          <p:cNvPr id="25" name="JIT compile / execute"/>
          <p:cNvSpPr txBox="1"/>
          <p:nvPr/>
        </p:nvSpPr>
        <p:spPr>
          <a:xfrm>
            <a:off x="576072" y="3502152"/>
            <a:ext cx="2505456" cy="173735"/>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JIT compile / execute</a:t>
            </a:r>
          </a:p>
        </p:txBody>
      </p:sp>
      <p:sp>
        <p:nvSpPr>
          <p:cNvPr id="26" name="Trace, compile, marshal arguments, invoke"/>
          <p:cNvSpPr txBox="1"/>
          <p:nvPr/>
        </p:nvSpPr>
        <p:spPr>
          <a:xfrm>
            <a:off x="3355848" y="3502152"/>
            <a:ext cx="5212080" cy="17373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Trace, compile, marshal arguments, invoke</a:t>
            </a:r>
          </a:p>
        </p:txBody>
      </p:sp>
      <p:sp>
        <p:nvSpPr>
          <p:cNvPr id="27" name="Rectangle 26"/>
          <p:cNvSpPr/>
          <p:nvPr/>
        </p:nvSpPr>
        <p:spPr>
          <a:xfrm>
            <a:off x="438912" y="3739896"/>
            <a:ext cx="8266175" cy="356615"/>
          </a:xfrm>
          <a:prstGeom prst="rect">
            <a:avLst/>
          </a:prstGeom>
          <a:solidFill>
            <a:srgbClr val="FFFFFF"/>
          </a:solidFill>
          <a:ln>
            <a:noFill/>
          </a:ln>
          <a:effectLst/>
        </p:spPr>
        <p:txBody>
          <a:bodyPr rtlCol="0" anchor="ctr"/>
          <a:lstStyle/>
          <a:p>
            <a:pPr algn="ctr"/>
          </a:p>
        </p:txBody>
      </p:sp>
      <p:sp>
        <p:nvSpPr>
          <p:cNvPr id="28" name="Name mangling"/>
          <p:cNvSpPr txBox="1"/>
          <p:nvPr/>
        </p:nvSpPr>
        <p:spPr>
          <a:xfrm>
            <a:off x="576072" y="3858768"/>
            <a:ext cx="2505456" cy="173735"/>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Name mangling</a:t>
            </a:r>
          </a:p>
        </p:txBody>
      </p:sp>
      <p:sp>
        <p:nvSpPr>
          <p:cNvPr id="29" name="Symbols specialized by known arguments"/>
          <p:cNvSpPr txBox="1"/>
          <p:nvPr/>
        </p:nvSpPr>
        <p:spPr>
          <a:xfrm>
            <a:off x="3355848" y="3858768"/>
            <a:ext cx="5212080" cy="17373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Symbols specialized by known arguments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nvironment settings are reusable infrastructur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Environment settings are reusable infrastructure</a:t>
            </a:r>
          </a:p>
        </p:txBody>
      </p:sp>
      <p:sp>
        <p:nvSpPr>
          <p:cNvPr id="5" name="Give each DSL its own prefix and make compile-affecting settings explicit."/>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Give each DSL its own prefix and make compile-affecting settings explicit.</a:t>
            </a:r>
          </a:p>
        </p:txBody>
      </p:sp>
      <p:sp>
        <p:nvSpPr>
          <p:cNvPr id="6" name="1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12</a:t>
            </a:r>
          </a:p>
        </p:txBody>
      </p:sp>
      <p:sp>
        <p:nvSpPr>
          <p:cNvPr id="7"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8" name="Reuse the manager; keep GPU architecture and device-specific defaults in the sub-DSL."/>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Reuse the manager; keep GPU architecture and device-specific defaults in the sub-DSL.</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The extracted environment manager"/>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The extracted environment manager</a:t>
            </a:r>
          </a:p>
        </p:txBody>
      </p:sp>
      <p:sp>
        <p:nvSpPr>
          <p:cNvPr id="11" name="class MyEnv(EnvironmentVarManager):"/>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MyEnv(EnvironmentVarManager):</a:t>
            </a:r>
          </a:p>
        </p:txBody>
      </p:sp>
      <p:sp>
        <p:nvSpPr>
          <p:cNvPr id="12" name="    fast_math: bool = env_va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fast_math: bool = env_var(</a:t>
            </a:r>
          </a:p>
        </p:txBody>
      </p:sp>
      <p:sp>
        <p:nvSpPr>
          <p:cNvPr id="13" name="        &quot;FAST_MATH&quot;, default=Fals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"FAST_MATH", default=False,</a:t>
            </a:r>
          </a:p>
        </p:txBody>
      </p:sp>
      <p:sp>
        <p:nvSpPr>
          <p:cNvPr id="14" name="        affects_compile=Tru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affects_compile=True)</a:t>
            </a:r>
          </a:p>
        </p:txBody>
      </p:sp>
      <p:sp>
        <p:nvSpPr>
          <p:cNvPr id="15" name=""/>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class MySubDSL(m.BaseDSL):"/>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MySubDSL(m.BaseDSL):</a:t>
            </a:r>
          </a:p>
        </p:txBody>
      </p:sp>
      <p:sp>
        <p:nvSpPr>
          <p:cNvPr id="17" name="    _env_class = MyEnv"/>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_env_class = MyEnv</a:t>
            </a:r>
          </a:p>
        </p:txBody>
      </p:sp>
      <p:sp>
        <p:nvSpPr>
          <p:cNvPr id="18" name="    # name=&quot;MY_DSL&quot; in its constructor"/>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 name="MY_DSL" in its constructor</a:t>
            </a:r>
          </a:p>
        </p:txBody>
      </p:sp>
      <p:sp>
        <p:nvSpPr>
          <p:cNvPr id="19" name="One namespace per DSL"/>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One namespace per DSL</a:t>
            </a:r>
          </a:p>
        </p:txBody>
      </p:sp>
      <p:sp>
        <p:nvSpPr>
          <p:cNvPr id="20" name="MY_DSL_PRINT_IR / MY_DSL_CACHE_DIR"/>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MY_DSL_PRINT_IR</a:t>
            </a:r>
          </a:p>
          <a:p>
            <a:pPr algn="l">
              <a:lnSpc>
                <a:spcPts val="1391"/>
              </a:lnSpc>
              <a:spcBef>
                <a:spcPts val="0"/>
              </a:spcBef>
              <a:spcAft>
                <a:spcPts val="0"/>
              </a:spcAft>
            </a:pPr>
            <a:r>
              <a:rPr sz="1200" b="0">
                <a:solidFill>
                  <a:srgbClr val="616161"/>
                </a:solidFill>
                <a:latin typeface="NVIDIA Sans"/>
              </a:rPr>
              <a:t>MY_DSL_CACHE_DIR</a:t>
            </a:r>
          </a:p>
        </p:txBody>
      </p:sp>
      <p:sp>
        <p:nvSpPr>
          <p:cNvPr id="21" name="Correct cache identity"/>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Correct cache identity</a:t>
            </a:r>
          </a:p>
        </p:txBody>
      </p:sp>
      <p:sp>
        <p:nvSpPr>
          <p:cNvPr id="22" name="Compile-affecting values / participate in specialization."/>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Compile-affecting values</a:t>
            </a:r>
          </a:p>
          <a:p>
            <a:pPr algn="l">
              <a:lnSpc>
                <a:spcPts val="1391"/>
              </a:lnSpc>
              <a:spcBef>
                <a:spcPts val="0"/>
              </a:spcBef>
              <a:spcAft>
                <a:spcPts val="0"/>
              </a:spcAft>
            </a:pPr>
            <a:r>
              <a:rPr sz="1200" b="0">
                <a:solidFill>
                  <a:srgbClr val="616161"/>
                </a:solidFill>
                <a:latin typeface="NVIDIA Sans"/>
              </a:rPr>
              <a:t>participate in specialization.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dd your downstream dialect with a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Add your downstream dialect with a plugin</a:t>
            </a:r>
          </a:p>
        </p:txBody>
      </p:sp>
      <p:sp>
        <p:nvSpPr>
          <p:cNvPr id="5" name="Package DkgDSL’s extension points as an explicit plugin lifecycl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Package DkgDSL’s extension points as an explicit plugin lifecycle.</a:t>
            </a:r>
          </a:p>
        </p:txBody>
      </p:sp>
      <p:sp>
        <p:nvSpPr>
          <p:cNvPr id="6" name="1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13</a:t>
            </a:r>
          </a:p>
        </p:txBody>
      </p:sp>
      <p:sp>
        <p:nvSpPr>
          <p:cNvPr id="7"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8" name="Your plugin supplies the dialect-specific piece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Your plugin supplies the dialect-specific pieces.</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Downstream plugin · implementation excerpt"/>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Downstream plugin · implementation excerpt</a:t>
            </a:r>
          </a:p>
        </p:txBody>
      </p:sp>
      <p:sp>
        <p:nvSpPr>
          <p:cNvPr id="11" name="class MyDialectPlugin(m.Dialect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MyDialectPlugin(m.DialectPlugin):</a:t>
            </a:r>
          </a:p>
        </p:txBody>
      </p:sp>
      <p:sp>
        <p:nvSpPr>
          <p:cNvPr id="12" name="    name = &quot;mydialect&quot;"/>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name = "mydialect"</a:t>
            </a:r>
          </a:p>
        </p:txBody>
      </p:sp>
      <p:sp>
        <p:nvSpPr>
          <p:cNvPr id="13" name="    def register_dialects(self, contex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register_dialects(self, context):</a:t>
            </a:r>
          </a:p>
        </p:txBody>
      </p:sp>
      <p:sp>
        <p:nvSpPr>
          <p:cNvPr id="14" name="        mydialect.register_dialect(contex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mydialect.register_dialect(context)</a:t>
            </a:r>
          </a:p>
        </p:txBody>
      </p:sp>
      <p:sp>
        <p:nvSpPr>
          <p:cNvPr id="15" name="    def pipeline_passes(sel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pipeline_passes(self):</a:t>
            </a:r>
          </a:p>
        </p:txBody>
      </p:sp>
      <p:sp>
        <p:nvSpPr>
          <p:cNvPr id="16" name="        return [&quot;convert-mydialect-to-llvm&quot;]"/>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["convert-mydialect-to-llvm"]</a:t>
            </a:r>
          </a:p>
        </p:txBody>
      </p:sp>
      <p:sp>
        <p:nvSpPr>
          <p:cNvPr id="17"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8" name="class MySubDSL(m.MlirDSL):"/>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MySubDSL(m.MlirDSL):</a:t>
            </a:r>
          </a:p>
        </p:txBody>
      </p:sp>
      <p:sp>
        <p:nvSpPr>
          <p:cNvPr id="19" name="    plugins = [MyDialectPlugin()]"/>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[MyDialectPlugin()]</a:t>
            </a:r>
          </a:p>
        </p:txBody>
      </p:sp>
      <p:sp>
        <p:nvSpPr>
          <p:cNvPr id="20" name="Dialect registration"/>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Dialect registration</a:t>
            </a:r>
          </a:p>
        </p:txBody>
      </p:sp>
      <p:sp>
        <p:nvSpPr>
          <p:cNvPr id="21" name="Use bindings built against the / same MLIR runtime."/>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Use bindings built against the</a:t>
            </a:r>
          </a:p>
          <a:p>
            <a:pPr algn="l">
              <a:lnSpc>
                <a:spcPts val="1391"/>
              </a:lnSpc>
              <a:spcBef>
                <a:spcPts val="0"/>
              </a:spcBef>
              <a:spcAft>
                <a:spcPts val="0"/>
              </a:spcAft>
            </a:pPr>
            <a:r>
              <a:rPr sz="1200" b="0">
                <a:solidFill>
                  <a:srgbClr val="616161"/>
                </a:solidFill>
                <a:latin typeface="NVIDIA Sans"/>
              </a:rPr>
              <a:t>same MLIR runtime.</a:t>
            </a:r>
          </a:p>
        </p:txBody>
      </p:sp>
      <p:sp>
        <p:nvSpPr>
          <p:cNvPr id="22" name="Passes and librarie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Passes and libraries</a:t>
            </a:r>
          </a:p>
        </p:txBody>
      </p:sp>
      <p:sp>
        <p:nvSpPr>
          <p:cNvPr id="23" name="Provide your lowering passes / and runtime dependencie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Provide your lowering passes</a:t>
            </a:r>
          </a:p>
          <a:p>
            <a:pPr algn="l">
              <a:lnSpc>
                <a:spcPts val="1391"/>
              </a:lnSpc>
              <a:spcBef>
                <a:spcPts val="0"/>
              </a:spcBef>
              <a:spcAft>
                <a:spcPts val="0"/>
              </a:spcAft>
            </a:pPr>
            <a:r>
              <a:rPr sz="1200" b="0">
                <a:solidFill>
                  <a:srgbClr val="616161"/>
                </a:solidFill>
                <a:latin typeface="NVIDIA Sans"/>
              </a:rPr>
              <a:t>and runtime dependencies.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wo decorators; the target chooses how to launch"/>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Two decorators; the target chooses how to launch</a:t>
            </a:r>
          </a:p>
        </p:txBody>
      </p:sp>
      <p:sp>
        <p:nvSpPr>
          <p:cNvPr id="5" name="@jit is general; @kernel describes a GPU kernel."/>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@jit is general; @kernel describes a GPU kernel.</a:t>
            </a:r>
          </a:p>
        </p:txBody>
      </p:sp>
      <p:sp>
        <p:nvSpPr>
          <p:cNvPr id="6" name="1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14</a:t>
            </a:r>
          </a:p>
        </p:txBody>
      </p:sp>
      <p:sp>
        <p:nvSpPr>
          <p:cNvPr id="7"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8" name="The familiar host path is Python → @jit → @kernel; device-only sub-DSLs can launch directly."/>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familiar host path is Python → @jit → @kernel; device-only sub-DSLs can launch directly.</a:t>
            </a:r>
          </a:p>
        </p:txBody>
      </p:sp>
      <p:sp>
        <p:nvSpPr>
          <p:cNvPr id="9" name="Rectangle 8"/>
          <p:cNvSpPr/>
          <p:nvPr/>
        </p:nvSpPr>
        <p:spPr>
          <a:xfrm>
            <a:off x="667512" y="1673352"/>
            <a:ext cx="1920240" cy="585216"/>
          </a:xfrm>
          <a:prstGeom prst="rect">
            <a:avLst/>
          </a:prstGeom>
          <a:solidFill>
            <a:srgbClr val="F7F7F7"/>
          </a:solidFill>
          <a:ln w="8890">
            <a:solidFill>
              <a:srgbClr val="D5D5D5"/>
            </a:solidFill>
          </a:ln>
          <a:effectLst/>
        </p:spPr>
        <p:txBody>
          <a:bodyPr rtlCol="0" anchor="ctr"/>
          <a:lstStyle/>
          <a:p>
            <a:pPr algn="ctr"/>
          </a:p>
        </p:txBody>
      </p:sp>
      <p:sp>
        <p:nvSpPr>
          <p:cNvPr id="10" name="Python"/>
          <p:cNvSpPr txBox="1"/>
          <p:nvPr/>
        </p:nvSpPr>
        <p:spPr>
          <a:xfrm>
            <a:off x="777240"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0">
                <a:solidFill>
                  <a:srgbClr val="000000"/>
                </a:solidFill>
                <a:latin typeface="NVIDIA Sans"/>
              </a:rPr>
              <a:t>Python</a:t>
            </a:r>
          </a:p>
        </p:txBody>
      </p:sp>
      <p:cxnSp>
        <p:nvCxnSpPr>
          <p:cNvPr id="11" name="Connector 10"/>
          <p:cNvCxnSpPr/>
          <p:nvPr/>
        </p:nvCxnSpPr>
        <p:spPr>
          <a:xfrm>
            <a:off x="2633472" y="1965960"/>
            <a:ext cx="90525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602736" y="1673352"/>
            <a:ext cx="1920240" cy="585216"/>
          </a:xfrm>
          <a:prstGeom prst="rect">
            <a:avLst/>
          </a:prstGeom>
          <a:solidFill>
            <a:srgbClr val="F0F6E6"/>
          </a:solidFill>
          <a:ln w="8890">
            <a:solidFill>
              <a:srgbClr val="D5D5D5"/>
            </a:solidFill>
          </a:ln>
          <a:effectLst/>
        </p:spPr>
        <p:txBody>
          <a:bodyPr rtlCol="0" anchor="ctr"/>
          <a:lstStyle/>
          <a:p>
            <a:pPr algn="ctr"/>
          </a:p>
        </p:txBody>
      </p:sp>
      <p:sp>
        <p:nvSpPr>
          <p:cNvPr id="13" name="@jit"/>
          <p:cNvSpPr txBox="1"/>
          <p:nvPr/>
        </p:nvSpPr>
        <p:spPr>
          <a:xfrm>
            <a:off x="3712463"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1">
                <a:solidFill>
                  <a:srgbClr val="416600"/>
                </a:solidFill>
                <a:latin typeface="NVIDIA Sans"/>
              </a:rPr>
              <a:t>@jit</a:t>
            </a:r>
          </a:p>
        </p:txBody>
      </p:sp>
      <p:cxnSp>
        <p:nvCxnSpPr>
          <p:cNvPr id="14" name="Connector 13"/>
          <p:cNvCxnSpPr/>
          <p:nvPr/>
        </p:nvCxnSpPr>
        <p:spPr>
          <a:xfrm>
            <a:off x="5568696" y="1965960"/>
            <a:ext cx="90525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537960" y="1673352"/>
            <a:ext cx="1920240" cy="585216"/>
          </a:xfrm>
          <a:prstGeom prst="rect">
            <a:avLst/>
          </a:prstGeom>
          <a:solidFill>
            <a:srgbClr val="F0F6E6"/>
          </a:solidFill>
          <a:ln w="8890">
            <a:solidFill>
              <a:srgbClr val="D5D5D5"/>
            </a:solidFill>
          </a:ln>
          <a:effectLst/>
        </p:spPr>
        <p:txBody>
          <a:bodyPr rtlCol="0" anchor="ctr"/>
          <a:lstStyle/>
          <a:p>
            <a:pPr algn="ctr"/>
          </a:p>
        </p:txBody>
      </p:sp>
      <p:sp>
        <p:nvSpPr>
          <p:cNvPr id="16" name="@kernel"/>
          <p:cNvSpPr txBox="1"/>
          <p:nvPr/>
        </p:nvSpPr>
        <p:spPr>
          <a:xfrm>
            <a:off x="6647688"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1">
                <a:solidFill>
                  <a:srgbClr val="416600"/>
                </a:solidFill>
                <a:latin typeface="NVIDIA Sans"/>
              </a:rPr>
              <a:t>@kernel</a:t>
            </a:r>
          </a:p>
        </p:txBody>
      </p:sp>
      <p:sp>
        <p:nvSpPr>
          <p:cNvPr id="17" name="compile / invoke"/>
          <p:cNvSpPr txBox="1"/>
          <p:nvPr/>
        </p:nvSpPr>
        <p:spPr>
          <a:xfrm>
            <a:off x="2660904" y="1472184"/>
            <a:ext cx="868680" cy="356616"/>
          </a:xfrm>
          <a:prstGeom prst="rect">
            <a:avLst/>
          </a:prstGeom>
          <a:noFill/>
        </p:spPr>
        <p:txBody>
          <a:bodyPr wrap="none" anchor="t" lIns="0" rIns="0" tIns="0" bIns="0">
            <a:noAutofit/>
          </a:bodyPr>
          <a:lstStyle/>
          <a:p>
            <a:pPr algn="ctr">
              <a:lnSpc>
                <a:spcPts val="1078"/>
              </a:lnSpc>
              <a:spcBef>
                <a:spcPts val="0"/>
              </a:spcBef>
              <a:spcAft>
                <a:spcPts val="0"/>
              </a:spcAft>
            </a:pPr>
            <a:r>
              <a:rPr sz="930" b="0">
                <a:solidFill>
                  <a:srgbClr val="616161"/>
                </a:solidFill>
                <a:latin typeface="NVIDIA Sans"/>
              </a:rPr>
              <a:t>compile /</a:t>
            </a:r>
          </a:p>
          <a:p>
            <a:pPr algn="ctr">
              <a:lnSpc>
                <a:spcPts val="1078"/>
              </a:lnSpc>
              <a:spcBef>
                <a:spcPts val="0"/>
              </a:spcBef>
              <a:spcAft>
                <a:spcPts val="0"/>
              </a:spcAft>
            </a:pPr>
            <a:r>
              <a:rPr sz="930" b="0">
                <a:solidFill>
                  <a:srgbClr val="616161"/>
                </a:solidFill>
                <a:latin typeface="NVIDIA Sans"/>
              </a:rPr>
              <a:t>invoke</a:t>
            </a:r>
          </a:p>
        </p:txBody>
      </p:sp>
      <p:sp>
        <p:nvSpPr>
          <p:cNvPr id="18" name="GPU launch"/>
          <p:cNvSpPr txBox="1"/>
          <p:nvPr/>
        </p:nvSpPr>
        <p:spPr>
          <a:xfrm>
            <a:off x="5614416" y="1572768"/>
            <a:ext cx="841248" cy="256032"/>
          </a:xfrm>
          <a:prstGeom prst="rect">
            <a:avLst/>
          </a:prstGeom>
          <a:noFill/>
        </p:spPr>
        <p:txBody>
          <a:bodyPr wrap="none" anchor="t" lIns="0" rIns="0" tIns="0" bIns="0">
            <a:noAutofit/>
          </a:bodyPr>
          <a:lstStyle/>
          <a:p>
            <a:pPr algn="ctr">
              <a:lnSpc>
                <a:spcPts val="1078"/>
              </a:lnSpc>
              <a:spcBef>
                <a:spcPts val="0"/>
              </a:spcBef>
              <a:spcAft>
                <a:spcPts val="0"/>
              </a:spcAft>
            </a:pPr>
            <a:r>
              <a:rPr sz="930" b="0">
                <a:solidFill>
                  <a:srgbClr val="616161"/>
                </a:solidFill>
                <a:latin typeface="NVIDIA Sans"/>
              </a:rPr>
              <a:t>GPU launch</a:t>
            </a:r>
          </a:p>
        </p:txBody>
      </p:sp>
      <p:cxnSp>
        <p:nvCxnSpPr>
          <p:cNvPr id="19" name="Connector 18"/>
          <p:cNvCxnSpPr/>
          <p:nvPr/>
        </p:nvCxnSpPr>
        <p:spPr>
          <a:xfrm>
            <a:off x="4562856" y="2267712"/>
            <a:ext cx="0" cy="30175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618488" y="2569464"/>
            <a:ext cx="2944368"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618488" y="2295144"/>
            <a:ext cx="0" cy="27432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2" name="Python helpers run while tracing"/>
          <p:cNvSpPr txBox="1"/>
          <p:nvPr/>
        </p:nvSpPr>
        <p:spPr>
          <a:xfrm>
            <a:off x="1819656" y="2651760"/>
            <a:ext cx="3209544" cy="256032"/>
          </a:xfrm>
          <a:prstGeom prst="rect">
            <a:avLst/>
          </a:prstGeom>
          <a:noFill/>
        </p:spPr>
        <p:txBody>
          <a:bodyPr wrap="none" anchor="t" lIns="0" rIns="0" tIns="0" bIns="0">
            <a:noAutofit/>
          </a:bodyPr>
          <a:lstStyle/>
          <a:p>
            <a:pPr algn="ctr">
              <a:lnSpc>
                <a:spcPts val="1194"/>
              </a:lnSpc>
              <a:spcBef>
                <a:spcPts val="0"/>
              </a:spcBef>
              <a:spcAft>
                <a:spcPts val="0"/>
              </a:spcAft>
            </a:pPr>
            <a:r>
              <a:rPr sz="1030" b="0">
                <a:solidFill>
                  <a:srgbClr val="416600"/>
                </a:solidFill>
                <a:latin typeface="NVIDIA Sans"/>
              </a:rPr>
              <a:t>Python helpers run while tracing</a:t>
            </a:r>
          </a:p>
        </p:txBody>
      </p:sp>
      <p:sp>
        <p:nvSpPr>
          <p:cNvPr id="23" name="Python → @jit"/>
          <p:cNvSpPr txBox="1"/>
          <p:nvPr/>
        </p:nvSpPr>
        <p:spPr>
          <a:xfrm>
            <a:off x="566928"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Python → @jit</a:t>
            </a:r>
          </a:p>
        </p:txBody>
      </p:sp>
      <p:sp>
        <p:nvSpPr>
          <p:cNvPr id="24" name="Specialize, compile, and execute the host entry."/>
          <p:cNvSpPr txBox="1"/>
          <p:nvPr/>
        </p:nvSpPr>
        <p:spPr>
          <a:xfrm>
            <a:off x="566928"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Specialize, compile, and execute the</a:t>
            </a:r>
          </a:p>
          <a:p>
            <a:pPr algn="l">
              <a:lnSpc>
                <a:spcPts val="1310"/>
              </a:lnSpc>
              <a:spcBef>
                <a:spcPts val="0"/>
              </a:spcBef>
              <a:spcAft>
                <a:spcPts val="0"/>
              </a:spcAft>
            </a:pPr>
            <a:r>
              <a:rPr sz="1130" b="0">
                <a:solidFill>
                  <a:srgbClr val="616161"/>
                </a:solidFill>
                <a:latin typeface="NVIDIA Sans"/>
              </a:rPr>
              <a:t>host entry.</a:t>
            </a:r>
          </a:p>
        </p:txBody>
      </p:sp>
      <p:sp>
        <p:nvSpPr>
          <p:cNvPr id="25" name="@jit → @kernel"/>
          <p:cNvSpPr txBox="1"/>
          <p:nvPr/>
        </p:nvSpPr>
        <p:spPr>
          <a:xfrm>
            <a:off x="3502152"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@jit → @kernel</a:t>
            </a:r>
          </a:p>
        </p:txBody>
      </p:sp>
      <p:sp>
        <p:nvSpPr>
          <p:cNvPr id="26" name="Capture a device kernel and its GPU launch."/>
          <p:cNvSpPr txBox="1"/>
          <p:nvPr/>
        </p:nvSpPr>
        <p:spPr>
          <a:xfrm>
            <a:off x="3502152"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Capture a device kernel and its GPU</a:t>
            </a:r>
          </a:p>
          <a:p>
            <a:pPr algn="l">
              <a:lnSpc>
                <a:spcPts val="1310"/>
              </a:lnSpc>
              <a:spcBef>
                <a:spcPts val="0"/>
              </a:spcBef>
              <a:spcAft>
                <a:spcPts val="0"/>
              </a:spcAft>
            </a:pPr>
            <a:r>
              <a:rPr sz="1130" b="0">
                <a:solidFill>
                  <a:srgbClr val="616161"/>
                </a:solidFill>
                <a:latin typeface="NVIDIA Sans"/>
              </a:rPr>
              <a:t>launch.</a:t>
            </a:r>
          </a:p>
        </p:txBody>
      </p:sp>
      <p:sp>
        <p:nvSpPr>
          <p:cNvPr id="27" name="Helpers inline; targets choose launch"/>
          <p:cNvSpPr txBox="1"/>
          <p:nvPr/>
        </p:nvSpPr>
        <p:spPr>
          <a:xfrm>
            <a:off x="6437376" y="3255264"/>
            <a:ext cx="2514600" cy="347472"/>
          </a:xfrm>
          <a:prstGeom prst="rect">
            <a:avLst/>
          </a:prstGeom>
          <a:noFill/>
        </p:spPr>
        <p:txBody>
          <a:bodyPr wrap="none" anchor="t" lIns="0" rIns="0" tIns="0" bIns="0">
            <a:noAutofit/>
          </a:bodyPr>
          <a:lstStyle/>
          <a:p>
            <a:pPr algn="l">
              <a:lnSpc>
                <a:spcPts val="1421"/>
              </a:lnSpc>
              <a:spcBef>
                <a:spcPts val="0"/>
              </a:spcBef>
              <a:spcAft>
                <a:spcPts val="0"/>
              </a:spcAft>
            </a:pPr>
            <a:r>
              <a:rPr sz="1225" b="1">
                <a:solidFill>
                  <a:srgbClr val="416600"/>
                </a:solidFill>
                <a:latin typeface="NVIDIA Sans"/>
              </a:rPr>
              <a:t>Helpers inline; targets choose</a:t>
            </a:r>
          </a:p>
          <a:p>
            <a:pPr algn="l">
              <a:lnSpc>
                <a:spcPts val="1421"/>
              </a:lnSpc>
              <a:spcBef>
                <a:spcPts val="0"/>
              </a:spcBef>
              <a:spcAft>
                <a:spcPts val="0"/>
              </a:spcAft>
            </a:pPr>
            <a:r>
              <a:rPr sz="1225" b="1">
                <a:solidFill>
                  <a:srgbClr val="416600"/>
                </a:solidFill>
                <a:latin typeface="NVIDIA Sans"/>
              </a:rPr>
              <a:t>launch</a:t>
            </a:r>
          </a:p>
        </p:txBody>
      </p:sp>
      <p:sp>
        <p:nvSpPr>
          <p:cNvPr id="28" name="Nested helpers run during tracing. Tile IR also supports Python → @kernel directly."/>
          <p:cNvSpPr txBox="1"/>
          <p:nvPr/>
        </p:nvSpPr>
        <p:spPr>
          <a:xfrm>
            <a:off x="6437376"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Nested helpers run during tracing.</a:t>
            </a:r>
          </a:p>
          <a:p>
            <a:pPr algn="l">
              <a:lnSpc>
                <a:spcPts val="1310"/>
              </a:lnSpc>
              <a:spcBef>
                <a:spcPts val="0"/>
              </a:spcBef>
              <a:spcAft>
                <a:spcPts val="0"/>
              </a:spcAft>
            </a:pPr>
            <a:r>
              <a:rPr sz="1130" b="0">
                <a:solidFill>
                  <a:srgbClr val="616161"/>
                </a:solidFill>
                <a:latin typeface="NVIDIA Sans"/>
              </a:rPr>
              <a:t>Tile IR also supports Python →</a:t>
            </a:r>
          </a:p>
          <a:p>
            <a:pPr algn="l">
              <a:lnSpc>
                <a:spcPts val="1310"/>
              </a:lnSpc>
              <a:spcBef>
                <a:spcPts val="0"/>
              </a:spcBef>
              <a:spcAft>
                <a:spcPts val="0"/>
              </a:spcAft>
            </a:pPr>
            <a:r>
              <a:rPr sz="1130" b="0">
                <a:solidFill>
                  <a:srgbClr val="616161"/>
                </a:solidFill>
                <a:latin typeface="NVIDIA Sans"/>
              </a:rPr>
              <a:t>@kernel directly.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Basic types: builtin types, arith operation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Basic types: builtin types, arith operations</a:t>
            </a:r>
          </a:p>
        </p:txBody>
      </p:sp>
      <p:sp>
        <p:nvSpPr>
          <p:cNvPr id="5" name="One wrapper can hold a known Python value or an MLIR SSA valu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One wrapper can hold a known Python value or an MLIR SSA value.</a:t>
            </a:r>
          </a:p>
        </p:txBody>
      </p:sp>
      <p:sp>
        <p:nvSpPr>
          <p:cNvPr id="6" name="1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15</a:t>
            </a:r>
          </a:p>
        </p:txBody>
      </p:sp>
      <p:sp>
        <p:nvSpPr>
          <p:cNvPr id="7"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8" name="The Python class carries type policy; the SSA value carries the MLIR typ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Python class carries type policy; the SSA value carries the MLIR type.</a:t>
            </a:r>
          </a:p>
        </p:txBody>
      </p:sp>
      <p:sp>
        <p:nvSpPr>
          <p:cNvPr id="9" name="Rectangle 8"/>
          <p:cNvSpPr/>
          <p:nvPr/>
        </p:nvSpPr>
        <p:spPr>
          <a:xfrm>
            <a:off x="3410712" y="1490472"/>
            <a:ext cx="2322576" cy="566928"/>
          </a:xfrm>
          <a:prstGeom prst="rect">
            <a:avLst/>
          </a:prstGeom>
          <a:solidFill>
            <a:srgbClr val="F0F6E6"/>
          </a:solidFill>
          <a:ln w="8890">
            <a:solidFill>
              <a:srgbClr val="D5D5D5"/>
            </a:solidFill>
          </a:ln>
          <a:effectLst/>
        </p:spPr>
        <p:txBody>
          <a:bodyPr rtlCol="0" anchor="ctr"/>
          <a:lstStyle/>
          <a:p>
            <a:pPr algn="ctr"/>
          </a:p>
        </p:txBody>
      </p:sp>
      <p:sp>
        <p:nvSpPr>
          <p:cNvPr id="10" name="Numeric.value"/>
          <p:cNvSpPr txBox="1"/>
          <p:nvPr/>
        </p:nvSpPr>
        <p:spPr>
          <a:xfrm>
            <a:off x="3520440" y="1563624"/>
            <a:ext cx="2103120" cy="420623"/>
          </a:xfrm>
          <a:prstGeom prst="rect">
            <a:avLst/>
          </a:prstGeom>
          <a:noFill/>
        </p:spPr>
        <p:txBody>
          <a:bodyPr wrap="none" anchor="t" lIns="0" rIns="0" tIns="0" bIns="0">
            <a:noAutofit/>
          </a:bodyPr>
          <a:lstStyle/>
          <a:p>
            <a:pPr algn="ctr">
              <a:lnSpc>
                <a:spcPts val="1972"/>
              </a:lnSpc>
              <a:spcBef>
                <a:spcPts val="0"/>
              </a:spcBef>
              <a:spcAft>
                <a:spcPts val="0"/>
              </a:spcAft>
            </a:pPr>
            <a:r>
              <a:rPr sz="1700" b="1">
                <a:solidFill>
                  <a:srgbClr val="416600"/>
                </a:solidFill>
                <a:latin typeface="NVIDIA Sans"/>
              </a:rPr>
              <a:t>Numeric.value</a:t>
            </a:r>
          </a:p>
        </p:txBody>
      </p:sp>
      <p:cxnSp>
        <p:nvCxnSpPr>
          <p:cNvPr id="11" name="Connector 10"/>
          <p:cNvCxnSpPr/>
          <p:nvPr/>
        </p:nvCxnSpPr>
        <p:spPr>
          <a:xfrm>
            <a:off x="4572000" y="2084831"/>
            <a:ext cx="0" cy="155449"/>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2441448" y="2240280"/>
            <a:ext cx="2130552"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441448" y="2240280"/>
            <a:ext cx="0" cy="210312"/>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572000" y="2084831"/>
            <a:ext cx="0" cy="155449"/>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572000" y="2240280"/>
            <a:ext cx="211226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684264" y="2240280"/>
            <a:ext cx="0" cy="210312"/>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6344" y="2514600"/>
            <a:ext cx="3931920" cy="1591056"/>
          </a:xfrm>
          <a:prstGeom prst="rect">
            <a:avLst/>
          </a:prstGeom>
          <a:solidFill>
            <a:srgbClr val="F7F7F7"/>
          </a:solidFill>
          <a:ln>
            <a:noFill/>
          </a:ln>
          <a:effectLst/>
        </p:spPr>
        <p:txBody>
          <a:bodyPr rtlCol="0" anchor="ctr"/>
          <a:lstStyle/>
          <a:p>
            <a:pPr algn="ctr"/>
          </a:p>
        </p:txBody>
      </p:sp>
      <p:sp>
        <p:nvSpPr>
          <p:cNvPr id="18" name="Known value · Python payload"/>
          <p:cNvSpPr txBox="1"/>
          <p:nvPr/>
        </p:nvSpPr>
        <p:spPr>
          <a:xfrm>
            <a:off x="621792" y="2624328"/>
            <a:ext cx="362102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Known value · Python payload</a:t>
            </a:r>
          </a:p>
        </p:txBody>
      </p:sp>
      <p:sp>
        <p:nvSpPr>
          <p:cNvPr id="19" name="m.Int32(3)"/>
          <p:cNvSpPr txBox="1"/>
          <p:nvPr/>
        </p:nvSpPr>
        <p:spPr>
          <a:xfrm>
            <a:off x="621792" y="2999232"/>
            <a:ext cx="3621024" cy="181610"/>
          </a:xfrm>
          <a:prstGeom prst="rect">
            <a:avLst/>
          </a:prstGeom>
          <a:noFill/>
        </p:spPr>
        <p:txBody>
          <a:bodyPr wrap="none" anchor="t" lIns="0" rIns="0" tIns="0" bIns="0">
            <a:noAutofit/>
          </a:bodyPr>
          <a:lstStyle/>
          <a:p>
            <a:pPr algn="l">
              <a:lnSpc>
                <a:spcPts val="1386"/>
              </a:lnSpc>
              <a:spcBef>
                <a:spcPts val="0"/>
              </a:spcBef>
              <a:spcAft>
                <a:spcPts val="0"/>
              </a:spcAft>
            </a:pPr>
            <a:r>
              <a:rPr sz="1100" b="0">
                <a:solidFill>
                  <a:srgbClr val="484848"/>
                </a:solidFill>
                <a:latin typeface="JetBrains Mono"/>
              </a:rPr>
              <a:t>m.Int32(3)</a:t>
            </a:r>
          </a:p>
        </p:txBody>
      </p:sp>
      <p:sp>
        <p:nvSpPr>
          <p:cNvPr id="20" name="# value: Python int"/>
          <p:cNvSpPr txBox="1"/>
          <p:nvPr/>
        </p:nvSpPr>
        <p:spPr>
          <a:xfrm>
            <a:off x="621792" y="3178048"/>
            <a:ext cx="3621024" cy="181610"/>
          </a:xfrm>
          <a:prstGeom prst="rect">
            <a:avLst/>
          </a:prstGeom>
          <a:noFill/>
        </p:spPr>
        <p:txBody>
          <a:bodyPr wrap="none" anchor="t" lIns="0" rIns="0" tIns="0" bIns="0">
            <a:noAutofit/>
          </a:bodyPr>
          <a:lstStyle/>
          <a:p>
            <a:pPr algn="l">
              <a:lnSpc>
                <a:spcPts val="1386"/>
              </a:lnSpc>
              <a:spcBef>
                <a:spcPts val="0"/>
              </a:spcBef>
              <a:spcAft>
                <a:spcPts val="0"/>
              </a:spcAft>
            </a:pPr>
            <a:r>
              <a:rPr sz="1100" b="0">
                <a:solidFill>
                  <a:srgbClr val="484848"/>
                </a:solidFill>
                <a:latin typeface="JetBrains Mono"/>
              </a:rPr>
              <a:t># value: Python int</a:t>
            </a:r>
          </a:p>
        </p:txBody>
      </p:sp>
      <p:sp>
        <p:nvSpPr>
          <p:cNvPr id="21" name="# Python computes now"/>
          <p:cNvSpPr txBox="1"/>
          <p:nvPr/>
        </p:nvSpPr>
        <p:spPr>
          <a:xfrm>
            <a:off x="621792" y="3356864"/>
            <a:ext cx="3621024" cy="181610"/>
          </a:xfrm>
          <a:prstGeom prst="rect">
            <a:avLst/>
          </a:prstGeom>
          <a:noFill/>
        </p:spPr>
        <p:txBody>
          <a:bodyPr wrap="none" anchor="t" lIns="0" rIns="0" tIns="0" bIns="0">
            <a:noAutofit/>
          </a:bodyPr>
          <a:lstStyle/>
          <a:p>
            <a:pPr algn="l">
              <a:lnSpc>
                <a:spcPts val="1386"/>
              </a:lnSpc>
              <a:spcBef>
                <a:spcPts val="0"/>
              </a:spcBef>
              <a:spcAft>
                <a:spcPts val="0"/>
              </a:spcAft>
            </a:pPr>
            <a:r>
              <a:rPr sz="1100" b="0">
                <a:solidFill>
                  <a:srgbClr val="484848"/>
                </a:solidFill>
                <a:latin typeface="JetBrains Mono"/>
              </a:rPr>
              <a:t># Python computes now</a:t>
            </a:r>
          </a:p>
        </p:txBody>
      </p:sp>
      <p:sp>
        <p:nvSpPr>
          <p:cNvPr id="22" name="Rectangle 21"/>
          <p:cNvSpPr/>
          <p:nvPr/>
        </p:nvSpPr>
        <p:spPr>
          <a:xfrm>
            <a:off x="4745736" y="2514600"/>
            <a:ext cx="3931920" cy="1591056"/>
          </a:xfrm>
          <a:prstGeom prst="rect">
            <a:avLst/>
          </a:prstGeom>
          <a:solidFill>
            <a:srgbClr val="F0F6E6"/>
          </a:solidFill>
          <a:ln>
            <a:noFill/>
          </a:ln>
          <a:effectLst/>
        </p:spPr>
        <p:txBody>
          <a:bodyPr rtlCol="0" anchor="ctr"/>
          <a:lstStyle/>
          <a:p>
            <a:pPr algn="ctr"/>
          </a:p>
        </p:txBody>
      </p:sp>
      <p:sp>
        <p:nvSpPr>
          <p:cNvPr id="23" name="Runtime value · SSA payload"/>
          <p:cNvSpPr txBox="1"/>
          <p:nvPr/>
        </p:nvSpPr>
        <p:spPr>
          <a:xfrm>
            <a:off x="4901184" y="2624328"/>
            <a:ext cx="362102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Runtime value · SSA payload</a:t>
            </a:r>
          </a:p>
        </p:txBody>
      </p:sp>
      <p:sp>
        <p:nvSpPr>
          <p:cNvPr id="24" name="# x: m.Int32 at the boundary"/>
          <p:cNvSpPr txBox="1"/>
          <p:nvPr/>
        </p:nvSpPr>
        <p:spPr>
          <a:xfrm>
            <a:off x="4901184" y="2999232"/>
            <a:ext cx="3621024" cy="181610"/>
          </a:xfrm>
          <a:prstGeom prst="rect">
            <a:avLst/>
          </a:prstGeom>
          <a:noFill/>
        </p:spPr>
        <p:txBody>
          <a:bodyPr wrap="none" anchor="t" lIns="0" rIns="0" tIns="0" bIns="0">
            <a:noAutofit/>
          </a:bodyPr>
          <a:lstStyle/>
          <a:p>
            <a:pPr algn="l">
              <a:lnSpc>
                <a:spcPts val="1386"/>
              </a:lnSpc>
              <a:spcBef>
                <a:spcPts val="0"/>
              </a:spcBef>
              <a:spcAft>
                <a:spcPts val="0"/>
              </a:spcAft>
            </a:pPr>
            <a:r>
              <a:rPr sz="1100" b="0">
                <a:solidFill>
                  <a:srgbClr val="484848"/>
                </a:solidFill>
                <a:latin typeface="JetBrains Mono"/>
              </a:rPr>
              <a:t># x: m.Int32 at the boundary</a:t>
            </a:r>
          </a:p>
        </p:txBody>
      </p:sp>
      <p:sp>
        <p:nvSpPr>
          <p:cNvPr id="25" name="# value: ir.Value of type i32"/>
          <p:cNvSpPr txBox="1"/>
          <p:nvPr/>
        </p:nvSpPr>
        <p:spPr>
          <a:xfrm>
            <a:off x="4901184" y="3178048"/>
            <a:ext cx="3621024" cy="181610"/>
          </a:xfrm>
          <a:prstGeom prst="rect">
            <a:avLst/>
          </a:prstGeom>
          <a:noFill/>
        </p:spPr>
        <p:txBody>
          <a:bodyPr wrap="none" anchor="t" lIns="0" rIns="0" tIns="0" bIns="0">
            <a:noAutofit/>
          </a:bodyPr>
          <a:lstStyle/>
          <a:p>
            <a:pPr algn="l">
              <a:lnSpc>
                <a:spcPts val="1386"/>
              </a:lnSpc>
              <a:spcBef>
                <a:spcPts val="0"/>
              </a:spcBef>
              <a:spcAft>
                <a:spcPts val="0"/>
              </a:spcAft>
            </a:pPr>
            <a:r>
              <a:rPr sz="1100" b="0">
                <a:solidFill>
                  <a:srgbClr val="484848"/>
                </a:solidFill>
                <a:latin typeface="JetBrains Mono"/>
              </a:rPr>
              <a:t># value: ir.Value of type i32</a:t>
            </a:r>
          </a:p>
        </p:txBody>
      </p:sp>
      <p:sp>
        <p:nvSpPr>
          <p:cNvPr id="26" name="# operators emit arith ops"/>
          <p:cNvSpPr txBox="1"/>
          <p:nvPr/>
        </p:nvSpPr>
        <p:spPr>
          <a:xfrm>
            <a:off x="4901184" y="3356864"/>
            <a:ext cx="3621024" cy="181610"/>
          </a:xfrm>
          <a:prstGeom prst="rect">
            <a:avLst/>
          </a:prstGeom>
          <a:noFill/>
        </p:spPr>
        <p:txBody>
          <a:bodyPr wrap="none" anchor="t" lIns="0" rIns="0" tIns="0" bIns="0">
            <a:noAutofit/>
          </a:bodyPr>
          <a:lstStyle/>
          <a:p>
            <a:pPr algn="l">
              <a:lnSpc>
                <a:spcPts val="1386"/>
              </a:lnSpc>
              <a:spcBef>
                <a:spcPts val="0"/>
              </a:spcBef>
              <a:spcAft>
                <a:spcPts val="0"/>
              </a:spcAft>
            </a:pPr>
            <a:r>
              <a:rPr sz="1100" b="0">
                <a:solidFill>
                  <a:srgbClr val="484848"/>
                </a:solidFill>
                <a:latin typeface="JetBrains Mono"/>
              </a:rPr>
              <a:t># operators emit arith ops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small set of reusable value building block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small set of reusable value building blocks</a:t>
            </a:r>
          </a:p>
        </p:txBody>
      </p:sp>
      <p:sp>
        <p:nvSpPr>
          <p:cNvPr id="5" name="Keep the common type machinery; extend the domain-specific valu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Keep the common type machinery; extend the domain-specific values.</a:t>
            </a:r>
          </a:p>
        </p:txBody>
      </p:sp>
      <p:sp>
        <p:nvSpPr>
          <p:cNvPr id="6" name="1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16</a:t>
            </a:r>
          </a:p>
        </p:txBody>
      </p:sp>
      <p:sp>
        <p:nvSpPr>
          <p:cNvPr id="7"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8" name="Core types compose with registered leaves such as mydialect.Tensor."/>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Core types compose with registered leaves such as mydialect.Tensor.</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Building block"/>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Building block</a:t>
            </a:r>
          </a:p>
        </p:txBody>
      </p:sp>
      <p:sp>
        <p:nvSpPr>
          <p:cNvPr id="11" name="What the extracted core provides"/>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What the extracted core provides</a:t>
            </a:r>
          </a:p>
        </p:txBody>
      </p:sp>
      <p:sp>
        <p:nvSpPr>
          <p:cNvPr id="12" name="Rectangle 11"/>
          <p:cNvSpPr/>
          <p:nvPr/>
        </p:nvSpPr>
        <p:spPr>
          <a:xfrm>
            <a:off x="438912" y="1956816"/>
            <a:ext cx="8266175" cy="427939"/>
          </a:xfrm>
          <a:prstGeom prst="rect">
            <a:avLst/>
          </a:prstGeom>
          <a:solidFill>
            <a:srgbClr val="F7F7F7"/>
          </a:solidFill>
          <a:ln>
            <a:noFill/>
          </a:ln>
          <a:effectLst/>
        </p:spPr>
        <p:txBody>
          <a:bodyPr rtlCol="0" anchor="ctr"/>
          <a:lstStyle/>
          <a:p>
            <a:pPr algn="ctr"/>
          </a:p>
        </p:txBody>
      </p:sp>
      <p:sp>
        <p:nvSpPr>
          <p:cNvPr id="13" name="Numeric types"/>
          <p:cNvSpPr txBox="1"/>
          <p:nvPr/>
        </p:nvSpPr>
        <p:spPr>
          <a:xfrm>
            <a:off x="576072" y="2075688"/>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Numeric types</a:t>
            </a:r>
          </a:p>
        </p:txBody>
      </p:sp>
      <p:sp>
        <p:nvSpPr>
          <p:cNvPr id="14" name="Int / Float / Boolean; promotion, cast, align, dtype"/>
          <p:cNvSpPr txBox="1"/>
          <p:nvPr/>
        </p:nvSpPr>
        <p:spPr>
          <a:xfrm>
            <a:off x="3355848" y="2075688"/>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Int / Float / Boolean; promotion, cast, align, dtype</a:t>
            </a:r>
          </a:p>
        </p:txBody>
      </p:sp>
      <p:sp>
        <p:nvSpPr>
          <p:cNvPr id="15" name="Rectangle 14"/>
          <p:cNvSpPr/>
          <p:nvPr/>
        </p:nvSpPr>
        <p:spPr>
          <a:xfrm>
            <a:off x="438912" y="2384755"/>
            <a:ext cx="8266175" cy="427939"/>
          </a:xfrm>
          <a:prstGeom prst="rect">
            <a:avLst/>
          </a:prstGeom>
          <a:solidFill>
            <a:srgbClr val="FFFFFF"/>
          </a:solidFill>
          <a:ln>
            <a:noFill/>
          </a:ln>
          <a:effectLst/>
        </p:spPr>
        <p:txBody>
          <a:bodyPr rtlCol="0" anchor="ctr"/>
          <a:lstStyle/>
          <a:p>
            <a:pPr algn="ctr"/>
          </a:p>
        </p:txBody>
      </p:sp>
      <p:sp>
        <p:nvSpPr>
          <p:cNvPr id="16" name="Pointer"/>
          <p:cNvSpPr txBox="1"/>
          <p:nvPr/>
        </p:nvSpPr>
        <p:spPr>
          <a:xfrm>
            <a:off x="576072" y="2503627"/>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Pointer</a:t>
            </a:r>
          </a:p>
        </p:txBody>
      </p:sp>
      <p:sp>
        <p:nvSpPr>
          <p:cNvPr id="17" name="LLVM pointer; load/store, masked access, address arithmetic"/>
          <p:cNvSpPr txBox="1"/>
          <p:nvPr/>
        </p:nvSpPr>
        <p:spPr>
          <a:xfrm>
            <a:off x="3355848" y="2503627"/>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LLVM pointer; load/store, masked access, address arithmetic</a:t>
            </a:r>
          </a:p>
        </p:txBody>
      </p:sp>
      <p:sp>
        <p:nvSpPr>
          <p:cNvPr id="18" name="Rectangle 17"/>
          <p:cNvSpPr/>
          <p:nvPr/>
        </p:nvSpPr>
        <p:spPr>
          <a:xfrm>
            <a:off x="438912" y="2812694"/>
            <a:ext cx="8266175" cy="427939"/>
          </a:xfrm>
          <a:prstGeom prst="rect">
            <a:avLst/>
          </a:prstGeom>
          <a:solidFill>
            <a:srgbClr val="F7F7F7"/>
          </a:solidFill>
          <a:ln>
            <a:noFill/>
          </a:ln>
          <a:effectLst/>
        </p:spPr>
        <p:txBody>
          <a:bodyPr rtlCol="0" anchor="ctr"/>
          <a:lstStyle/>
          <a:p>
            <a:pPr algn="ctr"/>
          </a:p>
        </p:txBody>
      </p:sp>
      <p:sp>
        <p:nvSpPr>
          <p:cNvPr id="19" name="Struct + frozen records"/>
          <p:cNvSpPr txBox="1"/>
          <p:nvPr/>
        </p:nvSpPr>
        <p:spPr>
          <a:xfrm>
            <a:off x="576072" y="2931566"/>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Struct + frozen records</a:t>
            </a:r>
          </a:p>
        </p:txBody>
      </p:sp>
      <p:sp>
        <p:nvSpPr>
          <p:cNvPr id="20" name="Immutable layouts and stable staged state"/>
          <p:cNvSpPr txBox="1"/>
          <p:nvPr/>
        </p:nvSpPr>
        <p:spPr>
          <a:xfrm>
            <a:off x="3355848" y="2931566"/>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Immutable layouts and stable staged state</a:t>
            </a:r>
          </a:p>
        </p:txBody>
      </p:sp>
      <p:sp>
        <p:nvSpPr>
          <p:cNvPr id="21" name="Rectangle 20"/>
          <p:cNvSpPr/>
          <p:nvPr/>
        </p:nvSpPr>
        <p:spPr>
          <a:xfrm>
            <a:off x="438912" y="3240633"/>
            <a:ext cx="8266175" cy="427939"/>
          </a:xfrm>
          <a:prstGeom prst="rect">
            <a:avLst/>
          </a:prstGeom>
          <a:solidFill>
            <a:srgbClr val="FFFFFF"/>
          </a:solidFill>
          <a:ln>
            <a:noFill/>
          </a:ln>
          <a:effectLst/>
        </p:spPr>
        <p:txBody>
          <a:bodyPr rtlCol="0" anchor="ctr"/>
          <a:lstStyle/>
          <a:p>
            <a:pPr algn="ctr"/>
          </a:p>
        </p:txBody>
      </p:sp>
      <p:sp>
        <p:nvSpPr>
          <p:cNvPr id="22" name="Vector"/>
          <p:cNvSpPr txBox="1"/>
          <p:nvPr/>
        </p:nvSpPr>
        <p:spPr>
          <a:xfrm>
            <a:off x="576072" y="3359505"/>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Vector</a:t>
            </a:r>
          </a:p>
        </p:txBody>
      </p:sp>
      <p:sp>
        <p:nvSpPr>
          <p:cNvPr id="23" name="A value leaf with splat, sum, and lane access"/>
          <p:cNvSpPr txBox="1"/>
          <p:nvPr/>
        </p:nvSpPr>
        <p:spPr>
          <a:xfrm>
            <a:off x="3355848" y="3359505"/>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 value leaf with splat, sum, and lane access</a:t>
            </a:r>
          </a:p>
        </p:txBody>
      </p:sp>
      <p:sp>
        <p:nvSpPr>
          <p:cNvPr id="24" name="Rectangle 23"/>
          <p:cNvSpPr/>
          <p:nvPr/>
        </p:nvSpPr>
        <p:spPr>
          <a:xfrm>
            <a:off x="438912" y="3668572"/>
            <a:ext cx="8266175" cy="427939"/>
          </a:xfrm>
          <a:prstGeom prst="rect">
            <a:avLst/>
          </a:prstGeom>
          <a:solidFill>
            <a:srgbClr val="F7F7F7"/>
          </a:solidFill>
          <a:ln>
            <a:noFill/>
          </a:ln>
          <a:effectLst/>
        </p:spPr>
        <p:txBody>
          <a:bodyPr rtlCol="0" anchor="ctr"/>
          <a:lstStyle/>
          <a:p>
            <a:pPr algn="ctr"/>
          </a:p>
        </p:txBody>
      </p:sp>
      <p:sp>
        <p:nvSpPr>
          <p:cNvPr id="25" name="Interop + math"/>
          <p:cNvSpPr txBox="1"/>
          <p:nvPr/>
        </p:nvSpPr>
        <p:spPr>
          <a:xfrm>
            <a:off x="576072" y="3787444"/>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Interop + math</a:t>
            </a:r>
          </a:p>
        </p:txBody>
      </p:sp>
      <p:sp>
        <p:nvSpPr>
          <p:cNvPr id="26" name="Lazy Torch dtype bridge; a focused math helper set"/>
          <p:cNvSpPr txBox="1"/>
          <p:nvPr/>
        </p:nvSpPr>
        <p:spPr>
          <a:xfrm>
            <a:off x="3355848" y="3787444"/>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Lazy Torch dtype bridge; a focused math helper set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How type inference work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How type inference works</a:t>
            </a:r>
          </a:p>
        </p:txBody>
      </p:sp>
      <p:sp>
        <p:nvSpPr>
          <p:cNvPr id="5" name="Types follow annotations, operands, and MLIR result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Types follow annotations, operands, and MLIR results.</a:t>
            </a:r>
          </a:p>
        </p:txBody>
      </p:sp>
      <p:sp>
        <p:nvSpPr>
          <p:cNvPr id="6" name="1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17</a:t>
            </a:r>
          </a:p>
        </p:txBody>
      </p:sp>
      <p:sp>
        <p:nvSpPr>
          <p:cNvPr id="7"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8" name="Inference is local to typed values; it is not whole-program Python type inferenc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Inference is local to typed values; it is not whole-program Python type inference.</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An annotated boundary + local inference"/>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An annotated boundary + local inference</a:t>
            </a:r>
          </a:p>
        </p:txBody>
      </p:sp>
      <p:sp>
        <p:nvSpPr>
          <p:cNvPr id="11"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2" name="def affine(x: m.Int32, facto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affine(x: m.Int32, factor):</a:t>
            </a:r>
          </a:p>
        </p:txBody>
      </p:sp>
      <p:sp>
        <p:nvSpPr>
          <p:cNvPr id="13" name="    return x * factor + 1"/>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factor + 1</a:t>
            </a:r>
          </a:p>
        </p:txBody>
      </p:sp>
      <p:sp>
        <p:nvSpPr>
          <p:cNvPr id="14"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affine(4, 3)"/>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affine(4, 3)</a:t>
            </a:r>
          </a:p>
        </p:txBody>
      </p:sp>
      <p:sp>
        <p:nvSpPr>
          <p:cNvPr id="16"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7" name="# x       -&gt; runtime i32"/>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x       -&gt; runtime i32</a:t>
            </a:r>
          </a:p>
        </p:txBody>
      </p:sp>
      <p:sp>
        <p:nvSpPr>
          <p:cNvPr id="18" name="# factor  -&gt; known Python in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factor  -&gt; known Python int</a:t>
            </a:r>
          </a:p>
        </p:txBody>
      </p:sp>
      <p:sp>
        <p:nvSpPr>
          <p:cNvPr id="19" name="# result  -&gt; i32"/>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result  -&gt; i32</a:t>
            </a:r>
          </a:p>
        </p:txBody>
      </p:sp>
      <p:sp>
        <p:nvSpPr>
          <p:cNvPr id="20" name="At the boundary"/>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At the boundary</a:t>
            </a:r>
          </a:p>
        </p:txBody>
      </p:sp>
      <p:sp>
        <p:nvSpPr>
          <p:cNvPr id="21" name="Annotations select runtime types; / plain configuration can specialize."/>
          <p:cNvSpPr txBox="1"/>
          <p:nvPr/>
        </p:nvSpPr>
        <p:spPr>
          <a:xfrm>
            <a:off x="5916168" y="1984248"/>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Annotations select runtime types;</a:t>
            </a:r>
          </a:p>
          <a:p>
            <a:pPr algn="l">
              <a:lnSpc>
                <a:spcPts val="1391"/>
              </a:lnSpc>
              <a:spcBef>
                <a:spcPts val="0"/>
              </a:spcBef>
              <a:spcAft>
                <a:spcPts val="0"/>
              </a:spcAft>
            </a:pPr>
            <a:r>
              <a:rPr sz="1200" b="0">
                <a:solidFill>
                  <a:srgbClr val="616161"/>
                </a:solidFill>
                <a:latin typeface="NVIDIA Sans"/>
              </a:rPr>
              <a:t>plain configuration can specialize.</a:t>
            </a:r>
          </a:p>
        </p:txBody>
      </p:sp>
      <p:sp>
        <p:nvSpPr>
          <p:cNvPr id="22" name="At each operator"/>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At each operator</a:t>
            </a:r>
          </a:p>
        </p:txBody>
      </p:sp>
      <p:sp>
        <p:nvSpPr>
          <p:cNvPr id="23" name="Promote operand types, materialize / constants, and wrap the IR result."/>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Promote operand types, materialize</a:t>
            </a:r>
          </a:p>
          <a:p>
            <a:pPr algn="l">
              <a:lnSpc>
                <a:spcPts val="1391"/>
              </a:lnSpc>
              <a:spcBef>
                <a:spcPts val="0"/>
              </a:spcBef>
              <a:spcAft>
                <a:spcPts val="0"/>
              </a:spcAft>
            </a:pPr>
            <a:r>
              <a:rPr sz="1200" b="0">
                <a:solidFill>
                  <a:srgbClr val="616161"/>
                </a:solidFill>
                <a:latin typeface="NVIDIA Sans"/>
              </a:rPr>
              <a:t>constants, and wrap the IR result.</a:t>
            </a:r>
          </a:p>
        </p:txBody>
      </p:sp>
      <p:sp>
        <p:nvSpPr>
          <p:cNvPr id="24" name="At a control-flow join"/>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At a control-flow join</a:t>
            </a:r>
          </a:p>
        </p:txBody>
      </p:sp>
      <p:sp>
        <p:nvSpPr>
          <p:cNvPr id="25" name="Carry the same leaf structure / and stable MLIR types."/>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Carry the same leaf structure</a:t>
            </a:r>
          </a:p>
          <a:p>
            <a:pPr algn="l">
              <a:lnSpc>
                <a:spcPts val="1391"/>
              </a:lnSpc>
              <a:spcBef>
                <a:spcPts val="0"/>
              </a:spcBef>
              <a:spcAft>
                <a:spcPts val="0"/>
              </a:spcAft>
            </a:pPr>
            <a:r>
              <a:rPr sz="1200" b="0">
                <a:solidFill>
                  <a:srgbClr val="616161"/>
                </a:solidFill>
                <a:latin typeface="NVIDIA Sans"/>
              </a:rPr>
              <a:t>and stable MLIR types.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Use your dialect’s arithmetic"/>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Use your dialect’s arithmetic</a:t>
            </a:r>
          </a:p>
        </p:txBody>
      </p:sp>
      <p:sp>
        <p:nvSpPr>
          <p:cNvPr id="5" name="Keep numeric policy separate from operation emission."/>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Keep numeric policy separate from operation emission.</a:t>
            </a:r>
          </a:p>
        </p:txBody>
      </p:sp>
      <p:sp>
        <p:nvSpPr>
          <p:cNvPr id="6" name="1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18</a:t>
            </a:r>
          </a:p>
        </p:txBody>
      </p:sp>
      <p:sp>
        <p:nvSpPr>
          <p:cNvPr id="7"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8" name="Python operators select arith or your dialect’s operations; each value type owns its policy."/>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Python operators select arith or your dialect’s operations; each value type owns its policy.</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Downstream value · extension sketch"/>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Downstream value · extension sketch</a:t>
            </a:r>
          </a:p>
        </p:txBody>
      </p:sp>
      <p:sp>
        <p:nvSpPr>
          <p:cNvPr id="11" name="class MyNumber:"/>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MyNumber:</a:t>
            </a:r>
          </a:p>
        </p:txBody>
      </p:sp>
      <p:sp>
        <p:nvSpPr>
          <p:cNvPr id="12" name="    def __init__(self, value):"/>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value):</a:t>
            </a:r>
          </a:p>
        </p:txBody>
      </p:sp>
      <p:sp>
        <p:nvSpPr>
          <p:cNvPr id="13" name="        self.value = value"/>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self.value = value</a:t>
            </a:r>
          </a:p>
        </p:txBody>
      </p:sp>
      <p:sp>
        <p:nvSpPr>
          <p:cNvPr id="14" name="    def __add__(self, rhs):"/>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__add__(self, rhs):</a:t>
            </a:r>
          </a:p>
        </p:txBody>
      </p:sp>
      <p:sp>
        <p:nvSpPr>
          <p:cNvPr id="15" name="        op = myarith.AddOp("/>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op = myarith.AddOp(</a:t>
            </a:r>
          </a:p>
        </p:txBody>
      </p:sp>
      <p:sp>
        <p:nvSpPr>
          <p:cNvPr id="16" name="            self.value, rhs.value)"/>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self.value, rhs.value)</a:t>
            </a:r>
          </a:p>
        </p:txBody>
      </p:sp>
      <p:sp>
        <p:nvSpPr>
          <p:cNvPr id="17" name="        return MyNumber(op.result)"/>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MyNumber(op.result)</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Dialect plugin · extension sketch"/>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Dialect plugin · extension sketch</a:t>
            </a:r>
          </a:p>
        </p:txBody>
      </p:sp>
      <p:sp>
        <p:nvSpPr>
          <p:cNvPr id="20" name="class MyArithPlugin(m.DialectPlugi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MyArithPlugin(m.DialectPlugin):</a:t>
            </a:r>
          </a:p>
        </p:txBody>
      </p:sp>
      <p:sp>
        <p:nvSpPr>
          <p:cNvPr id="21" name="    def register_dialects(self, context):"/>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register_dialects(self, context):</a:t>
            </a:r>
          </a:p>
        </p:txBody>
      </p:sp>
      <p:sp>
        <p:nvSpPr>
          <p:cNvPr id="22" name="        myarith.register_dialect(context)"/>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myarith.register_dialect(context)</a:t>
            </a:r>
          </a:p>
        </p:txBody>
      </p:sp>
      <p:sp>
        <p:nvSpPr>
          <p:cNvPr id="23" name="    def pipeline_passes(self):"/>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pipeline_passes(self):</a:t>
            </a:r>
          </a:p>
        </p:txBody>
      </p:sp>
      <p:sp>
        <p:nvSpPr>
          <p:cNvPr id="24" name="        return [&quot;convert-myarith-to-llvm&quot;]"/>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["convert-myarith-to-llvm"]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xtend the type system: mydialect.Tenso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Extend the type system: mydialect.Tensor</a:t>
            </a:r>
          </a:p>
        </p:txBody>
      </p:sp>
      <p:sp>
        <p:nvSpPr>
          <p:cNvPr id="5" name="Package DkgDSL’s extract/rebuild value protocol as registered leav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Package DkgDSL’s extract/rebuild value protocol as registered leaves.</a:t>
            </a:r>
          </a:p>
        </p:txBody>
      </p:sp>
      <p:sp>
        <p:nvSpPr>
          <p:cNvPr id="6" name="1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19</a:t>
            </a:r>
          </a:p>
        </p:txBody>
      </p:sp>
      <p:sp>
        <p:nvSpPr>
          <p:cNvPr id="7"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8" name="A new dialect type can reuse the same staging and control-flow machinery."/>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 new dialect type can reuse the same staging and control-flow machinery.</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Register a downstream Tensor wrapper"/>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Register a downstream Tensor wrapper</a:t>
            </a:r>
          </a:p>
        </p:txBody>
      </p:sp>
      <p:sp>
        <p:nvSpPr>
          <p:cNvPr id="11" name="class Tensor:"/>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Tensor:</a:t>
            </a:r>
          </a:p>
        </p:txBody>
      </p:sp>
      <p:sp>
        <p:nvSpPr>
          <p:cNvPr id="12" name="    def __init__(self, valu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__init__(self, value):</a:t>
            </a:r>
          </a:p>
        </p:txBody>
      </p:sp>
      <p:sp>
        <p:nvSpPr>
          <p:cNvPr id="13" name="        self.value = valu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self.value = value</a:t>
            </a:r>
          </a:p>
        </p:txBody>
      </p:sp>
      <p:sp>
        <p:nvSpPr>
          <p:cNvPr id="14"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m.register_lea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m.register_leaf(</a:t>
            </a:r>
          </a:p>
        </p:txBody>
      </p:sp>
      <p:sp>
        <p:nvSpPr>
          <p:cNvPr id="16" name="    Tensor,"/>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Tensor,</a:t>
            </a:r>
          </a:p>
        </p:txBody>
      </p:sp>
      <p:sp>
        <p:nvSpPr>
          <p:cNvPr id="17" name="    ir_types=lambda t: [t.value.typ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ir_types=lambda t: [t.value.type],</a:t>
            </a:r>
          </a:p>
        </p:txBody>
      </p:sp>
      <p:sp>
        <p:nvSpPr>
          <p:cNvPr id="18" name="    ir_values=lambda t: [t.value],"/>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ir_values=lambda t: [t.value],</a:t>
            </a:r>
          </a:p>
        </p:txBody>
      </p:sp>
      <p:sp>
        <p:nvSpPr>
          <p:cNvPr id="19" name="    from_ir_values=lambda old, values:"/>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from_ir_values=lambda old, values:</a:t>
            </a:r>
          </a:p>
        </p:txBody>
      </p:sp>
      <p:sp>
        <p:nvSpPr>
          <p:cNvPr id="20" name="        Tensor(values[0]))"/>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Tensor(values[0]))</a:t>
            </a:r>
          </a:p>
        </p:txBody>
      </p:sp>
      <p:sp>
        <p:nvSpPr>
          <p:cNvPr id="21" name="Flatten / rebuild"/>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Flatten / rebuild</a:t>
            </a:r>
          </a:p>
        </p:txBody>
      </p:sp>
      <p:sp>
        <p:nvSpPr>
          <p:cNvPr id="22" name="Carry the tensor’s SSA value / through calls and region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Carry the tensor’s SSA value</a:t>
            </a:r>
          </a:p>
          <a:p>
            <a:pPr algn="l">
              <a:lnSpc>
                <a:spcPts val="1391"/>
              </a:lnSpc>
              <a:spcBef>
                <a:spcPts val="0"/>
              </a:spcBef>
              <a:spcAft>
                <a:spcPts val="0"/>
              </a:spcAft>
            </a:pPr>
            <a:r>
              <a:rPr sz="1200" b="0">
                <a:solidFill>
                  <a:srgbClr val="616161"/>
                </a:solidFill>
                <a:latin typeface="NVIDIA Sans"/>
              </a:rPr>
              <a:t>through calls and regions.</a:t>
            </a:r>
          </a:p>
        </p:txBody>
      </p:sp>
      <p:sp>
        <p:nvSpPr>
          <p:cNvPr id="23" name="Separate the runtime ABI"/>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Separate the runtime ABI</a:t>
            </a:r>
          </a:p>
        </p:txBody>
      </p:sp>
      <p:sp>
        <p:nvSpPr>
          <p:cNvPr id="24" name="Add an argument adapter when / host objects cross into compiled code."/>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Add an argument adapter when</a:t>
            </a:r>
          </a:p>
          <a:p>
            <a:pPr algn="l">
              <a:lnSpc>
                <a:spcPts val="1391"/>
              </a:lnSpc>
              <a:spcBef>
                <a:spcPts val="0"/>
              </a:spcBef>
              <a:spcAft>
                <a:spcPts val="0"/>
              </a:spcAft>
            </a:pPr>
            <a:r>
              <a:rPr sz="1200" b="0">
                <a:solidFill>
                  <a:srgbClr val="616161"/>
                </a:solidFill>
                <a:latin typeface="NVIDIA Sans"/>
              </a:rPr>
              <a:t>host objects cross into compiled code.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Metaprogramming: specialize with Python valu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Metaprogramming: specialize with Python values</a:t>
            </a:r>
          </a:p>
        </p:txBody>
      </p:sp>
      <p:sp>
        <p:nvSpPr>
          <p:cNvPr id="5" name="Python configuration becomes constants in the generated program."/>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Python configuration becomes constants in the generated program.</a:t>
            </a:r>
          </a:p>
        </p:txBody>
      </p:sp>
      <p:sp>
        <p:nvSpPr>
          <p:cNvPr id="6" name="2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20</a:t>
            </a:r>
          </a:p>
        </p:txBody>
      </p:sp>
      <p:sp>
        <p:nvSpPr>
          <p:cNvPr id="7"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8" name="scale and bias run in the metaprogram; x remains a runtime argument."/>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scale and bias run in the metaprogram; x remains a runtime argument.</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Python · executed example"/>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Python · executed example</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affine(x: m.Int32, scale, bias):"/>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affine(x: m.Int32, scale, bias):</a:t>
            </a:r>
          </a:p>
        </p:txBody>
      </p:sp>
      <p:sp>
        <p:nvSpPr>
          <p:cNvPr id="13" name="    return x * scale + bias"/>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 * scale + bias</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affine(7, 3, 4)  # 25"/>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affine(7, 3, 4)  # 25</a:t>
            </a:r>
          </a:p>
        </p:txBody>
      </p:sp>
      <p:sp>
        <p:nvSpPr>
          <p:cNvPr id="16" name="Rectangle 15"/>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7" name="Generated MLIR · body excerpt"/>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Generated MLIR · body excerpt</a:t>
            </a:r>
          </a:p>
        </p:txBody>
      </p:sp>
      <p:sp>
        <p:nvSpPr>
          <p:cNvPr id="18" name="%c3 = arith.constant 3 : i32"/>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%c3 = arith.constant 3 : i32</a:t>
            </a:r>
          </a:p>
        </p:txBody>
      </p:sp>
      <p:sp>
        <p:nvSpPr>
          <p:cNvPr id="19" name="%c4 = arith.constant 4 : i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%c4 = arith.constant 4 : i32</a:t>
            </a:r>
          </a:p>
        </p:txBody>
      </p:sp>
      <p:sp>
        <p:nvSpPr>
          <p:cNvPr id="20" name="%a = arith.muli %x, %c3 : i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 = arith.muli %x, %c3 : i32</a:t>
            </a:r>
          </a:p>
        </p:txBody>
      </p:sp>
      <p:sp>
        <p:nvSpPr>
          <p:cNvPr id="21" name="%r = arith.addi %a, %c4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arith.addi %a, %c4 : i32</a:t>
            </a:r>
          </a:p>
        </p:txBody>
      </p:sp>
      <p:sp>
        <p:nvSpPr>
          <p:cNvPr id="22" name="llvm.return %r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llvm.return %r : i32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Metaprogramming: objects and dictionari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Metaprogramming: objects and dictionaries</a:t>
            </a:r>
          </a:p>
        </p:txBody>
      </p:sp>
      <p:sp>
        <p:nvSpPr>
          <p:cNvPr id="5" name="Python chooses the operations; the generated program contains their arithmetic."/>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Python chooses the operations; the generated program contains their arithmetic.</a:t>
            </a:r>
          </a:p>
        </p:txBody>
      </p:sp>
      <p:sp>
        <p:nvSpPr>
          <p:cNvPr id="6" name="2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21</a:t>
            </a:r>
          </a:p>
        </p:txBody>
      </p:sp>
      <p:sp>
        <p:nvSpPr>
          <p:cNvPr id="7"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8" name="No runtime dictionary lookup or virtual dispatch is needed for these known object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No runtime dictionary lookup or virtual dispatch is needed for these known objects.</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Ordinary Python polymorphism"/>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Ordinary Python polymorphism</a:t>
            </a:r>
          </a:p>
        </p:txBody>
      </p:sp>
      <p:sp>
        <p:nvSpPr>
          <p:cNvPr id="11" name="class Op:"/>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Op:</a:t>
            </a:r>
          </a:p>
        </p:txBody>
      </p:sp>
      <p:sp>
        <p:nvSpPr>
          <p:cNvPr id="12" name="    def apply(self, x):"/>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a:t>
            </a:r>
          </a:p>
        </p:txBody>
      </p:sp>
      <p:sp>
        <p:nvSpPr>
          <p:cNvPr id="13" name="        raise NotImplementedErro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raise NotImplementedError</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class AddN(Op):"/>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AddN(Op):</a:t>
            </a:r>
          </a:p>
        </p:txBody>
      </p:sp>
      <p:sp>
        <p:nvSpPr>
          <p:cNvPr id="16" name="    def __init__(self, n): self.n = n"/>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n): self.n = n</a:t>
            </a:r>
          </a:p>
        </p:txBody>
      </p:sp>
      <p:sp>
        <p:nvSpPr>
          <p:cNvPr id="17" name="    def apply(self, x): return x + self.n"/>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self.n</a:t>
            </a:r>
          </a:p>
        </p:txBody>
      </p:sp>
      <p:sp>
        <p:nvSpPr>
          <p:cNvPr id="18" name=""/>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9" name="class MulN(Op):"/>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MulN(Op):</a:t>
            </a:r>
          </a:p>
        </p:txBody>
      </p:sp>
      <p:sp>
        <p:nvSpPr>
          <p:cNvPr id="20" name="    def __init__(self, k): self.k = k"/>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k): self.k = k</a:t>
            </a:r>
          </a:p>
        </p:txBody>
      </p:sp>
      <p:sp>
        <p:nvSpPr>
          <p:cNvPr id="21" name="    def apply(self, x): return x * self.k"/>
          <p:cNvSpPr txBox="1"/>
          <p:nvPr/>
        </p:nvSpPr>
        <p:spPr>
          <a:xfrm>
            <a:off x="594360" y="3830319"/>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self.k</a:t>
            </a:r>
          </a:p>
        </p:txBody>
      </p:sp>
      <p:sp>
        <p:nvSpPr>
          <p:cNvPr id="22" name="Rectangle 21"/>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3" name="The metaprogram · executed example"/>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The metaprogram · executed example</a:t>
            </a:r>
          </a:p>
        </p:txBody>
      </p:sp>
      <p:sp>
        <p:nvSpPr>
          <p:cNvPr id="24"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5" name="def pipeline(x: m.Int32, ops: m.Constexpr):"/>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pipeline(x: m.Int32, ops: m.Constexpr):</a:t>
            </a:r>
          </a:p>
        </p:txBody>
      </p:sp>
      <p:sp>
        <p:nvSpPr>
          <p:cNvPr id="26" name="    for op in ops.values():"/>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27" name="        x = op.apply(x)"/>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28" name="    return x"/>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a:t>
            </a:r>
          </a:p>
        </p:txBody>
      </p:sp>
      <p:sp>
        <p:nvSpPr>
          <p:cNvPr id="29"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0" name="ops = {&quot;shift&quot;: AddN(2), &quot;scale&quot;: MulN(3)}"/>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ops = {"shift": AddN(2), "scale": MulN(3)}</a:t>
            </a:r>
          </a:p>
        </p:txBody>
      </p:sp>
      <p:sp>
        <p:nvSpPr>
          <p:cNvPr id="31" name="pipeline(4, ops)  # 18"/>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pipeline(4, ops)  # 18</a:t>
            </a:r>
          </a:p>
        </p:txBody>
      </p:sp>
      <p:sp>
        <p:nvSpPr>
          <p:cNvPr id="32" name=""/>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3" name="# Captured: (x + 2) * 3"/>
          <p:cNvSpPr txBox="1"/>
          <p:nvPr/>
        </p:nvSpPr>
        <p:spPr>
          <a:xfrm>
            <a:off x="4818888" y="364662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Captured: (x + 2) * 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e same metaprogram can build a GPU bod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The same metaprogram can build a GPU body</a:t>
            </a:r>
          </a:p>
        </p:txBody>
      </p:sp>
      <p:sp>
        <p:nvSpPr>
          <p:cNvPr id="5" name="Keep Python object dispatch; capture loads, arithmetic, and stor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Keep Python object dispatch; capture loads, arithmetic, and stores.</a:t>
            </a:r>
          </a:p>
        </p:txBody>
      </p:sp>
      <p:sp>
        <p:nvSpPr>
          <p:cNvPr id="6" name="2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22</a:t>
            </a:r>
          </a:p>
        </p:txBody>
      </p:sp>
      <p:sp>
        <p:nvSpPr>
          <p:cNvPr id="7"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8" name="The abstraction lives in Python; the generated kernel contains the selected operation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abstraction lives in Python; the generated kernel contains the selected operations.</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Extracted Array interface · GPU body"/>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Extracted Array interface · GPU body</a:t>
            </a:r>
          </a:p>
        </p:txBody>
      </p:sp>
      <p:sp>
        <p:nvSpPr>
          <p:cNvPr id="11" name="@m.kernel"/>
          <p:cNvSpPr txBox="1"/>
          <p:nvPr/>
        </p:nvSpPr>
        <p:spPr>
          <a:xfrm>
            <a:off x="594360" y="199339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1">
                <a:solidFill>
                  <a:srgbClr val="416600"/>
                </a:solidFill>
                <a:latin typeface="JetBrains Mono"/>
              </a:rPr>
              <a:t>@m.kernel</a:t>
            </a:r>
          </a:p>
        </p:txBody>
      </p:sp>
      <p:sp>
        <p:nvSpPr>
          <p:cNvPr id="12" name="def fused(arr: m.Array,"/>
          <p:cNvSpPr txBox="1"/>
          <p:nvPr/>
        </p:nvSpPr>
        <p:spPr>
          <a:xfrm>
            <a:off x="594360" y="2177897"/>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def fused(arr: m.Array,</a:t>
            </a:r>
          </a:p>
        </p:txBody>
      </p:sp>
      <p:sp>
        <p:nvSpPr>
          <p:cNvPr id="13" name="          ops: m.Constexpr):"/>
          <p:cNvSpPr txBox="1"/>
          <p:nvPr/>
        </p:nvSpPr>
        <p:spPr>
          <a:xfrm>
            <a:off x="594360" y="2362403"/>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ops: m.Constexpr):</a:t>
            </a:r>
          </a:p>
        </p:txBody>
      </p:sp>
      <p:sp>
        <p:nvSpPr>
          <p:cNvPr id="14" name="    tx, _, _ = m.thread_idx()"/>
          <p:cNvSpPr txBox="1"/>
          <p:nvPr/>
        </p:nvSpPr>
        <p:spPr>
          <a:xfrm>
            <a:off x="594360" y="2546908"/>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tx, _, _ = m.thread_idx()</a:t>
            </a:r>
          </a:p>
        </p:txBody>
      </p:sp>
      <p:sp>
        <p:nvSpPr>
          <p:cNvPr id="15" name="    x = arr[tx]"/>
          <p:cNvSpPr txBox="1"/>
          <p:nvPr/>
        </p:nvSpPr>
        <p:spPr>
          <a:xfrm>
            <a:off x="594360" y="2731414"/>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x = arr[tx]</a:t>
            </a:r>
          </a:p>
        </p:txBody>
      </p:sp>
      <p:sp>
        <p:nvSpPr>
          <p:cNvPr id="16" name="    for op in ops.values():"/>
          <p:cNvSpPr txBox="1"/>
          <p:nvPr/>
        </p:nvSpPr>
        <p:spPr>
          <a:xfrm>
            <a:off x="594360" y="2915919"/>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for op in ops.values():</a:t>
            </a:r>
          </a:p>
        </p:txBody>
      </p:sp>
      <p:sp>
        <p:nvSpPr>
          <p:cNvPr id="17" name="        x = op.apply(x)"/>
          <p:cNvSpPr txBox="1"/>
          <p:nvPr/>
        </p:nvSpPr>
        <p:spPr>
          <a:xfrm>
            <a:off x="594360" y="3100425"/>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x = op.apply(x)</a:t>
            </a:r>
          </a:p>
        </p:txBody>
      </p:sp>
      <p:sp>
        <p:nvSpPr>
          <p:cNvPr id="18" name="    arr[tx] = x"/>
          <p:cNvSpPr txBox="1"/>
          <p:nvPr/>
        </p:nvSpPr>
        <p:spPr>
          <a:xfrm>
            <a:off x="594360" y="328493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arr[tx] = x</a:t>
            </a:r>
          </a:p>
        </p:txBody>
      </p:sp>
      <p:sp>
        <p:nvSpPr>
          <p:cNvPr id="19" name=""/>
          <p:cNvSpPr txBox="1"/>
          <p:nvPr/>
        </p:nvSpPr>
        <p:spPr>
          <a:xfrm>
            <a:off x="594360" y="3469436"/>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r>
          </a:p>
        </p:txBody>
      </p:sp>
      <p:sp>
        <p:nvSpPr>
          <p:cNvPr id="20" name="# In @m.jit:"/>
          <p:cNvSpPr txBox="1"/>
          <p:nvPr/>
        </p:nvSpPr>
        <p:spPr>
          <a:xfrm>
            <a:off x="594360" y="3653942"/>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16600"/>
                </a:solidFill>
                <a:latin typeface="JetBrains Mono"/>
              </a:rPr>
              <a:t># In @m.jit:</a:t>
            </a:r>
          </a:p>
        </p:txBody>
      </p:sp>
      <p:sp>
        <p:nvSpPr>
          <p:cNvPr id="21" name="# fused(arr, ops).launch(grid=..., block=...)"/>
          <p:cNvSpPr txBox="1"/>
          <p:nvPr/>
        </p:nvSpPr>
        <p:spPr>
          <a:xfrm>
            <a:off x="594360" y="3838447"/>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fused(arr, ops).launch(grid=..., block=...)</a:t>
            </a:r>
          </a:p>
        </p:txBody>
      </p:sp>
      <p:sp>
        <p:nvSpPr>
          <p:cNvPr id="22" name="Meta work"/>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Meta work</a:t>
            </a:r>
          </a:p>
        </p:txBody>
      </p:sp>
      <p:sp>
        <p:nvSpPr>
          <p:cNvPr id="23" name="Iterating ops and selecting / AddN.apply / MulN.apply."/>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Iterating ops and selecting</a:t>
            </a:r>
          </a:p>
          <a:p>
            <a:pPr algn="l">
              <a:lnSpc>
                <a:spcPts val="1391"/>
              </a:lnSpc>
              <a:spcBef>
                <a:spcPts val="0"/>
              </a:spcBef>
              <a:spcAft>
                <a:spcPts val="0"/>
              </a:spcAft>
            </a:pPr>
            <a:r>
              <a:rPr sz="1200" b="0">
                <a:solidFill>
                  <a:srgbClr val="616161"/>
                </a:solidFill>
                <a:latin typeface="NVIDIA Sans"/>
              </a:rPr>
              <a:t>AddN.apply / MulN.apply.</a:t>
            </a:r>
          </a:p>
        </p:txBody>
      </p:sp>
      <p:sp>
        <p:nvSpPr>
          <p:cNvPr id="24" name="Captured work"/>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Captured work</a:t>
            </a:r>
          </a:p>
        </p:txBody>
      </p:sp>
      <p:sp>
        <p:nvSpPr>
          <p:cNvPr id="25" name="Thread index, load, add, / multiply, and store."/>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Thread index, load, add,</a:t>
            </a:r>
          </a:p>
          <a:p>
            <a:pPr algn="l">
              <a:lnSpc>
                <a:spcPts val="1391"/>
              </a:lnSpc>
              <a:spcBef>
                <a:spcPts val="0"/>
              </a:spcBef>
              <a:spcAft>
                <a:spcPts val="0"/>
              </a:spcAft>
            </a:pPr>
            <a:r>
              <a:rPr sz="1200" b="0">
                <a:solidFill>
                  <a:srgbClr val="616161"/>
                </a:solidFill>
                <a:latin typeface="NVIDIA Sans"/>
              </a:rPr>
              <a:t>multiply, and store.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arry over Array and the DLPack boundar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Carry over Array and the DLPack boundary</a:t>
            </a:r>
          </a:p>
        </p:txBody>
      </p:sp>
      <p:sp>
        <p:nvSpPr>
          <p:cNvPr id="5" name="PyTorch, JAX, or NumPy storage → a typed view for generated cod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PyTorch, JAX, or NumPy storage → a typed view for generated code.</a:t>
            </a:r>
          </a:p>
        </p:txBody>
      </p:sp>
      <p:sp>
        <p:nvSpPr>
          <p:cNvPr id="6" name="2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23</a:t>
            </a:r>
          </a:p>
        </p:txBody>
      </p:sp>
      <p:sp>
        <p:nvSpPr>
          <p:cNvPr id="7"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8" name="Generate loads and stores while preserving the tensor’s layout and lifetim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Generate loads and stores while preserving the tensor’s layout and lifetime.</a:t>
            </a:r>
          </a:p>
        </p:txBody>
      </p:sp>
      <p:sp>
        <p:nvSpPr>
          <p:cNvPr id="9" name="Rectangle 8"/>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10" name="Framework tensor"/>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Framework</a:t>
            </a:r>
          </a:p>
          <a:p>
            <a:pPr algn="l">
              <a:lnSpc>
                <a:spcPts val="1739"/>
              </a:lnSpc>
              <a:spcBef>
                <a:spcPts val="0"/>
              </a:spcBef>
              <a:spcAft>
                <a:spcPts val="0"/>
              </a:spcAft>
            </a:pPr>
            <a:r>
              <a:rPr sz="1500" b="1">
                <a:solidFill>
                  <a:srgbClr val="416600"/>
                </a:solidFill>
                <a:latin typeface="NVIDIA Sans"/>
              </a:rPr>
              <a:t>tensor</a:t>
            </a:r>
          </a:p>
        </p:txBody>
      </p:sp>
      <p:sp>
        <p:nvSpPr>
          <p:cNvPr id="11" name="PyTorch / JAX / NumPy / with __dlpack__"/>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PyTorch / JAX / NumPy</a:t>
            </a:r>
          </a:p>
          <a:p>
            <a:pPr algn="l">
              <a:lnSpc>
                <a:spcPts val="1334"/>
              </a:lnSpc>
              <a:spcBef>
                <a:spcPts val="0"/>
              </a:spcBef>
              <a:spcAft>
                <a:spcPts val="0"/>
              </a:spcAft>
            </a:pPr>
            <a:r>
              <a:rPr sz="1150" b="0">
                <a:solidFill>
                  <a:srgbClr val="616161"/>
                </a:solidFill>
                <a:latin typeface="NVIDIA Sans"/>
              </a:rPr>
              <a:t>with __dlpack__</a:t>
            </a:r>
          </a:p>
        </p:txBody>
      </p:sp>
      <p:cxnSp>
        <p:nvCxnSpPr>
          <p:cNvPr id="12" name="Connector 11"/>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4" name="DLPack"/>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DLPack</a:t>
            </a:r>
          </a:p>
        </p:txBody>
      </p:sp>
      <p:sp>
        <p:nvSpPr>
          <p:cNvPr id="15" name="Pointer, dtype, device, / shape, strides, ownership"/>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Pointer, dtype, device,</a:t>
            </a:r>
          </a:p>
          <a:p>
            <a:pPr algn="l">
              <a:lnSpc>
                <a:spcPts val="1334"/>
              </a:lnSpc>
              <a:spcBef>
                <a:spcPts val="0"/>
              </a:spcBef>
              <a:spcAft>
                <a:spcPts val="0"/>
              </a:spcAft>
            </a:pPr>
            <a:r>
              <a:rPr sz="1150" b="0">
                <a:solidFill>
                  <a:srgbClr val="616161"/>
                </a:solidFill>
                <a:latin typeface="NVIDIA Sans"/>
              </a:rPr>
              <a:t>shape, strides,</a:t>
            </a:r>
          </a:p>
          <a:p>
            <a:pPr algn="l">
              <a:lnSpc>
                <a:spcPts val="1334"/>
              </a:lnSpc>
              <a:spcBef>
                <a:spcPts val="0"/>
              </a:spcBef>
              <a:spcAft>
                <a:spcPts val="0"/>
              </a:spcAft>
            </a:pPr>
            <a:r>
              <a:rPr sz="1150" b="0">
                <a:solidFill>
                  <a:srgbClr val="616161"/>
                </a:solidFill>
                <a:latin typeface="NVIDIA Sans"/>
              </a:rPr>
              <a:t>ownership</a:t>
            </a:r>
          </a:p>
        </p:txBody>
      </p:sp>
      <p:cxnSp>
        <p:nvCxnSpPr>
          <p:cNvPr id="16" name="Connector 15"/>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8" name="m.Array"/>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m.Array</a:t>
            </a:r>
          </a:p>
        </p:txBody>
      </p:sp>
      <p:sp>
        <p:nvSpPr>
          <p:cNvPr id="19" name="LLVM pointer + shape, / strides, dtype metadata"/>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LLVM pointer + shape,</a:t>
            </a:r>
          </a:p>
          <a:p>
            <a:pPr algn="l">
              <a:lnSpc>
                <a:spcPts val="1334"/>
              </a:lnSpc>
              <a:spcBef>
                <a:spcPts val="0"/>
              </a:spcBef>
              <a:spcAft>
                <a:spcPts val="0"/>
              </a:spcAft>
            </a:pPr>
            <a:r>
              <a:rPr sz="1150" b="0">
                <a:solidFill>
                  <a:srgbClr val="616161"/>
                </a:solidFill>
                <a:latin typeface="NVIDIA Sans"/>
              </a:rPr>
              <a:t>strides, dtype metadata</a:t>
            </a:r>
          </a:p>
        </p:txBody>
      </p:sp>
      <p:cxnSp>
        <p:nvCxnSpPr>
          <p:cNvPr id="20" name="Connector 19"/>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2" name="LLVM ABI"/>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LLVM ABI</a:t>
            </a:r>
          </a:p>
        </p:txBody>
      </p:sp>
      <p:sp>
        <p:nvSpPr>
          <p:cNvPr id="23" name="Pointer + dynamic / shape / stride values"/>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Pointer + dynamic</a:t>
            </a:r>
          </a:p>
          <a:p>
            <a:pPr algn="l">
              <a:lnSpc>
                <a:spcPts val="1334"/>
              </a:lnSpc>
              <a:spcBef>
                <a:spcPts val="0"/>
              </a:spcBef>
              <a:spcAft>
                <a:spcPts val="0"/>
              </a:spcAft>
            </a:pPr>
            <a:r>
              <a:rPr sz="1150" b="0">
                <a:solidFill>
                  <a:srgbClr val="616161"/>
                </a:solidFill>
                <a:latin typeface="NVIDIA Sans"/>
              </a:rPr>
              <a:t>shape / stride values</a:t>
            </a:r>
          </a:p>
        </p:txBody>
      </p:sp>
      <p:sp>
        <p:nvSpPr>
          <p:cNvPr id="24" name="Extraction target: retain the view and ownership contract; separate device allocation and stream pol"/>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Extraction target: retain the view and ownership contract; separate device allocation and stream policy.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arry over the compile and AOT API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Carry over the compile and AOT APIs</a:t>
            </a:r>
          </a:p>
        </p:txBody>
      </p:sp>
      <p:sp>
        <p:nvSpPr>
          <p:cNvPr id="5" name="CompileCallable separates specialization, execution, and artifact export."/>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CompileCallable separates specialization, execution, and artifact export.</a:t>
            </a:r>
          </a:p>
        </p:txBody>
      </p:sp>
      <p:sp>
        <p:nvSpPr>
          <p:cNvPr id="6" name="2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24</a:t>
            </a:r>
          </a:p>
        </p:txBody>
      </p:sp>
      <p:sp>
        <p:nvSpPr>
          <p:cNvPr id="7"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8" name="Retain the compile API; put target options and artifact formats behind provider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Retain the compile API; put target options and artifact formats behind providers.</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Extracted facade · DkgDSL capability"/>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Extracted facade · DkgDSL capability</a:t>
            </a:r>
          </a:p>
        </p:txBody>
      </p:sp>
      <p:sp>
        <p:nvSpPr>
          <p:cNvPr id="11" name="compiled = m.compile[m.GenerateLineInfo(True)]("/>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compiled = m.compile[m.GenerateLineInfo(True)](</a:t>
            </a:r>
          </a:p>
        </p:txBody>
      </p:sp>
      <p:sp>
        <p:nvSpPr>
          <p:cNvPr id="12" name="    launch, a_sig, b_sig, out_sig)"/>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launch, a_sig, b_sig, out_sig)</a:t>
            </a:r>
          </a:p>
        </p:txBody>
      </p:sp>
      <p:sp>
        <p:nvSpPr>
          <p:cNvPr id="13"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compiled(a, b, ou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compiled(a, b, out)</a:t>
            </a:r>
          </a:p>
        </p:txBody>
      </p:sp>
      <p:sp>
        <p:nvSpPr>
          <p:cNvPr id="15" name="compiled.export_to_c(&quot;build&quot;, &quot;vector_add&quot;)"/>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compiled.export_to_c("build", "vector_add")</a:t>
            </a:r>
          </a:p>
        </p:txBody>
      </p:sp>
      <p:sp>
        <p:nvSpPr>
          <p:cNvPr id="16"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7" name="# IR for a recipe consumer:"/>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 for a recipe consumer:</a:t>
            </a:r>
          </a:p>
        </p:txBody>
      </p:sp>
      <p:sp>
        <p:nvSpPr>
          <p:cNvPr id="18" name="artifact = m.compile.to_precompiled_mlir("/>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artifact = m.compile.to_precompiled_mlir(</a:t>
            </a:r>
          </a:p>
        </p:txBody>
      </p:sp>
      <p:sp>
        <p:nvSpPr>
          <p:cNvPr id="19" name="    recipe, *signature)"/>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recipe, *signature)</a:t>
            </a:r>
          </a:p>
        </p:txBody>
      </p:sp>
      <p:sp>
        <p:nvSpPr>
          <p:cNvPr id="20" name="Compile a signatur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Compile a signature</a:t>
            </a:r>
          </a:p>
        </p:txBody>
      </p:sp>
      <p:sp>
        <p:nvSpPr>
          <p:cNvPr id="21" name="Use representative or fake values; / select options and target artifact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Use representative or fake values;</a:t>
            </a:r>
          </a:p>
          <a:p>
            <a:pPr algn="l">
              <a:lnSpc>
                <a:spcPts val="1391"/>
              </a:lnSpc>
              <a:spcBef>
                <a:spcPts val="0"/>
              </a:spcBef>
              <a:spcAft>
                <a:spcPts val="0"/>
              </a:spcAft>
            </a:pPr>
            <a:r>
              <a:rPr sz="1200" b="0">
                <a:solidFill>
                  <a:srgbClr val="616161"/>
                </a:solidFill>
                <a:latin typeface="NVIDIA Sans"/>
              </a:rPr>
              <a:t>select options and target artifacts.</a:t>
            </a:r>
          </a:p>
        </p:txBody>
      </p:sp>
      <p:sp>
        <p:nvSpPr>
          <p:cNvPr id="22" name="Run or export"/>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Run or export</a:t>
            </a:r>
          </a:p>
        </p:txBody>
      </p:sp>
      <p:sp>
        <p:nvSpPr>
          <p:cNvPr id="23" name="Call the executable, emit C artifacts, / or hand IR to another consume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Call the executable, emit C artifacts,</a:t>
            </a:r>
          </a:p>
          <a:p>
            <a:pPr algn="l">
              <a:lnSpc>
                <a:spcPts val="1391"/>
              </a:lnSpc>
              <a:spcBef>
                <a:spcPts val="0"/>
              </a:spcBef>
              <a:spcAft>
                <a:spcPts val="0"/>
              </a:spcAft>
            </a:pPr>
            <a:r>
              <a:rPr sz="1200" b="0">
                <a:solidFill>
                  <a:srgbClr val="616161"/>
                </a:solidFill>
                <a:latin typeface="NVIDIA Sans"/>
              </a:rPr>
              <a:t>or hand IR to another consumer.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Reuse argument adapters and export as a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Reuse argument adapters and export as a plugin</a:t>
            </a:r>
          </a:p>
        </p:txBody>
      </p:sp>
      <p:sp>
        <p:nvSpPr>
          <p:cNvPr id="5" name="Keep the Python signature, the runtime ABI, and exported entry points connected."/>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Keep the Python signature, the runtime ABI, and exported entry points connected.</a:t>
            </a:r>
          </a:p>
        </p:txBody>
      </p:sp>
      <p:sp>
        <p:nvSpPr>
          <p:cNvPr id="6" name="2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25</a:t>
            </a:r>
          </a:p>
        </p:txBody>
      </p:sp>
      <p:sp>
        <p:nvSpPr>
          <p:cNvPr id="7"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8" name="Adapters describe data; plugins attach and wrap the compiled entry."/>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Adapters describe data; plugins attach and wrap the compiled entry.</a:t>
            </a:r>
          </a:p>
        </p:txBody>
      </p:sp>
      <p:sp>
        <p:nvSpPr>
          <p:cNvPr id="9" name="Rectangle 8"/>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10" name="Python objects"/>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Python objects</a:t>
            </a:r>
          </a:p>
        </p:txBody>
      </p:sp>
      <p:sp>
        <p:nvSpPr>
          <p:cNvPr id="11" name="Scalars, NumPy, Torch, / frozen records"/>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Scalars, NumPy, Torch,</a:t>
            </a:r>
          </a:p>
          <a:p>
            <a:pPr algn="l">
              <a:lnSpc>
                <a:spcPts val="1334"/>
              </a:lnSpc>
              <a:spcBef>
                <a:spcPts val="0"/>
              </a:spcBef>
              <a:spcAft>
                <a:spcPts val="0"/>
              </a:spcAft>
            </a:pPr>
            <a:r>
              <a:rPr sz="1150" b="0">
                <a:solidFill>
                  <a:srgbClr val="616161"/>
                </a:solidFill>
                <a:latin typeface="NVIDIA Sans"/>
              </a:rPr>
              <a:t>frozen records</a:t>
            </a:r>
          </a:p>
        </p:txBody>
      </p:sp>
      <p:cxnSp>
        <p:nvCxnSpPr>
          <p:cNvPr id="12" name="Connector 11"/>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4" name="Adapter registry"/>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Adapter registry</a:t>
            </a:r>
          </a:p>
        </p:txBody>
      </p:sp>
      <p:sp>
        <p:nvSpPr>
          <p:cNvPr id="15" name="Scoped conversions / and runtime marshalling"/>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Scoped conversions</a:t>
            </a:r>
          </a:p>
          <a:p>
            <a:pPr algn="l">
              <a:lnSpc>
                <a:spcPts val="1334"/>
              </a:lnSpc>
              <a:spcBef>
                <a:spcPts val="0"/>
              </a:spcBef>
              <a:spcAft>
                <a:spcPts val="0"/>
              </a:spcAft>
            </a:pPr>
            <a:r>
              <a:rPr sz="1150" b="0">
                <a:solidFill>
                  <a:srgbClr val="616161"/>
                </a:solidFill>
                <a:latin typeface="NVIDIA Sans"/>
              </a:rPr>
              <a:t>and runtime</a:t>
            </a:r>
          </a:p>
          <a:p>
            <a:pPr algn="l">
              <a:lnSpc>
                <a:spcPts val="1334"/>
              </a:lnSpc>
              <a:spcBef>
                <a:spcPts val="0"/>
              </a:spcBef>
              <a:spcAft>
                <a:spcPts val="0"/>
              </a:spcAft>
            </a:pPr>
            <a:r>
              <a:rPr sz="1150" b="0">
                <a:solidFill>
                  <a:srgbClr val="616161"/>
                </a:solidFill>
                <a:latin typeface="NVIDIA Sans"/>
              </a:rPr>
              <a:t>marshalling</a:t>
            </a:r>
          </a:p>
        </p:txBody>
      </p:sp>
      <p:cxnSp>
        <p:nvCxnSpPr>
          <p:cNvPr id="16" name="Connector 15"/>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8" name="Compiled entry"/>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Compiled entry</a:t>
            </a:r>
          </a:p>
        </p:txBody>
      </p:sp>
      <p:sp>
        <p:nvSpPr>
          <p:cNvPr id="19" name="Select llvm.func / or func.func + C interface"/>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Select llvm.func</a:t>
            </a:r>
          </a:p>
          <a:p>
            <a:pPr algn="l">
              <a:lnSpc>
                <a:spcPts val="1334"/>
              </a:lnSpc>
              <a:spcBef>
                <a:spcPts val="0"/>
              </a:spcBef>
              <a:spcAft>
                <a:spcPts val="0"/>
              </a:spcAft>
            </a:pPr>
            <a:r>
              <a:rPr sz="1150" b="0">
                <a:solidFill>
                  <a:srgbClr val="616161"/>
                </a:solidFill>
                <a:latin typeface="NVIDIA Sans"/>
              </a:rPr>
              <a:t>or func.func + C</a:t>
            </a:r>
          </a:p>
          <a:p>
            <a:pPr algn="l">
              <a:lnSpc>
                <a:spcPts val="1334"/>
              </a:lnSpc>
              <a:spcBef>
                <a:spcPts val="0"/>
              </a:spcBef>
              <a:spcAft>
                <a:spcPts val="0"/>
              </a:spcAft>
            </a:pPr>
            <a:r>
              <a:rPr sz="1150" b="0">
                <a:solidFill>
                  <a:srgbClr val="616161"/>
                </a:solidFill>
                <a:latin typeface="NVIDIA Sans"/>
              </a:rPr>
              <a:t>interface</a:t>
            </a:r>
          </a:p>
        </p:txBody>
      </p:sp>
      <p:cxnSp>
        <p:nvCxnSpPr>
          <p:cNvPr id="20" name="Connector 19"/>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2" name="Export plugin"/>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Export plugin</a:t>
            </a:r>
          </a:p>
        </p:txBody>
      </p:sp>
      <p:sp>
        <p:nvSpPr>
          <p:cNvPr id="23" name="TVM-FFI builder / wraps the callable"/>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TVM-FFI builder</a:t>
            </a:r>
          </a:p>
          <a:p>
            <a:pPr algn="l">
              <a:lnSpc>
                <a:spcPts val="1334"/>
              </a:lnSpc>
              <a:spcBef>
                <a:spcPts val="0"/>
              </a:spcBef>
              <a:spcAft>
                <a:spcPts val="0"/>
              </a:spcAft>
            </a:pPr>
            <a:r>
              <a:rPr sz="1150" b="0">
                <a:solidFill>
                  <a:srgbClr val="616161"/>
                </a:solidFill>
                <a:latin typeface="NVIDIA Sans"/>
              </a:rPr>
              <a:t>wraps the callable</a:t>
            </a:r>
          </a:p>
        </p:txBody>
      </p:sp>
      <p:sp>
        <p:nvSpPr>
          <p:cNvPr id="24" name="MLIR_DSL_ENABLE_TVM_FFI=1 · optional when the TVM-FFI dependency is available."/>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MLIR_DSL_ENABLE_TVM_FFI=1 · optional when the TVM-FFI dependency is available.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rrors and remarks should explain the sourc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Errors and remarks should explain the source</a:t>
            </a:r>
          </a:p>
        </p:txBody>
      </p:sp>
      <p:sp>
        <p:nvSpPr>
          <p:cNvPr id="5" name="Connect Python locations to MLIR diagnostics and structured remark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Connect Python locations to MLIR diagnostics and structured remarks.</a:t>
            </a:r>
          </a:p>
        </p:txBody>
      </p:sp>
      <p:sp>
        <p:nvSpPr>
          <p:cNvPr id="6" name="2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26</a:t>
            </a:r>
          </a:p>
        </p:txBody>
      </p:sp>
      <p:sp>
        <p:nvSpPr>
          <p:cNvPr id="7"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8" name="MLIR_DSL_DEBUGINFO=1 · MLIR_DSL_REMARK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MLIR_DSL_DEBUGINFO=1 · MLIR_DSL_REMARKS=.*</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A staging failure with an actionable fix"/>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A staging failure with an actionable fix</a:t>
            </a:r>
          </a:p>
        </p:txBody>
      </p:sp>
      <p:sp>
        <p:nvSpPr>
          <p:cNvPr id="11" name="acc = 0"/>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acc = 0</a:t>
            </a:r>
          </a:p>
        </p:txBody>
      </p:sp>
      <p:sp>
        <p:nvSpPr>
          <p:cNvPr id="12" name="for i in range(n):"/>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for i in range(n):</a:t>
            </a:r>
          </a:p>
        </p:txBody>
      </p:sp>
      <p:sp>
        <p:nvSpPr>
          <p:cNvPr id="13" name="    acc += i"/>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acc += i</a:t>
            </a:r>
          </a:p>
        </p:txBody>
      </p:sp>
      <p:sp>
        <p:nvSpPr>
          <p:cNvPr id="14"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 error[PHASE_MUTATE_PYTHON]"/>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error[PHASE_MUTATE_PYTHON]</a:t>
            </a:r>
          </a:p>
        </p:txBody>
      </p:sp>
      <p:sp>
        <p:nvSpPr>
          <p:cNvPr id="16" name="# `acc` is a Python valu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`acc` is a Python value.</a:t>
            </a:r>
          </a:p>
        </p:txBody>
      </p:sp>
      <p:sp>
        <p:nvSpPr>
          <p:cNvPr id="17" name="# Create a runtime valu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Create a runtime value:</a:t>
            </a:r>
          </a:p>
        </p:txBody>
      </p:sp>
      <p:sp>
        <p:nvSpPr>
          <p:cNvPr id="18" name="# acc = m.Int32(0)"/>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acc = m.Int32(0)</a:t>
            </a:r>
          </a:p>
        </p:txBody>
      </p:sp>
      <p:sp>
        <p:nvSpPr>
          <p:cNvPr id="19" name="Source-located erro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Source-located errors</a:t>
            </a:r>
          </a:p>
        </p:txBody>
      </p:sp>
      <p:sp>
        <p:nvSpPr>
          <p:cNvPr id="20" name="Python file, line, code frame, / and a suggested correction."/>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Python file, line, code frame,</a:t>
            </a:r>
          </a:p>
          <a:p>
            <a:pPr algn="l">
              <a:lnSpc>
                <a:spcPts val="1391"/>
              </a:lnSpc>
              <a:spcBef>
                <a:spcPts val="0"/>
              </a:spcBef>
              <a:spcAft>
                <a:spcPts val="0"/>
              </a:spcAft>
            </a:pPr>
            <a:r>
              <a:rPr sz="1200" b="0">
                <a:solidFill>
                  <a:srgbClr val="616161"/>
                </a:solidFill>
                <a:latin typeface="NVIDIA Sans"/>
              </a:rPr>
              <a:t>and a suggested correction.</a:t>
            </a:r>
          </a:p>
        </p:txBody>
      </p:sp>
      <p:sp>
        <p:nvSpPr>
          <p:cNvPr id="21" name="MLIR RemarkEngine"/>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MLIR RemarkEngine</a:t>
            </a:r>
          </a:p>
        </p:txBody>
      </p:sp>
      <p:sp>
        <p:nvSpPr>
          <p:cNvPr id="22" name="Collect analysis and pass remarks; / render them or write a remark file."/>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Collect analysis and pass remarks;</a:t>
            </a:r>
          </a:p>
          <a:p>
            <a:pPr algn="l">
              <a:lnSpc>
                <a:spcPts val="1391"/>
              </a:lnSpc>
              <a:spcBef>
                <a:spcPts val="0"/>
              </a:spcBef>
              <a:spcAft>
                <a:spcPts val="0"/>
              </a:spcAft>
            </a:pPr>
            <a:r>
              <a:rPr sz="1200" b="0">
                <a:solidFill>
                  <a:srgbClr val="616161"/>
                </a:solidFill>
                <a:latin typeface="NVIDIA Sans"/>
              </a:rPr>
              <a:t>render them or write a remark file.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Keep compiler work visib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Keep compiler work visible</a:t>
            </a:r>
          </a:p>
        </p:txBody>
      </p:sp>
      <p:sp>
        <p:nvSpPr>
          <p:cNvPr id="5" name="The same tooling should work for every sub-DSL."/>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The same tooling should work for every sub-DSL.</a:t>
            </a:r>
          </a:p>
        </p:txBody>
      </p:sp>
      <p:sp>
        <p:nvSpPr>
          <p:cNvPr id="6" name="2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27</a:t>
            </a:r>
          </a:p>
        </p:txBody>
      </p:sp>
      <p:sp>
        <p:nvSpPr>
          <p:cNvPr id="7"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8" name="Extract the source mapping, diagnostics, and profiler alongside compilation."/>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Extract the source mapping, diagnostics, and profiler alongside compilation.</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Tool"/>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Tool</a:t>
            </a:r>
          </a:p>
        </p:txBody>
      </p:sp>
      <p:sp>
        <p:nvSpPr>
          <p:cNvPr id="11" name="What the user sees"/>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What the user sees</a:t>
            </a:r>
          </a:p>
        </p:txBody>
      </p:sp>
      <p:sp>
        <p:nvSpPr>
          <p:cNvPr id="12" name="Rectangle 11"/>
          <p:cNvSpPr/>
          <p:nvPr/>
        </p:nvSpPr>
        <p:spPr>
          <a:xfrm>
            <a:off x="438912" y="1956816"/>
            <a:ext cx="8266175" cy="427939"/>
          </a:xfrm>
          <a:prstGeom prst="rect">
            <a:avLst/>
          </a:prstGeom>
          <a:solidFill>
            <a:srgbClr val="F7F7F7"/>
          </a:solidFill>
          <a:ln>
            <a:noFill/>
          </a:ln>
          <a:effectLst/>
        </p:spPr>
        <p:txBody>
          <a:bodyPr rtlCol="0" anchor="ctr"/>
          <a:lstStyle/>
          <a:p>
            <a:pPr algn="ctr"/>
          </a:p>
        </p:txBody>
      </p:sp>
      <p:sp>
        <p:nvSpPr>
          <p:cNvPr id="13" name="Source locations"/>
          <p:cNvSpPr txBox="1"/>
          <p:nvPr/>
        </p:nvSpPr>
        <p:spPr>
          <a:xfrm>
            <a:off x="576072" y="2075688"/>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Source locations</a:t>
            </a:r>
          </a:p>
        </p:txBody>
      </p:sp>
      <p:sp>
        <p:nvSpPr>
          <p:cNvPr id="14" name="Python line → MLIR location → source error / remark"/>
          <p:cNvSpPr txBox="1"/>
          <p:nvPr/>
        </p:nvSpPr>
        <p:spPr>
          <a:xfrm>
            <a:off x="3355848" y="2075688"/>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Python line → MLIR location → source error / remark</a:t>
            </a:r>
          </a:p>
        </p:txBody>
      </p:sp>
      <p:sp>
        <p:nvSpPr>
          <p:cNvPr id="15" name="Rectangle 14"/>
          <p:cNvSpPr/>
          <p:nvPr/>
        </p:nvSpPr>
        <p:spPr>
          <a:xfrm>
            <a:off x="438912" y="2384755"/>
            <a:ext cx="8266175" cy="427939"/>
          </a:xfrm>
          <a:prstGeom prst="rect">
            <a:avLst/>
          </a:prstGeom>
          <a:solidFill>
            <a:srgbClr val="FFFFFF"/>
          </a:solidFill>
          <a:ln>
            <a:noFill/>
          </a:ln>
          <a:effectLst/>
        </p:spPr>
        <p:txBody>
          <a:bodyPr rtlCol="0" anchor="ctr"/>
          <a:lstStyle/>
          <a:p>
            <a:pPr algn="ctr"/>
          </a:p>
        </p:txBody>
      </p:sp>
      <p:sp>
        <p:nvSpPr>
          <p:cNvPr id="16" name="Trace verification"/>
          <p:cNvSpPr txBox="1"/>
          <p:nvPr/>
        </p:nvSpPr>
        <p:spPr>
          <a:xfrm>
            <a:off x="576072" y="2503627"/>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Trace verification</a:t>
            </a:r>
          </a:p>
        </p:txBody>
      </p:sp>
      <p:sp>
        <p:nvSpPr>
          <p:cNvPr id="17" name="VERIFY_TRACE catches malformed operations near the source"/>
          <p:cNvSpPr txBox="1"/>
          <p:nvPr/>
        </p:nvSpPr>
        <p:spPr>
          <a:xfrm>
            <a:off x="3355848" y="2503627"/>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VERIFY_TRACE catches malformed operations near the source</a:t>
            </a:r>
          </a:p>
        </p:txBody>
      </p:sp>
      <p:sp>
        <p:nvSpPr>
          <p:cNvPr id="18" name="Rectangle 17"/>
          <p:cNvSpPr/>
          <p:nvPr/>
        </p:nvSpPr>
        <p:spPr>
          <a:xfrm>
            <a:off x="438912" y="2812694"/>
            <a:ext cx="8266175" cy="427939"/>
          </a:xfrm>
          <a:prstGeom prst="rect">
            <a:avLst/>
          </a:prstGeom>
          <a:solidFill>
            <a:srgbClr val="F7F7F7"/>
          </a:solidFill>
          <a:ln>
            <a:noFill/>
          </a:ln>
          <a:effectLst/>
        </p:spPr>
        <p:txBody>
          <a:bodyPr rtlCol="0" anchor="ctr"/>
          <a:lstStyle/>
          <a:p>
            <a:pPr algn="ctr"/>
          </a:p>
        </p:txBody>
      </p:sp>
      <p:sp>
        <p:nvSpPr>
          <p:cNvPr id="19" name="Remark stream"/>
          <p:cNvSpPr txBox="1"/>
          <p:nvPr/>
        </p:nvSpPr>
        <p:spPr>
          <a:xfrm>
            <a:off x="576072" y="2931566"/>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Remark stream</a:t>
            </a:r>
          </a:p>
        </p:txBody>
      </p:sp>
      <p:sp>
        <p:nvSpPr>
          <p:cNvPr id="20" name="REMARKS / REMARKS_OUTPUT select and serialize records"/>
          <p:cNvSpPr txBox="1"/>
          <p:nvPr/>
        </p:nvSpPr>
        <p:spPr>
          <a:xfrm>
            <a:off x="3355848" y="2931566"/>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REMARKS / REMARKS_OUTPUT select and serialize records</a:t>
            </a:r>
          </a:p>
        </p:txBody>
      </p:sp>
      <p:sp>
        <p:nvSpPr>
          <p:cNvPr id="21" name="Rectangle 20"/>
          <p:cNvSpPr/>
          <p:nvPr/>
        </p:nvSpPr>
        <p:spPr>
          <a:xfrm>
            <a:off x="438912" y="3240633"/>
            <a:ext cx="8266175" cy="427939"/>
          </a:xfrm>
          <a:prstGeom prst="rect">
            <a:avLst/>
          </a:prstGeom>
          <a:solidFill>
            <a:srgbClr val="FFFFFF"/>
          </a:solidFill>
          <a:ln>
            <a:noFill/>
          </a:ln>
          <a:effectLst/>
        </p:spPr>
        <p:txBody>
          <a:bodyPr rtlCol="0" anchor="ctr"/>
          <a:lstStyle/>
          <a:p>
            <a:pPr algn="ctr"/>
          </a:p>
        </p:txBody>
      </p:sp>
      <p:sp>
        <p:nvSpPr>
          <p:cNvPr id="22" name="IR inspection"/>
          <p:cNvSpPr txBox="1"/>
          <p:nvPr/>
        </p:nvSpPr>
        <p:spPr>
          <a:xfrm>
            <a:off x="576072" y="3359505"/>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IR inspection</a:t>
            </a:r>
          </a:p>
        </p:txBody>
      </p:sp>
      <p:sp>
        <p:nvSpPr>
          <p:cNvPr id="23" name="PRINT_IR / KEEP_IR preserve generated programs"/>
          <p:cNvSpPr txBox="1"/>
          <p:nvPr/>
        </p:nvSpPr>
        <p:spPr>
          <a:xfrm>
            <a:off x="3355848" y="3359505"/>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PRINT_IR / KEEP_IR preserve generated programs</a:t>
            </a:r>
          </a:p>
        </p:txBody>
      </p:sp>
      <p:sp>
        <p:nvSpPr>
          <p:cNvPr id="24" name="Rectangle 23"/>
          <p:cNvSpPr/>
          <p:nvPr/>
        </p:nvSpPr>
        <p:spPr>
          <a:xfrm>
            <a:off x="438912" y="3668572"/>
            <a:ext cx="8266175" cy="427939"/>
          </a:xfrm>
          <a:prstGeom prst="rect">
            <a:avLst/>
          </a:prstGeom>
          <a:solidFill>
            <a:srgbClr val="F7F7F7"/>
          </a:solidFill>
          <a:ln>
            <a:noFill/>
          </a:ln>
          <a:effectLst/>
        </p:spPr>
        <p:txBody>
          <a:bodyPr rtlCol="0" anchor="ctr"/>
          <a:lstStyle/>
          <a:p>
            <a:pPr algn="ctr"/>
          </a:p>
        </p:txBody>
      </p:sp>
      <p:sp>
        <p:nvSpPr>
          <p:cNvPr id="25" name="Compile profiling"/>
          <p:cNvSpPr txBox="1"/>
          <p:nvPr/>
        </p:nvSpPr>
        <p:spPr>
          <a:xfrm>
            <a:off x="576072" y="3787444"/>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Compile profiling</a:t>
            </a:r>
          </a:p>
        </p:txBody>
      </p:sp>
      <p:sp>
        <p:nvSpPr>
          <p:cNvPr id="26" name="PROFILE_COMPILER separates tracing, lowering, and execution setup"/>
          <p:cNvSpPr txBox="1"/>
          <p:nvPr/>
        </p:nvSpPr>
        <p:spPr>
          <a:xfrm>
            <a:off x="3355848" y="3787444"/>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PROFILE_COMPILER separates tracing, lowering, and execution setup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JIT caching: in memory and on disk"/>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JIT caching: in memory and on disk</a:t>
            </a:r>
          </a:p>
        </p:txBody>
      </p:sp>
      <p:sp>
        <p:nvSpPr>
          <p:cNvPr id="5" name="Trace to identify the program; reuse the expensive compilation work."/>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Trace to identify the program; reuse the expensive compilation work.</a:t>
            </a:r>
          </a:p>
        </p:txBody>
      </p:sp>
      <p:sp>
        <p:nvSpPr>
          <p:cNvPr id="6" name="2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28</a:t>
            </a:r>
          </a:p>
        </p:txBody>
      </p:sp>
      <p:sp>
        <p:nvSpPr>
          <p:cNvPr id="7"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8" name="Extract cache policy once; let each backend own its compiled artifact and loading."/>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Extract cache policy once; let each backend own its compiled artifact and loading.</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Layer"/>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Layer</a:t>
            </a:r>
          </a:p>
        </p:txBody>
      </p:sp>
      <p:sp>
        <p:nvSpPr>
          <p:cNvPr id="11" name="Stored value"/>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Stored value</a:t>
            </a:r>
          </a:p>
        </p:txBody>
      </p:sp>
      <p:sp>
        <p:nvSpPr>
          <p:cNvPr id="12" name="On a hit"/>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On a hit</a:t>
            </a:r>
          </a:p>
        </p:txBody>
      </p:sp>
      <p:sp>
        <p:nvSpPr>
          <p:cNvPr id="13" name="Rectangle 12"/>
          <p:cNvSpPr/>
          <p:nvPr/>
        </p:nvSpPr>
        <p:spPr>
          <a:xfrm>
            <a:off x="438912" y="1956816"/>
            <a:ext cx="8266175" cy="713231"/>
          </a:xfrm>
          <a:prstGeom prst="rect">
            <a:avLst/>
          </a:prstGeom>
          <a:solidFill>
            <a:srgbClr val="F7F7F7"/>
          </a:solidFill>
          <a:ln>
            <a:noFill/>
          </a:ln>
          <a:effectLst/>
        </p:spPr>
        <p:txBody>
          <a:bodyPr rtlCol="0" anchor="ctr"/>
          <a:lstStyle/>
          <a:p>
            <a:pPr algn="ctr"/>
          </a:p>
        </p:txBody>
      </p:sp>
      <p:sp>
        <p:nvSpPr>
          <p:cNvPr id="14" name="In memory"/>
          <p:cNvSpPr txBox="1"/>
          <p:nvPr/>
        </p:nvSpPr>
        <p:spPr>
          <a:xfrm>
            <a:off x="576072" y="2075688"/>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 memory</a:t>
            </a:r>
          </a:p>
        </p:txBody>
      </p:sp>
      <p:sp>
        <p:nvSpPr>
          <p:cNvPr id="15" name="Compiled function + engine"/>
          <p:cNvSpPr txBox="1"/>
          <p:nvPr/>
        </p:nvSpPr>
        <p:spPr>
          <a:xfrm>
            <a:off x="2450591" y="2075688"/>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Compiled function + engine</a:t>
            </a:r>
          </a:p>
        </p:txBody>
      </p:sp>
      <p:sp>
        <p:nvSpPr>
          <p:cNvPr id="16" name="Reuse the callable"/>
          <p:cNvSpPr txBox="1"/>
          <p:nvPr/>
        </p:nvSpPr>
        <p:spPr>
          <a:xfrm>
            <a:off x="5605272" y="2075688"/>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Reuse the callable</a:t>
            </a:r>
          </a:p>
        </p:txBody>
      </p:sp>
      <p:sp>
        <p:nvSpPr>
          <p:cNvPr id="17" name="Rectangle 16"/>
          <p:cNvSpPr/>
          <p:nvPr/>
        </p:nvSpPr>
        <p:spPr>
          <a:xfrm>
            <a:off x="438912" y="2670048"/>
            <a:ext cx="8266175" cy="713231"/>
          </a:xfrm>
          <a:prstGeom prst="rect">
            <a:avLst/>
          </a:prstGeom>
          <a:solidFill>
            <a:srgbClr val="FFFFFF"/>
          </a:solidFill>
          <a:ln>
            <a:noFill/>
          </a:ln>
          <a:effectLst/>
        </p:spPr>
        <p:txBody>
          <a:bodyPr rtlCol="0" anchor="ctr"/>
          <a:lstStyle/>
          <a:p>
            <a:pPr algn="ctr"/>
          </a:p>
        </p:txBody>
      </p:sp>
      <p:sp>
        <p:nvSpPr>
          <p:cNvPr id="18" name="On disk"/>
          <p:cNvSpPr txBox="1"/>
          <p:nvPr/>
        </p:nvSpPr>
        <p:spPr>
          <a:xfrm>
            <a:off x="576072" y="2788920"/>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On disk</a:t>
            </a:r>
          </a:p>
        </p:txBody>
      </p:sp>
      <p:sp>
        <p:nvSpPr>
          <p:cNvPr id="19" name="Lowered MLIR bytecode"/>
          <p:cNvSpPr txBox="1"/>
          <p:nvPr/>
        </p:nvSpPr>
        <p:spPr>
          <a:xfrm>
            <a:off x="2450591" y="2788920"/>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Lowered MLIR bytecode</a:t>
            </a:r>
          </a:p>
        </p:txBody>
      </p:sp>
      <p:sp>
        <p:nvSpPr>
          <p:cNvPr id="20" name="Skip passes; recreate the engine"/>
          <p:cNvSpPr txBox="1"/>
          <p:nvPr/>
        </p:nvSpPr>
        <p:spPr>
          <a:xfrm>
            <a:off x="5605272" y="2788920"/>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Skip passes; recreate the engine</a:t>
            </a:r>
          </a:p>
        </p:txBody>
      </p:sp>
      <p:sp>
        <p:nvSpPr>
          <p:cNvPr id="21" name="Rectangle 20"/>
          <p:cNvSpPr/>
          <p:nvPr/>
        </p:nvSpPr>
        <p:spPr>
          <a:xfrm>
            <a:off x="438912" y="3383280"/>
            <a:ext cx="8266175" cy="713231"/>
          </a:xfrm>
          <a:prstGeom prst="rect">
            <a:avLst/>
          </a:prstGeom>
          <a:solidFill>
            <a:srgbClr val="F7F7F7"/>
          </a:solidFill>
          <a:ln>
            <a:noFill/>
          </a:ln>
          <a:effectLst/>
        </p:spPr>
        <p:txBody>
          <a:bodyPr rtlCol="0" anchor="ctr"/>
          <a:lstStyle/>
          <a:p>
            <a:pPr algn="ctr"/>
          </a:p>
        </p:txBody>
      </p:sp>
      <p:sp>
        <p:nvSpPr>
          <p:cNvPr id="22" name="Cache identity"/>
          <p:cNvSpPr txBox="1"/>
          <p:nvPr/>
        </p:nvSpPr>
        <p:spPr>
          <a:xfrm>
            <a:off x="576072" y="3502152"/>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Cache identity</a:t>
            </a:r>
          </a:p>
        </p:txBody>
      </p:sp>
      <p:sp>
        <p:nvSpPr>
          <p:cNvPr id="23" name="IR + compile settings + toolchain"/>
          <p:cNvSpPr txBox="1"/>
          <p:nvPr/>
        </p:nvSpPr>
        <p:spPr>
          <a:xfrm>
            <a:off x="2450591" y="3502152"/>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IR + compile settings + toolchain</a:t>
            </a:r>
          </a:p>
        </p:txBody>
      </p:sp>
      <p:sp>
        <p:nvSpPr>
          <p:cNvPr id="24" name="Separate incompatible programs"/>
          <p:cNvSpPr txBox="1"/>
          <p:nvPr/>
        </p:nvSpPr>
        <p:spPr>
          <a:xfrm>
            <a:off x="5605272" y="3502152"/>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Separate incompatible programs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ntrol flow: capture the structure with Python’s AS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Control flow: capture the structure with Python’s AST</a:t>
            </a:r>
          </a:p>
        </p:txBody>
      </p:sp>
      <p:sp>
        <p:nvSpPr>
          <p:cNvPr id="5" name="Operator overloading cannot capture Python’s native if, for, and while by itself."/>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Operator overloading cannot capture Python’s native if, for, and while by itself.</a:t>
            </a:r>
          </a:p>
        </p:txBody>
      </p:sp>
      <p:sp>
        <p:nvSpPr>
          <p:cNvPr id="6" name="2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29</a:t>
            </a:r>
          </a:p>
        </p:txBody>
      </p:sp>
      <p:sp>
        <p:nvSpPr>
          <p:cNvPr id="7"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8" name="Use the AST for control-flow structure; keep Python for the metaprogram."/>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Use the AST for control-flow structure; keep Python for the metaprogram.</a:t>
            </a:r>
          </a:p>
        </p:txBody>
      </p:sp>
      <p:sp>
        <p:nvSpPr>
          <p:cNvPr id="9" name="Rectangle 8"/>
          <p:cNvSpPr/>
          <p:nvPr/>
        </p:nvSpPr>
        <p:spPr>
          <a:xfrm>
            <a:off x="484632" y="1691640"/>
            <a:ext cx="1858517" cy="1444752"/>
          </a:xfrm>
          <a:prstGeom prst="rect">
            <a:avLst/>
          </a:prstGeom>
          <a:solidFill>
            <a:srgbClr val="F7F7F7"/>
          </a:solidFill>
          <a:ln w="8890">
            <a:solidFill>
              <a:srgbClr val="D5D5D5"/>
            </a:solidFill>
          </a:ln>
          <a:effectLst/>
        </p:spPr>
        <p:txBody>
          <a:bodyPr rtlCol="0" anchor="ctr"/>
          <a:lstStyle/>
          <a:p>
            <a:pPr algn="ctr"/>
          </a:p>
        </p:txBody>
      </p:sp>
      <p:sp>
        <p:nvSpPr>
          <p:cNvPr id="10" name="Python source"/>
          <p:cNvSpPr txBox="1"/>
          <p:nvPr/>
        </p:nvSpPr>
        <p:spPr>
          <a:xfrm>
            <a:off x="603504" y="1865376"/>
            <a:ext cx="1620773" cy="50292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000000"/>
                </a:solidFill>
                <a:latin typeface="NVIDIA Sans"/>
              </a:rPr>
              <a:t>Python source</a:t>
            </a:r>
          </a:p>
        </p:txBody>
      </p:sp>
      <p:sp>
        <p:nvSpPr>
          <p:cNvPr id="11" name="Native if / for / while"/>
          <p:cNvSpPr txBox="1"/>
          <p:nvPr/>
        </p:nvSpPr>
        <p:spPr>
          <a:xfrm>
            <a:off x="603504" y="2441448"/>
            <a:ext cx="1620773" cy="512064"/>
          </a:xfrm>
          <a:prstGeom prst="rect">
            <a:avLst/>
          </a:prstGeom>
          <a:noFill/>
        </p:spPr>
        <p:txBody>
          <a:bodyPr wrap="none" anchor="t" lIns="0" rIns="0" tIns="0" bIns="0">
            <a:noAutofit/>
          </a:bodyPr>
          <a:lstStyle/>
          <a:p>
            <a:pPr algn="l">
              <a:lnSpc>
                <a:spcPts val="1206"/>
              </a:lnSpc>
              <a:spcBef>
                <a:spcPts val="0"/>
              </a:spcBef>
              <a:spcAft>
                <a:spcPts val="0"/>
              </a:spcAft>
            </a:pPr>
            <a:r>
              <a:rPr sz="1040" b="0">
                <a:solidFill>
                  <a:srgbClr val="616161"/>
                </a:solidFill>
                <a:latin typeface="NVIDIA Sans"/>
              </a:rPr>
              <a:t>Native if / for / while</a:t>
            </a:r>
          </a:p>
        </p:txBody>
      </p:sp>
      <p:cxnSp>
        <p:nvCxnSpPr>
          <p:cNvPr id="12" name="Connector 11"/>
          <p:cNvCxnSpPr/>
          <p:nvPr/>
        </p:nvCxnSpPr>
        <p:spPr>
          <a:xfrm>
            <a:off x="2375154" y="2414016"/>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90037" y="1691640"/>
            <a:ext cx="1858517" cy="1444752"/>
          </a:xfrm>
          <a:prstGeom prst="rect">
            <a:avLst/>
          </a:prstGeom>
          <a:solidFill>
            <a:srgbClr val="F0F6E6"/>
          </a:solidFill>
          <a:ln w="8890">
            <a:solidFill>
              <a:srgbClr val="D5D5D5"/>
            </a:solidFill>
          </a:ln>
          <a:effectLst/>
        </p:spPr>
        <p:txBody>
          <a:bodyPr rtlCol="0" anchor="ctr"/>
          <a:lstStyle/>
          <a:p>
            <a:pPr algn="ctr"/>
          </a:p>
        </p:txBody>
      </p:sp>
      <p:sp>
        <p:nvSpPr>
          <p:cNvPr id="14" name="AST capture"/>
          <p:cNvSpPr txBox="1"/>
          <p:nvPr/>
        </p:nvSpPr>
        <p:spPr>
          <a:xfrm>
            <a:off x="2708909" y="1865376"/>
            <a:ext cx="1620773" cy="50292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AST capture</a:t>
            </a:r>
          </a:p>
        </p:txBody>
      </p:sp>
      <p:sp>
        <p:nvSpPr>
          <p:cNvPr id="15" name="Regions + assigned names"/>
          <p:cNvSpPr txBox="1"/>
          <p:nvPr/>
        </p:nvSpPr>
        <p:spPr>
          <a:xfrm>
            <a:off x="2708909" y="2441448"/>
            <a:ext cx="1620773" cy="512064"/>
          </a:xfrm>
          <a:prstGeom prst="rect">
            <a:avLst/>
          </a:prstGeom>
          <a:noFill/>
        </p:spPr>
        <p:txBody>
          <a:bodyPr wrap="none" anchor="t" lIns="0" rIns="0" tIns="0" bIns="0">
            <a:noAutofit/>
          </a:bodyPr>
          <a:lstStyle/>
          <a:p>
            <a:pPr algn="l">
              <a:lnSpc>
                <a:spcPts val="1206"/>
              </a:lnSpc>
              <a:spcBef>
                <a:spcPts val="0"/>
              </a:spcBef>
              <a:spcAft>
                <a:spcPts val="0"/>
              </a:spcAft>
            </a:pPr>
            <a:r>
              <a:rPr sz="1040" b="0">
                <a:solidFill>
                  <a:srgbClr val="616161"/>
                </a:solidFill>
                <a:latin typeface="NVIDIA Sans"/>
              </a:rPr>
              <a:t>Regions + assigned</a:t>
            </a:r>
          </a:p>
          <a:p>
            <a:pPr algn="l">
              <a:lnSpc>
                <a:spcPts val="1206"/>
              </a:lnSpc>
              <a:spcBef>
                <a:spcPts val="0"/>
              </a:spcBef>
              <a:spcAft>
                <a:spcPts val="0"/>
              </a:spcAft>
            </a:pPr>
            <a:r>
              <a:rPr sz="1040" b="0">
                <a:solidFill>
                  <a:srgbClr val="616161"/>
                </a:solidFill>
                <a:latin typeface="NVIDIA Sans"/>
              </a:rPr>
              <a:t>names</a:t>
            </a:r>
          </a:p>
        </p:txBody>
      </p:sp>
      <p:cxnSp>
        <p:nvCxnSpPr>
          <p:cNvPr id="16" name="Connector 15"/>
          <p:cNvCxnSpPr/>
          <p:nvPr/>
        </p:nvCxnSpPr>
        <p:spPr>
          <a:xfrm>
            <a:off x="4480559" y="2414016"/>
            <a:ext cx="18288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95444" y="1691640"/>
            <a:ext cx="1858517" cy="1444752"/>
          </a:xfrm>
          <a:prstGeom prst="rect">
            <a:avLst/>
          </a:prstGeom>
          <a:solidFill>
            <a:srgbClr val="F7F7F7"/>
          </a:solidFill>
          <a:ln w="8890">
            <a:solidFill>
              <a:srgbClr val="D5D5D5"/>
            </a:solidFill>
          </a:ln>
          <a:effectLst/>
        </p:spPr>
        <p:txBody>
          <a:bodyPr rtlCol="0" anchor="ctr"/>
          <a:lstStyle/>
          <a:p>
            <a:pPr algn="ctr"/>
          </a:p>
        </p:txBody>
      </p:sp>
      <p:sp>
        <p:nvSpPr>
          <p:cNvPr id="18" name="Intermediate Python"/>
          <p:cNvSpPr txBox="1"/>
          <p:nvPr/>
        </p:nvSpPr>
        <p:spPr>
          <a:xfrm>
            <a:off x="4814316" y="1865376"/>
            <a:ext cx="1620773" cy="50292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000000"/>
                </a:solidFill>
                <a:latin typeface="NVIDIA Sans"/>
              </a:rPr>
              <a:t>Intermediate</a:t>
            </a:r>
          </a:p>
          <a:p>
            <a:pPr algn="l">
              <a:lnSpc>
                <a:spcPts val="1507"/>
              </a:lnSpc>
              <a:spcBef>
                <a:spcPts val="0"/>
              </a:spcBef>
              <a:spcAft>
                <a:spcPts val="0"/>
              </a:spcAft>
            </a:pPr>
            <a:r>
              <a:rPr sz="1300" b="1">
                <a:solidFill>
                  <a:srgbClr val="000000"/>
                </a:solidFill>
                <a:latin typeface="NVIDIA Sans"/>
              </a:rPr>
              <a:t>Python</a:t>
            </a:r>
          </a:p>
        </p:txBody>
      </p:sp>
      <p:sp>
        <p:nvSpPr>
          <p:cNvPr id="19" name="Region functions + carries"/>
          <p:cNvSpPr txBox="1"/>
          <p:nvPr/>
        </p:nvSpPr>
        <p:spPr>
          <a:xfrm>
            <a:off x="4814316" y="2441448"/>
            <a:ext cx="1620773" cy="512064"/>
          </a:xfrm>
          <a:prstGeom prst="rect">
            <a:avLst/>
          </a:prstGeom>
          <a:noFill/>
        </p:spPr>
        <p:txBody>
          <a:bodyPr wrap="none" anchor="t" lIns="0" rIns="0" tIns="0" bIns="0">
            <a:noAutofit/>
          </a:bodyPr>
          <a:lstStyle/>
          <a:p>
            <a:pPr algn="l">
              <a:lnSpc>
                <a:spcPts val="1206"/>
              </a:lnSpc>
              <a:spcBef>
                <a:spcPts val="0"/>
              </a:spcBef>
              <a:spcAft>
                <a:spcPts val="0"/>
              </a:spcAft>
            </a:pPr>
            <a:r>
              <a:rPr sz="1040" b="0">
                <a:solidFill>
                  <a:srgbClr val="616161"/>
                </a:solidFill>
                <a:latin typeface="NVIDIA Sans"/>
              </a:rPr>
              <a:t>Region functions + carries</a:t>
            </a:r>
          </a:p>
        </p:txBody>
      </p:sp>
      <p:cxnSp>
        <p:nvCxnSpPr>
          <p:cNvPr id="20" name="Connector 19"/>
          <p:cNvCxnSpPr/>
          <p:nvPr/>
        </p:nvCxnSpPr>
        <p:spPr>
          <a:xfrm>
            <a:off x="6585966" y="2414016"/>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00849" y="1691640"/>
            <a:ext cx="1858517" cy="1444752"/>
          </a:xfrm>
          <a:prstGeom prst="rect">
            <a:avLst/>
          </a:prstGeom>
          <a:solidFill>
            <a:srgbClr val="F0F6E6"/>
          </a:solidFill>
          <a:ln w="8890">
            <a:solidFill>
              <a:srgbClr val="D5D5D5"/>
            </a:solidFill>
          </a:ln>
          <a:effectLst/>
        </p:spPr>
        <p:txBody>
          <a:bodyPr rtlCol="0" anchor="ctr"/>
          <a:lstStyle/>
          <a:p>
            <a:pPr algn="ctr"/>
          </a:p>
        </p:txBody>
      </p:sp>
      <p:sp>
        <p:nvSpPr>
          <p:cNvPr id="22" name="Execute callbacks"/>
          <p:cNvSpPr txBox="1"/>
          <p:nvPr/>
        </p:nvSpPr>
        <p:spPr>
          <a:xfrm>
            <a:off x="6919721" y="1865376"/>
            <a:ext cx="1620773" cy="50292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Execute callbacks</a:t>
            </a:r>
          </a:p>
        </p:txBody>
      </p:sp>
      <p:sp>
        <p:nvSpPr>
          <p:cNvPr id="23" name="Python runs the generator"/>
          <p:cNvSpPr txBox="1"/>
          <p:nvPr/>
        </p:nvSpPr>
        <p:spPr>
          <a:xfrm>
            <a:off x="6919721" y="2441448"/>
            <a:ext cx="1620773" cy="512064"/>
          </a:xfrm>
          <a:prstGeom prst="rect">
            <a:avLst/>
          </a:prstGeom>
          <a:noFill/>
        </p:spPr>
        <p:txBody>
          <a:bodyPr wrap="none" anchor="t" lIns="0" rIns="0" tIns="0" bIns="0">
            <a:noAutofit/>
          </a:bodyPr>
          <a:lstStyle/>
          <a:p>
            <a:pPr algn="l">
              <a:lnSpc>
                <a:spcPts val="1206"/>
              </a:lnSpc>
              <a:spcBef>
                <a:spcPts val="0"/>
              </a:spcBef>
              <a:spcAft>
                <a:spcPts val="0"/>
              </a:spcAft>
            </a:pPr>
            <a:r>
              <a:rPr sz="1040" b="0">
                <a:solidFill>
                  <a:srgbClr val="616161"/>
                </a:solidFill>
                <a:latin typeface="NVIDIA Sans"/>
              </a:rPr>
              <a:t>Python runs the</a:t>
            </a:r>
          </a:p>
          <a:p>
            <a:pPr algn="l">
              <a:lnSpc>
                <a:spcPts val="1206"/>
              </a:lnSpc>
              <a:spcBef>
                <a:spcPts val="0"/>
              </a:spcBef>
              <a:spcAft>
                <a:spcPts val="0"/>
              </a:spcAft>
            </a:pPr>
            <a:r>
              <a:rPr sz="1040" b="0">
                <a:solidFill>
                  <a:srgbClr val="616161"/>
                </a:solidFill>
                <a:latin typeface="NVIDIA Sans"/>
              </a:rPr>
              <a:t>generator</a:t>
            </a:r>
          </a:p>
        </p:txBody>
      </p:sp>
      <p:sp>
        <p:nvSpPr>
          <p:cNvPr id="24" name="Same capture · pluggable builders"/>
          <p:cNvSpPr txBox="1"/>
          <p:nvPr/>
        </p:nvSpPr>
        <p:spPr>
          <a:xfrm>
            <a:off x="539496" y="3593592"/>
            <a:ext cx="3840480" cy="30175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416600"/>
                </a:solidFill>
                <a:latin typeface="NVIDIA Sans"/>
              </a:rPr>
              <a:t>Same capture · pluggable builders</a:t>
            </a:r>
          </a:p>
        </p:txBody>
      </p:sp>
      <p:cxnSp>
        <p:nvCxnSpPr>
          <p:cNvPr id="25" name="Connector 24"/>
          <p:cNvCxnSpPr/>
          <p:nvPr/>
        </p:nvCxnSpPr>
        <p:spPr>
          <a:xfrm>
            <a:off x="7730108" y="3154680"/>
            <a:ext cx="0" cy="237744"/>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596128" y="3392424"/>
            <a:ext cx="213398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596128" y="3392424"/>
            <a:ext cx="0" cy="173736"/>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4709160" y="3593592"/>
            <a:ext cx="1783080" cy="493776"/>
          </a:xfrm>
          <a:prstGeom prst="rect">
            <a:avLst/>
          </a:prstGeom>
          <a:solidFill>
            <a:srgbClr val="F7F7F7"/>
          </a:solidFill>
          <a:ln w="8890">
            <a:solidFill>
              <a:srgbClr val="D5D5D5"/>
            </a:solidFill>
          </a:ln>
          <a:effectLst/>
        </p:spPr>
        <p:txBody>
          <a:bodyPr rtlCol="0" anchor="ctr"/>
          <a:lstStyle/>
          <a:p>
            <a:pPr algn="ctr"/>
          </a:p>
        </p:txBody>
      </p:sp>
      <p:sp>
        <p:nvSpPr>
          <p:cNvPr id="29" name="Default: scf / arith"/>
          <p:cNvSpPr txBox="1"/>
          <p:nvPr/>
        </p:nvSpPr>
        <p:spPr>
          <a:xfrm>
            <a:off x="4818888" y="3666744"/>
            <a:ext cx="1563624" cy="347472"/>
          </a:xfrm>
          <a:prstGeom prst="rect">
            <a:avLst/>
          </a:prstGeom>
          <a:noFill/>
        </p:spPr>
        <p:txBody>
          <a:bodyPr wrap="none" anchor="t" lIns="0" rIns="0" tIns="0" bIns="0">
            <a:noAutofit/>
          </a:bodyPr>
          <a:lstStyle/>
          <a:p>
            <a:pPr algn="ctr">
              <a:lnSpc>
                <a:spcPts val="1507"/>
              </a:lnSpc>
              <a:spcBef>
                <a:spcPts val="0"/>
              </a:spcBef>
              <a:spcAft>
                <a:spcPts val="0"/>
              </a:spcAft>
            </a:pPr>
            <a:r>
              <a:rPr sz="1300" b="0">
                <a:solidFill>
                  <a:srgbClr val="000000"/>
                </a:solidFill>
                <a:latin typeface="NVIDIA Sans"/>
              </a:rPr>
              <a:t>Default: scf / arith</a:t>
            </a:r>
          </a:p>
        </p:txBody>
      </p:sp>
      <p:cxnSp>
        <p:nvCxnSpPr>
          <p:cNvPr id="30" name="Connector 29"/>
          <p:cNvCxnSpPr/>
          <p:nvPr/>
        </p:nvCxnSpPr>
        <p:spPr>
          <a:xfrm flipH="1">
            <a:off x="7616952" y="3392424"/>
            <a:ext cx="11315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616952" y="3392424"/>
            <a:ext cx="0" cy="173736"/>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6729984" y="3593592"/>
            <a:ext cx="1783080" cy="493776"/>
          </a:xfrm>
          <a:prstGeom prst="rect">
            <a:avLst/>
          </a:prstGeom>
          <a:solidFill>
            <a:srgbClr val="F0F6E6"/>
          </a:solidFill>
          <a:ln w="8890">
            <a:solidFill>
              <a:srgbClr val="D5D5D5"/>
            </a:solidFill>
          </a:ln>
          <a:effectLst/>
        </p:spPr>
        <p:txBody>
          <a:bodyPr rtlCol="0" anchor="ctr"/>
          <a:lstStyle/>
          <a:p>
            <a:pPr algn="ctr"/>
          </a:p>
        </p:txBody>
      </p:sp>
      <p:sp>
        <p:nvSpPr>
          <p:cNvPr id="33" name="Your dialect: custom control flow"/>
          <p:cNvSpPr txBox="1"/>
          <p:nvPr/>
        </p:nvSpPr>
        <p:spPr>
          <a:xfrm>
            <a:off x="6839712" y="3666744"/>
            <a:ext cx="1563624" cy="347472"/>
          </a:xfrm>
          <a:prstGeom prst="rect">
            <a:avLst/>
          </a:prstGeom>
          <a:noFill/>
        </p:spPr>
        <p:txBody>
          <a:bodyPr wrap="none" anchor="t" lIns="0" rIns="0" tIns="0" bIns="0">
            <a:noAutofit/>
          </a:bodyPr>
          <a:lstStyle/>
          <a:p>
            <a:pPr algn="ctr">
              <a:lnSpc>
                <a:spcPts val="1421"/>
              </a:lnSpc>
              <a:spcBef>
                <a:spcPts val="0"/>
              </a:spcBef>
              <a:spcAft>
                <a:spcPts val="0"/>
              </a:spcAft>
            </a:pPr>
            <a:r>
              <a:rPr sz="1225" b="1">
                <a:solidFill>
                  <a:srgbClr val="416600"/>
                </a:solidFill>
                <a:latin typeface="NVIDIA Sans"/>
              </a:rPr>
              <a:t>Your dialect: custom</a:t>
            </a:r>
          </a:p>
          <a:p>
            <a:pPr algn="ctr">
              <a:lnSpc>
                <a:spcPts val="1421"/>
              </a:lnSpc>
              <a:spcBef>
                <a:spcPts val="0"/>
              </a:spcBef>
              <a:spcAft>
                <a:spcPts val="0"/>
              </a:spcAft>
            </a:pPr>
            <a:r>
              <a:rPr sz="1225" b="1">
                <a:solidFill>
                  <a:srgbClr val="416600"/>
                </a:solidFill>
                <a:latin typeface="NVIDIA Sans"/>
              </a:rPr>
              <a:t>control flow</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From an assigned name to an iter_ar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From an assigned name to an iter_arg</a:t>
            </a:r>
          </a:p>
        </p:txBody>
      </p:sp>
      <p:sp>
        <p:nvSpPr>
          <p:cNvPr id="5" name="The AST finds the carried name; tracing supplies its SSA valu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The AST finds the carried name; tracing supplies its SSA value.</a:t>
            </a:r>
          </a:p>
        </p:txBody>
      </p:sp>
      <p:sp>
        <p:nvSpPr>
          <p:cNvPr id="6" name="3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30</a:t>
            </a:r>
          </a:p>
        </p:txBody>
      </p:sp>
      <p:sp>
        <p:nvSpPr>
          <p:cNvPr id="7"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8" name="Flatten the carried value, build the region, yield the update, rebuild the result."/>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Flatten the carried value, build the region, yield the update, rebuild the result.</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Python · symbolic analysis"/>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Python · symbolic analysis</a:t>
            </a:r>
          </a:p>
        </p:txBody>
      </p:sp>
      <p:sp>
        <p:nvSpPr>
          <p:cNvPr id="11" name="acc = m.Int32(0)"/>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acc = m.Int32(0)</a:t>
            </a:r>
          </a:p>
        </p:txBody>
      </p:sp>
      <p:sp>
        <p:nvSpPr>
          <p:cNvPr id="12" name="for i in range(n):"/>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for i in range(n):</a:t>
            </a:r>
          </a:p>
        </p:txBody>
      </p:sp>
      <p:sp>
        <p:nvSpPr>
          <p:cNvPr id="13" name="    acc = acc + i"/>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acc + i</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 Defined outside: acc"/>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Defined outside: acc</a:t>
            </a:r>
          </a:p>
        </p:txBody>
      </p:sp>
      <p:sp>
        <p:nvSpPr>
          <p:cNvPr id="16" name="# Written inside: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Written inside:  acc</a:t>
            </a:r>
          </a:p>
        </p:txBody>
      </p:sp>
      <p:sp>
        <p:nvSpPr>
          <p:cNvPr id="17" name="# write_args = [&quot;acc&quot;]"/>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write_args = ["acc"]</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MLIR · region argument and result"/>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MLIR · region argument and result</a:t>
            </a:r>
          </a:p>
        </p:txBody>
      </p:sp>
      <p:sp>
        <p:nvSpPr>
          <p:cNvPr id="20" name="%sum = scf.for %i = %c0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scf.for %i = %c0 to %n</a:t>
            </a:r>
          </a:p>
        </p:txBody>
      </p:sp>
      <p:sp>
        <p:nvSpPr>
          <p:cNvPr id="21" name="    step %c1 iter_args(%acc = %zero)"/>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step %c1 iter_args(%acc = %zero)</a:t>
            </a:r>
          </a:p>
        </p:txBody>
      </p:sp>
      <p:sp>
        <p:nvSpPr>
          <p:cNvPr id="22" name="    -&gt; (i32) : i32 {"/>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(i32) : i32 {</a:t>
            </a:r>
          </a:p>
        </p:txBody>
      </p:sp>
      <p:sp>
        <p:nvSpPr>
          <p:cNvPr id="23" name="  %next = arith.addi %acc, %i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arith.addi %acc, %i : i32</a:t>
            </a:r>
          </a:p>
        </p:txBody>
      </p:sp>
      <p:sp>
        <p:nvSpPr>
          <p:cNvPr id="24" name="  scf.yield %next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scf.yield %next : i32</a:t>
            </a:r>
          </a:p>
        </p:txBody>
      </p:sp>
      <p:sp>
        <p:nvSpPr>
          <p:cNvPr id="25"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tart with immutable staged stat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Start with immutable staged state</a:t>
            </a:r>
          </a:p>
        </p:txBody>
      </p:sp>
      <p:sp>
        <p:nvSpPr>
          <p:cNvPr id="5" name="Rebind a new immutable record when its SSA fields chang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Rebind a new immutable record when its SSA fields change.</a:t>
            </a:r>
          </a:p>
        </p:txBody>
      </p:sp>
      <p:sp>
        <p:nvSpPr>
          <p:cNvPr id="6" name="3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31</a:t>
            </a:r>
          </a:p>
        </p:txBody>
      </p:sp>
      <p:sp>
        <p:nvSpPr>
          <p:cNvPr id="7"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8" name="A simple first model: frozen records and registered leaves. Amir adds richer mutation tracking."/>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 simple first model: frozen records and registered leaves. Amir adds richer mutation tracking.</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A supported Python record"/>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A supported Python record</a:t>
            </a:r>
          </a:p>
        </p:txBody>
      </p:sp>
      <p:sp>
        <p:nvSpPr>
          <p:cNvPr id="11" name="from dataclasses import dataclass, replace"/>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from dataclasses import dataclass, replace</a:t>
            </a:r>
          </a:p>
        </p:txBody>
      </p:sp>
      <p:sp>
        <p:nvSpPr>
          <p:cNvPr id="12" name=""/>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3" name="@dataclass(frozen=True)"/>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@dataclass(frozen=True)</a:t>
            </a:r>
          </a:p>
        </p:txBody>
      </p:sp>
      <p:sp>
        <p:nvSpPr>
          <p:cNvPr id="14" name="class Stat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State:</a:t>
            </a:r>
          </a:p>
        </p:txBody>
      </p:sp>
      <p:sp>
        <p:nvSpPr>
          <p:cNvPr id="15" name="    total: m.Int32"/>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total: m.Int32</a:t>
            </a:r>
          </a:p>
        </p:txBody>
      </p:sp>
      <p:sp>
        <p:nvSpPr>
          <p:cNvPr id="16" name="Rectangle 15"/>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7" name="Reconstruct it across the loop"/>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Reconstruct it across the loop</a:t>
            </a:r>
          </a:p>
        </p:txBody>
      </p:sp>
      <p:sp>
        <p:nvSpPr>
          <p:cNvPr id="18"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9" name="def sum_record(n: m.Int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sum_record(n: m.Int32):</a:t>
            </a:r>
          </a:p>
        </p:txBody>
      </p:sp>
      <p:sp>
        <p:nvSpPr>
          <p:cNvPr id="20" name="    state = State(m.Int32(0))"/>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state = State(m.Int32(0))</a:t>
            </a:r>
          </a:p>
        </p:txBody>
      </p:sp>
      <p:sp>
        <p:nvSpPr>
          <p:cNvPr id="21" name="    for i in range(n):"/>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22" name="        state = replace(state,"/>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state = replace(state,</a:t>
            </a:r>
          </a:p>
        </p:txBody>
      </p:sp>
      <p:sp>
        <p:nvSpPr>
          <p:cNvPr id="23" name="            total=state.total + i)"/>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total=state.total + i)</a:t>
            </a:r>
          </a:p>
        </p:txBody>
      </p:sp>
      <p:sp>
        <p:nvSpPr>
          <p:cNvPr id="24" name="    return state.total"/>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state.total</a:t>
            </a:r>
          </a:p>
        </p:txBody>
      </p:sp>
      <p:sp>
        <p:nvSpPr>
          <p:cNvPr id="25" name=""/>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6" name="sum_record(10)  # 45"/>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sum_record(10)  # 45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e same capture can emit your control-flow dialec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The same capture can emit your control-flow dialect</a:t>
            </a:r>
          </a:p>
        </p:txBody>
      </p:sp>
      <p:sp>
        <p:nvSpPr>
          <p:cNvPr id="5" name="Replace the callbacks that build regions and thread their carried valu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Replace the callbacks that build regions and thread their carried values.</a:t>
            </a:r>
          </a:p>
        </p:txBody>
      </p:sp>
      <p:sp>
        <p:nvSpPr>
          <p:cNvPr id="6" name="3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32</a:t>
            </a:r>
          </a:p>
        </p:txBody>
      </p:sp>
      <p:sp>
        <p:nvSpPr>
          <p:cNvPr id="7"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8" name="Reuse AST analysis and the carry protocol; change the region-building callback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Reuse AST analysis and the carry protocol; change the region-building callbacks.</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Downstream callback installation · sketch"/>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Downstream callback installation · sketch</a:t>
            </a:r>
          </a:p>
        </p:txBody>
      </p:sp>
      <p:sp>
        <p:nvSpPr>
          <p:cNvPr id="11" name="class MyControlFlow(m.Dialect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MyControlFlow(m.DialectPlugin):</a:t>
            </a:r>
          </a:p>
        </p:txBody>
      </p:sp>
      <p:sp>
        <p:nvSpPr>
          <p:cNvPr id="12" name="    def install(self, dsl):"/>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install(self, dsl):</a:t>
            </a:r>
          </a:p>
        </p:txBody>
      </p:sp>
      <p:sp>
        <p:nvSpPr>
          <p:cNvPr id="13" name="        super().install(dsl)"/>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super().install(dsl)</a:t>
            </a:r>
          </a:p>
        </p:txBody>
      </p:sp>
      <p:sp>
        <p:nvSpPr>
          <p:cNvPr id="14" name="        dsl.executor.set_functions("/>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dsl.executor.set_functions(</a:t>
            </a:r>
          </a:p>
        </p:txBody>
      </p:sp>
      <p:sp>
        <p:nvSpPr>
          <p:cNvPr id="15" name="            **mydialect_executors)"/>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**mydialect_executors)</a:t>
            </a:r>
          </a:p>
        </p:txBody>
      </p:sp>
      <p:sp>
        <p:nvSpPr>
          <p:cNvPr id="16"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7" name="class MySubDSL(m.BaseDSL):"/>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MySubDSL(m.BaseDSL):</a:t>
            </a:r>
          </a:p>
        </p:txBody>
      </p:sp>
      <p:sp>
        <p:nvSpPr>
          <p:cNvPr id="18" name="    plugins = [MyControlFlow()]"/>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[MyControlFlow()]</a:t>
            </a:r>
          </a:p>
        </p:txBody>
      </p:sp>
      <p:sp>
        <p:nvSpPr>
          <p:cNvPr id="19" name="    # Configure BaseDSL as before."/>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 Configure BaseDSL as before.</a:t>
            </a:r>
          </a:p>
        </p:txBody>
      </p:sp>
      <p:sp>
        <p:nvSpPr>
          <p:cNvPr id="20" name="Default implementation"/>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Default implementation</a:t>
            </a:r>
          </a:p>
        </p:txBody>
      </p:sp>
      <p:sp>
        <p:nvSpPr>
          <p:cNvPr id="21" name="Loop / branch callbacks / emit scf.for, scf.if, scf.while."/>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Loop / branch callbacks</a:t>
            </a:r>
          </a:p>
          <a:p>
            <a:pPr algn="l">
              <a:lnSpc>
                <a:spcPts val="1391"/>
              </a:lnSpc>
              <a:spcBef>
                <a:spcPts val="0"/>
              </a:spcBef>
              <a:spcAft>
                <a:spcPts val="0"/>
              </a:spcAft>
            </a:pPr>
            <a:r>
              <a:rPr sz="1200" b="0">
                <a:solidFill>
                  <a:srgbClr val="616161"/>
                </a:solidFill>
                <a:latin typeface="NVIDIA Sans"/>
              </a:rPr>
              <a:t>emit scf.for, scf.if, scf.while.</a:t>
            </a:r>
          </a:p>
        </p:txBody>
      </p:sp>
      <p:sp>
        <p:nvSpPr>
          <p:cNvPr id="22" name="Your implementation"/>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Your implementation</a:t>
            </a:r>
          </a:p>
        </p:txBody>
      </p:sp>
      <p:sp>
        <p:nvSpPr>
          <p:cNvPr id="23" name="The same callbacks can emit / yourdialect.cf regions and yield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The same callbacks can emit</a:t>
            </a:r>
          </a:p>
          <a:p>
            <a:pPr algn="l">
              <a:lnSpc>
                <a:spcPts val="1391"/>
              </a:lnSpc>
              <a:spcBef>
                <a:spcPts val="0"/>
              </a:spcBef>
              <a:spcAft>
                <a:spcPts val="0"/>
              </a:spcAft>
            </a:pPr>
            <a:r>
              <a:rPr sz="1200" b="0">
                <a:solidFill>
                  <a:srgbClr val="616161"/>
                </a:solidFill>
                <a:latin typeface="NVIDIA Sans"/>
              </a:rPr>
              <a:t>yourdialect.cf regions and yields.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Native syntax and explicit builders share the cor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Native syntax and explicit builders share the core</a:t>
            </a:r>
          </a:p>
        </p:txBody>
      </p:sp>
      <p:sp>
        <p:nvSpPr>
          <p:cNvPr id="5" name="Expose region construction even when AST preprocessing is disabled."/>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Expose region construction even when AST preprocessing is disabled.</a:t>
            </a:r>
          </a:p>
        </p:txBody>
      </p:sp>
      <p:sp>
        <p:nvSpPr>
          <p:cNvPr id="6" name="3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33</a:t>
            </a:r>
          </a:p>
        </p:txBody>
      </p:sp>
      <p:sp>
        <p:nvSpPr>
          <p:cNvPr id="7"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8" name="Move reusable builders out of the original target DSL and into the shared cor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Move reusable builders out of the original target DSL and into the shared core.</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Explicit structured control flow"/>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Explicit structured control flow</a:t>
            </a:r>
          </a:p>
        </p:txBody>
      </p:sp>
      <p:sp>
        <p:nvSpPr>
          <p:cNvPr id="11" name="@m.jit(preprocess=False)"/>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@m.jit(preprocess=False)</a:t>
            </a:r>
          </a:p>
        </p:txBody>
      </p:sp>
      <p:sp>
        <p:nvSpPr>
          <p:cNvPr id="12" name="def sum_upto(n: m.In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sum_upto(n: m.Int32):</a:t>
            </a:r>
          </a:p>
        </p:txBody>
      </p:sp>
      <p:sp>
        <p:nvSpPr>
          <p:cNvPr id="13" name="    acc = m.Int32(0)"/>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acc = m.Int32(0)</a:t>
            </a:r>
          </a:p>
        </p:txBody>
      </p:sp>
      <p:sp>
        <p:nvSpPr>
          <p:cNvPr id="14" name="    for i, current, result in m.for_("/>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for i, current, result in m.for_(</a:t>
            </a:r>
          </a:p>
        </p:txBody>
      </p:sp>
      <p:sp>
        <p:nvSpPr>
          <p:cNvPr id="15" name="            0, n, 1, [acc]):"/>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0, n, 1, [acc]):</a:t>
            </a:r>
          </a:p>
        </p:txBody>
      </p:sp>
      <p:sp>
        <p:nvSpPr>
          <p:cNvPr id="16" name="        m.yield_([current + i])"/>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m.yield_([current + i])</a:t>
            </a:r>
          </a:p>
        </p:txBody>
      </p:sp>
      <p:sp>
        <p:nvSpPr>
          <p:cNvPr id="17" name="    return result"/>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result</a:t>
            </a:r>
          </a:p>
        </p:txBody>
      </p:sp>
      <p:sp>
        <p:nvSpPr>
          <p:cNvPr id="18" name="Region builde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Region builders</a:t>
            </a:r>
          </a:p>
        </p:txBody>
      </p:sp>
      <p:sp>
        <p:nvSpPr>
          <p:cNvPr id="19" name="m.for_ / m.if_ / m.while_ / with m.yield_."/>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m.for_ / m.if_ / m.while_</a:t>
            </a:r>
          </a:p>
          <a:p>
            <a:pPr algn="l">
              <a:lnSpc>
                <a:spcPts val="1391"/>
              </a:lnSpc>
              <a:spcBef>
                <a:spcPts val="0"/>
              </a:spcBef>
              <a:spcAft>
                <a:spcPts val="0"/>
              </a:spcAft>
            </a:pPr>
            <a:r>
              <a:rPr sz="1200" b="0">
                <a:solidFill>
                  <a:srgbClr val="616161"/>
                </a:solidFill>
                <a:latin typeface="NVIDIA Sans"/>
              </a:rPr>
              <a:t>with m.yield_.</a:t>
            </a:r>
          </a:p>
        </p:txBody>
      </p:sp>
      <p:sp>
        <p:nvSpPr>
          <p:cNvPr id="20" name="Boolean helper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Boolean helpers</a:t>
            </a:r>
          </a:p>
        </p:txBody>
      </p:sp>
      <p:sp>
        <p:nvSpPr>
          <p:cNvPr id="21" name="and_ / or_ / not_ / any_ / all_ / with dialect-aware comparison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and_ / or_ / not_ / any_ / all_</a:t>
            </a:r>
          </a:p>
          <a:p>
            <a:pPr algn="l">
              <a:lnSpc>
                <a:spcPts val="1391"/>
              </a:lnSpc>
              <a:spcBef>
                <a:spcPts val="0"/>
              </a:spcBef>
              <a:spcAft>
                <a:spcPts val="0"/>
              </a:spcAft>
            </a:pPr>
            <a:r>
              <a:rPr sz="1200" b="0">
                <a:solidFill>
                  <a:srgbClr val="616161"/>
                </a:solidFill>
                <a:latin typeface="NVIDIA Sans"/>
              </a:rPr>
              <a:t>with dialect-aware comparisons.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orked example: Python → MLIR → executi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Worked example: Python → MLIR → execution</a:t>
            </a:r>
          </a:p>
        </p:txBody>
      </p:sp>
      <p:sp>
        <p:nvSpPr>
          <p:cNvPr id="5" name="A runtime trip count and an SSA accumulator."/>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 runtime trip count and an SSA accumulator.</a:t>
            </a:r>
          </a:p>
        </p:txBody>
      </p:sp>
      <p:sp>
        <p:nvSpPr>
          <p:cNvPr id="6" name="3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34</a:t>
            </a:r>
          </a:p>
        </p:txBody>
      </p:sp>
      <p:sp>
        <p:nvSpPr>
          <p:cNvPr id="7" name="Worked examples"/>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Worked examples</a:t>
            </a:r>
          </a:p>
        </p:txBody>
      </p:sp>
      <p:sp>
        <p:nvSpPr>
          <p:cNvPr id="8" name="Trace to IR → lower SCF / arith to LLVM → execute → 45."/>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Trace to IR → lower SCF / arith to LLVM → execute → 45.</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Python · CPU example"/>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Python · CPU example</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sum_upto(n: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sum_upto(n: m.Int32):</a:t>
            </a:r>
          </a:p>
        </p:txBody>
      </p:sp>
      <p:sp>
        <p:nvSpPr>
          <p:cNvPr id="13" name="    acc = m.Int32(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14" name="    for i in range(n):"/>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5" name="        acc += 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6" name="    return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17" name=""/>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8" name="sum_upto(10)  # 45"/>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sum_upto(10)  # 45</a:t>
            </a:r>
          </a:p>
        </p:txBody>
      </p:sp>
      <p:sp>
        <p:nvSpPr>
          <p:cNvPr id="19" name="Rectangle 18"/>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0" name="Generated MLIR · core loop"/>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Generated MLIR · core loop</a:t>
            </a:r>
          </a:p>
        </p:txBody>
      </p:sp>
      <p:sp>
        <p:nvSpPr>
          <p:cNvPr id="21" name="%sum = scf.for %i = %c0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scf.for %i = %c0 to %n</a:t>
            </a:r>
          </a:p>
        </p:txBody>
      </p:sp>
      <p:sp>
        <p:nvSpPr>
          <p:cNvPr id="22" name="    step %c1 iter_args(%a = %zero)"/>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step %c1 iter_args(%a = %zero)</a:t>
            </a:r>
          </a:p>
        </p:txBody>
      </p:sp>
      <p:sp>
        <p:nvSpPr>
          <p:cNvPr id="23" name="    -&gt; (i32) : i32 {"/>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(i32) : i32 {</a:t>
            </a:r>
          </a:p>
        </p:txBody>
      </p:sp>
      <p:sp>
        <p:nvSpPr>
          <p:cNvPr id="24" name="  %next = arith.addi %a, %i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arith.addi %a, %i : i32</a:t>
            </a:r>
          </a:p>
        </p:txBody>
      </p:sp>
      <p:sp>
        <p:nvSpPr>
          <p:cNvPr id="25" name="  scf.yield %next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scf.yield %next : i32</a:t>
            </a:r>
          </a:p>
        </p:txBody>
      </p:sp>
      <p:sp>
        <p:nvSpPr>
          <p:cNvPr id="26"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27" name="llvm.return %sum : i32"/>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llvm.return %sum : i32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orked example: fuse a Python recip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Worked example: fuse a Python recipe</a:t>
            </a:r>
          </a:p>
        </p:txBody>
      </p:sp>
      <p:sp>
        <p:nvSpPr>
          <p:cNvPr id="5" name="A known dictionary specializes arithmetic inside a runtime loop."/>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 known dictionary specializes arithmetic inside a runtime loop.</a:t>
            </a:r>
          </a:p>
        </p:txBody>
      </p:sp>
      <p:sp>
        <p:nvSpPr>
          <p:cNvPr id="6" name="3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35</a:t>
            </a:r>
          </a:p>
        </p:txBody>
      </p:sp>
      <p:sp>
        <p:nvSpPr>
          <p:cNvPr id="7" name="Worked examples"/>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Worked examples</a:t>
            </a:r>
          </a:p>
        </p:txBody>
      </p:sp>
      <p:sp>
        <p:nvSpPr>
          <p:cNvPr id="8" name="The array loop is staged. The object dispatch and recipe loop disappear during generation."/>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array loop is staged. The object dispatch and recipe loop disappear during generation.</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Python · executed with a NumPy buffer"/>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Python · executed with a NumPy buffer</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fused(arr: m.Pointer[m.Floa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fused(arr: m.Pointer[m.Float32],</a:t>
            </a:r>
          </a:p>
        </p:txBody>
      </p:sp>
      <p:sp>
        <p:nvSpPr>
          <p:cNvPr id="13" name="          ops: m.Constexp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ops: m.Constexpr):</a:t>
            </a:r>
          </a:p>
        </p:txBody>
      </p:sp>
      <p:sp>
        <p:nvSpPr>
          <p:cNvPr id="14" name="    for i in m.range(4):"/>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m.range(4):</a:t>
            </a:r>
          </a:p>
        </p:txBody>
      </p:sp>
      <p:sp>
        <p:nvSpPr>
          <p:cNvPr id="15" name="        x = arr[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arr[i]</a:t>
            </a:r>
          </a:p>
        </p:txBody>
      </p:sp>
      <p:sp>
        <p:nvSpPr>
          <p:cNvPr id="16" name="        for op in ops.values():"/>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17" name="            x = op.apply(x)"/>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18" name="        arr[i] = x"/>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arr[i] = x</a:t>
            </a:r>
          </a:p>
        </p:txBody>
      </p:sp>
      <p:sp>
        <p:nvSpPr>
          <p:cNvPr id="19" name=""/>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0" name="# [0, 1, 2, 3] -&gt; [6, 9, 12, 15]"/>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[0, 1, 2, 3] -&gt; [6, 9, 12, 15]</a:t>
            </a:r>
          </a:p>
        </p:txBody>
      </p:sp>
      <p:sp>
        <p:nvSpPr>
          <p:cNvPr id="21" name="Rectangle 20"/>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2" name="Inside the emitted scf.for · excerpt"/>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Inside the emitted scf.for · excerpt</a:t>
            </a:r>
          </a:p>
        </p:txBody>
      </p:sp>
      <p:sp>
        <p:nvSpPr>
          <p:cNvPr id="23" name="%p = llvm.getelementptr %arr[%i]"/>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 = llvm.getelementptr %arr[%i]</a:t>
            </a:r>
          </a:p>
        </p:txBody>
      </p:sp>
      <p:sp>
        <p:nvSpPr>
          <p:cNvPr id="24" name="    : (!llvm.ptr, i32) -&gt; !llvm.ptr, f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(!llvm.ptr, i32) -&gt; !llvm.ptr, f32</a:t>
            </a:r>
          </a:p>
        </p:txBody>
      </p:sp>
      <p:sp>
        <p:nvSpPr>
          <p:cNvPr id="25" name="%x = llvm.load %p : !llvm.ptr -&gt; f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%x = llvm.load %p : !llvm.ptr -&gt; f32</a:t>
            </a:r>
          </a:p>
        </p:txBody>
      </p:sp>
      <p:sp>
        <p:nvSpPr>
          <p:cNvPr id="26" name="%a = arith.addf %x, %two : f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 = arith.addf %x, %two : f32</a:t>
            </a:r>
          </a:p>
        </p:txBody>
      </p:sp>
      <p:sp>
        <p:nvSpPr>
          <p:cNvPr id="27" name="%r = arith.mulf %a, %three : f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arith.mulf %a, %three : f32</a:t>
            </a:r>
          </a:p>
        </p:txBody>
      </p:sp>
      <p:sp>
        <p:nvSpPr>
          <p:cNvPr id="28" name="llvm.store %r, %p : f32, !llvm.ptr"/>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llvm.store %r, %p : f32, !llvm.ptr</a:t>
            </a:r>
          </a:p>
        </p:txBody>
      </p:sp>
      <p:sp>
        <p:nvSpPr>
          <p:cNvPr id="29" name="scf.yield"/>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scf.yield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3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36</a:t>
            </a:r>
          </a:p>
        </p:txBody>
      </p:sp>
      <p:sp>
        <p:nvSpPr>
          <p:cNvPr id="5" name="NEXT · 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NEXT · AMIR TAVAKKOLI</a:t>
            </a:r>
          </a:p>
        </p:txBody>
      </p:sp>
      <p:sp>
        <p:nvSpPr>
          <p:cNvPr id="6" name="From SSA values to richer mutation"/>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From SSA values to richer mutation</a:t>
            </a:r>
          </a:p>
        </p:txBody>
      </p:sp>
      <p:sp>
        <p:nvSpPr>
          <p:cNvPr id="7" name="How do we preserve object mutation and aliasing across staged control flow?"/>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How do we preserve object mutation and aliasing across staged control flow?</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Guray Ozen"/>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Guray Ozen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3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37</a:t>
            </a:r>
          </a:p>
        </p:txBody>
      </p:sp>
      <p:sp>
        <p:nvSpPr>
          <p:cNvPr id="5" name="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AMIR TAVAKKOLI</a:t>
            </a:r>
          </a:p>
        </p:txBody>
      </p:sp>
      <p:sp>
        <p:nvSpPr>
          <p:cNvPr id="6" name="Advanced mutation tracking"/>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Advanced mutation tracking</a:t>
            </a:r>
          </a:p>
        </p:txBody>
      </p:sp>
      <p:sp>
        <p:nvSpPr>
          <p:cNvPr id="7" name="Reserved for Amir’s slides on the PyIR idea."/>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Reserved for Amir’s slides on the PyIR idea.</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Amir Tavakkoli"/>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Amir Tavakkoli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an existing BaseDSL targe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an existing BaseDSL target</a:t>
            </a:r>
          </a:p>
        </p:txBody>
      </p:sp>
      <p:sp>
        <p:nvSpPr>
          <p:cNvPr id="5" name="1 / 5 · Extract the common frontend; retain the target implementation."/>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1 / 5 · Extract the common frontend; retain the target implementation.</a:t>
            </a:r>
          </a:p>
        </p:txBody>
      </p:sp>
      <p:sp>
        <p:nvSpPr>
          <p:cNvPr id="6" name="3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38</a:t>
            </a:r>
          </a:p>
        </p:txBody>
      </p:sp>
      <p:sp>
        <p:nvSpPr>
          <p:cNvPr id="7"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8" name="DkgDSL already has this target. Move its common dependency to mlir dsl."/>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DkgDSL already has this target. Move its common dependency to mlir dsl.</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Existing DKG backend · abridged"/>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Existing DKG backend · abridged</a:t>
            </a:r>
          </a:p>
        </p:txBody>
      </p:sp>
      <p:sp>
        <p:nvSpPr>
          <p:cNvPr id="11" name="class CudaTileIR(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CudaTileIR(BaseDSL):</a:t>
            </a:r>
          </a:p>
        </p:txBody>
      </p:sp>
      <p:sp>
        <p:nvSpPr>
          <p:cNvPr id="12" name="    _env_class = CudaTileIREnvironmentManage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_env_class = CudaTileIREnvironmentManager</a:t>
            </a:r>
          </a:p>
        </p:txBody>
      </p:sp>
      <p:sp>
        <p:nvSpPr>
          <p:cNvPr id="13" name="    def __init__(self):"/>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__init__(self):</a:t>
            </a:r>
          </a:p>
        </p:txBody>
      </p:sp>
      <p:sp>
        <p:nvSpPr>
          <p:cNvPr id="14" name="        super().__init__("/>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super().__init__(</a:t>
            </a:r>
          </a:p>
        </p:txBody>
      </p:sp>
      <p:sp>
        <p:nvSpPr>
          <p:cNvPr id="15" name="            name=&quot;CUDA_TILE_DSL&quot;,"/>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name="CUDA_TILE_DSL",</a:t>
            </a:r>
          </a:p>
        </p:txBody>
      </p:sp>
      <p:sp>
        <p:nvSpPr>
          <p:cNvPr id="16" name="            dsl_package_name=[&quot;tile_ir&quot;],"/>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dsl_package_name=["tile_ir"],</a:t>
            </a:r>
          </a:p>
        </p:txBody>
      </p:sp>
      <p:sp>
        <p:nvSpPr>
          <p:cNvPr id="17" name="            compiler_provider=compiler_provider,"/>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compiler_provider=compiler_provider,</a:t>
            </a:r>
          </a:p>
        </p:txBody>
      </p:sp>
      <p:sp>
        <p:nvSpPr>
          <p:cNvPr id="18" name="            pass_sm_arch_name=&quot;compute-capability&quo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pass_sm_arch_name="compute-capability",</a:t>
            </a:r>
          </a:p>
        </p:txBody>
      </p:sp>
      <p:sp>
        <p:nvSpPr>
          <p:cNvPr id="19" name="            device_compilation_only=True,"/>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device_compilation_only=True,</a:t>
            </a:r>
          </a:p>
        </p:txBody>
      </p:sp>
      <p:sp>
        <p:nvSpPr>
          <p:cNvPr id="20" name="            preprocess=True)"/>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preprocess=True)</a:t>
            </a:r>
          </a:p>
        </p:txBody>
      </p:sp>
      <p:sp>
        <p:nvSpPr>
          <p:cNvPr id="21" name="Shared machinery"/>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Shared machinery</a:t>
            </a:r>
          </a:p>
        </p:txBody>
      </p:sp>
      <p:sp>
        <p:nvSpPr>
          <p:cNvPr id="22" name="AST capture, staging, diagnostics, / environment, and name mangling."/>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AST capture, staging, diagnostics,</a:t>
            </a:r>
          </a:p>
          <a:p>
            <a:pPr algn="l">
              <a:lnSpc>
                <a:spcPts val="1391"/>
              </a:lnSpc>
              <a:spcBef>
                <a:spcPts val="0"/>
              </a:spcBef>
              <a:spcAft>
                <a:spcPts val="0"/>
              </a:spcAft>
            </a:pPr>
            <a:r>
              <a:rPr sz="1200" b="0">
                <a:solidFill>
                  <a:srgbClr val="616161"/>
                </a:solidFill>
                <a:latin typeface="NVIDIA Sans"/>
              </a:rPr>
              <a:t>environment, and name mangling.</a:t>
            </a:r>
          </a:p>
        </p:txBody>
      </p:sp>
      <p:sp>
        <p:nvSpPr>
          <p:cNvPr id="23" name="Target choice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Target choices</a:t>
            </a:r>
          </a:p>
        </p:txBody>
      </p:sp>
      <p:sp>
        <p:nvSpPr>
          <p:cNvPr id="24" name="Tile values and entry ops, / serialization, codegen, launch."/>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Tile values and entry ops,</a:t>
            </a:r>
          </a:p>
          <a:p>
            <a:pPr algn="l">
              <a:lnSpc>
                <a:spcPts val="1391"/>
              </a:lnSpc>
              <a:spcBef>
                <a:spcPts val="0"/>
              </a:spcBef>
              <a:spcAft>
                <a:spcPts val="0"/>
              </a:spcAft>
            </a:pPr>
            <a:r>
              <a:rPr sz="1200" b="0">
                <a:solidFill>
                  <a:srgbClr val="616161"/>
                </a:solidFill>
                <a:latin typeface="NVIDIA Sans"/>
              </a:rPr>
              <a:t>serialization, codegen, launch.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e target supplies the region builde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The target supplies the region builder</a:t>
            </a:r>
          </a:p>
        </p:txBody>
      </p:sp>
      <p:sp>
        <p:nvSpPr>
          <p:cNvPr id="5" name="2 / 5 · The carried-value protocol survives a change of dialect."/>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2 / 5 · The carried-value protocol survives a change of dialect.</a:t>
            </a:r>
          </a:p>
        </p:txBody>
      </p:sp>
      <p:sp>
        <p:nvSpPr>
          <p:cNvPr id="6" name="3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39</a:t>
            </a:r>
          </a:p>
        </p:txBody>
      </p:sp>
      <p:sp>
        <p:nvSpPr>
          <p:cNvPr id="7"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8" name="The same capture protocol can produce a different dialect’s region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same capture protocol can produce a different dialect’s regions.</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Existing Tile IR loop callback · simplified names"/>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Existing Tile IR loop callback · simplified names</a:t>
            </a:r>
          </a:p>
        </p:txBody>
      </p:sp>
      <p:sp>
        <p:nvSpPr>
          <p:cNvPr id="11" name="def build_loop():"/>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build_loop():</a:t>
            </a:r>
          </a:p>
        </p:txBody>
      </p:sp>
      <p:sp>
        <p:nvSpPr>
          <p:cNvPr id="12" name="    def body(iv, *carried):"/>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body(iv, *carried):</a:t>
            </a:r>
          </a:p>
        </p:txBody>
      </p:sp>
      <p:sp>
        <p:nvSpPr>
          <p:cNvPr id="13" name="        updated = captured_body(iv, *carried)"/>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updated = captured_body(iv, *carried)</a:t>
            </a:r>
          </a:p>
        </p:txBody>
      </p:sp>
      <p:sp>
        <p:nvSpPr>
          <p:cNvPr id="14" name="        tile.loop_continue(tuple(updated))"/>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tile.loop_continue(tuple(updated))</a:t>
            </a:r>
          </a:p>
        </p:txBody>
      </p:sp>
      <p:sp>
        <p:nvSpPr>
          <p:cNvPr id="15" name=""/>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return tile.for_loop("/>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tile.for_loop(</a:t>
            </a:r>
          </a:p>
        </p:txBody>
      </p:sp>
      <p:sp>
        <p:nvSpPr>
          <p:cNvPr id="17" name="        body, lower_bound=start,"/>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body, lower_bound=start,</a:t>
            </a:r>
          </a:p>
        </p:txBody>
      </p:sp>
      <p:sp>
        <p:nvSpPr>
          <p:cNvPr id="18" name="        upper_bound=stop, step=step,"/>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upper_bound=stop, step=step,</a:t>
            </a:r>
          </a:p>
        </p:txBody>
      </p:sp>
      <p:sp>
        <p:nvSpPr>
          <p:cNvPr id="19" name="        init_values=list(write_args))"/>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init_values=list(write_args))</a:t>
            </a:r>
          </a:p>
        </p:txBody>
      </p:sp>
      <p:sp>
        <p:nvSpPr>
          <p:cNvPr id="20" name="Shared captur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Shared capture</a:t>
            </a:r>
          </a:p>
        </p:txBody>
      </p:sp>
      <p:sp>
        <p:nvSpPr>
          <p:cNvPr id="21" name="Native loop + assigned names / become a body and write_arg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Native loop + assigned names</a:t>
            </a:r>
          </a:p>
          <a:p>
            <a:pPr algn="l">
              <a:lnSpc>
                <a:spcPts val="1391"/>
              </a:lnSpc>
              <a:spcBef>
                <a:spcPts val="0"/>
              </a:spcBef>
              <a:spcAft>
                <a:spcPts val="0"/>
              </a:spcAft>
            </a:pPr>
            <a:r>
              <a:rPr sz="1200" b="0">
                <a:solidFill>
                  <a:srgbClr val="616161"/>
                </a:solidFill>
                <a:latin typeface="NVIDIA Sans"/>
              </a:rPr>
              <a:t>become a body and write_args.</a:t>
            </a:r>
          </a:p>
        </p:txBody>
      </p:sp>
      <p:sp>
        <p:nvSpPr>
          <p:cNvPr id="22" name="Tile IR generation"/>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Tile IR generation</a:t>
            </a:r>
          </a:p>
        </p:txBody>
      </p:sp>
      <p:sp>
        <p:nvSpPr>
          <p:cNvPr id="23" name="cuda_tile.for + continue / replace scf.for + yield."/>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cuda_tile.for + continue</a:t>
            </a:r>
          </a:p>
          <a:p>
            <a:pPr algn="l">
              <a:lnSpc>
                <a:spcPts val="1391"/>
              </a:lnSpc>
              <a:spcBef>
                <a:spcPts val="0"/>
              </a:spcBef>
              <a:spcAft>
                <a:spcPts val="0"/>
              </a:spcAft>
            </a:pPr>
            <a:r>
              <a:rPr sz="1200" b="0">
                <a:solidFill>
                  <a:srgbClr val="616161"/>
                </a:solidFill>
                <a:latin typeface="NVIDIA Sans"/>
              </a:rPr>
              <a:t>replace scf.for + yield.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Python kernel, a Tile IR loop"/>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Python kernel, a Tile IR loop</a:t>
            </a:r>
          </a:p>
        </p:txBody>
      </p:sp>
      <p:sp>
        <p:nvSpPr>
          <p:cNvPr id="5" name="3 / 5 · Existing DKG API; the shared base is what we extract."/>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3 / 5 · Existing DKG API; the shared base is what we extract.</a:t>
            </a:r>
          </a:p>
        </p:txBody>
      </p:sp>
      <p:sp>
        <p:nvSpPr>
          <p:cNvPr id="6" name="4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40</a:t>
            </a:r>
          </a:p>
        </p:txBody>
      </p:sp>
      <p:sp>
        <p:nvSpPr>
          <p:cNvPr id="7"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8" name="Python runs the generator; Tile IR carries the runtime valu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Python runs the generator; Tile IR carries the runtime value.</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Source-grounded kernel example"/>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Source-grounded kernel example</a:t>
            </a:r>
          </a:p>
        </p:txBody>
      </p:sp>
      <p:sp>
        <p:nvSpPr>
          <p:cNvPr id="11" name="import tile_ir.cuda_tile_dsl as tile"/>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import tile_ir.cuda_tile_dsl as tile</a:t>
            </a:r>
          </a:p>
        </p:txBody>
      </p:sp>
      <p:sp>
        <p:nvSpPr>
          <p:cNvPr id="12" name=""/>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3" name="@tile.kernel"/>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@tile.kernel</a:t>
            </a:r>
          </a:p>
        </p:txBody>
      </p:sp>
      <p:sp>
        <p:nvSpPr>
          <p:cNvPr id="14" name="def sum_upto(n: tile.IRValue[tile.Int32]):"/>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sum_upto(n: tile.IRValue[tile.Int32]):</a:t>
            </a:r>
          </a:p>
        </p:txBody>
      </p:sp>
      <p:sp>
        <p:nvSpPr>
          <p:cNvPr id="15" name="    acc = tile.constant(0)"/>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tile.constant(0)</a:t>
            </a:r>
          </a:p>
        </p:txBody>
      </p:sp>
      <p:sp>
        <p:nvSpPr>
          <p:cNvPr id="16" name="    for i in tile.range_dynamic(n):"/>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tile.range_dynamic(n):</a:t>
            </a:r>
          </a:p>
        </p:txBody>
      </p:sp>
      <p:sp>
        <p:nvSpPr>
          <p:cNvPr id="17" name="        acc += i"/>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8" name="    tile.print_tko(&quot;sum=%i\n&quot;, [acc])"/>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tile.print_tko("sum=%i\n", [acc])</a:t>
            </a:r>
          </a:p>
        </p:txBody>
      </p:sp>
      <p:sp>
        <p:nvSpPr>
          <p:cNvPr id="19" name="Rectangle 18"/>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0" name="Tile IR · loop excerpt"/>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Tile IR · loop excerpt</a:t>
            </a:r>
          </a:p>
        </p:txBody>
      </p:sp>
      <p:sp>
        <p:nvSpPr>
          <p:cNvPr id="21" name="%sum = for %i in (%zero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for %i in (%zero to %n,</a:t>
            </a:r>
          </a:p>
        </p:txBody>
      </p:sp>
      <p:sp>
        <p:nvSpPr>
          <p:cNvPr id="22" name="    step %one) : tile&lt;i32&gt;"/>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step %one) : tile&lt;i32&gt;</a:t>
            </a:r>
          </a:p>
        </p:txBody>
      </p:sp>
      <p:sp>
        <p:nvSpPr>
          <p:cNvPr id="23" name="    iter_values(%acc = %zero)"/>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iter_values(%acc = %zero)</a:t>
            </a:r>
          </a:p>
        </p:txBody>
      </p:sp>
      <p:sp>
        <p:nvSpPr>
          <p:cNvPr id="24" name="    -&gt; (tile&lt;i32&gt;) {"/>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(tile&lt;i32&gt;) {</a:t>
            </a:r>
          </a:p>
        </p:txBody>
      </p:sp>
      <p:sp>
        <p:nvSpPr>
          <p:cNvPr id="25" name="  %next = addi %acc, %i : tile&lt;i32&gt;"/>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addi %acc, %i : tile&lt;i32&gt;</a:t>
            </a:r>
          </a:p>
        </p:txBody>
      </p:sp>
      <p:sp>
        <p:nvSpPr>
          <p:cNvPr id="26" name="  continue %next : tile&lt;i32&gt;"/>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continue %next : tile&lt;i32&gt;</a:t>
            </a:r>
          </a:p>
        </p:txBody>
      </p:sp>
      <p:sp>
        <p:nvSpPr>
          <p:cNvPr id="27"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mpile through the target’s toolcha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Compile through the target’s toolchain</a:t>
            </a:r>
          </a:p>
        </p:txBody>
      </p:sp>
      <p:sp>
        <p:nvSpPr>
          <p:cNvPr id="5" name="4 / 5 · Shared lifecycle, target serialization and code generation."/>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4 / 5 · Shared lifecycle, target serialization and code generation.</a:t>
            </a:r>
          </a:p>
        </p:txBody>
      </p:sp>
      <p:sp>
        <p:nvSpPr>
          <p:cNvPr id="6" name="4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41</a:t>
            </a:r>
          </a:p>
        </p:txBody>
      </p:sp>
      <p:sp>
        <p:nvSpPr>
          <p:cNvPr id="7"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8" name="Generation is shared; serialization and device code generation are target policy."/>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Generation is shared; serialization and device code generation are target policy.</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Two implemented backend routes · abridged"/>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Two implemented backend routes · abridged</a:t>
            </a:r>
          </a:p>
        </p:txBody>
      </p:sp>
      <p:sp>
        <p:nvSpPr>
          <p:cNvPr id="11" name="# Offline path: Tile IR bytecode -&gt; cub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Offline path: Tile IR bytecode -&gt; cubin</a:t>
            </a:r>
          </a:p>
        </p:txBody>
      </p:sp>
      <p:sp>
        <p:nvSpPr>
          <p:cNvPr id="12" name="writeBytecode(output, module.operation)"/>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writeBytecode(output, module.operation)</a:t>
            </a:r>
          </a:p>
        </p:txBody>
      </p:sp>
      <p:sp>
        <p:nvSpPr>
          <p:cNvPr id="13" name="cubin = self._tileiras_compile_cubin(path)"/>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cubin = self._tileiras_compile_cubin(path)</a:t>
            </a:r>
          </a:p>
        </p:txBody>
      </p:sp>
      <p:sp>
        <p:nvSpPr>
          <p:cNvPr id="14"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 Alternative: CUDA driver JIT"/>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Alternative: CUDA driver JIT</a:t>
            </a:r>
          </a:p>
        </p:txBody>
      </p:sp>
      <p:sp>
        <p:nvSpPr>
          <p:cNvPr id="16" name="library = cuda_helpers.load_library_from_file(path)"/>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library = cuda_helpers.load_library_from_file(path)</a:t>
            </a:r>
          </a:p>
        </p:txBody>
      </p:sp>
      <p:sp>
        <p:nvSpPr>
          <p:cNvPr id="17" name="kernel = cuda_helpers.get_library_kernel("/>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kernel = cuda_helpers.get_library_kernel(</a:t>
            </a:r>
          </a:p>
        </p:txBody>
      </p:sp>
      <p:sp>
        <p:nvSpPr>
          <p:cNvPr id="18" name="    library, name)"/>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library, name)</a:t>
            </a:r>
          </a:p>
        </p:txBody>
      </p:sp>
      <p:sp>
        <p:nvSpPr>
          <p:cNvPr id="19" name="Offline compiler"/>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Offline compiler</a:t>
            </a:r>
          </a:p>
        </p:txBody>
      </p:sp>
      <p:sp>
        <p:nvSpPr>
          <p:cNvPr id="20" name="Serialize Tile IR bytecode; / run tileiras for the target GPU."/>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Serialize Tile IR bytecode;</a:t>
            </a:r>
          </a:p>
          <a:p>
            <a:pPr algn="l">
              <a:lnSpc>
                <a:spcPts val="1391"/>
              </a:lnSpc>
              <a:spcBef>
                <a:spcPts val="0"/>
              </a:spcBef>
              <a:spcAft>
                <a:spcPts val="0"/>
              </a:spcAft>
            </a:pPr>
            <a:r>
              <a:rPr sz="1200" b="0">
                <a:solidFill>
                  <a:srgbClr val="616161"/>
                </a:solidFill>
                <a:latin typeface="NVIDIA Sans"/>
              </a:rPr>
              <a:t>run tileiras for the target GPU.</a:t>
            </a:r>
          </a:p>
        </p:txBody>
      </p:sp>
      <p:sp>
        <p:nvSpPr>
          <p:cNvPr id="21" name="Driver JIT"/>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Driver JIT</a:t>
            </a:r>
          </a:p>
        </p:txBody>
      </p:sp>
      <p:sp>
        <p:nvSpPr>
          <p:cNvPr id="22" name="Load Tile IR bytecode through / the CUDA driver library API."/>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Load Tile IR bytecode through</a:t>
            </a:r>
          </a:p>
          <a:p>
            <a:pPr algn="l">
              <a:lnSpc>
                <a:spcPts val="1391"/>
              </a:lnSpc>
              <a:spcBef>
                <a:spcPts val="0"/>
              </a:spcBef>
              <a:spcAft>
                <a:spcPts val="0"/>
              </a:spcAft>
            </a:pPr>
            <a:r>
              <a:rPr sz="1200" b="0">
                <a:solidFill>
                  <a:srgbClr val="616161"/>
                </a:solidFill>
                <a:latin typeface="NVIDIA Sans"/>
              </a:rPr>
              <a:t>the CUDA driver library API.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irect @kernel calls are a target choic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Direct @kernel calls are a target choice</a:t>
            </a:r>
          </a:p>
        </p:txBody>
      </p:sp>
      <p:sp>
        <p:nvSpPr>
          <p:cNvPr id="5" name="5 / 5 · CUDA Python driver helpers behind a normal Python call."/>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5 / 5 · CUDA Python driver helpers behind a normal Python call.</a:t>
            </a:r>
          </a:p>
        </p:txBody>
      </p:sp>
      <p:sp>
        <p:nvSpPr>
          <p:cNvPr id="6" name="4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42</a:t>
            </a:r>
          </a:p>
        </p:txBody>
      </p:sp>
      <p:sp>
        <p:nvSpPr>
          <p:cNvPr id="7"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8" name="Extract the machinery once. Each sub-DSL chooses its dialect, compiler, and runtim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Extract the machinery once. Each sub-DSL chooses its dialect, compiler, and runtime.</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Existing CUDA launch path · abridged"/>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Existing CUDA launch path · abridged</a:t>
            </a:r>
          </a:p>
        </p:txBody>
      </p:sp>
      <p:sp>
        <p:nvSpPr>
          <p:cNvPr id="11" name="module = cuda_helpers.load_cubin_module(cub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module = cuda_helpers.load_cubin_module(cubin)</a:t>
            </a:r>
          </a:p>
        </p:txBody>
      </p:sp>
      <p:sp>
        <p:nvSpPr>
          <p:cNvPr id="12" name="kernel = cuda_helpers.get_kernel_function("/>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kernel = cuda_helpers.get_kernel_function(</a:t>
            </a:r>
          </a:p>
        </p:txBody>
      </p:sp>
      <p:sp>
        <p:nvSpPr>
          <p:cNvPr id="13" name="    module,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module, name)</a:t>
            </a:r>
          </a:p>
        </p:txBody>
      </p:sp>
      <p:sp>
        <p:nvSpPr>
          <p:cNvPr id="14" name="cuda_helpers.launch_kernel("/>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cuda_helpers.launch_kernel(</a:t>
            </a:r>
          </a:p>
        </p:txBody>
      </p:sp>
      <p:sp>
        <p:nvSpPr>
          <p:cNvPr id="15" name="    kernel, num_tiles, (1, 1, 1), stream,"/>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kernel, num_tiles, (1, 1, 1), stream,</a:t>
            </a:r>
          </a:p>
        </p:txBody>
      </p:sp>
      <p:sp>
        <p:nvSpPr>
          <p:cNvPr id="16" name="    smem_size=0, kernel_args=packed_args)"/>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smem_size=0, kernel_args=packed_args)</a:t>
            </a:r>
          </a:p>
        </p:txBody>
      </p:sp>
      <p:sp>
        <p:nvSpPr>
          <p:cNvPr id="17" name="User-facing call"/>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User-facing call</a:t>
            </a:r>
          </a:p>
        </p:txBody>
      </p:sp>
      <p:sp>
        <p:nvSpPr>
          <p:cNvPr id="18" name="sum_upto(10, /     num_tiles=[1, 1, 1])"/>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sum_upto(10,</a:t>
            </a:r>
          </a:p>
          <a:p>
            <a:pPr algn="l">
              <a:lnSpc>
                <a:spcPts val="1391"/>
              </a:lnSpc>
              <a:spcBef>
                <a:spcPts val="0"/>
              </a:spcBef>
              <a:spcAft>
                <a:spcPts val="0"/>
              </a:spcAft>
            </a:pPr>
            <a:r>
              <a:rPr sz="1200" b="0">
                <a:solidFill>
                  <a:srgbClr val="616161"/>
                </a:solidFill>
                <a:latin typeface="NVIDIA Sans"/>
              </a:rPr>
              <a:t>    num_tiles=[1, 1, 1])</a:t>
            </a:r>
          </a:p>
        </p:txBody>
      </p:sp>
      <p:sp>
        <p:nvSpPr>
          <p:cNvPr id="19" name="Expected output"/>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Expected output</a:t>
            </a:r>
          </a:p>
        </p:txBody>
      </p:sp>
      <p:sp>
        <p:nvSpPr>
          <p:cNvPr id="20" name="sum=45 / No host @jit wrapper is required."/>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sum=45</a:t>
            </a:r>
          </a:p>
          <a:p>
            <a:pPr algn="l">
              <a:lnSpc>
                <a:spcPts val="1391"/>
              </a:lnSpc>
              <a:spcBef>
                <a:spcPts val="0"/>
              </a:spcBef>
              <a:spcAft>
                <a:spcPts val="0"/>
              </a:spcAft>
            </a:pPr>
            <a:r>
              <a:rPr sz="1200" b="0">
                <a:solidFill>
                  <a:srgbClr val="616161"/>
                </a:solidFill>
                <a:latin typeface="NVIDIA Sans"/>
              </a:rPr>
              <a:t>No host @jit wrapper is required.</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build a Python DSL for MLIR</dc:title>
  <dc:subject>LLVM conference tutorial · mlir dsl · core: 30 minutes; mutation: 10 minutes; showcase: 5 minutes</dc:subject>
  <dc:creator>Guray Ozen; Amir Tavakkoli</dc:creator>
  <cp:keywords>MLIR, Python, DSL, tutorial, draft</cp:keywords>
  <dc:description>Draft v6. Uses the supplied cutlass-python-pytorch-v22 template and style.</dc:description>
  <cp:lastModifiedBy>Steve Canny</cp:lastModifiedBy>
  <cp:revision>1</cp:revision>
  <dcterms:created xsi:type="dcterms:W3CDTF">2013-01-27T09:14:16Z</dcterms:created>
  <dcterms:modified xsi:type="dcterms:W3CDTF">2013-01-27T09:15:58Z</dcterms:modified>
  <cp:category/>
</cp:coreProperties>
</file>