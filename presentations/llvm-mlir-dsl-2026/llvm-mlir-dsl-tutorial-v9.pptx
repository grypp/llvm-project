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00:15–01:00</a:t>
            </a:r>
          </a:p>
          <a:p>
            <a:r>
              <a:t>Target duration: 00:45</a:t>
            </a:r>
          </a:p>
          <a:p/>
          <a:p>
            <a:r>
              <a:t>Four use cases, shown as concrete pictures. (1) An ordinary public→internal→LLVM compiler pipeline is shown, with Python tests injecting IR directly at the internal dialect. This isolates an internal pass without having to manufacture a source program that reaches it. (2) Python generates recipe IR consumed by an external application; LLVM lowering is optional. (3) JIT, cache and environment modules compose inside a downstream DSL. (4) A user-facing Python language compiles to a GPU; NVIDIA CuTe DSL/CUTLASS Python is the linked production example. Each picture should be narrated, not read as a sentence. The recipe dialect is intentionally generic.</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MLIR spans very different compilers</a:t>
            </a:r>
          </a:p>
          <a:p>
            <a:r>
              <a:t>Owner: Guray Ozen</a:t>
            </a:r>
          </a:p>
          <a:p>
            <a:r>
              <a:t>Clock: 01:00–01:45</a:t>
            </a:r>
          </a:p>
          <a:p>
            <a:r>
              <a:t>Target duration: 00:45</a:t>
            </a:r>
          </a:p>
          <a:p/>
          <a:p>
            <a:r>
              <a:t>These are illustrative compiler assemblies, not a claim that every CPU compiler uses this exact set or that CUDA Tile shares Compiler A’s frontend. MLIR permits domain-specific dialects, different type systems and transformations. The two frontend boxes are deliberately separate: different targets can require different capture rules, entry conventions, compiler pipelines and runtimes. A reusable Python DSL framework must make those choices replaceable. Ask the audience: how can one DSL core serve both? The next slide gives a concrete language-level difference; the following slide provides the plugin answer.</a:t>
            </a:r>
          </a:p>
          <a:p/>
          <a:p>
            <a:r>
              <a:t>SOURCES / PREPARATION</a:t>
            </a:r>
          </a:p>
          <a:p>
            <a:r>
              <a:t>verification/v9/control-flow-evidence.txt</a:t>
            </a:r>
          </a:p>
          <a:p>
            <a:r>
              <a:t>/home/gozen/work/llvm-project/mlir/tools/mlir-dsl/README.md</a:t>
            </a:r>
          </a:p>
          <a:p>
            <a:r>
              <a:t>https://docs.nvidia.com/cuda/tile-ir/latest/sections/introduction.html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Different IR, different control flow</a:t>
            </a:r>
          </a:p>
          <a:p>
            <a:r>
              <a:t>Owner: Guray Ozen</a:t>
            </a:r>
          </a:p>
          <a:p>
            <a:r>
              <a:t>Clock: 01:45–02:30</a:t>
            </a:r>
          </a:p>
          <a:p>
            <a:r>
              <a:t>Target duration: 00:45</a:t>
            </a:r>
          </a:p>
          <a:p/>
          <a:p>
            <a:r>
              <a:t>Use a precise IR comparison, not the blanket claim that SCF cannot express early termination. CUDA Tile IR loop has a break terminator that may occur in a nested if and targets its enclosing loop. SCF for is a counted, single-block region ending in scf.yield, without a direct break terminator. SCF while can terminate via scf.condition; a frontend can lower Python break using a different representation or rewrite. Therefore identical Python surface syntax may need a different AST strategy, callback set, region construction and lowering per target. The picture compares IR capabilities, not a claim that the current DKG Tile frontend already captures every early exit. Do not conflate loop break with early function return: Tile rules differ by operation/version. Sources are recorded in the accompanying evidence file. CUDA Tile for also disallows early termination: the left picture deliberately uses loop, not for. A custom ASTPreprocessorPlugin may need to replace preprocessor_class itself because the current shared rewrite can reject staged exits before callbacks run; changing only the loop executor does not guarantee support.</a:t>
            </a:r>
          </a:p>
          <a:p/>
          <a:p>
            <a:r>
              <a:t>SOURCES / PREPARATION</a:t>
            </a:r>
          </a:p>
          <a:p>
            <a:r>
              <a:t>verification/v9/control-flow-evidence.txt</a:t>
            </a:r>
          </a:p>
          <a:p>
            <a:r>
              <a:t>/home/gozen/work/llvm-project/mlir/tools/mlir-dsl/dsl/core/plugin.py</a:t>
            </a:r>
          </a:p>
          <a:p>
            <a:r>
              <a:t>https://docs.nvidia.com/cuda/tile-ir/latest/sections/operations.html</a:t>
            </a:r>
          </a:p>
          <a:p>
            <a:r>
              <a:t>https://docs.nvidia.com/cuda/tile-ir/13.1/sections/operations.html</a:t>
            </a:r>
          </a:p>
          <a:p>
            <a:r>
              <a:t>https://mlir.llvm.org/docs/Dialects/SCFDialect/</a:t>
            </a:r>
          </a:p>
          <a:p>
            <a:r>
              <a:t>/home/gozen/work/llvm-project/mlir/include/mlir/Dialect/SCF/IR/SCFOps.td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Make the differences plugins</a:t>
            </a:r>
          </a:p>
          <a:p>
            <a:r>
              <a:t>Owner: Guray Ozen</a:t>
            </a:r>
          </a:p>
          <a:p>
            <a:r>
              <a:t>Clock: 02:30–03:15</a:t>
            </a:r>
          </a:p>
          <a:p>
            <a:r>
              <a:t>Target duration: 00:45</a:t>
            </a:r>
          </a:p>
          <a:p/>
          <a:p>
            <a:r>
              <a:t>This is the answer to the preceding two slides. Keep common staging, types, host-boundary orchestration, cache, environment and diagnostics in BaseDSL. Let dialect plugins choose types/ops, entries, compiler and lowering. Let AST plugins choose rewrite and region callbacks, including target-specific control-flow strategy. Let integration plugins provide adapters and exports. Compiler A and Compiler B can each expose their own namespace on that reusable core. The authoring package is mlir.dsl; mlir.mlir_dsl is the reference language. Core import does not eagerly load optional plugins. At construction, SCF+LLVM defaults are installed only if no listed dialect plugin brings an emitter; a replacement emitter suppresses all those defaults, requiring the custom providers the target needs. For early-exit behavior, the plugin may choose a different preprocessor_class as well as a different executor map. Core types and caching do not force a universal Python-to-IR control-flow rewrite.</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Design principles</a:t>
            </a:r>
          </a:p>
          <a:p>
            <a:r>
              <a:t>Owner: Guray Ozen</a:t>
            </a:r>
          </a:p>
          <a:p>
            <a:r>
              <a:t>Clock: 03:15–03:45</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What is multi-stage programming?</a:t>
            </a:r>
          </a:p>
          <a:p>
            <a:r>
              <a:t>Owner: Guray Ozen</a:t>
            </a:r>
          </a:p>
          <a:p>
            <a:r>
              <a:t>Clock: 03:45–04:30</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Why multi-stage programming?</a:t>
            </a:r>
          </a:p>
          <a:p>
            <a:r>
              <a:t>Owner: Guray Ozen</a:t>
            </a:r>
          </a:p>
          <a:p>
            <a:r>
              <a:t>Clock: 04:30–05:15</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How to build a Python DSL for MLIR</a:t>
            </a:r>
          </a:p>
          <a:p>
            <a:r>
              <a:t>Owner: Guray Ozen</a:t>
            </a:r>
          </a:p>
          <a:p>
            <a:r>
              <a:t>Clock: 05:15–06:15</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One program. Two binding times.</a:t>
            </a:r>
          </a:p>
          <a:p>
            <a:r>
              <a:t>Owner: Guray Ozen</a:t>
            </a:r>
          </a:p>
          <a:p>
            <a:r>
              <a:t>Clock: 06:15–07:00</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Agenda</a:t>
            </a:r>
          </a:p>
          <a:p>
            <a:r>
              <a:t>Owner: Guray Ozen</a:t>
            </a:r>
          </a:p>
          <a:p>
            <a:r>
              <a:t>Clock: 07:00–07:15</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Build your language from BaseDSL</a:t>
            </a:r>
          </a:p>
          <a:p>
            <a:r>
              <a:t>Owner: Guray Ozen</a:t>
            </a:r>
          </a:p>
          <a:p>
            <a:r>
              <a:t>Clock: 07:15–08:00</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Core API ≠ language namespace</a:t>
            </a:r>
          </a:p>
          <a:p>
            <a:r>
              <a:t>Owner: Guray Ozen</a:t>
            </a:r>
          </a:p>
          <a:p>
            <a:r>
              <a:t>Clock: 08:00–08:30</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Three plugin families</a:t>
            </a:r>
          </a:p>
          <a:p>
            <a:r>
              <a:t>Owner: Guray Ozen</a:t>
            </a:r>
          </a:p>
          <a:p>
            <a:r>
              <a:t>Clock: 08:30–09:00</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Extend a dialect—or replace its IR</a:t>
            </a:r>
          </a:p>
          <a:p>
            <a:r>
              <a:t>Owner: Guray Ozen</a:t>
            </a:r>
          </a:p>
          <a:p>
            <a:r>
              <a:t>Clock: 09:00–09:45</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A plugin follows the compilation lifecycle</a:t>
            </a:r>
          </a:p>
          <a:p>
            <a:r>
              <a:t>Owner: Guray Ozen</a:t>
            </a:r>
          </a:p>
          <a:p>
            <a:r>
              <a:t>Clock: 09:45–10:45</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@jit and @kernel</a:t>
            </a:r>
          </a:p>
          <a:p>
            <a:r>
              <a:t>Owner: Guray Ozen</a:t>
            </a:r>
          </a:p>
          <a:p>
            <a:r>
              <a:t>Clock: 10:45–11:45</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Types keep policy; emitters choose IR</a:t>
            </a:r>
          </a:p>
          <a:p>
            <a:r>
              <a:t>Owner: Guray Ozen</a:t>
            </a:r>
          </a:p>
          <a:p>
            <a:r>
              <a:t>Clock: 11:45–12:45</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One emitter, three value families</a:t>
            </a:r>
          </a:p>
          <a:p>
            <a:r>
              <a:t>Owner: Guray Ozen</a:t>
            </a:r>
          </a:p>
          <a:p>
            <a:r>
              <a:t>Clock: 12:45–13:15</a:t>
            </a:r>
          </a:p>
          <a:p>
            <a:r>
              <a:t>Target duration: 00:30</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Local type inference</a:t>
            </a:r>
          </a:p>
          <a:p>
            <a:r>
              <a:t>Owner: Guray Ozen</a:t>
            </a:r>
          </a:p>
          <a:p>
            <a:r>
              <a:t>Clock: 13:15–14:00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Same Python types. Different IR.</a:t>
            </a:r>
          </a:p>
          <a:p>
            <a:r>
              <a:t>Owner: Guray Ozen</a:t>
            </a:r>
          </a:p>
          <a:p>
            <a:r>
              <a:t>Clock: 14:00–14:45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Install the emitter as a dialect plugin</a:t>
            </a:r>
          </a:p>
          <a:p>
            <a:r>
              <a:t>Owner: Guray Ozen</a:t>
            </a:r>
          </a:p>
          <a:p>
            <a:r>
              <a:t>Clock: 14:45–15:45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Add mydialect.Tensor</a:t>
            </a:r>
          </a:p>
          <a:p>
            <a:r>
              <a:t>Owner: Guray Ozen</a:t>
            </a:r>
          </a:p>
          <a:p>
            <a:r>
              <a:t>Clock: 15:45–16:45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Python values specialize the program</a:t>
            </a:r>
          </a:p>
          <a:p>
            <a:r>
              <a:t>Owner: Guray Ozen</a:t>
            </a:r>
          </a:p>
          <a:p>
            <a:r>
              <a:t>Clock: 16:45–17:30</a:t>
            </a:r>
          </a:p>
          <a:p>
            <a:r>
              <a:t>Target duration: 00:45</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Objects + dictionaries → arithmetic</a:t>
            </a:r>
          </a:p>
          <a:p>
            <a:r>
              <a:t>Owner: Guray Ozen</a:t>
            </a:r>
          </a:p>
          <a:p>
            <a:r>
              <a:t>Clock: 17:30–18:30</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A GPU plugin supplies kernel + launch</a:t>
            </a:r>
          </a:p>
          <a:p>
            <a:r>
              <a:t>Owner: Guray Ozen</a:t>
            </a:r>
          </a:p>
          <a:p>
            <a:r>
              <a:t>Clock: 18:30–19:15</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DLPack is a boundary plugin</a:t>
            </a:r>
          </a:p>
          <a:p>
            <a:r>
              <a:t>Owner: Guray Ozen</a:t>
            </a:r>
          </a:p>
          <a:p>
            <a:r>
              <a:t>Clock: 19:15–20:00</a:t>
            </a:r>
          </a:p>
          <a:p>
            <a:r>
              <a:t>Target duration: 00:45</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Compile now. Call later.</a:t>
            </a:r>
          </a:p>
          <a:p>
            <a:r>
              <a:t>Owner: Guray Ozen</a:t>
            </a:r>
          </a:p>
          <a:p>
            <a:r>
              <a:t>Clock: 20:00–20:45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An export plugin wraps both sides</a:t>
            </a:r>
          </a:p>
          <a:p>
            <a:r>
              <a:t>Owner: Guray Ozen</a:t>
            </a:r>
          </a:p>
          <a:p>
            <a:r>
              <a:t>Clock: 20:45–21:30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Errors + MLIR remarks</a:t>
            </a:r>
          </a:p>
          <a:p>
            <a:r>
              <a:t>Owner: Guray Ozen</a:t>
            </a:r>
          </a:p>
          <a:p>
            <a:r>
              <a:t>Clock: 21:30–22:00</a:t>
            </a:r>
          </a:p>
          <a:p>
            <a:r>
              <a:t>Target duration: 00:30</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See what the compiler does</a:t>
            </a:r>
          </a:p>
          <a:p>
            <a:r>
              <a:t>Owner: Guray Ozen</a:t>
            </a:r>
          </a:p>
          <a:p>
            <a:r>
              <a:t>Clock: 22:00–22:30</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Cache compilation work</a:t>
            </a:r>
          </a:p>
          <a:p>
            <a:r>
              <a:t>Owner: Guray Ozen</a:t>
            </a:r>
          </a:p>
          <a:p>
            <a:r>
              <a:t>Clock: 22:30–23:15</a:t>
            </a:r>
          </a:p>
          <a:p>
            <a:r>
              <a:t>Target duration: 00:45</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a core assembled through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a core assembled through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07592"/>
            <a:ext cx="3959352" cy="141732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307592"/>
            <a:ext cx="41148" cy="1417320"/>
          </a:xfrm>
          <a:prstGeom prst="rect">
            <a:avLst/>
          </a:prstGeom>
          <a:solidFill>
            <a:srgbClr val="76B900"/>
          </a:solidFill>
          <a:ln>
            <a:noFill/>
          </a:ln>
          <a:effectLst/>
        </p:spPr>
        <p:txBody>
          <a:bodyPr rtlCol="0" anchor="ctr"/>
          <a:lstStyle/>
          <a:p>
            <a:pPr algn="ctr"/>
          </a:p>
        </p:txBody>
      </p:sp>
      <p:sp>
        <p:nvSpPr>
          <p:cNvPr id="9" name="Test an internal dialect"/>
          <p:cNvSpPr txBox="1"/>
          <p:nvPr/>
        </p:nvSpPr>
        <p:spPr>
          <a:xfrm>
            <a:off x="649224" y="1417319"/>
            <a:ext cx="3630168" cy="30175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Test an internal dialect</a:t>
            </a:r>
          </a:p>
        </p:txBody>
      </p:sp>
      <p:sp>
        <p:nvSpPr>
          <p:cNvPr id="10" name="Rectangle 9"/>
          <p:cNvSpPr/>
          <p:nvPr/>
        </p:nvSpPr>
        <p:spPr>
          <a:xfrm>
            <a:off x="685800" y="2221991"/>
            <a:ext cx="868680" cy="329184"/>
          </a:xfrm>
          <a:prstGeom prst="rect">
            <a:avLst/>
          </a:prstGeom>
          <a:solidFill>
            <a:srgbClr val="FFFFFF"/>
          </a:solidFill>
          <a:ln w="8890">
            <a:solidFill>
              <a:srgbClr val="D5D5D5"/>
            </a:solidFill>
          </a:ln>
          <a:effectLst/>
        </p:spPr>
        <p:txBody>
          <a:bodyPr rtlCol="0" anchor="ctr"/>
          <a:lstStyle/>
          <a:p>
            <a:pPr algn="ctr"/>
          </a:p>
        </p:txBody>
      </p:sp>
      <p:sp>
        <p:nvSpPr>
          <p:cNvPr id="11" name="Public"/>
          <p:cNvSpPr txBox="1"/>
          <p:nvPr/>
        </p:nvSpPr>
        <p:spPr>
          <a:xfrm>
            <a:off x="708660" y="2290572"/>
            <a:ext cx="822959"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Public</a:t>
            </a:r>
          </a:p>
        </p:txBody>
      </p:sp>
      <p:cxnSp>
        <p:nvCxnSpPr>
          <p:cNvPr id="12" name="Connector 11"/>
          <p:cNvCxnSpPr/>
          <p:nvPr/>
        </p:nvCxnSpPr>
        <p:spPr>
          <a:xfrm>
            <a:off x="1586484" y="2386584"/>
            <a:ext cx="329184"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956816" y="2221991"/>
            <a:ext cx="1033271" cy="329184"/>
          </a:xfrm>
          <a:prstGeom prst="rect">
            <a:avLst/>
          </a:prstGeom>
          <a:solidFill>
            <a:srgbClr val="F0F6E6"/>
          </a:solidFill>
          <a:ln w="8890">
            <a:solidFill>
              <a:srgbClr val="76B900"/>
            </a:solidFill>
          </a:ln>
          <a:effectLst/>
        </p:spPr>
        <p:txBody>
          <a:bodyPr rtlCol="0" anchor="ctr"/>
          <a:lstStyle/>
          <a:p>
            <a:pPr algn="ctr"/>
          </a:p>
        </p:txBody>
      </p:sp>
      <p:sp>
        <p:nvSpPr>
          <p:cNvPr id="14" name="Internal"/>
          <p:cNvSpPr txBox="1"/>
          <p:nvPr/>
        </p:nvSpPr>
        <p:spPr>
          <a:xfrm>
            <a:off x="1979676" y="2290572"/>
            <a:ext cx="987551"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Internal</a:t>
            </a:r>
          </a:p>
        </p:txBody>
      </p:sp>
      <p:cxnSp>
        <p:nvCxnSpPr>
          <p:cNvPr id="15" name="Connector 14"/>
          <p:cNvCxnSpPr/>
          <p:nvPr/>
        </p:nvCxnSpPr>
        <p:spPr>
          <a:xfrm>
            <a:off x="3022092" y="238658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328415" y="2221991"/>
            <a:ext cx="896112" cy="329184"/>
          </a:xfrm>
          <a:prstGeom prst="rect">
            <a:avLst/>
          </a:prstGeom>
          <a:solidFill>
            <a:srgbClr val="FFFFFF"/>
          </a:solidFill>
          <a:ln w="8890">
            <a:solidFill>
              <a:srgbClr val="D5D5D5"/>
            </a:solidFill>
          </a:ln>
          <a:effectLst/>
        </p:spPr>
        <p:txBody>
          <a:bodyPr rtlCol="0" anchor="ctr"/>
          <a:lstStyle/>
          <a:p>
            <a:pPr algn="ctr"/>
          </a:p>
        </p:txBody>
      </p:sp>
      <p:sp>
        <p:nvSpPr>
          <p:cNvPr id="17" name="LLVM"/>
          <p:cNvSpPr txBox="1"/>
          <p:nvPr/>
        </p:nvSpPr>
        <p:spPr>
          <a:xfrm>
            <a:off x="3351275" y="2290572"/>
            <a:ext cx="850392"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LLVM</a:t>
            </a:r>
          </a:p>
        </p:txBody>
      </p:sp>
      <p:sp>
        <p:nvSpPr>
          <p:cNvPr id="18" name="Rectangle 17"/>
          <p:cNvSpPr/>
          <p:nvPr/>
        </p:nvSpPr>
        <p:spPr>
          <a:xfrm>
            <a:off x="1920240" y="1810512"/>
            <a:ext cx="1106424" cy="256032"/>
          </a:xfrm>
          <a:prstGeom prst="rect">
            <a:avLst/>
          </a:prstGeom>
          <a:solidFill>
            <a:srgbClr val="76B900"/>
          </a:solidFill>
          <a:ln>
            <a:noFill/>
          </a:ln>
          <a:effectLst/>
        </p:spPr>
        <p:txBody>
          <a:bodyPr rtlCol="0" anchor="ctr"/>
          <a:lstStyle/>
          <a:p>
            <a:pPr algn="ctr"/>
          </a:p>
        </p:txBody>
      </p:sp>
      <p:sp>
        <p:nvSpPr>
          <p:cNvPr id="19" name="Python test"/>
          <p:cNvSpPr txBox="1"/>
          <p:nvPr/>
        </p:nvSpPr>
        <p:spPr>
          <a:xfrm>
            <a:off x="1956816" y="1860804"/>
            <a:ext cx="1033271" cy="17373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000000"/>
                </a:solidFill>
                <a:latin typeface="NVIDIA Sans"/>
              </a:rPr>
              <a:t>Python test</a:t>
            </a:r>
          </a:p>
        </p:txBody>
      </p:sp>
      <p:cxnSp>
        <p:nvCxnSpPr>
          <p:cNvPr id="20" name="Connector 19"/>
          <p:cNvCxnSpPr/>
          <p:nvPr/>
        </p:nvCxnSpPr>
        <p:spPr>
          <a:xfrm>
            <a:off x="2473452" y="2080260"/>
            <a:ext cx="0" cy="105155"/>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700016" y="1307592"/>
            <a:ext cx="3959352" cy="1417320"/>
          </a:xfrm>
          <a:prstGeom prst="rect">
            <a:avLst/>
          </a:prstGeom>
          <a:solidFill>
            <a:srgbClr val="F7F7F7"/>
          </a:solidFill>
          <a:ln>
            <a:noFill/>
          </a:ln>
          <a:effectLst/>
        </p:spPr>
        <p:txBody>
          <a:bodyPr rtlCol="0" anchor="ctr"/>
          <a:lstStyle/>
          <a:p>
            <a:pPr algn="ctr"/>
          </a:p>
        </p:txBody>
      </p:sp>
      <p:sp>
        <p:nvSpPr>
          <p:cNvPr id="22" name="Rectangle 21"/>
          <p:cNvSpPr/>
          <p:nvPr/>
        </p:nvSpPr>
        <p:spPr>
          <a:xfrm>
            <a:off x="4700016" y="1307592"/>
            <a:ext cx="41148" cy="1417320"/>
          </a:xfrm>
          <a:prstGeom prst="rect">
            <a:avLst/>
          </a:prstGeom>
          <a:solidFill>
            <a:srgbClr val="76B900"/>
          </a:solidFill>
          <a:ln>
            <a:noFill/>
          </a:ln>
          <a:effectLst/>
        </p:spPr>
        <p:txBody>
          <a:bodyPr rtlCol="0" anchor="ctr"/>
          <a:lstStyle/>
          <a:p>
            <a:pPr algn="ctr"/>
          </a:p>
        </p:txBody>
      </p:sp>
      <p:sp>
        <p:nvSpPr>
          <p:cNvPr id="23" name="Generate recipe IR"/>
          <p:cNvSpPr txBox="1"/>
          <p:nvPr/>
        </p:nvSpPr>
        <p:spPr>
          <a:xfrm>
            <a:off x="4864608" y="1417319"/>
            <a:ext cx="3630168" cy="30175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Generate recipe IR</a:t>
            </a:r>
          </a:p>
        </p:txBody>
      </p:sp>
      <p:sp>
        <p:nvSpPr>
          <p:cNvPr id="24" name="Rectangle 23"/>
          <p:cNvSpPr/>
          <p:nvPr/>
        </p:nvSpPr>
        <p:spPr>
          <a:xfrm>
            <a:off x="5230368" y="177393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5" name="Connector 24"/>
          <p:cNvCxnSpPr/>
          <p:nvPr/>
        </p:nvCxnSpPr>
        <p:spPr>
          <a:xfrm>
            <a:off x="5404104" y="177393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04104" y="186994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04104" y="177393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28" name="&lt;/&gt;"/>
          <p:cNvSpPr txBox="1"/>
          <p:nvPr/>
        </p:nvSpPr>
        <p:spPr>
          <a:xfrm>
            <a:off x="5250484"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29" name="Python"/>
          <p:cNvSpPr txBox="1"/>
          <p:nvPr/>
        </p:nvSpPr>
        <p:spPr>
          <a:xfrm>
            <a:off x="4768596"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0" name="Connector 29"/>
          <p:cNvCxnSpPr/>
          <p:nvPr/>
        </p:nvCxnSpPr>
        <p:spPr>
          <a:xfrm>
            <a:off x="5623560"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519672" y="1773936"/>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2" name="Connector 31"/>
          <p:cNvCxnSpPr/>
          <p:nvPr/>
        </p:nvCxnSpPr>
        <p:spPr>
          <a:xfrm>
            <a:off x="6693408" y="1773936"/>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693408" y="1869948"/>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93408" y="1773936"/>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5" name="&lt;/&gt;"/>
          <p:cNvSpPr txBox="1"/>
          <p:nvPr/>
        </p:nvSpPr>
        <p:spPr>
          <a:xfrm>
            <a:off x="6539788"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36" name="Recipe IR"/>
          <p:cNvSpPr txBox="1"/>
          <p:nvPr/>
        </p:nvSpPr>
        <p:spPr>
          <a:xfrm>
            <a:off x="6057900"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37" name="Connector 36"/>
          <p:cNvCxnSpPr/>
          <p:nvPr/>
        </p:nvCxnSpPr>
        <p:spPr>
          <a:xfrm>
            <a:off x="6912864"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8" name="Gear 6 37"/>
          <p:cNvSpPr/>
          <p:nvPr/>
        </p:nvSpPr>
        <p:spPr>
          <a:xfrm>
            <a:off x="7767828" y="1773936"/>
            <a:ext cx="356616" cy="356616"/>
          </a:xfrm>
          <a:prstGeom prst="gear6">
            <a:avLst/>
          </a:prstGeom>
          <a:solidFill>
            <a:srgbClr val="F7F7F7"/>
          </a:solidFill>
          <a:ln w="11430">
            <a:solidFill>
              <a:srgbClr val="616161"/>
            </a:solidFill>
          </a:ln>
          <a:effectLst/>
        </p:spPr>
        <p:txBody>
          <a:bodyPr rtlCol="0" anchor="ctr"/>
          <a:lstStyle/>
          <a:p>
            <a:pPr algn="ctr"/>
          </a:p>
        </p:txBody>
      </p:sp>
      <p:sp>
        <p:nvSpPr>
          <p:cNvPr id="39" name="External / consumer"/>
          <p:cNvSpPr txBox="1"/>
          <p:nvPr/>
        </p:nvSpPr>
        <p:spPr>
          <a:xfrm>
            <a:off x="7347204" y="218541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External</a:t>
            </a:r>
          </a:p>
          <a:p>
            <a:pPr algn="ctr">
              <a:lnSpc>
                <a:spcPts val="1218"/>
              </a:lnSpc>
              <a:spcBef>
                <a:spcPts val="0"/>
              </a:spcBef>
              <a:spcAft>
                <a:spcPts val="0"/>
              </a:spcAft>
            </a:pPr>
            <a:r>
              <a:rPr sz="1050" b="0">
                <a:solidFill>
                  <a:srgbClr val="000000"/>
                </a:solidFill>
                <a:latin typeface="NVIDIA Sans"/>
              </a:rPr>
              <a:t>consumer</a:t>
            </a:r>
          </a:p>
        </p:txBody>
      </p:sp>
      <p:sp>
        <p:nvSpPr>
          <p:cNvPr id="40" name="Rectangle 39"/>
          <p:cNvSpPr/>
          <p:nvPr/>
        </p:nvSpPr>
        <p:spPr>
          <a:xfrm>
            <a:off x="484632" y="2816352"/>
            <a:ext cx="3959352" cy="1417320"/>
          </a:xfrm>
          <a:prstGeom prst="rect">
            <a:avLst/>
          </a:prstGeom>
          <a:solidFill>
            <a:srgbClr val="F7F7F7"/>
          </a:solidFill>
          <a:ln>
            <a:noFill/>
          </a:ln>
          <a:effectLst/>
        </p:spPr>
        <p:txBody>
          <a:bodyPr rtlCol="0" anchor="ctr"/>
          <a:lstStyle/>
          <a:p>
            <a:pPr algn="ctr"/>
          </a:p>
        </p:txBody>
      </p:sp>
      <p:sp>
        <p:nvSpPr>
          <p:cNvPr id="41" name="Rectangle 40"/>
          <p:cNvSpPr/>
          <p:nvPr/>
        </p:nvSpPr>
        <p:spPr>
          <a:xfrm>
            <a:off x="484632" y="2816352"/>
            <a:ext cx="41148" cy="1417320"/>
          </a:xfrm>
          <a:prstGeom prst="rect">
            <a:avLst/>
          </a:prstGeom>
          <a:solidFill>
            <a:srgbClr val="76B900"/>
          </a:solidFill>
          <a:ln>
            <a:noFill/>
          </a:ln>
          <a:effectLst/>
        </p:spPr>
        <p:txBody>
          <a:bodyPr rtlCol="0" anchor="ctr"/>
          <a:lstStyle/>
          <a:p>
            <a:pPr algn="ctr"/>
          </a:p>
        </p:txBody>
      </p:sp>
      <p:sp>
        <p:nvSpPr>
          <p:cNvPr id="42" name="Reuse building blocks"/>
          <p:cNvSpPr txBox="1"/>
          <p:nvPr/>
        </p:nvSpPr>
        <p:spPr>
          <a:xfrm>
            <a:off x="649224" y="2926080"/>
            <a:ext cx="3630168" cy="30175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Reuse building blocks</a:t>
            </a:r>
          </a:p>
        </p:txBody>
      </p:sp>
      <p:sp>
        <p:nvSpPr>
          <p:cNvPr id="43" name="Rectangle 42"/>
          <p:cNvSpPr/>
          <p:nvPr/>
        </p:nvSpPr>
        <p:spPr>
          <a:xfrm>
            <a:off x="2295144" y="3300984"/>
            <a:ext cx="1929384" cy="832104"/>
          </a:xfrm>
          <a:prstGeom prst="rect">
            <a:avLst/>
          </a:prstGeom>
          <a:solidFill>
            <a:srgbClr val="FFFFFF"/>
          </a:solidFill>
          <a:ln w="8890">
            <a:solidFill>
              <a:srgbClr val="76B900"/>
            </a:solidFill>
          </a:ln>
          <a:effectLst/>
        </p:spPr>
        <p:txBody>
          <a:bodyPr rtlCol="0" anchor="ctr"/>
          <a:lstStyle/>
          <a:p>
            <a:pPr algn="ctr"/>
          </a:p>
        </p:txBody>
      </p:sp>
      <p:sp>
        <p:nvSpPr>
          <p:cNvPr id="44" name="MyDSL"/>
          <p:cNvSpPr txBox="1"/>
          <p:nvPr/>
        </p:nvSpPr>
        <p:spPr>
          <a:xfrm>
            <a:off x="2862072" y="3602736"/>
            <a:ext cx="1124712" cy="283464"/>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MyDSL</a:t>
            </a:r>
          </a:p>
        </p:txBody>
      </p:sp>
      <p:sp>
        <p:nvSpPr>
          <p:cNvPr id="45" name="Rectangle 44"/>
          <p:cNvSpPr/>
          <p:nvPr/>
        </p:nvSpPr>
        <p:spPr>
          <a:xfrm>
            <a:off x="713232" y="3319272"/>
            <a:ext cx="1024128" cy="228600"/>
          </a:xfrm>
          <a:prstGeom prst="rect">
            <a:avLst/>
          </a:prstGeom>
          <a:solidFill>
            <a:srgbClr val="F0F6E6"/>
          </a:solidFill>
          <a:ln w="8890">
            <a:solidFill>
              <a:srgbClr val="76B900"/>
            </a:solidFill>
          </a:ln>
          <a:effectLst/>
        </p:spPr>
        <p:txBody>
          <a:bodyPr rtlCol="0" anchor="ctr"/>
          <a:lstStyle/>
          <a:p>
            <a:pPr algn="ctr"/>
          </a:p>
        </p:txBody>
      </p:sp>
      <p:sp>
        <p:nvSpPr>
          <p:cNvPr id="46" name="JIT"/>
          <p:cNvSpPr txBox="1"/>
          <p:nvPr/>
        </p:nvSpPr>
        <p:spPr>
          <a:xfrm>
            <a:off x="745236" y="3358591"/>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JIT</a:t>
            </a:r>
          </a:p>
        </p:txBody>
      </p:sp>
      <p:cxnSp>
        <p:nvCxnSpPr>
          <p:cNvPr id="47" name="Connector 46"/>
          <p:cNvCxnSpPr/>
          <p:nvPr/>
        </p:nvCxnSpPr>
        <p:spPr>
          <a:xfrm>
            <a:off x="1783080" y="3433572"/>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2414015" y="3351276"/>
            <a:ext cx="182880" cy="164592"/>
          </a:xfrm>
          <a:prstGeom prst="rect">
            <a:avLst/>
          </a:prstGeom>
          <a:solidFill>
            <a:srgbClr val="76B900"/>
          </a:solidFill>
          <a:ln>
            <a:noFill/>
          </a:ln>
          <a:effectLst/>
        </p:spPr>
        <p:txBody>
          <a:bodyPr rtlCol="0" anchor="ctr"/>
          <a:lstStyle/>
          <a:p>
            <a:pPr algn="ctr"/>
          </a:p>
        </p:txBody>
      </p:sp>
      <p:sp>
        <p:nvSpPr>
          <p:cNvPr id="49" name="Rectangle 48"/>
          <p:cNvSpPr/>
          <p:nvPr/>
        </p:nvSpPr>
        <p:spPr>
          <a:xfrm>
            <a:off x="713232" y="3602736"/>
            <a:ext cx="1024128" cy="228600"/>
          </a:xfrm>
          <a:prstGeom prst="rect">
            <a:avLst/>
          </a:prstGeom>
          <a:solidFill>
            <a:srgbClr val="F0F6E6"/>
          </a:solidFill>
          <a:ln w="8890">
            <a:solidFill>
              <a:srgbClr val="76B900"/>
            </a:solidFill>
          </a:ln>
          <a:effectLst/>
        </p:spPr>
        <p:txBody>
          <a:bodyPr rtlCol="0" anchor="ctr"/>
          <a:lstStyle/>
          <a:p>
            <a:pPr algn="ctr"/>
          </a:p>
        </p:txBody>
      </p:sp>
      <p:sp>
        <p:nvSpPr>
          <p:cNvPr id="50" name="Cache"/>
          <p:cNvSpPr txBox="1"/>
          <p:nvPr/>
        </p:nvSpPr>
        <p:spPr>
          <a:xfrm>
            <a:off x="745236" y="3642055"/>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Cache</a:t>
            </a:r>
          </a:p>
        </p:txBody>
      </p:sp>
      <p:cxnSp>
        <p:nvCxnSpPr>
          <p:cNvPr id="51" name="Connector 50"/>
          <p:cNvCxnSpPr/>
          <p:nvPr/>
        </p:nvCxnSpPr>
        <p:spPr>
          <a:xfrm>
            <a:off x="1783080" y="3717035"/>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2414015" y="3634740"/>
            <a:ext cx="182880" cy="164592"/>
          </a:xfrm>
          <a:prstGeom prst="rect">
            <a:avLst/>
          </a:prstGeom>
          <a:solidFill>
            <a:srgbClr val="76B900"/>
          </a:solidFill>
          <a:ln>
            <a:noFill/>
          </a:ln>
          <a:effectLst/>
        </p:spPr>
        <p:txBody>
          <a:bodyPr rtlCol="0" anchor="ctr"/>
          <a:lstStyle/>
          <a:p>
            <a:pPr algn="ctr"/>
          </a:p>
        </p:txBody>
      </p:sp>
      <p:sp>
        <p:nvSpPr>
          <p:cNvPr id="53" name="Rectangle 52"/>
          <p:cNvSpPr/>
          <p:nvPr/>
        </p:nvSpPr>
        <p:spPr>
          <a:xfrm>
            <a:off x="713232" y="3886200"/>
            <a:ext cx="1024128" cy="228600"/>
          </a:xfrm>
          <a:prstGeom prst="rect">
            <a:avLst/>
          </a:prstGeom>
          <a:solidFill>
            <a:srgbClr val="F0F6E6"/>
          </a:solidFill>
          <a:ln w="8890">
            <a:solidFill>
              <a:srgbClr val="76B900"/>
            </a:solidFill>
          </a:ln>
          <a:effectLst/>
        </p:spPr>
        <p:txBody>
          <a:bodyPr rtlCol="0" anchor="ctr"/>
          <a:lstStyle/>
          <a:p>
            <a:pPr algn="ctr"/>
          </a:p>
        </p:txBody>
      </p:sp>
      <p:sp>
        <p:nvSpPr>
          <p:cNvPr id="54" name="Env"/>
          <p:cNvSpPr txBox="1"/>
          <p:nvPr/>
        </p:nvSpPr>
        <p:spPr>
          <a:xfrm>
            <a:off x="745236" y="3925519"/>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Env</a:t>
            </a:r>
          </a:p>
        </p:txBody>
      </p:sp>
      <p:cxnSp>
        <p:nvCxnSpPr>
          <p:cNvPr id="55" name="Connector 54"/>
          <p:cNvCxnSpPr/>
          <p:nvPr/>
        </p:nvCxnSpPr>
        <p:spPr>
          <a:xfrm>
            <a:off x="1783080" y="4000500"/>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2414015" y="3918204"/>
            <a:ext cx="182880" cy="164592"/>
          </a:xfrm>
          <a:prstGeom prst="rect">
            <a:avLst/>
          </a:prstGeom>
          <a:solidFill>
            <a:srgbClr val="76B900"/>
          </a:solidFill>
          <a:ln>
            <a:noFill/>
          </a:ln>
          <a:effectLst/>
        </p:spPr>
        <p:txBody>
          <a:bodyPr rtlCol="0" anchor="ctr"/>
          <a:lstStyle/>
          <a:p>
            <a:pPr algn="ctr"/>
          </a:p>
        </p:txBody>
      </p:sp>
      <p:sp>
        <p:nvSpPr>
          <p:cNvPr id="57" name="Rectangle 56"/>
          <p:cNvSpPr/>
          <p:nvPr/>
        </p:nvSpPr>
        <p:spPr>
          <a:xfrm>
            <a:off x="4700016" y="2816352"/>
            <a:ext cx="3959352" cy="1417320"/>
          </a:xfrm>
          <a:prstGeom prst="rect">
            <a:avLst/>
          </a:prstGeom>
          <a:solidFill>
            <a:srgbClr val="F7F7F7"/>
          </a:solidFill>
          <a:ln>
            <a:noFill/>
          </a:ln>
          <a:effectLst/>
        </p:spPr>
        <p:txBody>
          <a:bodyPr rtlCol="0" anchor="ctr"/>
          <a:lstStyle/>
          <a:p>
            <a:pPr algn="ctr"/>
          </a:p>
        </p:txBody>
      </p:sp>
      <p:sp>
        <p:nvSpPr>
          <p:cNvPr id="58" name="Rectangle 57"/>
          <p:cNvSpPr/>
          <p:nvPr/>
        </p:nvSpPr>
        <p:spPr>
          <a:xfrm>
            <a:off x="4700016" y="2816352"/>
            <a:ext cx="41148" cy="1417320"/>
          </a:xfrm>
          <a:prstGeom prst="rect">
            <a:avLst/>
          </a:prstGeom>
          <a:solidFill>
            <a:srgbClr val="76B900"/>
          </a:solidFill>
          <a:ln>
            <a:noFill/>
          </a:ln>
          <a:effectLst/>
        </p:spPr>
        <p:txBody>
          <a:bodyPr rtlCol="0" anchor="ctr"/>
          <a:lstStyle/>
          <a:p>
            <a:pPr algn="ctr"/>
          </a:p>
        </p:txBody>
      </p:sp>
      <p:sp>
        <p:nvSpPr>
          <p:cNvPr id="59" name="Build a full language"/>
          <p:cNvSpPr txBox="1"/>
          <p:nvPr/>
        </p:nvSpPr>
        <p:spPr>
          <a:xfrm>
            <a:off x="4864608" y="2926080"/>
            <a:ext cx="3630168" cy="30175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full language</a:t>
            </a:r>
          </a:p>
        </p:txBody>
      </p:sp>
      <p:sp>
        <p:nvSpPr>
          <p:cNvPr id="60" name="Rectangle 59"/>
          <p:cNvSpPr/>
          <p:nvPr/>
        </p:nvSpPr>
        <p:spPr>
          <a:xfrm>
            <a:off x="5230368" y="328269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1" name="Connector 60"/>
          <p:cNvCxnSpPr/>
          <p:nvPr/>
        </p:nvCxnSpPr>
        <p:spPr>
          <a:xfrm>
            <a:off x="5404104" y="328269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404104" y="337870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404104" y="328269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64" name="&lt;/&gt;"/>
          <p:cNvSpPr txBox="1"/>
          <p:nvPr/>
        </p:nvSpPr>
        <p:spPr>
          <a:xfrm>
            <a:off x="5250484" y="342900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65" name="Python code"/>
          <p:cNvSpPr txBox="1"/>
          <p:nvPr/>
        </p:nvSpPr>
        <p:spPr>
          <a:xfrm>
            <a:off x="4768596" y="369417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 code</a:t>
            </a:r>
          </a:p>
        </p:txBody>
      </p:sp>
      <p:cxnSp>
        <p:nvCxnSpPr>
          <p:cNvPr id="66" name="Connector 65"/>
          <p:cNvCxnSpPr/>
          <p:nvPr/>
        </p:nvCxnSpPr>
        <p:spPr>
          <a:xfrm>
            <a:off x="5623560"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7" name="Gear 6 66"/>
          <p:cNvSpPr/>
          <p:nvPr/>
        </p:nvSpPr>
        <p:spPr>
          <a:xfrm>
            <a:off x="6478524" y="3282696"/>
            <a:ext cx="356616" cy="356616"/>
          </a:xfrm>
          <a:prstGeom prst="gear6">
            <a:avLst/>
          </a:prstGeom>
          <a:solidFill>
            <a:srgbClr val="E4F0D0"/>
          </a:solidFill>
          <a:ln w="11430">
            <a:solidFill>
              <a:srgbClr val="416600"/>
            </a:solidFill>
          </a:ln>
          <a:effectLst/>
        </p:spPr>
        <p:txBody>
          <a:bodyPr rtlCol="0" anchor="ctr"/>
          <a:lstStyle/>
          <a:p>
            <a:pPr algn="ctr"/>
          </a:p>
        </p:txBody>
      </p:sp>
      <p:sp>
        <p:nvSpPr>
          <p:cNvPr id="68" name="DSL compiler"/>
          <p:cNvSpPr txBox="1"/>
          <p:nvPr/>
        </p:nvSpPr>
        <p:spPr>
          <a:xfrm>
            <a:off x="6057900"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 compiler</a:t>
            </a:r>
          </a:p>
        </p:txBody>
      </p:sp>
      <p:cxnSp>
        <p:nvCxnSpPr>
          <p:cNvPr id="69" name="Connector 68"/>
          <p:cNvCxnSpPr/>
          <p:nvPr/>
        </p:nvCxnSpPr>
        <p:spPr>
          <a:xfrm>
            <a:off x="6912864"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7808976" y="3319272"/>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71" name="Connector 70"/>
          <p:cNvCxnSpPr/>
          <p:nvPr/>
        </p:nvCxnSpPr>
        <p:spPr>
          <a:xfrm>
            <a:off x="7872984"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872984"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72400"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83296"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946136"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946136"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772400"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083296"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019288"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019288"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72400"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083296"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3" name="01"/>
          <p:cNvSpPr txBox="1"/>
          <p:nvPr/>
        </p:nvSpPr>
        <p:spPr>
          <a:xfrm>
            <a:off x="7827264" y="3392424"/>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84" name="GPU"/>
          <p:cNvSpPr txBox="1"/>
          <p:nvPr/>
        </p:nvSpPr>
        <p:spPr>
          <a:xfrm>
            <a:off x="7347204"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GPU</a:t>
            </a:r>
          </a:p>
        </p:txBody>
      </p:sp>
      <p:sp>
        <p:nvSpPr>
          <p:cNvPr id="85" name="NVIDIA CuTe DSL / CUTLASS Python"/>
          <p:cNvSpPr txBox="1"/>
          <p:nvPr/>
        </p:nvSpPr>
        <p:spPr>
          <a:xfrm>
            <a:off x="4864608" y="4050791"/>
            <a:ext cx="3630168" cy="164592"/>
          </a:xfrm>
          <a:prstGeom prst="rect">
            <a:avLst/>
          </a:prstGeom>
          <a:noFill/>
        </p:spPr>
        <p:txBody>
          <a:bodyPr wrap="none" anchor="t" lIns="0" rIns="0" tIns="0" bIns="0">
            <a:noAutofit/>
          </a:bodyPr>
          <a:lstStyle/>
          <a:p>
            <a:pPr algn="ctr">
              <a:lnSpc>
                <a:spcPts val="1090"/>
              </a:lnSpc>
              <a:spcBef>
                <a:spcPts val="0"/>
              </a:spcBef>
              <a:spcAft>
                <a:spcPts val="0"/>
              </a:spcAft>
            </a:pPr>
            <a:r>
              <a:rPr sz="940" b="0" u="sng">
                <a:solidFill>
                  <a:srgbClr val="416600"/>
                </a:solidFill>
                <a:latin typeface="NVIDIA Sans"/>
                <a:hlinkClick r:id="rId3"/>
              </a:rPr>
              <a:t>NVIDIA CuTe DSL / CUTLASS Python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spans very different compil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spans very different compilers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463040"/>
            <a:ext cx="8174736" cy="1124712"/>
          </a:xfrm>
          <a:prstGeom prst="rect">
            <a:avLst/>
          </a:prstGeom>
          <a:solidFill>
            <a:srgbClr val="F7F7F7"/>
          </a:solidFill>
          <a:ln>
            <a:noFill/>
          </a:ln>
          <a:effectLst/>
        </p:spPr>
        <p:txBody>
          <a:bodyPr rtlCol="0" anchor="ctr"/>
          <a:lstStyle/>
          <a:p>
            <a:pPr algn="ctr"/>
          </a:p>
        </p:txBody>
      </p:sp>
      <p:sp>
        <p:nvSpPr>
          <p:cNvPr id="8" name="Compiler / A"/>
          <p:cNvSpPr txBox="1"/>
          <p:nvPr/>
        </p:nvSpPr>
        <p:spPr>
          <a:xfrm>
            <a:off x="667512" y="1783080"/>
            <a:ext cx="1033271" cy="493776"/>
          </a:xfrm>
          <a:prstGeom prst="rect">
            <a:avLst/>
          </a:prstGeom>
          <a:noFill/>
        </p:spPr>
        <p:txBody>
          <a:bodyPr wrap="none" anchor="t" lIns="0" rIns="0" tIns="0" bIns="0">
            <a:noAutofit/>
          </a:bodyPr>
          <a:lstStyle/>
          <a:p>
            <a:pPr algn="l">
              <a:lnSpc>
                <a:spcPts val="1798"/>
              </a:lnSpc>
              <a:spcBef>
                <a:spcPts val="0"/>
              </a:spcBef>
              <a:spcAft>
                <a:spcPts val="0"/>
              </a:spcAft>
            </a:pPr>
            <a:r>
              <a:rPr sz="1550" b="1">
                <a:solidFill>
                  <a:srgbClr val="416600"/>
                </a:solidFill>
                <a:latin typeface="NVIDIA Sans"/>
              </a:rPr>
              <a:t>Compiler</a:t>
            </a:r>
          </a:p>
          <a:p>
            <a:pPr algn="l">
              <a:lnSpc>
                <a:spcPts val="1798"/>
              </a:lnSpc>
              <a:spcBef>
                <a:spcPts val="0"/>
              </a:spcBef>
              <a:spcAft>
                <a:spcPts val="0"/>
              </a:spcAft>
            </a:pPr>
            <a:r>
              <a:rPr sz="1550" b="1">
                <a:solidFill>
                  <a:srgbClr val="416600"/>
                </a:solidFill>
                <a:latin typeface="NVIDIA Sans"/>
              </a:rPr>
              <a:t>A</a:t>
            </a:r>
          </a:p>
        </p:txBody>
      </p:sp>
      <p:sp>
        <p:nvSpPr>
          <p:cNvPr id="9" name="Rectangle 8"/>
          <p:cNvSpPr/>
          <p:nvPr/>
        </p:nvSpPr>
        <p:spPr>
          <a:xfrm>
            <a:off x="1856231" y="1783080"/>
            <a:ext cx="1298448" cy="484632"/>
          </a:xfrm>
          <a:prstGeom prst="rect">
            <a:avLst/>
          </a:prstGeom>
          <a:solidFill>
            <a:srgbClr val="FFFFFF"/>
          </a:solidFill>
          <a:ln w="8890">
            <a:solidFill>
              <a:srgbClr val="D5D5D5"/>
            </a:solidFill>
          </a:ln>
          <a:effectLst/>
        </p:spPr>
        <p:txBody>
          <a:bodyPr rtlCol="0" anchor="ctr"/>
          <a:lstStyle/>
          <a:p>
            <a:pPr algn="ctr"/>
          </a:p>
        </p:txBody>
      </p:sp>
      <p:sp>
        <p:nvSpPr>
          <p:cNvPr id="10" name="Frontend A"/>
          <p:cNvSpPr txBox="1"/>
          <p:nvPr/>
        </p:nvSpPr>
        <p:spPr>
          <a:xfrm>
            <a:off x="1897379" y="1915668"/>
            <a:ext cx="1216151"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Frontend A</a:t>
            </a:r>
          </a:p>
        </p:txBody>
      </p:sp>
      <p:cxnSp>
        <p:nvCxnSpPr>
          <p:cNvPr id="11" name="Connector 10"/>
          <p:cNvCxnSpPr/>
          <p:nvPr/>
        </p:nvCxnSpPr>
        <p:spPr>
          <a:xfrm>
            <a:off x="3200399" y="2025395"/>
            <a:ext cx="4297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85032" y="1618488"/>
            <a:ext cx="1371600" cy="804672"/>
          </a:xfrm>
          <a:prstGeom prst="rect">
            <a:avLst/>
          </a:prstGeom>
          <a:solidFill>
            <a:srgbClr val="F0F6E6"/>
          </a:solidFill>
          <a:ln w="8890">
            <a:solidFill>
              <a:srgbClr val="76B900"/>
            </a:solidFill>
          </a:ln>
          <a:effectLst/>
        </p:spPr>
        <p:txBody>
          <a:bodyPr rtlCol="0" anchor="ctr"/>
          <a:lstStyle/>
          <a:p>
            <a:pPr algn="ctr"/>
          </a:p>
        </p:txBody>
      </p:sp>
      <p:sp>
        <p:nvSpPr>
          <p:cNvPr id="13" name="linalg"/>
          <p:cNvSpPr txBox="1"/>
          <p:nvPr/>
        </p:nvSpPr>
        <p:spPr>
          <a:xfrm>
            <a:off x="3758184" y="1737360"/>
            <a:ext cx="1225296" cy="246888"/>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linalg</a:t>
            </a:r>
          </a:p>
        </p:txBody>
      </p:sp>
      <p:sp>
        <p:nvSpPr>
          <p:cNvPr id="14" name="tensor"/>
          <p:cNvSpPr txBox="1"/>
          <p:nvPr/>
        </p:nvSpPr>
        <p:spPr>
          <a:xfrm>
            <a:off x="3758184" y="2020824"/>
            <a:ext cx="1225296" cy="246888"/>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tensor</a:t>
            </a:r>
          </a:p>
        </p:txBody>
      </p:sp>
      <p:cxnSp>
        <p:nvCxnSpPr>
          <p:cNvPr id="15" name="Connector 14"/>
          <p:cNvCxnSpPr/>
          <p:nvPr/>
        </p:nvCxnSpPr>
        <p:spPr>
          <a:xfrm>
            <a:off x="5102352" y="2025395"/>
            <a:ext cx="4297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586984" y="1783080"/>
            <a:ext cx="1280160" cy="484632"/>
          </a:xfrm>
          <a:prstGeom prst="rect">
            <a:avLst/>
          </a:prstGeom>
          <a:solidFill>
            <a:srgbClr val="FFFFFF"/>
          </a:solidFill>
          <a:ln w="8890">
            <a:solidFill>
              <a:srgbClr val="D5D5D5"/>
            </a:solidFill>
          </a:ln>
          <a:effectLst/>
        </p:spPr>
        <p:txBody>
          <a:bodyPr rtlCol="0" anchor="ctr"/>
          <a:lstStyle/>
          <a:p>
            <a:pPr algn="ctr"/>
          </a:p>
        </p:txBody>
      </p:sp>
      <p:sp>
        <p:nvSpPr>
          <p:cNvPr id="17" name="Passes A"/>
          <p:cNvSpPr txBox="1"/>
          <p:nvPr/>
        </p:nvSpPr>
        <p:spPr>
          <a:xfrm>
            <a:off x="5628132" y="1915668"/>
            <a:ext cx="1197863"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Passes A</a:t>
            </a:r>
          </a:p>
        </p:txBody>
      </p:sp>
      <p:cxnSp>
        <p:nvCxnSpPr>
          <p:cNvPr id="18" name="Connector 17"/>
          <p:cNvCxnSpPr/>
          <p:nvPr/>
        </p:nvCxnSpPr>
        <p:spPr>
          <a:xfrm>
            <a:off x="6912864" y="2025395"/>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379208" y="1783080"/>
            <a:ext cx="1060704" cy="484632"/>
          </a:xfrm>
          <a:prstGeom prst="rect">
            <a:avLst/>
          </a:prstGeom>
          <a:solidFill>
            <a:srgbClr val="FFFFFF"/>
          </a:solidFill>
          <a:ln w="8890">
            <a:solidFill>
              <a:srgbClr val="D5D5D5"/>
            </a:solidFill>
          </a:ln>
          <a:effectLst/>
        </p:spPr>
        <p:txBody>
          <a:bodyPr rtlCol="0" anchor="ctr"/>
          <a:lstStyle/>
          <a:p>
            <a:pPr algn="ctr"/>
          </a:p>
        </p:txBody>
      </p:sp>
      <p:sp>
        <p:nvSpPr>
          <p:cNvPr id="20" name="CPU"/>
          <p:cNvSpPr txBox="1"/>
          <p:nvPr/>
        </p:nvSpPr>
        <p:spPr>
          <a:xfrm>
            <a:off x="7420356" y="1915668"/>
            <a:ext cx="978407"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CPU</a:t>
            </a:r>
          </a:p>
        </p:txBody>
      </p:sp>
      <p:sp>
        <p:nvSpPr>
          <p:cNvPr id="21" name="Rectangle 20"/>
          <p:cNvSpPr/>
          <p:nvPr/>
        </p:nvSpPr>
        <p:spPr>
          <a:xfrm>
            <a:off x="484632" y="2807208"/>
            <a:ext cx="8174736" cy="1124712"/>
          </a:xfrm>
          <a:prstGeom prst="rect">
            <a:avLst/>
          </a:prstGeom>
          <a:solidFill>
            <a:srgbClr val="F7F7F7"/>
          </a:solidFill>
          <a:ln>
            <a:noFill/>
          </a:ln>
          <a:effectLst/>
        </p:spPr>
        <p:txBody>
          <a:bodyPr rtlCol="0" anchor="ctr"/>
          <a:lstStyle/>
          <a:p>
            <a:pPr algn="ctr"/>
          </a:p>
        </p:txBody>
      </p:sp>
      <p:sp>
        <p:nvSpPr>
          <p:cNvPr id="22" name="Compiler / B"/>
          <p:cNvSpPr txBox="1"/>
          <p:nvPr/>
        </p:nvSpPr>
        <p:spPr>
          <a:xfrm>
            <a:off x="667512" y="3127248"/>
            <a:ext cx="1033271" cy="493776"/>
          </a:xfrm>
          <a:prstGeom prst="rect">
            <a:avLst/>
          </a:prstGeom>
          <a:noFill/>
        </p:spPr>
        <p:txBody>
          <a:bodyPr wrap="none" anchor="t" lIns="0" rIns="0" tIns="0" bIns="0">
            <a:noAutofit/>
          </a:bodyPr>
          <a:lstStyle/>
          <a:p>
            <a:pPr algn="l">
              <a:lnSpc>
                <a:spcPts val="1798"/>
              </a:lnSpc>
              <a:spcBef>
                <a:spcPts val="0"/>
              </a:spcBef>
              <a:spcAft>
                <a:spcPts val="0"/>
              </a:spcAft>
            </a:pPr>
            <a:r>
              <a:rPr sz="1550" b="1">
                <a:solidFill>
                  <a:srgbClr val="416600"/>
                </a:solidFill>
                <a:latin typeface="NVIDIA Sans"/>
              </a:rPr>
              <a:t>Compiler</a:t>
            </a:r>
          </a:p>
          <a:p>
            <a:pPr algn="l">
              <a:lnSpc>
                <a:spcPts val="1798"/>
              </a:lnSpc>
              <a:spcBef>
                <a:spcPts val="0"/>
              </a:spcBef>
              <a:spcAft>
                <a:spcPts val="0"/>
              </a:spcAft>
            </a:pPr>
            <a:r>
              <a:rPr sz="1550" b="1">
                <a:solidFill>
                  <a:srgbClr val="416600"/>
                </a:solidFill>
                <a:latin typeface="NVIDIA Sans"/>
              </a:rPr>
              <a:t>B</a:t>
            </a:r>
          </a:p>
        </p:txBody>
      </p:sp>
      <p:sp>
        <p:nvSpPr>
          <p:cNvPr id="23" name="Rectangle 22"/>
          <p:cNvSpPr/>
          <p:nvPr/>
        </p:nvSpPr>
        <p:spPr>
          <a:xfrm>
            <a:off x="1856231" y="3127248"/>
            <a:ext cx="1298448" cy="484632"/>
          </a:xfrm>
          <a:prstGeom prst="rect">
            <a:avLst/>
          </a:prstGeom>
          <a:solidFill>
            <a:srgbClr val="FFFFFF"/>
          </a:solidFill>
          <a:ln w="8890">
            <a:solidFill>
              <a:srgbClr val="D5D5D5"/>
            </a:solidFill>
          </a:ln>
          <a:effectLst/>
        </p:spPr>
        <p:txBody>
          <a:bodyPr rtlCol="0" anchor="ctr"/>
          <a:lstStyle/>
          <a:p>
            <a:pPr algn="ctr"/>
          </a:p>
        </p:txBody>
      </p:sp>
      <p:sp>
        <p:nvSpPr>
          <p:cNvPr id="24" name="Frontend B"/>
          <p:cNvSpPr txBox="1"/>
          <p:nvPr/>
        </p:nvSpPr>
        <p:spPr>
          <a:xfrm>
            <a:off x="1897379" y="3259836"/>
            <a:ext cx="1216151"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Frontend B</a:t>
            </a:r>
          </a:p>
        </p:txBody>
      </p:sp>
      <p:cxnSp>
        <p:nvCxnSpPr>
          <p:cNvPr id="25" name="Connector 24"/>
          <p:cNvCxnSpPr/>
          <p:nvPr/>
        </p:nvCxnSpPr>
        <p:spPr>
          <a:xfrm>
            <a:off x="3200399" y="3369564"/>
            <a:ext cx="4297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685032" y="2962656"/>
            <a:ext cx="1371600" cy="804672"/>
          </a:xfrm>
          <a:prstGeom prst="rect">
            <a:avLst/>
          </a:prstGeom>
          <a:solidFill>
            <a:srgbClr val="F0F6E6"/>
          </a:solidFill>
          <a:ln w="8890">
            <a:solidFill>
              <a:srgbClr val="76B900"/>
            </a:solidFill>
          </a:ln>
          <a:effectLst/>
        </p:spPr>
        <p:txBody>
          <a:bodyPr rtlCol="0" anchor="ctr"/>
          <a:lstStyle/>
          <a:p>
            <a:pPr algn="ctr"/>
          </a:p>
        </p:txBody>
      </p:sp>
      <p:sp>
        <p:nvSpPr>
          <p:cNvPr id="27" name="cuda_tile"/>
          <p:cNvSpPr txBox="1"/>
          <p:nvPr/>
        </p:nvSpPr>
        <p:spPr>
          <a:xfrm>
            <a:off x="3758184" y="3223260"/>
            <a:ext cx="1225296" cy="246888"/>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cuda_tile</a:t>
            </a:r>
          </a:p>
        </p:txBody>
      </p:sp>
      <p:cxnSp>
        <p:nvCxnSpPr>
          <p:cNvPr id="28" name="Connector 27"/>
          <p:cNvCxnSpPr/>
          <p:nvPr/>
        </p:nvCxnSpPr>
        <p:spPr>
          <a:xfrm>
            <a:off x="5102352" y="3369564"/>
            <a:ext cx="4297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586984" y="3127248"/>
            <a:ext cx="1280160" cy="484632"/>
          </a:xfrm>
          <a:prstGeom prst="rect">
            <a:avLst/>
          </a:prstGeom>
          <a:solidFill>
            <a:srgbClr val="FFFFFF"/>
          </a:solidFill>
          <a:ln w="8890">
            <a:solidFill>
              <a:srgbClr val="D5D5D5"/>
            </a:solidFill>
          </a:ln>
          <a:effectLst/>
        </p:spPr>
        <p:txBody>
          <a:bodyPr rtlCol="0" anchor="ctr"/>
          <a:lstStyle/>
          <a:p>
            <a:pPr algn="ctr"/>
          </a:p>
        </p:txBody>
      </p:sp>
      <p:sp>
        <p:nvSpPr>
          <p:cNvPr id="30" name="Passes B"/>
          <p:cNvSpPr txBox="1"/>
          <p:nvPr/>
        </p:nvSpPr>
        <p:spPr>
          <a:xfrm>
            <a:off x="5628132" y="3259836"/>
            <a:ext cx="1197863"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Passes B</a:t>
            </a:r>
          </a:p>
        </p:txBody>
      </p:sp>
      <p:cxnSp>
        <p:nvCxnSpPr>
          <p:cNvPr id="31" name="Connector 30"/>
          <p:cNvCxnSpPr/>
          <p:nvPr/>
        </p:nvCxnSpPr>
        <p:spPr>
          <a:xfrm>
            <a:off x="6912864" y="3369564"/>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379208" y="3127248"/>
            <a:ext cx="1060704" cy="484632"/>
          </a:xfrm>
          <a:prstGeom prst="rect">
            <a:avLst/>
          </a:prstGeom>
          <a:solidFill>
            <a:srgbClr val="FFFFFF"/>
          </a:solidFill>
          <a:ln w="8890">
            <a:solidFill>
              <a:srgbClr val="D5D5D5"/>
            </a:solidFill>
          </a:ln>
          <a:effectLst/>
        </p:spPr>
        <p:txBody>
          <a:bodyPr rtlCol="0" anchor="ctr"/>
          <a:lstStyle/>
          <a:p>
            <a:pPr algn="ctr"/>
          </a:p>
        </p:txBody>
      </p:sp>
      <p:sp>
        <p:nvSpPr>
          <p:cNvPr id="33" name="GPU"/>
          <p:cNvSpPr txBox="1"/>
          <p:nvPr/>
        </p:nvSpPr>
        <p:spPr>
          <a:xfrm>
            <a:off x="7420356" y="3259836"/>
            <a:ext cx="978407" cy="265176"/>
          </a:xfrm>
          <a:prstGeom prst="rect">
            <a:avLst/>
          </a:prstGeom>
          <a:noFill/>
        </p:spPr>
        <p:txBody>
          <a:bodyPr wrap="none" anchor="t" lIns="0" rIns="0" tIns="0" bIns="0">
            <a:noAutofit/>
          </a:bodyPr>
          <a:lstStyle/>
          <a:p>
            <a:pPr algn="ctr">
              <a:lnSpc>
                <a:spcPts val="1623"/>
              </a:lnSpc>
              <a:spcBef>
                <a:spcPts val="0"/>
              </a:spcBef>
              <a:spcAft>
                <a:spcPts val="0"/>
              </a:spcAft>
            </a:pPr>
            <a:r>
              <a:rPr sz="1400" b="0">
                <a:solidFill>
                  <a:srgbClr val="000000"/>
                </a:solidFill>
                <a:latin typeface="NVIDIA Sans"/>
              </a:rPr>
              <a:t>GPU</a:t>
            </a:r>
          </a:p>
        </p:txBody>
      </p:sp>
      <p:sp>
        <p:nvSpPr>
          <p:cNvPr id="34" name="How can one DSL core serve both?"/>
          <p:cNvSpPr txBox="1"/>
          <p:nvPr/>
        </p:nvSpPr>
        <p:spPr>
          <a:xfrm>
            <a:off x="502920" y="4050791"/>
            <a:ext cx="8138160" cy="320040"/>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416600"/>
                </a:solidFill>
                <a:latin typeface="NVIDIA Sans"/>
              </a:rPr>
              <a:t>How can one DSL core serve both?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fferent IR, different control flow"/>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Different IR, different control flow</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CUDA Tile IR"/>
          <p:cNvSpPr txBox="1"/>
          <p:nvPr/>
        </p:nvSpPr>
        <p:spPr>
          <a:xfrm>
            <a:off x="576072" y="1389888"/>
            <a:ext cx="3776472" cy="32004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CUDA Tile IR</a:t>
            </a:r>
          </a:p>
        </p:txBody>
      </p:sp>
      <p:sp>
        <p:nvSpPr>
          <p:cNvPr id="8" name="Rectangle 7"/>
          <p:cNvSpPr/>
          <p:nvPr/>
        </p:nvSpPr>
        <p:spPr>
          <a:xfrm>
            <a:off x="576072" y="1911095"/>
            <a:ext cx="3072384" cy="1280160"/>
          </a:xfrm>
          <a:prstGeom prst="rect">
            <a:avLst/>
          </a:prstGeom>
          <a:solidFill>
            <a:srgbClr val="F7F7F7"/>
          </a:solidFill>
          <a:ln w="8890">
            <a:solidFill>
              <a:srgbClr val="D5D5D5"/>
            </a:solidFill>
          </a:ln>
          <a:effectLst/>
        </p:spPr>
        <p:txBody>
          <a:bodyPr rtlCol="0" anchor="ctr"/>
          <a:lstStyle/>
          <a:p>
            <a:pPr algn="ctr"/>
          </a:p>
        </p:txBody>
      </p:sp>
      <p:sp>
        <p:nvSpPr>
          <p:cNvPr id="9" name="loop"/>
          <p:cNvSpPr txBox="1"/>
          <p:nvPr/>
        </p:nvSpPr>
        <p:spPr>
          <a:xfrm>
            <a:off x="722376" y="2029968"/>
            <a:ext cx="2176272" cy="256032"/>
          </a:xfrm>
          <a:prstGeom prst="rect">
            <a:avLst/>
          </a:prstGeom>
          <a:noFill/>
        </p:spPr>
        <p:txBody>
          <a:bodyPr wrap="none" anchor="t" lIns="0" rIns="0" tIns="0" bIns="0">
            <a:noAutofit/>
          </a:bodyPr>
          <a:lstStyle/>
          <a:p>
            <a:pPr algn="l">
              <a:lnSpc>
                <a:spcPts val="1889"/>
              </a:lnSpc>
              <a:spcBef>
                <a:spcPts val="0"/>
              </a:spcBef>
              <a:spcAft>
                <a:spcPts val="0"/>
              </a:spcAft>
            </a:pPr>
            <a:r>
              <a:rPr sz="1500" b="1">
                <a:solidFill>
                  <a:srgbClr val="416600"/>
                </a:solidFill>
                <a:latin typeface="JetBrains Mono"/>
              </a:rPr>
              <a:t>loop</a:t>
            </a:r>
          </a:p>
        </p:txBody>
      </p:sp>
      <p:sp>
        <p:nvSpPr>
          <p:cNvPr id="10" name="Rectangle 9"/>
          <p:cNvSpPr/>
          <p:nvPr/>
        </p:nvSpPr>
        <p:spPr>
          <a:xfrm>
            <a:off x="850392" y="2468880"/>
            <a:ext cx="1261872" cy="347472"/>
          </a:xfrm>
          <a:prstGeom prst="rect">
            <a:avLst/>
          </a:prstGeom>
          <a:solidFill>
            <a:srgbClr val="FFFFFF"/>
          </a:solidFill>
          <a:ln w="8890">
            <a:solidFill>
              <a:srgbClr val="D5D5D5"/>
            </a:solidFill>
          </a:ln>
          <a:effectLst/>
        </p:spPr>
        <p:txBody>
          <a:bodyPr rtlCol="0" anchor="ctr"/>
          <a:lstStyle/>
          <a:p>
            <a:pPr algn="ctr"/>
          </a:p>
        </p:txBody>
      </p:sp>
      <p:sp>
        <p:nvSpPr>
          <p:cNvPr id="11" name="if done"/>
          <p:cNvSpPr txBox="1"/>
          <p:nvPr/>
        </p:nvSpPr>
        <p:spPr>
          <a:xfrm>
            <a:off x="877824" y="2555748"/>
            <a:ext cx="1207008" cy="228600"/>
          </a:xfrm>
          <a:prstGeom prst="rect">
            <a:avLst/>
          </a:prstGeom>
          <a:noFill/>
        </p:spPr>
        <p:txBody>
          <a:bodyPr wrap="none" anchor="t" lIns="0" rIns="0" tIns="0" bIns="0">
            <a:noAutofit/>
          </a:bodyPr>
          <a:lstStyle/>
          <a:p>
            <a:pPr algn="ctr">
              <a:lnSpc>
                <a:spcPts val="1575"/>
              </a:lnSpc>
              <a:spcBef>
                <a:spcPts val="0"/>
              </a:spcBef>
              <a:spcAft>
                <a:spcPts val="0"/>
              </a:spcAft>
            </a:pPr>
            <a:r>
              <a:rPr sz="1250" b="0">
                <a:solidFill>
                  <a:srgbClr val="000000"/>
                </a:solidFill>
                <a:latin typeface="JetBrains Mono"/>
              </a:rPr>
              <a:t>if done</a:t>
            </a:r>
          </a:p>
        </p:txBody>
      </p:sp>
      <p:cxnSp>
        <p:nvCxnSpPr>
          <p:cNvPr id="12" name="Connector 11"/>
          <p:cNvCxnSpPr/>
          <p:nvPr/>
        </p:nvCxnSpPr>
        <p:spPr>
          <a:xfrm>
            <a:off x="2148840" y="2642616"/>
            <a:ext cx="29260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true"/>
          <p:cNvSpPr txBox="1"/>
          <p:nvPr/>
        </p:nvSpPr>
        <p:spPr>
          <a:xfrm>
            <a:off x="2121408" y="2377440"/>
            <a:ext cx="402336" cy="18288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true</a:t>
            </a:r>
          </a:p>
        </p:txBody>
      </p:sp>
      <p:sp>
        <p:nvSpPr>
          <p:cNvPr id="14" name="Rectangle 13"/>
          <p:cNvSpPr/>
          <p:nvPr/>
        </p:nvSpPr>
        <p:spPr>
          <a:xfrm>
            <a:off x="2478024" y="2441448"/>
            <a:ext cx="941832" cy="402336"/>
          </a:xfrm>
          <a:prstGeom prst="rect">
            <a:avLst/>
          </a:prstGeom>
          <a:solidFill>
            <a:srgbClr val="F0F6E6"/>
          </a:solidFill>
          <a:ln w="8890">
            <a:solidFill>
              <a:srgbClr val="76B900"/>
            </a:solidFill>
          </a:ln>
          <a:effectLst/>
        </p:spPr>
        <p:txBody>
          <a:bodyPr rtlCol="0" anchor="ctr"/>
          <a:lstStyle/>
          <a:p>
            <a:pPr algn="ctr"/>
          </a:p>
        </p:txBody>
      </p:sp>
      <p:sp>
        <p:nvSpPr>
          <p:cNvPr id="15" name="break"/>
          <p:cNvSpPr txBox="1"/>
          <p:nvPr/>
        </p:nvSpPr>
        <p:spPr>
          <a:xfrm>
            <a:off x="2505456" y="2546604"/>
            <a:ext cx="886968" cy="228600"/>
          </a:xfrm>
          <a:prstGeom prst="rect">
            <a:avLst/>
          </a:prstGeom>
          <a:noFill/>
        </p:spPr>
        <p:txBody>
          <a:bodyPr wrap="none" anchor="t" lIns="0" rIns="0" tIns="0" bIns="0">
            <a:noAutofit/>
          </a:bodyPr>
          <a:lstStyle/>
          <a:p>
            <a:pPr algn="ctr">
              <a:lnSpc>
                <a:spcPts val="1638"/>
              </a:lnSpc>
              <a:spcBef>
                <a:spcPts val="0"/>
              </a:spcBef>
              <a:spcAft>
                <a:spcPts val="0"/>
              </a:spcAft>
            </a:pPr>
            <a:r>
              <a:rPr sz="1300" b="1">
                <a:solidFill>
                  <a:srgbClr val="416600"/>
                </a:solidFill>
                <a:latin typeface="JetBrains Mono"/>
              </a:rPr>
              <a:t>break</a:t>
            </a:r>
          </a:p>
        </p:txBody>
      </p:sp>
      <p:cxnSp>
        <p:nvCxnSpPr>
          <p:cNvPr id="16" name="Connector 15"/>
          <p:cNvCxnSpPr/>
          <p:nvPr/>
        </p:nvCxnSpPr>
        <p:spPr>
          <a:xfrm>
            <a:off x="3456432" y="2642616"/>
            <a:ext cx="329183"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exit / loop"/>
          <p:cNvSpPr txBox="1"/>
          <p:nvPr/>
        </p:nvSpPr>
        <p:spPr>
          <a:xfrm>
            <a:off x="3849624" y="2468880"/>
            <a:ext cx="521207" cy="39319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exit</a:t>
            </a:r>
          </a:p>
          <a:p>
            <a:pPr algn="ctr">
              <a:lnSpc>
                <a:spcPts val="1252"/>
              </a:lnSpc>
              <a:spcBef>
                <a:spcPts val="0"/>
              </a:spcBef>
              <a:spcAft>
                <a:spcPts val="0"/>
              </a:spcAft>
            </a:pPr>
            <a:r>
              <a:rPr sz="1080" b="0">
                <a:solidFill>
                  <a:srgbClr val="616161"/>
                </a:solidFill>
                <a:latin typeface="NVIDIA Sans"/>
              </a:rPr>
              <a:t>loop</a:t>
            </a:r>
          </a:p>
        </p:txBody>
      </p:sp>
      <p:cxnSp>
        <p:nvCxnSpPr>
          <p:cNvPr id="18" name="Connector 17"/>
          <p:cNvCxnSpPr/>
          <p:nvPr/>
        </p:nvCxnSpPr>
        <p:spPr>
          <a:xfrm>
            <a:off x="1481328" y="2834640"/>
            <a:ext cx="0" cy="18288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04088" y="3017520"/>
            <a:ext cx="7772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04088" y="2642616"/>
            <a:ext cx="0" cy="37490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04088" y="2642616"/>
            <a:ext cx="1188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false"/>
          <p:cNvSpPr txBox="1"/>
          <p:nvPr/>
        </p:nvSpPr>
        <p:spPr>
          <a:xfrm>
            <a:off x="1563624" y="2880360"/>
            <a:ext cx="603504" cy="182880"/>
          </a:xfrm>
          <a:prstGeom prst="rect">
            <a:avLst/>
          </a:prstGeom>
          <a:noFill/>
        </p:spPr>
        <p:txBody>
          <a:bodyPr wrap="none" anchor="t" lIns="0" rIns="0" tIns="0" bIns="0">
            <a:noAutofit/>
          </a:bodyPr>
          <a:lstStyle/>
          <a:p>
            <a:pPr algn="l">
              <a:lnSpc>
                <a:spcPts val="1183"/>
              </a:lnSpc>
              <a:spcBef>
                <a:spcPts val="0"/>
              </a:spcBef>
              <a:spcAft>
                <a:spcPts val="0"/>
              </a:spcAft>
            </a:pPr>
            <a:r>
              <a:rPr sz="1019" b="0">
                <a:solidFill>
                  <a:srgbClr val="616161"/>
                </a:solidFill>
                <a:latin typeface="NVIDIA Sans"/>
              </a:rPr>
              <a:t>false</a:t>
            </a:r>
          </a:p>
        </p:txBody>
      </p:sp>
      <p:sp>
        <p:nvSpPr>
          <p:cNvPr id="23" name="MLIR SCF"/>
          <p:cNvSpPr txBox="1"/>
          <p:nvPr/>
        </p:nvSpPr>
        <p:spPr>
          <a:xfrm>
            <a:off x="4791456" y="1389888"/>
            <a:ext cx="3776472" cy="32004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MLIR SCF</a:t>
            </a:r>
          </a:p>
        </p:txBody>
      </p:sp>
      <p:sp>
        <p:nvSpPr>
          <p:cNvPr id="24" name="Rectangle 23"/>
          <p:cNvSpPr/>
          <p:nvPr/>
        </p:nvSpPr>
        <p:spPr>
          <a:xfrm>
            <a:off x="4791456" y="1911095"/>
            <a:ext cx="3776472" cy="1280160"/>
          </a:xfrm>
          <a:prstGeom prst="rect">
            <a:avLst/>
          </a:prstGeom>
          <a:solidFill>
            <a:srgbClr val="F7F7F7"/>
          </a:solidFill>
          <a:ln w="8890">
            <a:solidFill>
              <a:srgbClr val="D5D5D5"/>
            </a:solidFill>
          </a:ln>
          <a:effectLst/>
        </p:spPr>
        <p:txBody>
          <a:bodyPr rtlCol="0" anchor="ctr"/>
          <a:lstStyle/>
          <a:p>
            <a:pPr algn="ctr"/>
          </a:p>
        </p:txBody>
      </p:sp>
      <p:sp>
        <p:nvSpPr>
          <p:cNvPr id="25" name="scf.for"/>
          <p:cNvSpPr txBox="1"/>
          <p:nvPr/>
        </p:nvSpPr>
        <p:spPr>
          <a:xfrm>
            <a:off x="4937760" y="2029968"/>
            <a:ext cx="3447288" cy="256032"/>
          </a:xfrm>
          <a:prstGeom prst="rect">
            <a:avLst/>
          </a:prstGeom>
          <a:noFill/>
        </p:spPr>
        <p:txBody>
          <a:bodyPr wrap="none" anchor="t" lIns="0" rIns="0" tIns="0" bIns="0">
            <a:noAutofit/>
          </a:bodyPr>
          <a:lstStyle/>
          <a:p>
            <a:pPr algn="l">
              <a:lnSpc>
                <a:spcPts val="1889"/>
              </a:lnSpc>
              <a:spcBef>
                <a:spcPts val="0"/>
              </a:spcBef>
              <a:spcAft>
                <a:spcPts val="0"/>
              </a:spcAft>
            </a:pPr>
            <a:r>
              <a:rPr sz="1500" b="1">
                <a:solidFill>
                  <a:srgbClr val="416600"/>
                </a:solidFill>
                <a:latin typeface="JetBrains Mono"/>
              </a:rPr>
              <a:t>scf.for</a:t>
            </a:r>
          </a:p>
        </p:txBody>
      </p:sp>
      <p:sp>
        <p:nvSpPr>
          <p:cNvPr id="26" name="Rectangle 25"/>
          <p:cNvSpPr/>
          <p:nvPr/>
        </p:nvSpPr>
        <p:spPr>
          <a:xfrm>
            <a:off x="5093208" y="2468880"/>
            <a:ext cx="1078992" cy="347472"/>
          </a:xfrm>
          <a:prstGeom prst="rect">
            <a:avLst/>
          </a:prstGeom>
          <a:solidFill>
            <a:srgbClr val="FFFFFF"/>
          </a:solidFill>
          <a:ln w="8890">
            <a:solidFill>
              <a:srgbClr val="D5D5D5"/>
            </a:solidFill>
          </a:ln>
          <a:effectLst/>
        </p:spPr>
        <p:txBody>
          <a:bodyPr rtlCol="0" anchor="ctr"/>
          <a:lstStyle/>
          <a:p>
            <a:pPr algn="ctr"/>
          </a:p>
        </p:txBody>
      </p:sp>
      <p:sp>
        <p:nvSpPr>
          <p:cNvPr id="27" name="body"/>
          <p:cNvSpPr txBox="1"/>
          <p:nvPr/>
        </p:nvSpPr>
        <p:spPr>
          <a:xfrm>
            <a:off x="5125212" y="2555748"/>
            <a:ext cx="1014983" cy="219456"/>
          </a:xfrm>
          <a:prstGeom prst="rect">
            <a:avLst/>
          </a:prstGeom>
          <a:noFill/>
        </p:spPr>
        <p:txBody>
          <a:bodyPr wrap="none" anchor="t" lIns="0" rIns="0" tIns="0" bIns="0">
            <a:noAutofit/>
          </a:bodyPr>
          <a:lstStyle/>
          <a:p>
            <a:pPr algn="ctr">
              <a:lnSpc>
                <a:spcPts val="1575"/>
              </a:lnSpc>
              <a:spcBef>
                <a:spcPts val="0"/>
              </a:spcBef>
              <a:spcAft>
                <a:spcPts val="0"/>
              </a:spcAft>
            </a:pPr>
            <a:r>
              <a:rPr sz="1250" b="0">
                <a:solidFill>
                  <a:srgbClr val="000000"/>
                </a:solidFill>
                <a:latin typeface="JetBrains Mono"/>
              </a:rPr>
              <a:t>body</a:t>
            </a:r>
          </a:p>
        </p:txBody>
      </p:sp>
      <p:sp>
        <p:nvSpPr>
          <p:cNvPr id="28" name="Rectangle 27"/>
          <p:cNvSpPr/>
          <p:nvPr/>
        </p:nvSpPr>
        <p:spPr>
          <a:xfrm>
            <a:off x="6793992" y="2468880"/>
            <a:ext cx="1453896" cy="347472"/>
          </a:xfrm>
          <a:prstGeom prst="rect">
            <a:avLst/>
          </a:prstGeom>
          <a:solidFill>
            <a:srgbClr val="FFFFFF"/>
          </a:solidFill>
          <a:ln w="8890">
            <a:solidFill>
              <a:srgbClr val="D5D5D5"/>
            </a:solidFill>
          </a:ln>
          <a:effectLst/>
        </p:spPr>
        <p:txBody>
          <a:bodyPr rtlCol="0" anchor="ctr"/>
          <a:lstStyle/>
          <a:p>
            <a:pPr algn="ctr"/>
          </a:p>
        </p:txBody>
      </p:sp>
      <p:sp>
        <p:nvSpPr>
          <p:cNvPr id="29" name="scf.yield"/>
          <p:cNvSpPr txBox="1"/>
          <p:nvPr/>
        </p:nvSpPr>
        <p:spPr>
          <a:xfrm>
            <a:off x="6825996" y="2555748"/>
            <a:ext cx="1389888" cy="219456"/>
          </a:xfrm>
          <a:prstGeom prst="rect">
            <a:avLst/>
          </a:prstGeom>
          <a:noFill/>
        </p:spPr>
        <p:txBody>
          <a:bodyPr wrap="none" anchor="t" lIns="0" rIns="0" tIns="0" bIns="0">
            <a:noAutofit/>
          </a:bodyPr>
          <a:lstStyle/>
          <a:p>
            <a:pPr algn="ctr">
              <a:lnSpc>
                <a:spcPts val="1575"/>
              </a:lnSpc>
              <a:spcBef>
                <a:spcPts val="0"/>
              </a:spcBef>
              <a:spcAft>
                <a:spcPts val="0"/>
              </a:spcAft>
            </a:pPr>
            <a:r>
              <a:rPr sz="1250" b="0">
                <a:solidFill>
                  <a:srgbClr val="000000"/>
                </a:solidFill>
                <a:latin typeface="JetBrains Mono"/>
              </a:rPr>
              <a:t>scf.yield</a:t>
            </a:r>
          </a:p>
        </p:txBody>
      </p:sp>
      <p:cxnSp>
        <p:nvCxnSpPr>
          <p:cNvPr id="30" name="Connector 29"/>
          <p:cNvCxnSpPr/>
          <p:nvPr/>
        </p:nvCxnSpPr>
        <p:spPr>
          <a:xfrm>
            <a:off x="6208776" y="2642616"/>
            <a:ext cx="5394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525512" y="2834640"/>
            <a:ext cx="0" cy="18288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632704" y="3017520"/>
            <a:ext cx="189280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632704" y="2852928"/>
            <a:ext cx="0" cy="16459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4" name="No direct break in scf.for"/>
          <p:cNvSpPr txBox="1"/>
          <p:nvPr/>
        </p:nvSpPr>
        <p:spPr>
          <a:xfrm>
            <a:off x="4791456" y="3383280"/>
            <a:ext cx="3776472" cy="256032"/>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No direct break in scf.for</a:t>
            </a:r>
          </a:p>
        </p:txBody>
      </p:sp>
      <p:sp>
        <p:nvSpPr>
          <p:cNvPr id="35" name="Rectangle 34"/>
          <p:cNvSpPr/>
          <p:nvPr/>
        </p:nvSpPr>
        <p:spPr>
          <a:xfrm>
            <a:off x="484632" y="3840480"/>
            <a:ext cx="8174736" cy="393192"/>
          </a:xfrm>
          <a:prstGeom prst="rect">
            <a:avLst/>
          </a:prstGeom>
          <a:solidFill>
            <a:srgbClr val="F0F6E6"/>
          </a:solidFill>
          <a:ln>
            <a:noFill/>
          </a:ln>
          <a:effectLst/>
        </p:spPr>
        <p:txBody>
          <a:bodyPr rtlCol="0" anchor="ctr"/>
          <a:lstStyle/>
          <a:p>
            <a:pPr algn="ctr"/>
          </a:p>
        </p:txBody>
      </p:sp>
      <p:sp>
        <p:nvSpPr>
          <p:cNvPr id="36" name="Early termination in SCF"/>
          <p:cNvSpPr txBox="1"/>
          <p:nvPr/>
        </p:nvSpPr>
        <p:spPr>
          <a:xfrm>
            <a:off x="640080" y="3931920"/>
            <a:ext cx="3035808" cy="219456"/>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Early termination in SCF</a:t>
            </a:r>
          </a:p>
        </p:txBody>
      </p:sp>
      <p:sp>
        <p:nvSpPr>
          <p:cNvPr id="37" name="scf.while"/>
          <p:cNvSpPr txBox="1"/>
          <p:nvPr/>
        </p:nvSpPr>
        <p:spPr>
          <a:xfrm>
            <a:off x="3803904" y="3931920"/>
            <a:ext cx="1371600" cy="228600"/>
          </a:xfrm>
          <a:prstGeom prst="rect">
            <a:avLst/>
          </a:prstGeom>
          <a:noFill/>
        </p:spPr>
        <p:txBody>
          <a:bodyPr wrap="none" anchor="t" lIns="0" rIns="0" tIns="0" bIns="0">
            <a:noAutofit/>
          </a:bodyPr>
          <a:lstStyle/>
          <a:p>
            <a:pPr algn="ctr">
              <a:lnSpc>
                <a:spcPts val="1575"/>
              </a:lnSpc>
              <a:spcBef>
                <a:spcPts val="0"/>
              </a:spcBef>
              <a:spcAft>
                <a:spcPts val="0"/>
              </a:spcAft>
            </a:pPr>
            <a:r>
              <a:rPr sz="1250" b="0">
                <a:solidFill>
                  <a:srgbClr val="416600"/>
                </a:solidFill>
                <a:latin typeface="JetBrains Mono"/>
              </a:rPr>
              <a:t>scf.while</a:t>
            </a:r>
          </a:p>
        </p:txBody>
      </p:sp>
      <p:cxnSp>
        <p:nvCxnSpPr>
          <p:cNvPr id="38" name="Connector 37"/>
          <p:cNvCxnSpPr/>
          <p:nvPr/>
        </p:nvCxnSpPr>
        <p:spPr>
          <a:xfrm>
            <a:off x="5367528" y="4027932"/>
            <a:ext cx="4297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9" name="scf.condition → exit"/>
          <p:cNvSpPr txBox="1"/>
          <p:nvPr/>
        </p:nvSpPr>
        <p:spPr>
          <a:xfrm>
            <a:off x="6007608" y="3931920"/>
            <a:ext cx="2468880" cy="228600"/>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scf.condition → exit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differences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differences plugins</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969264" y="1353312"/>
            <a:ext cx="2953512" cy="685800"/>
          </a:xfrm>
          <a:prstGeom prst="rect">
            <a:avLst/>
          </a:prstGeom>
          <a:solidFill>
            <a:srgbClr val="F0F6E6"/>
          </a:solidFill>
          <a:ln w="8890">
            <a:solidFill>
              <a:srgbClr val="76B900"/>
            </a:solidFill>
          </a:ln>
          <a:effectLst/>
        </p:spPr>
        <p:txBody>
          <a:bodyPr rtlCol="0" anchor="ctr"/>
          <a:lstStyle/>
          <a:p>
            <a:pPr algn="ctr"/>
          </a:p>
        </p:txBody>
      </p:sp>
      <p:sp>
        <p:nvSpPr>
          <p:cNvPr id="8" name="MlirDSL"/>
          <p:cNvSpPr txBox="1"/>
          <p:nvPr/>
        </p:nvSpPr>
        <p:spPr>
          <a:xfrm>
            <a:off x="1078992" y="1453896"/>
            <a:ext cx="2734056" cy="292608"/>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MlirDSL</a:t>
            </a:r>
          </a:p>
        </p:txBody>
      </p:sp>
      <p:sp>
        <p:nvSpPr>
          <p:cNvPr id="9" name="reference language"/>
          <p:cNvSpPr txBox="1"/>
          <p:nvPr/>
        </p:nvSpPr>
        <p:spPr>
          <a:xfrm>
            <a:off x="1078992" y="1819656"/>
            <a:ext cx="2734056" cy="1828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reference language</a:t>
            </a:r>
          </a:p>
        </p:txBody>
      </p:sp>
      <p:sp>
        <p:nvSpPr>
          <p:cNvPr id="10" name="Rectangle 9"/>
          <p:cNvSpPr/>
          <p:nvPr/>
        </p:nvSpPr>
        <p:spPr>
          <a:xfrm>
            <a:off x="5221224" y="1353312"/>
            <a:ext cx="2953512" cy="685800"/>
          </a:xfrm>
          <a:prstGeom prst="rect">
            <a:avLst/>
          </a:prstGeom>
          <a:solidFill>
            <a:srgbClr val="F0F6E6"/>
          </a:solidFill>
          <a:ln w="8890">
            <a:solidFill>
              <a:srgbClr val="76B900"/>
            </a:solidFill>
          </a:ln>
          <a:effectLst/>
        </p:spPr>
        <p:txBody>
          <a:bodyPr rtlCol="0" anchor="ctr"/>
          <a:lstStyle/>
          <a:p>
            <a:pPr algn="ctr"/>
          </a:p>
        </p:txBody>
      </p:sp>
      <p:sp>
        <p:nvSpPr>
          <p:cNvPr id="11" name="Your DSL"/>
          <p:cNvSpPr txBox="1"/>
          <p:nvPr/>
        </p:nvSpPr>
        <p:spPr>
          <a:xfrm>
            <a:off x="5330952" y="1453896"/>
            <a:ext cx="2734056" cy="292608"/>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Your DSL</a:t>
            </a:r>
          </a:p>
        </p:txBody>
      </p:sp>
      <p:sp>
        <p:nvSpPr>
          <p:cNvPr id="12" name="your namespace"/>
          <p:cNvSpPr txBox="1"/>
          <p:nvPr/>
        </p:nvSpPr>
        <p:spPr>
          <a:xfrm>
            <a:off x="5330952" y="1819656"/>
            <a:ext cx="2734056" cy="1828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your namespace</a:t>
            </a:r>
          </a:p>
        </p:txBody>
      </p:sp>
      <p:cxnSp>
        <p:nvCxnSpPr>
          <p:cNvPr id="13" name="Connector 12"/>
          <p:cNvCxnSpPr/>
          <p:nvPr/>
        </p:nvCxnSpPr>
        <p:spPr>
          <a:xfrm>
            <a:off x="1783080" y="2267712"/>
            <a:ext cx="55778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446020" y="2075688"/>
            <a:ext cx="0" cy="192024"/>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697980" y="2075688"/>
            <a:ext cx="0" cy="192024"/>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78308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8463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18" name="Dialects"/>
          <p:cNvSpPr txBox="1"/>
          <p:nvPr/>
        </p:nvSpPr>
        <p:spPr>
          <a:xfrm>
            <a:off x="59436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Dialects</a:t>
            </a:r>
          </a:p>
        </p:txBody>
      </p:sp>
      <p:sp>
        <p:nvSpPr>
          <p:cNvPr id="19" name="Types + lowering"/>
          <p:cNvSpPr txBox="1"/>
          <p:nvPr/>
        </p:nvSpPr>
        <p:spPr>
          <a:xfrm>
            <a:off x="59436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Types + lowering</a:t>
            </a:r>
          </a:p>
        </p:txBody>
      </p:sp>
      <p:cxnSp>
        <p:nvCxnSpPr>
          <p:cNvPr id="20" name="Connector 19"/>
          <p:cNvCxnSpPr/>
          <p:nvPr/>
        </p:nvCxnSpPr>
        <p:spPr>
          <a:xfrm flipV="1">
            <a:off x="457200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27355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22" name="AST"/>
          <p:cNvSpPr txBox="1"/>
          <p:nvPr/>
        </p:nvSpPr>
        <p:spPr>
          <a:xfrm>
            <a:off x="338328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AST</a:t>
            </a:r>
          </a:p>
        </p:txBody>
      </p:sp>
      <p:sp>
        <p:nvSpPr>
          <p:cNvPr id="23" name="Capture + regions"/>
          <p:cNvSpPr txBox="1"/>
          <p:nvPr/>
        </p:nvSpPr>
        <p:spPr>
          <a:xfrm>
            <a:off x="338328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Capture + regions</a:t>
            </a:r>
          </a:p>
        </p:txBody>
      </p:sp>
      <p:cxnSp>
        <p:nvCxnSpPr>
          <p:cNvPr id="24" name="Connector 23"/>
          <p:cNvCxnSpPr/>
          <p:nvPr/>
        </p:nvCxnSpPr>
        <p:spPr>
          <a:xfrm flipV="1">
            <a:off x="736092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06247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26" name="Interop"/>
          <p:cNvSpPr txBox="1"/>
          <p:nvPr/>
        </p:nvSpPr>
        <p:spPr>
          <a:xfrm>
            <a:off x="617220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Interop</a:t>
            </a:r>
          </a:p>
        </p:txBody>
      </p:sp>
      <p:sp>
        <p:nvSpPr>
          <p:cNvPr id="27" name="Adapters + exports"/>
          <p:cNvSpPr txBox="1"/>
          <p:nvPr/>
        </p:nvSpPr>
        <p:spPr>
          <a:xfrm>
            <a:off x="617220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Adapters + exports</a:t>
            </a:r>
          </a:p>
        </p:txBody>
      </p:sp>
      <p:cxnSp>
        <p:nvCxnSpPr>
          <p:cNvPr id="28" name="Connector 27"/>
          <p:cNvCxnSpPr/>
          <p:nvPr/>
        </p:nvCxnSpPr>
        <p:spPr>
          <a:xfrm>
            <a:off x="1783080" y="3328416"/>
            <a:ext cx="55778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8308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57200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36092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572000" y="3328416"/>
            <a:ext cx="0" cy="18288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84632" y="3547872"/>
            <a:ext cx="8174736" cy="667512"/>
          </a:xfrm>
          <a:prstGeom prst="rect">
            <a:avLst/>
          </a:prstGeom>
          <a:solidFill>
            <a:srgbClr val="F7F7F7"/>
          </a:solidFill>
          <a:ln w="8890">
            <a:solidFill>
              <a:srgbClr val="D5D5D5"/>
            </a:solidFill>
          </a:ln>
          <a:effectLst/>
        </p:spPr>
        <p:txBody>
          <a:bodyPr rtlCol="0" anchor="ctr"/>
          <a:lstStyle/>
          <a:p>
            <a:pPr algn="ctr"/>
          </a:p>
        </p:txBody>
      </p:sp>
      <p:sp>
        <p:nvSpPr>
          <p:cNvPr id="34" name="BaseDSL"/>
          <p:cNvSpPr txBox="1"/>
          <p:nvPr/>
        </p:nvSpPr>
        <p:spPr>
          <a:xfrm>
            <a:off x="667512" y="3657600"/>
            <a:ext cx="1463040" cy="310896"/>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BaseDSL</a:t>
            </a:r>
          </a:p>
        </p:txBody>
      </p:sp>
      <p:sp>
        <p:nvSpPr>
          <p:cNvPr id="35" name="Rectangle 34"/>
          <p:cNvSpPr/>
          <p:nvPr/>
        </p:nvSpPr>
        <p:spPr>
          <a:xfrm>
            <a:off x="2258568" y="3730752"/>
            <a:ext cx="977645" cy="274320"/>
          </a:xfrm>
          <a:prstGeom prst="rect">
            <a:avLst/>
          </a:prstGeom>
          <a:solidFill>
            <a:srgbClr val="FFFFFF"/>
          </a:solidFill>
          <a:ln>
            <a:noFill/>
          </a:ln>
          <a:effectLst/>
        </p:spPr>
        <p:txBody>
          <a:bodyPr rtlCol="0" anchor="ctr"/>
          <a:lstStyle/>
          <a:p>
            <a:pPr algn="ctr"/>
          </a:p>
        </p:txBody>
      </p:sp>
      <p:sp>
        <p:nvSpPr>
          <p:cNvPr id="36" name="Types"/>
          <p:cNvSpPr txBox="1"/>
          <p:nvPr/>
        </p:nvSpPr>
        <p:spPr>
          <a:xfrm>
            <a:off x="2281428"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Types</a:t>
            </a:r>
          </a:p>
        </p:txBody>
      </p:sp>
      <p:sp>
        <p:nvSpPr>
          <p:cNvPr id="37" name="Rectangle 36"/>
          <p:cNvSpPr/>
          <p:nvPr/>
        </p:nvSpPr>
        <p:spPr>
          <a:xfrm>
            <a:off x="3304794" y="3730752"/>
            <a:ext cx="977645" cy="274320"/>
          </a:xfrm>
          <a:prstGeom prst="rect">
            <a:avLst/>
          </a:prstGeom>
          <a:solidFill>
            <a:srgbClr val="FFFFFF"/>
          </a:solidFill>
          <a:ln>
            <a:noFill/>
          </a:ln>
          <a:effectLst/>
        </p:spPr>
        <p:txBody>
          <a:bodyPr rtlCol="0" anchor="ctr"/>
          <a:lstStyle/>
          <a:p>
            <a:pPr algn="ctr"/>
          </a:p>
        </p:txBody>
      </p:sp>
      <p:sp>
        <p:nvSpPr>
          <p:cNvPr id="38" name="Staging"/>
          <p:cNvSpPr txBox="1"/>
          <p:nvPr/>
        </p:nvSpPr>
        <p:spPr>
          <a:xfrm>
            <a:off x="3327654"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Staging</a:t>
            </a:r>
          </a:p>
        </p:txBody>
      </p:sp>
      <p:sp>
        <p:nvSpPr>
          <p:cNvPr id="39" name="Rectangle 38"/>
          <p:cNvSpPr/>
          <p:nvPr/>
        </p:nvSpPr>
        <p:spPr>
          <a:xfrm>
            <a:off x="4351020" y="3730752"/>
            <a:ext cx="977645" cy="274320"/>
          </a:xfrm>
          <a:prstGeom prst="rect">
            <a:avLst/>
          </a:prstGeom>
          <a:solidFill>
            <a:srgbClr val="FFFFFF"/>
          </a:solidFill>
          <a:ln>
            <a:noFill/>
          </a:ln>
          <a:effectLst/>
        </p:spPr>
        <p:txBody>
          <a:bodyPr rtlCol="0" anchor="ctr"/>
          <a:lstStyle/>
          <a:p>
            <a:pPr algn="ctr"/>
          </a:p>
        </p:txBody>
      </p:sp>
      <p:sp>
        <p:nvSpPr>
          <p:cNvPr id="40" name="Host boundary"/>
          <p:cNvSpPr txBox="1"/>
          <p:nvPr/>
        </p:nvSpPr>
        <p:spPr>
          <a:xfrm>
            <a:off x="4373880"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Host boundary</a:t>
            </a:r>
          </a:p>
        </p:txBody>
      </p:sp>
      <p:sp>
        <p:nvSpPr>
          <p:cNvPr id="41" name="Rectangle 40"/>
          <p:cNvSpPr/>
          <p:nvPr/>
        </p:nvSpPr>
        <p:spPr>
          <a:xfrm>
            <a:off x="5397246" y="3730752"/>
            <a:ext cx="977645" cy="274320"/>
          </a:xfrm>
          <a:prstGeom prst="rect">
            <a:avLst/>
          </a:prstGeom>
          <a:solidFill>
            <a:srgbClr val="FFFFFF"/>
          </a:solidFill>
          <a:ln>
            <a:noFill/>
          </a:ln>
          <a:effectLst/>
        </p:spPr>
        <p:txBody>
          <a:bodyPr rtlCol="0" anchor="ctr"/>
          <a:lstStyle/>
          <a:p>
            <a:pPr algn="ctr"/>
          </a:p>
        </p:txBody>
      </p:sp>
      <p:sp>
        <p:nvSpPr>
          <p:cNvPr id="42" name="Cache"/>
          <p:cNvSpPr txBox="1"/>
          <p:nvPr/>
        </p:nvSpPr>
        <p:spPr>
          <a:xfrm>
            <a:off x="5420106"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Cache</a:t>
            </a:r>
          </a:p>
        </p:txBody>
      </p:sp>
      <p:sp>
        <p:nvSpPr>
          <p:cNvPr id="43" name="Rectangle 42"/>
          <p:cNvSpPr/>
          <p:nvPr/>
        </p:nvSpPr>
        <p:spPr>
          <a:xfrm>
            <a:off x="6443472" y="3730752"/>
            <a:ext cx="977645" cy="274320"/>
          </a:xfrm>
          <a:prstGeom prst="rect">
            <a:avLst/>
          </a:prstGeom>
          <a:solidFill>
            <a:srgbClr val="FFFFFF"/>
          </a:solidFill>
          <a:ln>
            <a:noFill/>
          </a:ln>
          <a:effectLst/>
        </p:spPr>
        <p:txBody>
          <a:bodyPr rtlCol="0" anchor="ctr"/>
          <a:lstStyle/>
          <a:p>
            <a:pPr algn="ctr"/>
          </a:p>
        </p:txBody>
      </p:sp>
      <p:sp>
        <p:nvSpPr>
          <p:cNvPr id="44" name="Environment"/>
          <p:cNvSpPr txBox="1"/>
          <p:nvPr/>
        </p:nvSpPr>
        <p:spPr>
          <a:xfrm>
            <a:off x="6466332"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Environment</a:t>
            </a:r>
          </a:p>
        </p:txBody>
      </p:sp>
      <p:sp>
        <p:nvSpPr>
          <p:cNvPr id="45" name="Rectangle 44"/>
          <p:cNvSpPr/>
          <p:nvPr/>
        </p:nvSpPr>
        <p:spPr>
          <a:xfrm>
            <a:off x="7489698" y="3730752"/>
            <a:ext cx="977645" cy="274320"/>
          </a:xfrm>
          <a:prstGeom prst="rect">
            <a:avLst/>
          </a:prstGeom>
          <a:solidFill>
            <a:srgbClr val="FFFFFF"/>
          </a:solidFill>
          <a:ln>
            <a:noFill/>
          </a:ln>
          <a:effectLst/>
        </p:spPr>
        <p:txBody>
          <a:bodyPr rtlCol="0" anchor="ctr"/>
          <a:lstStyle/>
          <a:p>
            <a:pPr algn="ctr"/>
          </a:p>
        </p:txBody>
      </p:sp>
      <p:sp>
        <p:nvSpPr>
          <p:cNvPr id="46" name="Diagnostics"/>
          <p:cNvSpPr txBox="1"/>
          <p:nvPr/>
        </p:nvSpPr>
        <p:spPr>
          <a:xfrm>
            <a:off x="7512558"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Diagnostics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v9.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