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Lst>
  <p:sldSz cx="9144000" cy="5143500" type="screen16x9"/>
  <p:notesSz cx="6858000" cy="9144000"/>
  <p:embeddedFontLst>
    <p:embeddedFont>
      <p:font typeface="NVIDIA Sans"/>
      <p:regular r:id="rIdEmbeddedFont1"/>
      <p:bold r:id="rIdEmbeddedFont2"/>
    </p:embeddedFont>
    <p:embeddedFont>
      <p:font typeface="NVIDIA Sans Light"/>
      <p:regular r:id="rIdEmbeddedFont3"/>
    </p:embeddedFont>
    <p:embeddedFont>
      <p:font typeface="JetBrains Mono"/>
      <p:regular r:id="rIdEmbeddedFont4"/>
      <p:bold r:id="rIdEmbeddedFont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EmbeddedFont1" Type="http://schemas.openxmlformats.org/officeDocument/2006/relationships/font" Target="fonts/codexFont1.fntdata"/><Relationship Id="rIdEmbeddedFont2" Type="http://schemas.openxmlformats.org/officeDocument/2006/relationships/font" Target="fonts/codexFont2.fntdata"/><Relationship Id="rIdEmbeddedFont3" Type="http://schemas.openxmlformats.org/officeDocument/2006/relationships/font" Target="fonts/codexFont3.fntdata"/><Relationship Id="rIdEmbeddedFont4" Type="http://schemas.openxmlformats.org/officeDocument/2006/relationships/font" Target="fonts/codexFont4.fntdata"/><Relationship Id="rIdEmbeddedFont5" Type="http://schemas.openxmlformats.org/officeDocument/2006/relationships/font" Target="fonts/codexFont5.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Our design principles</a:t>
            </a:r>
          </a:p>
          <a:p>
            <a:r>
              <a:t>Owner: Presenter</a:t>
            </a:r>
          </a:p>
          <a:p>
            <a:r>
              <a:t>Clock: 00:00–00:45</a:t>
            </a:r>
          </a:p>
          <a:p>
            <a:r>
              <a:t>Target duration: 00:45</a:t>
            </a:r>
          </a:p>
          <a:p/>
          <a:p>
            <a:r>
              <a:t>Start directly with these three design principles. We want to reuse the Python interpreter, objects, imports, helpers, and metaprogramming. Python code constructs the MLIR program. These are design principles, not a claim that arbitrary Python effects are supported in compiled regions. Make the consequence explicit: this is multi-stage programming. The next slide explains the stages before introducing our implementation. First presenter: 30 minutes; Amir: final 15 minutes on mutation and the PyIR idea.</a:t>
            </a:r>
          </a:p>
          <a:p/>
          <a:p>
            <a:r>
              <a:t>SOURCES / PREPARATION</a:t>
            </a:r>
          </a:p>
          <a:p>
            <a:r>
              <a:t>mlir/python/mlir/dsl/__init__.py:5</a:t>
            </a:r>
          </a:p>
          <a:p>
            <a:r>
              <a:t>mlir/python/mlir/dsl/core/dsl.py:5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What is multi-stage programming?</a:t>
            </a:r>
          </a:p>
          <a:p>
            <a:r>
              <a:t>Owner: Presenter</a:t>
            </a:r>
          </a:p>
          <a:p>
            <a:r>
              <a:t>Clock: 00:45–01:45</a:t>
            </a:r>
          </a:p>
          <a:p>
            <a:r>
              <a:t>Target duration: 01:00</a:t>
            </a:r>
          </a:p>
          <a:p/>
          <a:p>
            <a:r>
              <a:t>Read the three visual pipelines from top to bottom. Traditional compiler: source.cpp goes through the compiler and produces a binary. Multi-stage compilers: a generated binary is itself a generator; RUN it to emit the next source.cpp, compile that source, and continue as needed. The run / generate labels are essential: merely compiling a generator does not execute it. The repeated C++ stages and loop illustrate the idea, not a requirement that every multi-stage program cycle forever or use C++ at every stage. In our case the generator is Python, so the Python interpreter executes source.py and builds MLIR. The diagram shows the requested source.py → Python interpreter → *.mlir → mlir-opt → binary sequence. The final arrow is labelled LLVM codegen / JIT because mlir-opt runs optimization/lowering passes rather than directly producing a CPU binary. For this tutorial the generated MLIR can stay in memory: Compiler uses PassManager and ExecutionEngine, rather than spawning the mlir-opt executable or necessarily creating a .mlir file. Python is the meta-language; MLIR is the object language. Known computations execute while Python generates the program; runtime computations remain in its IR.</a:t>
            </a:r>
          </a:p>
          <a:p/>
          <a:p>
            <a:r>
              <a:t>SOURCES / PREPARATION</a:t>
            </a:r>
          </a:p>
          <a:p>
            <a:r>
              <a:t>mlir/python/mlir/dsl/core/dsl.py:1869</a:t>
            </a:r>
          </a:p>
          <a:p>
            <a:r>
              <a:t>mlir/python/mlir/dsl/types/typing.py:688</a:t>
            </a:r>
          </a:p>
          <a:p>
            <a:r>
              <a:t>mlir/test/python/dsl/expression.py:8</a:t>
            </a:r>
          </a:p>
          <a:p>
            <a:r>
              <a:t>mlir/docs/Tutorials/MlirOpt.md:73</a:t>
            </a:r>
          </a:p>
          <a:p>
            <a:r>
              <a:t>mlir/python/mlir/dsl/compiler/compiler.py:351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mlir.dsl: our tutorial implementation</a:t>
            </a:r>
          </a:p>
          <a:p>
            <a:r>
              <a:t>Owner: Presenter</a:t>
            </a:r>
          </a:p>
          <a:p>
            <a:r>
              <a:t>Clock: 01:45–02:30</a:t>
            </a:r>
          </a:p>
          <a:p>
            <a:r>
              <a:t>Target duration: 00:45</a:t>
            </a:r>
          </a:p>
          <a:p/>
          <a:p>
            <a:r>
              <a:t>Now name the tutorial implementation: mlir.dsl. It brings together the generator, native control-flow capture, typed values, compilation, invocation, diagnostics, and caching. Read the example in the terms from slide two: factor is known to Python during generation, while x is a runtime i32. The generated function multiplies its runtime argument by the known constant 3. The call returns 12. Do not teach the annotation machinery yet; that comes in the core section. This is the tutorial implementation in the working tree, not a claim about an upstream release or universal support for Python mutation. The default host entry uses llvm.func and LLVM pointers, with extension points for sub-DSLs. Amir owns the later PyIR discussion.</a:t>
            </a:r>
          </a:p>
          <a:p/>
          <a:p>
            <a:r>
              <a:t>SOURCES / PREPARATION</a:t>
            </a:r>
          </a:p>
          <a:p>
            <a:r>
              <a:t>mlir/python/mlir/dsl/__init__.py:5</a:t>
            </a:r>
          </a:p>
          <a:p>
            <a:r>
              <a:t>mlir/python/mlir/dsl/core/dsl.py:5</a:t>
            </a:r>
          </a:p>
          <a:p>
            <a:r>
              <a:t>mlir/python/mlir/dsl/core/plugin.py:26</a:t>
            </a:r>
          </a:p>
          <a:p>
            <a:r>
              <a:t>mlir/test/python/dsl/expression.py:8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Agenda</a:t>
            </a:r>
          </a:p>
          <a:p>
            <a:r>
              <a:t>Owner: Presenter</a:t>
            </a:r>
          </a:p>
          <a:p>
            <a:r>
              <a:t>Clock: 02:30–02:45</a:t>
            </a:r>
          </a:p>
          <a:p>
            <a:r>
              <a:t>Target duration: 00:15</a:t>
            </a:r>
          </a:p>
          <a:p/>
          <a:p>
            <a:r>
              <a:t>Keep the agenda brief and present it as a plain text list, without boxes. The first section includes this introduction. We build the agnostic core, extend it through sub-DSLs, discuss GenAI-based user feedback, and frame the mutation problem. Hand over to Amir exactly at minute 30. This revised opening totals the same 2:45 as the original first three slides, so the timing of every subsequent topic is unchanged.</a:t>
            </a:r>
          </a:p>
          <a:p/>
          <a:p>
            <a:r>
              <a:t>SOURCES / PREPARATION</a:t>
            </a:r>
          </a:p>
          <a:p>
            <a:r>
              <a:t>mlir/python/mlir/dsl/__init__.py:5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Three ways to build the frontend</a:t>
            </a:r>
          </a:p>
          <a:p>
            <a:r>
              <a:t>Owner: Presenter</a:t>
            </a:r>
          </a:p>
          <a:p>
            <a:r>
              <a:t>Clock: 02:45–04:30</a:t>
            </a:r>
          </a:p>
          <a:p>
            <a:r>
              <a:t>Target duration: 01:45</a:t>
            </a:r>
          </a:p>
          <a:p/>
          <a:p>
            <a:r>
              <a:t>This is a conceptual comparison, not a benchmark. An AST-only compiler gives control over syntax but must implement the subset it accepts. Proxy tracing naturally reuses ordinary Python helpers; Python truth tests and range need a decision unavailable from a runtime SSA value. The hybrid keeps Python evaluation and introduces callbacks around native if/for/while. Point out that explicit builders also remain available without preprocessing.</a:t>
            </a:r>
          </a:p>
          <a:p/>
          <a:p>
            <a:r>
              <a:t>SOURCES / PREPARATION</a:t>
            </a:r>
          </a:p>
          <a:p>
            <a:r>
              <a:t>mlir/python/mlir/dsl/types/typing.py:1124</a:t>
            </a:r>
          </a:p>
          <a:p>
            <a:r>
              <a:t>mlir/python/mlir/dsl/frontend/ast_preprocessor.py:1064</a:t>
            </a:r>
          </a:p>
          <a:p>
            <a:r>
              <a:t>mlir/python/mlir/dsl/mlir_dsl/mlir_dsl_ast_decorators.py:5</a:t>
            </a:r>
          </a:p>
          <a:p>
            <a:r>
              <a:t>mlir/python/mlir/dsl/mlir_dsl/mlir_dsl.py:246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One call, two kinds of execution</a:t>
            </a:r>
          </a:p>
          <a:p>
            <a:r>
              <a:t>Owner: Presenter</a:t>
            </a:r>
          </a:p>
          <a:p>
            <a:r>
              <a:t>Clock: 04:30–05:45</a:t>
            </a:r>
          </a:p>
          <a:p>
            <a:r>
              <a:t>Target duration: 01:15</a:t>
            </a:r>
          </a:p>
          <a:p/>
          <a:p>
            <a:r>
              <a:t>Follow one @m.jit call from Python input values to generated llvm.func to the ExecutionEngine. The actual implementation creates IR before checking the compile cache. Show a conceptual pipeline, then explain cache placement later. The host entry uses packed ExecutionEngine invocation of an LLVM-dialect function, not func.func plus a C-interface wrapper.</a:t>
            </a:r>
          </a:p>
          <a:p/>
          <a:p>
            <a:r>
              <a:t>SOURCES / PREPARATION</a:t>
            </a:r>
          </a:p>
          <a:p>
            <a:r>
              <a:t>mlir/python/mlir/dsl/core/dsl.py:1869</a:t>
            </a:r>
          </a:p>
          <a:p>
            <a:r>
              <a:t>mlir/python/mlir/dsl/core/dsl.py:2255</a:t>
            </a:r>
          </a:p>
          <a:p>
            <a:r>
              <a:t>mlir/python/mlir/dsl/compiler/jit_executor.py:97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Binding time is part of the API</a:t>
            </a:r>
          </a:p>
          <a:p>
            <a:r>
              <a:t>Owner: Presenter</a:t>
            </a:r>
          </a:p>
          <a:p>
            <a:r>
              <a:t>Clock: 05:45–07:30</a:t>
            </a:r>
          </a:p>
          <a:p>
            <a:r>
              <a:t>Target duration: 01:45</a:t>
            </a:r>
          </a:p>
          <a:p/>
          <a:p>
            <a:r>
              <a:t>Ask the audience how many runtime arguments expression has: two. Changing scale changes the generated program. Changing a or b alone can reuse compiled code. Critical source-version distinction: the legacy mlir/tools/mlir-dsl tutorial says annotations only document intent. That is not the current mlir/python/mlir/dsl API. Current Numeric annotations stage plain host inputs, and unannotated leaf-free Python values are Meta. Explicit Constexpr is also available.</a:t>
            </a:r>
          </a:p>
          <a:p/>
          <a:p>
            <a:r>
              <a:t>SOURCES / PREPARATION</a:t>
            </a:r>
          </a:p>
          <a:p>
            <a:r>
              <a:t>mlir/test/python/dsl/expression.py:8</a:t>
            </a:r>
          </a:p>
          <a:p>
            <a:r>
              <a:t>mlir/python/mlir/dsl/runtime/jit_arg_adapters.py:151</a:t>
            </a:r>
          </a:p>
          <a:p>
            <a:r>
              <a:t>mlir/python/mlir/dsl/core/dsl.py:823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An expression becomes operations</a:t>
            </a:r>
          </a:p>
          <a:p>
            <a:r>
              <a:t>Owner: Presenter</a:t>
            </a:r>
          </a:p>
          <a:p>
            <a:r>
              <a:t>Clock: 07:30–09:00</a:t>
            </a:r>
          </a:p>
          <a:p>
            <a:r>
              <a:t>Target duration: 01:30</a:t>
            </a:r>
          </a:p>
          <a:p/>
          <a:p>
            <a:r>
              <a:t>This IR was captured from the current expression.py test with MLIR_DSL_DRYRUN=1 MLIR_DSL_PRINT_IR=1; only the function-signature line wrap and surrounding module are adjusted for the slide. Explain operation overloading rather than presenting an expression parser. Numeric wrappers can hold a Python payload or an ir.Value; the operator path folds known values and emits operations for staged values. The fma example in the same test demonstrates explicit Int32-to-Float32 conversion via arith.sitofp.</a:t>
            </a:r>
          </a:p>
          <a:p/>
          <a:p>
            <a:r>
              <a:t>SOURCES / PREPARATION</a:t>
            </a:r>
          </a:p>
          <a:p>
            <a:r>
              <a:t>mlir/test/python/dsl/expression.py:8</a:t>
            </a:r>
          </a:p>
          <a:p>
            <a:r>
              <a:t>mlir/python/mlir/dsl/types/typing.py:688</a:t>
            </a:r>
          </a:p>
          <a:p>
            <a:r>
              <a:t>mlir/python/mlir/dsl/types/typing.py:1124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Helpers compose during tracing</a:t>
            </a:r>
          </a:p>
          <a:p>
            <a:r>
              <a:t>Owner: Presenter</a:t>
            </a:r>
          </a:p>
          <a:p>
            <a:r>
              <a:t>Clock: 09:00–10:15</a:t>
            </a:r>
          </a:p>
          <a:p>
            <a:r>
              <a:t>Target duration: 01:15</a:t>
            </a:r>
          </a:p>
          <a:p/>
          <a:p>
            <a:r>
              <a:t>Do not claim separate func.call emission: core/dsl.py explicitly executes a nested preprocessed body inline when a context and insertion point are active. Ordinary helpers with expression operations naturally work. An ordinary helper using Python if on a runtime value needs preprocessing through @m.jit or explicit builders. A separately compiled helper ABI would be a different frontend design choice.</a:t>
            </a:r>
          </a:p>
          <a:p/>
          <a:p>
            <a:r>
              <a:t>SOURCES / PREPARATION</a:t>
            </a:r>
          </a:p>
          <a:p>
            <a:r>
              <a:t>mlir/python/mlir/dsl/core/dsl.py:2269</a:t>
            </a:r>
          </a:p>
          <a:p>
            <a:r>
              <a:t>mlir/python/mlir/dsl/core/dsl.py:612</a:t>
            </a:r>
          </a:p>
          <a:p>
            <a:r>
              <a:t>mlir/test/python/dsl/diagnostics.py:37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The same syntax can run now or later</a:t>
            </a:r>
          </a:p>
          <a:p>
            <a:r>
              <a:t>Owner: Presenter</a:t>
            </a:r>
          </a:p>
          <a:p>
            <a:r>
              <a:t>Clock: 10:15–11:30</a:t>
            </a:r>
          </a:p>
          <a:p>
            <a:r>
              <a:t>Target duration: 01:15</a:t>
            </a:r>
          </a:p>
          <a:p/>
          <a:p>
            <a:r>
              <a:t>The default DSL installs executors behind the frontend selectors. With a Meta bound, bare range follows Python execution; m.range explicitly stages even a known bound. With staged conditions, Python executes callbacks to build regions rather than taking one runtime branch. Side effects in those callbacks happen during tracing. Do not claim all Python control-flow constructs are supported; early exits and joins have explicit diagnostics.</a:t>
            </a:r>
          </a:p>
          <a:p/>
          <a:p>
            <a:r>
              <a:t>SOURCES / PREPARATION</a:t>
            </a:r>
          </a:p>
          <a:p>
            <a:r>
              <a:t>mlir/test/python/dsl/meta_loop.py:13</a:t>
            </a:r>
          </a:p>
          <a:p>
            <a:r>
              <a:t>mlir/python/mlir/dsl/frontend/ast_helpers.py:83</a:t>
            </a:r>
          </a:p>
          <a:p>
            <a:r>
              <a:t>mlir/python/mlir/dsl/mlir_dsl/mlir_dsl_ast_decorators.py:383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Watch one local become an SSA carry</a:t>
            </a:r>
          </a:p>
          <a:p>
            <a:r>
              <a:t>Owner: Presenter</a:t>
            </a:r>
          </a:p>
          <a:p>
            <a:r>
              <a:t>Clock: 11:30–13:30</a:t>
            </a:r>
          </a:p>
          <a:p>
            <a:r>
              <a:t>Target duration: 02:00</a:t>
            </a:r>
          </a:p>
          <a:p/>
          <a:p>
            <a:r>
              <a:t>Run the existing cumsum.py test or use the captured output. It executes successfully on the configured build: RESULT: 45 Int32. The IR preserves the emitted operations including both zero constants; SSA names are shortened and whitespace wrapped for display. Identify each role: initial acc, current iteration acc, yielded next acc, final loop result. Save the explicit-builder comparison for the mutation transition at minute 27.</a:t>
            </a:r>
          </a:p>
          <a:p/>
          <a:p>
            <a:r>
              <a:t>SOURCES / PREPARATION</a:t>
            </a:r>
          </a:p>
          <a:p>
            <a:r>
              <a:t>mlir/test/python/dsl/cumsum.py:11</a:t>
            </a:r>
          </a:p>
          <a:p>
            <a:r>
              <a:t>mlir/python/mlir/dsl/frontend/ast_preprocessor.py:1064</a:t>
            </a:r>
          </a:p>
          <a:p>
            <a:r>
              <a:t>mlir/python/mlir/dsl/mlir_dsl/mlir_dsl_ast_decorators.py:415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A complete CPU kernel</a:t>
            </a:r>
          </a:p>
          <a:p>
            <a:r>
              <a:t>Owner: Presenter</a:t>
            </a:r>
          </a:p>
          <a:p>
            <a:r>
              <a:t>Clock: 13:30–15:15</a:t>
            </a:r>
          </a:p>
          <a:p>
            <a:r>
              <a:t>Target duration: 01:45</a:t>
            </a:r>
          </a:p>
          <a:p/>
          <a:p>
            <a:r>
              <a:t>This is the current axpy_pointer.py test with Pointer[Float32] abbreviated as P. The test was run on the configured build and printed MATCH: True 2.5 512.5. Input arrays must be C-contiguous and have the declared dtype. Shape and strides are not passed in the pointer ABI; n is explicit. Memory stores are represented runtime effects and do not require turning the pointer into a loop carry when only its pointee is written.</a:t>
            </a:r>
          </a:p>
          <a:p/>
          <a:p>
            <a:r>
              <a:t>SOURCES / PREPARATION</a:t>
            </a:r>
          </a:p>
          <a:p>
            <a:r>
              <a:t>mlir/test/python/dsl/axpy_pointer.py:12</a:t>
            </a:r>
          </a:p>
          <a:p>
            <a:r>
              <a:t>mlir/python/mlir/dsl/runtime/jit_arg_adapters.py:533</a:t>
            </a:r>
          </a:p>
          <a:p>
            <a:r>
              <a:t>mlir/python/mlir/dsl/mlir_dsl/mlir_dsl_ast_decorators.py:208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Interop is an adapter boundary</a:t>
            </a:r>
          </a:p>
          <a:p>
            <a:r>
              <a:t>Owner: Presenter</a:t>
            </a:r>
          </a:p>
          <a:p>
            <a:r>
              <a:t>Clock: 15:15–16:15</a:t>
            </a:r>
          </a:p>
          <a:p>
            <a:r>
              <a:t>Target duration: 01:00</a:t>
            </a:r>
          </a:p>
          <a:p/>
          <a:p>
            <a:r>
              <a:t>The abstract mentions DLPack and memrefs. Correct that distinction verbally: current mlir/python/mlir/dsl implements NumPy and lazy PyTorch adapters to LLVM pointers, with no shape or stride in the ABI. DLPack and memref array views exist in the older mlir/tools/mlir-dsl prototype; they illustrate an alternative interop design, not an implemented current API. Do not show m.from_dlpack or m.Array in current runnable snippets. The current torch adapter is registered by name, so the base package does not import torch.</a:t>
            </a:r>
          </a:p>
          <a:p/>
          <a:p>
            <a:r>
              <a:t>SOURCES / PREPARATION</a:t>
            </a:r>
          </a:p>
          <a:p>
            <a:r>
              <a:t>mlir/python/mlir/dsl/runtime/jit_arg_adapters.py:533</a:t>
            </a:r>
          </a:p>
          <a:p>
            <a:r>
              <a:t>mlir/python/mlir/dsl/runtime/jit_arg_adapters.py:553</a:t>
            </a:r>
          </a:p>
          <a:p>
            <a:r>
              <a:t>mlir/tools/mlir-dsl/python/mlir/dsl/runtime.py:102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Diagnostics are part of the frontend</a:t>
            </a:r>
          </a:p>
          <a:p>
            <a:r>
              <a:t>Owner: Presenter</a:t>
            </a:r>
          </a:p>
          <a:p>
            <a:r>
              <a:t>Clock: 16:15–17:45</a:t>
            </a:r>
          </a:p>
          <a:p>
            <a:r>
              <a:t>Target duration: 01:30</a:t>
            </a:r>
          </a:p>
          <a:p/>
          <a:p>
            <a:r>
              <a:t>The right panel is a shortened diagnostic summary, not a verbatim full transcript. The actual diagnostics.py example reports error[PHASE_MUTATE_PYTHON], filename and line 21, a source caret, region for, and a suggestion to initialize Int32(0). It was executed successfully to check the diagnostics. For emitted-op locations, use MLIR_DSL_DEBUGINFO=1; _mlir_helpers/op.py attaches a source snippet NameLoc with a FileLineColLoc. The expression test was checked and points multiplication to expression.py:10:15. Keep internal compiler failures distinct from user-facing errors.</a:t>
            </a:r>
          </a:p>
          <a:p/>
          <a:p>
            <a:r>
              <a:t>SOURCES / PREPARATION</a:t>
            </a:r>
          </a:p>
          <a:p>
            <a:r>
              <a:t>mlir/test/python/dsl/diagnostics.py:18</a:t>
            </a:r>
          </a:p>
          <a:p>
            <a:r>
              <a:t>mlir/python/mlir/dsl/core/diagnostics.py:747</a:t>
            </a:r>
          </a:p>
          <a:p>
            <a:r>
              <a:t>mlir/python/mlir/dsl/_mlir_helpers/op.py:255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Cache compilation after tracing</a:t>
            </a:r>
          </a:p>
          <a:p>
            <a:r>
              <a:t>Owner: Presenter</a:t>
            </a:r>
          </a:p>
          <a:p>
            <a:r>
              <a:t>Clock: 17:45–19:00</a:t>
            </a:r>
          </a:p>
          <a:p>
            <a:r>
              <a:t>Target duration: 01:15</a:t>
            </a:r>
          </a:p>
          <a:p/>
          <a:p>
            <a:r>
              <a:t>Current generate_mlir constructs original IR before jit_cache.get. get_module_hash includes IR bytecode, compile-affecting environment settings, pipeline, extra linked libraries, and toolchain identity. The cache is in memory; CACHE_DIR currently controls saved IR artifacts, not a persistent compiled-artifact cache. m.compile(fn, *representative_args) returns a compiled callable for direct reuse. Do not repeat the older prototype's disk cache description. Python side effects in ordinary @jit bodies can repeat on cache hits.</a:t>
            </a:r>
          </a:p>
          <a:p/>
          <a:p>
            <a:r>
              <a:t>SOURCES / PREPARATION</a:t>
            </a:r>
          </a:p>
          <a:p>
            <a:r>
              <a:t>mlir/python/mlir/dsl/core/dsl.py:1482</a:t>
            </a:r>
          </a:p>
          <a:p>
            <a:r>
              <a:t>mlir/python/mlir/dsl/core/dsl.py:1918</a:t>
            </a:r>
          </a:p>
          <a:p>
            <a:r>
              <a:t>mlir/python/mlir/dsl/core/dsl.py:1939</a:t>
            </a:r>
          </a:p>
          <a:p>
            <a:r>
              <a:t>mlir/python/mlir/dsl/mlir_dsl/mlir_dsl.py:199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Keep the reusable core behind your DSL</a:t>
            </a:r>
          </a:p>
          <a:p>
            <a:r>
              <a:t>Owner: Presenter</a:t>
            </a:r>
          </a:p>
          <a:p>
            <a:r>
              <a:t>Clock: 19:00–20:30</a:t>
            </a:r>
          </a:p>
          <a:p>
            <a:r>
              <a:t>Target duration: 01:30</a:t>
            </a:r>
          </a:p>
          <a:p/>
          <a:p>
            <a:r>
              <a:t>The current MlirDSL subclasses BaseDSL and installs SCF executors with Executor.set_functions. Its plugins are class attributes, copied per DSL instance. DialectPlugin has install, register_dialects, pipeline_passes, and shared_libs. register_leaf is the public value-extension hook; register_jit_arg_adapter maps framework objects into those values. The Design.md subclass-versus-plugin rule is a useful design guideline. Do not claim the proposed ComplexPlugin example is a current test: the cited file does not exist in this tree.</a:t>
            </a:r>
          </a:p>
          <a:p/>
          <a:p>
            <a:r>
              <a:t>SOURCES / PREPARATION</a:t>
            </a:r>
          </a:p>
          <a:p>
            <a:r>
              <a:t>mlir/python/mlir/dsl/core/plugin.py:26</a:t>
            </a:r>
          </a:p>
          <a:p>
            <a:r>
              <a:t>mlir/python/mlir/dsl/mlir_dsl/mlir_dsl.py:154</a:t>
            </a:r>
          </a:p>
          <a:p>
            <a:r>
              <a:t>mlir/python/mlir/dsl/util/tree_utils.py:152</a:t>
            </a:r>
          </a:p>
          <a:p>
            <a:r>
              <a:t>mlir/tools/mlir-dsl/docs/Design.md:1046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GPU execution is a concrete extension</a:t>
            </a:r>
          </a:p>
          <a:p>
            <a:r>
              <a:t>Owner: Presenter</a:t>
            </a:r>
          </a:p>
          <a:p>
            <a:r>
              <a:t>Clock: 20:30–22:00</a:t>
            </a:r>
          </a:p>
          <a:p>
            <a:r>
              <a:t>Target duration: 01:30</a:t>
            </a:r>
          </a:p>
          <a:p/>
          <a:p>
            <a:r>
              <a:t>This example is composed from the current public APIs and was not GPU-executed during deck preparation. Preflight it on the intended conference GPU before a live demo. Current thread_idx/block_idx/block_dim return Int32 tuples; GPU launch dimensions are converted separately by the plugin. A host @m.jit is required around launch. Allocate contiguous CUDA buffers with the caller's framework and pass them through the lazy adapter. Configure MLIR_DSL_ARCH and the MLIR CUDA runtime library for the chosen build. This is a correctness example, not a performance kernel.</a:t>
            </a:r>
          </a:p>
          <a:p/>
          <a:p>
            <a:r>
              <a:t>SOURCES / PREPARATION</a:t>
            </a:r>
          </a:p>
          <a:p>
            <a:r>
              <a:t>mlir/python/mlir/dsl/dialect_plugins/gpu.py:175</a:t>
            </a:r>
          </a:p>
          <a:p>
            <a:r>
              <a:t>mlir/python/mlir/dsl/dialect_plugins/gpu.py:293</a:t>
            </a:r>
          </a:p>
          <a:p>
            <a:r>
              <a:t>mlir/python/mlir/dsl/core/dsl.py:335</a:t>
            </a:r>
          </a:p>
          <a:p>
            <a:r>
              <a:t>mlir/python/mlir/dsl/runtime/jit_arg_adapters.py:553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A plugin supplies the offload path</a:t>
            </a:r>
          </a:p>
          <a:p>
            <a:r>
              <a:t>Owner: Presenter</a:t>
            </a:r>
          </a:p>
          <a:p>
            <a:r>
              <a:t>Clock: 22:00–23:30</a:t>
            </a:r>
          </a:p>
          <a:p>
            <a:r>
              <a:t>Target duration: 01:30</a:t>
            </a:r>
          </a:p>
          <a:p/>
          <a:p>
            <a:r>
              <a:t>GpuPlugin.install supplies gpu_dialect and GpuKernelGenHelper. pipeline_passes returns gpu-lower-to-nvvm-pipeline with the selected cubin-chip. BaseDSL appends its core conversion list after plugin passes. shared_libs contributes libmlir_cuda_runtime for generated host code. The DSL does not allocate or copy device buffers. Current launch semantics are synchronous; a nonempty async_deps is unsupported. Avoid promising user-stream interop from the legacy DLPack example. Keep detailed LLVM/NVVM pass names in notes unless asked.</a:t>
            </a:r>
          </a:p>
          <a:p/>
          <a:p>
            <a:r>
              <a:t>SOURCES / PREPARATION</a:t>
            </a:r>
          </a:p>
          <a:p>
            <a:r>
              <a:t>mlir/python/mlir/dsl/dialect_plugins/gpu.py:423</a:t>
            </a:r>
          </a:p>
          <a:p>
            <a:r>
              <a:t>mlir/python/mlir/dsl/core/dsl.py:83</a:t>
            </a:r>
          </a:p>
          <a:p>
            <a:r>
              <a:t>mlir/python/mlir/dsl/core/dsl.py:774</a:t>
            </a:r>
          </a:p>
          <a:p>
            <a:r>
              <a:t>mlir/python/mlir/dsl/dialect_plugins/gpu.py:293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Use independent agents as API learners</a:t>
            </a:r>
          </a:p>
          <a:p>
            <a:r>
              <a:t>Owner: Presenter</a:t>
            </a:r>
          </a:p>
          <a:p>
            <a:r>
              <a:t>Clock: 23:30–24:45</a:t>
            </a:r>
          </a:p>
          <a:p>
            <a:r>
              <a:t>Target duration: 01:15</a:t>
            </a:r>
          </a:p>
          <a:p/>
          <a:p>
            <a:r>
              <a:t>This is the proposed four-role protocol, not a claim that all four were evaluated. Supply the same current examples/tests, an exact environment, and a separate scratch directory. Use a fixed 15-minute first attempt; no implementation source or communication between learners. A separate reviewer reruns the submitted code and classifies environment problems, documentation issues, diagnostics, defects, and unsupported features. The existing protocol needs adaptation to the current Pointer API: replace strided-input and DLPack stream requirements with supported contiguous-buffer cases. Agent learning exercises inform API design; they do not establish human usability or performance.</a:t>
            </a:r>
          </a:p>
          <a:p/>
          <a:p>
            <a:r>
              <a:t>SOURCES / PREPARATION</a:t>
            </a:r>
          </a:p>
          <a:p>
            <a:r>
              <a:t>mlir/tools/mlir-dsl/docs/AgentFeedback.md:3</a:t>
            </a:r>
          </a:p>
          <a:p>
            <a:r>
              <a:t>mlir/tools/mlir-dsl/docs/AgentFeedback.md:18</a:t>
            </a:r>
          </a:p>
          <a:p>
            <a:r>
              <a:t>mlir/tools/mlir-dsl/docs/AgentFeedback.md:63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What the recorded feedback actually shows</a:t>
            </a:r>
          </a:p>
          <a:p>
            <a:r>
              <a:t>Owner: Presenter</a:t>
            </a:r>
          </a:p>
          <a:p>
            <a:r>
              <a:t>Clock: 24:45–25:30</a:t>
            </a:r>
          </a:p>
          <a:p>
            <a:r>
              <a:t>Target duration: 00:45</a:t>
            </a:r>
          </a:p>
          <a:p/>
          <a:p>
            <a:r>
              <a:t>Source: SmokeExercises.md. The two independent agents were given examples, README, and selected tests, not implementation files or each other's findings. Both reported no concrete API/documentation difficulty. The report records CPU contiguous/strided/reversed cases and CUDA stream/tail checks under the old array/DLPack implementation. Do not transfer these claims to current Pointer adapters or present a four-role evaluation, failure rate, human comparison, or benchmark. The historical source and logs are preserved under mlir/tools/mlir-dsl.</a:t>
            </a:r>
          </a:p>
          <a:p/>
          <a:p>
            <a:r>
              <a:t>SOURCES / PREPARATION</a:t>
            </a:r>
          </a:p>
          <a:p>
            <a:r>
              <a:t>mlir/tools/mlir-dsl/docs/SmokeExercises.md:3</a:t>
            </a:r>
          </a:p>
          <a:p>
            <a:r>
              <a:t>mlir/tools/mlir-dsl/docs/feedback/cpu-output.txt</a:t>
            </a:r>
          </a:p>
          <a:p>
            <a:r>
              <a:t>mlir/tools/mlir-dsl/docs/feedback/cuda-output.txt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Make the state transfer visible</a:t>
            </a:r>
          </a:p>
          <a:p>
            <a:r>
              <a:t>Owner: Presenter</a:t>
            </a:r>
          </a:p>
          <a:p>
            <a:r>
              <a:t>Clock: 25:30–27:30</a:t>
            </a:r>
          </a:p>
          <a:p>
            <a:r>
              <a:t>Target duration: 02:00</a:t>
            </a:r>
          </a:p>
          <a:p/>
          <a:p>
            <a:r>
              <a:t>The explicit program is the current builders.py cumsum example with names shortened; the native one is current cumsum.py. Both were executed, returning 45. Explain the generator builder yields once at trace time; its MLIR loop runs at runtime. Explicit state makes the SSA requirement visible. The AST analyzer collects rebinding and store-base names, then the SCF executor flattens carried leaves, calls the body with block arguments, emits yield, and reconstructs the result. This is the final technical bridge before Amir; no PyIR implementation is introduced here.</a:t>
            </a:r>
          </a:p>
          <a:p/>
          <a:p>
            <a:r>
              <a:t>SOURCES / PREPARATION</a:t>
            </a:r>
          </a:p>
          <a:p>
            <a:r>
              <a:t>mlir/test/python/dsl/builders.py:9</a:t>
            </a:r>
          </a:p>
          <a:p>
            <a:r>
              <a:t>mlir/test/python/dsl/cumsum.py:11</a:t>
            </a:r>
          </a:p>
          <a:p>
            <a:r>
              <a:t>mlir/python/mlir/dsl/frontend/ast_preprocessor.py:1064</a:t>
            </a:r>
          </a:p>
          <a:p>
            <a:r>
              <a:t>mlir/python/mlir/dsl/mlir_dsl/mlir_dsl_ast_decorators.py:415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Which state does the frontend represent?</a:t>
            </a:r>
          </a:p>
          <a:p>
            <a:r>
              <a:t>Owner: Presenter</a:t>
            </a:r>
          </a:p>
          <a:p>
            <a:r>
              <a:t>Clock: 27:30–29:30</a:t>
            </a:r>
          </a:p>
          <a:p>
            <a:r>
              <a:t>Target duration: 02:00</a:t>
            </a:r>
          </a:p>
          <a:p/>
          <a:p>
            <a:r>
              <a:t>Avoid the legacy blanket claim that all list/dict mutation is unsupported. Current tree_utils supports fixed-structure tuple/list/dict/frozen-record containers of registered leaves, and checks joins for stable types/structure. A registered pointer reference leaf is not carried when only its pointee is stored. Rebuilt containers and identity-bearing leaves cannot appear twice in the flattened tree; aliased objects raise CONTAINER_ALIASED_OBJECT. Present these as the current representation boundary. Stop at the problem statement: Amir owns the PyIR idea and all technical content about that approach.</a:t>
            </a:r>
          </a:p>
          <a:p/>
          <a:p>
            <a:r>
              <a:t>SOURCES / PREPARATION</a:t>
            </a:r>
          </a:p>
          <a:p>
            <a:r>
              <a:t>mlir/python/mlir/dsl/util/tree_utils.py:5</a:t>
            </a:r>
          </a:p>
          <a:p>
            <a:r>
              <a:t>mlir/python/mlir/dsl/mlir_dsl/mlir_dsl_ast_decorators.py:185</a:t>
            </a:r>
          </a:p>
          <a:p>
            <a:r>
              <a:t>mlir/python/mlir/dsl/mlir_dsl/mlir_dsl_ast_decorators.py:298</a:t>
            </a:r>
          </a:p>
          <a:p>
            <a:r>
              <a:t>mlir/python/mlir/dsl/core/diagnostics.py:990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From values to mutation</a:t>
            </a:r>
          </a:p>
          <a:p>
            <a:r>
              <a:t>Owner: Presenter</a:t>
            </a:r>
          </a:p>
          <a:p>
            <a:r>
              <a:t>Clock: 29:30–30:00</a:t>
            </a:r>
          </a:p>
          <a:p>
            <a:r>
              <a:t>Target duration: 00:30</a:t>
            </a:r>
          </a:p>
          <a:p/>
          <a:p>
            <a:r>
              <a:t>Handoff wording: We have made runtime values and control-flow state explicit, and we can execute the resulting MLIR. The next question is how a frontend should represent mutation when Python objects carry state and identity. Amir will take that from here and introduce the PyIR idea. Do not add a technical PyIR preview or claim the implementation is in this repository.</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Amir · Mutation and the PyIR idea</a:t>
            </a:r>
          </a:p>
          <a:p>
            <a:r>
              <a:t>Owner: Amir</a:t>
            </a:r>
          </a:p>
          <a:p>
            <a:r>
              <a:t>Clock: 30:00–45:00</a:t>
            </a:r>
          </a:p>
          <a:p>
            <a:r>
              <a:t>Target duration: 15:00</a:t>
            </a:r>
          </a:p>
          <a:p/>
          <a:p>
            <a:r>
              <a:t>Editorial placeholder only. This single marker reserves the complete final 15 minutes. Amir supplies all PyIR material. There is no PyIR implementation in this checkout and no PyIR technical content has been authored for this section.</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ur design principl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Our design principles</a:t>
            </a:r>
          </a:p>
        </p:txBody>
      </p:sp>
      <p:sp>
        <p:nvSpPr>
          <p:cNvPr id="5" name="Building a Python DSL for MLIR"/>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Building a Python DSL for MLIR</a:t>
            </a:r>
          </a:p>
        </p:txBody>
      </p:sp>
      <p:sp>
        <p:nvSpPr>
          <p:cNvPr id="6" name="0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01</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1."/>
          <p:cNvSpPr txBox="1"/>
          <p:nvPr/>
        </p:nvSpPr>
        <p:spPr>
          <a:xfrm>
            <a:off x="502920" y="1645920"/>
            <a:ext cx="411480" cy="420624"/>
          </a:xfrm>
          <a:prstGeom prst="rect">
            <a:avLst/>
          </a:prstGeom>
          <a:noFill/>
        </p:spPr>
        <p:txBody>
          <a:bodyPr wrap="none" anchor="t" lIns="0" rIns="0" tIns="0" bIns="0">
            <a:noAutofit/>
          </a:bodyPr>
          <a:lstStyle/>
          <a:p>
            <a:pPr algn="l">
              <a:lnSpc>
                <a:spcPts val="2204"/>
              </a:lnSpc>
              <a:spcBef>
                <a:spcPts val="0"/>
              </a:spcBef>
              <a:spcAft>
                <a:spcPts val="0"/>
              </a:spcAft>
            </a:pPr>
            <a:r>
              <a:rPr sz="1900" b="1">
                <a:solidFill>
                  <a:srgbClr val="416600"/>
                </a:solidFill>
                <a:latin typeface="NVIDIA Sans"/>
              </a:rPr>
              <a:t>1.</a:t>
            </a:r>
          </a:p>
        </p:txBody>
      </p:sp>
      <p:sp>
        <p:nvSpPr>
          <p:cNvPr id="9" name="Don’t put new meaning on existing Python."/>
          <p:cNvSpPr txBox="1"/>
          <p:nvPr/>
        </p:nvSpPr>
        <p:spPr>
          <a:xfrm>
            <a:off x="1024128" y="1645920"/>
            <a:ext cx="7616952" cy="457200"/>
          </a:xfrm>
          <a:prstGeom prst="rect">
            <a:avLst/>
          </a:prstGeom>
          <a:noFill/>
        </p:spPr>
        <p:txBody>
          <a:bodyPr wrap="none" anchor="t" lIns="0" rIns="0" tIns="0" bIns="0">
            <a:noAutofit/>
          </a:bodyPr>
          <a:lstStyle/>
          <a:p>
            <a:pPr algn="l">
              <a:lnSpc>
                <a:spcPts val="2204"/>
              </a:lnSpc>
              <a:spcBef>
                <a:spcPts val="0"/>
              </a:spcBef>
              <a:spcAft>
                <a:spcPts val="0"/>
              </a:spcAft>
            </a:pPr>
            <a:r>
              <a:rPr sz="1900" b="0">
                <a:solidFill>
                  <a:srgbClr val="000000"/>
                </a:solidFill>
                <a:latin typeface="NVIDIA Sans Light"/>
              </a:rPr>
              <a:t>Don’t put new meaning on existing Python.</a:t>
            </a:r>
          </a:p>
        </p:txBody>
      </p:sp>
      <p:sp>
        <p:nvSpPr>
          <p:cNvPr id="10" name="2."/>
          <p:cNvSpPr txBox="1"/>
          <p:nvPr/>
        </p:nvSpPr>
        <p:spPr>
          <a:xfrm>
            <a:off x="502920" y="2350008"/>
            <a:ext cx="411480" cy="420624"/>
          </a:xfrm>
          <a:prstGeom prst="rect">
            <a:avLst/>
          </a:prstGeom>
          <a:noFill/>
        </p:spPr>
        <p:txBody>
          <a:bodyPr wrap="none" anchor="t" lIns="0" rIns="0" tIns="0" bIns="0">
            <a:noAutofit/>
          </a:bodyPr>
          <a:lstStyle/>
          <a:p>
            <a:pPr algn="l">
              <a:lnSpc>
                <a:spcPts val="2204"/>
              </a:lnSpc>
              <a:spcBef>
                <a:spcPts val="0"/>
              </a:spcBef>
              <a:spcAft>
                <a:spcPts val="0"/>
              </a:spcAft>
            </a:pPr>
            <a:r>
              <a:rPr sz="1900" b="1">
                <a:solidFill>
                  <a:srgbClr val="416600"/>
                </a:solidFill>
                <a:latin typeface="NVIDIA Sans"/>
              </a:rPr>
              <a:t>2.</a:t>
            </a:r>
          </a:p>
        </p:txBody>
      </p:sp>
      <p:sp>
        <p:nvSpPr>
          <p:cNvPr id="11" name="Use Python as the host language; don’t change it."/>
          <p:cNvSpPr txBox="1"/>
          <p:nvPr/>
        </p:nvSpPr>
        <p:spPr>
          <a:xfrm>
            <a:off x="1024128" y="2350008"/>
            <a:ext cx="7616952" cy="457200"/>
          </a:xfrm>
          <a:prstGeom prst="rect">
            <a:avLst/>
          </a:prstGeom>
          <a:noFill/>
        </p:spPr>
        <p:txBody>
          <a:bodyPr wrap="none" anchor="t" lIns="0" rIns="0" tIns="0" bIns="0">
            <a:noAutofit/>
          </a:bodyPr>
          <a:lstStyle/>
          <a:p>
            <a:pPr algn="l">
              <a:lnSpc>
                <a:spcPts val="2204"/>
              </a:lnSpc>
              <a:spcBef>
                <a:spcPts val="0"/>
              </a:spcBef>
              <a:spcAft>
                <a:spcPts val="0"/>
              </a:spcAft>
            </a:pPr>
            <a:r>
              <a:rPr sz="1900" b="0">
                <a:solidFill>
                  <a:srgbClr val="000000"/>
                </a:solidFill>
                <a:latin typeface="NVIDIA Sans Light"/>
              </a:rPr>
              <a:t>Use Python as the host language; don’t change it.</a:t>
            </a:r>
          </a:p>
        </p:txBody>
      </p:sp>
      <p:sp>
        <p:nvSpPr>
          <p:cNvPr id="12" name="3."/>
          <p:cNvSpPr txBox="1"/>
          <p:nvPr/>
        </p:nvSpPr>
        <p:spPr>
          <a:xfrm>
            <a:off x="502920" y="3054096"/>
            <a:ext cx="411480" cy="420624"/>
          </a:xfrm>
          <a:prstGeom prst="rect">
            <a:avLst/>
          </a:prstGeom>
          <a:noFill/>
        </p:spPr>
        <p:txBody>
          <a:bodyPr wrap="none" anchor="t" lIns="0" rIns="0" tIns="0" bIns="0">
            <a:noAutofit/>
          </a:bodyPr>
          <a:lstStyle/>
          <a:p>
            <a:pPr algn="l">
              <a:lnSpc>
                <a:spcPts val="2204"/>
              </a:lnSpc>
              <a:spcBef>
                <a:spcPts val="0"/>
              </a:spcBef>
              <a:spcAft>
                <a:spcPts val="0"/>
              </a:spcAft>
            </a:pPr>
            <a:r>
              <a:rPr sz="1900" b="1">
                <a:solidFill>
                  <a:srgbClr val="416600"/>
                </a:solidFill>
                <a:latin typeface="NVIDIA Sans"/>
              </a:rPr>
              <a:t>3.</a:t>
            </a:r>
          </a:p>
        </p:txBody>
      </p:sp>
      <p:sp>
        <p:nvSpPr>
          <p:cNvPr id="13" name="Use Python as an MLIR generator."/>
          <p:cNvSpPr txBox="1"/>
          <p:nvPr/>
        </p:nvSpPr>
        <p:spPr>
          <a:xfrm>
            <a:off x="1024128" y="3054096"/>
            <a:ext cx="7616952" cy="457200"/>
          </a:xfrm>
          <a:prstGeom prst="rect">
            <a:avLst/>
          </a:prstGeom>
          <a:noFill/>
        </p:spPr>
        <p:txBody>
          <a:bodyPr wrap="none" anchor="t" lIns="0" rIns="0" tIns="0" bIns="0">
            <a:noAutofit/>
          </a:bodyPr>
          <a:lstStyle/>
          <a:p>
            <a:pPr algn="l">
              <a:lnSpc>
                <a:spcPts val="2204"/>
              </a:lnSpc>
              <a:spcBef>
                <a:spcPts val="0"/>
              </a:spcBef>
              <a:spcAft>
                <a:spcPts val="0"/>
              </a:spcAft>
            </a:pPr>
            <a:r>
              <a:rPr sz="1900" b="0">
                <a:solidFill>
                  <a:srgbClr val="000000"/>
                </a:solidFill>
                <a:latin typeface="NVIDIA Sans Light"/>
              </a:rPr>
              <a:t>Use Python as an MLIR generator.</a:t>
            </a:r>
          </a:p>
        </p:txBody>
      </p:sp>
      <p:sp>
        <p:nvSpPr>
          <p:cNvPr id="14" name="This leads to multi-stage programming."/>
          <p:cNvSpPr txBox="1"/>
          <p:nvPr/>
        </p:nvSpPr>
        <p:spPr>
          <a:xfrm>
            <a:off x="484632" y="4050791"/>
            <a:ext cx="8202168" cy="41148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416600"/>
                </a:solidFill>
                <a:latin typeface="NVIDIA Sans"/>
              </a:rPr>
              <a:t>This leads to multi-stage programming.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multi-stage programming?</a:t>
            </a:r>
          </a:p>
        </p:txBody>
      </p:sp>
      <p:sp>
        <p:nvSpPr>
          <p:cNvPr id="5" name="Run a program to generate the next program."/>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Run a program to generate the next program.</a:t>
            </a:r>
          </a:p>
        </p:txBody>
      </p:sp>
      <p:sp>
        <p:nvSpPr>
          <p:cNvPr id="6" name="0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02</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Traditional compiler"/>
          <p:cNvSpPr txBox="1"/>
          <p:nvPr/>
        </p:nvSpPr>
        <p:spPr>
          <a:xfrm>
            <a:off x="457200" y="134416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Traditional compiler</a:t>
            </a:r>
          </a:p>
        </p:txBody>
      </p:sp>
      <p:sp>
        <p:nvSpPr>
          <p:cNvPr id="9" name="Rectangle 8"/>
          <p:cNvSpPr/>
          <p:nvPr/>
        </p:nvSpPr>
        <p:spPr>
          <a:xfrm>
            <a:off x="758952" y="1627632"/>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10" name="Connector 9"/>
          <p:cNvCxnSpPr/>
          <p:nvPr/>
        </p:nvCxnSpPr>
        <p:spPr>
          <a:xfrm>
            <a:off x="932688" y="1627632"/>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2688" y="1723644"/>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32688" y="1627632"/>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13" name="&lt;/&gt;"/>
          <p:cNvSpPr txBox="1"/>
          <p:nvPr/>
        </p:nvSpPr>
        <p:spPr>
          <a:xfrm>
            <a:off x="779068" y="177393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14" name="source.cpp"/>
          <p:cNvSpPr txBox="1"/>
          <p:nvPr/>
        </p:nvSpPr>
        <p:spPr>
          <a:xfrm>
            <a:off x="164591" y="2039112"/>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15" name="Connector 14"/>
          <p:cNvCxnSpPr/>
          <p:nvPr/>
        </p:nvCxnSpPr>
        <p:spPr>
          <a:xfrm>
            <a:off x="1143000"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6" name="Gear 6 15"/>
          <p:cNvSpPr/>
          <p:nvPr/>
        </p:nvSpPr>
        <p:spPr>
          <a:xfrm>
            <a:off x="2564892" y="1627632"/>
            <a:ext cx="356616" cy="356616"/>
          </a:xfrm>
          <a:prstGeom prst="gear6">
            <a:avLst/>
          </a:prstGeom>
          <a:solidFill>
            <a:srgbClr val="F7F7F7"/>
          </a:solidFill>
          <a:ln w="11430">
            <a:solidFill>
              <a:srgbClr val="616161"/>
            </a:solidFill>
          </a:ln>
          <a:effectLst/>
        </p:spPr>
        <p:txBody>
          <a:bodyPr rtlCol="0" anchor="ctr"/>
          <a:lstStyle/>
          <a:p>
            <a:pPr algn="ctr"/>
          </a:p>
        </p:txBody>
      </p:sp>
      <p:sp>
        <p:nvSpPr>
          <p:cNvPr id="17" name="compiler"/>
          <p:cNvSpPr txBox="1"/>
          <p:nvPr/>
        </p:nvSpPr>
        <p:spPr>
          <a:xfrm>
            <a:off x="2011680"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18" name="Connector 17"/>
          <p:cNvCxnSpPr/>
          <p:nvPr/>
        </p:nvCxnSpPr>
        <p:spPr>
          <a:xfrm>
            <a:off x="2990088"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453127" y="166420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20" name="Connector 19"/>
          <p:cNvCxnSpPr/>
          <p:nvPr/>
        </p:nvCxnSpPr>
        <p:spPr>
          <a:xfrm>
            <a:off x="4517136"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517136"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416551"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727448"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90288"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590288"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16551"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727448"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663440"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663440"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16551"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727448"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2" name="01"/>
          <p:cNvSpPr txBox="1"/>
          <p:nvPr/>
        </p:nvSpPr>
        <p:spPr>
          <a:xfrm>
            <a:off x="4471416" y="173736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33" name="binary"/>
          <p:cNvSpPr txBox="1"/>
          <p:nvPr/>
        </p:nvSpPr>
        <p:spPr>
          <a:xfrm>
            <a:off x="3858768"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sp>
        <p:nvSpPr>
          <p:cNvPr id="34" name="Multi-stage compilers"/>
          <p:cNvSpPr txBox="1"/>
          <p:nvPr/>
        </p:nvSpPr>
        <p:spPr>
          <a:xfrm>
            <a:off x="457200" y="230428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Multi-stage compilers</a:t>
            </a:r>
          </a:p>
        </p:txBody>
      </p:sp>
      <p:sp>
        <p:nvSpPr>
          <p:cNvPr id="35" name="Rectangle 34"/>
          <p:cNvSpPr/>
          <p:nvPr/>
        </p:nvSpPr>
        <p:spPr>
          <a:xfrm>
            <a:off x="758952" y="2615184"/>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36" name="Connector 35"/>
          <p:cNvCxnSpPr/>
          <p:nvPr/>
        </p:nvCxnSpPr>
        <p:spPr>
          <a:xfrm>
            <a:off x="932688" y="2615184"/>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2688" y="2711196"/>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32688" y="2615184"/>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9" name="&lt;/&gt;"/>
          <p:cNvSpPr txBox="1"/>
          <p:nvPr/>
        </p:nvSpPr>
        <p:spPr>
          <a:xfrm>
            <a:off x="779068" y="2761488"/>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40" name="source.cpp"/>
          <p:cNvSpPr txBox="1"/>
          <p:nvPr/>
        </p:nvSpPr>
        <p:spPr>
          <a:xfrm>
            <a:off x="434340" y="3026664"/>
            <a:ext cx="92354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41" name="Connector 40"/>
          <p:cNvCxnSpPr/>
          <p:nvPr/>
        </p:nvCxnSpPr>
        <p:spPr>
          <a:xfrm>
            <a:off x="1143000" y="2788920"/>
            <a:ext cx="425195"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2" name="Gear 6 41"/>
          <p:cNvSpPr/>
          <p:nvPr/>
        </p:nvSpPr>
        <p:spPr>
          <a:xfrm>
            <a:off x="1636775" y="2615184"/>
            <a:ext cx="356616" cy="356616"/>
          </a:xfrm>
          <a:prstGeom prst="gear6">
            <a:avLst/>
          </a:prstGeom>
          <a:solidFill>
            <a:srgbClr val="F7F7F7"/>
          </a:solidFill>
          <a:ln w="11430">
            <a:solidFill>
              <a:srgbClr val="616161"/>
            </a:solidFill>
          </a:ln>
          <a:effectLst/>
        </p:spPr>
        <p:txBody>
          <a:bodyPr rtlCol="0" anchor="ctr"/>
          <a:lstStyle/>
          <a:p>
            <a:pPr algn="ctr"/>
          </a:p>
        </p:txBody>
      </p:sp>
      <p:sp>
        <p:nvSpPr>
          <p:cNvPr id="43" name="compiler"/>
          <p:cNvSpPr txBox="1"/>
          <p:nvPr/>
        </p:nvSpPr>
        <p:spPr>
          <a:xfrm>
            <a:off x="1353312" y="3026664"/>
            <a:ext cx="92354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44" name="Connector 43"/>
          <p:cNvCxnSpPr/>
          <p:nvPr/>
        </p:nvCxnSpPr>
        <p:spPr>
          <a:xfrm>
            <a:off x="2061972" y="2788920"/>
            <a:ext cx="425196"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2596896" y="2651760"/>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46" name="Connector 45"/>
          <p:cNvCxnSpPr/>
          <p:nvPr/>
        </p:nvCxnSpPr>
        <p:spPr>
          <a:xfrm>
            <a:off x="2660903"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660903"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560320"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2871215"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734056"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734056"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560320"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871215"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2807208"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2807208"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2560320"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2871215"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58" name="01"/>
          <p:cNvSpPr txBox="1"/>
          <p:nvPr/>
        </p:nvSpPr>
        <p:spPr>
          <a:xfrm>
            <a:off x="2615184" y="2724912"/>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59" name="binary"/>
          <p:cNvSpPr txBox="1"/>
          <p:nvPr/>
        </p:nvSpPr>
        <p:spPr>
          <a:xfrm>
            <a:off x="2272284" y="3026664"/>
            <a:ext cx="92354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cxnSp>
        <p:nvCxnSpPr>
          <p:cNvPr id="60" name="Connector 59"/>
          <p:cNvCxnSpPr/>
          <p:nvPr/>
        </p:nvCxnSpPr>
        <p:spPr>
          <a:xfrm>
            <a:off x="2980944" y="2788920"/>
            <a:ext cx="425195"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1" name="run / generate"/>
          <p:cNvSpPr txBox="1"/>
          <p:nvPr/>
        </p:nvSpPr>
        <p:spPr>
          <a:xfrm>
            <a:off x="2727198" y="2386584"/>
            <a:ext cx="932688" cy="182880"/>
          </a:xfrm>
          <a:prstGeom prst="rect">
            <a:avLst/>
          </a:prstGeom>
          <a:noFill/>
        </p:spPr>
        <p:txBody>
          <a:bodyPr wrap="none" anchor="t" lIns="0" rIns="0" tIns="0" bIns="0">
            <a:noAutofit/>
          </a:bodyPr>
          <a:lstStyle/>
          <a:p>
            <a:pPr algn="ctr">
              <a:lnSpc>
                <a:spcPts val="986"/>
              </a:lnSpc>
              <a:spcBef>
                <a:spcPts val="0"/>
              </a:spcBef>
              <a:spcAft>
                <a:spcPts val="0"/>
              </a:spcAft>
            </a:pPr>
            <a:r>
              <a:rPr sz="850" b="0">
                <a:solidFill>
                  <a:srgbClr val="416600"/>
                </a:solidFill>
                <a:latin typeface="NVIDIA Sans"/>
              </a:rPr>
              <a:t>run / generate</a:t>
            </a:r>
          </a:p>
        </p:txBody>
      </p:sp>
      <p:sp>
        <p:nvSpPr>
          <p:cNvPr id="62" name="Rectangle 61"/>
          <p:cNvSpPr/>
          <p:nvPr/>
        </p:nvSpPr>
        <p:spPr>
          <a:xfrm>
            <a:off x="3515868" y="2615184"/>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63" name="Connector 62"/>
          <p:cNvCxnSpPr/>
          <p:nvPr/>
        </p:nvCxnSpPr>
        <p:spPr>
          <a:xfrm>
            <a:off x="3689603" y="2615184"/>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689603" y="2711196"/>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3689603" y="2615184"/>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66" name="&lt;/&gt;"/>
          <p:cNvSpPr txBox="1"/>
          <p:nvPr/>
        </p:nvSpPr>
        <p:spPr>
          <a:xfrm>
            <a:off x="3535984" y="2761488"/>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67" name="source.cpp"/>
          <p:cNvSpPr txBox="1"/>
          <p:nvPr/>
        </p:nvSpPr>
        <p:spPr>
          <a:xfrm>
            <a:off x="3191256" y="3026664"/>
            <a:ext cx="92354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68" name="Connector 67"/>
          <p:cNvCxnSpPr/>
          <p:nvPr/>
        </p:nvCxnSpPr>
        <p:spPr>
          <a:xfrm>
            <a:off x="3899915" y="2788920"/>
            <a:ext cx="425197"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69" name="Gear 6 68"/>
          <p:cNvSpPr/>
          <p:nvPr/>
        </p:nvSpPr>
        <p:spPr>
          <a:xfrm>
            <a:off x="4393692" y="2615184"/>
            <a:ext cx="356616" cy="356616"/>
          </a:xfrm>
          <a:prstGeom prst="gear6">
            <a:avLst/>
          </a:prstGeom>
          <a:solidFill>
            <a:srgbClr val="F7F7F7"/>
          </a:solidFill>
          <a:ln w="11430">
            <a:solidFill>
              <a:srgbClr val="616161"/>
            </a:solidFill>
          </a:ln>
          <a:effectLst/>
        </p:spPr>
        <p:txBody>
          <a:bodyPr rtlCol="0" anchor="ctr"/>
          <a:lstStyle/>
          <a:p>
            <a:pPr algn="ctr"/>
          </a:p>
        </p:txBody>
      </p:sp>
      <p:sp>
        <p:nvSpPr>
          <p:cNvPr id="70" name="compiler"/>
          <p:cNvSpPr txBox="1"/>
          <p:nvPr/>
        </p:nvSpPr>
        <p:spPr>
          <a:xfrm>
            <a:off x="4110228" y="3026664"/>
            <a:ext cx="92354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71" name="Connector 70"/>
          <p:cNvCxnSpPr/>
          <p:nvPr/>
        </p:nvCxnSpPr>
        <p:spPr>
          <a:xfrm>
            <a:off x="4818888" y="2788920"/>
            <a:ext cx="425195"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5353811" y="2651760"/>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73" name="Connector 72"/>
          <p:cNvCxnSpPr/>
          <p:nvPr/>
        </p:nvCxnSpPr>
        <p:spPr>
          <a:xfrm>
            <a:off x="5417819"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5417819"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5317235"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5628131"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5490971"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5490971"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5317235"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5628131"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5564123"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5564123"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317235"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628131"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85" name="01"/>
          <p:cNvSpPr txBox="1"/>
          <p:nvPr/>
        </p:nvSpPr>
        <p:spPr>
          <a:xfrm>
            <a:off x="5372099" y="2724912"/>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86" name="binary"/>
          <p:cNvSpPr txBox="1"/>
          <p:nvPr/>
        </p:nvSpPr>
        <p:spPr>
          <a:xfrm>
            <a:off x="5029199" y="3026664"/>
            <a:ext cx="92354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cxnSp>
        <p:nvCxnSpPr>
          <p:cNvPr id="87" name="Connector 86"/>
          <p:cNvCxnSpPr/>
          <p:nvPr/>
        </p:nvCxnSpPr>
        <p:spPr>
          <a:xfrm>
            <a:off x="5737859" y="2788920"/>
            <a:ext cx="425197"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8" name="run / generate"/>
          <p:cNvSpPr txBox="1"/>
          <p:nvPr/>
        </p:nvSpPr>
        <p:spPr>
          <a:xfrm>
            <a:off x="5484114" y="2386584"/>
            <a:ext cx="932688" cy="182880"/>
          </a:xfrm>
          <a:prstGeom prst="rect">
            <a:avLst/>
          </a:prstGeom>
          <a:noFill/>
        </p:spPr>
        <p:txBody>
          <a:bodyPr wrap="none" anchor="t" lIns="0" rIns="0" tIns="0" bIns="0">
            <a:noAutofit/>
          </a:bodyPr>
          <a:lstStyle/>
          <a:p>
            <a:pPr algn="ctr">
              <a:lnSpc>
                <a:spcPts val="986"/>
              </a:lnSpc>
              <a:spcBef>
                <a:spcPts val="0"/>
              </a:spcBef>
              <a:spcAft>
                <a:spcPts val="0"/>
              </a:spcAft>
            </a:pPr>
            <a:r>
              <a:rPr sz="850" b="0">
                <a:solidFill>
                  <a:srgbClr val="416600"/>
                </a:solidFill>
                <a:latin typeface="NVIDIA Sans"/>
              </a:rPr>
              <a:t>run / generate</a:t>
            </a:r>
          </a:p>
        </p:txBody>
      </p:sp>
      <p:sp>
        <p:nvSpPr>
          <p:cNvPr id="89" name="Rectangle 88"/>
          <p:cNvSpPr/>
          <p:nvPr/>
        </p:nvSpPr>
        <p:spPr>
          <a:xfrm>
            <a:off x="6272783" y="2615184"/>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90" name="Connector 89"/>
          <p:cNvCxnSpPr/>
          <p:nvPr/>
        </p:nvCxnSpPr>
        <p:spPr>
          <a:xfrm>
            <a:off x="6446520" y="2615184"/>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6446520" y="2711196"/>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6446520" y="2615184"/>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93" name="&lt;/&gt;"/>
          <p:cNvSpPr txBox="1"/>
          <p:nvPr/>
        </p:nvSpPr>
        <p:spPr>
          <a:xfrm>
            <a:off x="6292900" y="2761488"/>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94" name="source.cpp"/>
          <p:cNvSpPr txBox="1"/>
          <p:nvPr/>
        </p:nvSpPr>
        <p:spPr>
          <a:xfrm>
            <a:off x="5948172" y="3026664"/>
            <a:ext cx="92354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95" name="Connector 94"/>
          <p:cNvCxnSpPr/>
          <p:nvPr/>
        </p:nvCxnSpPr>
        <p:spPr>
          <a:xfrm>
            <a:off x="6656831" y="2788920"/>
            <a:ext cx="425196"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96" name="Gear 6 95"/>
          <p:cNvSpPr/>
          <p:nvPr/>
        </p:nvSpPr>
        <p:spPr>
          <a:xfrm>
            <a:off x="7150607" y="2615184"/>
            <a:ext cx="356616" cy="356616"/>
          </a:xfrm>
          <a:prstGeom prst="gear6">
            <a:avLst/>
          </a:prstGeom>
          <a:solidFill>
            <a:srgbClr val="F7F7F7"/>
          </a:solidFill>
          <a:ln w="11430">
            <a:solidFill>
              <a:srgbClr val="616161"/>
            </a:solidFill>
          </a:ln>
          <a:effectLst/>
        </p:spPr>
        <p:txBody>
          <a:bodyPr rtlCol="0" anchor="ctr"/>
          <a:lstStyle/>
          <a:p>
            <a:pPr algn="ctr"/>
          </a:p>
        </p:txBody>
      </p:sp>
      <p:sp>
        <p:nvSpPr>
          <p:cNvPr id="97" name="compiler"/>
          <p:cNvSpPr txBox="1"/>
          <p:nvPr/>
        </p:nvSpPr>
        <p:spPr>
          <a:xfrm>
            <a:off x="6867143" y="3026664"/>
            <a:ext cx="92354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98" name="Connector 97"/>
          <p:cNvCxnSpPr/>
          <p:nvPr/>
        </p:nvCxnSpPr>
        <p:spPr>
          <a:xfrm>
            <a:off x="7575803" y="2788920"/>
            <a:ext cx="425197"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8110727" y="2651760"/>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100" name="Connector 99"/>
          <p:cNvCxnSpPr/>
          <p:nvPr/>
        </p:nvCxnSpPr>
        <p:spPr>
          <a:xfrm>
            <a:off x="8174736"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174736"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074152" y="2715768"/>
            <a:ext cx="36575"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8385048"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8247888"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8247888"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8074152" y="2788920"/>
            <a:ext cx="36575"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8385048"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8321040"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8321040"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8074152" y="2862072"/>
            <a:ext cx="36575"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8385048"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112" name="01"/>
          <p:cNvSpPr txBox="1"/>
          <p:nvPr/>
        </p:nvSpPr>
        <p:spPr>
          <a:xfrm>
            <a:off x="8129015" y="2724912"/>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113" name="binary"/>
          <p:cNvSpPr txBox="1"/>
          <p:nvPr/>
        </p:nvSpPr>
        <p:spPr>
          <a:xfrm>
            <a:off x="7786115" y="3026664"/>
            <a:ext cx="92354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cxnSp>
        <p:nvCxnSpPr>
          <p:cNvPr id="114" name="Connector 113"/>
          <p:cNvCxnSpPr/>
          <p:nvPr/>
        </p:nvCxnSpPr>
        <p:spPr>
          <a:xfrm>
            <a:off x="8494776" y="2788920"/>
            <a:ext cx="301752"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8796528"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a:off x="384048" y="3310128"/>
            <a:ext cx="841248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84048"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384048" y="2788920"/>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9" name="… repeat as needed"/>
          <p:cNvSpPr txBox="1"/>
          <p:nvPr/>
        </p:nvSpPr>
        <p:spPr>
          <a:xfrm>
            <a:off x="3337560" y="3374136"/>
            <a:ext cx="2468880" cy="210312"/>
          </a:xfrm>
          <a:prstGeom prst="rect">
            <a:avLst/>
          </a:prstGeom>
          <a:noFill/>
        </p:spPr>
        <p:txBody>
          <a:bodyPr wrap="none" anchor="t" lIns="0" rIns="0" tIns="0" bIns="0">
            <a:noAutofit/>
          </a:bodyPr>
          <a:lstStyle/>
          <a:p>
            <a:pPr algn="ctr">
              <a:lnSpc>
                <a:spcPts val="1102"/>
              </a:lnSpc>
              <a:spcBef>
                <a:spcPts val="0"/>
              </a:spcBef>
              <a:spcAft>
                <a:spcPts val="0"/>
              </a:spcAft>
            </a:pPr>
            <a:r>
              <a:rPr sz="950" b="0">
                <a:solidFill>
                  <a:srgbClr val="416600"/>
                </a:solidFill>
                <a:latin typeface="NVIDIA Sans"/>
              </a:rPr>
              <a:t>… repeat as needed</a:t>
            </a:r>
          </a:p>
        </p:txBody>
      </p:sp>
      <p:sp>
        <p:nvSpPr>
          <p:cNvPr id="120" name="In our case"/>
          <p:cNvSpPr txBox="1"/>
          <p:nvPr/>
        </p:nvSpPr>
        <p:spPr>
          <a:xfrm>
            <a:off x="457200" y="3602736"/>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 our case</a:t>
            </a:r>
          </a:p>
        </p:txBody>
      </p:sp>
      <p:sp>
        <p:nvSpPr>
          <p:cNvPr id="121" name="Rectangle 120"/>
          <p:cNvSpPr/>
          <p:nvPr/>
        </p:nvSpPr>
        <p:spPr>
          <a:xfrm>
            <a:off x="758952"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122" name="Connector 121"/>
          <p:cNvCxnSpPr/>
          <p:nvPr/>
        </p:nvCxnSpPr>
        <p:spPr>
          <a:xfrm>
            <a:off x="932688"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932688" y="3982212"/>
            <a:ext cx="100583"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932688" y="3886200"/>
            <a:ext cx="100583"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25" name="&lt;/&gt;"/>
          <p:cNvSpPr txBox="1"/>
          <p:nvPr/>
        </p:nvSpPr>
        <p:spPr>
          <a:xfrm>
            <a:off x="779068"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126" name="source.py"/>
          <p:cNvSpPr txBox="1"/>
          <p:nvPr/>
        </p:nvSpPr>
        <p:spPr>
          <a:xfrm>
            <a:off x="164591"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source.py</a:t>
            </a:r>
          </a:p>
        </p:txBody>
      </p:sp>
      <p:cxnSp>
        <p:nvCxnSpPr>
          <p:cNvPr id="127" name="Connector 126"/>
          <p:cNvCxnSpPr/>
          <p:nvPr/>
        </p:nvCxnSpPr>
        <p:spPr>
          <a:xfrm>
            <a:off x="1143000"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28" name="Gear 6 127"/>
          <p:cNvSpPr/>
          <p:nvPr/>
        </p:nvSpPr>
        <p:spPr>
          <a:xfrm>
            <a:off x="2555748"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129" name="Python / interpreter"/>
          <p:cNvSpPr txBox="1"/>
          <p:nvPr/>
        </p:nvSpPr>
        <p:spPr>
          <a:xfrm>
            <a:off x="2002535"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Python</a:t>
            </a:r>
          </a:p>
          <a:p>
            <a:pPr algn="ctr">
              <a:lnSpc>
                <a:spcPts val="1218"/>
              </a:lnSpc>
              <a:spcBef>
                <a:spcPts val="0"/>
              </a:spcBef>
              <a:spcAft>
                <a:spcPts val="0"/>
              </a:spcAft>
            </a:pPr>
            <a:r>
              <a:rPr sz="1050" b="0">
                <a:solidFill>
                  <a:srgbClr val="416600"/>
                </a:solidFill>
                <a:latin typeface="NVIDIA Sans"/>
              </a:rPr>
              <a:t>interpreter</a:t>
            </a:r>
          </a:p>
        </p:txBody>
      </p:sp>
      <p:cxnSp>
        <p:nvCxnSpPr>
          <p:cNvPr id="130" name="Connector 129"/>
          <p:cNvCxnSpPr/>
          <p:nvPr/>
        </p:nvCxnSpPr>
        <p:spPr>
          <a:xfrm>
            <a:off x="2980944"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1" name="Rectangle 130"/>
          <p:cNvSpPr/>
          <p:nvPr/>
        </p:nvSpPr>
        <p:spPr>
          <a:xfrm>
            <a:off x="4434840"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132" name="Connector 131"/>
          <p:cNvCxnSpPr/>
          <p:nvPr/>
        </p:nvCxnSpPr>
        <p:spPr>
          <a:xfrm>
            <a:off x="4608576"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4608576" y="39822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4608576" y="38862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35" name="&lt;/&gt;"/>
          <p:cNvSpPr txBox="1"/>
          <p:nvPr/>
        </p:nvSpPr>
        <p:spPr>
          <a:xfrm>
            <a:off x="4454956"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136" name="*.mlir"/>
          <p:cNvSpPr txBox="1"/>
          <p:nvPr/>
        </p:nvSpPr>
        <p:spPr>
          <a:xfrm>
            <a:off x="3840480"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a:t>
            </a:r>
          </a:p>
        </p:txBody>
      </p:sp>
      <p:cxnSp>
        <p:nvCxnSpPr>
          <p:cNvPr id="137" name="Connector 136"/>
          <p:cNvCxnSpPr/>
          <p:nvPr/>
        </p:nvCxnSpPr>
        <p:spPr>
          <a:xfrm>
            <a:off x="4818888"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8" name="Gear 6 137"/>
          <p:cNvSpPr/>
          <p:nvPr/>
        </p:nvSpPr>
        <p:spPr>
          <a:xfrm>
            <a:off x="6231636"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139" name="mlir-opt"/>
          <p:cNvSpPr txBox="1"/>
          <p:nvPr/>
        </p:nvSpPr>
        <p:spPr>
          <a:xfrm>
            <a:off x="5678424"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mlir-opt</a:t>
            </a:r>
          </a:p>
        </p:txBody>
      </p:sp>
      <p:cxnSp>
        <p:nvCxnSpPr>
          <p:cNvPr id="140" name="Connector 139"/>
          <p:cNvCxnSpPr/>
          <p:nvPr/>
        </p:nvCxnSpPr>
        <p:spPr>
          <a:xfrm>
            <a:off x="6656831" y="4059936"/>
            <a:ext cx="134416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41" name="Rectangle 140"/>
          <p:cNvSpPr/>
          <p:nvPr/>
        </p:nvSpPr>
        <p:spPr>
          <a:xfrm>
            <a:off x="8110727" y="3922776"/>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142" name="Connector 141"/>
          <p:cNvCxnSpPr/>
          <p:nvPr/>
        </p:nvCxnSpPr>
        <p:spPr>
          <a:xfrm>
            <a:off x="8174736"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8174736"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8074152" y="3986784"/>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8385048" y="39867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8247888"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8247888"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8074152" y="4059936"/>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8385048" y="4059936"/>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8321040"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8321040"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8074152" y="4133088"/>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8385048" y="4133088"/>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54" name="01"/>
          <p:cNvSpPr txBox="1"/>
          <p:nvPr/>
        </p:nvSpPr>
        <p:spPr>
          <a:xfrm>
            <a:off x="8129015" y="3995928"/>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155" name="binary"/>
          <p:cNvSpPr txBox="1"/>
          <p:nvPr/>
        </p:nvSpPr>
        <p:spPr>
          <a:xfrm>
            <a:off x="7516367"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binary</a:t>
            </a:r>
          </a:p>
        </p:txBody>
      </p:sp>
      <p:sp>
        <p:nvSpPr>
          <p:cNvPr id="156" name="LLVM codegen / JIT"/>
          <p:cNvSpPr txBox="1"/>
          <p:nvPr/>
        </p:nvSpPr>
        <p:spPr>
          <a:xfrm>
            <a:off x="6542532" y="3721608"/>
            <a:ext cx="1572768" cy="192024"/>
          </a:xfrm>
          <a:prstGeom prst="rect">
            <a:avLst/>
          </a:prstGeom>
          <a:noFill/>
        </p:spPr>
        <p:txBody>
          <a:bodyPr wrap="none" anchor="t" lIns="0" rIns="0" tIns="0" bIns="0">
            <a:noAutofit/>
          </a:bodyPr>
          <a:lstStyle/>
          <a:p>
            <a:pPr algn="ctr">
              <a:lnSpc>
                <a:spcPts val="1044"/>
              </a:lnSpc>
              <a:spcBef>
                <a:spcPts val="0"/>
              </a:spcBef>
              <a:spcAft>
                <a:spcPts val="0"/>
              </a:spcAft>
            </a:pPr>
            <a:r>
              <a:rPr sz="900" b="0">
                <a:solidFill>
                  <a:srgbClr val="416600"/>
                </a:solidFill>
                <a:latin typeface="NVIDIA Sans"/>
              </a:rPr>
              <a:t>LLVM codegen / JIT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lir.dsl: our tutorial implementat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mlir.dsl: our tutorial implementation</a:t>
            </a:r>
          </a:p>
        </p:txBody>
      </p:sp>
      <p:sp>
        <p:nvSpPr>
          <p:cNvPr id="5" name="A reusable Python frontend that puts these principles into practic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 reusable Python frontend that puts these principles into practice.</a:t>
            </a:r>
          </a:p>
        </p:txBody>
      </p:sp>
      <p:sp>
        <p:nvSpPr>
          <p:cNvPr id="6" name="0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03</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We will follow a Python function through generation, compilation, and execution."/>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We will follow a Python function through generation, compilation, and execution.</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Python generates MLIR through mlir.dsl"/>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Python generates MLIR through mlir.dsl</a:t>
            </a:r>
          </a:p>
        </p:txBody>
      </p:sp>
      <p:sp>
        <p:nvSpPr>
          <p:cNvPr id="11" name="import mlir.dsl as m"/>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import mlir.dsl as m</a:t>
            </a:r>
          </a:p>
        </p:txBody>
      </p:sp>
      <p:sp>
        <p:nvSpPr>
          <p:cNvPr id="12"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m.ji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4" name="def scale(x: m.Int32, factor) -&gt; m.Int32:"/>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scale(x: m.Int32, factor) -&gt; m.Int32:</a:t>
            </a:r>
          </a:p>
        </p:txBody>
      </p:sp>
      <p:sp>
        <p:nvSpPr>
          <p:cNvPr id="15" name="    return x * factor"/>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factor</a:t>
            </a:r>
          </a:p>
        </p:txBody>
      </p:sp>
      <p:sp>
        <p:nvSpPr>
          <p:cNvPr id="16"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scale(4, 3)  # 1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scale(4, 3)  # 12</a:t>
            </a:r>
          </a:p>
        </p:txBody>
      </p:sp>
      <p:sp>
        <p:nvSpPr>
          <p:cNvPr id="18" name="Trace, lower, execut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Trace, lower, execute</a:t>
            </a:r>
          </a:p>
        </p:txBody>
      </p:sp>
      <p:sp>
        <p:nvSpPr>
          <p:cNvPr id="19" name="Trace values and control flow. / Lower MLIR and run compiled cod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 values and control flow.</a:t>
            </a:r>
          </a:p>
          <a:p>
            <a:pPr algn="l">
              <a:lnSpc>
                <a:spcPts val="1391"/>
              </a:lnSpc>
              <a:spcBef>
                <a:spcPts val="0"/>
              </a:spcBef>
              <a:spcAft>
                <a:spcPts val="0"/>
              </a:spcAft>
            </a:pPr>
            <a:r>
              <a:rPr sz="1200" b="0">
                <a:solidFill>
                  <a:srgbClr val="616161"/>
                </a:solidFill>
                <a:latin typeface="NVIDIA Sans"/>
              </a:rPr>
              <a:t>Lower MLIR and run compiled code.</a:t>
            </a:r>
          </a:p>
        </p:txBody>
      </p:sp>
      <p:sp>
        <p:nvSpPr>
          <p:cNvPr id="20" name="Build on the same cor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Build on the same core</a:t>
            </a:r>
          </a:p>
        </p:txBody>
      </p:sp>
      <p:sp>
        <p:nvSpPr>
          <p:cNvPr id="21" name="Share diagnostics and caching. / Extend the dialects and target path / for each sub-DSL."/>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Share diagnostics and caching.</a:t>
            </a:r>
          </a:p>
          <a:p>
            <a:pPr algn="l">
              <a:lnSpc>
                <a:spcPts val="1391"/>
              </a:lnSpc>
              <a:spcBef>
                <a:spcPts val="0"/>
              </a:spcBef>
              <a:spcAft>
                <a:spcPts val="0"/>
              </a:spcAft>
            </a:pPr>
            <a:r>
              <a:rPr sz="1200" b="0">
                <a:solidFill>
                  <a:srgbClr val="616161"/>
                </a:solidFill>
                <a:latin typeface="NVIDIA Sans"/>
              </a:rPr>
              <a:t>Extend the dialects and target path</a:t>
            </a:r>
          </a:p>
          <a:p>
            <a:pPr algn="l">
              <a:lnSpc>
                <a:spcPts val="1391"/>
              </a:lnSpc>
              <a:spcBef>
                <a:spcPts val="0"/>
              </a:spcBef>
              <a:spcAft>
                <a:spcPts val="0"/>
              </a:spcAft>
            </a:pPr>
            <a:r>
              <a:rPr sz="1200" b="0">
                <a:solidFill>
                  <a:srgbClr val="616161"/>
                </a:solidFill>
                <a:latin typeface="NVIDIA Sans"/>
              </a:rPr>
              <a:t>for each sub-DSL.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gend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Agenda</a:t>
            </a:r>
          </a:p>
        </p:txBody>
      </p:sp>
      <p:sp>
        <p:nvSpPr>
          <p:cNvPr id="5" name="From the reusable core to the mutation problem."/>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From the reusable core to the mutation problem.</a:t>
            </a:r>
          </a:p>
        </p:txBody>
      </p:sp>
      <p:sp>
        <p:nvSpPr>
          <p:cNvPr id="6" name="0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04</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30 minutes on mlir.dsl, followed by 15 minutes with Amir."/>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30 minutes on mlir.dsl, followed by 15 minutes with Amir.</a:t>
            </a:r>
          </a:p>
        </p:txBody>
      </p:sp>
      <p:sp>
        <p:nvSpPr>
          <p:cNvPr id="9" name="01"/>
          <p:cNvSpPr txBox="1"/>
          <p:nvPr/>
        </p:nvSpPr>
        <p:spPr>
          <a:xfrm>
            <a:off x="502920" y="1531619"/>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10" name="The agnostic core"/>
          <p:cNvSpPr txBox="1"/>
          <p:nvPr/>
        </p:nvSpPr>
        <p:spPr>
          <a:xfrm>
            <a:off x="1060704" y="1508760"/>
            <a:ext cx="5614416"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The agnostic core</a:t>
            </a:r>
          </a:p>
        </p:txBody>
      </p:sp>
      <p:sp>
        <p:nvSpPr>
          <p:cNvPr id="11" name="00:00–19:00"/>
          <p:cNvSpPr txBox="1"/>
          <p:nvPr/>
        </p:nvSpPr>
        <p:spPr>
          <a:xfrm>
            <a:off x="6876288" y="1554480"/>
            <a:ext cx="1783080" cy="283464"/>
          </a:xfrm>
          <a:prstGeom prst="rect">
            <a:avLst/>
          </a:prstGeom>
          <a:noFill/>
        </p:spPr>
        <p:txBody>
          <a:bodyPr wrap="none" anchor="t" lIns="0" rIns="0" tIns="0" bIns="0">
            <a:noAutofit/>
          </a:bodyPr>
          <a:lstStyle/>
          <a:p>
            <a:pPr algn="r">
              <a:lnSpc>
                <a:spcPts val="1391"/>
              </a:lnSpc>
              <a:spcBef>
                <a:spcPts val="0"/>
              </a:spcBef>
              <a:spcAft>
                <a:spcPts val="0"/>
              </a:spcAft>
            </a:pPr>
            <a:r>
              <a:rPr sz="1200" b="0">
                <a:solidFill>
                  <a:srgbClr val="616161"/>
                </a:solidFill>
                <a:latin typeface="NVIDIA Sans"/>
              </a:rPr>
              <a:t>00:00–19:00</a:t>
            </a:r>
          </a:p>
        </p:txBody>
      </p:sp>
      <p:sp>
        <p:nvSpPr>
          <p:cNvPr id="12" name="02"/>
          <p:cNvSpPr txBox="1"/>
          <p:nvPr/>
        </p:nvSpPr>
        <p:spPr>
          <a:xfrm>
            <a:off x="502920" y="2052827"/>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3" name="Sub-DSLs"/>
          <p:cNvSpPr txBox="1"/>
          <p:nvPr/>
        </p:nvSpPr>
        <p:spPr>
          <a:xfrm>
            <a:off x="1060704" y="2029967"/>
            <a:ext cx="5614416"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Sub-DSLs</a:t>
            </a:r>
          </a:p>
        </p:txBody>
      </p:sp>
      <p:sp>
        <p:nvSpPr>
          <p:cNvPr id="14" name="19:00–23:30"/>
          <p:cNvSpPr txBox="1"/>
          <p:nvPr/>
        </p:nvSpPr>
        <p:spPr>
          <a:xfrm>
            <a:off x="6876288" y="2075687"/>
            <a:ext cx="1783080" cy="283464"/>
          </a:xfrm>
          <a:prstGeom prst="rect">
            <a:avLst/>
          </a:prstGeom>
          <a:noFill/>
        </p:spPr>
        <p:txBody>
          <a:bodyPr wrap="none" anchor="t" lIns="0" rIns="0" tIns="0" bIns="0">
            <a:noAutofit/>
          </a:bodyPr>
          <a:lstStyle/>
          <a:p>
            <a:pPr algn="r">
              <a:lnSpc>
                <a:spcPts val="1391"/>
              </a:lnSpc>
              <a:spcBef>
                <a:spcPts val="0"/>
              </a:spcBef>
              <a:spcAft>
                <a:spcPts val="0"/>
              </a:spcAft>
            </a:pPr>
            <a:r>
              <a:rPr sz="1200" b="0">
                <a:solidFill>
                  <a:srgbClr val="616161"/>
                </a:solidFill>
                <a:latin typeface="NVIDIA Sans"/>
              </a:rPr>
              <a:t>19:00–23:30</a:t>
            </a:r>
          </a:p>
        </p:txBody>
      </p:sp>
      <p:sp>
        <p:nvSpPr>
          <p:cNvPr id="15" name="03"/>
          <p:cNvSpPr txBox="1"/>
          <p:nvPr/>
        </p:nvSpPr>
        <p:spPr>
          <a:xfrm>
            <a:off x="502920" y="2574036"/>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6" name="GenAI-based user feedback"/>
          <p:cNvSpPr txBox="1"/>
          <p:nvPr/>
        </p:nvSpPr>
        <p:spPr>
          <a:xfrm>
            <a:off x="1060704" y="2551176"/>
            <a:ext cx="5614416"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GenAI-based user feedback</a:t>
            </a:r>
          </a:p>
        </p:txBody>
      </p:sp>
      <p:sp>
        <p:nvSpPr>
          <p:cNvPr id="17" name="23:30–25:30"/>
          <p:cNvSpPr txBox="1"/>
          <p:nvPr/>
        </p:nvSpPr>
        <p:spPr>
          <a:xfrm>
            <a:off x="6876288" y="2596896"/>
            <a:ext cx="1783080" cy="283464"/>
          </a:xfrm>
          <a:prstGeom prst="rect">
            <a:avLst/>
          </a:prstGeom>
          <a:noFill/>
        </p:spPr>
        <p:txBody>
          <a:bodyPr wrap="none" anchor="t" lIns="0" rIns="0" tIns="0" bIns="0">
            <a:noAutofit/>
          </a:bodyPr>
          <a:lstStyle/>
          <a:p>
            <a:pPr algn="r">
              <a:lnSpc>
                <a:spcPts val="1391"/>
              </a:lnSpc>
              <a:spcBef>
                <a:spcPts val="0"/>
              </a:spcBef>
              <a:spcAft>
                <a:spcPts val="0"/>
              </a:spcAft>
            </a:pPr>
            <a:r>
              <a:rPr sz="1200" b="0">
                <a:solidFill>
                  <a:srgbClr val="616161"/>
                </a:solidFill>
                <a:latin typeface="NVIDIA Sans"/>
              </a:rPr>
              <a:t>23:30–25:30</a:t>
            </a:r>
          </a:p>
        </p:txBody>
      </p:sp>
      <p:sp>
        <p:nvSpPr>
          <p:cNvPr id="18" name="04"/>
          <p:cNvSpPr txBox="1"/>
          <p:nvPr/>
        </p:nvSpPr>
        <p:spPr>
          <a:xfrm>
            <a:off x="502920" y="3095244"/>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04</a:t>
            </a:r>
          </a:p>
        </p:txBody>
      </p:sp>
      <p:sp>
        <p:nvSpPr>
          <p:cNvPr id="19" name="Mutation: framing the problem"/>
          <p:cNvSpPr txBox="1"/>
          <p:nvPr/>
        </p:nvSpPr>
        <p:spPr>
          <a:xfrm>
            <a:off x="1060704" y="3072384"/>
            <a:ext cx="5614416"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Mutation: framing the problem</a:t>
            </a:r>
          </a:p>
        </p:txBody>
      </p:sp>
      <p:sp>
        <p:nvSpPr>
          <p:cNvPr id="20" name="25:30–30:00"/>
          <p:cNvSpPr txBox="1"/>
          <p:nvPr/>
        </p:nvSpPr>
        <p:spPr>
          <a:xfrm>
            <a:off x="6876288" y="3118103"/>
            <a:ext cx="1783080" cy="283464"/>
          </a:xfrm>
          <a:prstGeom prst="rect">
            <a:avLst/>
          </a:prstGeom>
          <a:noFill/>
        </p:spPr>
        <p:txBody>
          <a:bodyPr wrap="none" anchor="t" lIns="0" rIns="0" tIns="0" bIns="0">
            <a:noAutofit/>
          </a:bodyPr>
          <a:lstStyle/>
          <a:p>
            <a:pPr algn="r">
              <a:lnSpc>
                <a:spcPts val="1391"/>
              </a:lnSpc>
              <a:spcBef>
                <a:spcPts val="0"/>
              </a:spcBef>
              <a:spcAft>
                <a:spcPts val="0"/>
              </a:spcAft>
            </a:pPr>
            <a:r>
              <a:rPr sz="1200" b="0">
                <a:solidFill>
                  <a:srgbClr val="616161"/>
                </a:solidFill>
                <a:latin typeface="NVIDIA Sans"/>
              </a:rPr>
              <a:t>25:30–30:00</a:t>
            </a:r>
          </a:p>
        </p:txBody>
      </p:sp>
      <p:sp>
        <p:nvSpPr>
          <p:cNvPr id="21" name="05"/>
          <p:cNvSpPr txBox="1"/>
          <p:nvPr/>
        </p:nvSpPr>
        <p:spPr>
          <a:xfrm>
            <a:off x="502920" y="3616451"/>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05</a:t>
            </a:r>
          </a:p>
        </p:txBody>
      </p:sp>
      <p:sp>
        <p:nvSpPr>
          <p:cNvPr id="22" name="Amir: mutation and PyIR"/>
          <p:cNvSpPr txBox="1"/>
          <p:nvPr/>
        </p:nvSpPr>
        <p:spPr>
          <a:xfrm>
            <a:off x="1060704" y="3593591"/>
            <a:ext cx="5614416"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Amir: mutation and PyIR</a:t>
            </a:r>
          </a:p>
        </p:txBody>
      </p:sp>
      <p:sp>
        <p:nvSpPr>
          <p:cNvPr id="23" name="30:00–45:00"/>
          <p:cNvSpPr txBox="1"/>
          <p:nvPr/>
        </p:nvSpPr>
        <p:spPr>
          <a:xfrm>
            <a:off x="6876288" y="3639311"/>
            <a:ext cx="1783080" cy="283464"/>
          </a:xfrm>
          <a:prstGeom prst="rect">
            <a:avLst/>
          </a:prstGeom>
          <a:noFill/>
        </p:spPr>
        <p:txBody>
          <a:bodyPr wrap="none" anchor="t" lIns="0" rIns="0" tIns="0" bIns="0">
            <a:noAutofit/>
          </a:bodyPr>
          <a:lstStyle/>
          <a:p>
            <a:pPr algn="r">
              <a:lnSpc>
                <a:spcPts val="1391"/>
              </a:lnSpc>
              <a:spcBef>
                <a:spcPts val="0"/>
              </a:spcBef>
              <a:spcAft>
                <a:spcPts val="0"/>
              </a:spcAft>
            </a:pPr>
            <a:r>
              <a:rPr sz="1200" b="0">
                <a:solidFill>
                  <a:srgbClr val="616161"/>
                </a:solidFill>
                <a:latin typeface="NVIDIA Sans"/>
              </a:rPr>
              <a:t>30:00–45:00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ree ways to build the fronten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Three ways to build the frontend</a:t>
            </a:r>
          </a:p>
        </p:txBody>
      </p:sp>
      <p:sp>
        <p:nvSpPr>
          <p:cNvPr id="5" name="Choose where Python stops and your compiler start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Choose where Python stops and your compiler starts.</a:t>
            </a:r>
          </a:p>
        </p:txBody>
      </p:sp>
      <p:sp>
        <p:nvSpPr>
          <p:cNvPr id="6" name="0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05</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his tutorial uses proxies for values and an AST rewrite for region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This tutorial uses proxies for values and an AST rewrite for regions.</a:t>
            </a:r>
          </a:p>
        </p:txBody>
      </p:sp>
      <p:sp>
        <p:nvSpPr>
          <p:cNvPr id="9" name="Rectangle 8"/>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10" name="Rectangle 9"/>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11" name="AST compiler"/>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AST compiler</a:t>
            </a:r>
          </a:p>
        </p:txBody>
      </p:sp>
      <p:sp>
        <p:nvSpPr>
          <p:cNvPr id="12" name="Read syntax and lower it. / Own the supported Python semantics."/>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Read syntax and lower it.</a:t>
            </a:r>
          </a:p>
          <a:p>
            <a:pPr algn="l">
              <a:lnSpc>
                <a:spcPts val="1507"/>
              </a:lnSpc>
              <a:spcBef>
                <a:spcPts val="0"/>
              </a:spcBef>
              <a:spcAft>
                <a:spcPts val="0"/>
              </a:spcAft>
            </a:pPr>
            <a:r>
              <a:rPr sz="1300" b="0">
                <a:solidFill>
                  <a:srgbClr val="616161"/>
                </a:solidFill>
                <a:latin typeface="NVIDIA Sans"/>
              </a:rPr>
              <a:t>Own the supported Python</a:t>
            </a:r>
          </a:p>
          <a:p>
            <a:pPr algn="l">
              <a:lnSpc>
                <a:spcPts val="1507"/>
              </a:lnSpc>
              <a:spcBef>
                <a:spcPts val="0"/>
              </a:spcBef>
              <a:spcAft>
                <a:spcPts val="0"/>
              </a:spcAft>
            </a:pPr>
            <a:r>
              <a:rPr sz="1300" b="0">
                <a:solidFill>
                  <a:srgbClr val="616161"/>
                </a:solidFill>
                <a:latin typeface="NVIDIA Sans"/>
              </a:rPr>
              <a:t>semantics.</a:t>
            </a:r>
          </a:p>
        </p:txBody>
      </p:sp>
      <p:sp>
        <p:nvSpPr>
          <p:cNvPr id="13" name="Rectangle 12"/>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4" name="Rectangle 13"/>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5" name="Proxy tracing"/>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Proxy tracing</a:t>
            </a:r>
          </a:p>
        </p:txBody>
      </p:sp>
      <p:sp>
        <p:nvSpPr>
          <p:cNvPr id="16" name="Run Python with value proxies. / Operators emit operations."/>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Run Python with value</a:t>
            </a:r>
          </a:p>
          <a:p>
            <a:pPr algn="l">
              <a:lnSpc>
                <a:spcPts val="1507"/>
              </a:lnSpc>
              <a:spcBef>
                <a:spcPts val="0"/>
              </a:spcBef>
              <a:spcAft>
                <a:spcPts val="0"/>
              </a:spcAft>
            </a:pPr>
            <a:r>
              <a:rPr sz="1300" b="0">
                <a:solidFill>
                  <a:srgbClr val="616161"/>
                </a:solidFill>
                <a:latin typeface="NVIDIA Sans"/>
              </a:rPr>
              <a:t>proxies.</a:t>
            </a:r>
          </a:p>
          <a:p>
            <a:pPr algn="l">
              <a:lnSpc>
                <a:spcPts val="1507"/>
              </a:lnSpc>
              <a:spcBef>
                <a:spcPts val="0"/>
              </a:spcBef>
              <a:spcAft>
                <a:spcPts val="0"/>
              </a:spcAft>
            </a:pPr>
            <a:r>
              <a:rPr sz="1300" b="0">
                <a:solidFill>
                  <a:srgbClr val="616161"/>
                </a:solidFill>
                <a:latin typeface="NVIDIA Sans"/>
              </a:rPr>
              <a:t>Operators emit operations.</a:t>
            </a:r>
          </a:p>
        </p:txBody>
      </p:sp>
      <p:sp>
        <p:nvSpPr>
          <p:cNvPr id="17" name="Rectangle 16"/>
          <p:cNvSpPr/>
          <p:nvPr/>
        </p:nvSpPr>
        <p:spPr>
          <a:xfrm>
            <a:off x="6083808" y="1572768"/>
            <a:ext cx="2621280" cy="2459736"/>
          </a:xfrm>
          <a:prstGeom prst="rect">
            <a:avLst/>
          </a:prstGeom>
          <a:solidFill>
            <a:srgbClr val="F0F6E6"/>
          </a:solidFill>
          <a:ln>
            <a:noFill/>
          </a:ln>
          <a:effectLst/>
        </p:spPr>
        <p:txBody>
          <a:bodyPr rtlCol="0" anchor="ctr"/>
          <a:lstStyle/>
          <a:p>
            <a:pPr algn="ctr"/>
          </a:p>
        </p:txBody>
      </p:sp>
      <p:sp>
        <p:nvSpPr>
          <p:cNvPr id="18" name="Rectangle 17"/>
          <p:cNvSpPr/>
          <p:nvPr/>
        </p:nvSpPr>
        <p:spPr>
          <a:xfrm>
            <a:off x="6083808" y="1572768"/>
            <a:ext cx="2621280" cy="41148"/>
          </a:xfrm>
          <a:prstGeom prst="rect">
            <a:avLst/>
          </a:prstGeom>
          <a:solidFill>
            <a:srgbClr val="76B900"/>
          </a:solidFill>
          <a:ln>
            <a:noFill/>
          </a:ln>
          <a:effectLst/>
        </p:spPr>
        <p:txBody>
          <a:bodyPr rtlCol="0" anchor="ctr"/>
          <a:lstStyle/>
          <a:p>
            <a:pPr algn="ctr"/>
          </a:p>
        </p:txBody>
      </p:sp>
      <p:sp>
        <p:nvSpPr>
          <p:cNvPr id="19" name="Hybrid"/>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416600"/>
                </a:solidFill>
                <a:latin typeface="NVIDIA Sans"/>
              </a:rPr>
              <a:t>Hybrid</a:t>
            </a:r>
          </a:p>
        </p:txBody>
      </p:sp>
      <p:sp>
        <p:nvSpPr>
          <p:cNvPr id="20" name="Trace expressions. / Rewrite control flow into callbacks."/>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Trace expressions.</a:t>
            </a:r>
          </a:p>
          <a:p>
            <a:pPr algn="l">
              <a:lnSpc>
                <a:spcPts val="1507"/>
              </a:lnSpc>
              <a:spcBef>
                <a:spcPts val="0"/>
              </a:spcBef>
              <a:spcAft>
                <a:spcPts val="0"/>
              </a:spcAft>
            </a:pPr>
            <a:r>
              <a:rPr sz="1300" b="0">
                <a:solidFill>
                  <a:srgbClr val="616161"/>
                </a:solidFill>
                <a:latin typeface="NVIDIA Sans"/>
              </a:rPr>
              <a:t>Rewrite control flow into</a:t>
            </a:r>
          </a:p>
          <a:p>
            <a:pPr algn="l">
              <a:lnSpc>
                <a:spcPts val="1507"/>
              </a:lnSpc>
              <a:spcBef>
                <a:spcPts val="0"/>
              </a:spcBef>
              <a:spcAft>
                <a:spcPts val="0"/>
              </a:spcAft>
            </a:pPr>
            <a:r>
              <a:rPr sz="1300" b="0">
                <a:solidFill>
                  <a:srgbClr val="616161"/>
                </a:solidFill>
                <a:latin typeface="NVIDIA Sans"/>
              </a:rPr>
              <a:t>callbacks.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call, two kinds of execut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call, two kinds of execution</a:t>
            </a:r>
          </a:p>
        </p:txBody>
      </p:sp>
      <p:sp>
        <p:nvSpPr>
          <p:cNvPr id="5" name="The JIT boundary connects ordinary Python to compiled cod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The JIT boundary connects ordinary Python to compiled code.</a:t>
            </a:r>
          </a:p>
        </p:txBody>
      </p:sp>
      <p:sp>
        <p:nvSpPr>
          <p:cNvPr id="6" name="0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06</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racing constructs a program; invocation executes that program."/>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Tracing constructs a program; invocation executes that program.</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Bind"/>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Bind</a:t>
            </a:r>
          </a:p>
        </p:txBody>
      </p:sp>
      <p:sp>
        <p:nvSpPr>
          <p:cNvPr id="11" name="Annotations + adapters / select runtime arguments."/>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Annotations + adapters</a:t>
            </a:r>
          </a:p>
          <a:p>
            <a:pPr algn="l">
              <a:lnSpc>
                <a:spcPts val="1334"/>
              </a:lnSpc>
              <a:spcBef>
                <a:spcPts val="0"/>
              </a:spcBef>
              <a:spcAft>
                <a:spcPts val="0"/>
              </a:spcAft>
            </a:pPr>
            <a:r>
              <a:rPr sz="1150" b="0">
                <a:solidFill>
                  <a:srgbClr val="616161"/>
                </a:solidFill>
                <a:latin typeface="NVIDIA Sans"/>
              </a:rPr>
              <a:t>select runtime</a:t>
            </a:r>
          </a:p>
          <a:p>
            <a:pPr algn="l">
              <a:lnSpc>
                <a:spcPts val="1334"/>
              </a:lnSpc>
              <a:spcBef>
                <a:spcPts val="0"/>
              </a:spcBef>
              <a:spcAft>
                <a:spcPts val="0"/>
              </a:spcAft>
            </a:pPr>
            <a:r>
              <a:rPr sz="1150" b="0">
                <a:solidFill>
                  <a:srgbClr val="616161"/>
                </a:solidFill>
                <a:latin typeface="NVIDIA Sans"/>
              </a:rPr>
              <a:t>arguments.</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Trac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a:t>
            </a:r>
          </a:p>
        </p:txBody>
      </p:sp>
      <p:sp>
        <p:nvSpPr>
          <p:cNvPr id="15" name="Python builds a module / with proxy values."/>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Python builds a module</a:t>
            </a:r>
          </a:p>
          <a:p>
            <a:pPr algn="l">
              <a:lnSpc>
                <a:spcPts val="1334"/>
              </a:lnSpc>
              <a:spcBef>
                <a:spcPts val="0"/>
              </a:spcBef>
              <a:spcAft>
                <a:spcPts val="0"/>
              </a:spcAft>
            </a:pPr>
            <a:r>
              <a:rPr sz="1150" b="0">
                <a:solidFill>
                  <a:srgbClr val="616161"/>
                </a:solidFill>
                <a:latin typeface="NVIDIA Sans"/>
              </a:rPr>
              <a:t>with proxy values.</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Lowe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Lower</a:t>
            </a:r>
          </a:p>
        </p:txBody>
      </p:sp>
      <p:sp>
        <p:nvSpPr>
          <p:cNvPr id="19" name="Verify IR, run passes, / create an execution engine."/>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Verify IR, run passes,</a:t>
            </a:r>
          </a:p>
          <a:p>
            <a:pPr algn="l">
              <a:lnSpc>
                <a:spcPts val="1334"/>
              </a:lnSpc>
              <a:spcBef>
                <a:spcPts val="0"/>
              </a:spcBef>
              <a:spcAft>
                <a:spcPts val="0"/>
              </a:spcAft>
            </a:pPr>
            <a:r>
              <a:rPr sz="1150" b="0">
                <a:solidFill>
                  <a:srgbClr val="616161"/>
                </a:solidFill>
                <a:latin typeface="NVIDIA Sans"/>
              </a:rPr>
              <a:t>create an execution</a:t>
            </a:r>
          </a:p>
          <a:p>
            <a:pPr algn="l">
              <a:lnSpc>
                <a:spcPts val="1334"/>
              </a:lnSpc>
              <a:spcBef>
                <a:spcPts val="0"/>
              </a:spcBef>
              <a:spcAft>
                <a:spcPts val="0"/>
              </a:spcAft>
            </a:pPr>
            <a:r>
              <a:rPr sz="1150" b="0">
                <a:solidFill>
                  <a:srgbClr val="616161"/>
                </a:solidFill>
                <a:latin typeface="NVIDIA Sans"/>
              </a:rPr>
              <a:t>engine.</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Invok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Invoke</a:t>
            </a:r>
          </a:p>
        </p:txBody>
      </p:sp>
      <p:sp>
        <p:nvSpPr>
          <p:cNvPr id="23" name="Marshal arguments; / return the result."/>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Marshal arguments;</a:t>
            </a:r>
          </a:p>
          <a:p>
            <a:pPr algn="l">
              <a:lnSpc>
                <a:spcPts val="1334"/>
              </a:lnSpc>
              <a:spcBef>
                <a:spcPts val="0"/>
              </a:spcBef>
              <a:spcAft>
                <a:spcPts val="0"/>
              </a:spcAft>
            </a:pPr>
            <a:r>
              <a:rPr sz="1150" b="0">
                <a:solidFill>
                  <a:srgbClr val="616161"/>
                </a:solidFill>
                <a:latin typeface="NVIDIA Sans"/>
              </a:rPr>
              <a:t>return the result.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Binding time is part of the API"/>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Binding time is part of the API</a:t>
            </a:r>
          </a:p>
        </p:txBody>
      </p:sp>
      <p:sp>
        <p:nvSpPr>
          <p:cNvPr id="5" name="An annotation declares a runtime value; plain configuration can specializ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An annotation declares a runtime value; plain configuration can specialize.</a:t>
            </a:r>
          </a:p>
        </p:txBody>
      </p:sp>
      <p:sp>
        <p:nvSpPr>
          <p:cNvPr id="6" name="0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07</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Separate runtime data from the Python values that define a specialization."/>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Separate runtime data from the Python values that define a specialization.</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Definition and call"/>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Definition and call</a:t>
            </a:r>
          </a:p>
        </p:txBody>
      </p:sp>
      <p:sp>
        <p:nvSpPr>
          <p:cNvPr id="11" name="import mlir.dsl as m"/>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import mlir.dsl as m</a:t>
            </a:r>
          </a:p>
        </p:txBody>
      </p:sp>
      <p:sp>
        <p:nvSpPr>
          <p:cNvPr id="12"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m.ji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4" name="def expression(a: m.Int32, b: m.Int32,"/>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expression(a: m.Int32, b: m.Int32,</a:t>
            </a:r>
          </a:p>
        </p:txBody>
      </p:sp>
      <p:sp>
        <p:nvSpPr>
          <p:cNvPr id="15" name="               scale) -&gt; m.Int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scale) -&gt; m.Int32:</a:t>
            </a:r>
          </a:p>
        </p:txBody>
      </p:sp>
      <p:sp>
        <p:nvSpPr>
          <p:cNvPr id="16" name="    return a + b * scal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a + b * scale</a:t>
            </a:r>
          </a:p>
        </p:txBody>
      </p:sp>
      <p:sp>
        <p:nvSpPr>
          <p:cNvPr id="17"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8" name="expression(1, 2, 3)  # 7"/>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expression(1, 2, 3)  # 7</a:t>
            </a:r>
          </a:p>
        </p:txBody>
      </p:sp>
      <p:sp>
        <p:nvSpPr>
          <p:cNvPr id="19" name="a and b"/>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 and b</a:t>
            </a:r>
          </a:p>
        </p:txBody>
      </p:sp>
      <p:sp>
        <p:nvSpPr>
          <p:cNvPr id="20" name="Runtime i32 arguments. / Their values do not become constants."/>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i32 arguments.</a:t>
            </a:r>
          </a:p>
          <a:p>
            <a:pPr algn="l">
              <a:lnSpc>
                <a:spcPts val="1391"/>
              </a:lnSpc>
              <a:spcBef>
                <a:spcPts val="0"/>
              </a:spcBef>
              <a:spcAft>
                <a:spcPts val="0"/>
              </a:spcAft>
            </a:pPr>
            <a:r>
              <a:rPr sz="1200" b="0">
                <a:solidFill>
                  <a:srgbClr val="616161"/>
                </a:solidFill>
                <a:latin typeface="NVIDIA Sans"/>
              </a:rPr>
              <a:t>Their values do not become constants.</a:t>
            </a:r>
          </a:p>
        </p:txBody>
      </p:sp>
      <p:sp>
        <p:nvSpPr>
          <p:cNvPr id="21" name="scale"/>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scale</a:t>
            </a:r>
          </a:p>
        </p:txBody>
      </p:sp>
      <p:sp>
        <p:nvSpPr>
          <p:cNvPr id="22" name="A Python value during tracing. / The generated program contains 3."/>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 Python value during tracing.</a:t>
            </a:r>
          </a:p>
          <a:p>
            <a:pPr algn="l">
              <a:lnSpc>
                <a:spcPts val="1391"/>
              </a:lnSpc>
              <a:spcBef>
                <a:spcPts val="0"/>
              </a:spcBef>
              <a:spcAft>
                <a:spcPts val="0"/>
              </a:spcAft>
            </a:pPr>
            <a:r>
              <a:rPr sz="1200" b="0">
                <a:solidFill>
                  <a:srgbClr val="616161"/>
                </a:solidFill>
                <a:latin typeface="NVIDIA Sans"/>
              </a:rPr>
              <a:t>The generated program contains 3.</a:t>
            </a:r>
          </a:p>
        </p:txBody>
      </p:sp>
      <p:sp>
        <p:nvSpPr>
          <p:cNvPr id="23" name="Typed values"/>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Typed values</a:t>
            </a:r>
          </a:p>
        </p:txBody>
      </p:sp>
      <p:sp>
        <p:nvSpPr>
          <p:cNvPr id="24" name="DSL leaves and adapted buffers / also select runtime data."/>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DSL leaves and adapted buffers</a:t>
            </a:r>
          </a:p>
          <a:p>
            <a:pPr algn="l">
              <a:lnSpc>
                <a:spcPts val="1391"/>
              </a:lnSpc>
              <a:spcBef>
                <a:spcPts val="0"/>
              </a:spcBef>
              <a:spcAft>
                <a:spcPts val="0"/>
              </a:spcAft>
            </a:pPr>
            <a:r>
              <a:rPr sz="1200" b="0">
                <a:solidFill>
                  <a:srgbClr val="616161"/>
                </a:solidFill>
                <a:latin typeface="NVIDIA Sans"/>
              </a:rPr>
              <a:t>also select runtime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n expression becomes operatio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An expression becomes operations</a:t>
            </a:r>
          </a:p>
        </p:txBody>
      </p:sp>
      <p:sp>
        <p:nvSpPr>
          <p:cNvPr id="5" name="Typed Python values are the handles through which tracing emits MLIR."/>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Typed Python values are the handles through which tracing emits MLIR.</a:t>
            </a:r>
          </a:p>
        </p:txBody>
      </p:sp>
      <p:sp>
        <p:nvSpPr>
          <p:cNvPr id="6" name="0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08</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Runtime operands emit operations; known operands become constants or fol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Runtime operands emit operations; known operands become constants or fold.</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Python"/>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Python</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expression(a: m.Int32, b: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expression(a: m.Int32, b: m.Int32,</a:t>
            </a:r>
          </a:p>
        </p:txBody>
      </p:sp>
      <p:sp>
        <p:nvSpPr>
          <p:cNvPr id="13" name="               scale) -&gt; m.Int32:"/>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scale) -&gt; m.Int32:</a:t>
            </a:r>
          </a:p>
        </p:txBody>
      </p:sp>
      <p:sp>
        <p:nvSpPr>
          <p:cNvPr id="14" name="    return a + b * scal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 + b * scale</a:t>
            </a:r>
          </a:p>
        </p:txBody>
      </p:sp>
      <p:sp>
        <p:nvSpPr>
          <p:cNvPr id="15"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expression(1, 2, 3)"/>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expression(1, 2, 3)</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Captured MLIR"/>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Captured MLIR</a:t>
            </a:r>
          </a:p>
        </p:txBody>
      </p:sp>
      <p:sp>
        <p:nvSpPr>
          <p:cNvPr id="19" name="llvm.func @expression_3("/>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llvm.func @expression_3(</a:t>
            </a:r>
          </a:p>
        </p:txBody>
      </p:sp>
      <p:sp>
        <p:nvSpPr>
          <p:cNvPr id="20" name="    %arg0: i32, %arg1: i32) -&gt; i32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%arg0: i32, %arg1: i32) -&gt; i32 {</a:t>
            </a:r>
          </a:p>
        </p:txBody>
      </p:sp>
      <p:sp>
        <p:nvSpPr>
          <p:cNvPr id="21" name="  %c3_i32 = arith.constant 3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%c3_i32 = arith.constant 3 : i32</a:t>
            </a:r>
          </a:p>
        </p:txBody>
      </p:sp>
      <p:sp>
        <p:nvSpPr>
          <p:cNvPr id="22" name="  %0 = arith.muli %arg1, %c3_i32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 arith.muli %arg1, %c3_i32 : i32</a:t>
            </a:r>
          </a:p>
        </p:txBody>
      </p:sp>
      <p:sp>
        <p:nvSpPr>
          <p:cNvPr id="23" name="  %1 = arith.addi %arg0, %0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%1 = arith.addi %arg0, %0 : i32</a:t>
            </a:r>
          </a:p>
        </p:txBody>
      </p:sp>
      <p:sp>
        <p:nvSpPr>
          <p:cNvPr id="24" name="  llvm.return %1 : i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llvm.return %1 : i32</a:t>
            </a:r>
          </a:p>
        </p:txBody>
      </p:sp>
      <p:sp>
        <p:nvSpPr>
          <p:cNvPr id="25"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elpers compose during trac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Helpers compose during tracing</a:t>
            </a:r>
          </a:p>
        </p:txBody>
      </p:sp>
      <p:sp>
        <p:nvSpPr>
          <p:cNvPr id="5" name="Use Python abstraction to construct a larger runtime program."/>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Use Python abstraction to construct a larger runtime program.</a:t>
            </a:r>
          </a:p>
        </p:txBody>
      </p:sp>
      <p:sp>
        <p:nvSpPr>
          <p:cNvPr id="6" name="0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09</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Python call structure need not become runtime call structur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Python call structure need not become runtime call structure.</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Ordinary Python helper"/>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Ordinary Python helper</a:t>
            </a:r>
          </a:p>
        </p:txBody>
      </p:sp>
      <p:sp>
        <p:nvSpPr>
          <p:cNvPr id="11" name="def twice(x):"/>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twice(x):</a:t>
            </a:r>
          </a:p>
        </p:txBody>
      </p:sp>
      <p:sp>
        <p:nvSpPr>
          <p:cNvPr id="12" name="    return x + x"/>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x</a:t>
            </a:r>
          </a:p>
        </p:txBody>
      </p:sp>
      <p:sp>
        <p:nvSpPr>
          <p:cNvPr id="13"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m.ji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5" name="def compute(x: m.Int32) -&gt; m.Int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compute(x: m.Int32) -&gt; m.Int32:</a:t>
            </a:r>
          </a:p>
        </p:txBody>
      </p:sp>
      <p:sp>
        <p:nvSpPr>
          <p:cNvPr id="16" name="    return twice(x) + 1"/>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twice(x) + 1</a:t>
            </a:r>
          </a:p>
        </p:txBody>
      </p:sp>
      <p:sp>
        <p:nvSpPr>
          <p:cNvPr id="17"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8" name="compute(3)  # 7"/>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compute(3)  # 7</a:t>
            </a:r>
          </a:p>
        </p:txBody>
      </p:sp>
      <p:sp>
        <p:nvSpPr>
          <p:cNvPr id="19" name="A helper runs now"/>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 helper runs now</a:t>
            </a:r>
          </a:p>
        </p:txBody>
      </p:sp>
      <p:sp>
        <p:nvSpPr>
          <p:cNvPr id="20" name="Its proxy arguments emit operations / into the enclosing trace."/>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Its proxy arguments emit operations</a:t>
            </a:r>
          </a:p>
          <a:p>
            <a:pPr algn="l">
              <a:lnSpc>
                <a:spcPts val="1391"/>
              </a:lnSpc>
              <a:spcBef>
                <a:spcPts val="0"/>
              </a:spcBef>
              <a:spcAft>
                <a:spcPts val="0"/>
              </a:spcAft>
            </a:pPr>
            <a:r>
              <a:rPr sz="1200" b="0">
                <a:solidFill>
                  <a:srgbClr val="616161"/>
                </a:solidFill>
                <a:latin typeface="NVIDIA Sans"/>
              </a:rPr>
              <a:t>into the enclosing trace.</a:t>
            </a:r>
          </a:p>
        </p:txBody>
      </p:sp>
      <p:sp>
        <p:nvSpPr>
          <p:cNvPr id="21" name="Native control flow"/>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Native control flow</a:t>
            </a:r>
          </a:p>
        </p:txBody>
      </p:sp>
      <p:sp>
        <p:nvSpPr>
          <p:cNvPr id="22" name="Decorate a helper with @m.jit / when its control flow must be staged."/>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Decorate a helper with @m.jit</a:t>
            </a:r>
          </a:p>
          <a:p>
            <a:pPr algn="l">
              <a:lnSpc>
                <a:spcPts val="1391"/>
              </a:lnSpc>
              <a:spcBef>
                <a:spcPts val="0"/>
              </a:spcBef>
              <a:spcAft>
                <a:spcPts val="0"/>
              </a:spcAft>
            </a:pPr>
            <a:r>
              <a:rPr sz="1200" b="0">
                <a:solidFill>
                  <a:srgbClr val="616161"/>
                </a:solidFill>
                <a:latin typeface="NVIDIA Sans"/>
              </a:rPr>
              <a:t>when its control flow must be staged.</a:t>
            </a:r>
          </a:p>
        </p:txBody>
      </p:sp>
      <p:sp>
        <p:nvSpPr>
          <p:cNvPr id="23" name="Current call boundary"/>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Current call boundary</a:t>
            </a:r>
          </a:p>
        </p:txBody>
      </p:sp>
      <p:sp>
        <p:nvSpPr>
          <p:cNvPr id="24" name="Nested @m.jit bodies inline / while the enclosing function traces."/>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Nested @m.jit bodies inline</a:t>
            </a:r>
          </a:p>
          <a:p>
            <a:pPr algn="l">
              <a:lnSpc>
                <a:spcPts val="1391"/>
              </a:lnSpc>
              <a:spcBef>
                <a:spcPts val="0"/>
              </a:spcBef>
              <a:spcAft>
                <a:spcPts val="0"/>
              </a:spcAft>
            </a:pPr>
            <a:r>
              <a:rPr sz="1200" b="0">
                <a:solidFill>
                  <a:srgbClr val="616161"/>
                </a:solidFill>
                <a:latin typeface="NVIDIA Sans"/>
              </a:rPr>
              <a:t>while the enclosing function traces.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e same syntax can run now or late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The same syntax can run now or later</a:t>
            </a:r>
          </a:p>
        </p:txBody>
      </p:sp>
      <p:sp>
        <p:nvSpPr>
          <p:cNvPr id="5" name="Control-flow dispatch follows the values it se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Control-flow dispatch follows the values it sees.</a:t>
            </a:r>
          </a:p>
        </p:txBody>
      </p:sp>
      <p:sp>
        <p:nvSpPr>
          <p:cNvPr id="6" name="1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10</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he loop body is traced once when the loop itself is runtime work."/>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loop body is traced once when the loop itself is runtime work.</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Python syntax"/>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Python syntax</a:t>
            </a:r>
          </a:p>
        </p:txBody>
      </p:sp>
      <p:sp>
        <p:nvSpPr>
          <p:cNvPr id="11" name="Known values"/>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Known values</a:t>
            </a:r>
          </a:p>
        </p:txBody>
      </p:sp>
      <p:sp>
        <p:nvSpPr>
          <p:cNvPr id="12" name="Runtime values"/>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Runtime values</a:t>
            </a:r>
          </a:p>
        </p:txBody>
      </p:sp>
      <p:sp>
        <p:nvSpPr>
          <p:cNvPr id="13" name="Rectangle 12"/>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4" name="if predicate"/>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if predicate</a:t>
            </a:r>
          </a:p>
        </p:txBody>
      </p:sp>
      <p:sp>
        <p:nvSpPr>
          <p:cNvPr id="15" name="Choose a Python arm"/>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Choose a Python arm</a:t>
            </a:r>
          </a:p>
        </p:txBody>
      </p:sp>
      <p:sp>
        <p:nvSpPr>
          <p:cNvPr id="16" name="Build scf.if regions"/>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scf.if regions</a:t>
            </a:r>
          </a:p>
        </p:txBody>
      </p:sp>
      <p:sp>
        <p:nvSpPr>
          <p:cNvPr id="17" name="Rectangle 16"/>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8" name="for i in range(n)"/>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for i in range(n)</a:t>
            </a:r>
          </a:p>
        </p:txBody>
      </p:sp>
      <p:sp>
        <p:nvSpPr>
          <p:cNvPr id="19" name="Run the Python loop"/>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 the Python loop</a:t>
            </a:r>
          </a:p>
        </p:txBody>
      </p:sp>
      <p:sp>
        <p:nvSpPr>
          <p:cNvPr id="20" name="Build an scf.for"/>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an scf.for</a:t>
            </a:r>
          </a:p>
        </p:txBody>
      </p:sp>
      <p:sp>
        <p:nvSpPr>
          <p:cNvPr id="21" name="Rectangle 20"/>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2" name="while predicate"/>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while predicate</a:t>
            </a:r>
          </a:p>
        </p:txBody>
      </p:sp>
      <p:sp>
        <p:nvSpPr>
          <p:cNvPr id="23" name="Run the Python loop"/>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 the Python loop</a:t>
            </a:r>
          </a:p>
        </p:txBody>
      </p:sp>
      <p:sp>
        <p:nvSpPr>
          <p:cNvPr id="24" name="Build scf.while regions"/>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scf.while regions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atch one local become an SSA carr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Watch one local become an SSA carry</a:t>
            </a:r>
          </a:p>
        </p:txBody>
      </p:sp>
      <p:sp>
        <p:nvSpPr>
          <p:cNvPr id="5" name="The running total crosses the loop boundary explicitly."/>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The running total crosses the loop boundary explicitly.</a:t>
            </a:r>
          </a:p>
        </p:txBody>
      </p:sp>
      <p:sp>
        <p:nvSpPr>
          <p:cNvPr id="6" name="1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11</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acc has an initial value, a body block argument, and a loop result."/>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acc has an initial value, a body block argument, and a loop result.</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Native Python syntax"/>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Native Python syntax</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cumsum(n: m.Int32) -&gt;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cumsum(n: m.Int32) -&gt; m.Int32:</a:t>
            </a:r>
          </a:p>
        </p:txBody>
      </p:sp>
      <p:sp>
        <p:nvSpPr>
          <p:cNvPr id="13"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4"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5"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6"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7"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8" name="cumsum(10)  # 45"/>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cumsum(10)  # 45</a:t>
            </a:r>
          </a:p>
        </p:txBody>
      </p:sp>
      <p:sp>
        <p:nvSpPr>
          <p:cNvPr id="19" name="Rectangle 18"/>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0" name="Captured MLIR · SSA names shortened"/>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Captured MLIR · SSA names shortened</a:t>
            </a:r>
          </a:p>
        </p:txBody>
      </p:sp>
      <p:sp>
        <p:nvSpPr>
          <p:cNvPr id="21" name="llvm.func @cumsum(%n: i32) -&gt; i32 {"/>
          <p:cNvSpPr txBox="1"/>
          <p:nvPr/>
        </p:nvSpPr>
        <p:spPr>
          <a:xfrm>
            <a:off x="4818888" y="1993391"/>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llvm.func @cumsum(%n: i32) -&gt; i32 {</a:t>
            </a:r>
          </a:p>
        </p:txBody>
      </p:sp>
      <p:sp>
        <p:nvSpPr>
          <p:cNvPr id="22" name="  %init = arith.constant 0 : i32"/>
          <p:cNvSpPr txBox="1"/>
          <p:nvPr/>
        </p:nvSpPr>
        <p:spPr>
          <a:xfrm>
            <a:off x="4818888" y="2173020"/>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%init = arith.constant 0 : i32</a:t>
            </a:r>
          </a:p>
        </p:txBody>
      </p:sp>
      <p:sp>
        <p:nvSpPr>
          <p:cNvPr id="23" name="  %lb = arith.constant 0 : i32"/>
          <p:cNvSpPr txBox="1"/>
          <p:nvPr/>
        </p:nvSpPr>
        <p:spPr>
          <a:xfrm>
            <a:off x="4818888" y="2352649"/>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%lb = arith.constant 0 : i32</a:t>
            </a:r>
          </a:p>
        </p:txBody>
      </p:sp>
      <p:sp>
        <p:nvSpPr>
          <p:cNvPr id="24" name="  %s = arith.constant 1 : i32"/>
          <p:cNvSpPr txBox="1"/>
          <p:nvPr/>
        </p:nvSpPr>
        <p:spPr>
          <a:xfrm>
            <a:off x="4818888" y="2532278"/>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%s = arith.constant 1 : i32</a:t>
            </a:r>
          </a:p>
        </p:txBody>
      </p:sp>
      <p:sp>
        <p:nvSpPr>
          <p:cNvPr id="25" name="  %r = scf.for %i = %lb to %n step %s"/>
          <p:cNvSpPr txBox="1"/>
          <p:nvPr/>
        </p:nvSpPr>
        <p:spPr>
          <a:xfrm>
            <a:off x="4818888" y="2711907"/>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%r = scf.for %i = %lb to %n step %s</a:t>
            </a:r>
          </a:p>
        </p:txBody>
      </p:sp>
      <p:sp>
        <p:nvSpPr>
          <p:cNvPr id="26" name="      iter_args(%a = %init) -&gt; (i32) : i32 {"/>
          <p:cNvSpPr txBox="1"/>
          <p:nvPr/>
        </p:nvSpPr>
        <p:spPr>
          <a:xfrm>
            <a:off x="4818888" y="2891535"/>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16600"/>
                </a:solidFill>
                <a:latin typeface="JetBrains Mono"/>
              </a:rPr>
              <a:t>      iter_args(%a = %init) -&gt; (i32) : i32 {</a:t>
            </a:r>
          </a:p>
        </p:txBody>
      </p:sp>
      <p:sp>
        <p:nvSpPr>
          <p:cNvPr id="27" name="    %next = arith.addi %a, %i : i32"/>
          <p:cNvSpPr txBox="1"/>
          <p:nvPr/>
        </p:nvSpPr>
        <p:spPr>
          <a:xfrm>
            <a:off x="4818888" y="3071164"/>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%next = arith.addi %a, %i : i32</a:t>
            </a:r>
          </a:p>
        </p:txBody>
      </p:sp>
      <p:sp>
        <p:nvSpPr>
          <p:cNvPr id="28" name="    scf.yield %next : i32"/>
          <p:cNvSpPr txBox="1"/>
          <p:nvPr/>
        </p:nvSpPr>
        <p:spPr>
          <a:xfrm>
            <a:off x="4818888" y="3250793"/>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16600"/>
                </a:solidFill>
                <a:latin typeface="JetBrains Mono"/>
              </a:rPr>
              <a:t>    scf.yield %next : i32</a:t>
            </a:r>
          </a:p>
        </p:txBody>
      </p:sp>
      <p:sp>
        <p:nvSpPr>
          <p:cNvPr id="29" name="  }"/>
          <p:cNvSpPr txBox="1"/>
          <p:nvPr/>
        </p:nvSpPr>
        <p:spPr>
          <a:xfrm>
            <a:off x="4818888" y="3430422"/>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a:t>
            </a:r>
          </a:p>
        </p:txBody>
      </p:sp>
      <p:sp>
        <p:nvSpPr>
          <p:cNvPr id="30" name="  llvm.return %r : i32"/>
          <p:cNvSpPr txBox="1"/>
          <p:nvPr/>
        </p:nvSpPr>
        <p:spPr>
          <a:xfrm>
            <a:off x="4818888" y="3610051"/>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llvm.return %r : i32</a:t>
            </a:r>
          </a:p>
        </p:txBody>
      </p:sp>
      <p:sp>
        <p:nvSpPr>
          <p:cNvPr id="31" name="}"/>
          <p:cNvSpPr txBox="1"/>
          <p:nvPr/>
        </p:nvSpPr>
        <p:spPr>
          <a:xfrm>
            <a:off x="4818888" y="3789679"/>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complete CPU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complete CPU kernel</a:t>
            </a:r>
          </a:p>
        </p:txBody>
      </p:sp>
      <p:sp>
        <p:nvSpPr>
          <p:cNvPr id="5" name="Use caller-owned buffers and explicit siz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Use caller-owned buffers and explicit sizes.</a:t>
            </a:r>
          </a:p>
        </p:txBody>
      </p:sp>
      <p:sp>
        <p:nvSpPr>
          <p:cNvPr id="6" name="1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12</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he generated program uses the existing allocation directly."/>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generated program uses the existing allocation directly.</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Pointer AXPY"/>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Pointer AXPY</a:t>
            </a:r>
          </a:p>
        </p:txBody>
      </p:sp>
      <p:sp>
        <p:nvSpPr>
          <p:cNvPr id="11" name="P = m.Pointer[m.Float32]"/>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P = m.Pointer[m.Float32]</a:t>
            </a:r>
          </a:p>
        </p:txBody>
      </p:sp>
      <p:sp>
        <p:nvSpPr>
          <p:cNvPr id="12"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m.ji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4" name="def axpy(alpha: m.Float32, x: P, y: P,"/>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axpy(alpha: m.Float32, x: P, y: P,</a:t>
            </a:r>
          </a:p>
        </p:txBody>
      </p:sp>
      <p:sp>
        <p:nvSpPr>
          <p:cNvPr id="15" name="         out: P, n: m.Int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out: P, n: m.Int32):</a:t>
            </a:r>
          </a:p>
        </p:txBody>
      </p:sp>
      <p:sp>
        <p:nvSpPr>
          <p:cNvPr id="16" name="    for i in range(n):"/>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for i in range(n):</a:t>
            </a:r>
          </a:p>
        </p:txBody>
      </p:sp>
      <p:sp>
        <p:nvSpPr>
          <p:cNvPr id="17" name="        out[i] = alpha * x[i] + y[i]"/>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out[i] = alpha * x[i] + y[i]</a:t>
            </a:r>
          </a:p>
        </p:txBody>
      </p:sp>
      <p:sp>
        <p:nvSpPr>
          <p:cNvPr id="18" nam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9" name="# x, y, out: contiguous float32 NumPy arrays"/>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x, y, out: contiguous float32 NumPy arrays</a:t>
            </a:r>
          </a:p>
        </p:txBody>
      </p:sp>
      <p:sp>
        <p:nvSpPr>
          <p:cNvPr id="20" name="axpy(2.0, x, y, out, len(x))"/>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axpy(2.0, x, y, out, len(x))</a:t>
            </a:r>
          </a:p>
        </p:txBody>
      </p:sp>
      <p:sp>
        <p:nvSpPr>
          <p:cNvPr id="21" name="One pointer per buffer"/>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One pointer per buffer</a:t>
            </a:r>
          </a:p>
        </p:txBody>
      </p:sp>
      <p:sp>
        <p:nvSpPr>
          <p:cNvPr id="22" name="NumPy ownership stays with the caller. / The adapter retains the input."/>
          <p:cNvSpPr txBox="1"/>
          <p:nvPr/>
        </p:nvSpPr>
        <p:spPr>
          <a:xfrm>
            <a:off x="5916168" y="1984248"/>
            <a:ext cx="2770632" cy="380999"/>
          </a:xfrm>
          <a:prstGeom prst="rect">
            <a:avLst/>
          </a:prstGeom>
          <a:noFill/>
        </p:spPr>
        <p:txBody>
          <a:bodyPr wrap="none" anchor="t" lIns="0" rIns="0" tIns="0" bIns="0">
            <a:noAutofit/>
          </a:bodyPr>
          <a:lstStyle/>
          <a:p>
            <a:pPr algn="l">
              <a:lnSpc>
                <a:spcPts val="1363"/>
              </a:lnSpc>
              <a:spcBef>
                <a:spcPts val="0"/>
              </a:spcBef>
              <a:spcAft>
                <a:spcPts val="0"/>
              </a:spcAft>
            </a:pPr>
            <a:r>
              <a:rPr sz="1175" b="0">
                <a:solidFill>
                  <a:srgbClr val="616161"/>
                </a:solidFill>
                <a:latin typeface="NVIDIA Sans"/>
              </a:rPr>
              <a:t>NumPy ownership stays with the caller.</a:t>
            </a:r>
          </a:p>
          <a:p>
            <a:pPr algn="l">
              <a:lnSpc>
                <a:spcPts val="1363"/>
              </a:lnSpc>
              <a:spcBef>
                <a:spcPts val="0"/>
              </a:spcBef>
              <a:spcAft>
                <a:spcPts val="0"/>
              </a:spcAft>
            </a:pPr>
            <a:r>
              <a:rPr sz="1175" b="0">
                <a:solidFill>
                  <a:srgbClr val="616161"/>
                </a:solidFill>
                <a:latin typeface="NVIDIA Sans"/>
              </a:rPr>
              <a:t>The adapter retains the input.</a:t>
            </a:r>
          </a:p>
        </p:txBody>
      </p:sp>
      <p:sp>
        <p:nvSpPr>
          <p:cNvPr id="23" name="Memory is explicit"/>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Memory is explicit</a:t>
            </a:r>
          </a:p>
        </p:txBody>
      </p:sp>
      <p:sp>
        <p:nvSpPr>
          <p:cNvPr id="24" name="Indexing emits getelementptr, / load, and store operations."/>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Indexing emits getelementptr,</a:t>
            </a:r>
          </a:p>
          <a:p>
            <a:pPr algn="l">
              <a:lnSpc>
                <a:spcPts val="1391"/>
              </a:lnSpc>
              <a:spcBef>
                <a:spcPts val="0"/>
              </a:spcBef>
              <a:spcAft>
                <a:spcPts val="0"/>
              </a:spcAft>
            </a:pPr>
            <a:r>
              <a:rPr sz="1200" b="0">
                <a:solidFill>
                  <a:srgbClr val="616161"/>
                </a:solidFill>
                <a:latin typeface="NVIDIA Sans"/>
              </a:rPr>
              <a:t>load, and store operations.</a:t>
            </a:r>
          </a:p>
        </p:txBody>
      </p:sp>
      <p:sp>
        <p:nvSpPr>
          <p:cNvPr id="25" name="A working endpoint"/>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 working endpoint</a:t>
            </a:r>
          </a:p>
        </p:txBody>
      </p:sp>
      <p:sp>
        <p:nvSpPr>
          <p:cNvPr id="26" name="257 elements match NumPy. / The loop becomes scf.for."/>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257 elements match NumPy.</a:t>
            </a:r>
          </a:p>
          <a:p>
            <a:pPr algn="l">
              <a:lnSpc>
                <a:spcPts val="1391"/>
              </a:lnSpc>
              <a:spcBef>
                <a:spcPts val="0"/>
              </a:spcBef>
              <a:spcAft>
                <a:spcPts val="0"/>
              </a:spcAft>
            </a:pPr>
            <a:r>
              <a:rPr sz="1200" b="0">
                <a:solidFill>
                  <a:srgbClr val="616161"/>
                </a:solidFill>
                <a:latin typeface="NVIDIA Sans"/>
              </a:rPr>
              <a:t>The loop becomes scf.for.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Interop is an adapter boundar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Interop is an adapter boundary</a:t>
            </a:r>
          </a:p>
        </p:txBody>
      </p:sp>
      <p:sp>
        <p:nvSpPr>
          <p:cNvPr id="5" name="Keep framework ownership separate from the DSL value model."/>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Keep framework ownership separate from the DSL value model.</a:t>
            </a:r>
          </a:p>
        </p:txBody>
      </p:sp>
      <p:sp>
        <p:nvSpPr>
          <p:cNvPr id="6" name="1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13</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Choose the runtime ABI deliberately; adapters connect it to Python object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Choose the runtime ABI deliberately; adapters connect it to Python objects.</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Input"/>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Input</a:t>
            </a:r>
          </a:p>
        </p:txBody>
      </p:sp>
      <p:sp>
        <p:nvSpPr>
          <p:cNvPr id="11" name="Representation"/>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Representation</a:t>
            </a:r>
          </a:p>
        </p:txBody>
      </p:sp>
      <p:sp>
        <p:nvSpPr>
          <p:cNvPr id="12" name="Role"/>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Role</a:t>
            </a:r>
          </a:p>
        </p:txBody>
      </p:sp>
      <p:sp>
        <p:nvSpPr>
          <p:cNvPr id="13" name="Rectangle 12"/>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4" name="Contiguous NumPy array"/>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Contiguous NumPy</a:t>
            </a:r>
          </a:p>
          <a:p>
            <a:pPr algn="l">
              <a:lnSpc>
                <a:spcPts val="1391"/>
              </a:lnSpc>
              <a:spcBef>
                <a:spcPts val="0"/>
              </a:spcBef>
              <a:spcAft>
                <a:spcPts val="0"/>
              </a:spcAft>
            </a:pPr>
            <a:r>
              <a:rPr sz="1200" b="1">
                <a:solidFill>
                  <a:srgbClr val="000000"/>
                </a:solidFill>
                <a:latin typeface="NVIDIA Sans"/>
              </a:rPr>
              <a:t>array</a:t>
            </a:r>
          </a:p>
        </p:txBody>
      </p:sp>
      <p:sp>
        <p:nvSpPr>
          <p:cNvPr id="15" name="Pointer + retained owner"/>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 + retained owner</a:t>
            </a:r>
          </a:p>
        </p:txBody>
      </p:sp>
      <p:sp>
        <p:nvSpPr>
          <p:cNvPr id="16" name="Current CPU adapter"/>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Current CPU adapter</a:t>
            </a:r>
          </a:p>
        </p:txBody>
      </p:sp>
      <p:sp>
        <p:nvSpPr>
          <p:cNvPr id="17" name="Rectangle 16"/>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8" name="Contiguous torch.Tensor"/>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Contiguous</a:t>
            </a:r>
          </a:p>
          <a:p>
            <a:pPr algn="l">
              <a:lnSpc>
                <a:spcPts val="1391"/>
              </a:lnSpc>
              <a:spcBef>
                <a:spcPts val="0"/>
              </a:spcBef>
              <a:spcAft>
                <a:spcPts val="0"/>
              </a:spcAft>
            </a:pPr>
            <a:r>
              <a:rPr sz="1200" b="1">
                <a:solidFill>
                  <a:srgbClr val="000000"/>
                </a:solidFill>
                <a:latin typeface="NVIDIA Sans"/>
              </a:rPr>
              <a:t>torch.Tensor</a:t>
            </a:r>
          </a:p>
        </p:txBody>
      </p:sp>
      <p:sp>
        <p:nvSpPr>
          <p:cNvPr id="19" name="Pointer + device kind"/>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 + device kind</a:t>
            </a:r>
          </a:p>
        </p:txBody>
      </p:sp>
      <p:sp>
        <p:nvSpPr>
          <p:cNvPr id="20" name="Current lazy adapter"/>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Current lazy adapter</a:t>
            </a:r>
          </a:p>
        </p:txBody>
      </p:sp>
      <p:sp>
        <p:nvSpPr>
          <p:cNvPr id="21" name="Rectangle 20"/>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2" name="DLPack producer"/>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DLPack producer</a:t>
            </a:r>
          </a:p>
        </p:txBody>
      </p:sp>
      <p:sp>
        <p:nvSpPr>
          <p:cNvPr id="23" name="Protocol-managed array view"/>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Protocol-managed array view</a:t>
            </a:r>
          </a:p>
        </p:txBody>
      </p:sp>
      <p:sp>
        <p:nvSpPr>
          <p:cNvPr id="24" name="Alternative adapter design"/>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Alternative adapter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iagnostics are part of the fronten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Diagnostics are part of the frontend</a:t>
            </a:r>
          </a:p>
        </p:txBody>
      </p:sp>
      <p:sp>
        <p:nvSpPr>
          <p:cNvPr id="5" name="Preserve Python source locations in both diagnostics and emitted operation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Preserve Python source locations in both diagnostics and emitted operations.</a:t>
            </a:r>
          </a:p>
        </p:txBody>
      </p:sp>
      <p:sp>
        <p:nvSpPr>
          <p:cNvPr id="6" name="1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14</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MLIR_DSL_DEBUGINFO=1: Python line → FileLineColLoc → operation location."/>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MLIR_DSL_DEBUGINFO=1: Python line → FileLineColLoc → operation location.</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A Python value crosses phases"/>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A Python value crosses phases</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cumsum(n: m.Int32) -&gt;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cumsum(n: m.Int32) -&gt; m.Int32:</a:t>
            </a:r>
          </a:p>
        </p:txBody>
      </p:sp>
      <p:sp>
        <p:nvSpPr>
          <p:cNvPr id="13" name="    acc = 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0</a:t>
            </a:r>
          </a:p>
        </p:txBody>
      </p:sp>
      <p:sp>
        <p:nvSpPr>
          <p:cNvPr id="14"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5"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6"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Diagnostic summary"/>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Diagnostic summary</a:t>
            </a:r>
          </a:p>
        </p:txBody>
      </p:sp>
      <p:sp>
        <p:nvSpPr>
          <p:cNvPr id="19" name="error[PHASE_MUTATE_PYTHO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error[PHASE_MUTATE_PYTHON]:</a:t>
            </a:r>
          </a:p>
        </p:txBody>
      </p:sp>
      <p:sp>
        <p:nvSpPr>
          <p:cNvPr id="20" name="`acc` is a Python value, but it is changed"/>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`acc` is a Python value, but it is changed</a:t>
            </a:r>
          </a:p>
        </p:txBody>
      </p:sp>
      <p:sp>
        <p:nvSpPr>
          <p:cNvPr id="21" name="inside a runtime-controlled region."/>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inside a runtime-controlled region.</a:t>
            </a:r>
          </a:p>
        </p:txBody>
      </p:sp>
      <p:sp>
        <p:nvSpPr>
          <p:cNvPr id="22" name=""/>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3" name="21 |     for i in range(n):"/>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21 |     for i in range(n):</a:t>
            </a:r>
          </a:p>
        </p:txBody>
      </p:sp>
      <p:sp>
        <p:nvSpPr>
          <p:cNvPr id="24" name="   |     ^"/>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a:t>
            </a:r>
          </a:p>
        </p:txBody>
      </p:sp>
      <p:sp>
        <p:nvSpPr>
          <p:cNvPr id="25"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6" name="suggestion:"/>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suggestion:</a:t>
            </a:r>
          </a:p>
        </p:txBody>
      </p:sp>
      <p:sp>
        <p:nvSpPr>
          <p:cNvPr id="27" name="Create `acc` as a runtime value:"/>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Create `acc` as a runtime value:</a:t>
            </a:r>
          </a:p>
        </p:txBody>
      </p:sp>
      <p:sp>
        <p:nvSpPr>
          <p:cNvPr id="28" name="    acc = m.Int32(0)"/>
          <p:cNvSpPr txBox="1"/>
          <p:nvPr/>
        </p:nvSpPr>
        <p:spPr>
          <a:xfrm>
            <a:off x="4818888" y="364662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che compilation after trac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Cache compilation after tracing</a:t>
            </a:r>
          </a:p>
        </p:txBody>
      </p:sp>
      <p:sp>
        <p:nvSpPr>
          <p:cNvPr id="5" name="A normal @jit call still observes the current Python stat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 normal @jit call still observes the current Python state.</a:t>
            </a:r>
          </a:p>
        </p:txBody>
      </p:sp>
      <p:sp>
        <p:nvSpPr>
          <p:cNvPr id="6" name="1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15</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A compile cache and a trace cache solve different problem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 compile cache and a trace cache solve different problems.</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Trace each call"/>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 each call</a:t>
            </a:r>
          </a:p>
        </p:txBody>
      </p:sp>
      <p:sp>
        <p:nvSpPr>
          <p:cNvPr id="11" name="Run Python helpers and / construct the current IR."/>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Run Python helpers and</a:t>
            </a:r>
          </a:p>
          <a:p>
            <a:pPr algn="l">
              <a:lnSpc>
                <a:spcPts val="1334"/>
              </a:lnSpc>
              <a:spcBef>
                <a:spcPts val="0"/>
              </a:spcBef>
              <a:spcAft>
                <a:spcPts val="0"/>
              </a:spcAft>
            </a:pPr>
            <a:r>
              <a:rPr sz="1150" b="0">
                <a:solidFill>
                  <a:srgbClr val="616161"/>
                </a:solidFill>
                <a:latin typeface="NVIDIA Sans"/>
              </a:rPr>
              <a:t>construct the current</a:t>
            </a:r>
          </a:p>
          <a:p>
            <a:pPr algn="l">
              <a:lnSpc>
                <a:spcPts val="1334"/>
              </a:lnSpc>
              <a:spcBef>
                <a:spcPts val="0"/>
              </a:spcBef>
              <a:spcAft>
                <a:spcPts val="0"/>
              </a:spcAft>
            </a:pPr>
            <a:r>
              <a:rPr sz="1150" b="0">
                <a:solidFill>
                  <a:srgbClr val="616161"/>
                </a:solidFill>
                <a:latin typeface="NVIDIA Sans"/>
              </a:rPr>
              <a:t>IR.</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Compute the key"/>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Compute the key</a:t>
            </a:r>
          </a:p>
        </p:txBody>
      </p:sp>
      <p:sp>
        <p:nvSpPr>
          <p:cNvPr id="15" name="IR + compilation settings / + pipeline + toolchain."/>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IR + compilation</a:t>
            </a:r>
          </a:p>
          <a:p>
            <a:pPr algn="l">
              <a:lnSpc>
                <a:spcPts val="1334"/>
              </a:lnSpc>
              <a:spcBef>
                <a:spcPts val="0"/>
              </a:spcBef>
              <a:spcAft>
                <a:spcPts val="0"/>
              </a:spcAft>
            </a:pPr>
            <a:r>
              <a:rPr sz="1150" b="0">
                <a:solidFill>
                  <a:srgbClr val="616161"/>
                </a:solidFill>
                <a:latin typeface="NVIDIA Sans"/>
              </a:rPr>
              <a:t>settings</a:t>
            </a:r>
          </a:p>
          <a:p>
            <a:pPr algn="l">
              <a:lnSpc>
                <a:spcPts val="1334"/>
              </a:lnSpc>
              <a:spcBef>
                <a:spcPts val="0"/>
              </a:spcBef>
              <a:spcAft>
                <a:spcPts val="0"/>
              </a:spcAft>
            </a:pPr>
            <a:r>
              <a:rPr sz="1150" b="0">
                <a:solidFill>
                  <a:srgbClr val="616161"/>
                </a:solidFill>
                <a:latin typeface="NVIDIA Sans"/>
              </a:rPr>
              <a:t>+ pipeline + toolchain.</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Reuse compiled code"/>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Reuse compiled</a:t>
            </a:r>
          </a:p>
          <a:p>
            <a:pPr algn="l">
              <a:lnSpc>
                <a:spcPts val="1739"/>
              </a:lnSpc>
              <a:spcBef>
                <a:spcPts val="0"/>
              </a:spcBef>
              <a:spcAft>
                <a:spcPts val="0"/>
              </a:spcAft>
            </a:pPr>
            <a:r>
              <a:rPr sz="1500" b="1">
                <a:solidFill>
                  <a:srgbClr val="416600"/>
                </a:solidFill>
                <a:latin typeface="NVIDIA Sans"/>
              </a:rPr>
              <a:t>code</a:t>
            </a:r>
          </a:p>
        </p:txBody>
      </p:sp>
      <p:sp>
        <p:nvSpPr>
          <p:cNvPr id="19" name="An in-memory hit skips / lowering and engine creation."/>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An in-memory hit skips</a:t>
            </a:r>
          </a:p>
          <a:p>
            <a:pPr algn="l">
              <a:lnSpc>
                <a:spcPts val="1334"/>
              </a:lnSpc>
              <a:spcBef>
                <a:spcPts val="0"/>
              </a:spcBef>
              <a:spcAft>
                <a:spcPts val="0"/>
              </a:spcAft>
            </a:pPr>
            <a:r>
              <a:rPr sz="1150" b="0">
                <a:solidFill>
                  <a:srgbClr val="616161"/>
                </a:solidFill>
                <a:latin typeface="NVIDIA Sans"/>
              </a:rPr>
              <a:t>lowering and engine</a:t>
            </a:r>
          </a:p>
          <a:p>
            <a:pPr algn="l">
              <a:lnSpc>
                <a:spcPts val="1334"/>
              </a:lnSpc>
              <a:spcBef>
                <a:spcPts val="0"/>
              </a:spcBef>
              <a:spcAft>
                <a:spcPts val="0"/>
              </a:spcAft>
            </a:pPr>
            <a:r>
              <a:rPr sz="1150" b="0">
                <a:solidFill>
                  <a:srgbClr val="616161"/>
                </a:solidFill>
                <a:latin typeface="NVIDIA Sans"/>
              </a:rPr>
              <a:t>creation.</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Execut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Execute</a:t>
            </a:r>
          </a:p>
        </p:txBody>
      </p:sp>
      <p:sp>
        <p:nvSpPr>
          <p:cNvPr id="23" name="Pass this call's / runtime arguments."/>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Pass this call's</a:t>
            </a:r>
          </a:p>
          <a:p>
            <a:pPr algn="l">
              <a:lnSpc>
                <a:spcPts val="1334"/>
              </a:lnSpc>
              <a:spcBef>
                <a:spcPts val="0"/>
              </a:spcBef>
              <a:spcAft>
                <a:spcPts val="0"/>
              </a:spcAft>
            </a:pPr>
            <a:r>
              <a:rPr sz="1150" b="0">
                <a:solidFill>
                  <a:srgbClr val="616161"/>
                </a:solidFill>
                <a:latin typeface="NVIDIA Sans"/>
              </a:rPr>
              <a:t>runtime arguments.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Keep the reusable core behind your 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Keep the reusable core behind your DSL</a:t>
            </a:r>
          </a:p>
        </p:txBody>
      </p:sp>
      <p:sp>
        <p:nvSpPr>
          <p:cNvPr id="5" name="Add a plugin when extending a contract; subclass when changing it."/>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Add a plugin when extending a contract; subclass when changing it.</a:t>
            </a:r>
          </a:p>
        </p:txBody>
      </p:sp>
      <p:sp>
        <p:nvSpPr>
          <p:cNvPr id="6" name="1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16</a:t>
            </a:r>
          </a:p>
        </p:txBody>
      </p:sp>
      <p:sp>
        <p:nvSpPr>
          <p:cNvPr id="7" name="Build a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Build a sub-DSL</a:t>
            </a:r>
          </a:p>
        </p:txBody>
      </p:sp>
      <p:sp>
        <p:nvSpPr>
          <p:cNvPr id="8" name="Reuse the mechanics; make the domain-specific decisions explicit."/>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Reuse the mechanics; make the domain-specific decisions explicit.</a:t>
            </a:r>
          </a:p>
        </p:txBody>
      </p:sp>
      <p:sp>
        <p:nvSpPr>
          <p:cNvPr id="9" name="Rectangle 8"/>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10" name="Rectangle 9"/>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11" name="BaseDSL"/>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BaseDSL</a:t>
            </a:r>
          </a:p>
        </p:txBody>
      </p:sp>
      <p:sp>
        <p:nvSpPr>
          <p:cNvPr id="12" name="Binding, preprocessing, tracing, / cache, diagnostics, invocation."/>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Binding, preprocessing,</a:t>
            </a:r>
          </a:p>
          <a:p>
            <a:pPr algn="l">
              <a:lnSpc>
                <a:spcPts val="1507"/>
              </a:lnSpc>
              <a:spcBef>
                <a:spcPts val="0"/>
              </a:spcBef>
              <a:spcAft>
                <a:spcPts val="0"/>
              </a:spcAft>
            </a:pPr>
            <a:r>
              <a:rPr sz="1300" b="0">
                <a:solidFill>
                  <a:srgbClr val="616161"/>
                </a:solidFill>
                <a:latin typeface="NVIDIA Sans"/>
              </a:rPr>
              <a:t>tracing,</a:t>
            </a:r>
          </a:p>
          <a:p>
            <a:pPr algn="l">
              <a:lnSpc>
                <a:spcPts val="1507"/>
              </a:lnSpc>
              <a:spcBef>
                <a:spcPts val="0"/>
              </a:spcBef>
              <a:spcAft>
                <a:spcPts val="0"/>
              </a:spcAft>
            </a:pPr>
            <a:r>
              <a:rPr sz="1300" b="0">
                <a:solidFill>
                  <a:srgbClr val="616161"/>
                </a:solidFill>
                <a:latin typeface="NVIDIA Sans"/>
              </a:rPr>
              <a:t>cache, diagnostics,</a:t>
            </a:r>
          </a:p>
          <a:p>
            <a:pPr algn="l">
              <a:lnSpc>
                <a:spcPts val="1507"/>
              </a:lnSpc>
              <a:spcBef>
                <a:spcPts val="0"/>
              </a:spcBef>
              <a:spcAft>
                <a:spcPts val="0"/>
              </a:spcAft>
            </a:pPr>
            <a:r>
              <a:rPr sz="1300" b="0">
                <a:solidFill>
                  <a:srgbClr val="616161"/>
                </a:solidFill>
                <a:latin typeface="NVIDIA Sans"/>
              </a:rPr>
              <a:t>invocation.</a:t>
            </a:r>
          </a:p>
        </p:txBody>
      </p:sp>
      <p:sp>
        <p:nvSpPr>
          <p:cNvPr id="13" name="Rectangle 12"/>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4" name="Rectangle 13"/>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5" name="Your DSL subclass"/>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Your DSL subclass</a:t>
            </a:r>
          </a:p>
        </p:txBody>
      </p:sp>
      <p:sp>
        <p:nvSpPr>
          <p:cNvPr id="16" name="Choose entry operations, executors, / configuration, and launch behavior."/>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Choose entry operations,</a:t>
            </a:r>
          </a:p>
          <a:p>
            <a:pPr algn="l">
              <a:lnSpc>
                <a:spcPts val="1507"/>
              </a:lnSpc>
              <a:spcBef>
                <a:spcPts val="0"/>
              </a:spcBef>
              <a:spcAft>
                <a:spcPts val="0"/>
              </a:spcAft>
            </a:pPr>
            <a:r>
              <a:rPr sz="1300" b="0">
                <a:solidFill>
                  <a:srgbClr val="616161"/>
                </a:solidFill>
                <a:latin typeface="NVIDIA Sans"/>
              </a:rPr>
              <a:t>executors,</a:t>
            </a:r>
          </a:p>
          <a:p>
            <a:pPr algn="l">
              <a:lnSpc>
                <a:spcPts val="1507"/>
              </a:lnSpc>
              <a:spcBef>
                <a:spcPts val="0"/>
              </a:spcBef>
              <a:spcAft>
                <a:spcPts val="0"/>
              </a:spcAft>
            </a:pPr>
            <a:r>
              <a:rPr sz="1300" b="0">
                <a:solidFill>
                  <a:srgbClr val="616161"/>
                </a:solidFill>
                <a:latin typeface="NVIDIA Sans"/>
              </a:rPr>
              <a:t>configuration, and launch</a:t>
            </a:r>
          </a:p>
          <a:p>
            <a:pPr algn="l">
              <a:lnSpc>
                <a:spcPts val="1507"/>
              </a:lnSpc>
              <a:spcBef>
                <a:spcPts val="0"/>
              </a:spcBef>
              <a:spcAft>
                <a:spcPts val="0"/>
              </a:spcAft>
            </a:pPr>
            <a:r>
              <a:rPr sz="1300" b="0">
                <a:solidFill>
                  <a:srgbClr val="616161"/>
                </a:solidFill>
                <a:latin typeface="NVIDIA Sans"/>
              </a:rPr>
              <a:t>behavior.</a:t>
            </a:r>
          </a:p>
        </p:txBody>
      </p:sp>
      <p:sp>
        <p:nvSpPr>
          <p:cNvPr id="17" name="Rectangle 16"/>
          <p:cNvSpPr/>
          <p:nvPr/>
        </p:nvSpPr>
        <p:spPr>
          <a:xfrm>
            <a:off x="6083808" y="1572768"/>
            <a:ext cx="2621280" cy="2459736"/>
          </a:xfrm>
          <a:prstGeom prst="rect">
            <a:avLst/>
          </a:prstGeom>
          <a:solidFill>
            <a:srgbClr val="F7F7F7"/>
          </a:solidFill>
          <a:ln>
            <a:noFill/>
          </a:ln>
          <a:effectLst/>
        </p:spPr>
        <p:txBody>
          <a:bodyPr rtlCol="0" anchor="ctr"/>
          <a:lstStyle/>
          <a:p>
            <a:pPr algn="ctr"/>
          </a:p>
        </p:txBody>
      </p:sp>
      <p:sp>
        <p:nvSpPr>
          <p:cNvPr id="18" name="Rectangle 17"/>
          <p:cNvSpPr/>
          <p:nvPr/>
        </p:nvSpPr>
        <p:spPr>
          <a:xfrm>
            <a:off x="6083808" y="1572768"/>
            <a:ext cx="2621280" cy="41148"/>
          </a:xfrm>
          <a:prstGeom prst="rect">
            <a:avLst/>
          </a:prstGeom>
          <a:solidFill>
            <a:srgbClr val="D5D5D5"/>
          </a:solidFill>
          <a:ln>
            <a:noFill/>
          </a:ln>
          <a:effectLst/>
        </p:spPr>
        <p:txBody>
          <a:bodyPr rtlCol="0" anchor="ctr"/>
          <a:lstStyle/>
          <a:p>
            <a:pPr algn="ctr"/>
          </a:p>
        </p:txBody>
      </p:sp>
      <p:sp>
        <p:nvSpPr>
          <p:cNvPr id="19" name="DialectPlugin"/>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DialectPlugin</a:t>
            </a:r>
          </a:p>
        </p:txBody>
      </p:sp>
      <p:sp>
        <p:nvSpPr>
          <p:cNvPr id="20" name="Add dialect registration, operations, / lowering passes, and libraries."/>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Add dialect registration,</a:t>
            </a:r>
          </a:p>
          <a:p>
            <a:pPr algn="l">
              <a:lnSpc>
                <a:spcPts val="1507"/>
              </a:lnSpc>
              <a:spcBef>
                <a:spcPts val="0"/>
              </a:spcBef>
              <a:spcAft>
                <a:spcPts val="0"/>
              </a:spcAft>
            </a:pPr>
            <a:r>
              <a:rPr sz="1300" b="0">
                <a:solidFill>
                  <a:srgbClr val="616161"/>
                </a:solidFill>
                <a:latin typeface="NVIDIA Sans"/>
              </a:rPr>
              <a:t>operations,</a:t>
            </a:r>
          </a:p>
          <a:p>
            <a:pPr algn="l">
              <a:lnSpc>
                <a:spcPts val="1507"/>
              </a:lnSpc>
              <a:spcBef>
                <a:spcPts val="0"/>
              </a:spcBef>
              <a:spcAft>
                <a:spcPts val="0"/>
              </a:spcAft>
            </a:pPr>
            <a:r>
              <a:rPr sz="1300" b="0">
                <a:solidFill>
                  <a:srgbClr val="616161"/>
                </a:solidFill>
                <a:latin typeface="NVIDIA Sans"/>
              </a:rPr>
              <a:t>lowering passes, and</a:t>
            </a:r>
          </a:p>
          <a:p>
            <a:pPr algn="l">
              <a:lnSpc>
                <a:spcPts val="1507"/>
              </a:lnSpc>
              <a:spcBef>
                <a:spcPts val="0"/>
              </a:spcBef>
              <a:spcAft>
                <a:spcPts val="0"/>
              </a:spcAft>
            </a:pPr>
            <a:r>
              <a:rPr sz="1300" b="0">
                <a:solidFill>
                  <a:srgbClr val="616161"/>
                </a:solidFill>
                <a:latin typeface="NVIDIA Sans"/>
              </a:rPr>
              <a:t>libraries.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GPU execution is a concrete extens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GPU execution is a concrete extension</a:t>
            </a:r>
          </a:p>
        </p:txBody>
      </p:sp>
      <p:sp>
        <p:nvSpPr>
          <p:cNvPr id="5" name="Separate the device body from the host launch."/>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Separate the device body from the host launch.</a:t>
            </a:r>
          </a:p>
        </p:txBody>
      </p:sp>
      <p:sp>
        <p:nvSpPr>
          <p:cNvPr id="6" name="1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17</a:t>
            </a:r>
          </a:p>
        </p:txBody>
      </p:sp>
      <p:sp>
        <p:nvSpPr>
          <p:cNvPr id="7" name="Build a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Build a sub-DSL</a:t>
            </a:r>
          </a:p>
        </p:txBody>
      </p:sp>
      <p:sp>
        <p:nvSpPr>
          <p:cNvPr id="8" name="The same expression tracing builds a GPU body with an explicit launc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same expression tracing builds a GPU body with an explicit launch.</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Device body"/>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Device body</a:t>
            </a:r>
          </a:p>
        </p:txBody>
      </p:sp>
      <p:sp>
        <p:nvSpPr>
          <p:cNvPr id="11" name="P = m.Pointer[m.Float32]"/>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 = m.Pointer[m.Float32]</a:t>
            </a:r>
          </a:p>
        </p:txBody>
      </p:sp>
      <p:sp>
        <p:nvSpPr>
          <p:cNvPr id="12"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3" name="@m.kernel"/>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@m.kernel</a:t>
            </a:r>
          </a:p>
        </p:txBody>
      </p:sp>
      <p:sp>
        <p:nvSpPr>
          <p:cNvPr id="14" name="def axpy_gpu(a: m.Float32, x: P, y: P,"/>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axpy_gpu(a: m.Float32, x: P, y: P,</a:t>
            </a:r>
          </a:p>
        </p:txBody>
      </p:sp>
      <p:sp>
        <p:nvSpPr>
          <p:cNvPr id="15" name="             out: P, n: m.Int32):"/>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 P, n: m.Int32):</a:t>
            </a:r>
          </a:p>
        </p:txBody>
      </p:sp>
      <p:sp>
        <p:nvSpPr>
          <p:cNvPr id="16" name="    i = m.block_idx()[0] * m.block_dim()[0]"/>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 = m.block_idx()[0] * m.block_dim()[0]</a:t>
            </a:r>
          </a:p>
        </p:txBody>
      </p:sp>
      <p:sp>
        <p:nvSpPr>
          <p:cNvPr id="17" name="    i += m.thread_idx()[0]"/>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 += m.thread_idx()[0]</a:t>
            </a:r>
          </a:p>
        </p:txBody>
      </p:sp>
      <p:sp>
        <p:nvSpPr>
          <p:cNvPr id="18" name="    if i &lt; n:"/>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if i &lt; n:</a:t>
            </a:r>
          </a:p>
        </p:txBody>
      </p:sp>
      <p:sp>
        <p:nvSpPr>
          <p:cNvPr id="19" name="        out[i] = a * x[i] + y[i]"/>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out[i] = a * x[i] + y[i]</a:t>
            </a:r>
          </a:p>
        </p:txBody>
      </p:sp>
      <p:sp>
        <p:nvSpPr>
          <p:cNvPr id="20" name="Rectangle 19"/>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1" name="Host launch"/>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Host launch</a:t>
            </a:r>
          </a:p>
        </p:txBody>
      </p:sp>
      <p:sp>
        <p:nvSpPr>
          <p:cNvPr id="22"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3" name="def launch(a: m.Float32, x: P, y: P,"/>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launch(a: m.Float32, x: P, y: P,</a:t>
            </a:r>
          </a:p>
        </p:txBody>
      </p:sp>
      <p:sp>
        <p:nvSpPr>
          <p:cNvPr id="24" name="           out: P, n: m.Int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 P, n: m.Int32):</a:t>
            </a:r>
          </a:p>
        </p:txBody>
      </p:sp>
      <p:sp>
        <p:nvSpPr>
          <p:cNvPr id="25" name="    axpy_gpu(a, x, y, out, n).launch("/>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axpy_gpu(a, x, y, out, n).launch(</a:t>
            </a:r>
          </a:p>
        </p:txBody>
      </p:sp>
      <p:sp>
        <p:nvSpPr>
          <p:cNvPr id="26" name="        grid=((n + 255) // 256, 1, 1),"/>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grid=((n + 255) // 256, 1, 1),</a:t>
            </a:r>
          </a:p>
        </p:txBody>
      </p:sp>
      <p:sp>
        <p:nvSpPr>
          <p:cNvPr id="27" name="        block=(256, 1, 1))"/>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block=(256, 1, 1))</a:t>
            </a:r>
          </a:p>
        </p:txBody>
      </p:sp>
      <p:sp>
        <p:nvSpPr>
          <p:cNvPr id="28"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9" name="# Pass caller-owned device buffers."/>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Pass caller-owned device buffers.</a:t>
            </a:r>
          </a:p>
        </p:txBody>
      </p:sp>
      <p:sp>
        <p:nvSpPr>
          <p:cNvPr id="30" name="# The framework owns their allocation."/>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The framework owns their allocation.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plugin supplies the offload pat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plugin supplies the offload path</a:t>
            </a:r>
          </a:p>
        </p:txBody>
      </p:sp>
      <p:sp>
        <p:nvSpPr>
          <p:cNvPr id="5" name="Compose the target-specific pipeline before the core lowering pass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Compose the target-specific pipeline before the core lowering passes.</a:t>
            </a:r>
          </a:p>
        </p:txBody>
      </p:sp>
      <p:sp>
        <p:nvSpPr>
          <p:cNvPr id="6" name="1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18</a:t>
            </a:r>
          </a:p>
        </p:txBody>
      </p:sp>
      <p:sp>
        <p:nvSpPr>
          <p:cNvPr id="7" name="Build a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Build a sub-DSL</a:t>
            </a:r>
          </a:p>
        </p:txBody>
      </p:sp>
      <p:sp>
        <p:nvSpPr>
          <p:cNvPr id="8" name="The frontend shares its value model; the plugin adds the target pat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frontend shares its value model; the plugin adds the target path.</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Capture"/>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Capture</a:t>
            </a:r>
          </a:p>
        </p:txBody>
      </p:sp>
      <p:sp>
        <p:nvSpPr>
          <p:cNvPr id="11" name="gpu.func device body / + host launch operation."/>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gpu.func device body</a:t>
            </a:r>
          </a:p>
          <a:p>
            <a:pPr algn="l">
              <a:lnSpc>
                <a:spcPts val="1334"/>
              </a:lnSpc>
              <a:spcBef>
                <a:spcPts val="0"/>
              </a:spcBef>
              <a:spcAft>
                <a:spcPts val="0"/>
              </a:spcAft>
            </a:pPr>
            <a:r>
              <a:rPr sz="1150" b="0">
                <a:solidFill>
                  <a:srgbClr val="616161"/>
                </a:solidFill>
                <a:latin typeface="NVIDIA Sans"/>
              </a:rPr>
              <a:t>+ host launch</a:t>
            </a:r>
          </a:p>
          <a:p>
            <a:pPr algn="l">
              <a:lnSpc>
                <a:spcPts val="1334"/>
              </a:lnSpc>
              <a:spcBef>
                <a:spcPts val="0"/>
              </a:spcBef>
              <a:spcAft>
                <a:spcPts val="0"/>
              </a:spcAft>
            </a:pPr>
            <a:r>
              <a:rPr sz="1150" b="0">
                <a:solidFill>
                  <a:srgbClr val="616161"/>
                </a:solidFill>
                <a:latin typeface="NVIDIA Sans"/>
              </a:rPr>
              <a:t>operation.</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GPU plugin"/>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GPU plugin</a:t>
            </a:r>
          </a:p>
        </p:txBody>
      </p:sp>
      <p:sp>
        <p:nvSpPr>
          <p:cNvPr id="15" name="GPU → NVVM lowering / and target compilation."/>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GPU → NVVM lowering</a:t>
            </a:r>
          </a:p>
          <a:p>
            <a:pPr algn="l">
              <a:lnSpc>
                <a:spcPts val="1334"/>
              </a:lnSpc>
              <a:spcBef>
                <a:spcPts val="0"/>
              </a:spcBef>
              <a:spcAft>
                <a:spcPts val="0"/>
              </a:spcAft>
            </a:pPr>
            <a:r>
              <a:rPr sz="1150" b="0">
                <a:solidFill>
                  <a:srgbClr val="616161"/>
                </a:solidFill>
                <a:latin typeface="NVIDIA Sans"/>
              </a:rPr>
              <a:t>and target compilation.</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Core lowering"/>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Core lowering</a:t>
            </a:r>
          </a:p>
        </p:txBody>
      </p:sp>
      <p:sp>
        <p:nvSpPr>
          <p:cNvPr id="19" name="SCF, arithmetic, and vectors / lower to LLVM."/>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SCF, arithmetic, and</a:t>
            </a:r>
          </a:p>
          <a:p>
            <a:pPr algn="l">
              <a:lnSpc>
                <a:spcPts val="1334"/>
              </a:lnSpc>
              <a:spcBef>
                <a:spcPts val="0"/>
              </a:spcBef>
              <a:spcAft>
                <a:spcPts val="0"/>
              </a:spcAft>
            </a:pPr>
            <a:r>
              <a:rPr sz="1150" b="0">
                <a:solidFill>
                  <a:srgbClr val="616161"/>
                </a:solidFill>
                <a:latin typeface="NVIDIA Sans"/>
              </a:rPr>
              <a:t>vectors</a:t>
            </a:r>
          </a:p>
          <a:p>
            <a:pPr algn="l">
              <a:lnSpc>
                <a:spcPts val="1334"/>
              </a:lnSpc>
              <a:spcBef>
                <a:spcPts val="0"/>
              </a:spcBef>
              <a:spcAft>
                <a:spcPts val="0"/>
              </a:spcAft>
            </a:pPr>
            <a:r>
              <a:rPr sz="1150" b="0">
                <a:solidFill>
                  <a:srgbClr val="616161"/>
                </a:solidFill>
                <a:latin typeface="NVIDIA Sans"/>
              </a:rPr>
              <a:t>lower to LLVM.</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Execution engin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Execution engine</a:t>
            </a:r>
          </a:p>
        </p:txBody>
      </p:sp>
      <p:sp>
        <p:nvSpPr>
          <p:cNvPr id="23" name="Generated host code calls / the CUDA runtime library."/>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Generated host code</a:t>
            </a:r>
          </a:p>
          <a:p>
            <a:pPr algn="l">
              <a:lnSpc>
                <a:spcPts val="1334"/>
              </a:lnSpc>
              <a:spcBef>
                <a:spcPts val="0"/>
              </a:spcBef>
              <a:spcAft>
                <a:spcPts val="0"/>
              </a:spcAft>
            </a:pPr>
            <a:r>
              <a:rPr sz="1150" b="0">
                <a:solidFill>
                  <a:srgbClr val="616161"/>
                </a:solidFill>
                <a:latin typeface="NVIDIA Sans"/>
              </a:rPr>
              <a:t>calls</a:t>
            </a:r>
          </a:p>
          <a:p>
            <a:pPr algn="l">
              <a:lnSpc>
                <a:spcPts val="1334"/>
              </a:lnSpc>
              <a:spcBef>
                <a:spcPts val="0"/>
              </a:spcBef>
              <a:spcAft>
                <a:spcPts val="0"/>
              </a:spcAft>
            </a:pPr>
            <a:r>
              <a:rPr sz="1150" b="0">
                <a:solidFill>
                  <a:srgbClr val="616161"/>
                </a:solidFill>
                <a:latin typeface="NVIDIA Sans"/>
              </a:rPr>
              <a:t>the CUDA runtime</a:t>
            </a:r>
          </a:p>
          <a:p>
            <a:pPr algn="l">
              <a:lnSpc>
                <a:spcPts val="1334"/>
              </a:lnSpc>
              <a:spcBef>
                <a:spcPts val="0"/>
              </a:spcBef>
              <a:spcAft>
                <a:spcPts val="0"/>
              </a:spcAft>
            </a:pPr>
            <a:r>
              <a:rPr sz="1150" b="0">
                <a:solidFill>
                  <a:srgbClr val="616161"/>
                </a:solidFill>
                <a:latin typeface="NVIDIA Sans"/>
              </a:rPr>
              <a:t>library.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Use independent agents as API learner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Use independent agents as API learners</a:t>
            </a:r>
          </a:p>
        </p:txBody>
      </p:sp>
      <p:sp>
        <p:nvSpPr>
          <p:cNvPr id="5" name="Give each role a bounded task, fixed resources, and observable check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Give each role a bounded task, fixed resources, and observable checks.</a:t>
            </a:r>
          </a:p>
        </p:txBody>
      </p:sp>
      <p:sp>
        <p:nvSpPr>
          <p:cNvPr id="6" name="1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19</a:t>
            </a:r>
          </a:p>
        </p:txBody>
      </p:sp>
      <p:sp>
        <p:nvSpPr>
          <p:cNvPr id="7" name="Feedback"/>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Feedback</a:t>
            </a:r>
          </a:p>
        </p:txBody>
      </p:sp>
      <p:sp>
        <p:nvSpPr>
          <p:cNvPr id="8" name="Review the code, logs, and failures; treat self-reports as claims to verify."/>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Review the code, logs, and failures; treat self-reports as claims to verify.</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Rol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Role</a:t>
            </a:r>
          </a:p>
        </p:txBody>
      </p:sp>
      <p:sp>
        <p:nvSpPr>
          <p:cNvPr id="11" name="Task"/>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Task</a:t>
            </a:r>
          </a:p>
        </p:txBody>
      </p:sp>
      <p:sp>
        <p:nvSpPr>
          <p:cNvPr id="12" name="Evidence to keep"/>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Evidence to keep</a:t>
            </a:r>
          </a:p>
        </p:txBody>
      </p:sp>
      <p:sp>
        <p:nvSpPr>
          <p:cNvPr id="13" name="Rectangle 12"/>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4" name="ML researcher"/>
          <p:cNvSpPr txBox="1"/>
          <p:nvPr/>
        </p:nvSpPr>
        <p:spPr>
          <a:xfrm>
            <a:off x="576072" y="2075688"/>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ML researcher</a:t>
            </a:r>
          </a:p>
        </p:txBody>
      </p:sp>
      <p:sp>
        <p:nvSpPr>
          <p:cNvPr id="15" name="CPU sum of squares"/>
          <p:cNvSpPr txBox="1"/>
          <p:nvPr/>
        </p:nvSpPr>
        <p:spPr>
          <a:xfrm>
            <a:off x="2450591" y="2075688"/>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CPU sum of squares</a:t>
            </a:r>
          </a:p>
        </p:txBody>
      </p:sp>
      <p:sp>
        <p:nvSpPr>
          <p:cNvPr id="16" name="Numerical checks + API obstacles"/>
          <p:cNvSpPr txBox="1"/>
          <p:nvPr/>
        </p:nvSpPr>
        <p:spPr>
          <a:xfrm>
            <a:off x="5605272" y="2075688"/>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Numerical checks + API obstacles</a:t>
            </a:r>
          </a:p>
        </p:txBody>
      </p:sp>
      <p:sp>
        <p:nvSpPr>
          <p:cNvPr id="17" name="Rectangle 16"/>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8" name="MLIR engineer"/>
          <p:cNvSpPr txBox="1"/>
          <p:nvPr/>
        </p:nvSpPr>
        <p:spPr>
          <a:xfrm>
            <a:off x="576072" y="2610612"/>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MLIR engineer</a:t>
            </a:r>
          </a:p>
        </p:txBody>
      </p:sp>
      <p:sp>
        <p:nvSpPr>
          <p:cNvPr id="19" name="Runtime prefix sum"/>
          <p:cNvSpPr txBox="1"/>
          <p:nvPr/>
        </p:nvSpPr>
        <p:spPr>
          <a:xfrm>
            <a:off x="2450591" y="2610612"/>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prefix sum</a:t>
            </a:r>
          </a:p>
        </p:txBody>
      </p:sp>
      <p:sp>
        <p:nvSpPr>
          <p:cNvPr id="20" name="IR carry + yield + results"/>
          <p:cNvSpPr txBox="1"/>
          <p:nvPr/>
        </p:nvSpPr>
        <p:spPr>
          <a:xfrm>
            <a:off x="5605272" y="2610612"/>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IR carry + yield + results</a:t>
            </a:r>
          </a:p>
        </p:txBody>
      </p:sp>
      <p:sp>
        <p:nvSpPr>
          <p:cNvPr id="21" name="Rectangle 20"/>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22" name="GPU expert"/>
          <p:cNvSpPr txBox="1"/>
          <p:nvPr/>
        </p:nvSpPr>
        <p:spPr>
          <a:xfrm>
            <a:off x="576072" y="3145536"/>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GPU expert</a:t>
            </a:r>
          </a:p>
        </p:txBody>
      </p:sp>
      <p:sp>
        <p:nvSpPr>
          <p:cNvPr id="23" name="Vector addition"/>
          <p:cNvSpPr txBox="1"/>
          <p:nvPr/>
        </p:nvSpPr>
        <p:spPr>
          <a:xfrm>
            <a:off x="2450591" y="3145536"/>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 addition</a:t>
            </a:r>
          </a:p>
        </p:txBody>
      </p:sp>
      <p:sp>
        <p:nvSpPr>
          <p:cNvPr id="24" name="Tail cases + actual execution"/>
          <p:cNvSpPr txBox="1"/>
          <p:nvPr/>
        </p:nvSpPr>
        <p:spPr>
          <a:xfrm>
            <a:off x="5605272" y="3145536"/>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Tail cases + actual execution</a:t>
            </a:r>
          </a:p>
        </p:txBody>
      </p:sp>
      <p:sp>
        <p:nvSpPr>
          <p:cNvPr id="25" name="Rectangle 24"/>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6" name="Triton author"/>
          <p:cNvSpPr txBox="1"/>
          <p:nvPr/>
        </p:nvSpPr>
        <p:spPr>
          <a:xfrm>
            <a:off x="576072" y="3680460"/>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Triton author</a:t>
            </a:r>
          </a:p>
        </p:txBody>
      </p:sp>
      <p:sp>
        <p:nvSpPr>
          <p:cNvPr id="27" name="Elementwise ReLU"/>
          <p:cNvSpPr txBox="1"/>
          <p:nvPr/>
        </p:nvSpPr>
        <p:spPr>
          <a:xfrm>
            <a:off x="2450591" y="3680460"/>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Elementwise ReLU</a:t>
            </a:r>
          </a:p>
        </p:txBody>
      </p:sp>
      <p:sp>
        <p:nvSpPr>
          <p:cNvPr id="28" name="Chosen syntax + diagnostics"/>
          <p:cNvSpPr txBox="1"/>
          <p:nvPr/>
        </p:nvSpPr>
        <p:spPr>
          <a:xfrm>
            <a:off x="5605272" y="3680460"/>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Chosen syntax + diagnostics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the recorded feedback actually show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the recorded feedback actually shows</a:t>
            </a:r>
          </a:p>
        </p:txBody>
      </p:sp>
      <p:sp>
        <p:nvSpPr>
          <p:cNvPr id="5" name="Two smoke exercises · older explicit-builder prototype · 21 September 2026"/>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Two smoke exercises · older explicit-builder prototype · 21 September 2026</a:t>
            </a:r>
          </a:p>
        </p:txBody>
      </p:sp>
      <p:sp>
        <p:nvSpPr>
          <p:cNvPr id="6" name="2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20</a:t>
            </a:r>
          </a:p>
        </p:txBody>
      </p:sp>
      <p:sp>
        <p:nvSpPr>
          <p:cNvPr id="7" name="Feedback"/>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Feedback</a:t>
            </a:r>
          </a:p>
        </p:txBody>
      </p:sp>
      <p:sp>
        <p:nvSpPr>
          <p:cNvPr id="8" name="Keep historical evidence tied to the API version it evaluate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Keep historical evidence tied to the API version it evaluated.</a:t>
            </a:r>
          </a:p>
        </p:txBody>
      </p:sp>
      <p:sp>
        <p:nvSpPr>
          <p:cNvPr id="9" name="Rectangle 8"/>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10" name="Rectangle 9"/>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11" name="CPU sum of squares"/>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CPU sum of squares</a:t>
            </a:r>
          </a:p>
        </p:txBody>
      </p:sp>
      <p:sp>
        <p:nvSpPr>
          <p:cNvPr id="12" name="Ten recorded numerical comparisons. / An independent reviewer reran the script."/>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Ten recorded numerical</a:t>
            </a:r>
          </a:p>
          <a:p>
            <a:pPr algn="l">
              <a:lnSpc>
                <a:spcPts val="1507"/>
              </a:lnSpc>
              <a:spcBef>
                <a:spcPts val="0"/>
              </a:spcBef>
              <a:spcAft>
                <a:spcPts val="0"/>
              </a:spcAft>
            </a:pPr>
            <a:r>
              <a:rPr sz="1300" b="0">
                <a:solidFill>
                  <a:srgbClr val="616161"/>
                </a:solidFill>
                <a:latin typeface="NVIDIA Sans"/>
              </a:rPr>
              <a:t>comparisons.</a:t>
            </a:r>
          </a:p>
          <a:p>
            <a:pPr algn="l">
              <a:lnSpc>
                <a:spcPts val="1507"/>
              </a:lnSpc>
              <a:spcBef>
                <a:spcPts val="0"/>
              </a:spcBef>
              <a:spcAft>
                <a:spcPts val="0"/>
              </a:spcAft>
            </a:pPr>
            <a:r>
              <a:rPr sz="1300" b="0">
                <a:solidFill>
                  <a:srgbClr val="616161"/>
                </a:solidFill>
                <a:latin typeface="NVIDIA Sans"/>
              </a:rPr>
              <a:t>An independent reviewer</a:t>
            </a:r>
          </a:p>
          <a:p>
            <a:pPr algn="l">
              <a:lnSpc>
                <a:spcPts val="1507"/>
              </a:lnSpc>
              <a:spcBef>
                <a:spcPts val="0"/>
              </a:spcBef>
              <a:spcAft>
                <a:spcPts val="0"/>
              </a:spcAft>
            </a:pPr>
            <a:r>
              <a:rPr sz="1300" b="0">
                <a:solidFill>
                  <a:srgbClr val="616161"/>
                </a:solidFill>
                <a:latin typeface="NVIDIA Sans"/>
              </a:rPr>
              <a:t>reran the script.</a:t>
            </a:r>
          </a:p>
        </p:txBody>
      </p:sp>
      <p:sp>
        <p:nvSpPr>
          <p:cNvPr id="13" name="Rectangle 12"/>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4" name="Rectangle 13"/>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5" name="CUDA ReLU"/>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CUDA ReLU</a:t>
            </a:r>
          </a:p>
        </p:txBody>
      </p:sp>
      <p:sp>
        <p:nvSpPr>
          <p:cNvPr id="16" name="Empty, singleton, and tail cases. / Recorded framework agreement."/>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Empty, singleton, and tail</a:t>
            </a:r>
          </a:p>
          <a:p>
            <a:pPr algn="l">
              <a:lnSpc>
                <a:spcPts val="1507"/>
              </a:lnSpc>
              <a:spcBef>
                <a:spcPts val="0"/>
              </a:spcBef>
              <a:spcAft>
                <a:spcPts val="0"/>
              </a:spcAft>
            </a:pPr>
            <a:r>
              <a:rPr sz="1300" b="0">
                <a:solidFill>
                  <a:srgbClr val="616161"/>
                </a:solidFill>
                <a:latin typeface="NVIDIA Sans"/>
              </a:rPr>
              <a:t>cases.</a:t>
            </a:r>
          </a:p>
          <a:p>
            <a:pPr algn="l">
              <a:lnSpc>
                <a:spcPts val="1507"/>
              </a:lnSpc>
              <a:spcBef>
                <a:spcPts val="0"/>
              </a:spcBef>
              <a:spcAft>
                <a:spcPts val="0"/>
              </a:spcAft>
            </a:pPr>
            <a:r>
              <a:rPr sz="1300" b="0">
                <a:solidFill>
                  <a:srgbClr val="616161"/>
                </a:solidFill>
                <a:latin typeface="NVIDIA Sans"/>
              </a:rPr>
              <a:t>Recorded framework</a:t>
            </a:r>
          </a:p>
          <a:p>
            <a:pPr algn="l">
              <a:lnSpc>
                <a:spcPts val="1507"/>
              </a:lnSpc>
              <a:spcBef>
                <a:spcPts val="0"/>
              </a:spcBef>
              <a:spcAft>
                <a:spcPts val="0"/>
              </a:spcAft>
            </a:pPr>
            <a:r>
              <a:rPr sz="1300" b="0">
                <a:solidFill>
                  <a:srgbClr val="616161"/>
                </a:solidFill>
                <a:latin typeface="NVIDIA Sans"/>
              </a:rPr>
              <a:t>agreement.</a:t>
            </a:r>
          </a:p>
        </p:txBody>
      </p:sp>
      <p:sp>
        <p:nvSpPr>
          <p:cNvPr id="17" name="Rectangle 16"/>
          <p:cNvSpPr/>
          <p:nvPr/>
        </p:nvSpPr>
        <p:spPr>
          <a:xfrm>
            <a:off x="6083808" y="1572768"/>
            <a:ext cx="2621280" cy="2459736"/>
          </a:xfrm>
          <a:prstGeom prst="rect">
            <a:avLst/>
          </a:prstGeom>
          <a:solidFill>
            <a:srgbClr val="F7F7F7"/>
          </a:solidFill>
          <a:ln>
            <a:noFill/>
          </a:ln>
          <a:effectLst/>
        </p:spPr>
        <p:txBody>
          <a:bodyPr rtlCol="0" anchor="ctr"/>
          <a:lstStyle/>
          <a:p>
            <a:pPr algn="ctr"/>
          </a:p>
        </p:txBody>
      </p:sp>
      <p:sp>
        <p:nvSpPr>
          <p:cNvPr id="18" name="Rectangle 17"/>
          <p:cNvSpPr/>
          <p:nvPr/>
        </p:nvSpPr>
        <p:spPr>
          <a:xfrm>
            <a:off x="6083808" y="1572768"/>
            <a:ext cx="2621280" cy="41148"/>
          </a:xfrm>
          <a:prstGeom prst="rect">
            <a:avLst/>
          </a:prstGeom>
          <a:solidFill>
            <a:srgbClr val="D5D5D5"/>
          </a:solidFill>
          <a:ln>
            <a:noFill/>
          </a:ln>
          <a:effectLst/>
        </p:spPr>
        <p:txBody>
          <a:bodyPr rtlCol="0" anchor="ctr"/>
          <a:lstStyle/>
          <a:p>
            <a:pPr algn="ctr"/>
          </a:p>
        </p:txBody>
      </p:sp>
      <p:sp>
        <p:nvSpPr>
          <p:cNvPr id="19" name="Evidence boundary"/>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Evidence boundary</a:t>
            </a:r>
          </a:p>
        </p:txBody>
      </p:sp>
      <p:sp>
        <p:nvSpPr>
          <p:cNvPr id="20" name="Both agents reported first-pass success. / This predates native AST capture."/>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Both agents reported</a:t>
            </a:r>
          </a:p>
          <a:p>
            <a:pPr algn="l">
              <a:lnSpc>
                <a:spcPts val="1507"/>
              </a:lnSpc>
              <a:spcBef>
                <a:spcPts val="0"/>
              </a:spcBef>
              <a:spcAft>
                <a:spcPts val="0"/>
              </a:spcAft>
            </a:pPr>
            <a:r>
              <a:rPr sz="1300" b="0">
                <a:solidFill>
                  <a:srgbClr val="616161"/>
                </a:solidFill>
                <a:latin typeface="NVIDIA Sans"/>
              </a:rPr>
              <a:t>first-pass success.</a:t>
            </a:r>
          </a:p>
          <a:p>
            <a:pPr algn="l">
              <a:lnSpc>
                <a:spcPts val="1507"/>
              </a:lnSpc>
              <a:spcBef>
                <a:spcPts val="0"/>
              </a:spcBef>
              <a:spcAft>
                <a:spcPts val="0"/>
              </a:spcAft>
            </a:pPr>
            <a:r>
              <a:rPr sz="1300" b="0">
                <a:solidFill>
                  <a:srgbClr val="616161"/>
                </a:solidFill>
                <a:latin typeface="NVIDIA Sans"/>
              </a:rPr>
              <a:t>This predates native AST</a:t>
            </a:r>
          </a:p>
          <a:p>
            <a:pPr algn="l">
              <a:lnSpc>
                <a:spcPts val="1507"/>
              </a:lnSpc>
              <a:spcBef>
                <a:spcPts val="0"/>
              </a:spcBef>
              <a:spcAft>
                <a:spcPts val="0"/>
              </a:spcAft>
            </a:pPr>
            <a:r>
              <a:rPr sz="1300" b="0">
                <a:solidFill>
                  <a:srgbClr val="616161"/>
                </a:solidFill>
                <a:latin typeface="NVIDIA Sans"/>
              </a:rPr>
              <a:t>capture.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ake the state transfer visib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Make the state transfer visible</a:t>
            </a:r>
          </a:p>
        </p:txBody>
      </p:sp>
      <p:sp>
        <p:nvSpPr>
          <p:cNvPr id="5" name="Native syntax and explicit builders describe the same loop dataflow."/>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Native syntax and explicit builders describe the same loop dataflow.</a:t>
            </a:r>
          </a:p>
        </p:txBody>
      </p:sp>
      <p:sp>
        <p:nvSpPr>
          <p:cNvPr id="6" name="2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21</a:t>
            </a:r>
          </a:p>
        </p:txBody>
      </p:sp>
      <p:sp>
        <p:nvSpPr>
          <p:cNvPr id="7" name="Mutation handoff"/>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Mutation handoff</a:t>
            </a:r>
          </a:p>
        </p:txBody>
      </p:sp>
      <p:sp>
        <p:nvSpPr>
          <p:cNvPr id="8" name="The AST pass identifies writes and threads values through region callback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AST pass identifies writes and threads values through region callbacks.</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Explicit carries"/>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Explicit carries</a:t>
            </a:r>
          </a:p>
        </p:txBody>
      </p:sp>
      <p:sp>
        <p:nvSpPr>
          <p:cNvPr id="11" name="@m.jit(preprocess=False)"/>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@m.jit(preprocess=False)</a:t>
            </a:r>
          </a:p>
        </p:txBody>
      </p:sp>
      <p:sp>
        <p:nvSpPr>
          <p:cNvPr id="12" name="def explicit(n: m.Int32) -&gt;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explicit(n: m.Int32) -&gt; m.Int32:</a:t>
            </a:r>
          </a:p>
        </p:txBody>
      </p:sp>
      <p:sp>
        <p:nvSpPr>
          <p:cNvPr id="13"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4" name="    for i, a, result in m.for_("/>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a, result in m.for_(</a:t>
            </a:r>
          </a:p>
        </p:txBody>
      </p:sp>
      <p:sp>
        <p:nvSpPr>
          <p:cNvPr id="15" name="            0, n, 1, [acc]):"/>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n, 1, [acc]):</a:t>
            </a:r>
          </a:p>
        </p:txBody>
      </p:sp>
      <p:sp>
        <p:nvSpPr>
          <p:cNvPr id="16" name="        m.yield_([a + i])"/>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m.yield_([a + i])</a:t>
            </a:r>
          </a:p>
        </p:txBody>
      </p:sp>
      <p:sp>
        <p:nvSpPr>
          <p:cNvPr id="17" name="    return resul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result</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AST-assisted syntax"/>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AST-assisted syntax</a:t>
            </a:r>
          </a:p>
        </p:txBody>
      </p:sp>
      <p:sp>
        <p:nvSpPr>
          <p:cNvPr id="20"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1" name="def native(n: m.Int32) -&gt; m.Int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native(n: m.Int32) -&gt; m.Int32:</a:t>
            </a:r>
          </a:p>
        </p:txBody>
      </p:sp>
      <p:sp>
        <p:nvSpPr>
          <p:cNvPr id="22" name="    acc = m.Int32(0)"/>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23" name="    for i in range(n):"/>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24" name="        acc += i"/>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25" name="    return acc"/>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26"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7" name="# Both build scf.for with an iter_arg."/>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Both build scf.for with an iter_arg.</a:t>
            </a:r>
          </a:p>
        </p:txBody>
      </p:sp>
      <p:sp>
        <p:nvSpPr>
          <p:cNvPr id="28" name="# Both return 45 for n = 10."/>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Both return 45 for n = 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ich state does the frontend represen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Which state does the frontend represent?</a:t>
            </a:r>
          </a:p>
        </p:txBody>
      </p:sp>
      <p:sp>
        <p:nvSpPr>
          <p:cNvPr id="5" name="Value replacement, memory effects, and object identity are different cas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Value replacement, memory effects, and object identity are different cases.</a:t>
            </a:r>
          </a:p>
        </p:txBody>
      </p:sp>
      <p:sp>
        <p:nvSpPr>
          <p:cNvPr id="6" name="2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22</a:t>
            </a:r>
          </a:p>
        </p:txBody>
      </p:sp>
      <p:sp>
        <p:nvSpPr>
          <p:cNvPr id="7" name="Mutation handoff"/>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Mutation handoff</a:t>
            </a:r>
          </a:p>
        </p:txBody>
      </p:sp>
      <p:sp>
        <p:nvSpPr>
          <p:cNvPr id="8" name="The next problem is preserving the meaning of mutation across runtime control flow."/>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next problem is preserving the meaning of mutation across runtime control flow.</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State chang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State change</a:t>
            </a:r>
          </a:p>
        </p:txBody>
      </p:sp>
      <p:sp>
        <p:nvSpPr>
          <p:cNvPr id="11" name="Current representation"/>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Current representation</a:t>
            </a:r>
          </a:p>
        </p:txBody>
      </p:sp>
      <p:sp>
        <p:nvSpPr>
          <p:cNvPr id="12" name="Boundary"/>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Boundary</a:t>
            </a:r>
          </a:p>
        </p:txBody>
      </p:sp>
      <p:sp>
        <p:nvSpPr>
          <p:cNvPr id="13" name="Rectangle 12"/>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4" name="acc = acc + i"/>
          <p:cNvSpPr txBox="1"/>
          <p:nvPr/>
        </p:nvSpPr>
        <p:spPr>
          <a:xfrm>
            <a:off x="576072" y="2075688"/>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acc = acc + i</a:t>
            </a:r>
          </a:p>
        </p:txBody>
      </p:sp>
      <p:sp>
        <p:nvSpPr>
          <p:cNvPr id="15" name="SSA region carry/result"/>
          <p:cNvSpPr txBox="1"/>
          <p:nvPr/>
        </p:nvSpPr>
        <p:spPr>
          <a:xfrm>
            <a:off x="2450591" y="2075688"/>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SSA region carry/result</a:t>
            </a:r>
          </a:p>
        </p:txBody>
      </p:sp>
      <p:sp>
        <p:nvSpPr>
          <p:cNvPr id="16" name="Runtime leaf with stable type"/>
          <p:cNvSpPr txBox="1"/>
          <p:nvPr/>
        </p:nvSpPr>
        <p:spPr>
          <a:xfrm>
            <a:off x="5605272" y="2075688"/>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leaf with stable type</a:t>
            </a:r>
          </a:p>
        </p:txBody>
      </p:sp>
      <p:sp>
        <p:nvSpPr>
          <p:cNvPr id="17" name="Rectangle 16"/>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8" name="Fixed-structure container state"/>
          <p:cNvSpPr txBox="1"/>
          <p:nvPr/>
        </p:nvSpPr>
        <p:spPr>
          <a:xfrm>
            <a:off x="576072" y="2610612"/>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Fixed-structure</a:t>
            </a:r>
          </a:p>
          <a:p>
            <a:pPr algn="l">
              <a:lnSpc>
                <a:spcPts val="1391"/>
              </a:lnSpc>
              <a:spcBef>
                <a:spcPts val="0"/>
              </a:spcBef>
              <a:spcAft>
                <a:spcPts val="0"/>
              </a:spcAft>
            </a:pPr>
            <a:r>
              <a:rPr sz="1200" b="1">
                <a:solidFill>
                  <a:srgbClr val="000000"/>
                </a:solidFill>
                <a:latin typeface="NVIDIA Sans"/>
              </a:rPr>
              <a:t>container state</a:t>
            </a:r>
          </a:p>
        </p:txBody>
      </p:sp>
      <p:sp>
        <p:nvSpPr>
          <p:cNvPr id="19" name="Flatten leaves, rebuild structure"/>
          <p:cNvSpPr txBox="1"/>
          <p:nvPr/>
        </p:nvSpPr>
        <p:spPr>
          <a:xfrm>
            <a:off x="2450591" y="2610612"/>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leaves, rebuild structure</a:t>
            </a:r>
          </a:p>
        </p:txBody>
      </p:sp>
      <p:sp>
        <p:nvSpPr>
          <p:cNvPr id="20" name="Stable shape; unshared identities"/>
          <p:cNvSpPr txBox="1"/>
          <p:nvPr/>
        </p:nvSpPr>
        <p:spPr>
          <a:xfrm>
            <a:off x="5605272" y="2610612"/>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Stable shape; unshared identities</a:t>
            </a:r>
          </a:p>
        </p:txBody>
      </p:sp>
      <p:sp>
        <p:nvSpPr>
          <p:cNvPr id="21" name="Rectangle 20"/>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22" name="out[i] = value"/>
          <p:cNvSpPr txBox="1"/>
          <p:nvPr/>
        </p:nvSpPr>
        <p:spPr>
          <a:xfrm>
            <a:off x="576072" y="3145536"/>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out[i] = value</a:t>
            </a:r>
          </a:p>
        </p:txBody>
      </p:sp>
      <p:sp>
        <p:nvSpPr>
          <p:cNvPr id="23" name="Runtime memory store"/>
          <p:cNvSpPr txBox="1"/>
          <p:nvPr/>
        </p:nvSpPr>
        <p:spPr>
          <a:xfrm>
            <a:off x="2450591" y="3145536"/>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memory store</a:t>
            </a:r>
          </a:p>
        </p:txBody>
      </p:sp>
      <p:sp>
        <p:nvSpPr>
          <p:cNvPr id="24" name="Pointer is a reference leaf"/>
          <p:cNvSpPr txBox="1"/>
          <p:nvPr/>
        </p:nvSpPr>
        <p:spPr>
          <a:xfrm>
            <a:off x="5605272" y="3145536"/>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 is a reference leaf</a:t>
            </a:r>
          </a:p>
        </p:txBody>
      </p:sp>
      <p:sp>
        <p:nvSpPr>
          <p:cNvPr id="25" name="Rectangle 24"/>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6" name="Aliased mutable objects"/>
          <p:cNvSpPr txBox="1"/>
          <p:nvPr/>
        </p:nvSpPr>
        <p:spPr>
          <a:xfrm>
            <a:off x="576072" y="3680460"/>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Aliased mutable</a:t>
            </a:r>
          </a:p>
          <a:p>
            <a:pPr algn="l">
              <a:lnSpc>
                <a:spcPts val="1391"/>
              </a:lnSpc>
              <a:spcBef>
                <a:spcPts val="0"/>
              </a:spcBef>
              <a:spcAft>
                <a:spcPts val="0"/>
              </a:spcAft>
            </a:pPr>
            <a:r>
              <a:rPr sz="1200" b="1">
                <a:solidFill>
                  <a:srgbClr val="000000"/>
                </a:solidFill>
                <a:latin typeface="NVIDIA Sans"/>
              </a:rPr>
              <a:t>objects</a:t>
            </a:r>
          </a:p>
        </p:txBody>
      </p:sp>
      <p:sp>
        <p:nvSpPr>
          <p:cNvPr id="27" name="Identity must be preserved"/>
          <p:cNvSpPr txBox="1"/>
          <p:nvPr/>
        </p:nvSpPr>
        <p:spPr>
          <a:xfrm>
            <a:off x="2450591" y="3680460"/>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Identity must be preserved</a:t>
            </a:r>
          </a:p>
        </p:txBody>
      </p:sp>
      <p:sp>
        <p:nvSpPr>
          <p:cNvPr id="28" name="General alias recovery is beyond this model"/>
          <p:cNvSpPr txBox="1"/>
          <p:nvPr/>
        </p:nvSpPr>
        <p:spPr>
          <a:xfrm>
            <a:off x="5605272" y="3680460"/>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General alias recovery is beyond this</a:t>
            </a:r>
          </a:p>
          <a:p>
            <a:pPr algn="l">
              <a:lnSpc>
                <a:spcPts val="1391"/>
              </a:lnSpc>
              <a:spcBef>
                <a:spcPts val="0"/>
              </a:spcBef>
              <a:spcAft>
                <a:spcPts val="0"/>
              </a:spcAft>
            </a:pPr>
            <a:r>
              <a:rPr sz="1200" b="0">
                <a:solidFill>
                  <a:srgbClr val="616161"/>
                </a:solidFill>
                <a:latin typeface="NVIDIA Sans"/>
              </a:rPr>
              <a:t>model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2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23</a:t>
            </a:r>
          </a:p>
        </p:txBody>
      </p:sp>
      <p:sp>
        <p:nvSpPr>
          <p:cNvPr id="5" name="NEXT · MUTATION AND SSA"/>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NEXT · MUTATION AND SSA</a:t>
            </a:r>
          </a:p>
        </p:txBody>
      </p:sp>
      <p:sp>
        <p:nvSpPr>
          <p:cNvPr id="6" name="From values to mutation"/>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From values to mutation</a:t>
            </a:r>
          </a:p>
        </p:txBody>
      </p:sp>
      <p:sp>
        <p:nvSpPr>
          <p:cNvPr id="7" name="Amir · Mutation and the PyIR idea · 15 minutes"/>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Amir · Mutation and the PyIR idea · 15 minutes</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Amir · 15 minutes"/>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Amir · 15 minutes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2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24</a:t>
            </a:r>
          </a:p>
        </p:txBody>
      </p:sp>
      <p:sp>
        <p:nvSpPr>
          <p:cNvPr id="5" name="AMIR · 30:00–45:00"/>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 30:00–45:00</a:t>
            </a:r>
          </a:p>
        </p:txBody>
      </p:sp>
      <p:sp>
        <p:nvSpPr>
          <p:cNvPr id="6" name="Amir · Mutation and the PyIR idea"/>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Amir · Mutation and the PyIR idea</a:t>
            </a:r>
          </a:p>
        </p:txBody>
      </p:sp>
      <p:sp>
        <p:nvSpPr>
          <p:cNvPr id="7" name="Reserved section · 30:00–45:00"/>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Reserved section · 30:00–45:00</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Reserved for Amir’s slides"/>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Reserved for Amir’s slides</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 Python DSL for MLIR</dc:title>
  <dc:subject>LLVM conference tutorial: 30-minute MLIR DSL core + Amir's 15-minute PyIR section</dc:subject>
  <dc:creator/>
  <cp:keywords>MLIR, Python, DSL, tutorial, draft</cp:keywords>
  <dc:description>Draft v3. Uses the supplied cutlass-python-pytorch-v22 template and style.</dc:description>
  <cp:lastModifiedBy>Steve Canny</cp:lastModifiedBy>
  <cp:revision>1</cp:revision>
  <dcterms:created xsi:type="dcterms:W3CDTF">2013-01-27T09:14:16Z</dcterms:created>
  <dcterms:modified xsi:type="dcterms:W3CDTF">2013-01-27T09:15:58Z</dcterms:modified>
  <cp:category/>
</cp:coreProperties>
</file>