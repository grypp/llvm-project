
<file path=[Content_Types].xml><?xml version="1.0" encoding="utf-8"?>
<Types xmlns="http://schemas.openxmlformats.org/package/2006/content-types">
  <Default Extension="bin" ContentType="application/vnd.openxmlformats-officedocument.presentationml.printerSettings"/>
  <Default Extension="fntdata" ContentType="application/x-fontdata"/>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0" autoCompressPictures="0" embedTrueTypeFonts="1">
  <p:sldMasterIdLst>
    <p:sldMasterId id="2147483648" r:id="rId1"/>
  </p:sld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31"/>
    <p:sldId id="275" r:id="rId32"/>
    <p:sldId id="276" r:id="rId33"/>
    <p:sldId id="277" r:id="rId34"/>
    <p:sldId id="278" r:id="rId35"/>
    <p:sldId id="279" r:id="rId36"/>
    <p:sldId id="280" r:id="rId37"/>
    <p:sldId id="281" r:id="rId38"/>
    <p:sldId id="282" r:id="rId39"/>
    <p:sldId id="283" r:id="rId40"/>
    <p:sldId id="284" r:id="rId41"/>
    <p:sldId id="285" r:id="rId42"/>
    <p:sldId id="286" r:id="rId43"/>
    <p:sldId id="287" r:id="rId44"/>
    <p:sldId id="288" r:id="rId45"/>
    <p:sldId id="289" r:id="rId46"/>
    <p:sldId id="290" r:id="rId47"/>
    <p:sldId id="291" r:id="rId48"/>
    <p:sldId id="292" r:id="rId49"/>
    <p:sldId id="293" r:id="rId50"/>
    <p:sldId id="294" r:id="rId51"/>
    <p:sldId id="295" r:id="rId52"/>
    <p:sldId id="296" r:id="rId53"/>
    <p:sldId id="297" r:id="rId54"/>
    <p:sldId id="298" r:id="rId55"/>
    <p:sldId id="299" r:id="rId56"/>
    <p:sldId id="300" r:id="rId57"/>
    <p:sldId id="301" r:id="rId58"/>
    <p:sldId id="302" r:id="rId59"/>
    <p:sldId id="303" r:id="rId60"/>
    <p:sldId id="304" r:id="rId61"/>
    <p:sldId id="305" r:id="rId62"/>
    <p:sldId id="306" r:id="rId63"/>
    <p:sldId id="307" r:id="rId64"/>
    <p:sldId id="308" r:id="rId65"/>
  </p:sldIdLst>
  <p:sldSz cx="9144000" cy="5143500" type="screen16x9"/>
  <p:notesSz cx="6858000" cy="9144000"/>
  <p:embeddedFontLst>
    <p:embeddedFont>
      <p:font typeface="NVIDIA Sans"/>
      <p:regular r:id="rIdEmbeddedFont1"/>
      <p:bold r:id="rIdEmbeddedFont2"/>
    </p:embeddedFont>
    <p:embeddedFont>
      <p:font typeface="NVIDIA Sans Light"/>
      <p:regular r:id="rIdEmbeddedFont3"/>
    </p:embeddedFont>
    <p:embeddedFont>
      <p:font typeface="JetBrains Mono"/>
      <p:regular r:id="rIdEmbeddedFont4"/>
      <p:bold r:id="rIdEmbeddedFont5"/>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EmbeddedFont1" Type="http://schemas.openxmlformats.org/officeDocument/2006/relationships/font" Target="fonts/codexFont1.fntdata"/><Relationship Id="rIdEmbeddedFont2" Type="http://schemas.openxmlformats.org/officeDocument/2006/relationships/font" Target="fonts/codexFont2.fntdata"/><Relationship Id="rIdEmbeddedFont3" Type="http://schemas.openxmlformats.org/officeDocument/2006/relationships/font" Target="fonts/codexFont3.fntdata"/><Relationship Id="rIdEmbeddedFont4" Type="http://schemas.openxmlformats.org/officeDocument/2006/relationships/font" Target="fonts/codexFont4.fntdata"/><Relationship Id="rIdEmbeddedFont5" Type="http://schemas.openxmlformats.org/officeDocument/2006/relationships/font" Target="fonts/codexFont5.fntdata"/><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8" Type="http://schemas.openxmlformats.org/officeDocument/2006/relationships/notesMaster" Target="notesMasters/notesMaster1.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20.xml"/><Relationship Id="rId33" Type="http://schemas.openxmlformats.org/officeDocument/2006/relationships/slide" Target="slides/slide21.xml"/><Relationship Id="rId34" Type="http://schemas.openxmlformats.org/officeDocument/2006/relationships/slide" Target="slides/slide22.xml"/><Relationship Id="rId35" Type="http://schemas.openxmlformats.org/officeDocument/2006/relationships/slide" Target="slides/slide23.xml"/><Relationship Id="rId36" Type="http://schemas.openxmlformats.org/officeDocument/2006/relationships/slide" Target="slides/slide24.xml"/><Relationship Id="rId37" Type="http://schemas.openxmlformats.org/officeDocument/2006/relationships/slide" Target="slides/slide25.xml"/><Relationship Id="rId38" Type="http://schemas.openxmlformats.org/officeDocument/2006/relationships/slide" Target="slides/slide26.xml"/><Relationship Id="rId39" Type="http://schemas.openxmlformats.org/officeDocument/2006/relationships/slide" Target="slides/slide27.xml"/><Relationship Id="rId40" Type="http://schemas.openxmlformats.org/officeDocument/2006/relationships/slide" Target="slides/slide28.xml"/><Relationship Id="rId41" Type="http://schemas.openxmlformats.org/officeDocument/2006/relationships/slide" Target="slides/slide29.xml"/><Relationship Id="rId42" Type="http://schemas.openxmlformats.org/officeDocument/2006/relationships/slide" Target="slides/slide30.xml"/><Relationship Id="rId43" Type="http://schemas.openxmlformats.org/officeDocument/2006/relationships/slide" Target="slides/slide31.xml"/><Relationship Id="rId44" Type="http://schemas.openxmlformats.org/officeDocument/2006/relationships/slide" Target="slides/slide32.xml"/><Relationship Id="rId45" Type="http://schemas.openxmlformats.org/officeDocument/2006/relationships/slide" Target="slides/slide33.xml"/><Relationship Id="rId46" Type="http://schemas.openxmlformats.org/officeDocument/2006/relationships/slide" Target="slides/slide34.xml"/><Relationship Id="rId47" Type="http://schemas.openxmlformats.org/officeDocument/2006/relationships/slide" Target="slides/slide35.xml"/><Relationship Id="rId48" Type="http://schemas.openxmlformats.org/officeDocument/2006/relationships/slide" Target="slides/slide36.xml"/><Relationship Id="rId49" Type="http://schemas.openxmlformats.org/officeDocument/2006/relationships/slide" Target="slides/slide37.xml"/><Relationship Id="rId50" Type="http://schemas.openxmlformats.org/officeDocument/2006/relationships/slide" Target="slides/slide38.xml"/><Relationship Id="rId51" Type="http://schemas.openxmlformats.org/officeDocument/2006/relationships/slide" Target="slides/slide39.xml"/><Relationship Id="rId52" Type="http://schemas.openxmlformats.org/officeDocument/2006/relationships/slide" Target="slides/slide40.xml"/><Relationship Id="rId53" Type="http://schemas.openxmlformats.org/officeDocument/2006/relationships/slide" Target="slides/slide41.xml"/><Relationship Id="rId54" Type="http://schemas.openxmlformats.org/officeDocument/2006/relationships/slide" Target="slides/slide42.xml"/><Relationship Id="rId55" Type="http://schemas.openxmlformats.org/officeDocument/2006/relationships/slide" Target="slides/slide43.xml"/><Relationship Id="rId56" Type="http://schemas.openxmlformats.org/officeDocument/2006/relationships/slide" Target="slides/slide44.xml"/><Relationship Id="rId57" Type="http://schemas.openxmlformats.org/officeDocument/2006/relationships/slide" Target="slides/slide45.xml"/><Relationship Id="rId58" Type="http://schemas.openxmlformats.org/officeDocument/2006/relationships/slide" Target="slides/slide46.xml"/><Relationship Id="rId59" Type="http://schemas.openxmlformats.org/officeDocument/2006/relationships/slide" Target="slides/slide47.xml"/><Relationship Id="rId60" Type="http://schemas.openxmlformats.org/officeDocument/2006/relationships/slide" Target="slides/slide48.xml"/><Relationship Id="rId61" Type="http://schemas.openxmlformats.org/officeDocument/2006/relationships/slide" Target="slides/slide49.xml"/><Relationship Id="rId62" Type="http://schemas.openxmlformats.org/officeDocument/2006/relationships/slide" Target="slides/slide50.xml"/><Relationship Id="rId63" Type="http://schemas.openxmlformats.org/officeDocument/2006/relationships/slide" Target="slides/slide51.xml"/><Relationship Id="rId64" Type="http://schemas.openxmlformats.org/officeDocument/2006/relationships/slide" Target="slides/slide52.xml"/><Relationship Id="rId65"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TITLE — How to build a Python DSL for MLIR</a:t>
            </a:r>
          </a:p>
          <a:p>
            <a:r>
              <a:t>PDF page: 1</a:t>
            </a:r>
          </a:p>
          <a:p>
            <a:r>
              <a:t>Owner: Guray Ozen</a:t>
            </a:r>
          </a:p>
          <a:p>
            <a:r>
              <a:t>Clock: 00:00–00:15</a:t>
            </a:r>
          </a:p>
          <a:p>
            <a:r>
              <a:t>Target duration: 00:15</a:t>
            </a:r>
          </a:p>
          <a:p/>
          <a:p>
            <a:r>
              <a:t>How to build a Python DSL for MLIR. Current source snapshot: October 7, 2026. Guray presents the 30-minute core tutorial, Amir supplies ten minutes on advanced mutation, then Guray returns for the five-minute Tile integration sketch. Amir affiliation is unspecified. This deck is a source-checked tutorial, not an upstream acceptance or completed Tile integration claim.</a:t>
            </a:r>
          </a:p>
          <a:p/>
          <a:p>
            <a:r>
              <a:t>SOURCES / PREPARATION</a:t>
            </a:r>
          </a:p>
          <a:p>
            <a:r>
              <a:t>/home/gozen/work/llvm-project/mlir/tools/mlir-dsl/README.md</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01 — How do we produce MLIR?</a:t>
            </a:r>
          </a:p>
          <a:p>
            <a:r>
              <a:t>PDF page: 2</a:t>
            </a:r>
          </a:p>
          <a:p>
            <a:r>
              <a:t>Owner: Guray Ozen</a:t>
            </a:r>
          </a:p>
          <a:p>
            <a:r>
              <a:t>Clock: 00:15–00:35</a:t>
            </a:r>
          </a:p>
          <a:p>
            <a:r>
              <a:t>Target duration: 00:20</a:t>
            </a:r>
          </a:p>
          <a:p/>
          <a:p>
            <a:r>
              <a:t>Start with the two existing tools: hand-written textual IR and MLIR Python bindings. Text is useful for exact tests but is static; variations require edits or a generator. Bindings let Python generate arbitrary IR, but the author still wires up types, context, insertion points, lowering, the execution engine and argument packing. Do not introduce the DSL solution yet.</a:t>
            </a:r>
          </a:p>
          <a:p/>
          <a:p>
            <a:r>
              <a:t>SOURCES / PREPARATION</a:t>
            </a:r>
          </a:p>
          <a:p>
            <a:r>
              <a:t>/home/gozen/work/llvm-project/mlir/tools/mlir-dsl/README.md</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02 — Just a + b, with Python bindings</a:t>
            </a:r>
          </a:p>
          <a:p>
            <a:r>
              <a:t>PDF page: 3</a:t>
            </a:r>
          </a:p>
          <a:p>
            <a:r>
              <a:t>Owner: Guray Ozen</a:t>
            </a:r>
          </a:p>
          <a:p>
            <a:r>
              <a:t>Clock: 00:35–01:35</a:t>
            </a:r>
          </a:p>
          <a:p>
            <a:r>
              <a:t>Target duration: 01:00</a:t>
            </a:r>
          </a:p>
          <a:p/>
          <a:p>
            <a:r>
              <a:t>The entire runnable scalar addition program appears here, including every import, context, type, operation, lowering pass, C-interface attribute, ExecutionEngine construction and ctypes invocation. Read the panels from left to right: the second continues inside the same Context. Both inputs are i32; 2 + 3 prints 5. This demonstrates infrastructure cost, not a performance comparison. No PyTorch or DSL code appears on this slide.</a:t>
            </a:r>
          </a:p>
          <a:p/>
          <a:p>
            <a:r>
              <a:t>SOURCES / PREPARATION</a:t>
            </a:r>
          </a:p>
          <a:p>
            <a:r>
              <a:t>verification/v15/scalar-bindings.py</a:t>
            </a:r>
          </a:p>
          <a:p>
            <a:r>
              <a:t>verification/v15/scalar-bindings.txt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03 — Now add PyTorch tensors</a:t>
            </a:r>
          </a:p>
          <a:p>
            <a:r>
              <a:t>PDF page: 4</a:t>
            </a:r>
          </a:p>
          <a:p>
            <a:r>
              <a:t>Owner: Guray Ozen</a:t>
            </a:r>
          </a:p>
          <a:p>
            <a:r>
              <a:t>Clock: 01:35–02:30</a:t>
            </a:r>
          </a:p>
          <a:p>
            <a:r>
              <a:t>Target duration: 00:55</a:t>
            </a:r>
          </a:p>
          <a:p/>
          <a:p>
            <a:r>
              <a:t>Left: ordinary PyTorch CPU float32 tensors and the desired elementwise addition. Right: the full mlir dsl program, with imports, Pointer annotation, staged length, native loop and call. Read both panels as one program, left then right. This is the interface we want users to write: the reference mlir dsl selects plugins that generate, lower, cache and invoke the program. Pointers and explicit sizes are the current host boundary, not an Array wrapper. The example runs on the CPU and makes no GPU or tensor-library performance claim.</a:t>
            </a:r>
          </a:p>
          <a:p/>
          <a:p>
            <a:r>
              <a:t>SOURCES / PREPARATION</a:t>
            </a:r>
          </a:p>
          <a:p>
            <a:r>
              <a:t>verification/v15/pytorch-add.py</a:t>
            </a:r>
          </a:p>
          <a:p>
            <a:r>
              <a:t>verification/v15/pytorch-add.txt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04 — Four use cases inside NVIDIA</a:t>
            </a:r>
          </a:p>
          <a:p>
            <a:r>
              <a:t>PDF page: 5</a:t>
            </a:r>
          </a:p>
          <a:p>
            <a:r>
              <a:t>Owner: Guray Ozen</a:t>
            </a:r>
          </a:p>
          <a:p>
            <a:r>
              <a:t>Clock: 02:30–03:35</a:t>
            </a:r>
          </a:p>
          <a:p>
            <a:r>
              <a:t>Target duration: 01:05</a:t>
            </a:r>
          </a:p>
          <a:p/>
          <a:p>
            <a:r>
              <a:t>Four use cases supplied by Guray from NVIDIA work: generate internal dialect inputs directly for tests; emit recipe-only IR for a consumer that is not an MLIR compiler; reuse JIT cache, naming and environment infrastructure in another DSL; build a complete user-facing language. The public product example is NVIDIA CuTe DSL / CUTLASS Python; the hyperlink is official documentation. The first three are internal motivations without naming a confidential dialect. Keep this as a visual motivation, not a list of unsupported product claims.</a:t>
            </a:r>
          </a:p>
          <a:p/>
          <a:p>
            <a:r>
              <a:t>SOURCES / PREPARATION</a:t>
            </a:r>
          </a:p>
          <a:p>
            <a:r>
              <a:t>/home/gozen/work/llvm-project/mlir/tools/mlir-dsl/README.md</a:t>
            </a:r>
          </a:p>
          <a:p>
            <a:r>
              <a:t>verification/v14/api-audit.txt</a:t>
            </a:r>
          </a:p>
          <a:p>
            <a:r>
              <a:t>https://docs.nvidia.com/cutlass/latest/media/docs/pythonDSL/overview.html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05 — How do we build mlir dsl?</a:t>
            </a:r>
          </a:p>
          <a:p>
            <a:r>
              <a:t>PDF page: 6</a:t>
            </a:r>
          </a:p>
          <a:p>
            <a:r>
              <a:t>Owner: Guray Ozen</a:t>
            </a:r>
          </a:p>
          <a:p>
            <a:r>
              <a:t>Clock: 03:35–04:00</a:t>
            </a:r>
          </a:p>
          <a:p>
            <a:r>
              <a:t>Target duration: 00:25</a:t>
            </a:r>
          </a:p>
          <a:p/>
          <a:p>
            <a:r>
              <a:t>Ask the design questions before introducing the solution. MLIR is compiler infrastructure, not one fixed end-to-end compiler. Compiler A and B may choose unrelated dialects and lowering pipelines. Control-flow models also differ: a direct scf.for has no break operation, while scf.while can express termination and another dialect may model early exits differently. We need to reuse frontend infrastructure without hard-wiring these target decisions.</a:t>
            </a:r>
          </a:p>
          <a:p/>
          <a:p>
            <a:r>
              <a:t>SOURCES / PREPARATION</a:t>
            </a:r>
          </a:p>
          <a:p>
            <a:r>
              <a:t>/home/gozen/work/llvm-project/mlir/tools/mlir-dsl/README.md</a:t>
            </a:r>
          </a:p>
          <a:p>
            <a:r>
              <a:t>verification/v14/api-audit.txt</a:t>
            </a:r>
          </a:p>
          <a:p>
            <a:r>
              <a:t>verification/v9/control-flow-evidence.txt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06 — Share the core services</a:t>
            </a:r>
          </a:p>
          <a:p>
            <a:r>
              <a:t>PDF page: 7</a:t>
            </a:r>
          </a:p>
          <a:p>
            <a:r>
              <a:t>Owner: Guray Ozen</a:t>
            </a:r>
          </a:p>
          <a:p>
            <a:r>
              <a:t>Clock: 04:00–04:20</a:t>
            </a:r>
          </a:p>
          <a:p>
            <a:r>
              <a:t>Target duration: 00:20</a:t>
            </a:r>
          </a:p>
          <a:p/>
          <a:p>
            <a:r>
              <a:t>The core owns reusable orchestration and language policy. The four boxes are services, not plugin kinds. BaseDSL begins with an empty Plugins record: it supplies no default target dialect or compiler and is not by itself an end-to-end language. The AST integration hooks live in the core; actual syntax capture is supplied by an optional plugin. Concrete IR operations and compilation are selected by the DSL author.</a:t>
            </a:r>
          </a:p>
          <a:p/>
          <a:p>
            <a:r>
              <a:t>SOURCES / PREPARATION</a:t>
            </a:r>
          </a:p>
          <a:p>
            <a:r>
              <a:t>/home/gozen/work/llvm-project/mlir/tools/mlir-dsl/README.md</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07 — What is a plugin?</a:t>
            </a:r>
          </a:p>
          <a:p>
            <a:r>
              <a:t>PDF page: 8</a:t>
            </a:r>
          </a:p>
          <a:p>
            <a:r>
              <a:t>Owner: Guray Ozen</a:t>
            </a:r>
          </a:p>
          <a:p>
            <a:r>
              <a:t>Clock: 04:20–04:45</a:t>
            </a:r>
          </a:p>
          <a:p>
            <a:r>
              <a:t>Target duration: 00:25</a:t>
            </a:r>
          </a:p>
          <a:p/>
          <a:p>
            <a:r>
              <a:t>Define plugin before listing its kinds. For staged integer wrappers, operator + calls the selected type-operations implementation. An arith-backed plugin emits arith.addi; an author-supplied dialect plugin could instead emit a matching custom operation, shown illustratively as your.add. The DSL author selects a compatible implementation; this is not runtime dispatch or a claim that arbitrary dialects work automatically. Ordinary Python integers still add in Python. Other plugins provide function entries, control-flow capture, compilation, decorators and adapters; introduce the exact record after these features have been taught.</a:t>
            </a:r>
          </a:p>
          <a:p/>
          <a:p>
            <a:r>
              <a:t>SOURCES / PREPARATION</a:t>
            </a:r>
          </a:p>
          <a:p>
            <a:r>
              <a:t>/home/gozen/work/llvm-project/mlir/tools/mlir-dsl/dsl/core/plugin.py</a:t>
            </a:r>
          </a:p>
          <a:p>
            <a:r>
              <a:t>/home/gozen/work/llvm-project/mlir/tools/mlir-dsl/dsl/plugins/type_ops/__init__.py</a:t>
            </a:r>
          </a:p>
          <a:p>
            <a:r>
              <a:t>/home/gozen/work/llvm-project/mlir/tools/mlir-dsl/sub-dsls/mlir-dsl/dsl/mlir_dsl.py</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08 — Compose the DSL you need</a:t>
            </a:r>
          </a:p>
          <a:p>
            <a:r>
              <a:t>PDF page: 9</a:t>
            </a:r>
          </a:p>
          <a:p>
            <a:r>
              <a:t>Owner: Guray Ozen</a:t>
            </a:r>
          </a:p>
          <a:p>
            <a:r>
              <a:t>Clock: 04:45–05:10</a:t>
            </a:r>
          </a:p>
          <a:p>
            <a:r>
              <a:t>Target duration: 00:25</a:t>
            </a:r>
          </a:p>
          <a:p/>
          <a:p>
            <a:r>
              <a:t>Compose a reusable core with the plugins needed for a concrete language. IR generation selects type operations and a function entry, with control-flow capture if required. The compiler is optional: an IR-only DSL can feed an external consumer. Execution additionally needs a compiler implementation and a compatible sub-DSL-owned pipeline. mlir dsl is the runnable showcase using the shipped plugins. Your DSL can reuse those implementations; the core does not itself force an end-to-end target. Exact plugin roles will be introduced beside the later Plugins record.</a:t>
            </a:r>
          </a:p>
          <a:p/>
          <a:p>
            <a:r>
              <a:t>SOURCES / PREPARATION</a:t>
            </a:r>
          </a:p>
          <a:p>
            <a:r>
              <a:t>/home/gozen/work/llvm-project/mlir/tools/mlir-dsl/README.md</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09 — How much Python should we implement?</a:t>
            </a:r>
          </a:p>
          <a:p>
            <a:r>
              <a:t>PDF page: 10</a:t>
            </a:r>
          </a:p>
          <a:p>
            <a:r>
              <a:t>Owner: Guray Ozen</a:t>
            </a:r>
          </a:p>
          <a:p>
            <a:r>
              <a:t>Clock: 05:10–05:45</a:t>
            </a:r>
          </a:p>
          <a:p>
            <a:r>
              <a:t>Target duration: 00:35</a:t>
            </a:r>
          </a:p>
          <a:p/>
          <a:p>
            <a:r>
              <a:t>Compare ownership, not absolute expressive power. A broad AST-based frontend interprets or lowers supported Python constructs and owns those semantics; it can target many dialects. This design chooses tracing to reuse the interpreter for objects, imports, method dispatch and metaprogramming. Plugins supply the target operations. Tracing alone does not intercept native staged if/for/while; optional limited AST capture handles that syntax. The following design principles and multi-stage slides explain the resulting model.</a:t>
            </a:r>
          </a:p>
          <a:p/>
          <a:p>
            <a:r>
              <a:t>SOURCES / PREPARATION</a:t>
            </a:r>
          </a:p>
          <a:p>
            <a:r>
              <a:t>/home/gozen/work/llvm-project/mlir/tools/mlir-dsl/README.md</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 Design principles</a:t>
            </a:r>
          </a:p>
          <a:p>
            <a:r>
              <a:t>PDF page: 11</a:t>
            </a:r>
          </a:p>
          <a:p>
            <a:r>
              <a:t>Owner: Guray Ozen</a:t>
            </a:r>
          </a:p>
          <a:p>
            <a:r>
              <a:t>Clock: 05:45–06:05</a:t>
            </a:r>
          </a:p>
          <a:p>
            <a:r>
              <a:t>Target duration: 00:20</a:t>
            </a:r>
          </a:p>
          <a:p/>
          <a:p>
            <a:r>
              <a:t>Use Python as the unchanged host language for metaprogramming. Reuse objects, imports and libraries. Only explicit DSL values/operations generate MLIR. The frontend mechanism is modular and target-dialect agnostic; one reusable core underpins multiple sub-DSL namespaces.</a:t>
            </a:r>
          </a:p>
          <a:p/>
          <a:p>
            <a:r>
              <a:t>SOURCES / PREPARATION</a:t>
            </a:r>
          </a:p>
          <a:p>
            <a:r>
              <a:t>/home/gozen/work/llvm-project/mlir/tools/mlir-dsl/README.md</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 What is multi-stage programming?</a:t>
            </a:r>
          </a:p>
          <a:p>
            <a:r>
              <a:t>PDF page: 12</a:t>
            </a:r>
          </a:p>
          <a:p>
            <a:r>
              <a:t>Owner: Guray Ozen</a:t>
            </a:r>
          </a:p>
          <a:p>
            <a:r>
              <a:t>Clock: 06:05–06:45</a:t>
            </a:r>
          </a:p>
          <a:p>
            <a:r>
              <a:t>Target duration: 00:40</a:t>
            </a:r>
          </a:p>
          <a:p/>
          <a:p>
            <a:r>
              <a:t>Python is the meta-language and MLIR the object language. The repetition row is an illustration of programs generating later-stage programs, not a claim of an infinite compiler loop. Here the Python interpreter runs the generator, producing MLIR. mlir-opt represents transformation passes; LLVM code generation/JIT creates executable code. The traditional and multi-stage source/compiler/binary icons have identical sizes.</a:t>
            </a:r>
          </a:p>
          <a:p/>
          <a:p>
            <a:r>
              <a:t>SOURCES / PREPARATION</a:t>
            </a:r>
          </a:p>
          <a:p>
            <a:r>
              <a:t>/home/gozen/work/llvm-project/mlir/tools/mlir-dsl/README.md</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 Why multi-stage programming?</a:t>
            </a:r>
          </a:p>
          <a:p>
            <a:r>
              <a:t>PDF page: 13</a:t>
            </a:r>
          </a:p>
          <a:p>
            <a:r>
              <a:t>Owner: Guray Ozen</a:t>
            </a:r>
          </a:p>
          <a:p>
            <a:r>
              <a:t>Clock: 06:45–07:10</a:t>
            </a:r>
          </a:p>
          <a:p>
            <a:r>
              <a:t>Target duration: 00:25</a:t>
            </a:r>
          </a:p>
          <a:p/>
          <a:p>
            <a:r>
              <a:t>Use all of Python for trace-time work; capture explicitly through the selected DSL namespace and its typed values. Ordinary range over known values executes as Python; m.range forces staged range construction in the reference namespace. This binding-time boundary enables objects/dictionaries to specialize a program without runtime Python on the generated code path.</a:t>
            </a:r>
          </a:p>
          <a:p/>
          <a:p>
            <a:r>
              <a:t>SOURCES / PREPARATION</a:t>
            </a:r>
          </a:p>
          <a:p>
            <a:r>
              <a:t>/home/gozen/work/llvm-project/mlir/tools/mlir-dsl/dsl/core/staging.py</a:t>
            </a:r>
          </a:p>
          <a:p>
            <a:r>
              <a:t>/home/gozen/work/llvm-project/mlir/tools/mlir-dsl/dsl/plugins/ast_preprocessor/helpers.py</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 Agenda</a:t>
            </a:r>
          </a:p>
          <a:p>
            <a:r>
              <a:t>PDF page: 14</a:t>
            </a:r>
          </a:p>
          <a:p>
            <a:r>
              <a:t>Owner: Guray Ozen</a:t>
            </a:r>
          </a:p>
          <a:p>
            <a:r>
              <a:t>Clock: 07:10–07:25</a:t>
            </a:r>
          </a:p>
          <a:p>
            <a:r>
              <a:t>Target duration: 00:15</a:t>
            </a:r>
          </a:p>
          <a:p/>
          <a:p>
            <a:r>
              <a:t>Walk the feature inventory in order: tracing JIT; two kinds of values; numeric and aggregate types; native control flow and explicit builders; arguments; kernels; compilation; caches; trace-only; diagnostics; locations/remarks; observability; sub-DSL authoring. Then hand off to Amir for his material and return for the five-slide Tile design sketch.</a:t>
            </a:r>
          </a:p>
          <a:p/>
          <a:p>
            <a:r>
              <a:t>SOURCES / PREPARATION</a:t>
            </a:r>
          </a:p>
          <a:p>
            <a:r>
              <a:t>/home/gozen/work/llvm-project/mlir/tools/mlir-dsl/README.md</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 1 · Tracing JIT</a:t>
            </a:r>
          </a:p>
          <a:p>
            <a:r>
              <a:t>PDF page: 15</a:t>
            </a:r>
          </a:p>
          <a:p>
            <a:r>
              <a:t>Owner: Guray Ozen</a:t>
            </a:r>
          </a:p>
          <a:p>
            <a:r>
              <a:t>Clock: 07:25–08:10</a:t>
            </a:r>
          </a:p>
          <a:p>
            <a:r>
              <a:t>Target duration: 00:45</a:t>
            </a:r>
          </a:p>
          <a:p/>
          <a:p>
            <a:r>
              <a:t>The core owns @jit and orchestration. Selected func.Entry builds func.func; type_ops emits scalar operations; compiler lowers and invokes the chosen pipeline. Subsequent identical specializations reuse the compiled callable. The host scalar result is a Numeric wrapper; int/float/.value unwrap it. This reference end-to-end path is not provided by an empty BaseDSL.</a:t>
            </a:r>
          </a:p>
          <a:p/>
          <a:p>
            <a:r>
              <a:t>SOURCES / PREPARATION</a:t>
            </a:r>
          </a:p>
          <a:p>
            <a:r>
              <a:t>/home/gozen/work/llvm-project/mlir/tools/mlir-dsl/dsl/core/dsl.py</a:t>
            </a:r>
          </a:p>
          <a:p>
            <a:r>
              <a:t>/home/gozen/work/llvm-project/mlir/tools/mlir-dsl/dsl/plugins/func_entry/func.py</a:t>
            </a:r>
          </a:p>
          <a:p>
            <a:r>
              <a:t>/home/gozen/work/llvm-project/mlir/tools/mlir-dsl/dsl/plugins/compiler/execution_engine.py</a:t>
            </a:r>
          </a:p>
          <a:p>
            <a:r>
              <a:t>verification/v14/api-audit.txt</a:t>
            </a:r>
          </a:p>
          <a:p>
            <a:r>
              <a:t>verification/v14/metaprogram-examples.txt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 2 · Python value or MLIR value?</a:t>
            </a:r>
          </a:p>
          <a:p>
            <a:r>
              <a:t>PDF page: 16</a:t>
            </a:r>
          </a:p>
          <a:p>
            <a:r>
              <a:t>Owner: Guray Ozen</a:t>
            </a:r>
          </a:p>
          <a:p>
            <a:r>
              <a:t>Clock: 08:10–09:05</a:t>
            </a:r>
          </a:p>
          <a:p>
            <a:r>
              <a:t>Target duration: 00:55</a:t>
            </a:r>
          </a:p>
          <a:p/>
          <a:p>
            <a:r>
              <a:t>Two kinds of values: Python payloads compute now; MLIR-backed leaves build staged operations. A DSL annotation makes a runtime argument; ordinary Python configuration is Meta. The implementation additionally stages adapted values containing registered leaves even without annotations, so do not describe annotations as the only rule. is_mlir_op is the predicate. A Numeric wrapper may itself hold a Python literal or an SSA value. There is no Constexpr marker.</a:t>
            </a:r>
          </a:p>
          <a:p/>
          <a:p>
            <a:r>
              <a:t>SOURCES / PREPARATION</a:t>
            </a:r>
          </a:p>
          <a:p>
            <a:r>
              <a:t>/home/gozen/work/llvm-project/mlir/tools/mlir-dsl/dsl/core/staging.py</a:t>
            </a:r>
          </a:p>
          <a:p>
            <a:r>
              <a:t>/home/gozen/work/llvm-project/mlir/tools/mlir-dsl/dsl/types/typing.py</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 Python is the metaprogram</a:t>
            </a:r>
          </a:p>
          <a:p>
            <a:r>
              <a:t>PDF page: 17</a:t>
            </a:r>
          </a:p>
          <a:p>
            <a:r>
              <a:t>Owner: Guray Ozen</a:t>
            </a:r>
          </a:p>
          <a:p>
            <a:r>
              <a:t>Clock: 09:05–09:35</a:t>
            </a:r>
          </a:p>
          <a:p>
            <a:r>
              <a:t>Target duration: 00:30</a:t>
            </a:r>
          </a:p>
          <a:p/>
          <a:p>
            <a:r>
              <a:t>Dictionary and values are known configuration; accesses and ordinary functions run in Python. Runtime x is MLIR-backed, so multiply/add emit operations. This is a conceptual variant of the checked affine example; no runtime dictionary is needed.</a:t>
            </a:r>
          </a:p>
          <a:p/>
          <a:p>
            <a:r>
              <a:t>SOURCES / PREPARATION</a:t>
            </a:r>
          </a:p>
          <a:p>
            <a:r>
              <a:t>/home/gozen/work/llvm-project/mlir/tools/mlir-dsl/dsl/core/staging.py</a:t>
            </a:r>
          </a:p>
          <a:p>
            <a:r>
              <a:t>/home/gozen/work/llvm-project/mlir/tools/mlir-dsl/sub-dsls/mlir-dsl/examples/01_staging.py</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 Objects + dictionaries → arithmetic</a:t>
            </a:r>
          </a:p>
          <a:p>
            <a:r>
              <a:t>PDF page: 18</a:t>
            </a:r>
          </a:p>
          <a:p>
            <a:r>
              <a:t>Owner: Guray Ozen</a:t>
            </a:r>
          </a:p>
          <a:p>
            <a:r>
              <a:t>Clock: 09:35–10:25</a:t>
            </a:r>
          </a:p>
          <a:p>
            <a:r>
              <a:t>Target duration: 00:50</a:t>
            </a:r>
          </a:p>
          <a:p/>
          <a:p>
            <a:r>
              <a:t>An ordinary dictionary of Meta objects selects AddN and MulN by Python dispatch. The recipe loop runs while tracing. Each apply receives an MLIR-backed scalar, and only its arithmetic is captured. The same source was checked on the current October7 implementation: int(pipeline(4,ops)) is18. No runtime virtual dispatch or dictionary lookup is emitted. Mutable Meta configuration is legal; staged records crossing regions have different restrictions.</a:t>
            </a:r>
          </a:p>
          <a:p/>
          <a:p>
            <a:r>
              <a:t>SOURCES / PREPARATION</a:t>
            </a:r>
          </a:p>
          <a:p>
            <a:r>
              <a:t>/home/gozen/work/llvm-project/mlir/tools/mlir-dsl/dsl/core/staging.py</a:t>
            </a:r>
          </a:p>
          <a:p>
            <a:r>
              <a:t>/home/gozen/work/llvm-project/mlir/tools/mlir-dsl/dsl/util/tree_utils.py</a:t>
            </a:r>
          </a:p>
          <a:p>
            <a:r>
              <a:t>verification/v14/api-audit.txt</a:t>
            </a:r>
          </a:p>
          <a:p>
            <a:r>
              <a:t>verification/v14/metaprogram-examples.txt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 3 · Numeric types are core policy</a:t>
            </a:r>
          </a:p>
          <a:p>
            <a:r>
              <a:t>PDF page: 19</a:t>
            </a:r>
          </a:p>
          <a:p>
            <a:r>
              <a:t>Owner: Guray Ozen</a:t>
            </a:r>
          </a:p>
          <a:p>
            <a:r>
              <a:t>Clock: 10:25–10:55</a:t>
            </a:r>
          </a:p>
          <a:p>
            <a:r>
              <a:t>Target duration: 00:30</a:t>
            </a:r>
          </a:p>
          <a:p/>
          <a:p>
            <a:r>
              <a:t>These are the wrapper families in types/typing.py. Promotion and conversion policy live in Python. Representation support does not guarantee every host ABI or arithmetic operation for every narrow/wide type. TypeOps maps each dtype to the chosen physical MLIR type; outside a trace use scalar_mlir_type or ask a plugin explicitly, not Int32.mlir_type.</a:t>
            </a:r>
          </a:p>
          <a:p/>
          <a:p>
            <a:r>
              <a:t>SOURCES / PREPARATION</a:t>
            </a:r>
          </a:p>
          <a:p>
            <a:r>
              <a:t>/home/gozen/work/llvm-project/mlir/tools/mlir-dsl/dsl/types/typing.py</a:t>
            </a:r>
          </a:p>
          <a:p>
            <a:r>
              <a:t>/home/gozen/work/llvm-project/mlir/tools/mlir-dsl/sub-dsls/mlir-dsl/examples/02_numeric_types.py</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 Literal → promotion → cast</a:t>
            </a:r>
          </a:p>
          <a:p>
            <a:r>
              <a:t>PDF page: 20</a:t>
            </a:r>
          </a:p>
          <a:p>
            <a:r>
              <a:t>Owner: Guray Ozen</a:t>
            </a:r>
          </a:p>
          <a:p>
            <a:r>
              <a:t>Clock: 10:55–11:55</a:t>
            </a:r>
          </a:p>
          <a:p>
            <a:r>
              <a:t>Target duration: 01:00</a:t>
            </a:r>
          </a:p>
          <a:p/>
          <a:p>
            <a:r>
              <a:t>Python literal defaults are bool→Boolean, int→Int32 (Int64 when outside i32 range), float→Float32. Wrappers with Python payloads can fold in Python. On staged use, the selected type_ops plugin materializes operations. Signed i32+i64 promotes; explicit narrowing truncates and is not universally an error. Narrow Python integer construction may wrap and warn. Runtime x.to(int) raises PHASE_REQUIRES_CONSTANT. Examples show TypeOps with arith, not a plugin named LLVM.</a:t>
            </a:r>
          </a:p>
          <a:p/>
          <a:p>
            <a:r>
              <a:t>SOURCES / PREPARATION</a:t>
            </a:r>
          </a:p>
          <a:p>
            <a:r>
              <a:t>/home/gozen/work/llvm-project/mlir/tools/mlir-dsl/dsl/types/typing.py</a:t>
            </a:r>
          </a:p>
          <a:p>
            <a:r>
              <a:t>/home/gozen/work/llvm-project/mlir/tools/mlir-dsl/dsl/plugins/type_ops/arith.py</a:t>
            </a:r>
          </a:p>
          <a:p>
            <a:r>
              <a:t>/home/gozen/work/llvm-project/mlir/tools/mlir-dsl/dsl/plugins/type_ops/__init__.py</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 The same dtype can target another dialect</a:t>
            </a:r>
          </a:p>
          <a:p>
            <a:r>
              <a:t>PDF page: 21</a:t>
            </a:r>
          </a:p>
          <a:p>
            <a:r>
              <a:t>Owner: Guray Ozen</a:t>
            </a:r>
          </a:p>
          <a:p>
            <a:r>
              <a:t>Clock: 11:55–12:40</a:t>
            </a:r>
          </a:p>
          <a:p>
            <a:r>
              <a:t>Target duration: 00:45</a:t>
            </a:r>
          </a:p>
          <a:p/>
          <a:p>
            <a:r>
              <a:t>Short excerpt based on example14. Imports, scalar_type, tensor constant construction and custom pipeline are omitted; all are required in the full example. The checked full example emits i32 under the reference DSL and rank-zero tensor&lt;i32&gt; under the alternate type_ops plugin. It is a stand-in for a target such as cuda_tile, not actual Tile IR execution. The alternate path is trace-only because its custom lowering is not implemented. TypeOps composes scalar/vector/memory op modules; each part is optional.</a:t>
            </a:r>
          </a:p>
          <a:p/>
          <a:p>
            <a:r>
              <a:t>SOURCES / PREPARATION</a:t>
            </a:r>
          </a:p>
          <a:p>
            <a:r>
              <a:t>/home/gozen/work/llvm-project/mlir/tools/mlir-dsl/sub-dsls/mlir-dsl/examples/14_type_ops_plugin.py</a:t>
            </a:r>
          </a:p>
          <a:p>
            <a:r>
              <a:t>/home/gozen/work/llvm-project/mlir/tools/mlir-dsl/dsl/plugins/type_ops/__init__.py</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 4 · Vectors, pointers, structs</a:t>
            </a:r>
          </a:p>
          <a:p>
            <a:r>
              <a:t>PDF page: 22</a:t>
            </a:r>
          </a:p>
          <a:p>
            <a:r>
              <a:t>Owner: Guray Ozen</a:t>
            </a:r>
          </a:p>
          <a:p>
            <a:r>
              <a:t>Clock: 12:40–13:15</a:t>
            </a:r>
          </a:p>
          <a:p>
            <a:r>
              <a:t>Target duration: 00:35</a:t>
            </a:r>
          </a:p>
          <a:p/>
          <a:p>
            <a:r>
              <a:t>Vector and Pointer delegate to type_ops. Host pointers wrap buffers; the default memory module emits LLVM pointer operations. Struct is a frozen pytree record rather than an aggregate SSA type and needs no type-ops hook. Native call/region boundaries flatten and reconstruct leaves. The func entry ABI may separately pack results, which does not change the language value model.</a:t>
            </a:r>
          </a:p>
          <a:p/>
          <a:p>
            <a:r>
              <a:t>SOURCES / PREPARATION</a:t>
            </a:r>
          </a:p>
          <a:p>
            <a:r>
              <a:t>/home/gozen/work/llvm-project/mlir/tools/mlir-dsl/dsl/types/vector.py</a:t>
            </a:r>
          </a:p>
          <a:p>
            <a:r>
              <a:t>/home/gozen/work/llvm-project/mlir/tools/mlir-dsl/dsl/types/typing.py</a:t>
            </a:r>
          </a:p>
          <a:p>
            <a:r>
              <a:t>/home/gozen/work/llvm-project/mlir/tools/mlir-dsl/dsl/util/tree_utils.py</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 Records flatten into their fields</a:t>
            </a:r>
          </a:p>
          <a:p>
            <a:r>
              <a:t>PDF page: 23</a:t>
            </a:r>
          </a:p>
          <a:p>
            <a:r>
              <a:t>Owner: Guray Ozen</a:t>
            </a:r>
          </a:p>
          <a:p>
            <a:r>
              <a:t>Clock: 13:15–14:00</a:t>
            </a:r>
          </a:p>
          <a:p>
            <a:r>
              <a:t>Target duration: 00:45</a:t>
            </a:r>
          </a:p>
          <a:p/>
          <a:p>
            <a:r>
              <a:t>Frozen @struct records flatten at calls and control-flow boundaries. norm2 receives two f32 leaves. The displayed IR is a body/interface sketch; actual host result ABI is owned by func.Entry. The checked current structs example returns norm2=25, with Numeric wrappers for scalar leaves. General frozen dataclasses also work; mutable staged records are rejected. Meta objects need not be frozen.</a:t>
            </a:r>
          </a:p>
          <a:p/>
          <a:p>
            <a:r>
              <a:t>SOURCES / PREPARATION</a:t>
            </a:r>
          </a:p>
          <a:p>
            <a:r>
              <a:t>/home/gozen/work/llvm-project/mlir/tools/mlir-dsl/dsl/types/typing.py</a:t>
            </a:r>
          </a:p>
          <a:p>
            <a:r>
              <a:t>/home/gozen/work/llvm-project/mlir/tools/mlir-dsl/dsl/util/tree_utils.py</a:t>
            </a:r>
          </a:p>
          <a:p>
            <a:r>
              <a:t>/home/gozen/work/llvm-project/mlir/tools/mlir-dsl/sub-dsls/mlir-dsl/examples/05_structs.py</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 Extend values with mydialect.Tensor</a:t>
            </a:r>
          </a:p>
          <a:p>
            <a:r>
              <a:t>PDF page: 24</a:t>
            </a:r>
          </a:p>
          <a:p>
            <a:r>
              <a:t>Owner: Guray Ozen</a:t>
            </a:r>
          </a:p>
          <a:p>
            <a:r>
              <a:t>Clock: 14:00–14:35</a:t>
            </a:r>
          </a:p>
          <a:p>
            <a:r>
              <a:t>Target duration: 00:35</a:t>
            </a:r>
          </a:p>
          <a:p/>
          <a:p>
            <a:r>
              <a:t>The staged-only Tensor wrapper demonstrates the exact keyword-only register_leaf API: ir_types, ir_values and from_ir_values. Imports are omitted. Without marshal it is a staged-only leaf, not a host tensor adapter. It can cross staged region boundaries through extracted/rebuilt SSA leaves. Host adaptation requires the additional marshal/adapter contract. Registration happens once at module import. A dialect module supplies operations; a custom value class alone is not a plugin.</a:t>
            </a:r>
          </a:p>
          <a:p/>
          <a:p>
            <a:r>
              <a:t>SOURCES / PREPARATION</a:t>
            </a:r>
          </a:p>
          <a:p>
            <a:r>
              <a:t>/home/gozen/work/llvm-project/mlir/tools/mlir-dsl/dsl/util/tree_utils.py</a:t>
            </a:r>
          </a:p>
          <a:p>
            <a:r>
              <a:t>/home/gozen/work/llvm-project/mlir/tools/mlir-dsl/dsl/types/typing.py</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24 — 5 · Native control flow</a:t>
            </a:r>
          </a:p>
          <a:p>
            <a:r>
              <a:t>PDF page: 25</a:t>
            </a:r>
          </a:p>
          <a:p>
            <a:r>
              <a:t>Owner: Guray Ozen</a:t>
            </a:r>
          </a:p>
          <a:p>
            <a:r>
              <a:t>Clock: 14:35–15:30</a:t>
            </a:r>
          </a:p>
          <a:p>
            <a:r>
              <a:t>Target duration: 00:55</a:t>
            </a:r>
          </a:p>
          <a:p/>
          <a:p>
            <a:r>
              <a:t>Tracing handles expressions, not Python keywords by operator overload alone. The optional ASTPreprocessorPlugin owns the rewrite and executor callbacks. The shipped scf.ASTPreprocessor pairs the generic syntax rewrite with SCF executors and builders. Meta conditions/bounds execute Python; MLIR-backed values build regions. A different role implementation can capture syntax for another control-flow dialect. No separate SCF dialect plugin exists now; lowering is listed in the sub-DSL pipeline.</a:t>
            </a:r>
          </a:p>
          <a:p/>
          <a:p>
            <a:r>
              <a:t>SOURCES / PREPARATION</a:t>
            </a:r>
          </a:p>
          <a:p>
            <a:r>
              <a:t>/home/gozen/work/llvm-project/mlir/tools/mlir-dsl/dsl/plugins/ast_preprocessor/preprocessor.py</a:t>
            </a:r>
          </a:p>
          <a:p>
            <a:r>
              <a:t>/home/gozen/work/llvm-project/mlir/tools/mlir-dsl/dsl/plugins/ast_preprocessor/scf/__init__.py</a:t>
            </a:r>
          </a:p>
          <a:p>
            <a:r>
              <a:t>/home/gozen/work/llvm-project/mlir/tools/mlir-dsl/dsl/plugins/ast_preprocessor/scf/executors.py</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25 — Assigned name → iter_arg</a:t>
            </a:r>
          </a:p>
          <a:p>
            <a:r>
              <a:t>PDF page: 26</a:t>
            </a:r>
          </a:p>
          <a:p>
            <a:r>
              <a:t>Owner: Guray Ozen</a:t>
            </a:r>
          </a:p>
          <a:p>
            <a:r>
              <a:t>Clock: 15:30–16:30</a:t>
            </a:r>
          </a:p>
          <a:p>
            <a:r>
              <a:t>Target duration: 01:00</a:t>
            </a:r>
          </a:p>
          <a:p/>
          <a:p>
            <a:r>
              <a:t>Assignment analysis identifies acc as a carried name. The selected executor flattens carries, creates region arguments, yields updates and rebuilds loop results. This is symbolic analysis of source names, not arbitrary mutation tracking. Current native-control-flow and TYPE_UNSTABLE_JOIN diagnostics pass. More general aliasing and mutation are the subject of Amir’s separate section.</a:t>
            </a:r>
          </a:p>
          <a:p/>
          <a:p>
            <a:r>
              <a:t>SOURCES / PREPARATION</a:t>
            </a:r>
          </a:p>
          <a:p>
            <a:r>
              <a:t>/home/gozen/work/llvm-project/mlir/tools/mlir-dsl/dsl/plugins/ast_preprocessor/preprocessor.py</a:t>
            </a:r>
          </a:p>
          <a:p>
            <a:r>
              <a:t>/home/gozen/work/llvm-project/mlir/tools/mlir-dsl/dsl/plugins/ast_preprocessor/scf/executors.py</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26 — Capture has an explicit boundary</a:t>
            </a:r>
          </a:p>
          <a:p>
            <a:r>
              <a:t>PDF page: 27</a:t>
            </a:r>
          </a:p>
          <a:p>
            <a:r>
              <a:t>Owner: Guray Ozen</a:t>
            </a:r>
          </a:p>
          <a:p>
            <a:r>
              <a:t>Clock: 16:30–17:00</a:t>
            </a:r>
          </a:p>
          <a:p>
            <a:r>
              <a:t>Target duration: 00:30</a:t>
            </a:r>
          </a:p>
          <a:p/>
          <a:p>
            <a:r>
              <a:t>The current preprocessor leaves an if/while owning return/raise/break/continue as Python, requiring a Meta condition when reached. Data-dependent early exits are not supported by this frontend. This restriction belongs to the selected preprocessor, not to every possible MLIR program. Captured staged records must be frozen; ordinary Meta objects can remain mutable. Comparisons, ternaries, and/or/not/any/all/min/max/range are handled by the selected capture implementation.</a:t>
            </a:r>
          </a:p>
          <a:p/>
          <a:p>
            <a:r>
              <a:t>SOURCES / PREPARATION</a:t>
            </a:r>
          </a:p>
          <a:p>
            <a:r>
              <a:t>/home/gozen/work/llvm-project/mlir/tools/mlir-dsl/dsl/plugins/ast_preprocessor/preprocessor.py</a:t>
            </a:r>
          </a:p>
          <a:p>
            <a:r>
              <a:t>/home/gozen/work/llvm-project/mlir/tools/mlir-dsl/test/ast_preprocessor.py</a:t>
            </a:r>
          </a:p>
          <a:p>
            <a:r>
              <a:t>/home/gozen/work/llvm-project/mlir/tools/mlir-dsl/test/diagnostics.py</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27 — Replace capture through one role</a:t>
            </a:r>
          </a:p>
          <a:p>
            <a:r>
              <a:t>PDF page: 28</a:t>
            </a:r>
          </a:p>
          <a:p>
            <a:r>
              <a:t>Owner: Guray Ozen</a:t>
            </a:r>
          </a:p>
          <a:p>
            <a:r>
              <a:t>Clock: 17:00–17:40</a:t>
            </a:r>
          </a:p>
          <a:p>
            <a:r>
              <a:t>Target duration: 00:40</a:t>
            </a:r>
          </a:p>
          <a:p/>
          <a:p>
            <a:r>
              <a:t>The checked CountingPreprocessor test uses this executors override shape to wrap staged loop construction. Here my_loop_executor is a downstream function omitted from the excerpt. Replacing callbacks can target another region dialect when its semantics fit; more extensive capture/early-exit changes may require a different preprocessor_class. This is not a promise that changing one callback supports every target control-flow feature.</a:t>
            </a:r>
          </a:p>
          <a:p/>
          <a:p>
            <a:r>
              <a:t>SOURCES / PREPARATION</a:t>
            </a:r>
          </a:p>
          <a:p>
            <a:r>
              <a:t>/home/gozen/work/llvm-project/mlir/tools/mlir-dsl/test/plugins_ast_preprocessor.py</a:t>
            </a:r>
          </a:p>
          <a:p>
            <a:r>
              <a:t>/home/gozen/work/llvm-project/mlir/tools/mlir-dsl/dsl/core/plugin.py</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28 — 6 · Explicit builders</a:t>
            </a:r>
          </a:p>
          <a:p>
            <a:r>
              <a:t>PDF page: 29</a:t>
            </a:r>
          </a:p>
          <a:p>
            <a:r>
              <a:t>Owner: Guray Ozen</a:t>
            </a:r>
          </a:p>
          <a:p>
            <a:r>
              <a:t>Clock: 17:40–18:15</a:t>
            </a:r>
          </a:p>
          <a:p>
            <a:r>
              <a:t>Target duration: 00:35</a:t>
            </a:r>
          </a:p>
          <a:p/>
          <a:p>
            <a:r>
              <a:t>Explicit builders live with the SCF AST plugin implementation and can be used without enabling its source rewrite. Loop carry values are explicit. This is the sum_of_squares shape from example08. The complete source and other builders are linked; no native AST reconstruction is required for this function.</a:t>
            </a:r>
          </a:p>
          <a:p/>
          <a:p>
            <a:r>
              <a:t>SOURCES / PREPARATION</a:t>
            </a:r>
          </a:p>
          <a:p>
            <a:r>
              <a:t>/home/gozen/work/llvm-project/mlir/tools/mlir-dsl/sub-dsls/mlir-dsl/examples/08_explicit_builders.py</a:t>
            </a:r>
          </a:p>
          <a:p>
            <a:r>
              <a:t>/home/gozen/work/llvm-project/mlir/tools/mlir-dsl/dsl/plugins/ast_preprocessor/scf/builders.py</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29 — 7 · Bring host values to the DSL</a:t>
            </a:r>
          </a:p>
          <a:p>
            <a:r>
              <a:t>PDF page: 30</a:t>
            </a:r>
          </a:p>
          <a:p>
            <a:r>
              <a:t>Owner: Guray Ozen</a:t>
            </a:r>
          </a:p>
          <a:p>
            <a:r>
              <a:t>Clock: 18:15–19:10</a:t>
            </a:r>
          </a:p>
          <a:p>
            <a:r>
              <a:t>Target duration: 00:55</a:t>
            </a:r>
          </a:p>
          <a:p/>
          <a:p>
            <a:r>
              <a:t>core/arguments.py owns binding/adaptation and the common registry. NumPy arrays and supported dataclass/tuple/list structures adapt to leaves. PyTorch and DLPack are optional AdapterPlugin implementations. DLPack preserves producer lifetime and validates supported dtype/device/contiguity. Dimensions are explicit arguments rather than an automatic Array descriptor. JAX can enter through the protocol when supported; no framework-specific JAX execution claim. The opening PyTorch comparison is checked in v14.</a:t>
            </a:r>
          </a:p>
          <a:p/>
          <a:p>
            <a:r>
              <a:t>SOURCES / PREPARATION</a:t>
            </a:r>
          </a:p>
          <a:p>
            <a:r>
              <a:t>/home/gozen/work/llvm-project/mlir/tools/mlir-dsl/dsl/core/arguments.py</a:t>
            </a:r>
          </a:p>
          <a:p>
            <a:r>
              <a:t>/home/gozen/work/llvm-project/mlir/tools/mlir-dsl/dsl/plugins/adapters/pytorch/plugin.py</a:t>
            </a:r>
          </a:p>
          <a:p>
            <a:r>
              <a:t>/home/gozen/work/llvm-project/mlir/tools/mlir-dsl/dsl/plugins/adapters/dlpack/plugin.py</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30 — Adapters work in both directions</a:t>
            </a:r>
          </a:p>
          <a:p>
            <a:r>
              <a:t>PDF page: 31</a:t>
            </a:r>
          </a:p>
          <a:p>
            <a:r>
              <a:t>Owner: Guray Ozen</a:t>
            </a:r>
          </a:p>
          <a:p>
            <a:r>
              <a:t>Clock: 19:10–19:40</a:t>
            </a:r>
          </a:p>
          <a:p>
            <a:r>
              <a:t>Target duration: 00:30</a:t>
            </a:r>
          </a:p>
          <a:p/>
          <a:p>
            <a:r>
              <a:t>Inbound adapters register host-value conversions; outbound adapters may attach ABI wrappers to the traced module, finalize after lowering, and wrap the callable. These hooks belong to AdapterPlugin, not bare Plugin. TVM-FFI is optional and enabled through the DSL environment. Plugin availability is resolved per instance; absent optional dependencies are recorded. No new TVM-FFI execution claim is made here.</a:t>
            </a:r>
          </a:p>
          <a:p/>
          <a:p>
            <a:r>
              <a:t>SOURCES / PREPARATION</a:t>
            </a:r>
          </a:p>
          <a:p>
            <a:r>
              <a:t>/home/gozen/work/llvm-project/mlir/tools/mlir-dsl/dsl/core/plugin.py</a:t>
            </a:r>
          </a:p>
          <a:p>
            <a:r>
              <a:t>/home/gozen/work/llvm-project/mlir/tools/mlir-dsl/dsl/plugins/adapters/tvm_ffi/plugin.py</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31 — 8 · @kernel comes from a decorator plugin</a:t>
            </a:r>
          </a:p>
          <a:p>
            <a:r>
              <a:t>PDF page: 32</a:t>
            </a:r>
          </a:p>
          <a:p>
            <a:r>
              <a:t>Owner: Guray Ozen</a:t>
            </a:r>
          </a:p>
          <a:p>
            <a:r>
              <a:t>Clock: 19:40–20:20</a:t>
            </a:r>
          </a:p>
          <a:p>
            <a:r>
              <a:t>Target duration: 00:40</a:t>
            </a:r>
          </a:p>
          <a:p/>
          <a:p>
            <a:r>
              <a:t>The core knows @jit. gpu.Kernels is a DecoratorPlugin that adds @kernel and its deferred launcher, per-trace gpu.module management and host-boundary checks. The three-dot role comment is omitted configuration, not a complete Plugins record. This body assumes a launch covering valid device memory; the next slide uses exactly32 threads on a32-element buffer. GPU tracing can be checked without claiming execution.</a:t>
            </a:r>
          </a:p>
          <a:p/>
          <a:p>
            <a:r>
              <a:t>SOURCES / PREPARATION</a:t>
            </a:r>
          </a:p>
          <a:p>
            <a:r>
              <a:t>/home/gozen/work/llvm-project/mlir/tools/mlir-dsl/dsl/plugins/decorators/kernels/gpu/__init__.py</a:t>
            </a:r>
          </a:p>
          <a:p>
            <a:r>
              <a:t>/home/gozen/work/llvm-project/mlir/tools/mlir-dsl/dsl/plugins/decorators/kernels/launch.py</a:t>
            </a:r>
          </a:p>
          <a:p>
            <a:r>
              <a:t>/home/gozen/work/llvm-project/mlir/tools/mlir-dsl/sub-dsls/mlir-dsl/examples/12_gpu_kernels.py</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32 — Launch is an explicit operation</a:t>
            </a:r>
          </a:p>
          <a:p>
            <a:r>
              <a:t>PDF page: 33</a:t>
            </a:r>
          </a:p>
          <a:p>
            <a:r>
              <a:t>Owner: Guray Ozen</a:t>
            </a:r>
          </a:p>
          <a:p>
            <a:r>
              <a:t>Clock: 20:20–21:00</a:t>
            </a:r>
          </a:p>
          <a:p>
            <a:r>
              <a:t>Target duration: 00:40</a:t>
            </a:r>
          </a:p>
          <a:p/>
          <a:p>
            <a:r>
              <a:t>Calling the decorated kernel prepares a KernelLauncher; launch emits gpu.launch_func. LaunchConfig normalizes grid/block and dynamic grids are guarded against zero extents. The GPU plugin checks target architecture and host/device buffer kinds. The caller owns device allocation. Reference GPU execution requires a configured target, CUDA runtime and device buffer; this deck treats it as a tracing/source example unless separate GPU evidence is recorded.</a:t>
            </a:r>
          </a:p>
          <a:p/>
          <a:p>
            <a:r>
              <a:t>SOURCES / PREPARATION</a:t>
            </a:r>
          </a:p>
          <a:p>
            <a:r>
              <a:t>/home/gozen/work/llvm-project/mlir/tools/mlir-dsl/dsl/plugins/decorators/kernels/launch.py</a:t>
            </a:r>
          </a:p>
          <a:p>
            <a:r>
              <a:t>/home/gozen/work/llvm-project/mlir/tools/mlir-dsl/dsl/plugins/decorators/kernels/gpu/__init__.py</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33 — 9 · The DSL owns the pass pipeline</a:t>
            </a:r>
          </a:p>
          <a:p>
            <a:r>
              <a:t>PDF page: 34</a:t>
            </a:r>
          </a:p>
          <a:p>
            <a:r>
              <a:t>Owner: Guray Ozen</a:t>
            </a:r>
          </a:p>
          <a:p>
            <a:r>
              <a:t>Clock: 21:00–21:55</a:t>
            </a:r>
          </a:p>
          <a:p>
            <a:r>
              <a:t>Target duration: 00:55</a:t>
            </a:r>
          </a:p>
          <a:p/>
          <a:p>
            <a:r>
              <a:t>Every sub-DSL lists its own pass pipeline in order. No plugin publishes pipeline_passes or contributes an implicit pass list. The selected compiler consumes that list, builds its runtime/engine and loads the entry. The shipped compiler uses MLIR pass manager and ExecutionEngine; another target can replace the whole compiler role. Func entry packs/unpacks results independently of the compiler.</a:t>
            </a:r>
          </a:p>
          <a:p/>
          <a:p>
            <a:r>
              <a:t>SOURCES / PREPARATION</a:t>
            </a:r>
          </a:p>
          <a:p>
            <a:r>
              <a:t>/home/gozen/work/llvm-project/mlir/tools/mlir-dsl/dsl/core/plugin.py</a:t>
            </a:r>
          </a:p>
          <a:p>
            <a:r>
              <a:t>/home/gozen/work/llvm-project/mlir/tools/mlir-dsl/dsl/plugins/compiler/execution_engine.py</a:t>
            </a:r>
          </a:p>
          <a:p>
            <a:r>
              <a:t>/home/gozen/work/llvm-project/mlir/tools/mlir-dsl/dsl/plugins/compiler/jit_executor.py</a:t>
            </a:r>
          </a:p>
          <a:p>
            <a:r>
              <a:t>/home/gozen/work/llvm-project/mlir/tools/mlir-dsl/sub-dsls/mlir-dsl/dsl/mlir_dsl.py</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34 — Compile now. Call later.</a:t>
            </a:r>
          </a:p>
          <a:p>
            <a:r>
              <a:t>PDF page: 35</a:t>
            </a:r>
          </a:p>
          <a:p>
            <a:r>
              <a:t>Owner: Guray Ozen</a:t>
            </a:r>
          </a:p>
          <a:p>
            <a:r>
              <a:t>Clock: 21:55–22:30</a:t>
            </a:r>
          </a:p>
          <a:p>
            <a:r>
              <a:t>Target duration: 00:35</a:t>
            </a:r>
          </a:p>
          <a:p/>
          <a:p>
            <a:r>
              <a:t>The current API is plain m.compile(function,*representative_args), not bracket flags. It compiles a decorated function without running it and returns a callable. Runtime leaves fix the signature; Python values fix specialization and are checked at later calls. This is ahead-of-call compilation, not a generic standalone binary export API.</a:t>
            </a:r>
          </a:p>
          <a:p/>
          <a:p>
            <a:r>
              <a:t>SOURCES / PREPARATION</a:t>
            </a:r>
          </a:p>
          <a:p>
            <a:r>
              <a:t>/home/gozen/work/llvm-project/mlir/tools/mlir-dsl/sub-dsls/mlir-dsl/dsl/mlir_dsl.py</a:t>
            </a:r>
          </a:p>
          <a:p>
            <a:r>
              <a:t>/home/gozen/work/llvm-project/mlir/tools/mlir-dsl/sub-dsls/mlir-dsl/examples/09_compile_and_cache.py</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35 — 10 · Cache compilation work</a:t>
            </a:r>
          </a:p>
          <a:p>
            <a:r>
              <a:t>PDF page: 36</a:t>
            </a:r>
          </a:p>
          <a:p>
            <a:r>
              <a:t>Owner: Guray Ozen</a:t>
            </a:r>
          </a:p>
          <a:p>
            <a:r>
              <a:t>Clock: 22:30–23:05</a:t>
            </a:r>
          </a:p>
          <a:p>
            <a:r>
              <a:t>Target duration: 00:35</a:t>
            </a:r>
          </a:p>
          <a:p/>
          <a:p>
            <a:r>
              <a:t>In-memory cache keys incorporate the traced module identity and relevant compilation configuration. On-disk cache stores lowered bytecode with CRC32 validation; loading it is a file-cache hit rather than a miss. The current cache example passed memory counters (1 hit,3 misses) and a second-process file hit. Do not describe the file cache as a permanent native-binary artifact or claim every arbitrary compiler version/target mismatch is magically handled.</a:t>
            </a:r>
          </a:p>
          <a:p/>
          <a:p>
            <a:r>
              <a:t>SOURCES / PREPARATION</a:t>
            </a:r>
          </a:p>
          <a:p>
            <a:r>
              <a:t>/home/gozen/work/llvm-project/mlir/tools/mlir-dsl/dsl/util/cache.py</a:t>
            </a:r>
          </a:p>
          <a:p>
            <a:r>
              <a:t>/home/gozen/work/llvm-project/mlir/tools/mlir-dsl/dsl/core/dsl.py</a:t>
            </a:r>
          </a:p>
          <a:p>
            <a:r>
              <a:t>/home/gozen/work/llvm-project/mlir/tools/mlir-dsl/sub-dsls/mlir-dsl/examples/09_compile_and_cache.py</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36 — 11 · Generate IR and stop</a:t>
            </a:r>
          </a:p>
          <a:p>
            <a:r>
              <a:t>PDF page: 37</a:t>
            </a:r>
          </a:p>
          <a:p>
            <a:r>
              <a:t>Owner: Guray Ozen</a:t>
            </a:r>
          </a:p>
          <a:p>
            <a:r>
              <a:t>Clock: 23:05–23:40</a:t>
            </a:r>
          </a:p>
          <a:p>
            <a:r>
              <a:t>Target duration: 00:35</a:t>
            </a:r>
          </a:p>
          <a:p/>
          <a:p>
            <a:r>
              <a:t>An IR-only DSL still chooses the operations/types and entry needed to build its program. This excerpt omits constructor/imports and uses no native staged control flow; preprocessing must be disabled or supplied by an AST plugin. A missing compiler returns the trace result like DRYRUN, while explicit compile is an error. PRINT_IR displays generated IR. This is a first-class fit for two motivating use cases, not a failed JIT.</a:t>
            </a:r>
          </a:p>
          <a:p/>
          <a:p>
            <a:r>
              <a:t>SOURCES / PREPARATION</a:t>
            </a:r>
          </a:p>
          <a:p>
            <a:r>
              <a:t>/home/gozen/work/llvm-project/mlir/tools/mlir-dsl/dsl/core/dsl.py</a:t>
            </a:r>
          </a:p>
          <a:p>
            <a:r>
              <a:t>/home/gozen/work/llvm-project/mlir/tools/mlir-dsl/test/core_only.py</a:t>
            </a:r>
          </a:p>
          <a:p>
            <a:r>
              <a:t>/home/gozen/work/llvm-project/mlir/tools/mlir-dsl/dsl/core/env_manager.py</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37 — 12 · Errors should point to Python</a:t>
            </a:r>
          </a:p>
          <a:p>
            <a:r>
              <a:t>PDF page: 38</a:t>
            </a:r>
          </a:p>
          <a:p>
            <a:r>
              <a:t>Owner: Guray Ozen</a:t>
            </a:r>
          </a:p>
          <a:p>
            <a:r>
              <a:t>Clock: 23:40–24:15</a:t>
            </a:r>
          </a:p>
          <a:p>
            <a:r>
              <a:t>Target duration: 00:35</a:t>
            </a:r>
          </a:p>
          <a:p/>
          <a:p>
            <a:r>
              <a:t>User program errors use DSLUserCodeError; runtime/configuration failures use DSLRuntimeError. The renderer formats stable DiagId catalog entries, placeholders, source frames and suggestions. The current diagnostics example passed argument mismatch, early exit, unstable join and closure-capture errors; the old v8 diagnostic mismatch is no longer current. int(x) or x.to(int) on a staged scalar requires a Meta value.</a:t>
            </a:r>
          </a:p>
          <a:p/>
          <a:p>
            <a:r>
              <a:t>SOURCES / PREPARATION</a:t>
            </a:r>
          </a:p>
          <a:p>
            <a:r>
              <a:t>/home/gozen/work/llvm-project/mlir/tools/mlir-dsl/dsl/core/diagnostics.py</a:t>
            </a:r>
          </a:p>
          <a:p>
            <a:r>
              <a:t>/home/gozen/work/llvm-project/mlir/tools/mlir-dsl/dsl/core/common.py</a:t>
            </a:r>
          </a:p>
          <a:p>
            <a:r>
              <a:t>/home/gozen/work/llvm-project/mlir/tools/mlir-dsl/dsl/types/typing.py</a:t>
            </a:r>
          </a:p>
          <a:p>
            <a:r>
              <a:t>/home/gozen/work/llvm-project/mlir/tools/mlir-dsl/sub-dsls/mlir-dsl/examples/10_diagnostics.py</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38 — 13 · Locations and remarks</a:t>
            </a:r>
          </a:p>
          <a:p>
            <a:r>
              <a:t>PDF page: 39</a:t>
            </a:r>
          </a:p>
          <a:p>
            <a:r>
              <a:t>Owner: Guray Ozen</a:t>
            </a:r>
          </a:p>
          <a:p>
            <a:r>
              <a:t>Clock: 24:15–24:50</a:t>
            </a:r>
          </a:p>
          <a:p>
            <a:r>
              <a:t>Target duration: 00:35</a:t>
            </a:r>
          </a:p>
          <a:p/>
          <a:p>
            <a:r>
              <a:t>core/user_op.py creates traceback-derived locations under DEBUGINFO; core/remarks.py connects collection through the selected compiler remark session. Remarks are structured feedback, not exceptions. The current checkout contains MLIR remark APIs, but this tutorial does not claim they are already in an upstream release. Preserve source coordinates through generated operations for useful errors.</a:t>
            </a:r>
          </a:p>
          <a:p/>
          <a:p>
            <a:r>
              <a:t>SOURCES / PREPARATION</a:t>
            </a:r>
          </a:p>
          <a:p>
            <a:r>
              <a:t>/home/gozen/work/llvm-project/mlir/tools/mlir-dsl/dsl/core/user_op.py</a:t>
            </a:r>
          </a:p>
          <a:p>
            <a:r>
              <a:t>/home/gozen/work/llvm-project/mlir/tools/mlir-dsl/dsl/core/remarks.py</a:t>
            </a:r>
          </a:p>
          <a:p>
            <a:r>
              <a:t>/home/gozen/work/llvm-project/mlir/tools/mlir-dsl/test/remarks.py</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39 — 14 · See what the compiler does</a:t>
            </a:r>
          </a:p>
          <a:p>
            <a:r>
              <a:t>PDF page: 40</a:t>
            </a:r>
          </a:p>
          <a:p>
            <a:r>
              <a:t>Owner: Guray Ozen</a:t>
            </a:r>
          </a:p>
          <a:p>
            <a:r>
              <a:t>Clock: 24:50–25:20</a:t>
            </a:r>
          </a:p>
          <a:p>
            <a:r>
              <a:t>Target duration: 00:30</a:t>
            </a:r>
          </a:p>
          <a:p/>
          <a:p>
            <a:r>
              <a:t>The name passed to BaseDSL chooses the environment prefix. These environment names were checked in the current core/env_manager.py. LOG_LEVEL requires LOG_TO_CONSOLE or LOG_TO_FILE to enable a sink. Configuration, logging and compiler timing are inherited infrastructure, while a downstream DSL can add its own variables. Avoid current package-size or environment-count claims from an older snapshot.</a:t>
            </a:r>
          </a:p>
          <a:p/>
          <a:p>
            <a:r>
              <a:t>SOURCES / PREPARATION</a:t>
            </a:r>
          </a:p>
          <a:p>
            <a:r>
              <a:t>/home/gozen/work/llvm-project/mlir/tools/mlir-dsl/dsl/core/env_manager.py</a:t>
            </a:r>
          </a:p>
          <a:p>
            <a:r>
              <a:t>/home/gozen/work/llvm-project/mlir/tools/mlir-dsl/dsl/util/profiler.py</a:t>
            </a:r>
          </a:p>
          <a:p>
            <a:r>
              <a:t>/home/gozen/work/llvm-project/mlir/tools/mlir-dsl/dsl/util/logger.py</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40 — Four roles. Two families.</a:t>
            </a:r>
          </a:p>
          <a:p>
            <a:r>
              <a:t>PDF page: 41</a:t>
            </a:r>
          </a:p>
          <a:p>
            <a:r>
              <a:t>Owner: Guray Ozen</a:t>
            </a:r>
          </a:p>
          <a:p>
            <a:r>
              <a:t>Clock: 25:20–25:55</a:t>
            </a:r>
          </a:p>
          <a:p>
            <a:r>
              <a:t>Target duration: 00:35</a:t>
            </a:r>
          </a:p>
          <a:p/>
          <a:p>
            <a:r>
              <a:t>Now the audience has seen the features: name the plugin contracts just before the authoring example. At most one plugin fills each role: type_ops, func_entry, ast_preprocessor and compiler. decorators and adapters are families containing any number of plugins. Eight shipped plugins: TypeOps, func.Entry, scf.ASTPreprocessor, execution_engine.Compiler, gpu.Kernels, PyTorchPlugin, DlpackPlugin, TvmFfiPlugin. arith, vector and llvm are operation modules composed by TypeOps, not three more plugins. Plugin itself only supplies available/install/shared_libs/register_dialects lifecycle. The sub-DSL owns pipeline(); plugins do not contribute pass lists.</a:t>
            </a:r>
          </a:p>
          <a:p/>
          <a:p>
            <a:r>
              <a:t>SOURCES / PREPARATION</a:t>
            </a:r>
          </a:p>
          <a:p>
            <a:r>
              <a:t>/home/gozen/work/llvm-project/mlir/tools/mlir-dsl/dsl/core/plugin.py</a:t>
            </a:r>
          </a:p>
          <a:p>
            <a:r>
              <a:t>/home/gozen/work/llvm-project/mlir/tools/mlir-dsl/dsl/plugins/type_ops/__init__.py</a:t>
            </a:r>
          </a:p>
          <a:p>
            <a:r>
              <a:t>/home/gozen/work/llvm-project/mlir/tools/mlir-dsl/sub-dsls/mlir-dsl/dsl/mlir_dsl.py</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41 — 15 · One subclass. One Plugins record.</a:t>
            </a:r>
          </a:p>
          <a:p>
            <a:r>
              <a:t>PDF page: 42</a:t>
            </a:r>
          </a:p>
          <a:p>
            <a:r>
              <a:t>Owner: Guray Ozen</a:t>
            </a:r>
          </a:p>
          <a:p>
            <a:r>
              <a:t>Clock: 25:55–26:55</a:t>
            </a:r>
          </a:p>
          <a:p>
            <a:r>
              <a:t>Target duration: 01:00</a:t>
            </a:r>
          </a:p>
          <a:p/>
          <a:p>
            <a:r>
              <a:t>This is the current assembly shape, not the obsolete list-valued plugins API. Import BaseDSL and Plugins from mlir.dsl; plugins from their role/family packages. Modules arith/vector/llvm are arguments to TypeOps, not independent plugins. Constructor, namespace exports and pipeline are shown/discussed next. A custom DSL should depend on the core and selected plugins rather than importing the reference language.</a:t>
            </a:r>
          </a:p>
          <a:p/>
          <a:p>
            <a:r>
              <a:t>SOURCES / PREPARATION</a:t>
            </a:r>
          </a:p>
          <a:p>
            <a:r>
              <a:t>/home/gozen/work/llvm-project/mlir/tools/mlir-dsl/dsl/core/plugin.py</a:t>
            </a:r>
          </a:p>
          <a:p>
            <a:r>
              <a:t>/home/gozen/work/llvm-project/mlir/tools/mlir-dsl/sub-dsls/mlir-dsl/dsl/mlir_dsl.py</a:t>
            </a:r>
          </a:p>
          <a:p>
            <a:r>
              <a:t>/home/gozen/work/llvm-project/mlir/tools/mlir-dsl/sub-dsls/mlir-dsl/examples/11_custom_dsl.py</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42 — Own the namespace and lowering</a:t>
            </a:r>
          </a:p>
          <a:p>
            <a:r>
              <a:t>PDF page: 43</a:t>
            </a:r>
          </a:p>
          <a:p>
            <a:r>
              <a:t>Owner: Guray Ozen</a:t>
            </a:r>
          </a:p>
          <a:p>
            <a:r>
              <a:t>Clock: 26:55–27:30</a:t>
            </a:r>
          </a:p>
          <a:p>
            <a:r>
              <a:t>Target duration: 00:35</a:t>
            </a:r>
          </a:p>
          <a:p/>
          <a:p>
            <a:r>
              <a:t>These are methods on MyDSL from the previous slide. mydsl exports the chosen user types, jit/kernel/compile names and syntax helpers its preprocessor imports. name selects MY_DSL_* configuration. The example pass list is schematic: mydialect and its lowering are downstream definitions, not shipped names; include vector/math/GPU passes if those operations are emitted. The concrete reference pass list is in mlir_dsl.py. No plugin publishes passes.</a:t>
            </a:r>
          </a:p>
          <a:p/>
          <a:p>
            <a:r>
              <a:t>SOURCES / PREPARATION</a:t>
            </a:r>
          </a:p>
          <a:p>
            <a:r>
              <a:t>/home/gozen/work/llvm-project/mlir/tools/mlir-dsl/sub-dsls/mlir-dsl/dsl/mlir_dsl.py</a:t>
            </a:r>
          </a:p>
          <a:p>
            <a:r>
              <a:t>/home/gozen/work/llvm-project/mlir/tools/mlir-dsl/dsl/core/dsl.py</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43 — Reuse a composition; change one field</a:t>
            </a:r>
          </a:p>
          <a:p>
            <a:r>
              <a:t>PDF page: 44</a:t>
            </a:r>
          </a:p>
          <a:p>
            <a:r>
              <a:t>Owner: Guray Ozen</a:t>
            </a:r>
          </a:p>
          <a:p>
            <a:r>
              <a:t>Clock: 27:30–28:05</a:t>
            </a:r>
          </a:p>
          <a:p>
            <a:r>
              <a:t>Target duration: 00:35</a:t>
            </a:r>
          </a:p>
          <a:p/>
          <a:p>
            <a:r>
              <a:t>This exact variant pattern is in example11. replace creates a new frozen Plugins record; role implementations are retained while decorators and adapters are dropped. Each DSL instance shallow-copies and installs its available plugins. Inheriting a decorator attribute from a base class does not make its missing plugin available; invoking it reports CALL_PLUGIN_REQUIRED. A separately authored language can instead construct BaseDSL and its record from scratch.</a:t>
            </a:r>
          </a:p>
          <a:p/>
          <a:p>
            <a:r>
              <a:t>SOURCES / PREPARATION</a:t>
            </a:r>
          </a:p>
          <a:p>
            <a:r>
              <a:t>/home/gozen/work/llvm-project/mlir/tools/mlir-dsl/sub-dsls/mlir-dsl/examples/11_custom_dsl.py</a:t>
            </a:r>
          </a:p>
          <a:p>
            <a:r>
              <a:t>/home/gozen/work/llvm-project/mlir/tools/mlir-dsl/dsl/core/plugin.py</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44 — Every plugin has a small shared lifecycle</a:t>
            </a:r>
          </a:p>
          <a:p>
            <a:r>
              <a:t>PDF page: 45</a:t>
            </a:r>
          </a:p>
          <a:p>
            <a:r>
              <a:t>Owner: Guray Ozen</a:t>
            </a:r>
          </a:p>
          <a:p>
            <a:r>
              <a:t>Clock: 28:05–28:40</a:t>
            </a:r>
          </a:p>
          <a:p>
            <a:r>
              <a:t>Target duration: 00:35</a:t>
            </a:r>
          </a:p>
          <a:p/>
          <a:p>
            <a:r>
              <a:t>Only these hooks are on bare Plugin. A role or family adds its own contract. Unavailable plugins are dropped and listed in unavailable_plugins; available ones are copied/installed in record order: roles, decorators, adapters. Each dispatch loop calls its own role/family. Compiler, decorator and adapter hooks must not be described as a single universal plugin interface.</a:t>
            </a:r>
          </a:p>
          <a:p/>
          <a:p>
            <a:r>
              <a:t>SOURCES / PREPARATION</a:t>
            </a:r>
          </a:p>
          <a:p>
            <a:r>
              <a:t>/home/gozen/work/llvm-project/mlir/tools/mlir-dsl/dsl/core/plugin.py</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45 — One program: Python recipe + staged loop</a:t>
            </a:r>
          </a:p>
          <a:p>
            <a:r>
              <a:t>PDF page: 46</a:t>
            </a:r>
          </a:p>
          <a:p>
            <a:r>
              <a:t>Owner: Guray Ozen</a:t>
            </a:r>
          </a:p>
          <a:p>
            <a:r>
              <a:t>Clock: 28:40–29:45</a:t>
            </a:r>
          </a:p>
          <a:p>
            <a:r>
              <a:t>Target duration: 01:05</a:t>
            </a:r>
          </a:p>
          <a:p/>
          <a:p>
            <a:r>
              <a:t>The array loop is staged and the ordinary recipe dictionary dispatches at trace time. Pointer load/store operations use the selected type_ops memory module; arithmetic uses its scalar module. The current v14 metaprogram check produced [6,9,12,15] for [0,1,2,3] with AddN(2), MulN(3). The displayed IR is a loop-body excerpt. This ties together values, metaprogramming, memory, control flow and execution.</a:t>
            </a:r>
          </a:p>
          <a:p/>
          <a:p>
            <a:r>
              <a:t>SOURCES / PREPARATION</a:t>
            </a:r>
          </a:p>
          <a:p>
            <a:r>
              <a:t>/home/gozen/work/llvm-project/mlir/tools/mlir-dsl/dsl/core/staging.py</a:t>
            </a:r>
          </a:p>
          <a:p>
            <a:r>
              <a:t>/home/gozen/work/llvm-project/mlir/tools/mlir-dsl/dsl/plugins/type_ops/llvm.py</a:t>
            </a:r>
          </a:p>
          <a:p>
            <a:r>
              <a:t>/home/gozen/work/llvm-project/mlir/tools/mlir-dsl/dsl/plugins/type_ops/arith.py</a:t>
            </a:r>
          </a:p>
          <a:p>
            <a:r>
              <a:t>verification/v14/api-audit.txt</a:t>
            </a:r>
          </a:p>
          <a:p>
            <a:r>
              <a:t>verification/v14/metaprogram-examples.txt</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46 — From loop carries to richer mutation</a:t>
            </a:r>
          </a:p>
          <a:p>
            <a:r>
              <a:t>PDF page: 47</a:t>
            </a:r>
          </a:p>
          <a:p>
            <a:r>
              <a:t>Owner: Guray Ozen</a:t>
            </a:r>
          </a:p>
          <a:p>
            <a:r>
              <a:t>Clock: 29:45–30:00</a:t>
            </a:r>
          </a:p>
          <a:p>
            <a:r>
              <a:t>Target duration: 00:15</a:t>
            </a:r>
          </a:p>
          <a:p/>
          <a:p>
            <a:r>
              <a:t>Hand off to Amir. This deck only reserves his ten-minute slot; it does not author or claim completion of his PyIR mutation-tracking implementation.</a:t>
            </a:r>
          </a:p>
          <a:p/>
          <a:p>
            <a:r>
              <a:t>SOURCES / PREPARATION</a:t>
            </a:r>
          </a:p>
          <a:p>
            <a:r>
              <a:t>/home/gozen/work/llvm-project/mlir/tools/mlir-dsl/README.md</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47 — Advanced mutation tracking</a:t>
            </a:r>
          </a:p>
          <a:p>
            <a:r>
              <a:t>PDF page: 48</a:t>
            </a:r>
          </a:p>
          <a:p>
            <a:r>
              <a:t>Owner: Amir Tavakkoli</a:t>
            </a:r>
          </a:p>
          <a:p>
            <a:r>
              <a:t>Clock: 30:00–40:00</a:t>
            </a:r>
          </a:p>
          <a:p>
            <a:r>
              <a:t>Target duration: 10:00</a:t>
            </a:r>
          </a:p>
          <a:p/>
          <a:p>
            <a:r>
              <a:t>Placeholder for Amir’s independently supplied material. Ten minutes reserved. No PyIR implementation or technical slides authored here.</a:t>
            </a:r>
          </a:p>
          <a:p/>
          <a:p>
            <a:r>
              <a:t>SOURCES / PREPARATION</a:t>
            </a:r>
          </a:p>
          <a:p>
            <a:r>
              <a:t>/home/gozen/work/llvm-project/mlir/tools/mlir-dsl/README.md</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48 — Tile IR: choose target implementations</a:t>
            </a:r>
          </a:p>
          <a:p>
            <a:r>
              <a:t>PDF page: 49</a:t>
            </a:r>
          </a:p>
          <a:p>
            <a:r>
              <a:t>Owner: Guray Ozen</a:t>
            </a:r>
          </a:p>
          <a:p>
            <a:r>
              <a:t>Clock: 40:00–41:00</a:t>
            </a:r>
          </a:p>
          <a:p>
            <a:r>
              <a:t>Target duration: 01:00</a:t>
            </a:r>
          </a:p>
          <a:p/>
          <a:p>
            <a:r>
              <a:t>Proposed mapping of a downstream Tile backend to the current role/family architecture. The tile.* classes are illustrative interfaces, not shipped or executed implementations. The existing DkgDSL backend motivates the mapping but has not been ported here. Reuse the core and compatible existing adapters; replace the target-specific roles and decorator plugin. All five closing slides are a five-minute design sketch.</a:t>
            </a:r>
          </a:p>
          <a:p/>
          <a:p>
            <a:r>
              <a:t>SOURCES / PREPARATION</a:t>
            </a:r>
          </a:p>
          <a:p>
            <a:r>
              <a:t>/home/gozen/work/llvm-project/mlir/tools/mlir-dsl/README.md</a:t>
            </a:r>
          </a:p>
          <a:p>
            <a:r>
              <a:t>/home/gozen/work/llvm-project/mlir/tools/mlir-dsl/dsl/core/plugin.py</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49 — Tile IR: one type-ops role</a:t>
            </a:r>
          </a:p>
          <a:p>
            <a:r>
              <a:t>PDF page: 50</a:t>
            </a:r>
          </a:p>
          <a:p>
            <a:r>
              <a:t>Owner: Guray Ozen</a:t>
            </a:r>
          </a:p>
          <a:p>
            <a:r>
              <a:t>Clock: 41:00–42:00</a:t>
            </a:r>
          </a:p>
          <a:p>
            <a:r>
              <a:t>Target duration: 01:00</a:t>
            </a:r>
          </a:p>
          <a:p/>
          <a:p>
            <a:r>
              <a:t>The type_ops contract covers scalar, vector and pointer types/operations. A real Tile implementation must provide the relevant hooks and preserve dtype policy. The checked rank-zero tensor example demonstrates replacement of physical representation but is not CUDA Tile IR and has no real Tile lowering. This slide is a proposed downstream mapping, not an executed port.</a:t>
            </a:r>
          </a:p>
          <a:p/>
          <a:p>
            <a:r>
              <a:t>SOURCES / PREPARATION</a:t>
            </a:r>
          </a:p>
          <a:p>
            <a:r>
              <a:t>/home/gozen/work/llvm-project/mlir/tools/mlir-dsl/README.md</a:t>
            </a:r>
          </a:p>
          <a:p>
            <a:r>
              <a:t>/home/gozen/work/llvm-project/mlir/tools/mlir-dsl/dsl/core/mlir_op.py</a:t>
            </a:r>
          </a:p>
          <a:p>
            <a:r>
              <a:t>/home/gozen/work/llvm-project/mlir/tools/mlir-dsl/sub-dsls/mlir-dsl/examples/14_type_ops_plugin.py</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50 — Tile IR: choose its control-flow model</a:t>
            </a:r>
          </a:p>
          <a:p>
            <a:r>
              <a:t>PDF page: 51</a:t>
            </a:r>
          </a:p>
          <a:p>
            <a:r>
              <a:t>Owner: Guray Ozen</a:t>
            </a:r>
          </a:p>
          <a:p>
            <a:r>
              <a:t>Clock: 42:00–43:00</a:t>
            </a:r>
          </a:p>
          <a:p>
            <a:r>
              <a:t>Target duration: 01:00</a:t>
            </a:r>
          </a:p>
          <a:p/>
          <a:p>
            <a:r>
              <a:t>The Tile preprocessor and region callbacks are proposed downstream definitions. CUDA Tile loop can use its own early-exit constructs; the current shipped SCF preprocessor rejects data-dependent early exits, and simply swapping one callback is not a promise of complete support. Different target semantics may need a different rewrite. No legacy annotation wrappers are used.</a:t>
            </a:r>
          </a:p>
          <a:p/>
          <a:p>
            <a:r>
              <a:t>SOURCES / PREPARATION</a:t>
            </a:r>
          </a:p>
          <a:p>
            <a:r>
              <a:t>/home/gozen/work/llvm-project/mlir/tools/mlir-dsl/dsl/core/plugin.py</a:t>
            </a:r>
          </a:p>
          <a:p>
            <a:r>
              <a:t>/home/gozen/work/llvm-project/mlir/tools/mlir-dsl/dsl/plugins/ast_preprocessor/preprocessor.py</a:t>
            </a:r>
          </a:p>
          <a:p>
            <a:r>
              <a:t>verification/v14/api-audit.txt</a:t>
            </a:r>
          </a:p>
          <a:p>
            <a:r>
              <a:t>verification/v9/control-flow-evidence.txt</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51 — Tile IR: keep a small user surface</a:t>
            </a:r>
          </a:p>
          <a:p>
            <a:r>
              <a:t>PDF page: 52</a:t>
            </a:r>
          </a:p>
          <a:p>
            <a:r>
              <a:t>Owner: Guray Ozen</a:t>
            </a:r>
          </a:p>
          <a:p>
            <a:r>
              <a:t>Clock: 43:00–44:00</a:t>
            </a:r>
          </a:p>
          <a:p>
            <a:r>
              <a:t>Target duration: 01:00</a:t>
            </a:r>
          </a:p>
          <a:p/>
          <a:p>
            <a:r>
              <a:t>Illustrative target namespace and directly typed Tensor annotations, not a current executable tile API. A downstream module emits the target operations, the type-ops role routes operators, and the decorator plugin/launcher supplies the target entry and launch model. Direct typed annotations are used. The kernel body is an API sketch; real indices, shapes and memory operations are target-defined.</a:t>
            </a:r>
          </a:p>
          <a:p/>
          <a:p>
            <a:r>
              <a:t>SOURCES / PREPARATION</a:t>
            </a:r>
          </a:p>
          <a:p>
            <a:r>
              <a:t>/home/gozen/work/llvm-project/mlir/tools/mlir-dsl/README.md</a:t>
            </a:r>
          </a:p>
          <a:p>
            <a:r>
              <a:t>/home/gozen/work/llvm-project/mlir/tools/mlir-dsl/dsl/plugins/decorators/kernels/launch.py</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52 — Tile IR: the target owns launch</a:t>
            </a:r>
          </a:p>
          <a:p>
            <a:r>
              <a:t>PDF page: 53</a:t>
            </a:r>
          </a:p>
          <a:p>
            <a:r>
              <a:t>Owner: Guray Ozen</a:t>
            </a:r>
          </a:p>
          <a:p>
            <a:r>
              <a:t>Clock: 44:00–45:00</a:t>
            </a:r>
          </a:p>
          <a:p>
            <a:r>
              <a:t>Target duration: 01:00</a:t>
            </a:r>
          </a:p>
          <a:p/>
          <a:p>
            <a:r>
              <a:t>The desired downstream path can launch a decorated kernel directly from Python using a target launcher. The kernel decorator plugin owns that behavior; the compiler role can return a target artifact rather than ExecutionEngine. CUDA Python is a proposed launch mechanism, not implemented or GPU-tested by this deck. This differs from the shipped GPU plugin whose kernel calls are launched from @jit through gpu.launch_func. Close by returning to the four use cases: same core, selected roles, own pipeline.</a:t>
            </a:r>
          </a:p>
          <a:p/>
          <a:p>
            <a:r>
              <a:t>SOURCES / PREPARATION</a:t>
            </a:r>
          </a:p>
          <a:p>
            <a:r>
              <a:t>/home/gozen/work/llvm-project/mlir/tools/mlir-dsl/README.md</a:t>
            </a:r>
          </a:p>
          <a:p>
            <a:r>
              <a:t>/home/gozen/work/llvm-project/mlir/tools/mlir-dsl/dsl/core/plugin.py</a:t>
            </a:r>
          </a:p>
          <a:p>
            <a:r>
              <a:t>/home/gozen/work/llvm-project/mlir/tools/mlir-dsl/dsl/plugins/decorators/kernels/launch.py</a:t>
            </a:r>
          </a:p>
          <a:p>
            <a:r>
              <a:t>verification/v14/api-audit.txt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hyperlink" Target="https://docs.nvidia.com/cutlass/latest/media/docs/pythonDSL/overview.html"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2026 US LLVM Developers’ Meeting"/>
          <p:cNvSpPr txBox="1"/>
          <p:nvPr/>
        </p:nvSpPr>
        <p:spPr>
          <a:xfrm>
            <a:off x="475488" y="530352"/>
            <a:ext cx="8193024" cy="274320"/>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2026 US LLVM Developers’ Meeting</a:t>
            </a:r>
          </a:p>
        </p:txBody>
      </p:sp>
      <p:sp>
        <p:nvSpPr>
          <p:cNvPr id="5" name="27 October 2026"/>
          <p:cNvSpPr txBox="1"/>
          <p:nvPr/>
        </p:nvSpPr>
        <p:spPr>
          <a:xfrm>
            <a:off x="475488" y="905256"/>
            <a:ext cx="8193024" cy="25603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27 October 2026</a:t>
            </a:r>
          </a:p>
        </p:txBody>
      </p:sp>
      <p:sp>
        <p:nvSpPr>
          <p:cNvPr id="6" name="How to build a Python DSL / for MLIR"/>
          <p:cNvSpPr txBox="1"/>
          <p:nvPr/>
        </p:nvSpPr>
        <p:spPr>
          <a:xfrm>
            <a:off x="438912" y="1655064"/>
            <a:ext cx="8266175" cy="1124712"/>
          </a:xfrm>
          <a:prstGeom prst="rect">
            <a:avLst/>
          </a:prstGeom>
          <a:noFill/>
        </p:spPr>
        <p:txBody>
          <a:bodyPr wrap="none" anchor="t" lIns="0" rIns="0" tIns="0" bIns="0">
            <a:noAutofit/>
          </a:bodyPr>
          <a:lstStyle/>
          <a:p>
            <a:pPr algn="l">
              <a:lnSpc>
                <a:spcPts val="3596"/>
              </a:lnSpc>
              <a:spcBef>
                <a:spcPts val="0"/>
              </a:spcBef>
              <a:spcAft>
                <a:spcPts val="0"/>
              </a:spcAft>
            </a:pPr>
            <a:r>
              <a:rPr sz="3100" b="0">
                <a:solidFill>
                  <a:srgbClr val="000000"/>
                </a:solidFill>
                <a:latin typeface="NVIDIA Sans Light"/>
              </a:rPr>
              <a:t>How to build a Python DSL</a:t>
            </a:r>
          </a:p>
          <a:p>
            <a:pPr algn="l">
              <a:lnSpc>
                <a:spcPts val="3596"/>
              </a:lnSpc>
              <a:spcBef>
                <a:spcPts val="0"/>
              </a:spcBef>
              <a:spcAft>
                <a:spcPts val="0"/>
              </a:spcAft>
            </a:pPr>
            <a:r>
              <a:rPr sz="3100" b="0">
                <a:solidFill>
                  <a:srgbClr val="000000"/>
                </a:solidFill>
                <a:latin typeface="NVIDIA Sans Light"/>
              </a:rPr>
              <a:t>for MLIR</a:t>
            </a:r>
          </a:p>
        </p:txBody>
      </p:sp>
      <p:sp>
        <p:nvSpPr>
          <p:cNvPr id="7" name="mlir dsl · Python generates MLIR"/>
          <p:cNvSpPr txBox="1"/>
          <p:nvPr/>
        </p:nvSpPr>
        <p:spPr>
          <a:xfrm>
            <a:off x="475488" y="2990088"/>
            <a:ext cx="8211312" cy="365760"/>
          </a:xfrm>
          <a:prstGeom prst="rect">
            <a:avLst/>
          </a:prstGeom>
          <a:noFill/>
        </p:spPr>
        <p:txBody>
          <a:bodyPr wrap="none" anchor="t" lIns="0" rIns="0" tIns="0" bIns="0">
            <a:noAutofit/>
          </a:bodyPr>
          <a:lstStyle/>
          <a:p>
            <a:pPr algn="l">
              <a:lnSpc>
                <a:spcPts val="1623"/>
              </a:lnSpc>
              <a:spcBef>
                <a:spcPts val="0"/>
              </a:spcBef>
              <a:spcAft>
                <a:spcPts val="0"/>
              </a:spcAft>
            </a:pPr>
            <a:r>
              <a:rPr sz="1400" b="0">
                <a:solidFill>
                  <a:srgbClr val="416600"/>
                </a:solidFill>
                <a:latin typeface="NVIDIA Sans"/>
              </a:rPr>
              <a:t>mlir dsl · Python generates MLIR</a:t>
            </a:r>
          </a:p>
        </p:txBody>
      </p:sp>
      <p:sp>
        <p:nvSpPr>
          <p:cNvPr id="8" name="Guray Ozen"/>
          <p:cNvSpPr txBox="1"/>
          <p:nvPr/>
        </p:nvSpPr>
        <p:spPr>
          <a:xfrm>
            <a:off x="475488" y="3758184"/>
            <a:ext cx="3840480" cy="329184"/>
          </a:xfrm>
          <a:prstGeom prst="rect">
            <a:avLst/>
          </a:prstGeom>
          <a:noFill/>
        </p:spPr>
        <p:txBody>
          <a:bodyPr wrap="none" anchor="t" lIns="0" rIns="0" tIns="0" bIns="0">
            <a:noAutofit/>
          </a:bodyPr>
          <a:lstStyle/>
          <a:p>
            <a:pPr algn="l">
              <a:lnSpc>
                <a:spcPts val="2088"/>
              </a:lnSpc>
              <a:spcBef>
                <a:spcPts val="0"/>
              </a:spcBef>
              <a:spcAft>
                <a:spcPts val="0"/>
              </a:spcAft>
            </a:pPr>
            <a:r>
              <a:rPr sz="1800" b="0">
                <a:solidFill>
                  <a:srgbClr val="000000"/>
                </a:solidFill>
                <a:latin typeface="NVIDIA Sans"/>
              </a:rPr>
              <a:t>Guray Ozen</a:t>
            </a:r>
          </a:p>
        </p:txBody>
      </p:sp>
      <p:sp>
        <p:nvSpPr>
          <p:cNvPr id="9" name="Principal Compiler Engineer, NVIDIA"/>
          <p:cNvSpPr txBox="1"/>
          <p:nvPr/>
        </p:nvSpPr>
        <p:spPr>
          <a:xfrm>
            <a:off x="475488" y="4187952"/>
            <a:ext cx="3840480" cy="402336"/>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616161"/>
                </a:solidFill>
                <a:latin typeface="NVIDIA Sans"/>
              </a:rPr>
              <a:t>Principal Compiler Engineer, NVIDIA</a:t>
            </a:r>
          </a:p>
        </p:txBody>
      </p:sp>
      <p:sp>
        <p:nvSpPr>
          <p:cNvPr id="10" name="Amir Tavakkoli"/>
          <p:cNvSpPr txBox="1"/>
          <p:nvPr/>
        </p:nvSpPr>
        <p:spPr>
          <a:xfrm>
            <a:off x="4700016" y="3758184"/>
            <a:ext cx="3840480" cy="329184"/>
          </a:xfrm>
          <a:prstGeom prst="rect">
            <a:avLst/>
          </a:prstGeom>
          <a:noFill/>
        </p:spPr>
        <p:txBody>
          <a:bodyPr wrap="none" anchor="t" lIns="0" rIns="0" tIns="0" bIns="0">
            <a:noAutofit/>
          </a:bodyPr>
          <a:lstStyle/>
          <a:p>
            <a:pPr algn="l">
              <a:lnSpc>
                <a:spcPts val="2088"/>
              </a:lnSpc>
              <a:spcBef>
                <a:spcPts val="0"/>
              </a:spcBef>
              <a:spcAft>
                <a:spcPts val="0"/>
              </a:spcAft>
            </a:pPr>
            <a:r>
              <a:rPr sz="1800" b="0">
                <a:solidFill>
                  <a:srgbClr val="000000"/>
                </a:solidFill>
                <a:latin typeface="NVIDIA Sans"/>
              </a:rPr>
              <a:t>Amir Tavakkoli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How do we produce MLIR?"/>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How do we produce MLIR?</a:t>
            </a:r>
          </a:p>
        </p:txBody>
      </p:sp>
      <p:sp>
        <p:nvSpPr>
          <p:cNvPr id="5" name="01"/>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01</a:t>
            </a:r>
          </a:p>
        </p:txBody>
      </p:sp>
      <p:sp>
        <p:nvSpPr>
          <p:cNvPr id="6" name="Motiva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Motivation</a:t>
            </a:r>
          </a:p>
        </p:txBody>
      </p:sp>
      <p:sp>
        <p:nvSpPr>
          <p:cNvPr id="7" name="•"/>
          <p:cNvSpPr txBox="1"/>
          <p:nvPr/>
        </p:nvSpPr>
        <p:spPr>
          <a:xfrm>
            <a:off x="521207" y="1554480"/>
            <a:ext cx="283464" cy="384048"/>
          </a:xfrm>
          <a:prstGeom prst="rect">
            <a:avLst/>
          </a:prstGeom>
          <a:noFill/>
        </p:spPr>
        <p:txBody>
          <a:bodyPr wrap="none" anchor="t" lIns="0" rIns="0" tIns="0" bIns="0">
            <a:noAutofit/>
          </a:bodyPr>
          <a:lstStyle/>
          <a:p>
            <a:pPr algn="l">
              <a:lnSpc>
                <a:spcPts val="2783"/>
              </a:lnSpc>
              <a:spcBef>
                <a:spcPts val="0"/>
              </a:spcBef>
              <a:spcAft>
                <a:spcPts val="0"/>
              </a:spcAft>
            </a:pPr>
            <a:r>
              <a:rPr sz="2400" b="1">
                <a:solidFill>
                  <a:srgbClr val="76B900"/>
                </a:solidFill>
                <a:latin typeface="NVIDIA Sans"/>
              </a:rPr>
              <a:t>•</a:t>
            </a:r>
          </a:p>
        </p:txBody>
      </p:sp>
      <p:sp>
        <p:nvSpPr>
          <p:cNvPr id="8" name="Write MLIR by hand"/>
          <p:cNvSpPr txBox="1"/>
          <p:nvPr/>
        </p:nvSpPr>
        <p:spPr>
          <a:xfrm>
            <a:off x="1005840" y="1536192"/>
            <a:ext cx="7534656" cy="475488"/>
          </a:xfrm>
          <a:prstGeom prst="rect">
            <a:avLst/>
          </a:prstGeom>
          <a:noFill/>
        </p:spPr>
        <p:txBody>
          <a:bodyPr wrap="none" anchor="t" lIns="0" rIns="0" tIns="0" bIns="0">
            <a:noAutofit/>
          </a:bodyPr>
          <a:lstStyle/>
          <a:p>
            <a:pPr algn="l">
              <a:lnSpc>
                <a:spcPts val="3015"/>
              </a:lnSpc>
              <a:spcBef>
                <a:spcPts val="0"/>
              </a:spcBef>
              <a:spcAft>
                <a:spcPts val="0"/>
              </a:spcAft>
            </a:pPr>
            <a:r>
              <a:rPr sz="2600" b="0">
                <a:solidFill>
                  <a:srgbClr val="000000"/>
                </a:solidFill>
                <a:latin typeface="NVIDIA Sans Light"/>
              </a:rPr>
              <a:t>Write MLIR by hand</a:t>
            </a:r>
          </a:p>
        </p:txBody>
      </p:sp>
      <p:sp>
        <p:nvSpPr>
          <p:cNvPr id="9" name="Static text. Every variant is manual."/>
          <p:cNvSpPr txBox="1"/>
          <p:nvPr/>
        </p:nvSpPr>
        <p:spPr>
          <a:xfrm>
            <a:off x="1024128" y="2176272"/>
            <a:ext cx="7452360" cy="475488"/>
          </a:xfrm>
          <a:prstGeom prst="rect">
            <a:avLst/>
          </a:prstGeom>
          <a:noFill/>
        </p:spPr>
        <p:txBody>
          <a:bodyPr wrap="none" anchor="t" lIns="0" rIns="0" tIns="0" bIns="0">
            <a:noAutofit/>
          </a:bodyPr>
          <a:lstStyle/>
          <a:p>
            <a:pPr algn="l">
              <a:lnSpc>
                <a:spcPts val="1855"/>
              </a:lnSpc>
              <a:spcBef>
                <a:spcPts val="0"/>
              </a:spcBef>
              <a:spcAft>
                <a:spcPts val="0"/>
              </a:spcAft>
            </a:pPr>
            <a:r>
              <a:rPr sz="1600" b="0">
                <a:solidFill>
                  <a:srgbClr val="616161"/>
                </a:solidFill>
                <a:latin typeface="NVIDIA Sans"/>
              </a:rPr>
              <a:t>Static text. Every variant is manual.</a:t>
            </a:r>
          </a:p>
        </p:txBody>
      </p:sp>
      <p:sp>
        <p:nvSpPr>
          <p:cNvPr id="10" name="•"/>
          <p:cNvSpPr txBox="1"/>
          <p:nvPr/>
        </p:nvSpPr>
        <p:spPr>
          <a:xfrm>
            <a:off x="521207" y="2871216"/>
            <a:ext cx="283464" cy="384048"/>
          </a:xfrm>
          <a:prstGeom prst="rect">
            <a:avLst/>
          </a:prstGeom>
          <a:noFill/>
        </p:spPr>
        <p:txBody>
          <a:bodyPr wrap="none" anchor="t" lIns="0" rIns="0" tIns="0" bIns="0">
            <a:noAutofit/>
          </a:bodyPr>
          <a:lstStyle/>
          <a:p>
            <a:pPr algn="l">
              <a:lnSpc>
                <a:spcPts val="2783"/>
              </a:lnSpc>
              <a:spcBef>
                <a:spcPts val="0"/>
              </a:spcBef>
              <a:spcAft>
                <a:spcPts val="0"/>
              </a:spcAft>
            </a:pPr>
            <a:r>
              <a:rPr sz="2400" b="1">
                <a:solidFill>
                  <a:srgbClr val="76B900"/>
                </a:solidFill>
                <a:latin typeface="NVIDIA Sans"/>
              </a:rPr>
              <a:t>•</a:t>
            </a:r>
          </a:p>
        </p:txBody>
      </p:sp>
      <p:sp>
        <p:nvSpPr>
          <p:cNvPr id="11" name="Use the Python bindings"/>
          <p:cNvSpPr txBox="1"/>
          <p:nvPr/>
        </p:nvSpPr>
        <p:spPr>
          <a:xfrm>
            <a:off x="1005840" y="2852928"/>
            <a:ext cx="7534656" cy="475488"/>
          </a:xfrm>
          <a:prstGeom prst="rect">
            <a:avLst/>
          </a:prstGeom>
          <a:noFill/>
        </p:spPr>
        <p:txBody>
          <a:bodyPr wrap="none" anchor="t" lIns="0" rIns="0" tIns="0" bIns="0">
            <a:noAutofit/>
          </a:bodyPr>
          <a:lstStyle/>
          <a:p>
            <a:pPr algn="l">
              <a:lnSpc>
                <a:spcPts val="3015"/>
              </a:lnSpc>
              <a:spcBef>
                <a:spcPts val="0"/>
              </a:spcBef>
              <a:spcAft>
                <a:spcPts val="0"/>
              </a:spcAft>
            </a:pPr>
            <a:r>
              <a:rPr sz="2600" b="0">
                <a:solidFill>
                  <a:srgbClr val="000000"/>
                </a:solidFill>
                <a:latin typeface="NVIDIA Sans Light"/>
              </a:rPr>
              <a:t>Use the Python bindings</a:t>
            </a:r>
          </a:p>
        </p:txBody>
      </p:sp>
      <p:sp>
        <p:nvSpPr>
          <p:cNvPr id="12" name="Generate IR. Wire up compilation and execution."/>
          <p:cNvSpPr txBox="1"/>
          <p:nvPr/>
        </p:nvSpPr>
        <p:spPr>
          <a:xfrm>
            <a:off x="1024128" y="3493008"/>
            <a:ext cx="7452360" cy="475488"/>
          </a:xfrm>
          <a:prstGeom prst="rect">
            <a:avLst/>
          </a:prstGeom>
          <a:noFill/>
        </p:spPr>
        <p:txBody>
          <a:bodyPr wrap="none" anchor="t" lIns="0" rIns="0" tIns="0" bIns="0">
            <a:noAutofit/>
          </a:bodyPr>
          <a:lstStyle/>
          <a:p>
            <a:pPr algn="l">
              <a:lnSpc>
                <a:spcPts val="1855"/>
              </a:lnSpc>
              <a:spcBef>
                <a:spcPts val="0"/>
              </a:spcBef>
              <a:spcAft>
                <a:spcPts val="0"/>
              </a:spcAft>
            </a:pPr>
            <a:r>
              <a:rPr sz="1600" b="0">
                <a:solidFill>
                  <a:srgbClr val="616161"/>
                </a:solidFill>
                <a:latin typeface="NVIDIA Sans"/>
              </a:rPr>
              <a:t>Generate IR. Wire up compilation and execution.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Just a + b, with Python binding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Just a + b, with Python bindings</a:t>
            </a:r>
          </a:p>
        </p:txBody>
      </p:sp>
      <p:sp>
        <p:nvSpPr>
          <p:cNvPr id="5" name="02"/>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02</a:t>
            </a:r>
          </a:p>
        </p:txBody>
      </p:sp>
      <p:sp>
        <p:nvSpPr>
          <p:cNvPr id="6" name="Motiva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Motivation</a:t>
            </a:r>
          </a:p>
        </p:txBody>
      </p:sp>
      <p:sp>
        <p:nvSpPr>
          <p:cNvPr id="7" name="Rectangle 6"/>
          <p:cNvSpPr/>
          <p:nvPr/>
        </p:nvSpPr>
        <p:spPr>
          <a:xfrm>
            <a:off x="484632" y="1042415"/>
            <a:ext cx="4050791" cy="3429000"/>
          </a:xfrm>
          <a:prstGeom prst="rect">
            <a:avLst/>
          </a:prstGeom>
          <a:solidFill>
            <a:srgbClr val="F7F7F7"/>
          </a:solidFill>
          <a:ln>
            <a:noFill/>
          </a:ln>
          <a:effectLst/>
        </p:spPr>
        <p:txBody>
          <a:bodyPr rtlCol="0" anchor="ctr"/>
          <a:lstStyle/>
          <a:p>
            <a:pPr algn="ctr"/>
          </a:p>
        </p:txBody>
      </p:sp>
      <p:sp>
        <p:nvSpPr>
          <p:cNvPr id="8" name="Rectangle 7"/>
          <p:cNvSpPr/>
          <p:nvPr/>
        </p:nvSpPr>
        <p:spPr>
          <a:xfrm>
            <a:off x="484632" y="1042415"/>
            <a:ext cx="4050791" cy="365760"/>
          </a:xfrm>
          <a:prstGeom prst="rect">
            <a:avLst/>
          </a:prstGeom>
          <a:solidFill>
            <a:srgbClr val="76B900"/>
          </a:solidFill>
          <a:ln>
            <a:noFill/>
          </a:ln>
          <a:effectLst/>
        </p:spPr>
        <p:txBody>
          <a:bodyPr rtlCol="0" anchor="ctr"/>
          <a:lstStyle/>
          <a:p>
            <a:pPr algn="ctr"/>
          </a:p>
        </p:txBody>
      </p:sp>
      <p:sp>
        <p:nvSpPr>
          <p:cNvPr id="9" name="1 · Build the IR"/>
          <p:cNvSpPr txBox="1"/>
          <p:nvPr/>
        </p:nvSpPr>
        <p:spPr>
          <a:xfrm>
            <a:off x="640080" y="1138428"/>
            <a:ext cx="3739896"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1 · Build the IR</a:t>
            </a:r>
          </a:p>
        </p:txBody>
      </p:sp>
      <p:sp>
        <p:nvSpPr>
          <p:cNvPr id="10" name="import ctypes as C / from mlir import ir, execution_engine as ee / from mlir import passmanager as pm / fr"/>
          <p:cNvSpPr txBox="1"/>
          <p:nvPr/>
        </p:nvSpPr>
        <p:spPr>
          <a:xfrm>
            <a:off x="640080" y="1499616"/>
            <a:ext cx="3739896" cy="2898648"/>
          </a:xfrm>
          <a:prstGeom prst="rect">
            <a:avLst/>
          </a:prstGeom>
          <a:noFill/>
        </p:spPr>
        <p:txBody>
          <a:bodyPr wrap="none" anchor="t" lIns="0" rIns="0" tIns="0" bIns="0">
            <a:noAutofit/>
          </a:bodyPr>
          <a:lstStyle/>
          <a:p>
            <a:pPr algn="l">
              <a:lnSpc>
                <a:spcPts val="1053"/>
              </a:lnSpc>
              <a:spcBef>
                <a:spcPts val="0"/>
              </a:spcBef>
              <a:spcAft>
                <a:spcPts val="0"/>
              </a:spcAft>
            </a:pPr>
            <a:r>
              <a:rPr sz="975" b="0">
                <a:solidFill>
                  <a:srgbClr val="484848"/>
                </a:solidFill>
                <a:latin typeface="JetBrains Mono"/>
              </a:rPr>
              <a:t>import ctypes as C</a:t>
            </a:r>
          </a:p>
          <a:p>
            <a:pPr>
              <a:lnSpc>
                <a:spcPts val="1053"/>
              </a:lnSpc>
              <a:spcBef>
                <a:spcPts val="0"/>
              </a:spcBef>
              <a:spcAft>
                <a:spcPts val="0"/>
              </a:spcAft>
            </a:pPr>
            <a:r>
              <a:rPr sz="975" b="0">
                <a:solidFill>
                  <a:srgbClr val="484848"/>
                </a:solidFill>
                <a:latin typeface="JetBrains Mono"/>
              </a:rPr>
              <a:t>from mlir import ir, execution_engine as ee</a:t>
            </a:r>
          </a:p>
          <a:p>
            <a:pPr>
              <a:lnSpc>
                <a:spcPts val="1053"/>
              </a:lnSpc>
              <a:spcBef>
                <a:spcPts val="0"/>
              </a:spcBef>
              <a:spcAft>
                <a:spcPts val="0"/>
              </a:spcAft>
            </a:pPr>
            <a:r>
              <a:rPr sz="975" b="0">
                <a:solidFill>
                  <a:srgbClr val="484848"/>
                </a:solidFill>
                <a:latin typeface="JetBrains Mono"/>
              </a:rPr>
              <a:t>from mlir import passmanager as pm</a:t>
            </a:r>
          </a:p>
          <a:p>
            <a:pPr>
              <a:lnSpc>
                <a:spcPts val="1053"/>
              </a:lnSpc>
              <a:spcBef>
                <a:spcPts val="0"/>
              </a:spcBef>
              <a:spcAft>
                <a:spcPts val="0"/>
              </a:spcAft>
            </a:pPr>
            <a:r>
              <a:rPr sz="975" b="0">
                <a:solidFill>
                  <a:srgbClr val="484848"/>
                </a:solidFill>
                <a:latin typeface="JetBrains Mono"/>
              </a:rPr>
              <a:t>from mlir.dialects import arith, func</a:t>
            </a:r>
          </a:p>
          <a:p>
            <a:pPr>
              <a:lnSpc>
                <a:spcPts val="1053"/>
              </a:lnSpc>
              <a:spcBef>
                <a:spcPts val="0"/>
              </a:spcBef>
              <a:spcAft>
                <a:spcPts val="0"/>
              </a:spcAft>
            </a:pPr>
            <a:r>
              <a:rPr sz="975" b="0">
                <a:solidFill>
                  <a:srgbClr val="484848"/>
                </a:solidFill>
                <a:latin typeface="JetBrains Mono"/>
              </a:rPr>
              <a:t/>
            </a:r>
          </a:p>
          <a:p>
            <a:pPr>
              <a:lnSpc>
                <a:spcPts val="1053"/>
              </a:lnSpc>
              <a:spcBef>
                <a:spcPts val="0"/>
              </a:spcBef>
              <a:spcAft>
                <a:spcPts val="0"/>
              </a:spcAft>
            </a:pPr>
            <a:r>
              <a:rPr sz="975" b="0">
                <a:solidFill>
                  <a:srgbClr val="484848"/>
                </a:solidFill>
                <a:latin typeface="JetBrains Mono"/>
              </a:rPr>
              <a:t>with ir.Context(), ir.Location.unknown():</a:t>
            </a:r>
          </a:p>
          <a:p>
            <a:pPr>
              <a:lnSpc>
                <a:spcPts val="1053"/>
              </a:lnSpc>
              <a:spcBef>
                <a:spcPts val="0"/>
              </a:spcBef>
              <a:spcAft>
                <a:spcPts val="0"/>
              </a:spcAft>
            </a:pPr>
            <a:r>
              <a:rPr sz="975" b="0">
                <a:solidFill>
                  <a:srgbClr val="484848"/>
                </a:solidFill>
                <a:latin typeface="JetBrains Mono"/>
              </a:rPr>
              <a:t>    i32 = ir.IntegerType.get_signless(32)</a:t>
            </a:r>
          </a:p>
          <a:p>
            <a:pPr>
              <a:lnSpc>
                <a:spcPts val="1053"/>
              </a:lnSpc>
              <a:spcBef>
                <a:spcPts val="0"/>
              </a:spcBef>
              <a:spcAft>
                <a:spcPts val="0"/>
              </a:spcAft>
            </a:pPr>
            <a:r>
              <a:rPr sz="975" b="0">
                <a:solidFill>
                  <a:srgbClr val="484848"/>
                </a:solidFill>
                <a:latin typeface="JetBrains Mono"/>
              </a:rPr>
              <a:t>    module = ir.Module.create()</a:t>
            </a:r>
          </a:p>
          <a:p>
            <a:pPr>
              <a:lnSpc>
                <a:spcPts val="1053"/>
              </a:lnSpc>
              <a:spcBef>
                <a:spcPts val="0"/>
              </a:spcBef>
              <a:spcAft>
                <a:spcPts val="0"/>
              </a:spcAft>
            </a:pPr>
            <a:r>
              <a:rPr sz="975" b="0">
                <a:solidFill>
                  <a:srgbClr val="484848"/>
                </a:solidFill>
                <a:latin typeface="JetBrains Mono"/>
              </a:rPr>
              <a:t>    with ir.InsertionPoint(module.body):</a:t>
            </a:r>
          </a:p>
          <a:p>
            <a:pPr>
              <a:lnSpc>
                <a:spcPts val="1053"/>
              </a:lnSpc>
              <a:spcBef>
                <a:spcPts val="0"/>
              </a:spcBef>
              <a:spcAft>
                <a:spcPts val="0"/>
              </a:spcAft>
            </a:pPr>
            <a:r>
              <a:rPr sz="975" b="0">
                <a:solidFill>
                  <a:srgbClr val="484848"/>
                </a:solidFill>
                <a:latin typeface="JetBrains Mono"/>
              </a:rPr>
              <a:t>        fn = func.FuncOp(</a:t>
            </a:r>
          </a:p>
          <a:p>
            <a:pPr>
              <a:lnSpc>
                <a:spcPts val="1053"/>
              </a:lnSpc>
              <a:spcBef>
                <a:spcPts val="0"/>
              </a:spcBef>
              <a:spcAft>
                <a:spcPts val="0"/>
              </a:spcAft>
            </a:pPr>
            <a:r>
              <a:rPr sz="975" b="0">
                <a:solidFill>
                  <a:srgbClr val="484848"/>
                </a:solidFill>
                <a:latin typeface="JetBrains Mono"/>
              </a:rPr>
              <a:t>            "add", ([i32, i32], [i32]))</a:t>
            </a:r>
          </a:p>
          <a:p>
            <a:pPr>
              <a:lnSpc>
                <a:spcPts val="1053"/>
              </a:lnSpc>
              <a:spcBef>
                <a:spcPts val="0"/>
              </a:spcBef>
              <a:spcAft>
                <a:spcPts val="0"/>
              </a:spcAft>
            </a:pPr>
            <a:r>
              <a:rPr sz="975" b="0">
                <a:solidFill>
                  <a:srgbClr val="484848"/>
                </a:solidFill>
                <a:latin typeface="JetBrains Mono"/>
              </a:rPr>
              <a:t>        fn.attributes["llvm.emit_c_interface"] = (</a:t>
            </a:r>
          </a:p>
          <a:p>
            <a:pPr>
              <a:lnSpc>
                <a:spcPts val="1053"/>
              </a:lnSpc>
              <a:spcBef>
                <a:spcPts val="0"/>
              </a:spcBef>
              <a:spcAft>
                <a:spcPts val="0"/>
              </a:spcAft>
            </a:pPr>
            <a:r>
              <a:rPr sz="975" b="0">
                <a:solidFill>
                  <a:srgbClr val="484848"/>
                </a:solidFill>
                <a:latin typeface="JetBrains Mono"/>
              </a:rPr>
              <a:t>            ir.UnitAttr.get())</a:t>
            </a:r>
          </a:p>
          <a:p>
            <a:pPr>
              <a:lnSpc>
                <a:spcPts val="1053"/>
              </a:lnSpc>
              <a:spcBef>
                <a:spcPts val="0"/>
              </a:spcBef>
              <a:spcAft>
                <a:spcPts val="0"/>
              </a:spcAft>
            </a:pPr>
            <a:r>
              <a:rPr sz="975" b="0">
                <a:solidFill>
                  <a:srgbClr val="484848"/>
                </a:solidFill>
                <a:latin typeface="JetBrains Mono"/>
              </a:rPr>
              <a:t>        entry = fn.add_entry_block()</a:t>
            </a:r>
          </a:p>
          <a:p>
            <a:pPr>
              <a:lnSpc>
                <a:spcPts val="1053"/>
              </a:lnSpc>
              <a:spcBef>
                <a:spcPts val="0"/>
              </a:spcBef>
              <a:spcAft>
                <a:spcPts val="0"/>
              </a:spcAft>
            </a:pPr>
            <a:r>
              <a:rPr sz="975" b="0">
                <a:solidFill>
                  <a:srgbClr val="484848"/>
                </a:solidFill>
                <a:latin typeface="JetBrains Mono"/>
              </a:rPr>
              <a:t>        with ir.InsertionPoint(entry):</a:t>
            </a:r>
          </a:p>
          <a:p>
            <a:pPr>
              <a:lnSpc>
                <a:spcPts val="1053"/>
              </a:lnSpc>
              <a:spcBef>
                <a:spcPts val="0"/>
              </a:spcBef>
              <a:spcAft>
                <a:spcPts val="0"/>
              </a:spcAft>
            </a:pPr>
            <a:r>
              <a:rPr sz="975" b="0">
                <a:solidFill>
                  <a:srgbClr val="484848"/>
                </a:solidFill>
                <a:latin typeface="JetBrains Mono"/>
              </a:rPr>
              <a:t>            a, b = fn.arguments</a:t>
            </a:r>
          </a:p>
          <a:p>
            <a:pPr>
              <a:lnSpc>
                <a:spcPts val="1053"/>
              </a:lnSpc>
              <a:spcBef>
                <a:spcPts val="0"/>
              </a:spcBef>
              <a:spcAft>
                <a:spcPts val="0"/>
              </a:spcAft>
            </a:pPr>
            <a:r>
              <a:rPr sz="975" b="0">
                <a:solidFill>
                  <a:srgbClr val="484848"/>
                </a:solidFill>
                <a:latin typeface="JetBrains Mono"/>
              </a:rPr>
              <a:t>            result = arith.AddIOp(a, b).result</a:t>
            </a:r>
          </a:p>
          <a:p>
            <a:pPr>
              <a:lnSpc>
                <a:spcPts val="1053"/>
              </a:lnSpc>
              <a:spcBef>
                <a:spcPts val="0"/>
              </a:spcBef>
              <a:spcAft>
                <a:spcPts val="0"/>
              </a:spcAft>
            </a:pPr>
            <a:r>
              <a:rPr sz="975" b="0">
                <a:solidFill>
                  <a:srgbClr val="484848"/>
                </a:solidFill>
                <a:latin typeface="JetBrains Mono"/>
              </a:rPr>
              <a:t>            func.ReturnOp([result])</a:t>
            </a:r>
          </a:p>
        </p:txBody>
      </p:sp>
      <p:sp>
        <p:nvSpPr>
          <p:cNvPr id="11" name="Rectangle 10"/>
          <p:cNvSpPr/>
          <p:nvPr/>
        </p:nvSpPr>
        <p:spPr>
          <a:xfrm>
            <a:off x="4663440" y="1042415"/>
            <a:ext cx="4050791" cy="3429000"/>
          </a:xfrm>
          <a:prstGeom prst="rect">
            <a:avLst/>
          </a:prstGeom>
          <a:solidFill>
            <a:srgbClr val="F7F7F7"/>
          </a:solidFill>
          <a:ln>
            <a:noFill/>
          </a:ln>
          <a:effectLst/>
        </p:spPr>
        <p:txBody>
          <a:bodyPr rtlCol="0" anchor="ctr"/>
          <a:lstStyle/>
          <a:p>
            <a:pPr algn="ctr"/>
          </a:p>
        </p:txBody>
      </p:sp>
      <p:sp>
        <p:nvSpPr>
          <p:cNvPr id="12" name="Rectangle 11"/>
          <p:cNvSpPr/>
          <p:nvPr/>
        </p:nvSpPr>
        <p:spPr>
          <a:xfrm>
            <a:off x="4663440" y="1042415"/>
            <a:ext cx="4050791" cy="365760"/>
          </a:xfrm>
          <a:prstGeom prst="rect">
            <a:avLst/>
          </a:prstGeom>
          <a:solidFill>
            <a:srgbClr val="76B900"/>
          </a:solidFill>
          <a:ln>
            <a:noFill/>
          </a:ln>
          <a:effectLst/>
        </p:spPr>
        <p:txBody>
          <a:bodyPr rtlCol="0" anchor="ctr"/>
          <a:lstStyle/>
          <a:p>
            <a:pPr algn="ctr"/>
          </a:p>
        </p:txBody>
      </p:sp>
      <p:sp>
        <p:nvSpPr>
          <p:cNvPr id="13" name="2 · Compile + execute"/>
          <p:cNvSpPr txBox="1"/>
          <p:nvPr/>
        </p:nvSpPr>
        <p:spPr>
          <a:xfrm>
            <a:off x="4818888" y="1138428"/>
            <a:ext cx="3739896"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2 · Compile + execute</a:t>
            </a:r>
          </a:p>
        </p:txBody>
      </p:sp>
      <p:sp>
        <p:nvSpPr>
          <p:cNvPr id="14" name="    pipeline = ( /         &quot;builtin.module(&quot; /         &quot;convert-arith-to-llvm,&quot; /         &quot;convert-func-to"/>
          <p:cNvSpPr txBox="1"/>
          <p:nvPr/>
        </p:nvSpPr>
        <p:spPr>
          <a:xfrm>
            <a:off x="4818888" y="1499616"/>
            <a:ext cx="3739896" cy="2898648"/>
          </a:xfrm>
          <a:prstGeom prst="rect">
            <a:avLst/>
          </a:prstGeom>
          <a:noFill/>
        </p:spPr>
        <p:txBody>
          <a:bodyPr wrap="none" anchor="t" lIns="0" rIns="0" tIns="0" bIns="0">
            <a:noAutofit/>
          </a:bodyPr>
          <a:lstStyle/>
          <a:p>
            <a:pPr algn="l">
              <a:lnSpc>
                <a:spcPts val="1134"/>
              </a:lnSpc>
              <a:spcBef>
                <a:spcPts val="0"/>
              </a:spcBef>
              <a:spcAft>
                <a:spcPts val="0"/>
              </a:spcAft>
            </a:pPr>
            <a:r>
              <a:rPr sz="1050" b="0">
                <a:solidFill>
                  <a:srgbClr val="484848"/>
                </a:solidFill>
                <a:latin typeface="JetBrains Mono"/>
              </a:rPr>
              <a:t>    pipeline = (</a:t>
            </a:r>
          </a:p>
          <a:p>
            <a:pPr>
              <a:lnSpc>
                <a:spcPts val="1134"/>
              </a:lnSpc>
              <a:spcBef>
                <a:spcPts val="0"/>
              </a:spcBef>
              <a:spcAft>
                <a:spcPts val="0"/>
              </a:spcAft>
            </a:pPr>
            <a:r>
              <a:rPr sz="1050" b="0">
                <a:solidFill>
                  <a:srgbClr val="484848"/>
                </a:solidFill>
                <a:latin typeface="JetBrains Mono"/>
              </a:rPr>
              <a:t>        "builtin.module("</a:t>
            </a:r>
          </a:p>
          <a:p>
            <a:pPr>
              <a:lnSpc>
                <a:spcPts val="1134"/>
              </a:lnSpc>
              <a:spcBef>
                <a:spcPts val="0"/>
              </a:spcBef>
              <a:spcAft>
                <a:spcPts val="0"/>
              </a:spcAft>
            </a:pPr>
            <a:r>
              <a:rPr sz="1050" b="0">
                <a:solidFill>
                  <a:srgbClr val="484848"/>
                </a:solidFill>
                <a:latin typeface="JetBrains Mono"/>
              </a:rPr>
              <a:t>        "convert-arith-to-llvm,"</a:t>
            </a:r>
          </a:p>
          <a:p>
            <a:pPr>
              <a:lnSpc>
                <a:spcPts val="1134"/>
              </a:lnSpc>
              <a:spcBef>
                <a:spcPts val="0"/>
              </a:spcBef>
              <a:spcAft>
                <a:spcPts val="0"/>
              </a:spcAft>
            </a:pPr>
            <a:r>
              <a:rPr sz="1050" b="0">
                <a:solidFill>
                  <a:srgbClr val="484848"/>
                </a:solidFill>
                <a:latin typeface="JetBrains Mono"/>
              </a:rPr>
              <a:t>        "convert-func-to-llvm,"</a:t>
            </a:r>
          </a:p>
          <a:p>
            <a:pPr>
              <a:lnSpc>
                <a:spcPts val="1134"/>
              </a:lnSpc>
              <a:spcBef>
                <a:spcPts val="0"/>
              </a:spcBef>
              <a:spcAft>
                <a:spcPts val="0"/>
              </a:spcAft>
            </a:pPr>
            <a:r>
              <a:rPr sz="1050" b="0">
                <a:solidFill>
                  <a:srgbClr val="484848"/>
                </a:solidFill>
                <a:latin typeface="JetBrains Mono"/>
              </a:rPr>
              <a:t>        "reconcile-unrealized-casts)"</a:t>
            </a:r>
          </a:p>
          <a:p>
            <a:pPr>
              <a:lnSpc>
                <a:spcPts val="1134"/>
              </a:lnSpc>
              <a:spcBef>
                <a:spcPts val="0"/>
              </a:spcBef>
              <a:spcAft>
                <a:spcPts val="0"/>
              </a:spcAft>
            </a:pPr>
            <a:r>
              <a:rPr sz="1050" b="0">
                <a:solidFill>
                  <a:srgbClr val="484848"/>
                </a:solidFill>
                <a:latin typeface="JetBrains Mono"/>
              </a:rPr>
              <a:t>    )</a:t>
            </a:r>
          </a:p>
          <a:p>
            <a:pPr>
              <a:lnSpc>
                <a:spcPts val="1134"/>
              </a:lnSpc>
              <a:spcBef>
                <a:spcPts val="0"/>
              </a:spcBef>
              <a:spcAft>
                <a:spcPts val="0"/>
              </a:spcAft>
            </a:pPr>
            <a:r>
              <a:rPr sz="1050" b="0">
                <a:solidFill>
                  <a:srgbClr val="484848"/>
                </a:solidFill>
                <a:latin typeface="JetBrains Mono"/>
              </a:rPr>
              <a:t>    pm.PassManager.parse(pipeline).run(</a:t>
            </a:r>
          </a:p>
          <a:p>
            <a:pPr>
              <a:lnSpc>
                <a:spcPts val="1134"/>
              </a:lnSpc>
              <a:spcBef>
                <a:spcPts val="0"/>
              </a:spcBef>
              <a:spcAft>
                <a:spcPts val="0"/>
              </a:spcAft>
            </a:pPr>
            <a:r>
              <a:rPr sz="1050" b="0">
                <a:solidFill>
                  <a:srgbClr val="484848"/>
                </a:solidFill>
                <a:latin typeface="JetBrains Mono"/>
              </a:rPr>
              <a:t>        module.operation)</a:t>
            </a:r>
          </a:p>
          <a:p>
            <a:pPr>
              <a:lnSpc>
                <a:spcPts val="1134"/>
              </a:lnSpc>
              <a:spcBef>
                <a:spcPts val="0"/>
              </a:spcBef>
              <a:spcAft>
                <a:spcPts val="0"/>
              </a:spcAft>
            </a:pPr>
            <a:r>
              <a:rPr sz="1050" b="0">
                <a:solidFill>
                  <a:srgbClr val="484848"/>
                </a:solidFill>
                <a:latin typeface="JetBrains Mono"/>
              </a:rPr>
              <a:t>    engine = ee.ExecutionEngine(module)</a:t>
            </a:r>
          </a:p>
          <a:p>
            <a:pPr>
              <a:lnSpc>
                <a:spcPts val="1134"/>
              </a:lnSpc>
              <a:spcBef>
                <a:spcPts val="0"/>
              </a:spcBef>
              <a:spcAft>
                <a:spcPts val="0"/>
              </a:spcAft>
            </a:pPr>
            <a:r>
              <a:rPr sz="1050" b="0">
                <a:solidFill>
                  <a:srgbClr val="484848"/>
                </a:solidFill>
                <a:latin typeface="JetBrains Mono"/>
              </a:rPr>
              <a:t/>
            </a:r>
          </a:p>
          <a:p>
            <a:pPr>
              <a:lnSpc>
                <a:spcPts val="1134"/>
              </a:lnSpc>
              <a:spcBef>
                <a:spcPts val="0"/>
              </a:spcBef>
              <a:spcAft>
                <a:spcPts val="0"/>
              </a:spcAft>
            </a:pPr>
            <a:r>
              <a:rPr sz="1050" b="0">
                <a:solidFill>
                  <a:srgbClr val="484848"/>
                </a:solidFill>
                <a:latin typeface="JetBrains Mono"/>
              </a:rPr>
              <a:t>    a, b = C.c_int32(2), C.c_int32(3)</a:t>
            </a:r>
          </a:p>
          <a:p>
            <a:pPr>
              <a:lnSpc>
                <a:spcPts val="1134"/>
              </a:lnSpc>
              <a:spcBef>
                <a:spcPts val="0"/>
              </a:spcBef>
              <a:spcAft>
                <a:spcPts val="0"/>
              </a:spcAft>
            </a:pPr>
            <a:r>
              <a:rPr sz="1050" b="0">
                <a:solidFill>
                  <a:srgbClr val="484848"/>
                </a:solidFill>
                <a:latin typeface="JetBrains Mono"/>
              </a:rPr>
              <a:t>    out = C.c_int32()</a:t>
            </a:r>
          </a:p>
          <a:p>
            <a:pPr>
              <a:lnSpc>
                <a:spcPts val="1134"/>
              </a:lnSpc>
              <a:spcBef>
                <a:spcPts val="0"/>
              </a:spcBef>
              <a:spcAft>
                <a:spcPts val="0"/>
              </a:spcAft>
            </a:pPr>
            <a:r>
              <a:rPr sz="1050" b="0">
                <a:solidFill>
                  <a:srgbClr val="484848"/>
                </a:solidFill>
                <a:latin typeface="JetBrains Mono"/>
              </a:rPr>
              <a:t>    engine.invoke(</a:t>
            </a:r>
          </a:p>
          <a:p>
            <a:pPr>
              <a:lnSpc>
                <a:spcPts val="1134"/>
              </a:lnSpc>
              <a:spcBef>
                <a:spcPts val="0"/>
              </a:spcBef>
              <a:spcAft>
                <a:spcPts val="0"/>
              </a:spcAft>
            </a:pPr>
            <a:r>
              <a:rPr sz="1050" b="0">
                <a:solidFill>
                  <a:srgbClr val="484848"/>
                </a:solidFill>
                <a:latin typeface="JetBrains Mono"/>
              </a:rPr>
              <a:t>        "add", C.byref(a), C.byref(b),</a:t>
            </a:r>
          </a:p>
          <a:p>
            <a:pPr>
              <a:lnSpc>
                <a:spcPts val="1134"/>
              </a:lnSpc>
              <a:spcBef>
                <a:spcPts val="0"/>
              </a:spcBef>
              <a:spcAft>
                <a:spcPts val="0"/>
              </a:spcAft>
            </a:pPr>
            <a:r>
              <a:rPr sz="1050" b="0">
                <a:solidFill>
                  <a:srgbClr val="484848"/>
                </a:solidFill>
                <a:latin typeface="JetBrains Mono"/>
              </a:rPr>
              <a:t>        C.byref(out))</a:t>
            </a:r>
          </a:p>
          <a:p>
            <a:pPr>
              <a:lnSpc>
                <a:spcPts val="1134"/>
              </a:lnSpc>
              <a:spcBef>
                <a:spcPts val="0"/>
              </a:spcBef>
              <a:spcAft>
                <a:spcPts val="0"/>
              </a:spcAft>
            </a:pPr>
            <a:r>
              <a:rPr sz="1050" b="0">
                <a:solidFill>
                  <a:srgbClr val="484848"/>
                </a:solidFill>
                <a:latin typeface="JetBrains Mono"/>
              </a:rPr>
              <a:t>    print(out.value)  # 5</a:t>
            </a:r>
          </a:p>
        </p:txBody>
      </p:sp>
      <p:sp>
        <p:nvSpPr>
          <p:cNvPr id="15" name="Complete program: build IR → lower → JIT → call."/>
          <p:cNvSpPr txBox="1"/>
          <p:nvPr/>
        </p:nvSpPr>
        <p:spPr>
          <a:xfrm>
            <a:off x="539496" y="4544568"/>
            <a:ext cx="8055864" cy="182880"/>
          </a:xfrm>
          <a:prstGeom prst="rect">
            <a:avLst/>
          </a:prstGeom>
          <a:noFill/>
        </p:spPr>
        <p:txBody>
          <a:bodyPr wrap="none" anchor="t" lIns="0" rIns="0" tIns="0" bIns="0">
            <a:noAutofit/>
          </a:bodyPr>
          <a:lstStyle/>
          <a:p>
            <a:pPr algn="l">
              <a:lnSpc>
                <a:spcPts val="1194"/>
              </a:lnSpc>
              <a:spcBef>
                <a:spcPts val="0"/>
              </a:spcBef>
              <a:spcAft>
                <a:spcPts val="0"/>
              </a:spcAft>
            </a:pPr>
            <a:r>
              <a:rPr sz="1030" b="0">
                <a:solidFill>
                  <a:srgbClr val="616161"/>
                </a:solidFill>
                <a:latin typeface="NVIDIA Sans"/>
              </a:rPr>
              <a:t>Complete program: build IR → lower → JIT → call.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Now add PyTorch tensor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Now add PyTorch tensors</a:t>
            </a:r>
          </a:p>
        </p:txBody>
      </p:sp>
      <p:sp>
        <p:nvSpPr>
          <p:cNvPr id="5" name="03"/>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03</a:t>
            </a:r>
          </a:p>
        </p:txBody>
      </p:sp>
      <p:sp>
        <p:nvSpPr>
          <p:cNvPr id="6" name="Motiva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Motivation</a:t>
            </a:r>
          </a:p>
        </p:txBody>
      </p:sp>
      <p:sp>
        <p:nvSpPr>
          <p:cNvPr id="7" name="Same CPU tensors. Compiled a + b."/>
          <p:cNvSpPr txBox="1"/>
          <p:nvPr/>
        </p:nvSpPr>
        <p:spPr>
          <a:xfrm>
            <a:off x="530352" y="950976"/>
            <a:ext cx="8074152" cy="246888"/>
          </a:xfrm>
          <a:prstGeom prst="rect">
            <a:avLst/>
          </a:prstGeom>
          <a:noFill/>
        </p:spPr>
        <p:txBody>
          <a:bodyPr wrap="none" anchor="t" lIns="0" rIns="0" tIns="0" bIns="0">
            <a:noAutofit/>
          </a:bodyPr>
          <a:lstStyle/>
          <a:p>
            <a:pPr algn="l">
              <a:lnSpc>
                <a:spcPts val="1449"/>
              </a:lnSpc>
              <a:spcBef>
                <a:spcPts val="0"/>
              </a:spcBef>
              <a:spcAft>
                <a:spcPts val="0"/>
              </a:spcAft>
            </a:pPr>
            <a:r>
              <a:rPr sz="1250" b="0">
                <a:solidFill>
                  <a:srgbClr val="416600"/>
                </a:solidFill>
                <a:latin typeface="NVIDIA Sans"/>
              </a:rPr>
              <a:t>Same CPU tensors. Compiled a + b.</a:t>
            </a:r>
          </a:p>
        </p:txBody>
      </p:sp>
      <p:sp>
        <p:nvSpPr>
          <p:cNvPr id="8" name="Rectangle 7"/>
          <p:cNvSpPr/>
          <p:nvPr/>
        </p:nvSpPr>
        <p:spPr>
          <a:xfrm>
            <a:off x="484632" y="1280160"/>
            <a:ext cx="3968496" cy="3200400"/>
          </a:xfrm>
          <a:prstGeom prst="rect">
            <a:avLst/>
          </a:prstGeom>
          <a:solidFill>
            <a:srgbClr val="F7F7F7"/>
          </a:solidFill>
          <a:ln>
            <a:noFill/>
          </a:ln>
          <a:effectLst/>
        </p:spPr>
        <p:txBody>
          <a:bodyPr rtlCol="0" anchor="ctr"/>
          <a:lstStyle/>
          <a:p>
            <a:pPr algn="ctr"/>
          </a:p>
        </p:txBody>
      </p:sp>
      <p:sp>
        <p:nvSpPr>
          <p:cNvPr id="9" name="Rectangle 8"/>
          <p:cNvSpPr/>
          <p:nvPr/>
        </p:nvSpPr>
        <p:spPr>
          <a:xfrm>
            <a:off x="484632" y="1280160"/>
            <a:ext cx="3968496" cy="365760"/>
          </a:xfrm>
          <a:prstGeom prst="rect">
            <a:avLst/>
          </a:prstGeom>
          <a:solidFill>
            <a:srgbClr val="76B900"/>
          </a:solidFill>
          <a:ln>
            <a:noFill/>
          </a:ln>
          <a:effectLst/>
        </p:spPr>
        <p:txBody>
          <a:bodyPr rtlCol="0" anchor="ctr"/>
          <a:lstStyle/>
          <a:p>
            <a:pPr algn="ctr"/>
          </a:p>
        </p:txBody>
      </p:sp>
      <p:sp>
        <p:nvSpPr>
          <p:cNvPr id="10" name="PyTorch CPU tensors"/>
          <p:cNvSpPr txBox="1"/>
          <p:nvPr/>
        </p:nvSpPr>
        <p:spPr>
          <a:xfrm>
            <a:off x="640080" y="1376172"/>
            <a:ext cx="3657600"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PyTorch CPU tensors</a:t>
            </a:r>
          </a:p>
        </p:txBody>
      </p:sp>
      <p:sp>
        <p:nvSpPr>
          <p:cNvPr id="11" name="import torch"/>
          <p:cNvSpPr txBox="1"/>
          <p:nvPr/>
        </p:nvSpPr>
        <p:spPr>
          <a:xfrm>
            <a:off x="640080" y="1764792"/>
            <a:ext cx="3657600" cy="198120"/>
          </a:xfrm>
          <a:prstGeom prst="rect">
            <a:avLst/>
          </a:prstGeom>
          <a:noFill/>
        </p:spPr>
        <p:txBody>
          <a:bodyPr wrap="none" anchor="t" lIns="0" rIns="0" tIns="0" bIns="0">
            <a:noAutofit/>
          </a:bodyPr>
          <a:lstStyle/>
          <a:p>
            <a:pPr algn="l">
              <a:lnSpc>
                <a:spcPts val="1512"/>
              </a:lnSpc>
              <a:spcBef>
                <a:spcPts val="0"/>
              </a:spcBef>
              <a:spcAft>
                <a:spcPts val="0"/>
              </a:spcAft>
            </a:pPr>
            <a:r>
              <a:rPr sz="1200" b="0">
                <a:solidFill>
                  <a:srgbClr val="484848"/>
                </a:solidFill>
                <a:latin typeface="JetBrains Mono"/>
              </a:rPr>
              <a:t>import torch</a:t>
            </a:r>
          </a:p>
        </p:txBody>
      </p:sp>
      <p:sp>
        <p:nvSpPr>
          <p:cNvPr id="12" name=""/>
          <p:cNvSpPr txBox="1"/>
          <p:nvPr/>
        </p:nvSpPr>
        <p:spPr>
          <a:xfrm>
            <a:off x="640080" y="1959863"/>
            <a:ext cx="3657600" cy="198120"/>
          </a:xfrm>
          <a:prstGeom prst="rect">
            <a:avLst/>
          </a:prstGeom>
          <a:noFill/>
        </p:spPr>
        <p:txBody>
          <a:bodyPr wrap="none" anchor="t" lIns="0" rIns="0" tIns="0" bIns="0">
            <a:noAutofit/>
          </a:bodyPr>
          <a:lstStyle/>
          <a:p>
            <a:pPr algn="l">
              <a:lnSpc>
                <a:spcPts val="1512"/>
              </a:lnSpc>
              <a:spcBef>
                <a:spcPts val="0"/>
              </a:spcBef>
              <a:spcAft>
                <a:spcPts val="0"/>
              </a:spcAft>
            </a:pPr>
            <a:r>
              <a:rPr sz="1200" b="0">
                <a:solidFill>
                  <a:srgbClr val="484848"/>
                </a:solidFill>
                <a:latin typeface="JetBrains Mono"/>
              </a:rPr>
              <a:t/>
            </a:r>
          </a:p>
        </p:txBody>
      </p:sp>
      <p:sp>
        <p:nvSpPr>
          <p:cNvPr id="13" name="a = torch.arange(4, dtype=torch.float32)"/>
          <p:cNvSpPr txBox="1"/>
          <p:nvPr/>
        </p:nvSpPr>
        <p:spPr>
          <a:xfrm>
            <a:off x="640080" y="2154936"/>
            <a:ext cx="3657600" cy="198120"/>
          </a:xfrm>
          <a:prstGeom prst="rect">
            <a:avLst/>
          </a:prstGeom>
          <a:noFill/>
        </p:spPr>
        <p:txBody>
          <a:bodyPr wrap="none" anchor="t" lIns="0" rIns="0" tIns="0" bIns="0">
            <a:noAutofit/>
          </a:bodyPr>
          <a:lstStyle/>
          <a:p>
            <a:pPr algn="l">
              <a:lnSpc>
                <a:spcPts val="1512"/>
              </a:lnSpc>
              <a:spcBef>
                <a:spcPts val="0"/>
              </a:spcBef>
              <a:spcAft>
                <a:spcPts val="0"/>
              </a:spcAft>
            </a:pPr>
            <a:r>
              <a:rPr sz="1200" b="0">
                <a:solidFill>
                  <a:srgbClr val="484848"/>
                </a:solidFill>
                <a:latin typeface="JetBrains Mono"/>
              </a:rPr>
              <a:t>a = torch.arange(4, dtype=torch.float32)</a:t>
            </a:r>
          </a:p>
        </p:txBody>
      </p:sp>
      <p:sp>
        <p:nvSpPr>
          <p:cNvPr id="14" name="b = torch.full_like(a, 10.0)"/>
          <p:cNvSpPr txBox="1"/>
          <p:nvPr/>
        </p:nvSpPr>
        <p:spPr>
          <a:xfrm>
            <a:off x="640080" y="2350008"/>
            <a:ext cx="3657600" cy="198120"/>
          </a:xfrm>
          <a:prstGeom prst="rect">
            <a:avLst/>
          </a:prstGeom>
          <a:noFill/>
        </p:spPr>
        <p:txBody>
          <a:bodyPr wrap="none" anchor="t" lIns="0" rIns="0" tIns="0" bIns="0">
            <a:noAutofit/>
          </a:bodyPr>
          <a:lstStyle/>
          <a:p>
            <a:pPr algn="l">
              <a:lnSpc>
                <a:spcPts val="1512"/>
              </a:lnSpc>
              <a:spcBef>
                <a:spcPts val="0"/>
              </a:spcBef>
              <a:spcAft>
                <a:spcPts val="0"/>
              </a:spcAft>
            </a:pPr>
            <a:r>
              <a:rPr sz="1200" b="0">
                <a:solidFill>
                  <a:srgbClr val="484848"/>
                </a:solidFill>
                <a:latin typeface="JetBrains Mono"/>
              </a:rPr>
              <a:t>b = torch.full_like(a, 10.0)</a:t>
            </a:r>
          </a:p>
        </p:txBody>
      </p:sp>
      <p:sp>
        <p:nvSpPr>
          <p:cNvPr id="15" name="out = torch.empty_like(a)"/>
          <p:cNvSpPr txBox="1"/>
          <p:nvPr/>
        </p:nvSpPr>
        <p:spPr>
          <a:xfrm>
            <a:off x="640080" y="2545080"/>
            <a:ext cx="3657600" cy="198120"/>
          </a:xfrm>
          <a:prstGeom prst="rect">
            <a:avLst/>
          </a:prstGeom>
          <a:noFill/>
        </p:spPr>
        <p:txBody>
          <a:bodyPr wrap="none" anchor="t" lIns="0" rIns="0" tIns="0" bIns="0">
            <a:noAutofit/>
          </a:bodyPr>
          <a:lstStyle/>
          <a:p>
            <a:pPr algn="l">
              <a:lnSpc>
                <a:spcPts val="1512"/>
              </a:lnSpc>
              <a:spcBef>
                <a:spcPts val="0"/>
              </a:spcBef>
              <a:spcAft>
                <a:spcPts val="0"/>
              </a:spcAft>
            </a:pPr>
            <a:r>
              <a:rPr sz="1200" b="0">
                <a:solidFill>
                  <a:srgbClr val="484848"/>
                </a:solidFill>
                <a:latin typeface="JetBrains Mono"/>
              </a:rPr>
              <a:t>out = torch.empty_like(a)</a:t>
            </a:r>
          </a:p>
        </p:txBody>
      </p:sp>
      <p:sp>
        <p:nvSpPr>
          <p:cNvPr id="16" name="# Expected: tensor([10., 11., 12., 13.])"/>
          <p:cNvSpPr txBox="1"/>
          <p:nvPr/>
        </p:nvSpPr>
        <p:spPr>
          <a:xfrm>
            <a:off x="640080" y="2740152"/>
            <a:ext cx="3657600" cy="198120"/>
          </a:xfrm>
          <a:prstGeom prst="rect">
            <a:avLst/>
          </a:prstGeom>
          <a:noFill/>
        </p:spPr>
        <p:txBody>
          <a:bodyPr wrap="none" anchor="t" lIns="0" rIns="0" tIns="0" bIns="0">
            <a:noAutofit/>
          </a:bodyPr>
          <a:lstStyle/>
          <a:p>
            <a:pPr algn="l">
              <a:lnSpc>
                <a:spcPts val="1512"/>
              </a:lnSpc>
              <a:spcBef>
                <a:spcPts val="0"/>
              </a:spcBef>
              <a:spcAft>
                <a:spcPts val="0"/>
              </a:spcAft>
            </a:pPr>
            <a:r>
              <a:rPr sz="1200" b="0">
                <a:solidFill>
                  <a:srgbClr val="484848"/>
                </a:solidFill>
                <a:latin typeface="JetBrains Mono"/>
              </a:rPr>
              <a:t># Expected: tensor([10., 11., 12., 13.])</a:t>
            </a:r>
          </a:p>
        </p:txBody>
      </p:sp>
      <p:sp>
        <p:nvSpPr>
          <p:cNvPr id="17" name="Rectangle 16"/>
          <p:cNvSpPr/>
          <p:nvPr/>
        </p:nvSpPr>
        <p:spPr>
          <a:xfrm>
            <a:off x="4690872" y="1280160"/>
            <a:ext cx="3968496" cy="3200400"/>
          </a:xfrm>
          <a:prstGeom prst="rect">
            <a:avLst/>
          </a:prstGeom>
          <a:solidFill>
            <a:srgbClr val="F0F6E6"/>
          </a:solidFill>
          <a:ln>
            <a:noFill/>
          </a:ln>
          <a:effectLst/>
        </p:spPr>
        <p:txBody>
          <a:bodyPr rtlCol="0" anchor="ctr"/>
          <a:lstStyle/>
          <a:p>
            <a:pPr algn="ctr"/>
          </a:p>
        </p:txBody>
      </p:sp>
      <p:sp>
        <p:nvSpPr>
          <p:cNvPr id="18" name="Rectangle 17"/>
          <p:cNvSpPr/>
          <p:nvPr/>
        </p:nvSpPr>
        <p:spPr>
          <a:xfrm>
            <a:off x="4690872" y="1280160"/>
            <a:ext cx="3968496" cy="365760"/>
          </a:xfrm>
          <a:prstGeom prst="rect">
            <a:avLst/>
          </a:prstGeom>
          <a:solidFill>
            <a:srgbClr val="76B900"/>
          </a:solidFill>
          <a:ln>
            <a:noFill/>
          </a:ln>
          <a:effectLst/>
        </p:spPr>
        <p:txBody>
          <a:bodyPr rtlCol="0" anchor="ctr"/>
          <a:lstStyle/>
          <a:p>
            <a:pPr algn="ctr"/>
          </a:p>
        </p:txBody>
      </p:sp>
      <p:sp>
        <p:nvSpPr>
          <p:cNvPr id="19" name="mlir dsl · this is what we want"/>
          <p:cNvSpPr txBox="1"/>
          <p:nvPr/>
        </p:nvSpPr>
        <p:spPr>
          <a:xfrm>
            <a:off x="4846320" y="1376172"/>
            <a:ext cx="3657600"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mlir dsl · this is what we want</a:t>
            </a:r>
          </a:p>
        </p:txBody>
      </p:sp>
      <p:sp>
        <p:nvSpPr>
          <p:cNvPr id="20" name="import mlir.mlir_dsl as m"/>
          <p:cNvSpPr txBox="1"/>
          <p:nvPr/>
        </p:nvSpPr>
        <p:spPr>
          <a:xfrm>
            <a:off x="4846320" y="1764792"/>
            <a:ext cx="3657600" cy="198120"/>
          </a:xfrm>
          <a:prstGeom prst="rect">
            <a:avLst/>
          </a:prstGeom>
          <a:noFill/>
        </p:spPr>
        <p:txBody>
          <a:bodyPr wrap="none" anchor="t" lIns="0" rIns="0" tIns="0" bIns="0">
            <a:noAutofit/>
          </a:bodyPr>
          <a:lstStyle/>
          <a:p>
            <a:pPr algn="l">
              <a:lnSpc>
                <a:spcPts val="1512"/>
              </a:lnSpc>
              <a:spcBef>
                <a:spcPts val="0"/>
              </a:spcBef>
              <a:spcAft>
                <a:spcPts val="0"/>
              </a:spcAft>
            </a:pPr>
            <a:r>
              <a:rPr sz="1200" b="0">
                <a:solidFill>
                  <a:srgbClr val="484848"/>
                </a:solidFill>
                <a:latin typeface="JetBrains Mono"/>
              </a:rPr>
              <a:t>import mlir.mlir_dsl as m</a:t>
            </a:r>
          </a:p>
        </p:txBody>
      </p:sp>
      <p:sp>
        <p:nvSpPr>
          <p:cNvPr id="21" name="P = m.Pointer[m.Float32]"/>
          <p:cNvSpPr txBox="1"/>
          <p:nvPr/>
        </p:nvSpPr>
        <p:spPr>
          <a:xfrm>
            <a:off x="4846320" y="1959863"/>
            <a:ext cx="3657600" cy="198120"/>
          </a:xfrm>
          <a:prstGeom prst="rect">
            <a:avLst/>
          </a:prstGeom>
          <a:noFill/>
        </p:spPr>
        <p:txBody>
          <a:bodyPr wrap="none" anchor="t" lIns="0" rIns="0" tIns="0" bIns="0">
            <a:noAutofit/>
          </a:bodyPr>
          <a:lstStyle/>
          <a:p>
            <a:pPr algn="l">
              <a:lnSpc>
                <a:spcPts val="1512"/>
              </a:lnSpc>
              <a:spcBef>
                <a:spcPts val="0"/>
              </a:spcBef>
              <a:spcAft>
                <a:spcPts val="0"/>
              </a:spcAft>
            </a:pPr>
            <a:r>
              <a:rPr sz="1200" b="0">
                <a:solidFill>
                  <a:srgbClr val="484848"/>
                </a:solidFill>
                <a:latin typeface="JetBrains Mono"/>
              </a:rPr>
              <a:t>P = m.Pointer[m.Float32]</a:t>
            </a:r>
          </a:p>
        </p:txBody>
      </p:sp>
      <p:sp>
        <p:nvSpPr>
          <p:cNvPr id="22" name=""/>
          <p:cNvSpPr txBox="1"/>
          <p:nvPr/>
        </p:nvSpPr>
        <p:spPr>
          <a:xfrm>
            <a:off x="4846320" y="2154936"/>
            <a:ext cx="3657600" cy="198120"/>
          </a:xfrm>
          <a:prstGeom prst="rect">
            <a:avLst/>
          </a:prstGeom>
          <a:noFill/>
        </p:spPr>
        <p:txBody>
          <a:bodyPr wrap="none" anchor="t" lIns="0" rIns="0" tIns="0" bIns="0">
            <a:noAutofit/>
          </a:bodyPr>
          <a:lstStyle/>
          <a:p>
            <a:pPr algn="l">
              <a:lnSpc>
                <a:spcPts val="1512"/>
              </a:lnSpc>
              <a:spcBef>
                <a:spcPts val="0"/>
              </a:spcBef>
              <a:spcAft>
                <a:spcPts val="0"/>
              </a:spcAft>
            </a:pPr>
            <a:r>
              <a:rPr sz="1200" b="0">
                <a:solidFill>
                  <a:srgbClr val="484848"/>
                </a:solidFill>
                <a:latin typeface="JetBrains Mono"/>
              </a:rPr>
              <a:t/>
            </a:r>
          </a:p>
        </p:txBody>
      </p:sp>
      <p:sp>
        <p:nvSpPr>
          <p:cNvPr id="23" name="@m.jit"/>
          <p:cNvSpPr txBox="1"/>
          <p:nvPr/>
        </p:nvSpPr>
        <p:spPr>
          <a:xfrm>
            <a:off x="4846320" y="2350008"/>
            <a:ext cx="3657600" cy="198120"/>
          </a:xfrm>
          <a:prstGeom prst="rect">
            <a:avLst/>
          </a:prstGeom>
          <a:noFill/>
        </p:spPr>
        <p:txBody>
          <a:bodyPr wrap="none" anchor="t" lIns="0" rIns="0" tIns="0" bIns="0">
            <a:noAutofit/>
          </a:bodyPr>
          <a:lstStyle/>
          <a:p>
            <a:pPr algn="l">
              <a:lnSpc>
                <a:spcPts val="1512"/>
              </a:lnSpc>
              <a:spcBef>
                <a:spcPts val="0"/>
              </a:spcBef>
              <a:spcAft>
                <a:spcPts val="0"/>
              </a:spcAft>
            </a:pPr>
            <a:r>
              <a:rPr sz="1200" b="1">
                <a:solidFill>
                  <a:srgbClr val="416600"/>
                </a:solidFill>
                <a:latin typeface="JetBrains Mono"/>
              </a:rPr>
              <a:t>@m.jit</a:t>
            </a:r>
          </a:p>
        </p:txBody>
      </p:sp>
      <p:sp>
        <p:nvSpPr>
          <p:cNvPr id="24" name="def add(n: m.Int32, a: P, b: P,"/>
          <p:cNvSpPr txBox="1"/>
          <p:nvPr/>
        </p:nvSpPr>
        <p:spPr>
          <a:xfrm>
            <a:off x="4846320" y="2545080"/>
            <a:ext cx="3657600" cy="198120"/>
          </a:xfrm>
          <a:prstGeom prst="rect">
            <a:avLst/>
          </a:prstGeom>
          <a:noFill/>
        </p:spPr>
        <p:txBody>
          <a:bodyPr wrap="none" anchor="t" lIns="0" rIns="0" tIns="0" bIns="0">
            <a:noAutofit/>
          </a:bodyPr>
          <a:lstStyle/>
          <a:p>
            <a:pPr algn="l">
              <a:lnSpc>
                <a:spcPts val="1512"/>
              </a:lnSpc>
              <a:spcBef>
                <a:spcPts val="0"/>
              </a:spcBef>
              <a:spcAft>
                <a:spcPts val="0"/>
              </a:spcAft>
            </a:pPr>
            <a:r>
              <a:rPr sz="1200" b="0">
                <a:solidFill>
                  <a:srgbClr val="484848"/>
                </a:solidFill>
                <a:latin typeface="JetBrains Mono"/>
              </a:rPr>
              <a:t>def add(n: m.Int32, a: P, b: P,</a:t>
            </a:r>
          </a:p>
        </p:txBody>
      </p:sp>
      <p:sp>
        <p:nvSpPr>
          <p:cNvPr id="25" name="        out: P):"/>
          <p:cNvSpPr txBox="1"/>
          <p:nvPr/>
        </p:nvSpPr>
        <p:spPr>
          <a:xfrm>
            <a:off x="4846320" y="2740152"/>
            <a:ext cx="3657600" cy="198120"/>
          </a:xfrm>
          <a:prstGeom prst="rect">
            <a:avLst/>
          </a:prstGeom>
          <a:noFill/>
        </p:spPr>
        <p:txBody>
          <a:bodyPr wrap="none" anchor="t" lIns="0" rIns="0" tIns="0" bIns="0">
            <a:noAutofit/>
          </a:bodyPr>
          <a:lstStyle/>
          <a:p>
            <a:pPr algn="l">
              <a:lnSpc>
                <a:spcPts val="1512"/>
              </a:lnSpc>
              <a:spcBef>
                <a:spcPts val="0"/>
              </a:spcBef>
              <a:spcAft>
                <a:spcPts val="0"/>
              </a:spcAft>
            </a:pPr>
            <a:r>
              <a:rPr sz="1200" b="0">
                <a:solidFill>
                  <a:srgbClr val="484848"/>
                </a:solidFill>
                <a:latin typeface="JetBrains Mono"/>
              </a:rPr>
              <a:t>        out: P):</a:t>
            </a:r>
          </a:p>
        </p:txBody>
      </p:sp>
      <p:sp>
        <p:nvSpPr>
          <p:cNvPr id="26" name="    for i in range(n):"/>
          <p:cNvSpPr txBox="1"/>
          <p:nvPr/>
        </p:nvSpPr>
        <p:spPr>
          <a:xfrm>
            <a:off x="4846320" y="2935224"/>
            <a:ext cx="3657600" cy="198120"/>
          </a:xfrm>
          <a:prstGeom prst="rect">
            <a:avLst/>
          </a:prstGeom>
          <a:noFill/>
        </p:spPr>
        <p:txBody>
          <a:bodyPr wrap="none" anchor="t" lIns="0" rIns="0" tIns="0" bIns="0">
            <a:noAutofit/>
          </a:bodyPr>
          <a:lstStyle/>
          <a:p>
            <a:pPr algn="l">
              <a:lnSpc>
                <a:spcPts val="1512"/>
              </a:lnSpc>
              <a:spcBef>
                <a:spcPts val="0"/>
              </a:spcBef>
              <a:spcAft>
                <a:spcPts val="0"/>
              </a:spcAft>
            </a:pPr>
            <a:r>
              <a:rPr sz="1200" b="0">
                <a:solidFill>
                  <a:srgbClr val="484848"/>
                </a:solidFill>
                <a:latin typeface="JetBrains Mono"/>
              </a:rPr>
              <a:t>    for i in range(n):</a:t>
            </a:r>
          </a:p>
        </p:txBody>
      </p:sp>
      <p:sp>
        <p:nvSpPr>
          <p:cNvPr id="27" name="        out[i] = a[i] + b[i]"/>
          <p:cNvSpPr txBox="1"/>
          <p:nvPr/>
        </p:nvSpPr>
        <p:spPr>
          <a:xfrm>
            <a:off x="4846320" y="3130296"/>
            <a:ext cx="3657600" cy="198120"/>
          </a:xfrm>
          <a:prstGeom prst="rect">
            <a:avLst/>
          </a:prstGeom>
          <a:noFill/>
        </p:spPr>
        <p:txBody>
          <a:bodyPr wrap="none" anchor="t" lIns="0" rIns="0" tIns="0" bIns="0">
            <a:noAutofit/>
          </a:bodyPr>
          <a:lstStyle/>
          <a:p>
            <a:pPr algn="l">
              <a:lnSpc>
                <a:spcPts val="1512"/>
              </a:lnSpc>
              <a:spcBef>
                <a:spcPts val="0"/>
              </a:spcBef>
              <a:spcAft>
                <a:spcPts val="0"/>
              </a:spcAft>
            </a:pPr>
            <a:r>
              <a:rPr sz="1200" b="0">
                <a:solidFill>
                  <a:srgbClr val="484848"/>
                </a:solidFill>
                <a:latin typeface="JetBrains Mono"/>
              </a:rPr>
              <a:t>        out[i] = a[i] + b[i]</a:t>
            </a:r>
          </a:p>
        </p:txBody>
      </p:sp>
      <p:sp>
        <p:nvSpPr>
          <p:cNvPr id="28" name=""/>
          <p:cNvSpPr txBox="1"/>
          <p:nvPr/>
        </p:nvSpPr>
        <p:spPr>
          <a:xfrm>
            <a:off x="4846320" y="3325368"/>
            <a:ext cx="3657600" cy="198120"/>
          </a:xfrm>
          <a:prstGeom prst="rect">
            <a:avLst/>
          </a:prstGeom>
          <a:noFill/>
        </p:spPr>
        <p:txBody>
          <a:bodyPr wrap="none" anchor="t" lIns="0" rIns="0" tIns="0" bIns="0">
            <a:noAutofit/>
          </a:bodyPr>
          <a:lstStyle/>
          <a:p>
            <a:pPr algn="l">
              <a:lnSpc>
                <a:spcPts val="1512"/>
              </a:lnSpc>
              <a:spcBef>
                <a:spcPts val="0"/>
              </a:spcBef>
              <a:spcAft>
                <a:spcPts val="0"/>
              </a:spcAft>
            </a:pPr>
            <a:r>
              <a:rPr sz="1200" b="0">
                <a:solidFill>
                  <a:srgbClr val="484848"/>
                </a:solidFill>
                <a:latin typeface="JetBrains Mono"/>
              </a:rPr>
              <a:t/>
            </a:r>
          </a:p>
        </p:txBody>
      </p:sp>
      <p:sp>
        <p:nvSpPr>
          <p:cNvPr id="29" name="add(a.numel(), a, b, out)"/>
          <p:cNvSpPr txBox="1"/>
          <p:nvPr/>
        </p:nvSpPr>
        <p:spPr>
          <a:xfrm>
            <a:off x="4846320" y="3520440"/>
            <a:ext cx="3657600" cy="198120"/>
          </a:xfrm>
          <a:prstGeom prst="rect">
            <a:avLst/>
          </a:prstGeom>
          <a:noFill/>
        </p:spPr>
        <p:txBody>
          <a:bodyPr wrap="none" anchor="t" lIns="0" rIns="0" tIns="0" bIns="0">
            <a:noAutofit/>
          </a:bodyPr>
          <a:lstStyle/>
          <a:p>
            <a:pPr algn="l">
              <a:lnSpc>
                <a:spcPts val="1512"/>
              </a:lnSpc>
              <a:spcBef>
                <a:spcPts val="0"/>
              </a:spcBef>
              <a:spcAft>
                <a:spcPts val="0"/>
              </a:spcAft>
            </a:pPr>
            <a:r>
              <a:rPr sz="1200" b="0">
                <a:solidFill>
                  <a:srgbClr val="484848"/>
                </a:solidFill>
                <a:latin typeface="JetBrains Mono"/>
              </a:rPr>
              <a:t>add(a.numel(), a, b, out)</a:t>
            </a:r>
          </a:p>
        </p:txBody>
      </p:sp>
      <p:sp>
        <p:nvSpPr>
          <p:cNvPr id="30" name="print(out)"/>
          <p:cNvSpPr txBox="1"/>
          <p:nvPr/>
        </p:nvSpPr>
        <p:spPr>
          <a:xfrm>
            <a:off x="4846320" y="3715512"/>
            <a:ext cx="3657600" cy="198120"/>
          </a:xfrm>
          <a:prstGeom prst="rect">
            <a:avLst/>
          </a:prstGeom>
          <a:noFill/>
        </p:spPr>
        <p:txBody>
          <a:bodyPr wrap="none" anchor="t" lIns="0" rIns="0" tIns="0" bIns="0">
            <a:noAutofit/>
          </a:bodyPr>
          <a:lstStyle/>
          <a:p>
            <a:pPr algn="l">
              <a:lnSpc>
                <a:spcPts val="1512"/>
              </a:lnSpc>
              <a:spcBef>
                <a:spcPts val="0"/>
              </a:spcBef>
              <a:spcAft>
                <a:spcPts val="0"/>
              </a:spcAft>
            </a:pPr>
            <a:r>
              <a:rPr sz="1200" b="0">
                <a:solidFill>
                  <a:srgbClr val="484848"/>
                </a:solidFill>
                <a:latin typeface="JetBrains Mono"/>
              </a:rPr>
              <a:t>print(out)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Four use cases inside NVIDIA"/>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Four use cases inside NVIDIA</a:t>
            </a:r>
          </a:p>
        </p:txBody>
      </p:sp>
      <p:sp>
        <p:nvSpPr>
          <p:cNvPr id="5" name="04"/>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04</a:t>
            </a:r>
          </a:p>
        </p:txBody>
      </p:sp>
      <p:sp>
        <p:nvSpPr>
          <p:cNvPr id="6" name="Motiva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Motivation</a:t>
            </a:r>
          </a:p>
        </p:txBody>
      </p:sp>
      <p:sp>
        <p:nvSpPr>
          <p:cNvPr id="7" name="Rectangle 6"/>
          <p:cNvSpPr/>
          <p:nvPr/>
        </p:nvSpPr>
        <p:spPr>
          <a:xfrm>
            <a:off x="484632" y="1298448"/>
            <a:ext cx="3959352" cy="1426464"/>
          </a:xfrm>
          <a:prstGeom prst="rect">
            <a:avLst/>
          </a:prstGeom>
          <a:solidFill>
            <a:srgbClr val="F7F7F7"/>
          </a:solidFill>
          <a:ln>
            <a:noFill/>
          </a:ln>
          <a:effectLst/>
        </p:spPr>
        <p:txBody>
          <a:bodyPr rtlCol="0" anchor="ctr"/>
          <a:lstStyle/>
          <a:p>
            <a:pPr algn="ctr"/>
          </a:p>
        </p:txBody>
      </p:sp>
      <p:sp>
        <p:nvSpPr>
          <p:cNvPr id="8" name="Rectangle 7"/>
          <p:cNvSpPr/>
          <p:nvPr/>
        </p:nvSpPr>
        <p:spPr>
          <a:xfrm>
            <a:off x="621792" y="1417319"/>
            <a:ext cx="320040" cy="320040"/>
          </a:xfrm>
          <a:prstGeom prst="rect">
            <a:avLst/>
          </a:prstGeom>
          <a:solidFill>
            <a:srgbClr val="76B900"/>
          </a:solidFill>
          <a:ln>
            <a:noFill/>
          </a:ln>
          <a:effectLst/>
        </p:spPr>
        <p:txBody>
          <a:bodyPr rtlCol="0" anchor="ctr"/>
          <a:lstStyle/>
          <a:p>
            <a:pPr algn="ctr"/>
          </a:p>
        </p:txBody>
      </p:sp>
      <p:sp>
        <p:nvSpPr>
          <p:cNvPr id="9" name="01"/>
          <p:cNvSpPr txBox="1"/>
          <p:nvPr/>
        </p:nvSpPr>
        <p:spPr>
          <a:xfrm>
            <a:off x="630936" y="1490472"/>
            <a:ext cx="301752" cy="201168"/>
          </a:xfrm>
          <a:prstGeom prst="rect">
            <a:avLst/>
          </a:prstGeom>
          <a:noFill/>
        </p:spPr>
        <p:txBody>
          <a:bodyPr wrap="none" anchor="t" lIns="0" rIns="0" tIns="0" bIns="0">
            <a:noAutofit/>
          </a:bodyPr>
          <a:lstStyle/>
          <a:p>
            <a:pPr algn="ctr">
              <a:lnSpc>
                <a:spcPts val="1334"/>
              </a:lnSpc>
              <a:spcBef>
                <a:spcPts val="0"/>
              </a:spcBef>
              <a:spcAft>
                <a:spcPts val="0"/>
              </a:spcAft>
            </a:pPr>
            <a:r>
              <a:rPr sz="1150" b="1">
                <a:solidFill>
                  <a:srgbClr val="000000"/>
                </a:solidFill>
                <a:latin typeface="NVIDIA Sans"/>
              </a:rPr>
              <a:t>01</a:t>
            </a:r>
          </a:p>
        </p:txBody>
      </p:sp>
      <p:sp>
        <p:nvSpPr>
          <p:cNvPr id="10" name="Test internal dialects"/>
          <p:cNvSpPr txBox="1"/>
          <p:nvPr/>
        </p:nvSpPr>
        <p:spPr>
          <a:xfrm>
            <a:off x="1069848" y="1444751"/>
            <a:ext cx="3209544" cy="320040"/>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000000"/>
                </a:solidFill>
                <a:latin typeface="NVIDIA Sans"/>
              </a:rPr>
              <a:t>Test internal dialects</a:t>
            </a:r>
          </a:p>
        </p:txBody>
      </p:sp>
      <p:sp>
        <p:nvSpPr>
          <p:cNvPr id="11" name="Rectangle 10"/>
          <p:cNvSpPr/>
          <p:nvPr/>
        </p:nvSpPr>
        <p:spPr>
          <a:xfrm>
            <a:off x="676656" y="2194560"/>
            <a:ext cx="987552" cy="365760"/>
          </a:xfrm>
          <a:prstGeom prst="rect">
            <a:avLst/>
          </a:prstGeom>
          <a:solidFill>
            <a:srgbClr val="FFFFFF"/>
          </a:solidFill>
          <a:ln w="8890">
            <a:solidFill>
              <a:srgbClr val="D5D5D5"/>
            </a:solidFill>
          </a:ln>
          <a:effectLst/>
        </p:spPr>
        <p:txBody>
          <a:bodyPr rtlCol="0" anchor="ctr"/>
          <a:lstStyle/>
          <a:p>
            <a:pPr algn="ctr"/>
          </a:p>
        </p:txBody>
      </p:sp>
      <p:sp>
        <p:nvSpPr>
          <p:cNvPr id="12" name="Public"/>
          <p:cNvSpPr txBox="1"/>
          <p:nvPr/>
        </p:nvSpPr>
        <p:spPr>
          <a:xfrm>
            <a:off x="713232" y="2299715"/>
            <a:ext cx="914400" cy="219456"/>
          </a:xfrm>
          <a:prstGeom prst="rect">
            <a:avLst/>
          </a:prstGeom>
          <a:noFill/>
        </p:spPr>
        <p:txBody>
          <a:bodyPr wrap="none" anchor="t" lIns="0" rIns="0" tIns="0" bIns="0">
            <a:noAutofit/>
          </a:bodyPr>
          <a:lstStyle/>
          <a:p>
            <a:pPr algn="ctr">
              <a:lnSpc>
                <a:spcPts val="1449"/>
              </a:lnSpc>
              <a:spcBef>
                <a:spcPts val="0"/>
              </a:spcBef>
              <a:spcAft>
                <a:spcPts val="0"/>
              </a:spcAft>
            </a:pPr>
            <a:r>
              <a:rPr sz="1250" b="0">
                <a:solidFill>
                  <a:srgbClr val="616161"/>
                </a:solidFill>
                <a:latin typeface="NVIDIA Sans"/>
              </a:rPr>
              <a:t>Public</a:t>
            </a:r>
          </a:p>
        </p:txBody>
      </p:sp>
      <p:cxnSp>
        <p:nvCxnSpPr>
          <p:cNvPr id="13" name="Connector 12"/>
          <p:cNvCxnSpPr/>
          <p:nvPr/>
        </p:nvCxnSpPr>
        <p:spPr>
          <a:xfrm>
            <a:off x="1709928" y="2377439"/>
            <a:ext cx="201167"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1965960" y="2194560"/>
            <a:ext cx="987552" cy="365760"/>
          </a:xfrm>
          <a:prstGeom prst="rect">
            <a:avLst/>
          </a:prstGeom>
          <a:solidFill>
            <a:srgbClr val="F0F6E6"/>
          </a:solidFill>
          <a:ln w="8890">
            <a:solidFill>
              <a:srgbClr val="76B900"/>
            </a:solidFill>
          </a:ln>
          <a:effectLst/>
        </p:spPr>
        <p:txBody>
          <a:bodyPr rtlCol="0" anchor="ctr"/>
          <a:lstStyle/>
          <a:p>
            <a:pPr algn="ctr"/>
          </a:p>
        </p:txBody>
      </p:sp>
      <p:sp>
        <p:nvSpPr>
          <p:cNvPr id="15" name="Internal"/>
          <p:cNvSpPr txBox="1"/>
          <p:nvPr/>
        </p:nvSpPr>
        <p:spPr>
          <a:xfrm>
            <a:off x="2002536" y="2299715"/>
            <a:ext cx="914400" cy="219456"/>
          </a:xfrm>
          <a:prstGeom prst="rect">
            <a:avLst/>
          </a:prstGeom>
          <a:noFill/>
        </p:spPr>
        <p:txBody>
          <a:bodyPr wrap="none" anchor="t" lIns="0" rIns="0" tIns="0" bIns="0">
            <a:noAutofit/>
          </a:bodyPr>
          <a:lstStyle/>
          <a:p>
            <a:pPr algn="ctr">
              <a:lnSpc>
                <a:spcPts val="1449"/>
              </a:lnSpc>
              <a:spcBef>
                <a:spcPts val="0"/>
              </a:spcBef>
              <a:spcAft>
                <a:spcPts val="0"/>
              </a:spcAft>
            </a:pPr>
            <a:r>
              <a:rPr sz="1250" b="1">
                <a:solidFill>
                  <a:srgbClr val="416600"/>
                </a:solidFill>
                <a:latin typeface="NVIDIA Sans"/>
              </a:rPr>
              <a:t>Internal</a:t>
            </a:r>
          </a:p>
        </p:txBody>
      </p:sp>
      <p:cxnSp>
        <p:nvCxnSpPr>
          <p:cNvPr id="16" name="Connector 15"/>
          <p:cNvCxnSpPr/>
          <p:nvPr/>
        </p:nvCxnSpPr>
        <p:spPr>
          <a:xfrm>
            <a:off x="2999232" y="2377439"/>
            <a:ext cx="201168"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3255263" y="2194560"/>
            <a:ext cx="987552" cy="365760"/>
          </a:xfrm>
          <a:prstGeom prst="rect">
            <a:avLst/>
          </a:prstGeom>
          <a:solidFill>
            <a:srgbClr val="FFFFFF"/>
          </a:solidFill>
          <a:ln w="8890">
            <a:solidFill>
              <a:srgbClr val="D5D5D5"/>
            </a:solidFill>
          </a:ln>
          <a:effectLst/>
        </p:spPr>
        <p:txBody>
          <a:bodyPr rtlCol="0" anchor="ctr"/>
          <a:lstStyle/>
          <a:p>
            <a:pPr algn="ctr"/>
          </a:p>
        </p:txBody>
      </p:sp>
      <p:sp>
        <p:nvSpPr>
          <p:cNvPr id="18" name="LLVM"/>
          <p:cNvSpPr txBox="1"/>
          <p:nvPr/>
        </p:nvSpPr>
        <p:spPr>
          <a:xfrm>
            <a:off x="3291839" y="2299715"/>
            <a:ext cx="914400" cy="219456"/>
          </a:xfrm>
          <a:prstGeom prst="rect">
            <a:avLst/>
          </a:prstGeom>
          <a:noFill/>
        </p:spPr>
        <p:txBody>
          <a:bodyPr wrap="none" anchor="t" lIns="0" rIns="0" tIns="0" bIns="0">
            <a:noAutofit/>
          </a:bodyPr>
          <a:lstStyle/>
          <a:p>
            <a:pPr algn="ctr">
              <a:lnSpc>
                <a:spcPts val="1449"/>
              </a:lnSpc>
              <a:spcBef>
                <a:spcPts val="0"/>
              </a:spcBef>
              <a:spcAft>
                <a:spcPts val="0"/>
              </a:spcAft>
            </a:pPr>
            <a:r>
              <a:rPr sz="1250" b="0">
                <a:solidFill>
                  <a:srgbClr val="616161"/>
                </a:solidFill>
                <a:latin typeface="NVIDIA Sans"/>
              </a:rPr>
              <a:t>LLVM</a:t>
            </a:r>
          </a:p>
        </p:txBody>
      </p:sp>
      <p:sp>
        <p:nvSpPr>
          <p:cNvPr id="19" name="Python tests"/>
          <p:cNvSpPr txBox="1"/>
          <p:nvPr/>
        </p:nvSpPr>
        <p:spPr>
          <a:xfrm>
            <a:off x="1783080" y="1837943"/>
            <a:ext cx="1344168" cy="219456"/>
          </a:xfrm>
          <a:prstGeom prst="rect">
            <a:avLst/>
          </a:prstGeom>
          <a:noFill/>
        </p:spPr>
        <p:txBody>
          <a:bodyPr wrap="none" anchor="t" lIns="0" rIns="0" tIns="0" bIns="0">
            <a:noAutofit/>
          </a:bodyPr>
          <a:lstStyle/>
          <a:p>
            <a:pPr algn="ctr">
              <a:lnSpc>
                <a:spcPts val="1415"/>
              </a:lnSpc>
              <a:spcBef>
                <a:spcPts val="0"/>
              </a:spcBef>
              <a:spcAft>
                <a:spcPts val="0"/>
              </a:spcAft>
            </a:pPr>
            <a:r>
              <a:rPr sz="1220" b="1">
                <a:solidFill>
                  <a:srgbClr val="416600"/>
                </a:solidFill>
                <a:latin typeface="NVIDIA Sans"/>
              </a:rPr>
              <a:t>Python tests</a:t>
            </a:r>
          </a:p>
        </p:txBody>
      </p:sp>
      <p:cxnSp>
        <p:nvCxnSpPr>
          <p:cNvPr id="20" name="Connector 19"/>
          <p:cNvCxnSpPr/>
          <p:nvPr/>
        </p:nvCxnSpPr>
        <p:spPr>
          <a:xfrm>
            <a:off x="2459736" y="2075688"/>
            <a:ext cx="0" cy="9144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4700016" y="1298448"/>
            <a:ext cx="3959352" cy="1426464"/>
          </a:xfrm>
          <a:prstGeom prst="rect">
            <a:avLst/>
          </a:prstGeom>
          <a:solidFill>
            <a:srgbClr val="F7F7F7"/>
          </a:solidFill>
          <a:ln>
            <a:noFill/>
          </a:ln>
          <a:effectLst/>
        </p:spPr>
        <p:txBody>
          <a:bodyPr rtlCol="0" anchor="ctr"/>
          <a:lstStyle/>
          <a:p>
            <a:pPr algn="ctr"/>
          </a:p>
        </p:txBody>
      </p:sp>
      <p:sp>
        <p:nvSpPr>
          <p:cNvPr id="22" name="Rectangle 21"/>
          <p:cNvSpPr/>
          <p:nvPr/>
        </p:nvSpPr>
        <p:spPr>
          <a:xfrm>
            <a:off x="4837176" y="1417319"/>
            <a:ext cx="320040" cy="320040"/>
          </a:xfrm>
          <a:prstGeom prst="rect">
            <a:avLst/>
          </a:prstGeom>
          <a:solidFill>
            <a:srgbClr val="76B900"/>
          </a:solidFill>
          <a:ln>
            <a:noFill/>
          </a:ln>
          <a:effectLst/>
        </p:spPr>
        <p:txBody>
          <a:bodyPr rtlCol="0" anchor="ctr"/>
          <a:lstStyle/>
          <a:p>
            <a:pPr algn="ctr"/>
          </a:p>
        </p:txBody>
      </p:sp>
      <p:sp>
        <p:nvSpPr>
          <p:cNvPr id="23" name="02"/>
          <p:cNvSpPr txBox="1"/>
          <p:nvPr/>
        </p:nvSpPr>
        <p:spPr>
          <a:xfrm>
            <a:off x="4846320" y="1490472"/>
            <a:ext cx="301752" cy="201168"/>
          </a:xfrm>
          <a:prstGeom prst="rect">
            <a:avLst/>
          </a:prstGeom>
          <a:noFill/>
        </p:spPr>
        <p:txBody>
          <a:bodyPr wrap="none" anchor="t" lIns="0" rIns="0" tIns="0" bIns="0">
            <a:noAutofit/>
          </a:bodyPr>
          <a:lstStyle/>
          <a:p>
            <a:pPr algn="ctr">
              <a:lnSpc>
                <a:spcPts val="1334"/>
              </a:lnSpc>
              <a:spcBef>
                <a:spcPts val="0"/>
              </a:spcBef>
              <a:spcAft>
                <a:spcPts val="0"/>
              </a:spcAft>
            </a:pPr>
            <a:r>
              <a:rPr sz="1150" b="1">
                <a:solidFill>
                  <a:srgbClr val="000000"/>
                </a:solidFill>
                <a:latin typeface="NVIDIA Sans"/>
              </a:rPr>
              <a:t>02</a:t>
            </a:r>
          </a:p>
        </p:txBody>
      </p:sp>
      <p:sp>
        <p:nvSpPr>
          <p:cNvPr id="24" name="Generate recipe IR"/>
          <p:cNvSpPr txBox="1"/>
          <p:nvPr/>
        </p:nvSpPr>
        <p:spPr>
          <a:xfrm>
            <a:off x="5285232" y="1444751"/>
            <a:ext cx="3209544" cy="320040"/>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000000"/>
                </a:solidFill>
                <a:latin typeface="NVIDIA Sans"/>
              </a:rPr>
              <a:t>Generate recipe IR</a:t>
            </a:r>
          </a:p>
        </p:txBody>
      </p:sp>
      <p:sp>
        <p:nvSpPr>
          <p:cNvPr id="25" name="Rectangle 24"/>
          <p:cNvSpPr/>
          <p:nvPr/>
        </p:nvSpPr>
        <p:spPr>
          <a:xfrm>
            <a:off x="5212080" y="1828800"/>
            <a:ext cx="274320" cy="347472"/>
          </a:xfrm>
          <a:prstGeom prst="rect">
            <a:avLst/>
          </a:prstGeom>
          <a:solidFill>
            <a:srgbClr val="FFFFFF"/>
          </a:solidFill>
          <a:ln w="8890">
            <a:solidFill>
              <a:srgbClr val="616161"/>
            </a:solidFill>
          </a:ln>
          <a:effectLst/>
        </p:spPr>
        <p:txBody>
          <a:bodyPr rtlCol="0" anchor="ctr"/>
          <a:lstStyle/>
          <a:p>
            <a:pPr algn="ctr"/>
          </a:p>
        </p:txBody>
      </p:sp>
      <p:cxnSp>
        <p:nvCxnSpPr>
          <p:cNvPr id="26" name="Connector 25"/>
          <p:cNvCxnSpPr/>
          <p:nvPr/>
        </p:nvCxnSpPr>
        <p:spPr>
          <a:xfrm>
            <a:off x="5385816" y="1828800"/>
            <a:ext cx="0" cy="96012"/>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385816" y="1924812"/>
            <a:ext cx="100584"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5385816" y="1828800"/>
            <a:ext cx="100584" cy="96012"/>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sp>
        <p:nvSpPr>
          <p:cNvPr id="29" name="&lt;/&gt;"/>
          <p:cNvSpPr txBox="1"/>
          <p:nvPr/>
        </p:nvSpPr>
        <p:spPr>
          <a:xfrm>
            <a:off x="5232196" y="1975104"/>
            <a:ext cx="234086" cy="155448"/>
          </a:xfrm>
          <a:prstGeom prst="rect">
            <a:avLst/>
          </a:prstGeom>
          <a:noFill/>
        </p:spPr>
        <p:txBody>
          <a:bodyPr wrap="none" anchor="t" lIns="0" rIns="0" tIns="0" bIns="0">
            <a:noAutofit/>
          </a:bodyPr>
          <a:lstStyle/>
          <a:p>
            <a:pPr algn="ctr">
              <a:lnSpc>
                <a:spcPts val="970"/>
              </a:lnSpc>
              <a:spcBef>
                <a:spcPts val="0"/>
              </a:spcBef>
              <a:spcAft>
                <a:spcPts val="0"/>
              </a:spcAft>
            </a:pPr>
            <a:r>
              <a:rPr sz="770" b="0">
                <a:solidFill>
                  <a:srgbClr val="616161"/>
                </a:solidFill>
                <a:latin typeface="JetBrains Mono"/>
              </a:rPr>
              <a:t>&lt;/&gt;</a:t>
            </a:r>
          </a:p>
        </p:txBody>
      </p:sp>
      <p:sp>
        <p:nvSpPr>
          <p:cNvPr id="30" name="Python"/>
          <p:cNvSpPr txBox="1"/>
          <p:nvPr/>
        </p:nvSpPr>
        <p:spPr>
          <a:xfrm>
            <a:off x="4718304" y="2240280"/>
            <a:ext cx="1261872" cy="365760"/>
          </a:xfrm>
          <a:prstGeom prst="rect">
            <a:avLst/>
          </a:prstGeom>
          <a:noFill/>
        </p:spPr>
        <p:txBody>
          <a:bodyPr wrap="none" anchor="t" lIns="0" rIns="0" tIns="0" bIns="0">
            <a:noAutofit/>
          </a:bodyPr>
          <a:lstStyle/>
          <a:p>
            <a:pPr algn="ctr">
              <a:lnSpc>
                <a:spcPts val="1323"/>
              </a:lnSpc>
              <a:spcBef>
                <a:spcPts val="0"/>
              </a:spcBef>
              <a:spcAft>
                <a:spcPts val="0"/>
              </a:spcAft>
            </a:pPr>
            <a:r>
              <a:rPr sz="1050" b="0">
                <a:solidFill>
                  <a:srgbClr val="000000"/>
                </a:solidFill>
                <a:latin typeface="JetBrains Mono"/>
              </a:rPr>
              <a:t>Python</a:t>
            </a:r>
          </a:p>
        </p:txBody>
      </p:sp>
      <p:cxnSp>
        <p:nvCxnSpPr>
          <p:cNvPr id="31" name="Connector 30"/>
          <p:cNvCxnSpPr/>
          <p:nvPr/>
        </p:nvCxnSpPr>
        <p:spPr>
          <a:xfrm>
            <a:off x="5605272" y="2002536"/>
            <a:ext cx="80467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32" name="Rectangle 31"/>
          <p:cNvSpPr/>
          <p:nvPr/>
        </p:nvSpPr>
        <p:spPr>
          <a:xfrm>
            <a:off x="6537960" y="1828800"/>
            <a:ext cx="274320" cy="347472"/>
          </a:xfrm>
          <a:prstGeom prst="rect">
            <a:avLst/>
          </a:prstGeom>
          <a:solidFill>
            <a:srgbClr val="FFFFFF"/>
          </a:solidFill>
          <a:ln w="8890">
            <a:solidFill>
              <a:srgbClr val="416600"/>
            </a:solidFill>
          </a:ln>
          <a:effectLst/>
        </p:spPr>
        <p:txBody>
          <a:bodyPr rtlCol="0" anchor="ctr"/>
          <a:lstStyle/>
          <a:p>
            <a:pPr algn="ctr"/>
          </a:p>
        </p:txBody>
      </p:sp>
      <p:cxnSp>
        <p:nvCxnSpPr>
          <p:cNvPr id="33" name="Connector 32"/>
          <p:cNvCxnSpPr/>
          <p:nvPr/>
        </p:nvCxnSpPr>
        <p:spPr>
          <a:xfrm>
            <a:off x="6711696" y="1828800"/>
            <a:ext cx="0" cy="96012"/>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6711696" y="1924812"/>
            <a:ext cx="100584"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6711696" y="1828800"/>
            <a:ext cx="100584" cy="96012"/>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sp>
        <p:nvSpPr>
          <p:cNvPr id="36" name="&lt;/&gt;"/>
          <p:cNvSpPr txBox="1"/>
          <p:nvPr/>
        </p:nvSpPr>
        <p:spPr>
          <a:xfrm>
            <a:off x="6558076" y="1975104"/>
            <a:ext cx="234086" cy="155448"/>
          </a:xfrm>
          <a:prstGeom prst="rect">
            <a:avLst/>
          </a:prstGeom>
          <a:noFill/>
        </p:spPr>
        <p:txBody>
          <a:bodyPr wrap="none" anchor="t" lIns="0" rIns="0" tIns="0" bIns="0">
            <a:noAutofit/>
          </a:bodyPr>
          <a:lstStyle/>
          <a:p>
            <a:pPr algn="ctr">
              <a:lnSpc>
                <a:spcPts val="970"/>
              </a:lnSpc>
              <a:spcBef>
                <a:spcPts val="0"/>
              </a:spcBef>
              <a:spcAft>
                <a:spcPts val="0"/>
              </a:spcAft>
            </a:pPr>
            <a:r>
              <a:rPr sz="770" b="0">
                <a:solidFill>
                  <a:srgbClr val="416600"/>
                </a:solidFill>
                <a:latin typeface="JetBrains Mono"/>
              </a:rPr>
              <a:t>&lt;/&gt;</a:t>
            </a:r>
          </a:p>
        </p:txBody>
      </p:sp>
      <p:sp>
        <p:nvSpPr>
          <p:cNvPr id="37" name="Recipe IR"/>
          <p:cNvSpPr txBox="1"/>
          <p:nvPr/>
        </p:nvSpPr>
        <p:spPr>
          <a:xfrm>
            <a:off x="6044184" y="2240280"/>
            <a:ext cx="1261872" cy="365760"/>
          </a:xfrm>
          <a:prstGeom prst="rect">
            <a:avLst/>
          </a:prstGeom>
          <a:noFill/>
        </p:spPr>
        <p:txBody>
          <a:bodyPr wrap="none" anchor="t" lIns="0" rIns="0" tIns="0" bIns="0">
            <a:noAutofit/>
          </a:bodyPr>
          <a:lstStyle/>
          <a:p>
            <a:pPr algn="ctr">
              <a:lnSpc>
                <a:spcPts val="1323"/>
              </a:lnSpc>
              <a:spcBef>
                <a:spcPts val="0"/>
              </a:spcBef>
              <a:spcAft>
                <a:spcPts val="0"/>
              </a:spcAft>
            </a:pPr>
            <a:r>
              <a:rPr sz="1050" b="0">
                <a:solidFill>
                  <a:srgbClr val="416600"/>
                </a:solidFill>
                <a:latin typeface="JetBrains Mono"/>
              </a:rPr>
              <a:t>Recipe IR</a:t>
            </a:r>
          </a:p>
        </p:txBody>
      </p:sp>
      <p:cxnSp>
        <p:nvCxnSpPr>
          <p:cNvPr id="38" name="Connector 37"/>
          <p:cNvCxnSpPr/>
          <p:nvPr/>
        </p:nvCxnSpPr>
        <p:spPr>
          <a:xfrm>
            <a:off x="6931152" y="2002536"/>
            <a:ext cx="80467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39" name="Gear 6 38"/>
          <p:cNvSpPr/>
          <p:nvPr/>
        </p:nvSpPr>
        <p:spPr>
          <a:xfrm>
            <a:off x="7822692" y="1828800"/>
            <a:ext cx="356616" cy="356616"/>
          </a:xfrm>
          <a:prstGeom prst="gear6">
            <a:avLst/>
          </a:prstGeom>
          <a:solidFill>
            <a:srgbClr val="F7F7F7"/>
          </a:solidFill>
          <a:ln w="11430">
            <a:solidFill>
              <a:srgbClr val="616161"/>
            </a:solidFill>
          </a:ln>
          <a:effectLst/>
        </p:spPr>
        <p:txBody>
          <a:bodyPr rtlCol="0" anchor="ctr"/>
          <a:lstStyle/>
          <a:p>
            <a:pPr algn="ctr"/>
          </a:p>
        </p:txBody>
      </p:sp>
      <p:sp>
        <p:nvSpPr>
          <p:cNvPr id="40" name="Consumer"/>
          <p:cNvSpPr txBox="1"/>
          <p:nvPr/>
        </p:nvSpPr>
        <p:spPr>
          <a:xfrm>
            <a:off x="7370064" y="2240280"/>
            <a:ext cx="1261872"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000000"/>
                </a:solidFill>
                <a:latin typeface="NVIDIA Sans"/>
              </a:rPr>
              <a:t>Consumer</a:t>
            </a:r>
          </a:p>
        </p:txBody>
      </p:sp>
      <p:sp>
        <p:nvSpPr>
          <p:cNvPr id="41" name="Consumer outside MLIR"/>
          <p:cNvSpPr txBox="1"/>
          <p:nvPr/>
        </p:nvSpPr>
        <p:spPr>
          <a:xfrm>
            <a:off x="4882896" y="2551176"/>
            <a:ext cx="3593592" cy="173736"/>
          </a:xfrm>
          <a:prstGeom prst="rect">
            <a:avLst/>
          </a:prstGeom>
          <a:noFill/>
        </p:spPr>
        <p:txBody>
          <a:bodyPr wrap="none" anchor="t" lIns="0" rIns="0" tIns="0" bIns="0">
            <a:noAutofit/>
          </a:bodyPr>
          <a:lstStyle/>
          <a:p>
            <a:pPr algn="ctr">
              <a:lnSpc>
                <a:spcPts val="1183"/>
              </a:lnSpc>
              <a:spcBef>
                <a:spcPts val="0"/>
              </a:spcBef>
              <a:spcAft>
                <a:spcPts val="0"/>
              </a:spcAft>
            </a:pPr>
            <a:r>
              <a:rPr sz="1019" b="0">
                <a:solidFill>
                  <a:srgbClr val="616161"/>
                </a:solidFill>
                <a:latin typeface="NVIDIA Sans"/>
              </a:rPr>
              <a:t>Consumer outside MLIR</a:t>
            </a:r>
          </a:p>
        </p:txBody>
      </p:sp>
      <p:sp>
        <p:nvSpPr>
          <p:cNvPr id="42" name="Rectangle 41"/>
          <p:cNvSpPr/>
          <p:nvPr/>
        </p:nvSpPr>
        <p:spPr>
          <a:xfrm>
            <a:off x="484632" y="2834639"/>
            <a:ext cx="3959352" cy="1426464"/>
          </a:xfrm>
          <a:prstGeom prst="rect">
            <a:avLst/>
          </a:prstGeom>
          <a:solidFill>
            <a:srgbClr val="F7F7F7"/>
          </a:solidFill>
          <a:ln>
            <a:noFill/>
          </a:ln>
          <a:effectLst/>
        </p:spPr>
        <p:txBody>
          <a:bodyPr rtlCol="0" anchor="ctr"/>
          <a:lstStyle/>
          <a:p>
            <a:pPr algn="ctr"/>
          </a:p>
        </p:txBody>
      </p:sp>
      <p:sp>
        <p:nvSpPr>
          <p:cNvPr id="43" name="Rectangle 42"/>
          <p:cNvSpPr/>
          <p:nvPr/>
        </p:nvSpPr>
        <p:spPr>
          <a:xfrm>
            <a:off x="621792" y="2953511"/>
            <a:ext cx="320040" cy="320040"/>
          </a:xfrm>
          <a:prstGeom prst="rect">
            <a:avLst/>
          </a:prstGeom>
          <a:solidFill>
            <a:srgbClr val="76B900"/>
          </a:solidFill>
          <a:ln>
            <a:noFill/>
          </a:ln>
          <a:effectLst/>
        </p:spPr>
        <p:txBody>
          <a:bodyPr rtlCol="0" anchor="ctr"/>
          <a:lstStyle/>
          <a:p>
            <a:pPr algn="ctr"/>
          </a:p>
        </p:txBody>
      </p:sp>
      <p:sp>
        <p:nvSpPr>
          <p:cNvPr id="44" name="03"/>
          <p:cNvSpPr txBox="1"/>
          <p:nvPr/>
        </p:nvSpPr>
        <p:spPr>
          <a:xfrm>
            <a:off x="630936" y="3026663"/>
            <a:ext cx="301752" cy="201168"/>
          </a:xfrm>
          <a:prstGeom prst="rect">
            <a:avLst/>
          </a:prstGeom>
          <a:noFill/>
        </p:spPr>
        <p:txBody>
          <a:bodyPr wrap="none" anchor="t" lIns="0" rIns="0" tIns="0" bIns="0">
            <a:noAutofit/>
          </a:bodyPr>
          <a:lstStyle/>
          <a:p>
            <a:pPr algn="ctr">
              <a:lnSpc>
                <a:spcPts val="1334"/>
              </a:lnSpc>
              <a:spcBef>
                <a:spcPts val="0"/>
              </a:spcBef>
              <a:spcAft>
                <a:spcPts val="0"/>
              </a:spcAft>
            </a:pPr>
            <a:r>
              <a:rPr sz="1150" b="1">
                <a:solidFill>
                  <a:srgbClr val="000000"/>
                </a:solidFill>
                <a:latin typeface="NVIDIA Sans"/>
              </a:rPr>
              <a:t>03</a:t>
            </a:r>
          </a:p>
        </p:txBody>
      </p:sp>
      <p:sp>
        <p:nvSpPr>
          <p:cNvPr id="45" name="Reuse DSL building blocks"/>
          <p:cNvSpPr txBox="1"/>
          <p:nvPr/>
        </p:nvSpPr>
        <p:spPr>
          <a:xfrm>
            <a:off x="1069848" y="2980944"/>
            <a:ext cx="3209544" cy="320040"/>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000000"/>
                </a:solidFill>
                <a:latin typeface="NVIDIA Sans"/>
              </a:rPr>
              <a:t>Reuse DSL building blocks</a:t>
            </a:r>
          </a:p>
        </p:txBody>
      </p:sp>
      <p:sp>
        <p:nvSpPr>
          <p:cNvPr id="46" name="Rectangle 45"/>
          <p:cNvSpPr/>
          <p:nvPr/>
        </p:nvSpPr>
        <p:spPr>
          <a:xfrm>
            <a:off x="713232" y="3447287"/>
            <a:ext cx="3502152" cy="594360"/>
          </a:xfrm>
          <a:prstGeom prst="rect">
            <a:avLst/>
          </a:prstGeom>
          <a:solidFill>
            <a:srgbClr val="FFFFFF"/>
          </a:solidFill>
          <a:ln w="8890">
            <a:solidFill>
              <a:srgbClr val="76B900"/>
            </a:solidFill>
          </a:ln>
          <a:effectLst/>
        </p:spPr>
        <p:txBody>
          <a:bodyPr rtlCol="0" anchor="ctr"/>
          <a:lstStyle/>
          <a:p>
            <a:pPr algn="ctr"/>
          </a:p>
        </p:txBody>
      </p:sp>
      <p:sp>
        <p:nvSpPr>
          <p:cNvPr id="47" name="Your DSL"/>
          <p:cNvSpPr txBox="1"/>
          <p:nvPr/>
        </p:nvSpPr>
        <p:spPr>
          <a:xfrm>
            <a:off x="822960" y="3593591"/>
            <a:ext cx="932688" cy="274320"/>
          </a:xfrm>
          <a:prstGeom prst="rect">
            <a:avLst/>
          </a:prstGeom>
          <a:noFill/>
        </p:spPr>
        <p:txBody>
          <a:bodyPr wrap="none" anchor="t" lIns="0" rIns="0" tIns="0" bIns="0">
            <a:noAutofit/>
          </a:bodyPr>
          <a:lstStyle/>
          <a:p>
            <a:pPr algn="ctr">
              <a:lnSpc>
                <a:spcPts val="1739"/>
              </a:lnSpc>
              <a:spcBef>
                <a:spcPts val="0"/>
              </a:spcBef>
              <a:spcAft>
                <a:spcPts val="0"/>
              </a:spcAft>
            </a:pPr>
            <a:r>
              <a:rPr sz="1500" b="1">
                <a:solidFill>
                  <a:srgbClr val="416600"/>
                </a:solidFill>
                <a:latin typeface="NVIDIA Sans"/>
              </a:rPr>
              <a:t>Your DSL</a:t>
            </a:r>
          </a:p>
        </p:txBody>
      </p:sp>
      <p:sp>
        <p:nvSpPr>
          <p:cNvPr id="48" name="Rectangle 47"/>
          <p:cNvSpPr/>
          <p:nvPr/>
        </p:nvSpPr>
        <p:spPr>
          <a:xfrm>
            <a:off x="1901952" y="3575303"/>
            <a:ext cx="621792" cy="292608"/>
          </a:xfrm>
          <a:prstGeom prst="rect">
            <a:avLst/>
          </a:prstGeom>
          <a:solidFill>
            <a:srgbClr val="F0F6E6"/>
          </a:solidFill>
          <a:ln>
            <a:noFill/>
          </a:ln>
          <a:effectLst/>
        </p:spPr>
        <p:txBody>
          <a:bodyPr rtlCol="0" anchor="ctr"/>
          <a:lstStyle/>
          <a:p>
            <a:pPr algn="ctr"/>
          </a:p>
        </p:txBody>
      </p:sp>
      <p:sp>
        <p:nvSpPr>
          <p:cNvPr id="49" name="JIT"/>
          <p:cNvSpPr txBox="1"/>
          <p:nvPr/>
        </p:nvSpPr>
        <p:spPr>
          <a:xfrm>
            <a:off x="1933956" y="3639311"/>
            <a:ext cx="557784" cy="201168"/>
          </a:xfrm>
          <a:prstGeom prst="rect">
            <a:avLst/>
          </a:prstGeom>
          <a:noFill/>
        </p:spPr>
        <p:txBody>
          <a:bodyPr wrap="none" anchor="t" lIns="0" rIns="0" tIns="0" bIns="0">
            <a:noAutofit/>
          </a:bodyPr>
          <a:lstStyle/>
          <a:p>
            <a:pPr algn="ctr">
              <a:lnSpc>
                <a:spcPts val="1310"/>
              </a:lnSpc>
              <a:spcBef>
                <a:spcPts val="0"/>
              </a:spcBef>
              <a:spcAft>
                <a:spcPts val="0"/>
              </a:spcAft>
            </a:pPr>
            <a:r>
              <a:rPr sz="1130" b="1">
                <a:solidFill>
                  <a:srgbClr val="416600"/>
                </a:solidFill>
                <a:latin typeface="NVIDIA Sans"/>
              </a:rPr>
              <a:t>JIT</a:t>
            </a:r>
          </a:p>
        </p:txBody>
      </p:sp>
      <p:sp>
        <p:nvSpPr>
          <p:cNvPr id="50" name="Rectangle 49"/>
          <p:cNvSpPr/>
          <p:nvPr/>
        </p:nvSpPr>
        <p:spPr>
          <a:xfrm>
            <a:off x="2633472" y="3575303"/>
            <a:ext cx="621792" cy="292608"/>
          </a:xfrm>
          <a:prstGeom prst="rect">
            <a:avLst/>
          </a:prstGeom>
          <a:solidFill>
            <a:srgbClr val="F0F6E6"/>
          </a:solidFill>
          <a:ln>
            <a:noFill/>
          </a:ln>
          <a:effectLst/>
        </p:spPr>
        <p:txBody>
          <a:bodyPr rtlCol="0" anchor="ctr"/>
          <a:lstStyle/>
          <a:p>
            <a:pPr algn="ctr"/>
          </a:p>
        </p:txBody>
      </p:sp>
      <p:sp>
        <p:nvSpPr>
          <p:cNvPr id="51" name="Cache"/>
          <p:cNvSpPr txBox="1"/>
          <p:nvPr/>
        </p:nvSpPr>
        <p:spPr>
          <a:xfrm>
            <a:off x="2665476" y="3639311"/>
            <a:ext cx="557784" cy="201168"/>
          </a:xfrm>
          <a:prstGeom prst="rect">
            <a:avLst/>
          </a:prstGeom>
          <a:noFill/>
        </p:spPr>
        <p:txBody>
          <a:bodyPr wrap="none" anchor="t" lIns="0" rIns="0" tIns="0" bIns="0">
            <a:noAutofit/>
          </a:bodyPr>
          <a:lstStyle/>
          <a:p>
            <a:pPr algn="ctr">
              <a:lnSpc>
                <a:spcPts val="1310"/>
              </a:lnSpc>
              <a:spcBef>
                <a:spcPts val="0"/>
              </a:spcBef>
              <a:spcAft>
                <a:spcPts val="0"/>
              </a:spcAft>
            </a:pPr>
            <a:r>
              <a:rPr sz="1130" b="1">
                <a:solidFill>
                  <a:srgbClr val="416600"/>
                </a:solidFill>
                <a:latin typeface="NVIDIA Sans"/>
              </a:rPr>
              <a:t>Cache</a:t>
            </a:r>
          </a:p>
        </p:txBody>
      </p:sp>
      <p:sp>
        <p:nvSpPr>
          <p:cNvPr id="52" name="Rectangle 51"/>
          <p:cNvSpPr/>
          <p:nvPr/>
        </p:nvSpPr>
        <p:spPr>
          <a:xfrm>
            <a:off x="3364992" y="3575303"/>
            <a:ext cx="621792" cy="292608"/>
          </a:xfrm>
          <a:prstGeom prst="rect">
            <a:avLst/>
          </a:prstGeom>
          <a:solidFill>
            <a:srgbClr val="F0F6E6"/>
          </a:solidFill>
          <a:ln>
            <a:noFill/>
          </a:ln>
          <a:effectLst/>
        </p:spPr>
        <p:txBody>
          <a:bodyPr rtlCol="0" anchor="ctr"/>
          <a:lstStyle/>
          <a:p>
            <a:pPr algn="ctr"/>
          </a:p>
        </p:txBody>
      </p:sp>
      <p:sp>
        <p:nvSpPr>
          <p:cNvPr id="53" name="Env"/>
          <p:cNvSpPr txBox="1"/>
          <p:nvPr/>
        </p:nvSpPr>
        <p:spPr>
          <a:xfrm>
            <a:off x="3396996" y="3639311"/>
            <a:ext cx="557784" cy="201168"/>
          </a:xfrm>
          <a:prstGeom prst="rect">
            <a:avLst/>
          </a:prstGeom>
          <a:noFill/>
        </p:spPr>
        <p:txBody>
          <a:bodyPr wrap="none" anchor="t" lIns="0" rIns="0" tIns="0" bIns="0">
            <a:noAutofit/>
          </a:bodyPr>
          <a:lstStyle/>
          <a:p>
            <a:pPr algn="ctr">
              <a:lnSpc>
                <a:spcPts val="1310"/>
              </a:lnSpc>
              <a:spcBef>
                <a:spcPts val="0"/>
              </a:spcBef>
              <a:spcAft>
                <a:spcPts val="0"/>
              </a:spcAft>
            </a:pPr>
            <a:r>
              <a:rPr sz="1130" b="1">
                <a:solidFill>
                  <a:srgbClr val="416600"/>
                </a:solidFill>
                <a:latin typeface="NVIDIA Sans"/>
              </a:rPr>
              <a:t>Env</a:t>
            </a:r>
          </a:p>
        </p:txBody>
      </p:sp>
      <p:sp>
        <p:nvSpPr>
          <p:cNvPr id="54" name="Reuse the services."/>
          <p:cNvSpPr txBox="1"/>
          <p:nvPr/>
        </p:nvSpPr>
        <p:spPr>
          <a:xfrm>
            <a:off x="740664" y="4087368"/>
            <a:ext cx="3447288" cy="173736"/>
          </a:xfrm>
          <a:prstGeom prst="rect">
            <a:avLst/>
          </a:prstGeom>
          <a:noFill/>
        </p:spPr>
        <p:txBody>
          <a:bodyPr wrap="none" anchor="t" lIns="0" rIns="0" tIns="0" bIns="0">
            <a:noAutofit/>
          </a:bodyPr>
          <a:lstStyle/>
          <a:p>
            <a:pPr algn="ctr">
              <a:lnSpc>
                <a:spcPts val="1183"/>
              </a:lnSpc>
              <a:spcBef>
                <a:spcPts val="0"/>
              </a:spcBef>
              <a:spcAft>
                <a:spcPts val="0"/>
              </a:spcAft>
            </a:pPr>
            <a:r>
              <a:rPr sz="1019" b="0">
                <a:solidFill>
                  <a:srgbClr val="616161"/>
                </a:solidFill>
                <a:latin typeface="NVIDIA Sans"/>
              </a:rPr>
              <a:t>Reuse the services.</a:t>
            </a:r>
          </a:p>
        </p:txBody>
      </p:sp>
      <p:sp>
        <p:nvSpPr>
          <p:cNvPr id="55" name="Rectangle 54"/>
          <p:cNvSpPr/>
          <p:nvPr/>
        </p:nvSpPr>
        <p:spPr>
          <a:xfrm>
            <a:off x="4700016" y="2834639"/>
            <a:ext cx="3959352" cy="1426464"/>
          </a:xfrm>
          <a:prstGeom prst="rect">
            <a:avLst/>
          </a:prstGeom>
          <a:solidFill>
            <a:srgbClr val="F7F7F7"/>
          </a:solidFill>
          <a:ln>
            <a:noFill/>
          </a:ln>
          <a:effectLst/>
        </p:spPr>
        <p:txBody>
          <a:bodyPr rtlCol="0" anchor="ctr"/>
          <a:lstStyle/>
          <a:p>
            <a:pPr algn="ctr"/>
          </a:p>
        </p:txBody>
      </p:sp>
      <p:sp>
        <p:nvSpPr>
          <p:cNvPr id="56" name="Rectangle 55"/>
          <p:cNvSpPr/>
          <p:nvPr/>
        </p:nvSpPr>
        <p:spPr>
          <a:xfrm>
            <a:off x="4837176" y="2953511"/>
            <a:ext cx="320040" cy="320040"/>
          </a:xfrm>
          <a:prstGeom prst="rect">
            <a:avLst/>
          </a:prstGeom>
          <a:solidFill>
            <a:srgbClr val="76B900"/>
          </a:solidFill>
          <a:ln>
            <a:noFill/>
          </a:ln>
          <a:effectLst/>
        </p:spPr>
        <p:txBody>
          <a:bodyPr rtlCol="0" anchor="ctr"/>
          <a:lstStyle/>
          <a:p>
            <a:pPr algn="ctr"/>
          </a:p>
        </p:txBody>
      </p:sp>
      <p:sp>
        <p:nvSpPr>
          <p:cNvPr id="57" name="04"/>
          <p:cNvSpPr txBox="1"/>
          <p:nvPr/>
        </p:nvSpPr>
        <p:spPr>
          <a:xfrm>
            <a:off x="4846320" y="3026663"/>
            <a:ext cx="301752" cy="201168"/>
          </a:xfrm>
          <a:prstGeom prst="rect">
            <a:avLst/>
          </a:prstGeom>
          <a:noFill/>
        </p:spPr>
        <p:txBody>
          <a:bodyPr wrap="none" anchor="t" lIns="0" rIns="0" tIns="0" bIns="0">
            <a:noAutofit/>
          </a:bodyPr>
          <a:lstStyle/>
          <a:p>
            <a:pPr algn="ctr">
              <a:lnSpc>
                <a:spcPts val="1334"/>
              </a:lnSpc>
              <a:spcBef>
                <a:spcPts val="0"/>
              </a:spcBef>
              <a:spcAft>
                <a:spcPts val="0"/>
              </a:spcAft>
            </a:pPr>
            <a:r>
              <a:rPr sz="1150" b="1">
                <a:solidFill>
                  <a:srgbClr val="000000"/>
                </a:solidFill>
                <a:latin typeface="NVIDIA Sans"/>
              </a:rPr>
              <a:t>04</a:t>
            </a:r>
          </a:p>
        </p:txBody>
      </p:sp>
      <p:sp>
        <p:nvSpPr>
          <p:cNvPr id="58" name="Build a full language"/>
          <p:cNvSpPr txBox="1"/>
          <p:nvPr/>
        </p:nvSpPr>
        <p:spPr>
          <a:xfrm>
            <a:off x="5285232" y="2980944"/>
            <a:ext cx="3209544" cy="320040"/>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000000"/>
                </a:solidFill>
                <a:latin typeface="NVIDIA Sans"/>
              </a:rPr>
              <a:t>Build a full language</a:t>
            </a:r>
          </a:p>
        </p:txBody>
      </p:sp>
      <p:sp>
        <p:nvSpPr>
          <p:cNvPr id="59" name="Rectangle 58"/>
          <p:cNvSpPr/>
          <p:nvPr/>
        </p:nvSpPr>
        <p:spPr>
          <a:xfrm>
            <a:off x="5212080" y="3364991"/>
            <a:ext cx="274320" cy="347472"/>
          </a:xfrm>
          <a:prstGeom prst="rect">
            <a:avLst/>
          </a:prstGeom>
          <a:solidFill>
            <a:srgbClr val="FFFFFF"/>
          </a:solidFill>
          <a:ln w="8890">
            <a:solidFill>
              <a:srgbClr val="616161"/>
            </a:solidFill>
          </a:ln>
          <a:effectLst/>
        </p:spPr>
        <p:txBody>
          <a:bodyPr rtlCol="0" anchor="ctr"/>
          <a:lstStyle/>
          <a:p>
            <a:pPr algn="ctr"/>
          </a:p>
        </p:txBody>
      </p:sp>
      <p:cxnSp>
        <p:nvCxnSpPr>
          <p:cNvPr id="60" name="Connector 59"/>
          <p:cNvCxnSpPr/>
          <p:nvPr/>
        </p:nvCxnSpPr>
        <p:spPr>
          <a:xfrm>
            <a:off x="5385816" y="3364991"/>
            <a:ext cx="0" cy="96012"/>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5385816" y="3461003"/>
            <a:ext cx="100584"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5385816" y="3364991"/>
            <a:ext cx="100584" cy="96012"/>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sp>
        <p:nvSpPr>
          <p:cNvPr id="63" name="&lt;/&gt;"/>
          <p:cNvSpPr txBox="1"/>
          <p:nvPr/>
        </p:nvSpPr>
        <p:spPr>
          <a:xfrm>
            <a:off x="5232196" y="3511296"/>
            <a:ext cx="234086" cy="155448"/>
          </a:xfrm>
          <a:prstGeom prst="rect">
            <a:avLst/>
          </a:prstGeom>
          <a:noFill/>
        </p:spPr>
        <p:txBody>
          <a:bodyPr wrap="none" anchor="t" lIns="0" rIns="0" tIns="0" bIns="0">
            <a:noAutofit/>
          </a:bodyPr>
          <a:lstStyle/>
          <a:p>
            <a:pPr algn="ctr">
              <a:lnSpc>
                <a:spcPts val="970"/>
              </a:lnSpc>
              <a:spcBef>
                <a:spcPts val="0"/>
              </a:spcBef>
              <a:spcAft>
                <a:spcPts val="0"/>
              </a:spcAft>
            </a:pPr>
            <a:r>
              <a:rPr sz="770" b="0">
                <a:solidFill>
                  <a:srgbClr val="616161"/>
                </a:solidFill>
                <a:latin typeface="JetBrains Mono"/>
              </a:rPr>
              <a:t>&lt;/&gt;</a:t>
            </a:r>
          </a:p>
        </p:txBody>
      </p:sp>
      <p:sp>
        <p:nvSpPr>
          <p:cNvPr id="64" name="Python"/>
          <p:cNvSpPr txBox="1"/>
          <p:nvPr/>
        </p:nvSpPr>
        <p:spPr>
          <a:xfrm>
            <a:off x="4718304" y="3776472"/>
            <a:ext cx="1261872" cy="365760"/>
          </a:xfrm>
          <a:prstGeom prst="rect">
            <a:avLst/>
          </a:prstGeom>
          <a:noFill/>
        </p:spPr>
        <p:txBody>
          <a:bodyPr wrap="none" anchor="t" lIns="0" rIns="0" tIns="0" bIns="0">
            <a:noAutofit/>
          </a:bodyPr>
          <a:lstStyle/>
          <a:p>
            <a:pPr algn="ctr">
              <a:lnSpc>
                <a:spcPts val="1323"/>
              </a:lnSpc>
              <a:spcBef>
                <a:spcPts val="0"/>
              </a:spcBef>
              <a:spcAft>
                <a:spcPts val="0"/>
              </a:spcAft>
            </a:pPr>
            <a:r>
              <a:rPr sz="1050" b="0">
                <a:solidFill>
                  <a:srgbClr val="000000"/>
                </a:solidFill>
                <a:latin typeface="JetBrains Mono"/>
              </a:rPr>
              <a:t>Python</a:t>
            </a:r>
          </a:p>
        </p:txBody>
      </p:sp>
      <p:cxnSp>
        <p:nvCxnSpPr>
          <p:cNvPr id="65" name="Connector 64"/>
          <p:cNvCxnSpPr/>
          <p:nvPr/>
        </p:nvCxnSpPr>
        <p:spPr>
          <a:xfrm>
            <a:off x="5605272" y="3538727"/>
            <a:ext cx="80467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66" name="Gear 6 65"/>
          <p:cNvSpPr/>
          <p:nvPr/>
        </p:nvSpPr>
        <p:spPr>
          <a:xfrm>
            <a:off x="6496812" y="3364991"/>
            <a:ext cx="356616" cy="356616"/>
          </a:xfrm>
          <a:prstGeom prst="gear6">
            <a:avLst/>
          </a:prstGeom>
          <a:solidFill>
            <a:srgbClr val="E4F0D0"/>
          </a:solidFill>
          <a:ln w="11430">
            <a:solidFill>
              <a:srgbClr val="416600"/>
            </a:solidFill>
          </a:ln>
          <a:effectLst/>
        </p:spPr>
        <p:txBody>
          <a:bodyPr rtlCol="0" anchor="ctr"/>
          <a:lstStyle/>
          <a:p>
            <a:pPr algn="ctr"/>
          </a:p>
        </p:txBody>
      </p:sp>
      <p:sp>
        <p:nvSpPr>
          <p:cNvPr id="67" name="DSL"/>
          <p:cNvSpPr txBox="1"/>
          <p:nvPr/>
        </p:nvSpPr>
        <p:spPr>
          <a:xfrm>
            <a:off x="6044184" y="3776472"/>
            <a:ext cx="1261872"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416600"/>
                </a:solidFill>
                <a:latin typeface="NVIDIA Sans"/>
              </a:rPr>
              <a:t>DSL</a:t>
            </a:r>
          </a:p>
        </p:txBody>
      </p:sp>
      <p:cxnSp>
        <p:nvCxnSpPr>
          <p:cNvPr id="68" name="Connector 67"/>
          <p:cNvCxnSpPr/>
          <p:nvPr/>
        </p:nvCxnSpPr>
        <p:spPr>
          <a:xfrm>
            <a:off x="6931152" y="3538727"/>
            <a:ext cx="80467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69" name="Rectangle 68"/>
          <p:cNvSpPr/>
          <p:nvPr/>
        </p:nvSpPr>
        <p:spPr>
          <a:xfrm>
            <a:off x="7863840" y="3401568"/>
            <a:ext cx="274320" cy="274320"/>
          </a:xfrm>
          <a:prstGeom prst="rect">
            <a:avLst/>
          </a:prstGeom>
          <a:solidFill>
            <a:srgbClr val="F7F7F7"/>
          </a:solidFill>
          <a:ln w="8890">
            <a:solidFill>
              <a:srgbClr val="616161"/>
            </a:solidFill>
          </a:ln>
          <a:effectLst/>
        </p:spPr>
        <p:txBody>
          <a:bodyPr rtlCol="0" anchor="ctr"/>
          <a:lstStyle/>
          <a:p>
            <a:pPr algn="ctr"/>
          </a:p>
        </p:txBody>
      </p:sp>
      <p:cxnSp>
        <p:nvCxnSpPr>
          <p:cNvPr id="70" name="Connector 69"/>
          <p:cNvCxnSpPr/>
          <p:nvPr/>
        </p:nvCxnSpPr>
        <p:spPr>
          <a:xfrm>
            <a:off x="7927848" y="3364991"/>
            <a:ext cx="0" cy="36577"/>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7927848" y="3675887"/>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7827264" y="3465575"/>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8138160" y="3465575"/>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8001000" y="3364991"/>
            <a:ext cx="0" cy="36577"/>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8001000" y="3675887"/>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7827264" y="3538727"/>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8138160" y="3538727"/>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8074152" y="3364991"/>
            <a:ext cx="0" cy="36577"/>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8074152" y="3675887"/>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7827264" y="3611879"/>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8138160" y="3611879"/>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sp>
        <p:nvSpPr>
          <p:cNvPr id="82" name="01"/>
          <p:cNvSpPr txBox="1"/>
          <p:nvPr/>
        </p:nvSpPr>
        <p:spPr>
          <a:xfrm>
            <a:off x="7882127" y="3474720"/>
            <a:ext cx="237744" cy="182880"/>
          </a:xfrm>
          <a:prstGeom prst="rect">
            <a:avLst/>
          </a:prstGeom>
          <a:noFill/>
        </p:spPr>
        <p:txBody>
          <a:bodyPr wrap="none" anchor="t" lIns="0" rIns="0" tIns="0" bIns="0">
            <a:noAutofit/>
          </a:bodyPr>
          <a:lstStyle/>
          <a:p>
            <a:pPr algn="ctr">
              <a:lnSpc>
                <a:spcPts val="1134"/>
              </a:lnSpc>
              <a:spcBef>
                <a:spcPts val="0"/>
              </a:spcBef>
              <a:spcAft>
                <a:spcPts val="0"/>
              </a:spcAft>
            </a:pPr>
            <a:r>
              <a:rPr sz="900" b="0">
                <a:solidFill>
                  <a:srgbClr val="616161"/>
                </a:solidFill>
                <a:latin typeface="JetBrains Mono"/>
              </a:rPr>
              <a:t>01</a:t>
            </a:r>
          </a:p>
        </p:txBody>
      </p:sp>
      <p:sp>
        <p:nvSpPr>
          <p:cNvPr id="83" name="GPU"/>
          <p:cNvSpPr txBox="1"/>
          <p:nvPr/>
        </p:nvSpPr>
        <p:spPr>
          <a:xfrm>
            <a:off x="7370064" y="3776472"/>
            <a:ext cx="1261872"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000000"/>
                </a:solidFill>
                <a:latin typeface="NVIDIA Sans"/>
              </a:rPr>
              <a:t>GPU</a:t>
            </a:r>
          </a:p>
        </p:txBody>
      </p:sp>
      <p:sp>
        <p:nvSpPr>
          <p:cNvPr id="84" name="NVIDIA CuTe DSL / CUTLASS Python"/>
          <p:cNvSpPr txBox="1"/>
          <p:nvPr/>
        </p:nvSpPr>
        <p:spPr>
          <a:xfrm>
            <a:off x="4882896" y="4087368"/>
            <a:ext cx="3593592" cy="173736"/>
          </a:xfrm>
          <a:prstGeom prst="rect">
            <a:avLst/>
          </a:prstGeom>
          <a:noFill/>
        </p:spPr>
        <p:txBody>
          <a:bodyPr wrap="none" anchor="t" lIns="0" rIns="0" tIns="0" bIns="0">
            <a:noAutofit/>
          </a:bodyPr>
          <a:lstStyle/>
          <a:p>
            <a:pPr algn="ctr">
              <a:lnSpc>
                <a:spcPts val="1136"/>
              </a:lnSpc>
              <a:spcBef>
                <a:spcPts val="0"/>
              </a:spcBef>
              <a:spcAft>
                <a:spcPts val="0"/>
              </a:spcAft>
            </a:pPr>
            <a:r>
              <a:rPr sz="980" b="0" u="sng">
                <a:solidFill>
                  <a:srgbClr val="416600"/>
                </a:solidFill>
                <a:latin typeface="NVIDIA Sans"/>
                <a:hlinkClick r:id="rId3"/>
              </a:rPr>
              <a:t>NVIDIA CuTe DSL / CUTLASS Python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How do we build mlir dsl?"/>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How do we build mlir dsl?</a:t>
            </a:r>
          </a:p>
        </p:txBody>
      </p:sp>
      <p:sp>
        <p:nvSpPr>
          <p:cNvPr id="5" name="05"/>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05</a:t>
            </a:r>
          </a:p>
        </p:txBody>
      </p:sp>
      <p:sp>
        <p:nvSpPr>
          <p:cNvPr id="6" name="Motiva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Motivation</a:t>
            </a:r>
          </a:p>
        </p:txBody>
      </p:sp>
      <p:sp>
        <p:nvSpPr>
          <p:cNvPr id="7" name="01"/>
          <p:cNvSpPr txBox="1"/>
          <p:nvPr/>
        </p:nvSpPr>
        <p:spPr>
          <a:xfrm>
            <a:off x="548640" y="1472184"/>
            <a:ext cx="393192" cy="237744"/>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01</a:t>
            </a:r>
          </a:p>
        </p:txBody>
      </p:sp>
      <p:sp>
        <p:nvSpPr>
          <p:cNvPr id="8" name="Which dialects?"/>
          <p:cNvSpPr txBox="1"/>
          <p:nvPr/>
        </p:nvSpPr>
        <p:spPr>
          <a:xfrm>
            <a:off x="1133856" y="1408176"/>
            <a:ext cx="7342631" cy="411480"/>
          </a:xfrm>
          <a:prstGeom prst="rect">
            <a:avLst/>
          </a:prstGeom>
          <a:noFill/>
        </p:spPr>
        <p:txBody>
          <a:bodyPr wrap="none" anchor="t" lIns="0" rIns="0" tIns="0" bIns="0">
            <a:noAutofit/>
          </a:bodyPr>
          <a:lstStyle/>
          <a:p>
            <a:pPr algn="l">
              <a:lnSpc>
                <a:spcPts val="2320"/>
              </a:lnSpc>
              <a:spcBef>
                <a:spcPts val="0"/>
              </a:spcBef>
              <a:spcAft>
                <a:spcPts val="0"/>
              </a:spcAft>
            </a:pPr>
            <a:r>
              <a:rPr sz="2000" b="0">
                <a:solidFill>
                  <a:srgbClr val="000000"/>
                </a:solidFill>
                <a:latin typeface="NVIDIA Sans Light"/>
              </a:rPr>
              <a:t>Which dialects?</a:t>
            </a:r>
          </a:p>
        </p:txBody>
      </p:sp>
      <p:sp>
        <p:nvSpPr>
          <p:cNvPr id="9" name="Every compiler has its own IR."/>
          <p:cNvSpPr txBox="1"/>
          <p:nvPr/>
        </p:nvSpPr>
        <p:spPr>
          <a:xfrm>
            <a:off x="1143000" y="1956816"/>
            <a:ext cx="7333488" cy="320040"/>
          </a:xfrm>
          <a:prstGeom prst="rect">
            <a:avLst/>
          </a:prstGeom>
          <a:noFill/>
        </p:spPr>
        <p:txBody>
          <a:bodyPr wrap="none" anchor="t" lIns="0" rIns="0" tIns="0" bIns="0">
            <a:noAutofit/>
          </a:bodyPr>
          <a:lstStyle/>
          <a:p>
            <a:pPr algn="l">
              <a:lnSpc>
                <a:spcPts val="1565"/>
              </a:lnSpc>
              <a:spcBef>
                <a:spcPts val="0"/>
              </a:spcBef>
              <a:spcAft>
                <a:spcPts val="0"/>
              </a:spcAft>
            </a:pPr>
            <a:r>
              <a:rPr sz="1350" b="0">
                <a:solidFill>
                  <a:srgbClr val="616161"/>
                </a:solidFill>
                <a:latin typeface="NVIDIA Sans"/>
              </a:rPr>
              <a:t>Every compiler has its own IR.</a:t>
            </a:r>
          </a:p>
        </p:txBody>
      </p:sp>
      <p:sp>
        <p:nvSpPr>
          <p:cNvPr id="10" name="02"/>
          <p:cNvSpPr txBox="1"/>
          <p:nvPr/>
        </p:nvSpPr>
        <p:spPr>
          <a:xfrm>
            <a:off x="548640" y="2423160"/>
            <a:ext cx="393192" cy="237744"/>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02</a:t>
            </a:r>
          </a:p>
        </p:txBody>
      </p:sp>
      <p:sp>
        <p:nvSpPr>
          <p:cNvPr id="11" name="Which control flow?"/>
          <p:cNvSpPr txBox="1"/>
          <p:nvPr/>
        </p:nvSpPr>
        <p:spPr>
          <a:xfrm>
            <a:off x="1133856" y="2359152"/>
            <a:ext cx="7342631" cy="411480"/>
          </a:xfrm>
          <a:prstGeom prst="rect">
            <a:avLst/>
          </a:prstGeom>
          <a:noFill/>
        </p:spPr>
        <p:txBody>
          <a:bodyPr wrap="none" anchor="t" lIns="0" rIns="0" tIns="0" bIns="0">
            <a:noAutofit/>
          </a:bodyPr>
          <a:lstStyle/>
          <a:p>
            <a:pPr algn="l">
              <a:lnSpc>
                <a:spcPts val="2320"/>
              </a:lnSpc>
              <a:spcBef>
                <a:spcPts val="0"/>
              </a:spcBef>
              <a:spcAft>
                <a:spcPts val="0"/>
              </a:spcAft>
            </a:pPr>
            <a:r>
              <a:rPr sz="2000" b="0">
                <a:solidFill>
                  <a:srgbClr val="000000"/>
                </a:solidFill>
                <a:latin typeface="NVIDIA Sans Light"/>
              </a:rPr>
              <a:t>Which control flow?</a:t>
            </a:r>
          </a:p>
        </p:txBody>
      </p:sp>
      <p:sp>
        <p:nvSpPr>
          <p:cNvPr id="12" name="Different targets need different rules."/>
          <p:cNvSpPr txBox="1"/>
          <p:nvPr/>
        </p:nvSpPr>
        <p:spPr>
          <a:xfrm>
            <a:off x="1143000" y="2907792"/>
            <a:ext cx="7333488" cy="320040"/>
          </a:xfrm>
          <a:prstGeom prst="rect">
            <a:avLst/>
          </a:prstGeom>
          <a:noFill/>
        </p:spPr>
        <p:txBody>
          <a:bodyPr wrap="none" anchor="t" lIns="0" rIns="0" tIns="0" bIns="0">
            <a:noAutofit/>
          </a:bodyPr>
          <a:lstStyle/>
          <a:p>
            <a:pPr algn="l">
              <a:lnSpc>
                <a:spcPts val="1565"/>
              </a:lnSpc>
              <a:spcBef>
                <a:spcPts val="0"/>
              </a:spcBef>
              <a:spcAft>
                <a:spcPts val="0"/>
              </a:spcAft>
            </a:pPr>
            <a:r>
              <a:rPr sz="1350" b="0">
                <a:solidFill>
                  <a:srgbClr val="616161"/>
                </a:solidFill>
                <a:latin typeface="NVIDIA Sans"/>
              </a:rPr>
              <a:t>Different targets need different rules.</a:t>
            </a:r>
          </a:p>
        </p:txBody>
      </p:sp>
      <p:sp>
        <p:nvSpPr>
          <p:cNvPr id="13" name="03"/>
          <p:cNvSpPr txBox="1"/>
          <p:nvPr/>
        </p:nvSpPr>
        <p:spPr>
          <a:xfrm>
            <a:off x="548640" y="3374136"/>
            <a:ext cx="393192" cy="237744"/>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03</a:t>
            </a:r>
          </a:p>
        </p:txBody>
      </p:sp>
      <p:sp>
        <p:nvSpPr>
          <p:cNvPr id="14" name="Generate IR—or execute?"/>
          <p:cNvSpPr txBox="1"/>
          <p:nvPr/>
        </p:nvSpPr>
        <p:spPr>
          <a:xfrm>
            <a:off x="1133856" y="3310128"/>
            <a:ext cx="7342631" cy="411480"/>
          </a:xfrm>
          <a:prstGeom prst="rect">
            <a:avLst/>
          </a:prstGeom>
          <a:noFill/>
        </p:spPr>
        <p:txBody>
          <a:bodyPr wrap="none" anchor="t" lIns="0" rIns="0" tIns="0" bIns="0">
            <a:noAutofit/>
          </a:bodyPr>
          <a:lstStyle/>
          <a:p>
            <a:pPr algn="l">
              <a:lnSpc>
                <a:spcPts val="2320"/>
              </a:lnSpc>
              <a:spcBef>
                <a:spcPts val="0"/>
              </a:spcBef>
              <a:spcAft>
                <a:spcPts val="0"/>
              </a:spcAft>
            </a:pPr>
            <a:r>
              <a:rPr sz="2000" b="0">
                <a:solidFill>
                  <a:srgbClr val="000000"/>
                </a:solidFill>
                <a:latin typeface="NVIDIA Sans Light"/>
              </a:rPr>
              <a:t>Generate IR—or execute?</a:t>
            </a:r>
          </a:p>
        </p:txBody>
      </p:sp>
      <p:sp>
        <p:nvSpPr>
          <p:cNvPr id="15" name="There is no single end-to-end pipeline."/>
          <p:cNvSpPr txBox="1"/>
          <p:nvPr/>
        </p:nvSpPr>
        <p:spPr>
          <a:xfrm>
            <a:off x="1143000" y="3858768"/>
            <a:ext cx="7333488" cy="320040"/>
          </a:xfrm>
          <a:prstGeom prst="rect">
            <a:avLst/>
          </a:prstGeom>
          <a:noFill/>
        </p:spPr>
        <p:txBody>
          <a:bodyPr wrap="none" anchor="t" lIns="0" rIns="0" tIns="0" bIns="0">
            <a:noAutofit/>
          </a:bodyPr>
          <a:lstStyle/>
          <a:p>
            <a:pPr algn="l">
              <a:lnSpc>
                <a:spcPts val="1565"/>
              </a:lnSpc>
              <a:spcBef>
                <a:spcPts val="0"/>
              </a:spcBef>
              <a:spcAft>
                <a:spcPts val="0"/>
              </a:spcAft>
            </a:pPr>
            <a:r>
              <a:rPr sz="1350" b="0">
                <a:solidFill>
                  <a:srgbClr val="616161"/>
                </a:solidFill>
                <a:latin typeface="NVIDIA Sans"/>
              </a:rPr>
              <a:t>There is no single end-to-end pipeline.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Share the core service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Share the core services</a:t>
            </a:r>
          </a:p>
        </p:txBody>
      </p:sp>
      <p:sp>
        <p:nvSpPr>
          <p:cNvPr id="5" name="06"/>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06</a:t>
            </a:r>
          </a:p>
        </p:txBody>
      </p:sp>
      <p:sp>
        <p:nvSpPr>
          <p:cNvPr id="6" name="Introduc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Introduction</a:t>
            </a:r>
          </a:p>
        </p:txBody>
      </p:sp>
      <p:sp>
        <p:nvSpPr>
          <p:cNvPr id="7" name="Rectangle 6"/>
          <p:cNvSpPr/>
          <p:nvPr/>
        </p:nvSpPr>
        <p:spPr>
          <a:xfrm>
            <a:off x="484632" y="1435608"/>
            <a:ext cx="3968496" cy="1088136"/>
          </a:xfrm>
          <a:prstGeom prst="rect">
            <a:avLst/>
          </a:prstGeom>
          <a:solidFill>
            <a:srgbClr val="F0F6E6"/>
          </a:solidFill>
          <a:ln>
            <a:noFill/>
          </a:ln>
          <a:effectLst/>
        </p:spPr>
        <p:txBody>
          <a:bodyPr rtlCol="0" anchor="ctr"/>
          <a:lstStyle/>
          <a:p>
            <a:pPr algn="ctr"/>
          </a:p>
        </p:txBody>
      </p:sp>
      <p:sp>
        <p:nvSpPr>
          <p:cNvPr id="8" name="Tracing"/>
          <p:cNvSpPr txBox="1"/>
          <p:nvPr/>
        </p:nvSpPr>
        <p:spPr>
          <a:xfrm>
            <a:off x="704088" y="1636776"/>
            <a:ext cx="3529584" cy="365760"/>
          </a:xfrm>
          <a:prstGeom prst="rect">
            <a:avLst/>
          </a:prstGeom>
          <a:noFill/>
        </p:spPr>
        <p:txBody>
          <a:bodyPr wrap="none" anchor="t" lIns="0" rIns="0" tIns="0" bIns="0">
            <a:noAutofit/>
          </a:bodyPr>
          <a:lstStyle/>
          <a:p>
            <a:pPr algn="l">
              <a:lnSpc>
                <a:spcPts val="2552"/>
              </a:lnSpc>
              <a:spcBef>
                <a:spcPts val="0"/>
              </a:spcBef>
              <a:spcAft>
                <a:spcPts val="0"/>
              </a:spcAft>
            </a:pPr>
            <a:r>
              <a:rPr sz="2200" b="1">
                <a:solidFill>
                  <a:srgbClr val="416600"/>
                </a:solidFill>
                <a:latin typeface="NVIDIA Sans"/>
              </a:rPr>
              <a:t>Tracing</a:t>
            </a:r>
          </a:p>
        </p:txBody>
      </p:sp>
      <p:sp>
        <p:nvSpPr>
          <p:cNvPr id="9" name="Run Python. Capture operations."/>
          <p:cNvSpPr txBox="1"/>
          <p:nvPr/>
        </p:nvSpPr>
        <p:spPr>
          <a:xfrm>
            <a:off x="713232" y="2139696"/>
            <a:ext cx="3511296" cy="274320"/>
          </a:xfrm>
          <a:prstGeom prst="rect">
            <a:avLst/>
          </a:prstGeom>
          <a:noFill/>
        </p:spPr>
        <p:txBody>
          <a:bodyPr wrap="none" anchor="t" lIns="0" rIns="0" tIns="0" bIns="0">
            <a:noAutofit/>
          </a:bodyPr>
          <a:lstStyle/>
          <a:p>
            <a:pPr algn="l">
              <a:lnSpc>
                <a:spcPts val="1623"/>
              </a:lnSpc>
              <a:spcBef>
                <a:spcPts val="0"/>
              </a:spcBef>
              <a:spcAft>
                <a:spcPts val="0"/>
              </a:spcAft>
            </a:pPr>
            <a:r>
              <a:rPr sz="1400" b="0">
                <a:solidFill>
                  <a:srgbClr val="616161"/>
                </a:solidFill>
                <a:latin typeface="NVIDIA Sans"/>
              </a:rPr>
              <a:t>Run Python. Capture operations.</a:t>
            </a:r>
          </a:p>
        </p:txBody>
      </p:sp>
      <p:sp>
        <p:nvSpPr>
          <p:cNvPr id="10" name="Rectangle 9"/>
          <p:cNvSpPr/>
          <p:nvPr/>
        </p:nvSpPr>
        <p:spPr>
          <a:xfrm>
            <a:off x="4690872" y="1435608"/>
            <a:ext cx="3968496" cy="1088136"/>
          </a:xfrm>
          <a:prstGeom prst="rect">
            <a:avLst/>
          </a:prstGeom>
          <a:solidFill>
            <a:srgbClr val="F0F6E6"/>
          </a:solidFill>
          <a:ln>
            <a:noFill/>
          </a:ln>
          <a:effectLst/>
        </p:spPr>
        <p:txBody>
          <a:bodyPr rtlCol="0" anchor="ctr"/>
          <a:lstStyle/>
          <a:p>
            <a:pPr algn="ctr"/>
          </a:p>
        </p:txBody>
      </p:sp>
      <p:sp>
        <p:nvSpPr>
          <p:cNvPr id="11" name="Type inference"/>
          <p:cNvSpPr txBox="1"/>
          <p:nvPr/>
        </p:nvSpPr>
        <p:spPr>
          <a:xfrm>
            <a:off x="4910328" y="1636776"/>
            <a:ext cx="3529584" cy="365760"/>
          </a:xfrm>
          <a:prstGeom prst="rect">
            <a:avLst/>
          </a:prstGeom>
          <a:noFill/>
        </p:spPr>
        <p:txBody>
          <a:bodyPr wrap="none" anchor="t" lIns="0" rIns="0" tIns="0" bIns="0">
            <a:noAutofit/>
          </a:bodyPr>
          <a:lstStyle/>
          <a:p>
            <a:pPr algn="l">
              <a:lnSpc>
                <a:spcPts val="2552"/>
              </a:lnSpc>
              <a:spcBef>
                <a:spcPts val="0"/>
              </a:spcBef>
              <a:spcAft>
                <a:spcPts val="0"/>
              </a:spcAft>
            </a:pPr>
            <a:r>
              <a:rPr sz="2200" b="1">
                <a:solidFill>
                  <a:srgbClr val="416600"/>
                </a:solidFill>
                <a:latin typeface="NVIDIA Sans"/>
              </a:rPr>
              <a:t>Type inference</a:t>
            </a:r>
          </a:p>
        </p:txBody>
      </p:sp>
      <p:sp>
        <p:nvSpPr>
          <p:cNvPr id="12" name="Promotion + casts"/>
          <p:cNvSpPr txBox="1"/>
          <p:nvPr/>
        </p:nvSpPr>
        <p:spPr>
          <a:xfrm>
            <a:off x="4919472" y="2139696"/>
            <a:ext cx="3511296" cy="274320"/>
          </a:xfrm>
          <a:prstGeom prst="rect">
            <a:avLst/>
          </a:prstGeom>
          <a:noFill/>
        </p:spPr>
        <p:txBody>
          <a:bodyPr wrap="none" anchor="t" lIns="0" rIns="0" tIns="0" bIns="0">
            <a:noAutofit/>
          </a:bodyPr>
          <a:lstStyle/>
          <a:p>
            <a:pPr algn="l">
              <a:lnSpc>
                <a:spcPts val="1623"/>
              </a:lnSpc>
              <a:spcBef>
                <a:spcPts val="0"/>
              </a:spcBef>
              <a:spcAft>
                <a:spcPts val="0"/>
              </a:spcAft>
            </a:pPr>
            <a:r>
              <a:rPr sz="1400" b="0">
                <a:solidFill>
                  <a:srgbClr val="616161"/>
                </a:solidFill>
                <a:latin typeface="NVIDIA Sans"/>
              </a:rPr>
              <a:t>Promotion + casts</a:t>
            </a:r>
          </a:p>
        </p:txBody>
      </p:sp>
      <p:sp>
        <p:nvSpPr>
          <p:cNvPr id="13" name="Rectangle 12"/>
          <p:cNvSpPr/>
          <p:nvPr/>
        </p:nvSpPr>
        <p:spPr>
          <a:xfrm>
            <a:off x="484632" y="2779776"/>
            <a:ext cx="3968496" cy="1088136"/>
          </a:xfrm>
          <a:prstGeom prst="rect">
            <a:avLst/>
          </a:prstGeom>
          <a:solidFill>
            <a:srgbClr val="F0F6E6"/>
          </a:solidFill>
          <a:ln>
            <a:noFill/>
          </a:ln>
          <a:effectLst/>
        </p:spPr>
        <p:txBody>
          <a:bodyPr rtlCol="0" anchor="ctr"/>
          <a:lstStyle/>
          <a:p>
            <a:pPr algn="ctr"/>
          </a:p>
        </p:txBody>
      </p:sp>
      <p:sp>
        <p:nvSpPr>
          <p:cNvPr id="14" name="Diagnostics"/>
          <p:cNvSpPr txBox="1"/>
          <p:nvPr/>
        </p:nvSpPr>
        <p:spPr>
          <a:xfrm>
            <a:off x="704088" y="2980944"/>
            <a:ext cx="3529584" cy="365760"/>
          </a:xfrm>
          <a:prstGeom prst="rect">
            <a:avLst/>
          </a:prstGeom>
          <a:noFill/>
        </p:spPr>
        <p:txBody>
          <a:bodyPr wrap="none" anchor="t" lIns="0" rIns="0" tIns="0" bIns="0">
            <a:noAutofit/>
          </a:bodyPr>
          <a:lstStyle/>
          <a:p>
            <a:pPr algn="l">
              <a:lnSpc>
                <a:spcPts val="2552"/>
              </a:lnSpc>
              <a:spcBef>
                <a:spcPts val="0"/>
              </a:spcBef>
              <a:spcAft>
                <a:spcPts val="0"/>
              </a:spcAft>
            </a:pPr>
            <a:r>
              <a:rPr sz="2200" b="1">
                <a:solidFill>
                  <a:srgbClr val="416600"/>
                </a:solidFill>
                <a:latin typeface="NVIDIA Sans"/>
              </a:rPr>
              <a:t>Diagnostics</a:t>
            </a:r>
          </a:p>
        </p:txBody>
      </p:sp>
      <p:sp>
        <p:nvSpPr>
          <p:cNvPr id="15" name="Source locations + clear errors"/>
          <p:cNvSpPr txBox="1"/>
          <p:nvPr/>
        </p:nvSpPr>
        <p:spPr>
          <a:xfrm>
            <a:off x="713232" y="3483864"/>
            <a:ext cx="3511296" cy="274320"/>
          </a:xfrm>
          <a:prstGeom prst="rect">
            <a:avLst/>
          </a:prstGeom>
          <a:noFill/>
        </p:spPr>
        <p:txBody>
          <a:bodyPr wrap="none" anchor="t" lIns="0" rIns="0" tIns="0" bIns="0">
            <a:noAutofit/>
          </a:bodyPr>
          <a:lstStyle/>
          <a:p>
            <a:pPr algn="l">
              <a:lnSpc>
                <a:spcPts val="1623"/>
              </a:lnSpc>
              <a:spcBef>
                <a:spcPts val="0"/>
              </a:spcBef>
              <a:spcAft>
                <a:spcPts val="0"/>
              </a:spcAft>
            </a:pPr>
            <a:r>
              <a:rPr sz="1400" b="0">
                <a:solidFill>
                  <a:srgbClr val="616161"/>
                </a:solidFill>
                <a:latin typeface="NVIDIA Sans"/>
              </a:rPr>
              <a:t>Source locations + clear errors</a:t>
            </a:r>
          </a:p>
        </p:txBody>
      </p:sp>
      <p:sp>
        <p:nvSpPr>
          <p:cNvPr id="16" name="Rectangle 15"/>
          <p:cNvSpPr/>
          <p:nvPr/>
        </p:nvSpPr>
        <p:spPr>
          <a:xfrm>
            <a:off x="4690872" y="2779776"/>
            <a:ext cx="3968496" cy="1088136"/>
          </a:xfrm>
          <a:prstGeom prst="rect">
            <a:avLst/>
          </a:prstGeom>
          <a:solidFill>
            <a:srgbClr val="F0F6E6"/>
          </a:solidFill>
          <a:ln>
            <a:noFill/>
          </a:ln>
          <a:effectLst/>
        </p:spPr>
        <p:txBody>
          <a:bodyPr rtlCol="0" anchor="ctr"/>
          <a:lstStyle/>
          <a:p>
            <a:pPr algn="ctr"/>
          </a:p>
        </p:txBody>
      </p:sp>
      <p:sp>
        <p:nvSpPr>
          <p:cNvPr id="17" name="Cache"/>
          <p:cNvSpPr txBox="1"/>
          <p:nvPr/>
        </p:nvSpPr>
        <p:spPr>
          <a:xfrm>
            <a:off x="4910328" y="2980944"/>
            <a:ext cx="3529584" cy="365760"/>
          </a:xfrm>
          <a:prstGeom prst="rect">
            <a:avLst/>
          </a:prstGeom>
          <a:noFill/>
        </p:spPr>
        <p:txBody>
          <a:bodyPr wrap="none" anchor="t" lIns="0" rIns="0" tIns="0" bIns="0">
            <a:noAutofit/>
          </a:bodyPr>
          <a:lstStyle/>
          <a:p>
            <a:pPr algn="l">
              <a:lnSpc>
                <a:spcPts val="2552"/>
              </a:lnSpc>
              <a:spcBef>
                <a:spcPts val="0"/>
              </a:spcBef>
              <a:spcAft>
                <a:spcPts val="0"/>
              </a:spcAft>
            </a:pPr>
            <a:r>
              <a:rPr sz="2200" b="1">
                <a:solidFill>
                  <a:srgbClr val="416600"/>
                </a:solidFill>
                <a:latin typeface="NVIDIA Sans"/>
              </a:rPr>
              <a:t>Cache</a:t>
            </a:r>
          </a:p>
        </p:txBody>
      </p:sp>
      <p:sp>
        <p:nvSpPr>
          <p:cNvPr id="18" name="Memory + disk"/>
          <p:cNvSpPr txBox="1"/>
          <p:nvPr/>
        </p:nvSpPr>
        <p:spPr>
          <a:xfrm>
            <a:off x="4919472" y="3483864"/>
            <a:ext cx="3511296" cy="274320"/>
          </a:xfrm>
          <a:prstGeom prst="rect">
            <a:avLst/>
          </a:prstGeom>
          <a:noFill/>
        </p:spPr>
        <p:txBody>
          <a:bodyPr wrap="none" anchor="t" lIns="0" rIns="0" tIns="0" bIns="0">
            <a:noAutofit/>
          </a:bodyPr>
          <a:lstStyle/>
          <a:p>
            <a:pPr algn="l">
              <a:lnSpc>
                <a:spcPts val="1623"/>
              </a:lnSpc>
              <a:spcBef>
                <a:spcPts val="0"/>
              </a:spcBef>
              <a:spcAft>
                <a:spcPts val="0"/>
              </a:spcAft>
            </a:pPr>
            <a:r>
              <a:rPr sz="1400" b="0">
                <a:solidFill>
                  <a:srgbClr val="616161"/>
                </a:solidFill>
                <a:latin typeface="NVIDIA Sans"/>
              </a:rPr>
              <a:t>Memory + disk</a:t>
            </a:r>
          </a:p>
        </p:txBody>
      </p:sp>
      <p:sp>
        <p:nvSpPr>
          <p:cNvPr id="19" name="Core services only. No default dialect or compiler."/>
          <p:cNvSpPr txBox="1"/>
          <p:nvPr/>
        </p:nvSpPr>
        <p:spPr>
          <a:xfrm>
            <a:off x="539496" y="4261104"/>
            <a:ext cx="8037575" cy="301752"/>
          </a:xfrm>
          <a:prstGeom prst="rect">
            <a:avLst/>
          </a:prstGeom>
          <a:noFill/>
        </p:spPr>
        <p:txBody>
          <a:bodyPr wrap="none" anchor="t" lIns="0" rIns="0" tIns="0" bIns="0">
            <a:noAutofit/>
          </a:bodyPr>
          <a:lstStyle/>
          <a:p>
            <a:pPr algn="l">
              <a:lnSpc>
                <a:spcPts val="1682"/>
              </a:lnSpc>
              <a:spcBef>
                <a:spcPts val="0"/>
              </a:spcBef>
              <a:spcAft>
                <a:spcPts val="0"/>
              </a:spcAft>
            </a:pPr>
            <a:r>
              <a:rPr sz="1450" b="0">
                <a:solidFill>
                  <a:srgbClr val="616161"/>
                </a:solidFill>
                <a:latin typeface="NVIDIA Sans"/>
              </a:rPr>
              <a:t>Core services only. No default dialect or compiler.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What is a plugin?"/>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What is a plugin?</a:t>
            </a:r>
          </a:p>
        </p:txBody>
      </p:sp>
      <p:sp>
        <p:nvSpPr>
          <p:cNvPr id="5" name="07"/>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07</a:t>
            </a:r>
          </a:p>
        </p:txBody>
      </p:sp>
      <p:sp>
        <p:nvSpPr>
          <p:cNvPr id="6" name="Architectu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Architecture</a:t>
            </a:r>
          </a:p>
        </p:txBody>
      </p:sp>
      <p:sp>
        <p:nvSpPr>
          <p:cNvPr id="7" name="A replaceable implementation of part of your DSL."/>
          <p:cNvSpPr txBox="1"/>
          <p:nvPr/>
        </p:nvSpPr>
        <p:spPr>
          <a:xfrm>
            <a:off x="539496" y="1179576"/>
            <a:ext cx="8046720" cy="365760"/>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000000"/>
                </a:solidFill>
                <a:latin typeface="NVIDIA Sans"/>
              </a:rPr>
              <a:t>A replaceable implementation of part of your DSL.</a:t>
            </a:r>
          </a:p>
        </p:txBody>
      </p:sp>
      <p:sp>
        <p:nvSpPr>
          <p:cNvPr id="8" name="a + b"/>
          <p:cNvSpPr txBox="1"/>
          <p:nvPr/>
        </p:nvSpPr>
        <p:spPr>
          <a:xfrm>
            <a:off x="566928" y="2496312"/>
            <a:ext cx="1819656" cy="502920"/>
          </a:xfrm>
          <a:prstGeom prst="rect">
            <a:avLst/>
          </a:prstGeom>
          <a:noFill/>
        </p:spPr>
        <p:txBody>
          <a:bodyPr wrap="none" anchor="t" lIns="0" rIns="0" tIns="0" bIns="0">
            <a:noAutofit/>
          </a:bodyPr>
          <a:lstStyle/>
          <a:p>
            <a:pPr algn="ctr">
              <a:lnSpc>
                <a:spcPts val="3528"/>
              </a:lnSpc>
              <a:spcBef>
                <a:spcPts val="0"/>
              </a:spcBef>
              <a:spcAft>
                <a:spcPts val="0"/>
              </a:spcAft>
            </a:pPr>
            <a:r>
              <a:rPr sz="2800" b="0">
                <a:solidFill>
                  <a:srgbClr val="484848"/>
                </a:solidFill>
                <a:latin typeface="JetBrains Mono"/>
              </a:rPr>
              <a:t>a + b</a:t>
            </a:r>
          </a:p>
        </p:txBody>
      </p:sp>
      <p:sp>
        <p:nvSpPr>
          <p:cNvPr id="9" name="Staged integers"/>
          <p:cNvSpPr txBox="1"/>
          <p:nvPr/>
        </p:nvSpPr>
        <p:spPr>
          <a:xfrm>
            <a:off x="585216" y="3099816"/>
            <a:ext cx="1783080" cy="246888"/>
          </a:xfrm>
          <a:prstGeom prst="rect">
            <a:avLst/>
          </a:prstGeom>
          <a:noFill/>
        </p:spPr>
        <p:txBody>
          <a:bodyPr wrap="none" anchor="t" lIns="0" rIns="0" tIns="0" bIns="0">
            <a:noAutofit/>
          </a:bodyPr>
          <a:lstStyle/>
          <a:p>
            <a:pPr algn="ctr">
              <a:lnSpc>
                <a:spcPts val="1426"/>
              </a:lnSpc>
              <a:spcBef>
                <a:spcPts val="0"/>
              </a:spcBef>
              <a:spcAft>
                <a:spcPts val="0"/>
              </a:spcAft>
            </a:pPr>
            <a:r>
              <a:rPr sz="1230" b="0">
                <a:solidFill>
                  <a:srgbClr val="616161"/>
                </a:solidFill>
                <a:latin typeface="NVIDIA Sans"/>
              </a:rPr>
              <a:t>Staged integers</a:t>
            </a:r>
          </a:p>
        </p:txBody>
      </p:sp>
      <p:cxnSp>
        <p:nvCxnSpPr>
          <p:cNvPr id="10" name="Connector 9"/>
          <p:cNvCxnSpPr/>
          <p:nvPr/>
        </p:nvCxnSpPr>
        <p:spPr>
          <a:xfrm>
            <a:off x="2478024" y="2743200"/>
            <a:ext cx="384048"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2862072" y="2194560"/>
            <a:ext cx="0" cy="54864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862072" y="2194560"/>
            <a:ext cx="39319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3319272" y="1883664"/>
            <a:ext cx="2670048" cy="621792"/>
          </a:xfrm>
          <a:prstGeom prst="rect">
            <a:avLst/>
          </a:prstGeom>
          <a:solidFill>
            <a:srgbClr val="F0F6E6"/>
          </a:solidFill>
          <a:ln>
            <a:noFill/>
          </a:ln>
          <a:effectLst/>
        </p:spPr>
        <p:txBody>
          <a:bodyPr rtlCol="0" anchor="ctr"/>
          <a:lstStyle/>
          <a:p>
            <a:pPr algn="ctr"/>
          </a:p>
        </p:txBody>
      </p:sp>
      <p:sp>
        <p:nvSpPr>
          <p:cNvPr id="14" name="Arith type operations"/>
          <p:cNvSpPr txBox="1"/>
          <p:nvPr/>
        </p:nvSpPr>
        <p:spPr>
          <a:xfrm>
            <a:off x="3447288" y="2066544"/>
            <a:ext cx="2414016" cy="320040"/>
          </a:xfrm>
          <a:prstGeom prst="rect">
            <a:avLst/>
          </a:prstGeom>
          <a:noFill/>
        </p:spPr>
        <p:txBody>
          <a:bodyPr wrap="none" anchor="t" lIns="0" rIns="0" tIns="0" bIns="0">
            <a:noAutofit/>
          </a:bodyPr>
          <a:lstStyle/>
          <a:p>
            <a:pPr algn="ctr">
              <a:lnSpc>
                <a:spcPts val="1913"/>
              </a:lnSpc>
              <a:spcBef>
                <a:spcPts val="0"/>
              </a:spcBef>
              <a:spcAft>
                <a:spcPts val="0"/>
              </a:spcAft>
            </a:pPr>
            <a:r>
              <a:rPr sz="1650" b="1">
                <a:solidFill>
                  <a:srgbClr val="416600"/>
                </a:solidFill>
                <a:latin typeface="NVIDIA Sans"/>
              </a:rPr>
              <a:t>Arith type operations</a:t>
            </a:r>
          </a:p>
        </p:txBody>
      </p:sp>
      <p:cxnSp>
        <p:nvCxnSpPr>
          <p:cNvPr id="15" name="Connector 14"/>
          <p:cNvCxnSpPr/>
          <p:nvPr/>
        </p:nvCxnSpPr>
        <p:spPr>
          <a:xfrm>
            <a:off x="6062472" y="2194560"/>
            <a:ext cx="411480"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6" name="arith.addi"/>
          <p:cNvSpPr txBox="1"/>
          <p:nvPr/>
        </p:nvSpPr>
        <p:spPr>
          <a:xfrm>
            <a:off x="6620256" y="2020824"/>
            <a:ext cx="2011680" cy="420624"/>
          </a:xfrm>
          <a:prstGeom prst="rect">
            <a:avLst/>
          </a:prstGeom>
          <a:noFill/>
        </p:spPr>
        <p:txBody>
          <a:bodyPr wrap="none" anchor="t" lIns="0" rIns="0" tIns="0" bIns="0">
            <a:noAutofit/>
          </a:bodyPr>
          <a:lstStyle/>
          <a:p>
            <a:pPr algn="ctr">
              <a:lnSpc>
                <a:spcPts val="2646"/>
              </a:lnSpc>
              <a:spcBef>
                <a:spcPts val="0"/>
              </a:spcBef>
              <a:spcAft>
                <a:spcPts val="0"/>
              </a:spcAft>
            </a:pPr>
            <a:r>
              <a:rPr sz="2100" b="0">
                <a:solidFill>
                  <a:srgbClr val="416600"/>
                </a:solidFill>
                <a:latin typeface="JetBrains Mono"/>
              </a:rPr>
              <a:t>arith.addi</a:t>
            </a:r>
          </a:p>
        </p:txBody>
      </p:sp>
      <p:cxnSp>
        <p:nvCxnSpPr>
          <p:cNvPr id="17" name="Connector 16"/>
          <p:cNvCxnSpPr/>
          <p:nvPr/>
        </p:nvCxnSpPr>
        <p:spPr>
          <a:xfrm>
            <a:off x="2862072" y="2743200"/>
            <a:ext cx="0" cy="649224"/>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2862072" y="3392424"/>
            <a:ext cx="39319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3319272" y="3081528"/>
            <a:ext cx="2670048" cy="621792"/>
          </a:xfrm>
          <a:prstGeom prst="rect">
            <a:avLst/>
          </a:prstGeom>
          <a:solidFill>
            <a:srgbClr val="F0F6E6"/>
          </a:solidFill>
          <a:ln>
            <a:noFill/>
          </a:ln>
          <a:effectLst/>
        </p:spPr>
        <p:txBody>
          <a:bodyPr rtlCol="0" anchor="ctr"/>
          <a:lstStyle/>
          <a:p>
            <a:pPr algn="ctr"/>
          </a:p>
        </p:txBody>
      </p:sp>
      <p:sp>
        <p:nvSpPr>
          <p:cNvPr id="20" name="Your type operations"/>
          <p:cNvSpPr txBox="1"/>
          <p:nvPr/>
        </p:nvSpPr>
        <p:spPr>
          <a:xfrm>
            <a:off x="3447288" y="3264408"/>
            <a:ext cx="2414016" cy="320040"/>
          </a:xfrm>
          <a:prstGeom prst="rect">
            <a:avLst/>
          </a:prstGeom>
          <a:noFill/>
        </p:spPr>
        <p:txBody>
          <a:bodyPr wrap="none" anchor="t" lIns="0" rIns="0" tIns="0" bIns="0">
            <a:noAutofit/>
          </a:bodyPr>
          <a:lstStyle/>
          <a:p>
            <a:pPr algn="ctr">
              <a:lnSpc>
                <a:spcPts val="1913"/>
              </a:lnSpc>
              <a:spcBef>
                <a:spcPts val="0"/>
              </a:spcBef>
              <a:spcAft>
                <a:spcPts val="0"/>
              </a:spcAft>
            </a:pPr>
            <a:r>
              <a:rPr sz="1650" b="1">
                <a:solidFill>
                  <a:srgbClr val="416600"/>
                </a:solidFill>
                <a:latin typeface="NVIDIA Sans"/>
              </a:rPr>
              <a:t>Your type operations</a:t>
            </a:r>
          </a:p>
        </p:txBody>
      </p:sp>
      <p:cxnSp>
        <p:nvCxnSpPr>
          <p:cNvPr id="21" name="Connector 20"/>
          <p:cNvCxnSpPr/>
          <p:nvPr/>
        </p:nvCxnSpPr>
        <p:spPr>
          <a:xfrm>
            <a:off x="6062472" y="3392424"/>
            <a:ext cx="411480"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22" name="your.add"/>
          <p:cNvSpPr txBox="1"/>
          <p:nvPr/>
        </p:nvSpPr>
        <p:spPr>
          <a:xfrm>
            <a:off x="6620256" y="3218688"/>
            <a:ext cx="2011680" cy="420624"/>
          </a:xfrm>
          <a:prstGeom prst="rect">
            <a:avLst/>
          </a:prstGeom>
          <a:noFill/>
        </p:spPr>
        <p:txBody>
          <a:bodyPr wrap="none" anchor="t" lIns="0" rIns="0" tIns="0" bIns="0">
            <a:noAutofit/>
          </a:bodyPr>
          <a:lstStyle/>
          <a:p>
            <a:pPr algn="ctr">
              <a:lnSpc>
                <a:spcPts val="2646"/>
              </a:lnSpc>
              <a:spcBef>
                <a:spcPts val="0"/>
              </a:spcBef>
              <a:spcAft>
                <a:spcPts val="0"/>
              </a:spcAft>
            </a:pPr>
            <a:r>
              <a:rPr sz="2100" b="0">
                <a:solidFill>
                  <a:srgbClr val="416600"/>
                </a:solidFill>
                <a:latin typeface="JetBrains Mono"/>
              </a:rPr>
              <a:t>your.add</a:t>
            </a:r>
          </a:p>
        </p:txBody>
      </p:sp>
      <p:sp>
        <p:nvSpPr>
          <p:cNvPr id="23" name="Same Python expression. Your DSL chooses the emitted IR."/>
          <p:cNvSpPr txBox="1"/>
          <p:nvPr/>
        </p:nvSpPr>
        <p:spPr>
          <a:xfrm>
            <a:off x="539496" y="4242816"/>
            <a:ext cx="8065008" cy="310896"/>
          </a:xfrm>
          <a:prstGeom prst="rect">
            <a:avLst/>
          </a:prstGeom>
          <a:noFill/>
        </p:spPr>
        <p:txBody>
          <a:bodyPr wrap="none" anchor="t" lIns="0" rIns="0" tIns="0" bIns="0">
            <a:noAutofit/>
          </a:bodyPr>
          <a:lstStyle/>
          <a:p>
            <a:pPr algn="l">
              <a:lnSpc>
                <a:spcPts val="1682"/>
              </a:lnSpc>
              <a:spcBef>
                <a:spcPts val="0"/>
              </a:spcBef>
              <a:spcAft>
                <a:spcPts val="0"/>
              </a:spcAft>
            </a:pPr>
            <a:r>
              <a:rPr sz="1450" b="0">
                <a:solidFill>
                  <a:srgbClr val="616161"/>
                </a:solidFill>
                <a:latin typeface="NVIDIA Sans"/>
              </a:rPr>
              <a:t>Same Python expression. Your DSL chooses the emitted IR.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Compose the DSL you need"/>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Compose the DSL you need</a:t>
            </a:r>
          </a:p>
        </p:txBody>
      </p:sp>
      <p:sp>
        <p:nvSpPr>
          <p:cNvPr id="5" name="08"/>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08</a:t>
            </a:r>
          </a:p>
        </p:txBody>
      </p:sp>
      <p:sp>
        <p:nvSpPr>
          <p:cNvPr id="6" name="Architectu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Architecture</a:t>
            </a:r>
          </a:p>
        </p:txBody>
      </p:sp>
      <p:sp>
        <p:nvSpPr>
          <p:cNvPr id="7" name="Shared core"/>
          <p:cNvSpPr txBox="1"/>
          <p:nvPr/>
        </p:nvSpPr>
        <p:spPr>
          <a:xfrm>
            <a:off x="566928" y="1892807"/>
            <a:ext cx="1572768" cy="640080"/>
          </a:xfrm>
          <a:prstGeom prst="rect">
            <a:avLst/>
          </a:prstGeom>
          <a:noFill/>
        </p:spPr>
        <p:txBody>
          <a:bodyPr wrap="none" anchor="t" lIns="0" rIns="0" tIns="0" bIns="0">
            <a:noAutofit/>
          </a:bodyPr>
          <a:lstStyle/>
          <a:p>
            <a:pPr algn="ctr">
              <a:lnSpc>
                <a:spcPts val="2581"/>
              </a:lnSpc>
              <a:spcBef>
                <a:spcPts val="0"/>
              </a:spcBef>
              <a:spcAft>
                <a:spcPts val="0"/>
              </a:spcAft>
            </a:pPr>
            <a:r>
              <a:rPr sz="2225" b="0">
                <a:solidFill>
                  <a:srgbClr val="000000"/>
                </a:solidFill>
                <a:latin typeface="NVIDIA Sans Light"/>
              </a:rPr>
              <a:t>Shared core</a:t>
            </a:r>
          </a:p>
        </p:txBody>
      </p:sp>
      <p:sp>
        <p:nvSpPr>
          <p:cNvPr id="8" name="Selected plugins"/>
          <p:cNvSpPr txBox="1"/>
          <p:nvPr/>
        </p:nvSpPr>
        <p:spPr>
          <a:xfrm>
            <a:off x="2834640" y="1892807"/>
            <a:ext cx="2907792" cy="640080"/>
          </a:xfrm>
          <a:prstGeom prst="rect">
            <a:avLst/>
          </a:prstGeom>
          <a:noFill/>
        </p:spPr>
        <p:txBody>
          <a:bodyPr wrap="none" anchor="t" lIns="0" rIns="0" tIns="0" bIns="0">
            <a:noAutofit/>
          </a:bodyPr>
          <a:lstStyle/>
          <a:p>
            <a:pPr algn="ctr">
              <a:lnSpc>
                <a:spcPts val="2899"/>
              </a:lnSpc>
              <a:spcBef>
                <a:spcPts val="0"/>
              </a:spcBef>
              <a:spcAft>
                <a:spcPts val="0"/>
              </a:spcAft>
            </a:pPr>
            <a:r>
              <a:rPr sz="2500" b="0">
                <a:solidFill>
                  <a:srgbClr val="000000"/>
                </a:solidFill>
                <a:latin typeface="NVIDIA Sans Light"/>
              </a:rPr>
              <a:t>Selected plugins</a:t>
            </a:r>
          </a:p>
        </p:txBody>
      </p:sp>
      <p:sp>
        <p:nvSpPr>
          <p:cNvPr id="9" name="Your DSL"/>
          <p:cNvSpPr txBox="1"/>
          <p:nvPr/>
        </p:nvSpPr>
        <p:spPr>
          <a:xfrm>
            <a:off x="6720840" y="1892807"/>
            <a:ext cx="1847088" cy="640080"/>
          </a:xfrm>
          <a:prstGeom prst="rect">
            <a:avLst/>
          </a:prstGeom>
          <a:noFill/>
        </p:spPr>
        <p:txBody>
          <a:bodyPr wrap="none" anchor="t" lIns="0" rIns="0" tIns="0" bIns="0">
            <a:noAutofit/>
          </a:bodyPr>
          <a:lstStyle/>
          <a:p>
            <a:pPr algn="ctr">
              <a:lnSpc>
                <a:spcPts val="2899"/>
              </a:lnSpc>
              <a:spcBef>
                <a:spcPts val="0"/>
              </a:spcBef>
              <a:spcAft>
                <a:spcPts val="0"/>
              </a:spcAft>
            </a:pPr>
            <a:r>
              <a:rPr sz="2500" b="1">
                <a:solidFill>
                  <a:srgbClr val="416600"/>
                </a:solidFill>
                <a:latin typeface="NVIDIA Sans"/>
              </a:rPr>
              <a:t>Your DSL</a:t>
            </a:r>
          </a:p>
        </p:txBody>
      </p:sp>
      <p:sp>
        <p:nvSpPr>
          <p:cNvPr id="10" name="+"/>
          <p:cNvSpPr txBox="1"/>
          <p:nvPr/>
        </p:nvSpPr>
        <p:spPr>
          <a:xfrm>
            <a:off x="2295144" y="1920240"/>
            <a:ext cx="448056" cy="557784"/>
          </a:xfrm>
          <a:prstGeom prst="rect">
            <a:avLst/>
          </a:prstGeom>
          <a:noFill/>
        </p:spPr>
        <p:txBody>
          <a:bodyPr wrap="none" anchor="t" lIns="0" rIns="0" tIns="0" bIns="0">
            <a:noAutofit/>
          </a:bodyPr>
          <a:lstStyle/>
          <a:p>
            <a:pPr algn="ctr">
              <a:lnSpc>
                <a:spcPts val="3247"/>
              </a:lnSpc>
              <a:spcBef>
                <a:spcPts val="0"/>
              </a:spcBef>
              <a:spcAft>
                <a:spcPts val="0"/>
              </a:spcAft>
            </a:pPr>
            <a:r>
              <a:rPr sz="2800" b="0">
                <a:solidFill>
                  <a:srgbClr val="616161"/>
                </a:solidFill>
                <a:latin typeface="NVIDIA Sans Light"/>
              </a:rPr>
              <a:t>+</a:t>
            </a:r>
          </a:p>
        </p:txBody>
      </p:sp>
      <p:sp>
        <p:nvSpPr>
          <p:cNvPr id="11" name="="/>
          <p:cNvSpPr txBox="1"/>
          <p:nvPr/>
        </p:nvSpPr>
        <p:spPr>
          <a:xfrm>
            <a:off x="6025896" y="1920240"/>
            <a:ext cx="448056" cy="557784"/>
          </a:xfrm>
          <a:prstGeom prst="rect">
            <a:avLst/>
          </a:prstGeom>
          <a:noFill/>
        </p:spPr>
        <p:txBody>
          <a:bodyPr wrap="none" anchor="t" lIns="0" rIns="0" tIns="0" bIns="0">
            <a:noAutofit/>
          </a:bodyPr>
          <a:lstStyle/>
          <a:p>
            <a:pPr algn="ctr">
              <a:lnSpc>
                <a:spcPts val="3247"/>
              </a:lnSpc>
              <a:spcBef>
                <a:spcPts val="0"/>
              </a:spcBef>
              <a:spcAft>
                <a:spcPts val="0"/>
              </a:spcAft>
            </a:pPr>
            <a:r>
              <a:rPr sz="2800" b="0">
                <a:solidFill>
                  <a:srgbClr val="616161"/>
                </a:solidFill>
                <a:latin typeface="NVIDIA Sans Light"/>
              </a:rPr>
              <a:t>=</a:t>
            </a:r>
          </a:p>
        </p:txBody>
      </p:sp>
      <p:sp>
        <p:nvSpPr>
          <p:cNvPr id="12" name="Generate MLIR"/>
          <p:cNvSpPr txBox="1"/>
          <p:nvPr/>
        </p:nvSpPr>
        <p:spPr>
          <a:xfrm>
            <a:off x="594360" y="3182112"/>
            <a:ext cx="3675887" cy="731520"/>
          </a:xfrm>
          <a:prstGeom prst="rect">
            <a:avLst/>
          </a:prstGeom>
          <a:noFill/>
        </p:spPr>
        <p:txBody>
          <a:bodyPr wrap="none" anchor="t" lIns="0" rIns="0" tIns="0" bIns="0">
            <a:noAutofit/>
          </a:bodyPr>
          <a:lstStyle/>
          <a:p>
            <a:pPr algn="ctr">
              <a:lnSpc>
                <a:spcPts val="2204"/>
              </a:lnSpc>
              <a:spcBef>
                <a:spcPts val="0"/>
              </a:spcBef>
              <a:spcAft>
                <a:spcPts val="0"/>
              </a:spcAft>
            </a:pPr>
            <a:r>
              <a:rPr sz="1900" b="0">
                <a:solidFill>
                  <a:srgbClr val="416600"/>
                </a:solidFill>
                <a:latin typeface="NVIDIA Sans Light"/>
              </a:rPr>
              <a:t>Generate MLIR</a:t>
            </a:r>
          </a:p>
        </p:txBody>
      </p:sp>
      <p:sp>
        <p:nvSpPr>
          <p:cNvPr id="13" name="Add compiler + your pipeline → execute"/>
          <p:cNvSpPr txBox="1"/>
          <p:nvPr/>
        </p:nvSpPr>
        <p:spPr>
          <a:xfrm>
            <a:off x="4773168" y="3182112"/>
            <a:ext cx="3675887" cy="731520"/>
          </a:xfrm>
          <a:prstGeom prst="rect">
            <a:avLst/>
          </a:prstGeom>
          <a:noFill/>
        </p:spPr>
        <p:txBody>
          <a:bodyPr wrap="none" anchor="t" lIns="0" rIns="0" tIns="0" bIns="0">
            <a:noAutofit/>
          </a:bodyPr>
          <a:lstStyle/>
          <a:p>
            <a:pPr algn="ctr">
              <a:lnSpc>
                <a:spcPts val="2204"/>
              </a:lnSpc>
              <a:spcBef>
                <a:spcPts val="0"/>
              </a:spcBef>
              <a:spcAft>
                <a:spcPts val="0"/>
              </a:spcAft>
            </a:pPr>
            <a:r>
              <a:rPr sz="1900" b="0">
                <a:solidFill>
                  <a:srgbClr val="416600"/>
                </a:solidFill>
                <a:latin typeface="NVIDIA Sans Light"/>
              </a:rPr>
              <a:t>Add compiler + your pipeline →</a:t>
            </a:r>
          </a:p>
          <a:p>
            <a:pPr algn="ctr">
              <a:lnSpc>
                <a:spcPts val="2204"/>
              </a:lnSpc>
              <a:spcBef>
                <a:spcPts val="0"/>
              </a:spcBef>
              <a:spcAft>
                <a:spcPts val="0"/>
              </a:spcAft>
            </a:pPr>
            <a:r>
              <a:rPr sz="1900" b="0">
                <a:solidFill>
                  <a:srgbClr val="416600"/>
                </a:solidFill>
                <a:latin typeface="NVIDIA Sans Light"/>
              </a:rPr>
              <a:t>execute</a:t>
            </a:r>
          </a:p>
        </p:txBody>
      </p:sp>
      <p:sp>
        <p:nvSpPr>
          <p:cNvPr id="14" name="mlir dsl is a working composition. Reuse its plugins."/>
          <p:cNvSpPr txBox="1"/>
          <p:nvPr/>
        </p:nvSpPr>
        <p:spPr>
          <a:xfrm>
            <a:off x="539496" y="4215384"/>
            <a:ext cx="8055864" cy="347472"/>
          </a:xfrm>
          <a:prstGeom prst="rect">
            <a:avLst/>
          </a:prstGeom>
          <a:noFill/>
        </p:spPr>
        <p:txBody>
          <a:bodyPr wrap="none" anchor="t" lIns="0" rIns="0" tIns="0" bIns="0">
            <a:noAutofit/>
          </a:bodyPr>
          <a:lstStyle/>
          <a:p>
            <a:pPr algn="l">
              <a:lnSpc>
                <a:spcPts val="1682"/>
              </a:lnSpc>
              <a:spcBef>
                <a:spcPts val="0"/>
              </a:spcBef>
              <a:spcAft>
                <a:spcPts val="0"/>
              </a:spcAft>
            </a:pPr>
            <a:r>
              <a:rPr sz="1450" b="0">
                <a:solidFill>
                  <a:srgbClr val="616161"/>
                </a:solidFill>
                <a:latin typeface="NVIDIA Sans"/>
              </a:rPr>
              <a:t>mlir dsl is a working composition. Reuse its plugins.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How much Python should we implement?"/>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How much Python should we implement?</a:t>
            </a:r>
          </a:p>
        </p:txBody>
      </p:sp>
      <p:sp>
        <p:nvSpPr>
          <p:cNvPr id="5" name="09"/>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09</a:t>
            </a:r>
          </a:p>
        </p:txBody>
      </p:sp>
      <p:sp>
        <p:nvSpPr>
          <p:cNvPr id="6" name="Architectu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Architecture</a:t>
            </a:r>
          </a:p>
        </p:txBody>
      </p:sp>
      <p:sp>
        <p:nvSpPr>
          <p:cNvPr id="7" name="AST frontend"/>
          <p:cNvSpPr txBox="1"/>
          <p:nvPr/>
        </p:nvSpPr>
        <p:spPr>
          <a:xfrm>
            <a:off x="548640" y="1554480"/>
            <a:ext cx="3657600" cy="457200"/>
          </a:xfrm>
          <a:prstGeom prst="rect">
            <a:avLst/>
          </a:prstGeom>
          <a:noFill/>
        </p:spPr>
        <p:txBody>
          <a:bodyPr wrap="none" anchor="t" lIns="0" rIns="0" tIns="0" bIns="0">
            <a:noAutofit/>
          </a:bodyPr>
          <a:lstStyle/>
          <a:p>
            <a:pPr algn="l">
              <a:lnSpc>
                <a:spcPts val="2783"/>
              </a:lnSpc>
              <a:spcBef>
                <a:spcPts val="0"/>
              </a:spcBef>
              <a:spcAft>
                <a:spcPts val="0"/>
              </a:spcAft>
            </a:pPr>
            <a:r>
              <a:rPr sz="2400" b="0">
                <a:solidFill>
                  <a:srgbClr val="000000"/>
                </a:solidFill>
                <a:latin typeface="NVIDIA Sans Light"/>
              </a:rPr>
              <a:t>AST frontend</a:t>
            </a:r>
          </a:p>
        </p:txBody>
      </p:sp>
      <p:sp>
        <p:nvSpPr>
          <p:cNvPr id="8" name="Parse Python / Implement its semantics"/>
          <p:cNvSpPr txBox="1"/>
          <p:nvPr/>
        </p:nvSpPr>
        <p:spPr>
          <a:xfrm>
            <a:off x="566928" y="2340864"/>
            <a:ext cx="3639312" cy="932688"/>
          </a:xfrm>
          <a:prstGeom prst="rect">
            <a:avLst/>
          </a:prstGeom>
          <a:noFill/>
        </p:spPr>
        <p:txBody>
          <a:bodyPr wrap="none" anchor="t" lIns="0" rIns="0" tIns="0" bIns="0">
            <a:noAutofit/>
          </a:bodyPr>
          <a:lstStyle/>
          <a:p>
            <a:pPr algn="l">
              <a:lnSpc>
                <a:spcPts val="2088"/>
              </a:lnSpc>
              <a:spcBef>
                <a:spcPts val="0"/>
              </a:spcBef>
              <a:spcAft>
                <a:spcPts val="0"/>
              </a:spcAft>
            </a:pPr>
            <a:r>
              <a:rPr sz="1800" b="0">
                <a:solidFill>
                  <a:srgbClr val="616161"/>
                </a:solidFill>
                <a:latin typeface="NVIDIA Sans"/>
              </a:rPr>
              <a:t>Parse Python</a:t>
            </a:r>
          </a:p>
          <a:p>
            <a:pPr algn="l">
              <a:lnSpc>
                <a:spcPts val="2088"/>
              </a:lnSpc>
              <a:spcBef>
                <a:spcPts val="0"/>
              </a:spcBef>
              <a:spcAft>
                <a:spcPts val="0"/>
              </a:spcAft>
            </a:pPr>
            <a:r>
              <a:rPr sz="1800" b="0">
                <a:solidFill>
                  <a:srgbClr val="616161"/>
                </a:solidFill>
                <a:latin typeface="NVIDIA Sans"/>
              </a:rPr>
              <a:t>Implement its semantics</a:t>
            </a:r>
          </a:p>
        </p:txBody>
      </p:sp>
      <p:sp>
        <p:nvSpPr>
          <p:cNvPr id="9" name="Rectangle 8"/>
          <p:cNvSpPr/>
          <p:nvPr/>
        </p:nvSpPr>
        <p:spPr>
          <a:xfrm>
            <a:off x="4773168" y="1517904"/>
            <a:ext cx="41148" cy="1892807"/>
          </a:xfrm>
          <a:prstGeom prst="rect">
            <a:avLst/>
          </a:prstGeom>
          <a:solidFill>
            <a:srgbClr val="76B900"/>
          </a:solidFill>
          <a:ln>
            <a:noFill/>
          </a:ln>
          <a:effectLst/>
        </p:spPr>
        <p:txBody>
          <a:bodyPr rtlCol="0" anchor="ctr"/>
          <a:lstStyle/>
          <a:p>
            <a:pPr algn="ctr"/>
          </a:p>
        </p:txBody>
      </p:sp>
      <p:sp>
        <p:nvSpPr>
          <p:cNvPr id="10" name="Tracing"/>
          <p:cNvSpPr txBox="1"/>
          <p:nvPr/>
        </p:nvSpPr>
        <p:spPr>
          <a:xfrm>
            <a:off x="4974336" y="1554480"/>
            <a:ext cx="3456432" cy="457200"/>
          </a:xfrm>
          <a:prstGeom prst="rect">
            <a:avLst/>
          </a:prstGeom>
          <a:noFill/>
        </p:spPr>
        <p:txBody>
          <a:bodyPr wrap="none" anchor="t" lIns="0" rIns="0" tIns="0" bIns="0">
            <a:noAutofit/>
          </a:bodyPr>
          <a:lstStyle/>
          <a:p>
            <a:pPr algn="l">
              <a:lnSpc>
                <a:spcPts val="2783"/>
              </a:lnSpc>
              <a:spcBef>
                <a:spcPts val="0"/>
              </a:spcBef>
              <a:spcAft>
                <a:spcPts val="0"/>
              </a:spcAft>
            </a:pPr>
            <a:r>
              <a:rPr sz="2400" b="1">
                <a:solidFill>
                  <a:srgbClr val="416600"/>
                </a:solidFill>
                <a:latin typeface="NVIDIA Sans"/>
              </a:rPr>
              <a:t>Tracing</a:t>
            </a:r>
          </a:p>
        </p:txBody>
      </p:sp>
      <p:sp>
        <p:nvSpPr>
          <p:cNvPr id="11" name="Run Python / Record DSL operations"/>
          <p:cNvSpPr txBox="1"/>
          <p:nvPr/>
        </p:nvSpPr>
        <p:spPr>
          <a:xfrm>
            <a:off x="4992623" y="2340864"/>
            <a:ext cx="3438144" cy="932688"/>
          </a:xfrm>
          <a:prstGeom prst="rect">
            <a:avLst/>
          </a:prstGeom>
          <a:noFill/>
        </p:spPr>
        <p:txBody>
          <a:bodyPr wrap="none" anchor="t" lIns="0" rIns="0" tIns="0" bIns="0">
            <a:noAutofit/>
          </a:bodyPr>
          <a:lstStyle/>
          <a:p>
            <a:pPr algn="l">
              <a:lnSpc>
                <a:spcPts val="2088"/>
              </a:lnSpc>
              <a:spcBef>
                <a:spcPts val="0"/>
              </a:spcBef>
              <a:spcAft>
                <a:spcPts val="0"/>
              </a:spcAft>
            </a:pPr>
            <a:r>
              <a:rPr sz="1800" b="0">
                <a:solidFill>
                  <a:srgbClr val="616161"/>
                </a:solidFill>
                <a:latin typeface="NVIDIA Sans"/>
              </a:rPr>
              <a:t>Run Python</a:t>
            </a:r>
          </a:p>
          <a:p>
            <a:pPr algn="l">
              <a:lnSpc>
                <a:spcPts val="2088"/>
              </a:lnSpc>
              <a:spcBef>
                <a:spcPts val="0"/>
              </a:spcBef>
              <a:spcAft>
                <a:spcPts val="0"/>
              </a:spcAft>
            </a:pPr>
            <a:r>
              <a:rPr sz="1800" b="0">
                <a:solidFill>
                  <a:srgbClr val="616161"/>
                </a:solidFill>
                <a:latin typeface="NVIDIA Sans"/>
              </a:rPr>
              <a:t>Record DSL operations</a:t>
            </a:r>
          </a:p>
        </p:txBody>
      </p:sp>
      <p:sp>
        <p:nvSpPr>
          <p:cNvPr id="12" name="Our choice: tracing. Optional AST capture handles staged control flow."/>
          <p:cNvSpPr txBox="1"/>
          <p:nvPr/>
        </p:nvSpPr>
        <p:spPr>
          <a:xfrm>
            <a:off x="548640" y="4178808"/>
            <a:ext cx="8019288" cy="356616"/>
          </a:xfrm>
          <a:prstGeom prst="rect">
            <a:avLst/>
          </a:prstGeom>
          <a:noFill/>
        </p:spPr>
        <p:txBody>
          <a:bodyPr wrap="none" anchor="t" lIns="0" rIns="0" tIns="0" bIns="0">
            <a:noAutofit/>
          </a:bodyPr>
          <a:lstStyle/>
          <a:p>
            <a:pPr algn="l">
              <a:lnSpc>
                <a:spcPts val="1682"/>
              </a:lnSpc>
              <a:spcBef>
                <a:spcPts val="0"/>
              </a:spcBef>
              <a:spcAft>
                <a:spcPts val="0"/>
              </a:spcAft>
            </a:pPr>
            <a:r>
              <a:rPr sz="1450" b="0">
                <a:solidFill>
                  <a:srgbClr val="616161"/>
                </a:solidFill>
                <a:latin typeface="NVIDIA Sans"/>
              </a:rPr>
              <a:t>Our choice: tracing. Optional AST capture handles staged control flow.</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Design principle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Design principles</a:t>
            </a:r>
          </a:p>
        </p:txBody>
      </p:sp>
      <p:sp>
        <p:nvSpPr>
          <p:cNvPr id="5" name="10"/>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10</a:t>
            </a:r>
          </a:p>
        </p:txBody>
      </p:sp>
      <p:sp>
        <p:nvSpPr>
          <p:cNvPr id="6" name="Introduc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Introduction</a:t>
            </a:r>
          </a:p>
        </p:txBody>
      </p:sp>
      <p:sp>
        <p:nvSpPr>
          <p:cNvPr id="7" name="01"/>
          <p:cNvSpPr txBox="1"/>
          <p:nvPr/>
        </p:nvSpPr>
        <p:spPr>
          <a:xfrm>
            <a:off x="512064" y="1682496"/>
            <a:ext cx="429768" cy="365760"/>
          </a:xfrm>
          <a:prstGeom prst="rect">
            <a:avLst/>
          </a:prstGeom>
          <a:noFill/>
        </p:spPr>
        <p:txBody>
          <a:bodyPr wrap="none" anchor="t" lIns="0" rIns="0" tIns="0" bIns="0">
            <a:noAutofit/>
          </a:bodyPr>
          <a:lstStyle/>
          <a:p>
            <a:pPr algn="l">
              <a:lnSpc>
                <a:spcPts val="2088"/>
              </a:lnSpc>
              <a:spcBef>
                <a:spcPts val="0"/>
              </a:spcBef>
              <a:spcAft>
                <a:spcPts val="0"/>
              </a:spcAft>
            </a:pPr>
            <a:r>
              <a:rPr sz="1800" b="1">
                <a:solidFill>
                  <a:srgbClr val="416600"/>
                </a:solidFill>
                <a:latin typeface="NVIDIA Sans"/>
              </a:rPr>
              <a:t>01</a:t>
            </a:r>
          </a:p>
        </p:txBody>
      </p:sp>
      <p:sp>
        <p:nvSpPr>
          <p:cNvPr id="8" name="No new language."/>
          <p:cNvSpPr txBox="1"/>
          <p:nvPr/>
        </p:nvSpPr>
        <p:spPr>
          <a:xfrm>
            <a:off x="1170432" y="1655064"/>
            <a:ext cx="7452360" cy="484632"/>
          </a:xfrm>
          <a:prstGeom prst="rect">
            <a:avLst/>
          </a:prstGeom>
          <a:noFill/>
        </p:spPr>
        <p:txBody>
          <a:bodyPr wrap="none" anchor="t" lIns="0" rIns="0" tIns="0" bIns="0">
            <a:noAutofit/>
          </a:bodyPr>
          <a:lstStyle/>
          <a:p>
            <a:pPr algn="l">
              <a:lnSpc>
                <a:spcPts val="2668"/>
              </a:lnSpc>
              <a:spcBef>
                <a:spcPts val="0"/>
              </a:spcBef>
              <a:spcAft>
                <a:spcPts val="0"/>
              </a:spcAft>
            </a:pPr>
            <a:r>
              <a:rPr sz="2300" b="0">
                <a:solidFill>
                  <a:srgbClr val="000000"/>
                </a:solidFill>
                <a:latin typeface="NVIDIA Sans Light"/>
              </a:rPr>
              <a:t>No new language.</a:t>
            </a:r>
          </a:p>
        </p:txBody>
      </p:sp>
      <p:sp>
        <p:nvSpPr>
          <p:cNvPr id="9" name="Objects · imports · libraries"/>
          <p:cNvSpPr txBox="1"/>
          <p:nvPr/>
        </p:nvSpPr>
        <p:spPr>
          <a:xfrm>
            <a:off x="1188720" y="2231136"/>
            <a:ext cx="7406640" cy="384048"/>
          </a:xfrm>
          <a:prstGeom prst="rect">
            <a:avLst/>
          </a:prstGeom>
          <a:noFill/>
        </p:spPr>
        <p:txBody>
          <a:bodyPr wrap="none" anchor="t" lIns="0" rIns="0" tIns="0" bIns="0">
            <a:noAutofit/>
          </a:bodyPr>
          <a:lstStyle/>
          <a:p>
            <a:pPr algn="l">
              <a:lnSpc>
                <a:spcPts val="1507"/>
              </a:lnSpc>
              <a:spcBef>
                <a:spcPts val="0"/>
              </a:spcBef>
              <a:spcAft>
                <a:spcPts val="0"/>
              </a:spcAft>
            </a:pPr>
            <a:r>
              <a:rPr sz="1300" b="0">
                <a:solidFill>
                  <a:srgbClr val="616161"/>
                </a:solidFill>
                <a:latin typeface="NVIDIA Sans"/>
              </a:rPr>
              <a:t>Objects · imports · libraries</a:t>
            </a:r>
          </a:p>
        </p:txBody>
      </p:sp>
      <p:sp>
        <p:nvSpPr>
          <p:cNvPr id="10" name="02"/>
          <p:cNvSpPr txBox="1"/>
          <p:nvPr/>
        </p:nvSpPr>
        <p:spPr>
          <a:xfrm>
            <a:off x="512064" y="2688336"/>
            <a:ext cx="429768" cy="365760"/>
          </a:xfrm>
          <a:prstGeom prst="rect">
            <a:avLst/>
          </a:prstGeom>
          <a:noFill/>
        </p:spPr>
        <p:txBody>
          <a:bodyPr wrap="none" anchor="t" lIns="0" rIns="0" tIns="0" bIns="0">
            <a:noAutofit/>
          </a:bodyPr>
          <a:lstStyle/>
          <a:p>
            <a:pPr algn="l">
              <a:lnSpc>
                <a:spcPts val="2088"/>
              </a:lnSpc>
              <a:spcBef>
                <a:spcPts val="0"/>
              </a:spcBef>
              <a:spcAft>
                <a:spcPts val="0"/>
              </a:spcAft>
            </a:pPr>
            <a:r>
              <a:rPr sz="1800" b="1">
                <a:solidFill>
                  <a:srgbClr val="416600"/>
                </a:solidFill>
                <a:latin typeface="NVIDIA Sans"/>
              </a:rPr>
              <a:t>02</a:t>
            </a:r>
          </a:p>
        </p:txBody>
      </p:sp>
      <p:sp>
        <p:nvSpPr>
          <p:cNvPr id="11" name="Python stays Python."/>
          <p:cNvSpPr txBox="1"/>
          <p:nvPr/>
        </p:nvSpPr>
        <p:spPr>
          <a:xfrm>
            <a:off x="1170432" y="2660904"/>
            <a:ext cx="7452360" cy="484632"/>
          </a:xfrm>
          <a:prstGeom prst="rect">
            <a:avLst/>
          </a:prstGeom>
          <a:noFill/>
        </p:spPr>
        <p:txBody>
          <a:bodyPr wrap="none" anchor="t" lIns="0" rIns="0" tIns="0" bIns="0">
            <a:noAutofit/>
          </a:bodyPr>
          <a:lstStyle/>
          <a:p>
            <a:pPr algn="l">
              <a:lnSpc>
                <a:spcPts val="2668"/>
              </a:lnSpc>
              <a:spcBef>
                <a:spcPts val="0"/>
              </a:spcBef>
              <a:spcAft>
                <a:spcPts val="0"/>
              </a:spcAft>
            </a:pPr>
            <a:r>
              <a:rPr sz="2300" b="0">
                <a:solidFill>
                  <a:srgbClr val="000000"/>
                </a:solidFill>
                <a:latin typeface="NVIDIA Sans Light"/>
              </a:rPr>
              <a:t>Python stays Python.</a:t>
            </a:r>
          </a:p>
        </p:txBody>
      </p:sp>
      <p:sp>
        <p:nvSpPr>
          <p:cNvPr id="12" name="MLIR through a DSL namespace"/>
          <p:cNvSpPr txBox="1"/>
          <p:nvPr/>
        </p:nvSpPr>
        <p:spPr>
          <a:xfrm>
            <a:off x="1188720" y="3236976"/>
            <a:ext cx="7406640" cy="384048"/>
          </a:xfrm>
          <a:prstGeom prst="rect">
            <a:avLst/>
          </a:prstGeom>
          <a:noFill/>
        </p:spPr>
        <p:txBody>
          <a:bodyPr wrap="none" anchor="t" lIns="0" rIns="0" tIns="0" bIns="0">
            <a:noAutofit/>
          </a:bodyPr>
          <a:lstStyle/>
          <a:p>
            <a:pPr algn="l">
              <a:lnSpc>
                <a:spcPts val="1507"/>
              </a:lnSpc>
              <a:spcBef>
                <a:spcPts val="0"/>
              </a:spcBef>
              <a:spcAft>
                <a:spcPts val="0"/>
              </a:spcAft>
            </a:pPr>
            <a:r>
              <a:rPr sz="1300" b="0">
                <a:solidFill>
                  <a:srgbClr val="616161"/>
                </a:solidFill>
                <a:latin typeface="NVIDIA Sans"/>
              </a:rPr>
              <a:t>MLIR through a DSL namespace</a:t>
            </a:r>
          </a:p>
        </p:txBody>
      </p:sp>
      <p:sp>
        <p:nvSpPr>
          <p:cNvPr id="13" name="This leads to multi-stage programming."/>
          <p:cNvSpPr txBox="1"/>
          <p:nvPr/>
        </p:nvSpPr>
        <p:spPr>
          <a:xfrm>
            <a:off x="502920" y="4005072"/>
            <a:ext cx="8138160" cy="356616"/>
          </a:xfrm>
          <a:prstGeom prst="rect">
            <a:avLst/>
          </a:prstGeom>
          <a:noFill/>
        </p:spPr>
        <p:txBody>
          <a:bodyPr wrap="none" anchor="t" lIns="0" rIns="0" tIns="0" bIns="0">
            <a:noAutofit/>
          </a:bodyPr>
          <a:lstStyle/>
          <a:p>
            <a:pPr algn="l">
              <a:lnSpc>
                <a:spcPts val="1855"/>
              </a:lnSpc>
              <a:spcBef>
                <a:spcPts val="0"/>
              </a:spcBef>
              <a:spcAft>
                <a:spcPts val="0"/>
              </a:spcAft>
            </a:pPr>
            <a:r>
              <a:rPr sz="1600" b="0">
                <a:solidFill>
                  <a:srgbClr val="416600"/>
                </a:solidFill>
                <a:latin typeface="NVIDIA Sans"/>
              </a:rPr>
              <a:t>This leads to </a:t>
            </a:r>
            <a:r>
              <a:rPr sz="1600" b="1">
                <a:solidFill>
                  <a:srgbClr val="416600"/>
                </a:solidFill>
                <a:latin typeface="NVIDIA Sans"/>
              </a:rPr>
              <a:t>multi-stage programming.</a:t>
            </a:r>
            <a:r>
              <a:rPr sz="1600" b="0">
                <a:solidFill>
                  <a:srgbClr val="416600"/>
                </a:solidFill>
                <a:latin typeface="NVIDIA Sans"/>
              </a:rPr>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What is multi-stage programming?"/>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What is multi-stage programming?</a:t>
            </a:r>
          </a:p>
        </p:txBody>
      </p:sp>
      <p:sp>
        <p:nvSpPr>
          <p:cNvPr id="5" name="11"/>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11</a:t>
            </a:r>
          </a:p>
        </p:txBody>
      </p:sp>
      <p:sp>
        <p:nvSpPr>
          <p:cNvPr id="6" name="Introduc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Introduction</a:t>
            </a:r>
          </a:p>
        </p:txBody>
      </p:sp>
      <p:sp>
        <p:nvSpPr>
          <p:cNvPr id="7" name="Traditional compiler"/>
          <p:cNvSpPr txBox="1"/>
          <p:nvPr/>
        </p:nvSpPr>
        <p:spPr>
          <a:xfrm>
            <a:off x="457200" y="1344168"/>
            <a:ext cx="4114800" cy="265176"/>
          </a:xfrm>
          <a:prstGeom prst="rect">
            <a:avLst/>
          </a:prstGeom>
          <a:noFill/>
        </p:spPr>
        <p:txBody>
          <a:bodyPr wrap="none" anchor="t" lIns="0" rIns="0" tIns="0" bIns="0">
            <a:noAutofit/>
          </a:bodyPr>
          <a:lstStyle/>
          <a:p>
            <a:pPr algn="l">
              <a:lnSpc>
                <a:spcPts val="1449"/>
              </a:lnSpc>
              <a:spcBef>
                <a:spcPts val="0"/>
              </a:spcBef>
              <a:spcAft>
                <a:spcPts val="0"/>
              </a:spcAft>
            </a:pPr>
            <a:r>
              <a:rPr sz="1250" b="1">
                <a:solidFill>
                  <a:srgbClr val="000000"/>
                </a:solidFill>
                <a:latin typeface="NVIDIA Sans"/>
              </a:rPr>
              <a:t>Traditional compiler</a:t>
            </a:r>
          </a:p>
        </p:txBody>
      </p:sp>
      <p:sp>
        <p:nvSpPr>
          <p:cNvPr id="8" name="Rectangle 7"/>
          <p:cNvSpPr/>
          <p:nvPr/>
        </p:nvSpPr>
        <p:spPr>
          <a:xfrm>
            <a:off x="758952" y="1627632"/>
            <a:ext cx="274320" cy="347472"/>
          </a:xfrm>
          <a:prstGeom prst="rect">
            <a:avLst/>
          </a:prstGeom>
          <a:solidFill>
            <a:srgbClr val="FFFFFF"/>
          </a:solidFill>
          <a:ln w="8890">
            <a:solidFill>
              <a:srgbClr val="616161"/>
            </a:solidFill>
          </a:ln>
          <a:effectLst/>
        </p:spPr>
        <p:txBody>
          <a:bodyPr rtlCol="0" anchor="ctr"/>
          <a:lstStyle/>
          <a:p>
            <a:pPr algn="ctr"/>
          </a:p>
        </p:txBody>
      </p:sp>
      <p:cxnSp>
        <p:nvCxnSpPr>
          <p:cNvPr id="9" name="Connector 8"/>
          <p:cNvCxnSpPr/>
          <p:nvPr/>
        </p:nvCxnSpPr>
        <p:spPr>
          <a:xfrm>
            <a:off x="932688" y="1627632"/>
            <a:ext cx="0" cy="96012"/>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932688" y="1723644"/>
            <a:ext cx="100583"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932688" y="1627632"/>
            <a:ext cx="100583" cy="96012"/>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sp>
        <p:nvSpPr>
          <p:cNvPr id="12" name="&lt;/&gt;"/>
          <p:cNvSpPr txBox="1"/>
          <p:nvPr/>
        </p:nvSpPr>
        <p:spPr>
          <a:xfrm>
            <a:off x="779068" y="1773936"/>
            <a:ext cx="234086" cy="155448"/>
          </a:xfrm>
          <a:prstGeom prst="rect">
            <a:avLst/>
          </a:prstGeom>
          <a:noFill/>
        </p:spPr>
        <p:txBody>
          <a:bodyPr wrap="none" anchor="t" lIns="0" rIns="0" tIns="0" bIns="0">
            <a:noAutofit/>
          </a:bodyPr>
          <a:lstStyle/>
          <a:p>
            <a:pPr algn="ctr">
              <a:lnSpc>
                <a:spcPts val="970"/>
              </a:lnSpc>
              <a:spcBef>
                <a:spcPts val="0"/>
              </a:spcBef>
              <a:spcAft>
                <a:spcPts val="0"/>
              </a:spcAft>
            </a:pPr>
            <a:r>
              <a:rPr sz="770" b="0">
                <a:solidFill>
                  <a:srgbClr val="616161"/>
                </a:solidFill>
                <a:latin typeface="JetBrains Mono"/>
              </a:rPr>
              <a:t>&lt;/&gt;</a:t>
            </a:r>
          </a:p>
        </p:txBody>
      </p:sp>
      <p:sp>
        <p:nvSpPr>
          <p:cNvPr id="13" name="source.cpp"/>
          <p:cNvSpPr txBox="1"/>
          <p:nvPr/>
        </p:nvSpPr>
        <p:spPr>
          <a:xfrm>
            <a:off x="164591" y="2039112"/>
            <a:ext cx="1463040" cy="365760"/>
          </a:xfrm>
          <a:prstGeom prst="rect">
            <a:avLst/>
          </a:prstGeom>
          <a:noFill/>
        </p:spPr>
        <p:txBody>
          <a:bodyPr wrap="none" anchor="t" lIns="0" rIns="0" tIns="0" bIns="0">
            <a:noAutofit/>
          </a:bodyPr>
          <a:lstStyle/>
          <a:p>
            <a:pPr algn="ctr">
              <a:lnSpc>
                <a:spcPts val="1323"/>
              </a:lnSpc>
              <a:spcBef>
                <a:spcPts val="0"/>
              </a:spcBef>
              <a:spcAft>
                <a:spcPts val="0"/>
              </a:spcAft>
            </a:pPr>
            <a:r>
              <a:rPr sz="1050" b="0">
                <a:solidFill>
                  <a:srgbClr val="000000"/>
                </a:solidFill>
                <a:latin typeface="JetBrains Mono"/>
              </a:rPr>
              <a:t>source.cpp</a:t>
            </a:r>
          </a:p>
        </p:txBody>
      </p:sp>
      <p:cxnSp>
        <p:nvCxnSpPr>
          <p:cNvPr id="14" name="Connector 13"/>
          <p:cNvCxnSpPr/>
          <p:nvPr/>
        </p:nvCxnSpPr>
        <p:spPr>
          <a:xfrm>
            <a:off x="1143000" y="1801368"/>
            <a:ext cx="1353312" cy="0"/>
          </a:xfrm>
          <a:prstGeom prst="line">
            <a:avLst/>
          </a:prstGeom>
          <a:ln w="15875">
            <a:solidFill>
              <a:srgbClr val="616161"/>
            </a:solidFill>
            <a:tailEnd type="triangle"/>
          </a:ln>
        </p:spPr>
        <p:style>
          <a:lnRef idx="2">
            <a:schemeClr val="accent1"/>
          </a:lnRef>
          <a:fillRef idx="0">
            <a:schemeClr val="accent1"/>
          </a:fillRef>
          <a:effectRef idx="1">
            <a:schemeClr val="accent1"/>
          </a:effectRef>
          <a:fontRef idx="minor">
            <a:schemeClr val="tx1"/>
          </a:fontRef>
        </p:style>
      </p:cxnSp>
      <p:sp>
        <p:nvSpPr>
          <p:cNvPr id="15" name="Gear 6 14"/>
          <p:cNvSpPr/>
          <p:nvPr/>
        </p:nvSpPr>
        <p:spPr>
          <a:xfrm>
            <a:off x="2564892" y="1627632"/>
            <a:ext cx="356616" cy="356616"/>
          </a:xfrm>
          <a:prstGeom prst="gear6">
            <a:avLst/>
          </a:prstGeom>
          <a:solidFill>
            <a:srgbClr val="F7F7F7"/>
          </a:solidFill>
          <a:ln w="11430">
            <a:solidFill>
              <a:srgbClr val="616161"/>
            </a:solidFill>
          </a:ln>
          <a:effectLst/>
        </p:spPr>
        <p:txBody>
          <a:bodyPr rtlCol="0" anchor="ctr"/>
          <a:lstStyle/>
          <a:p>
            <a:pPr algn="ctr"/>
          </a:p>
        </p:txBody>
      </p:sp>
      <p:sp>
        <p:nvSpPr>
          <p:cNvPr id="16" name="compiler"/>
          <p:cNvSpPr txBox="1"/>
          <p:nvPr/>
        </p:nvSpPr>
        <p:spPr>
          <a:xfrm>
            <a:off x="2011680" y="2039112"/>
            <a:ext cx="1463040"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000000"/>
                </a:solidFill>
                <a:latin typeface="NVIDIA Sans"/>
              </a:rPr>
              <a:t>compiler</a:t>
            </a:r>
          </a:p>
        </p:txBody>
      </p:sp>
      <p:cxnSp>
        <p:nvCxnSpPr>
          <p:cNvPr id="17" name="Connector 16"/>
          <p:cNvCxnSpPr/>
          <p:nvPr/>
        </p:nvCxnSpPr>
        <p:spPr>
          <a:xfrm>
            <a:off x="2990088" y="1801368"/>
            <a:ext cx="1353312" cy="0"/>
          </a:xfrm>
          <a:prstGeom prst="line">
            <a:avLst/>
          </a:prstGeom>
          <a:ln w="15875">
            <a:solidFill>
              <a:srgbClr val="616161"/>
            </a:solidFill>
            <a:tailEnd type="triangle"/>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4453127" y="1664208"/>
            <a:ext cx="274320" cy="274320"/>
          </a:xfrm>
          <a:prstGeom prst="rect">
            <a:avLst/>
          </a:prstGeom>
          <a:solidFill>
            <a:srgbClr val="F7F7F7"/>
          </a:solidFill>
          <a:ln w="8890">
            <a:solidFill>
              <a:srgbClr val="616161"/>
            </a:solidFill>
          </a:ln>
          <a:effectLst/>
        </p:spPr>
        <p:txBody>
          <a:bodyPr rtlCol="0" anchor="ctr"/>
          <a:lstStyle/>
          <a:p>
            <a:pPr algn="ctr"/>
          </a:p>
        </p:txBody>
      </p:sp>
      <p:cxnSp>
        <p:nvCxnSpPr>
          <p:cNvPr id="19" name="Connector 18"/>
          <p:cNvCxnSpPr/>
          <p:nvPr/>
        </p:nvCxnSpPr>
        <p:spPr>
          <a:xfrm>
            <a:off x="4517136" y="1627632"/>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517136" y="1938528"/>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416551" y="1728216"/>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727448" y="1728216"/>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590288" y="1627632"/>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4590288" y="1938528"/>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4416551" y="1801368"/>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4727448" y="1801368"/>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4663440" y="1627632"/>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4663440" y="1938528"/>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4416551" y="1874519"/>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4727448" y="1874519"/>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sp>
        <p:nvSpPr>
          <p:cNvPr id="31" name="01"/>
          <p:cNvSpPr txBox="1"/>
          <p:nvPr/>
        </p:nvSpPr>
        <p:spPr>
          <a:xfrm>
            <a:off x="4471416" y="1737360"/>
            <a:ext cx="237744" cy="182880"/>
          </a:xfrm>
          <a:prstGeom prst="rect">
            <a:avLst/>
          </a:prstGeom>
          <a:noFill/>
        </p:spPr>
        <p:txBody>
          <a:bodyPr wrap="none" anchor="t" lIns="0" rIns="0" tIns="0" bIns="0">
            <a:noAutofit/>
          </a:bodyPr>
          <a:lstStyle/>
          <a:p>
            <a:pPr algn="ctr">
              <a:lnSpc>
                <a:spcPts val="1134"/>
              </a:lnSpc>
              <a:spcBef>
                <a:spcPts val="0"/>
              </a:spcBef>
              <a:spcAft>
                <a:spcPts val="0"/>
              </a:spcAft>
            </a:pPr>
            <a:r>
              <a:rPr sz="900" b="0">
                <a:solidFill>
                  <a:srgbClr val="616161"/>
                </a:solidFill>
                <a:latin typeface="JetBrains Mono"/>
              </a:rPr>
              <a:t>01</a:t>
            </a:r>
          </a:p>
        </p:txBody>
      </p:sp>
      <p:sp>
        <p:nvSpPr>
          <p:cNvPr id="32" name="binary"/>
          <p:cNvSpPr txBox="1"/>
          <p:nvPr/>
        </p:nvSpPr>
        <p:spPr>
          <a:xfrm>
            <a:off x="3858768" y="2039112"/>
            <a:ext cx="1463040"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000000"/>
                </a:solidFill>
                <a:latin typeface="NVIDIA Sans"/>
              </a:rPr>
              <a:t>binary</a:t>
            </a:r>
          </a:p>
        </p:txBody>
      </p:sp>
      <p:sp>
        <p:nvSpPr>
          <p:cNvPr id="33" name="Multi-stage compilers"/>
          <p:cNvSpPr txBox="1"/>
          <p:nvPr/>
        </p:nvSpPr>
        <p:spPr>
          <a:xfrm>
            <a:off x="457200" y="2304288"/>
            <a:ext cx="4114800" cy="265176"/>
          </a:xfrm>
          <a:prstGeom prst="rect">
            <a:avLst/>
          </a:prstGeom>
          <a:noFill/>
        </p:spPr>
        <p:txBody>
          <a:bodyPr wrap="none" anchor="t" lIns="0" rIns="0" tIns="0" bIns="0">
            <a:noAutofit/>
          </a:bodyPr>
          <a:lstStyle/>
          <a:p>
            <a:pPr algn="l">
              <a:lnSpc>
                <a:spcPts val="1449"/>
              </a:lnSpc>
              <a:spcBef>
                <a:spcPts val="0"/>
              </a:spcBef>
              <a:spcAft>
                <a:spcPts val="0"/>
              </a:spcAft>
            </a:pPr>
            <a:r>
              <a:rPr sz="1250" b="1">
                <a:solidFill>
                  <a:srgbClr val="000000"/>
                </a:solidFill>
                <a:latin typeface="NVIDIA Sans"/>
              </a:rPr>
              <a:t>Multi-stage compilers</a:t>
            </a:r>
          </a:p>
        </p:txBody>
      </p:sp>
      <p:sp>
        <p:nvSpPr>
          <p:cNvPr id="34" name="Rectangle 33"/>
          <p:cNvSpPr/>
          <p:nvPr/>
        </p:nvSpPr>
        <p:spPr>
          <a:xfrm>
            <a:off x="758952" y="2615184"/>
            <a:ext cx="274320" cy="347472"/>
          </a:xfrm>
          <a:prstGeom prst="rect">
            <a:avLst/>
          </a:prstGeom>
          <a:solidFill>
            <a:srgbClr val="FFFFFF"/>
          </a:solidFill>
          <a:ln w="8890">
            <a:solidFill>
              <a:srgbClr val="616161"/>
            </a:solidFill>
          </a:ln>
          <a:effectLst/>
        </p:spPr>
        <p:txBody>
          <a:bodyPr rtlCol="0" anchor="ctr"/>
          <a:lstStyle/>
          <a:p>
            <a:pPr algn="ctr"/>
          </a:p>
        </p:txBody>
      </p:sp>
      <p:cxnSp>
        <p:nvCxnSpPr>
          <p:cNvPr id="35" name="Connector 34"/>
          <p:cNvCxnSpPr/>
          <p:nvPr/>
        </p:nvCxnSpPr>
        <p:spPr>
          <a:xfrm>
            <a:off x="932688" y="2615184"/>
            <a:ext cx="0" cy="96012"/>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932688" y="2711196"/>
            <a:ext cx="100583"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932688" y="2615184"/>
            <a:ext cx="100583" cy="96012"/>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sp>
        <p:nvSpPr>
          <p:cNvPr id="38" name="&lt;/&gt;"/>
          <p:cNvSpPr txBox="1"/>
          <p:nvPr/>
        </p:nvSpPr>
        <p:spPr>
          <a:xfrm>
            <a:off x="779068" y="2761488"/>
            <a:ext cx="234086" cy="155448"/>
          </a:xfrm>
          <a:prstGeom prst="rect">
            <a:avLst/>
          </a:prstGeom>
          <a:noFill/>
        </p:spPr>
        <p:txBody>
          <a:bodyPr wrap="none" anchor="t" lIns="0" rIns="0" tIns="0" bIns="0">
            <a:noAutofit/>
          </a:bodyPr>
          <a:lstStyle/>
          <a:p>
            <a:pPr algn="ctr">
              <a:lnSpc>
                <a:spcPts val="970"/>
              </a:lnSpc>
              <a:spcBef>
                <a:spcPts val="0"/>
              </a:spcBef>
              <a:spcAft>
                <a:spcPts val="0"/>
              </a:spcAft>
            </a:pPr>
            <a:r>
              <a:rPr sz="770" b="0">
                <a:solidFill>
                  <a:srgbClr val="616161"/>
                </a:solidFill>
                <a:latin typeface="JetBrains Mono"/>
              </a:rPr>
              <a:t>&lt;/&gt;</a:t>
            </a:r>
          </a:p>
        </p:txBody>
      </p:sp>
      <p:sp>
        <p:nvSpPr>
          <p:cNvPr id="39" name="source.cpp"/>
          <p:cNvSpPr txBox="1"/>
          <p:nvPr/>
        </p:nvSpPr>
        <p:spPr>
          <a:xfrm>
            <a:off x="164591" y="3026664"/>
            <a:ext cx="1463040" cy="365760"/>
          </a:xfrm>
          <a:prstGeom prst="rect">
            <a:avLst/>
          </a:prstGeom>
          <a:noFill/>
        </p:spPr>
        <p:txBody>
          <a:bodyPr wrap="none" anchor="t" lIns="0" rIns="0" tIns="0" bIns="0">
            <a:noAutofit/>
          </a:bodyPr>
          <a:lstStyle/>
          <a:p>
            <a:pPr algn="ctr">
              <a:lnSpc>
                <a:spcPts val="1323"/>
              </a:lnSpc>
              <a:spcBef>
                <a:spcPts val="0"/>
              </a:spcBef>
              <a:spcAft>
                <a:spcPts val="0"/>
              </a:spcAft>
            </a:pPr>
            <a:r>
              <a:rPr sz="1050" b="0">
                <a:solidFill>
                  <a:srgbClr val="000000"/>
                </a:solidFill>
                <a:latin typeface="JetBrains Mono"/>
              </a:rPr>
              <a:t>source.cpp</a:t>
            </a:r>
          </a:p>
        </p:txBody>
      </p:sp>
      <p:cxnSp>
        <p:nvCxnSpPr>
          <p:cNvPr id="40" name="Connector 39"/>
          <p:cNvCxnSpPr/>
          <p:nvPr/>
        </p:nvCxnSpPr>
        <p:spPr>
          <a:xfrm>
            <a:off x="1143000" y="2788920"/>
            <a:ext cx="1353312" cy="0"/>
          </a:xfrm>
          <a:prstGeom prst="line">
            <a:avLst/>
          </a:prstGeom>
          <a:ln w="15875">
            <a:solidFill>
              <a:srgbClr val="616161"/>
            </a:solidFill>
            <a:tailEnd type="triangle"/>
          </a:ln>
        </p:spPr>
        <p:style>
          <a:lnRef idx="2">
            <a:schemeClr val="accent1"/>
          </a:lnRef>
          <a:fillRef idx="0">
            <a:schemeClr val="accent1"/>
          </a:fillRef>
          <a:effectRef idx="1">
            <a:schemeClr val="accent1"/>
          </a:effectRef>
          <a:fontRef idx="minor">
            <a:schemeClr val="tx1"/>
          </a:fontRef>
        </p:style>
      </p:cxnSp>
      <p:sp>
        <p:nvSpPr>
          <p:cNvPr id="41" name="Gear 6 40"/>
          <p:cNvSpPr/>
          <p:nvPr/>
        </p:nvSpPr>
        <p:spPr>
          <a:xfrm>
            <a:off x="2564892" y="2615184"/>
            <a:ext cx="356616" cy="356616"/>
          </a:xfrm>
          <a:prstGeom prst="gear6">
            <a:avLst/>
          </a:prstGeom>
          <a:solidFill>
            <a:srgbClr val="F7F7F7"/>
          </a:solidFill>
          <a:ln w="11430">
            <a:solidFill>
              <a:srgbClr val="616161"/>
            </a:solidFill>
          </a:ln>
          <a:effectLst/>
        </p:spPr>
        <p:txBody>
          <a:bodyPr rtlCol="0" anchor="ctr"/>
          <a:lstStyle/>
          <a:p>
            <a:pPr algn="ctr"/>
          </a:p>
        </p:txBody>
      </p:sp>
      <p:sp>
        <p:nvSpPr>
          <p:cNvPr id="42" name="compiler"/>
          <p:cNvSpPr txBox="1"/>
          <p:nvPr/>
        </p:nvSpPr>
        <p:spPr>
          <a:xfrm>
            <a:off x="2011680" y="3026664"/>
            <a:ext cx="1463040"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000000"/>
                </a:solidFill>
                <a:latin typeface="NVIDIA Sans"/>
              </a:rPr>
              <a:t>compiler</a:t>
            </a:r>
          </a:p>
        </p:txBody>
      </p:sp>
      <p:cxnSp>
        <p:nvCxnSpPr>
          <p:cNvPr id="43" name="Connector 42"/>
          <p:cNvCxnSpPr/>
          <p:nvPr/>
        </p:nvCxnSpPr>
        <p:spPr>
          <a:xfrm>
            <a:off x="2990088" y="2788920"/>
            <a:ext cx="1353312" cy="0"/>
          </a:xfrm>
          <a:prstGeom prst="line">
            <a:avLst/>
          </a:prstGeom>
          <a:ln w="15875">
            <a:solidFill>
              <a:srgbClr val="616161"/>
            </a:solidFill>
            <a:tailEnd type="triangle"/>
          </a:ln>
        </p:spPr>
        <p:style>
          <a:lnRef idx="2">
            <a:schemeClr val="accent1"/>
          </a:lnRef>
          <a:fillRef idx="0">
            <a:schemeClr val="accent1"/>
          </a:fillRef>
          <a:effectRef idx="1">
            <a:schemeClr val="accent1"/>
          </a:effectRef>
          <a:fontRef idx="minor">
            <a:schemeClr val="tx1"/>
          </a:fontRef>
        </p:style>
      </p:cxnSp>
      <p:sp>
        <p:nvSpPr>
          <p:cNvPr id="44" name="Rectangle 43"/>
          <p:cNvSpPr/>
          <p:nvPr/>
        </p:nvSpPr>
        <p:spPr>
          <a:xfrm>
            <a:off x="4453127" y="2651760"/>
            <a:ext cx="274320" cy="274320"/>
          </a:xfrm>
          <a:prstGeom prst="rect">
            <a:avLst/>
          </a:prstGeom>
          <a:solidFill>
            <a:srgbClr val="F7F7F7"/>
          </a:solidFill>
          <a:ln w="8890">
            <a:solidFill>
              <a:srgbClr val="616161"/>
            </a:solidFill>
          </a:ln>
          <a:effectLst/>
        </p:spPr>
        <p:txBody>
          <a:bodyPr rtlCol="0" anchor="ctr"/>
          <a:lstStyle/>
          <a:p>
            <a:pPr algn="ctr"/>
          </a:p>
        </p:txBody>
      </p:sp>
      <p:cxnSp>
        <p:nvCxnSpPr>
          <p:cNvPr id="45" name="Connector 44"/>
          <p:cNvCxnSpPr/>
          <p:nvPr/>
        </p:nvCxnSpPr>
        <p:spPr>
          <a:xfrm>
            <a:off x="4517136" y="2615184"/>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4517136" y="2926079"/>
            <a:ext cx="0" cy="36577"/>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4416551" y="2715768"/>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4727448" y="2715768"/>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4590288" y="2615184"/>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4590288" y="2926079"/>
            <a:ext cx="0" cy="36577"/>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4416551" y="2788920"/>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4727448" y="2788920"/>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4663440" y="2615184"/>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4663440" y="2926079"/>
            <a:ext cx="0" cy="36577"/>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4416551" y="2862072"/>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4727448" y="2862072"/>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sp>
        <p:nvSpPr>
          <p:cNvPr id="57" name="01"/>
          <p:cNvSpPr txBox="1"/>
          <p:nvPr/>
        </p:nvSpPr>
        <p:spPr>
          <a:xfrm>
            <a:off x="4471416" y="2724912"/>
            <a:ext cx="237744" cy="182880"/>
          </a:xfrm>
          <a:prstGeom prst="rect">
            <a:avLst/>
          </a:prstGeom>
          <a:noFill/>
        </p:spPr>
        <p:txBody>
          <a:bodyPr wrap="none" anchor="t" lIns="0" rIns="0" tIns="0" bIns="0">
            <a:noAutofit/>
          </a:bodyPr>
          <a:lstStyle/>
          <a:p>
            <a:pPr algn="ctr">
              <a:lnSpc>
                <a:spcPts val="1134"/>
              </a:lnSpc>
              <a:spcBef>
                <a:spcPts val="0"/>
              </a:spcBef>
              <a:spcAft>
                <a:spcPts val="0"/>
              </a:spcAft>
            </a:pPr>
            <a:r>
              <a:rPr sz="900" b="0">
                <a:solidFill>
                  <a:srgbClr val="616161"/>
                </a:solidFill>
                <a:latin typeface="JetBrains Mono"/>
              </a:rPr>
              <a:t>01</a:t>
            </a:r>
          </a:p>
        </p:txBody>
      </p:sp>
      <p:sp>
        <p:nvSpPr>
          <p:cNvPr id="58" name="binary"/>
          <p:cNvSpPr txBox="1"/>
          <p:nvPr/>
        </p:nvSpPr>
        <p:spPr>
          <a:xfrm>
            <a:off x="3858768" y="3026664"/>
            <a:ext cx="1463040"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000000"/>
                </a:solidFill>
                <a:latin typeface="NVIDIA Sans"/>
              </a:rPr>
              <a:t>binary</a:t>
            </a:r>
          </a:p>
        </p:txBody>
      </p:sp>
      <p:cxnSp>
        <p:nvCxnSpPr>
          <p:cNvPr id="59" name="Connector 58"/>
          <p:cNvCxnSpPr/>
          <p:nvPr/>
        </p:nvCxnSpPr>
        <p:spPr>
          <a:xfrm>
            <a:off x="4837175" y="2788920"/>
            <a:ext cx="402337"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5239512" y="2788920"/>
            <a:ext cx="0" cy="521208"/>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a:off x="384048" y="3310128"/>
            <a:ext cx="4855464"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384048" y="2788920"/>
            <a:ext cx="0" cy="521208"/>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384048" y="2788920"/>
            <a:ext cx="265176"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64" name="Run → generate the next source"/>
          <p:cNvSpPr txBox="1"/>
          <p:nvPr/>
        </p:nvSpPr>
        <p:spPr>
          <a:xfrm>
            <a:off x="640080" y="3364992"/>
            <a:ext cx="4389120" cy="219456"/>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416600"/>
                </a:solidFill>
                <a:latin typeface="NVIDIA Sans"/>
              </a:rPr>
              <a:t>Run → generate the next source</a:t>
            </a:r>
          </a:p>
        </p:txBody>
      </p:sp>
      <p:sp>
        <p:nvSpPr>
          <p:cNvPr id="65" name="…"/>
          <p:cNvSpPr txBox="1"/>
          <p:nvPr/>
        </p:nvSpPr>
        <p:spPr>
          <a:xfrm>
            <a:off x="5605272" y="2660903"/>
            <a:ext cx="475488" cy="365760"/>
          </a:xfrm>
          <a:prstGeom prst="rect">
            <a:avLst/>
          </a:prstGeom>
          <a:noFill/>
        </p:spPr>
        <p:txBody>
          <a:bodyPr wrap="none" anchor="t" lIns="0" rIns="0" tIns="0" bIns="0">
            <a:noAutofit/>
          </a:bodyPr>
          <a:lstStyle/>
          <a:p>
            <a:pPr algn="ctr">
              <a:lnSpc>
                <a:spcPts val="2436"/>
              </a:lnSpc>
              <a:spcBef>
                <a:spcPts val="0"/>
              </a:spcBef>
              <a:spcAft>
                <a:spcPts val="0"/>
              </a:spcAft>
            </a:pPr>
            <a:r>
              <a:rPr sz="2100" b="0">
                <a:solidFill>
                  <a:srgbClr val="616161"/>
                </a:solidFill>
                <a:latin typeface="NVIDIA Sans Light"/>
              </a:rPr>
              <a:t>…</a:t>
            </a:r>
          </a:p>
        </p:txBody>
      </p:sp>
      <p:sp>
        <p:nvSpPr>
          <p:cNvPr id="66" name="Repeat…"/>
          <p:cNvSpPr txBox="1"/>
          <p:nvPr/>
        </p:nvSpPr>
        <p:spPr>
          <a:xfrm>
            <a:off x="6291072" y="2715768"/>
            <a:ext cx="2395728" cy="493776"/>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Repeat…</a:t>
            </a:r>
          </a:p>
        </p:txBody>
      </p:sp>
      <p:sp>
        <p:nvSpPr>
          <p:cNvPr id="67" name="In our case"/>
          <p:cNvSpPr txBox="1"/>
          <p:nvPr/>
        </p:nvSpPr>
        <p:spPr>
          <a:xfrm>
            <a:off x="457200" y="3602736"/>
            <a:ext cx="4114800" cy="265176"/>
          </a:xfrm>
          <a:prstGeom prst="rect">
            <a:avLst/>
          </a:prstGeom>
          <a:noFill/>
        </p:spPr>
        <p:txBody>
          <a:bodyPr wrap="none" anchor="t" lIns="0" rIns="0" tIns="0" bIns="0">
            <a:noAutofit/>
          </a:bodyPr>
          <a:lstStyle/>
          <a:p>
            <a:pPr algn="l">
              <a:lnSpc>
                <a:spcPts val="1449"/>
              </a:lnSpc>
              <a:spcBef>
                <a:spcPts val="0"/>
              </a:spcBef>
              <a:spcAft>
                <a:spcPts val="0"/>
              </a:spcAft>
            </a:pPr>
            <a:r>
              <a:rPr sz="1250" b="1">
                <a:solidFill>
                  <a:srgbClr val="416600"/>
                </a:solidFill>
                <a:latin typeface="NVIDIA Sans"/>
              </a:rPr>
              <a:t>In our case</a:t>
            </a:r>
          </a:p>
        </p:txBody>
      </p:sp>
      <p:sp>
        <p:nvSpPr>
          <p:cNvPr id="68" name="Rectangle 67"/>
          <p:cNvSpPr/>
          <p:nvPr/>
        </p:nvSpPr>
        <p:spPr>
          <a:xfrm>
            <a:off x="758952" y="3886200"/>
            <a:ext cx="274320" cy="347472"/>
          </a:xfrm>
          <a:prstGeom prst="rect">
            <a:avLst/>
          </a:prstGeom>
          <a:solidFill>
            <a:srgbClr val="FFFFFF"/>
          </a:solidFill>
          <a:ln w="8890">
            <a:solidFill>
              <a:srgbClr val="416600"/>
            </a:solidFill>
          </a:ln>
          <a:effectLst/>
        </p:spPr>
        <p:txBody>
          <a:bodyPr rtlCol="0" anchor="ctr"/>
          <a:lstStyle/>
          <a:p>
            <a:pPr algn="ctr"/>
          </a:p>
        </p:txBody>
      </p:sp>
      <p:cxnSp>
        <p:nvCxnSpPr>
          <p:cNvPr id="69" name="Connector 68"/>
          <p:cNvCxnSpPr/>
          <p:nvPr/>
        </p:nvCxnSpPr>
        <p:spPr>
          <a:xfrm>
            <a:off x="932688" y="3886200"/>
            <a:ext cx="0" cy="96012"/>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932688" y="3982212"/>
            <a:ext cx="100583"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932688" y="3886200"/>
            <a:ext cx="100583" cy="96012"/>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sp>
        <p:nvSpPr>
          <p:cNvPr id="72" name="&lt;/&gt;"/>
          <p:cNvSpPr txBox="1"/>
          <p:nvPr/>
        </p:nvSpPr>
        <p:spPr>
          <a:xfrm>
            <a:off x="779068" y="4032504"/>
            <a:ext cx="234086" cy="155448"/>
          </a:xfrm>
          <a:prstGeom prst="rect">
            <a:avLst/>
          </a:prstGeom>
          <a:noFill/>
        </p:spPr>
        <p:txBody>
          <a:bodyPr wrap="none" anchor="t" lIns="0" rIns="0" tIns="0" bIns="0">
            <a:noAutofit/>
          </a:bodyPr>
          <a:lstStyle/>
          <a:p>
            <a:pPr algn="ctr">
              <a:lnSpc>
                <a:spcPts val="970"/>
              </a:lnSpc>
              <a:spcBef>
                <a:spcPts val="0"/>
              </a:spcBef>
              <a:spcAft>
                <a:spcPts val="0"/>
              </a:spcAft>
            </a:pPr>
            <a:r>
              <a:rPr sz="770" b="0">
                <a:solidFill>
                  <a:srgbClr val="416600"/>
                </a:solidFill>
                <a:latin typeface="JetBrains Mono"/>
              </a:rPr>
              <a:t>&lt;/&gt;</a:t>
            </a:r>
          </a:p>
        </p:txBody>
      </p:sp>
      <p:sp>
        <p:nvSpPr>
          <p:cNvPr id="73" name="source.py"/>
          <p:cNvSpPr txBox="1"/>
          <p:nvPr/>
        </p:nvSpPr>
        <p:spPr>
          <a:xfrm>
            <a:off x="164591" y="4297680"/>
            <a:ext cx="1463040" cy="365760"/>
          </a:xfrm>
          <a:prstGeom prst="rect">
            <a:avLst/>
          </a:prstGeom>
          <a:noFill/>
        </p:spPr>
        <p:txBody>
          <a:bodyPr wrap="none" anchor="t" lIns="0" rIns="0" tIns="0" bIns="0">
            <a:noAutofit/>
          </a:bodyPr>
          <a:lstStyle/>
          <a:p>
            <a:pPr algn="ctr">
              <a:lnSpc>
                <a:spcPts val="1323"/>
              </a:lnSpc>
              <a:spcBef>
                <a:spcPts val="0"/>
              </a:spcBef>
              <a:spcAft>
                <a:spcPts val="0"/>
              </a:spcAft>
            </a:pPr>
            <a:r>
              <a:rPr sz="1050" b="0">
                <a:solidFill>
                  <a:srgbClr val="416600"/>
                </a:solidFill>
                <a:latin typeface="JetBrains Mono"/>
              </a:rPr>
              <a:t>source.py</a:t>
            </a:r>
          </a:p>
        </p:txBody>
      </p:sp>
      <p:cxnSp>
        <p:nvCxnSpPr>
          <p:cNvPr id="74" name="Connector 73"/>
          <p:cNvCxnSpPr/>
          <p:nvPr/>
        </p:nvCxnSpPr>
        <p:spPr>
          <a:xfrm>
            <a:off x="1143000" y="4059936"/>
            <a:ext cx="1344168"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75" name="Gear 6 74"/>
          <p:cNvSpPr/>
          <p:nvPr/>
        </p:nvSpPr>
        <p:spPr>
          <a:xfrm>
            <a:off x="2555748" y="3886200"/>
            <a:ext cx="356616" cy="356616"/>
          </a:xfrm>
          <a:prstGeom prst="gear6">
            <a:avLst/>
          </a:prstGeom>
          <a:solidFill>
            <a:srgbClr val="E4F0D0"/>
          </a:solidFill>
          <a:ln w="11430">
            <a:solidFill>
              <a:srgbClr val="416600"/>
            </a:solidFill>
          </a:ln>
          <a:effectLst/>
        </p:spPr>
        <p:txBody>
          <a:bodyPr rtlCol="0" anchor="ctr"/>
          <a:lstStyle/>
          <a:p>
            <a:pPr algn="ctr"/>
          </a:p>
        </p:txBody>
      </p:sp>
      <p:sp>
        <p:nvSpPr>
          <p:cNvPr id="76" name="Python / interpreter"/>
          <p:cNvSpPr txBox="1"/>
          <p:nvPr/>
        </p:nvSpPr>
        <p:spPr>
          <a:xfrm>
            <a:off x="2002535" y="4297680"/>
            <a:ext cx="1463040"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416600"/>
                </a:solidFill>
                <a:latin typeface="NVIDIA Sans"/>
              </a:rPr>
              <a:t>Python</a:t>
            </a:r>
          </a:p>
          <a:p>
            <a:pPr algn="ctr">
              <a:lnSpc>
                <a:spcPts val="1218"/>
              </a:lnSpc>
              <a:spcBef>
                <a:spcPts val="0"/>
              </a:spcBef>
              <a:spcAft>
                <a:spcPts val="0"/>
              </a:spcAft>
            </a:pPr>
            <a:r>
              <a:rPr sz="1050" b="0">
                <a:solidFill>
                  <a:srgbClr val="416600"/>
                </a:solidFill>
                <a:latin typeface="NVIDIA Sans"/>
              </a:rPr>
              <a:t>interpreter</a:t>
            </a:r>
          </a:p>
        </p:txBody>
      </p:sp>
      <p:cxnSp>
        <p:nvCxnSpPr>
          <p:cNvPr id="77" name="Connector 76"/>
          <p:cNvCxnSpPr/>
          <p:nvPr/>
        </p:nvCxnSpPr>
        <p:spPr>
          <a:xfrm>
            <a:off x="2980944" y="4059936"/>
            <a:ext cx="1344168"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78" name="Rectangle 77"/>
          <p:cNvSpPr/>
          <p:nvPr/>
        </p:nvSpPr>
        <p:spPr>
          <a:xfrm>
            <a:off x="4434840" y="3886200"/>
            <a:ext cx="274320" cy="347472"/>
          </a:xfrm>
          <a:prstGeom prst="rect">
            <a:avLst/>
          </a:prstGeom>
          <a:solidFill>
            <a:srgbClr val="FFFFFF"/>
          </a:solidFill>
          <a:ln w="8890">
            <a:solidFill>
              <a:srgbClr val="416600"/>
            </a:solidFill>
          </a:ln>
          <a:effectLst/>
        </p:spPr>
        <p:txBody>
          <a:bodyPr rtlCol="0" anchor="ctr"/>
          <a:lstStyle/>
          <a:p>
            <a:pPr algn="ctr"/>
          </a:p>
        </p:txBody>
      </p:sp>
      <p:cxnSp>
        <p:nvCxnSpPr>
          <p:cNvPr id="79" name="Connector 78"/>
          <p:cNvCxnSpPr/>
          <p:nvPr/>
        </p:nvCxnSpPr>
        <p:spPr>
          <a:xfrm>
            <a:off x="4608576" y="3886200"/>
            <a:ext cx="0" cy="96012"/>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4608576" y="3982212"/>
            <a:ext cx="100584"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4608576" y="3886200"/>
            <a:ext cx="100584" cy="96012"/>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sp>
        <p:nvSpPr>
          <p:cNvPr id="82" name="&lt;/&gt;"/>
          <p:cNvSpPr txBox="1"/>
          <p:nvPr/>
        </p:nvSpPr>
        <p:spPr>
          <a:xfrm>
            <a:off x="4454956" y="4032504"/>
            <a:ext cx="234086" cy="155448"/>
          </a:xfrm>
          <a:prstGeom prst="rect">
            <a:avLst/>
          </a:prstGeom>
          <a:noFill/>
        </p:spPr>
        <p:txBody>
          <a:bodyPr wrap="none" anchor="t" lIns="0" rIns="0" tIns="0" bIns="0">
            <a:noAutofit/>
          </a:bodyPr>
          <a:lstStyle/>
          <a:p>
            <a:pPr algn="ctr">
              <a:lnSpc>
                <a:spcPts val="970"/>
              </a:lnSpc>
              <a:spcBef>
                <a:spcPts val="0"/>
              </a:spcBef>
              <a:spcAft>
                <a:spcPts val="0"/>
              </a:spcAft>
            </a:pPr>
            <a:r>
              <a:rPr sz="770" b="0">
                <a:solidFill>
                  <a:srgbClr val="416600"/>
                </a:solidFill>
                <a:latin typeface="JetBrains Mono"/>
              </a:rPr>
              <a:t>&lt;/&gt;</a:t>
            </a:r>
          </a:p>
        </p:txBody>
      </p:sp>
      <p:sp>
        <p:nvSpPr>
          <p:cNvPr id="83" name="*.mlir"/>
          <p:cNvSpPr txBox="1"/>
          <p:nvPr/>
        </p:nvSpPr>
        <p:spPr>
          <a:xfrm>
            <a:off x="3840480" y="4297680"/>
            <a:ext cx="1463040" cy="365760"/>
          </a:xfrm>
          <a:prstGeom prst="rect">
            <a:avLst/>
          </a:prstGeom>
          <a:noFill/>
        </p:spPr>
        <p:txBody>
          <a:bodyPr wrap="none" anchor="t" lIns="0" rIns="0" tIns="0" bIns="0">
            <a:noAutofit/>
          </a:bodyPr>
          <a:lstStyle/>
          <a:p>
            <a:pPr algn="ctr">
              <a:lnSpc>
                <a:spcPts val="1323"/>
              </a:lnSpc>
              <a:spcBef>
                <a:spcPts val="0"/>
              </a:spcBef>
              <a:spcAft>
                <a:spcPts val="0"/>
              </a:spcAft>
            </a:pPr>
            <a:r>
              <a:rPr sz="1050" b="0">
                <a:solidFill>
                  <a:srgbClr val="416600"/>
                </a:solidFill>
                <a:latin typeface="JetBrains Mono"/>
              </a:rPr>
              <a:t>*.mlir</a:t>
            </a:r>
          </a:p>
        </p:txBody>
      </p:sp>
      <p:cxnSp>
        <p:nvCxnSpPr>
          <p:cNvPr id="84" name="Connector 83"/>
          <p:cNvCxnSpPr/>
          <p:nvPr/>
        </p:nvCxnSpPr>
        <p:spPr>
          <a:xfrm>
            <a:off x="4818888" y="4059936"/>
            <a:ext cx="1344168"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85" name="Gear 6 84"/>
          <p:cNvSpPr/>
          <p:nvPr/>
        </p:nvSpPr>
        <p:spPr>
          <a:xfrm>
            <a:off x="6231636" y="3886200"/>
            <a:ext cx="356616" cy="356616"/>
          </a:xfrm>
          <a:prstGeom prst="gear6">
            <a:avLst/>
          </a:prstGeom>
          <a:solidFill>
            <a:srgbClr val="E4F0D0"/>
          </a:solidFill>
          <a:ln w="11430">
            <a:solidFill>
              <a:srgbClr val="416600"/>
            </a:solidFill>
          </a:ln>
          <a:effectLst/>
        </p:spPr>
        <p:txBody>
          <a:bodyPr rtlCol="0" anchor="ctr"/>
          <a:lstStyle/>
          <a:p>
            <a:pPr algn="ctr"/>
          </a:p>
        </p:txBody>
      </p:sp>
      <p:sp>
        <p:nvSpPr>
          <p:cNvPr id="86" name="mlir-opt"/>
          <p:cNvSpPr txBox="1"/>
          <p:nvPr/>
        </p:nvSpPr>
        <p:spPr>
          <a:xfrm>
            <a:off x="5678424" y="4297680"/>
            <a:ext cx="1463040" cy="365760"/>
          </a:xfrm>
          <a:prstGeom prst="rect">
            <a:avLst/>
          </a:prstGeom>
          <a:noFill/>
        </p:spPr>
        <p:txBody>
          <a:bodyPr wrap="none" anchor="t" lIns="0" rIns="0" tIns="0" bIns="0">
            <a:noAutofit/>
          </a:bodyPr>
          <a:lstStyle/>
          <a:p>
            <a:pPr algn="ctr">
              <a:lnSpc>
                <a:spcPts val="1323"/>
              </a:lnSpc>
              <a:spcBef>
                <a:spcPts val="0"/>
              </a:spcBef>
              <a:spcAft>
                <a:spcPts val="0"/>
              </a:spcAft>
            </a:pPr>
            <a:r>
              <a:rPr sz="1050" b="0">
                <a:solidFill>
                  <a:srgbClr val="416600"/>
                </a:solidFill>
                <a:latin typeface="JetBrains Mono"/>
              </a:rPr>
              <a:t>mlir-opt</a:t>
            </a:r>
          </a:p>
        </p:txBody>
      </p:sp>
      <p:cxnSp>
        <p:nvCxnSpPr>
          <p:cNvPr id="87" name="Connector 86"/>
          <p:cNvCxnSpPr/>
          <p:nvPr/>
        </p:nvCxnSpPr>
        <p:spPr>
          <a:xfrm>
            <a:off x="6656831" y="4059936"/>
            <a:ext cx="1344169"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88" name="Rectangle 87"/>
          <p:cNvSpPr/>
          <p:nvPr/>
        </p:nvSpPr>
        <p:spPr>
          <a:xfrm>
            <a:off x="8110727" y="3922776"/>
            <a:ext cx="274320" cy="274320"/>
          </a:xfrm>
          <a:prstGeom prst="rect">
            <a:avLst/>
          </a:prstGeom>
          <a:solidFill>
            <a:srgbClr val="F0F6E6"/>
          </a:solidFill>
          <a:ln w="8890">
            <a:solidFill>
              <a:srgbClr val="416600"/>
            </a:solidFill>
          </a:ln>
          <a:effectLst/>
        </p:spPr>
        <p:txBody>
          <a:bodyPr rtlCol="0" anchor="ctr"/>
          <a:lstStyle/>
          <a:p>
            <a:pPr algn="ctr"/>
          </a:p>
        </p:txBody>
      </p:sp>
      <p:cxnSp>
        <p:nvCxnSpPr>
          <p:cNvPr id="89" name="Connector 88"/>
          <p:cNvCxnSpPr/>
          <p:nvPr/>
        </p:nvCxnSpPr>
        <p:spPr>
          <a:xfrm>
            <a:off x="8174736" y="3886200"/>
            <a:ext cx="0" cy="3657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8174736" y="4197096"/>
            <a:ext cx="0" cy="3657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8074152" y="3986784"/>
            <a:ext cx="36575"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8385048" y="3986784"/>
            <a:ext cx="36576"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8247888" y="3886200"/>
            <a:ext cx="0" cy="3657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8247888" y="4197096"/>
            <a:ext cx="0" cy="3657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8074152" y="4059936"/>
            <a:ext cx="36575"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8385048" y="4059936"/>
            <a:ext cx="36576"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8321040" y="3886200"/>
            <a:ext cx="0" cy="3657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a:off x="8321040" y="4197096"/>
            <a:ext cx="0" cy="3657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a:off x="8074152" y="4133088"/>
            <a:ext cx="36575"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a:off x="8385048" y="4133088"/>
            <a:ext cx="36576"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sp>
        <p:nvSpPr>
          <p:cNvPr id="101" name="01"/>
          <p:cNvSpPr txBox="1"/>
          <p:nvPr/>
        </p:nvSpPr>
        <p:spPr>
          <a:xfrm>
            <a:off x="8129015" y="3995928"/>
            <a:ext cx="237744" cy="182880"/>
          </a:xfrm>
          <a:prstGeom prst="rect">
            <a:avLst/>
          </a:prstGeom>
          <a:noFill/>
        </p:spPr>
        <p:txBody>
          <a:bodyPr wrap="none" anchor="t" lIns="0" rIns="0" tIns="0" bIns="0">
            <a:noAutofit/>
          </a:bodyPr>
          <a:lstStyle/>
          <a:p>
            <a:pPr algn="ctr">
              <a:lnSpc>
                <a:spcPts val="1134"/>
              </a:lnSpc>
              <a:spcBef>
                <a:spcPts val="0"/>
              </a:spcBef>
              <a:spcAft>
                <a:spcPts val="0"/>
              </a:spcAft>
            </a:pPr>
            <a:r>
              <a:rPr sz="900" b="0">
                <a:solidFill>
                  <a:srgbClr val="416600"/>
                </a:solidFill>
                <a:latin typeface="JetBrains Mono"/>
              </a:rPr>
              <a:t>01</a:t>
            </a:r>
          </a:p>
        </p:txBody>
      </p:sp>
      <p:sp>
        <p:nvSpPr>
          <p:cNvPr id="102" name="binary"/>
          <p:cNvSpPr txBox="1"/>
          <p:nvPr/>
        </p:nvSpPr>
        <p:spPr>
          <a:xfrm>
            <a:off x="7516367" y="4297680"/>
            <a:ext cx="1463040"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416600"/>
                </a:solidFill>
                <a:latin typeface="NVIDIA Sans"/>
              </a:rPr>
              <a:t>binary</a:t>
            </a:r>
          </a:p>
        </p:txBody>
      </p:sp>
      <p:sp>
        <p:nvSpPr>
          <p:cNvPr id="103" name="LLVM codegen / JIT"/>
          <p:cNvSpPr txBox="1"/>
          <p:nvPr/>
        </p:nvSpPr>
        <p:spPr>
          <a:xfrm>
            <a:off x="6542532" y="3721608"/>
            <a:ext cx="1572768" cy="192024"/>
          </a:xfrm>
          <a:prstGeom prst="rect">
            <a:avLst/>
          </a:prstGeom>
          <a:noFill/>
        </p:spPr>
        <p:txBody>
          <a:bodyPr wrap="none" anchor="t" lIns="0" rIns="0" tIns="0" bIns="0">
            <a:noAutofit/>
          </a:bodyPr>
          <a:lstStyle/>
          <a:p>
            <a:pPr algn="ctr">
              <a:lnSpc>
                <a:spcPts val="1044"/>
              </a:lnSpc>
              <a:spcBef>
                <a:spcPts val="0"/>
              </a:spcBef>
              <a:spcAft>
                <a:spcPts val="0"/>
              </a:spcAft>
            </a:pPr>
            <a:r>
              <a:rPr sz="900" b="0">
                <a:solidFill>
                  <a:srgbClr val="416600"/>
                </a:solidFill>
                <a:latin typeface="NVIDIA Sans"/>
              </a:rPr>
              <a:t>LLVM codegen / JIT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Why multi-stage programming?"/>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Why multi-stage programming?</a:t>
            </a:r>
          </a:p>
        </p:txBody>
      </p:sp>
      <p:sp>
        <p:nvSpPr>
          <p:cNvPr id="5" name="12"/>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12</a:t>
            </a:r>
          </a:p>
        </p:txBody>
      </p:sp>
      <p:sp>
        <p:nvSpPr>
          <p:cNvPr id="6" name="Introduc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Introduction</a:t>
            </a:r>
          </a:p>
        </p:txBody>
      </p:sp>
      <p:sp>
        <p:nvSpPr>
          <p:cNvPr id="7" name="Rectangle 6"/>
          <p:cNvSpPr/>
          <p:nvPr/>
        </p:nvSpPr>
        <p:spPr>
          <a:xfrm>
            <a:off x="4498848" y="1536192"/>
            <a:ext cx="10972" cy="1353312"/>
          </a:xfrm>
          <a:prstGeom prst="rect">
            <a:avLst/>
          </a:prstGeom>
          <a:solidFill>
            <a:srgbClr val="D5D5D5"/>
          </a:solidFill>
          <a:ln>
            <a:noFill/>
          </a:ln>
          <a:effectLst/>
        </p:spPr>
        <p:txBody>
          <a:bodyPr rtlCol="0" anchor="ctr"/>
          <a:lstStyle/>
          <a:p>
            <a:pPr algn="ctr"/>
          </a:p>
        </p:txBody>
      </p:sp>
      <p:sp>
        <p:nvSpPr>
          <p:cNvPr id="8" name="01"/>
          <p:cNvSpPr txBox="1"/>
          <p:nvPr/>
        </p:nvSpPr>
        <p:spPr>
          <a:xfrm>
            <a:off x="502920" y="1554480"/>
            <a:ext cx="310896" cy="228600"/>
          </a:xfrm>
          <a:prstGeom prst="rect">
            <a:avLst/>
          </a:prstGeom>
          <a:noFill/>
        </p:spPr>
        <p:txBody>
          <a:bodyPr wrap="none" anchor="t" lIns="0" rIns="0" tIns="0" bIns="0">
            <a:noAutofit/>
          </a:bodyPr>
          <a:lstStyle/>
          <a:p>
            <a:pPr algn="l">
              <a:lnSpc>
                <a:spcPts val="1218"/>
              </a:lnSpc>
              <a:spcBef>
                <a:spcPts val="0"/>
              </a:spcBef>
              <a:spcAft>
                <a:spcPts val="0"/>
              </a:spcAft>
            </a:pPr>
            <a:r>
              <a:rPr sz="1050" b="1">
                <a:solidFill>
                  <a:srgbClr val="416600"/>
                </a:solidFill>
                <a:latin typeface="NVIDIA Sans"/>
              </a:rPr>
              <a:t>01</a:t>
            </a:r>
          </a:p>
        </p:txBody>
      </p:sp>
      <p:sp>
        <p:nvSpPr>
          <p:cNvPr id="9" name="METAPROGRAM"/>
          <p:cNvSpPr txBox="1"/>
          <p:nvPr/>
        </p:nvSpPr>
        <p:spPr>
          <a:xfrm>
            <a:off x="941832" y="1554480"/>
            <a:ext cx="3401568" cy="228600"/>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416600"/>
                </a:solidFill>
                <a:latin typeface="NVIDIA Sans"/>
              </a:rPr>
              <a:t>METAPROGRAM</a:t>
            </a:r>
          </a:p>
        </p:txBody>
      </p:sp>
      <p:sp>
        <p:nvSpPr>
          <p:cNvPr id="10" name="All of Python."/>
          <p:cNvSpPr txBox="1"/>
          <p:nvPr/>
        </p:nvSpPr>
        <p:spPr>
          <a:xfrm>
            <a:off x="502920" y="1938528"/>
            <a:ext cx="3840480" cy="429768"/>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All of Python.</a:t>
            </a:r>
          </a:p>
        </p:txBody>
      </p:sp>
      <p:sp>
        <p:nvSpPr>
          <p:cNvPr id="11" name="Objects · imports · libraries"/>
          <p:cNvSpPr txBox="1"/>
          <p:nvPr/>
        </p:nvSpPr>
        <p:spPr>
          <a:xfrm>
            <a:off x="502920" y="2542032"/>
            <a:ext cx="3840480" cy="530352"/>
          </a:xfrm>
          <a:prstGeom prst="rect">
            <a:avLst/>
          </a:prstGeom>
          <a:noFill/>
        </p:spPr>
        <p:txBody>
          <a:bodyPr wrap="none" anchor="t" lIns="0" rIns="0" tIns="0" bIns="0">
            <a:noAutofit/>
          </a:bodyPr>
          <a:lstStyle/>
          <a:p>
            <a:pPr algn="l">
              <a:lnSpc>
                <a:spcPts val="1449"/>
              </a:lnSpc>
              <a:spcBef>
                <a:spcPts val="0"/>
              </a:spcBef>
              <a:spcAft>
                <a:spcPts val="0"/>
              </a:spcAft>
            </a:pPr>
            <a:r>
              <a:rPr sz="1250" b="0">
                <a:solidFill>
                  <a:srgbClr val="616161"/>
                </a:solidFill>
                <a:latin typeface="NVIDIA Sans"/>
              </a:rPr>
              <a:t>Objects · imports · libraries</a:t>
            </a:r>
          </a:p>
        </p:txBody>
      </p:sp>
      <p:sp>
        <p:nvSpPr>
          <p:cNvPr id="12" name="02"/>
          <p:cNvSpPr txBox="1"/>
          <p:nvPr/>
        </p:nvSpPr>
        <p:spPr>
          <a:xfrm>
            <a:off x="4800600" y="1554480"/>
            <a:ext cx="310896" cy="228600"/>
          </a:xfrm>
          <a:prstGeom prst="rect">
            <a:avLst/>
          </a:prstGeom>
          <a:noFill/>
        </p:spPr>
        <p:txBody>
          <a:bodyPr wrap="none" anchor="t" lIns="0" rIns="0" tIns="0" bIns="0">
            <a:noAutofit/>
          </a:bodyPr>
          <a:lstStyle/>
          <a:p>
            <a:pPr algn="l">
              <a:lnSpc>
                <a:spcPts val="1218"/>
              </a:lnSpc>
              <a:spcBef>
                <a:spcPts val="0"/>
              </a:spcBef>
              <a:spcAft>
                <a:spcPts val="0"/>
              </a:spcAft>
            </a:pPr>
            <a:r>
              <a:rPr sz="1050" b="1">
                <a:solidFill>
                  <a:srgbClr val="416600"/>
                </a:solidFill>
                <a:latin typeface="NVIDIA Sans"/>
              </a:rPr>
              <a:t>02</a:t>
            </a:r>
          </a:p>
        </p:txBody>
      </p:sp>
      <p:sp>
        <p:nvSpPr>
          <p:cNvPr id="13" name="DSL NAMESPACE"/>
          <p:cNvSpPr txBox="1"/>
          <p:nvPr/>
        </p:nvSpPr>
        <p:spPr>
          <a:xfrm>
            <a:off x="5239512" y="1554480"/>
            <a:ext cx="3401568" cy="228600"/>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416600"/>
                </a:solidFill>
                <a:latin typeface="NVIDIA Sans"/>
              </a:rPr>
              <a:t>DSL NAMESPACE</a:t>
            </a:r>
          </a:p>
        </p:txBody>
      </p:sp>
      <p:sp>
        <p:nvSpPr>
          <p:cNvPr id="14" name="Explicit capture."/>
          <p:cNvSpPr txBox="1"/>
          <p:nvPr/>
        </p:nvSpPr>
        <p:spPr>
          <a:xfrm>
            <a:off x="4800600" y="1938528"/>
            <a:ext cx="3840480" cy="429768"/>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Explicit capture.</a:t>
            </a:r>
          </a:p>
        </p:txBody>
      </p:sp>
      <p:sp>
        <p:nvSpPr>
          <p:cNvPr id="15" name="Types · operators · builders"/>
          <p:cNvSpPr txBox="1"/>
          <p:nvPr/>
        </p:nvSpPr>
        <p:spPr>
          <a:xfrm>
            <a:off x="4800600" y="2542032"/>
            <a:ext cx="3840480" cy="530352"/>
          </a:xfrm>
          <a:prstGeom prst="rect">
            <a:avLst/>
          </a:prstGeom>
          <a:noFill/>
        </p:spPr>
        <p:txBody>
          <a:bodyPr wrap="none" anchor="t" lIns="0" rIns="0" tIns="0" bIns="0">
            <a:noAutofit/>
          </a:bodyPr>
          <a:lstStyle/>
          <a:p>
            <a:pPr algn="l">
              <a:lnSpc>
                <a:spcPts val="1449"/>
              </a:lnSpc>
              <a:spcBef>
                <a:spcPts val="0"/>
              </a:spcBef>
              <a:spcAft>
                <a:spcPts val="0"/>
              </a:spcAft>
            </a:pPr>
            <a:r>
              <a:rPr sz="1250" b="0">
                <a:solidFill>
                  <a:srgbClr val="616161"/>
                </a:solidFill>
                <a:latin typeface="NVIDIA Sans"/>
              </a:rPr>
              <a:t>Types · operators · builders</a:t>
            </a:r>
          </a:p>
        </p:txBody>
      </p:sp>
      <p:sp>
        <p:nvSpPr>
          <p:cNvPr id="16" name="Rectangle 15"/>
          <p:cNvSpPr/>
          <p:nvPr/>
        </p:nvSpPr>
        <p:spPr>
          <a:xfrm>
            <a:off x="502920" y="3182112"/>
            <a:ext cx="8138160" cy="10972"/>
          </a:xfrm>
          <a:prstGeom prst="rect">
            <a:avLst/>
          </a:prstGeom>
          <a:solidFill>
            <a:srgbClr val="D5D5D5"/>
          </a:solidFill>
          <a:ln>
            <a:noFill/>
          </a:ln>
          <a:effectLst/>
        </p:spPr>
        <p:txBody>
          <a:bodyPr rtlCol="0" anchor="ctr"/>
          <a:lstStyle/>
          <a:p>
            <a:pPr algn="ctr"/>
          </a:p>
        </p:txBody>
      </p:sp>
      <p:sp>
        <p:nvSpPr>
          <p:cNvPr id="17" name="import mlir.mlir_dsl as m"/>
          <p:cNvSpPr txBox="1"/>
          <p:nvPr/>
        </p:nvSpPr>
        <p:spPr>
          <a:xfrm>
            <a:off x="502920" y="3300984"/>
            <a:ext cx="8138160" cy="237744"/>
          </a:xfrm>
          <a:prstGeom prst="rect">
            <a:avLst/>
          </a:prstGeom>
          <a:noFill/>
        </p:spPr>
        <p:txBody>
          <a:bodyPr wrap="none" anchor="t" lIns="0" rIns="0" tIns="0" bIns="0">
            <a:noAutofit/>
          </a:bodyPr>
          <a:lstStyle/>
          <a:p>
            <a:pPr algn="l">
              <a:lnSpc>
                <a:spcPts val="1160"/>
              </a:lnSpc>
              <a:spcBef>
                <a:spcPts val="0"/>
              </a:spcBef>
              <a:spcAft>
                <a:spcPts val="0"/>
              </a:spcAft>
            </a:pPr>
            <a:r>
              <a:rPr sz="1000" b="0">
                <a:solidFill>
                  <a:srgbClr val="616161"/>
                </a:solidFill>
                <a:latin typeface="NVIDIA Sans"/>
              </a:rPr>
              <a:t>import mlir.mlir_dsl as m</a:t>
            </a:r>
          </a:p>
        </p:txBody>
      </p:sp>
      <p:sp>
        <p:nvSpPr>
          <p:cNvPr id="18" name="range(4)"/>
          <p:cNvSpPr txBox="1"/>
          <p:nvPr/>
        </p:nvSpPr>
        <p:spPr>
          <a:xfrm>
            <a:off x="502920" y="3675887"/>
            <a:ext cx="1481328" cy="320040"/>
          </a:xfrm>
          <a:prstGeom prst="rect">
            <a:avLst/>
          </a:prstGeom>
          <a:noFill/>
        </p:spPr>
        <p:txBody>
          <a:bodyPr wrap="none" anchor="t" lIns="0" rIns="0" tIns="0" bIns="0">
            <a:noAutofit/>
          </a:bodyPr>
          <a:lstStyle/>
          <a:p>
            <a:pPr algn="l">
              <a:lnSpc>
                <a:spcPts val="1764"/>
              </a:lnSpc>
              <a:spcBef>
                <a:spcPts val="0"/>
              </a:spcBef>
              <a:spcAft>
                <a:spcPts val="0"/>
              </a:spcAft>
            </a:pPr>
            <a:r>
              <a:rPr sz="1400" b="0">
                <a:solidFill>
                  <a:srgbClr val="616161"/>
                </a:solidFill>
                <a:latin typeface="JetBrains Mono"/>
              </a:rPr>
              <a:t>range(4)</a:t>
            </a:r>
          </a:p>
        </p:txBody>
      </p:sp>
      <p:cxnSp>
        <p:nvCxnSpPr>
          <p:cNvPr id="19" name="Connector 18"/>
          <p:cNvCxnSpPr/>
          <p:nvPr/>
        </p:nvCxnSpPr>
        <p:spPr>
          <a:xfrm>
            <a:off x="2121408" y="3822191"/>
            <a:ext cx="393192" cy="0"/>
          </a:xfrm>
          <a:prstGeom prst="line">
            <a:avLst/>
          </a:prstGeom>
          <a:ln w="15875">
            <a:solidFill>
              <a:srgbClr val="616161"/>
            </a:solidFill>
            <a:tailEnd type="triangle"/>
          </a:ln>
        </p:spPr>
        <p:style>
          <a:lnRef idx="2">
            <a:schemeClr val="accent1"/>
          </a:lnRef>
          <a:fillRef idx="0">
            <a:schemeClr val="accent1"/>
          </a:fillRef>
          <a:effectRef idx="1">
            <a:schemeClr val="accent1"/>
          </a:effectRef>
          <a:fontRef idx="minor">
            <a:schemeClr val="tx1"/>
          </a:fontRef>
        </p:style>
      </p:cxnSp>
      <p:sp>
        <p:nvSpPr>
          <p:cNvPr id="20" name="Python loop"/>
          <p:cNvSpPr txBox="1"/>
          <p:nvPr/>
        </p:nvSpPr>
        <p:spPr>
          <a:xfrm>
            <a:off x="2706624" y="3666744"/>
            <a:ext cx="1691640" cy="301752"/>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616161"/>
                </a:solidFill>
                <a:latin typeface="NVIDIA Sans"/>
              </a:rPr>
              <a:t>Python loop</a:t>
            </a:r>
          </a:p>
        </p:txBody>
      </p:sp>
      <p:sp>
        <p:nvSpPr>
          <p:cNvPr id="21" name="Runs now"/>
          <p:cNvSpPr txBox="1"/>
          <p:nvPr/>
        </p:nvSpPr>
        <p:spPr>
          <a:xfrm>
            <a:off x="2706624" y="4005072"/>
            <a:ext cx="1691640" cy="228600"/>
          </a:xfrm>
          <a:prstGeom prst="rect">
            <a:avLst/>
          </a:prstGeom>
          <a:noFill/>
        </p:spPr>
        <p:txBody>
          <a:bodyPr wrap="none" anchor="t" lIns="0" rIns="0" tIns="0" bIns="0">
            <a:noAutofit/>
          </a:bodyPr>
          <a:lstStyle/>
          <a:p>
            <a:pPr algn="l">
              <a:lnSpc>
                <a:spcPts val="1160"/>
              </a:lnSpc>
              <a:spcBef>
                <a:spcPts val="0"/>
              </a:spcBef>
              <a:spcAft>
                <a:spcPts val="0"/>
              </a:spcAft>
            </a:pPr>
            <a:r>
              <a:rPr sz="1000" b="0">
                <a:solidFill>
                  <a:srgbClr val="616161"/>
                </a:solidFill>
                <a:latin typeface="NVIDIA Sans"/>
              </a:rPr>
              <a:t>Runs now</a:t>
            </a:r>
          </a:p>
        </p:txBody>
      </p:sp>
      <p:sp>
        <p:nvSpPr>
          <p:cNvPr id="22" name="m.range(4)"/>
          <p:cNvSpPr txBox="1"/>
          <p:nvPr/>
        </p:nvSpPr>
        <p:spPr>
          <a:xfrm>
            <a:off x="4800600" y="3675887"/>
            <a:ext cx="1481328" cy="320040"/>
          </a:xfrm>
          <a:prstGeom prst="rect">
            <a:avLst/>
          </a:prstGeom>
          <a:noFill/>
        </p:spPr>
        <p:txBody>
          <a:bodyPr wrap="none" anchor="t" lIns="0" rIns="0" tIns="0" bIns="0">
            <a:noAutofit/>
          </a:bodyPr>
          <a:lstStyle/>
          <a:p>
            <a:pPr algn="l">
              <a:lnSpc>
                <a:spcPts val="1764"/>
              </a:lnSpc>
              <a:spcBef>
                <a:spcPts val="0"/>
              </a:spcBef>
              <a:spcAft>
                <a:spcPts val="0"/>
              </a:spcAft>
            </a:pPr>
            <a:r>
              <a:rPr sz="1400" b="0">
                <a:solidFill>
                  <a:srgbClr val="416600"/>
                </a:solidFill>
                <a:latin typeface="JetBrains Mono"/>
              </a:rPr>
              <a:t>m.range(4)</a:t>
            </a:r>
          </a:p>
        </p:txBody>
      </p:sp>
      <p:cxnSp>
        <p:nvCxnSpPr>
          <p:cNvPr id="23" name="Connector 22"/>
          <p:cNvCxnSpPr/>
          <p:nvPr/>
        </p:nvCxnSpPr>
        <p:spPr>
          <a:xfrm>
            <a:off x="6419088" y="3822191"/>
            <a:ext cx="39319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24" name="scf.for"/>
          <p:cNvSpPr txBox="1"/>
          <p:nvPr/>
        </p:nvSpPr>
        <p:spPr>
          <a:xfrm>
            <a:off x="7004304" y="3666744"/>
            <a:ext cx="1691640" cy="301752"/>
          </a:xfrm>
          <a:prstGeom prst="rect">
            <a:avLst/>
          </a:prstGeom>
          <a:noFill/>
        </p:spPr>
        <p:txBody>
          <a:bodyPr wrap="none" anchor="t" lIns="0" rIns="0" tIns="0" bIns="0">
            <a:noAutofit/>
          </a:bodyPr>
          <a:lstStyle/>
          <a:p>
            <a:pPr algn="l">
              <a:lnSpc>
                <a:spcPts val="1764"/>
              </a:lnSpc>
              <a:spcBef>
                <a:spcPts val="0"/>
              </a:spcBef>
              <a:spcAft>
                <a:spcPts val="0"/>
              </a:spcAft>
            </a:pPr>
            <a:r>
              <a:rPr sz="1400" b="0">
                <a:solidFill>
                  <a:srgbClr val="416600"/>
                </a:solidFill>
                <a:latin typeface="JetBrains Mono"/>
              </a:rPr>
              <a:t>scf.for</a:t>
            </a:r>
          </a:p>
        </p:txBody>
      </p:sp>
      <p:sp>
        <p:nvSpPr>
          <p:cNvPr id="25" name="Runs later"/>
          <p:cNvSpPr txBox="1"/>
          <p:nvPr/>
        </p:nvSpPr>
        <p:spPr>
          <a:xfrm>
            <a:off x="7004304" y="4005072"/>
            <a:ext cx="1691640" cy="228600"/>
          </a:xfrm>
          <a:prstGeom prst="rect">
            <a:avLst/>
          </a:prstGeom>
          <a:noFill/>
        </p:spPr>
        <p:txBody>
          <a:bodyPr wrap="none" anchor="t" lIns="0" rIns="0" tIns="0" bIns="0">
            <a:noAutofit/>
          </a:bodyPr>
          <a:lstStyle/>
          <a:p>
            <a:pPr algn="l">
              <a:lnSpc>
                <a:spcPts val="1160"/>
              </a:lnSpc>
              <a:spcBef>
                <a:spcPts val="0"/>
              </a:spcBef>
              <a:spcAft>
                <a:spcPts val="0"/>
              </a:spcAft>
            </a:pPr>
            <a:r>
              <a:rPr sz="1000" b="0">
                <a:solidFill>
                  <a:srgbClr val="616161"/>
                </a:solidFill>
                <a:latin typeface="NVIDIA Sans"/>
              </a:rPr>
              <a:t>Runs later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Agenda"/>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Agenda</a:t>
            </a:r>
          </a:p>
        </p:txBody>
      </p:sp>
      <p:sp>
        <p:nvSpPr>
          <p:cNvPr id="5" name="13"/>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13</a:t>
            </a:r>
          </a:p>
        </p:txBody>
      </p:sp>
      <p:sp>
        <p:nvSpPr>
          <p:cNvPr id="6" name="mlir 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a:t>
            </a:r>
          </a:p>
        </p:txBody>
      </p:sp>
      <p:sp>
        <p:nvSpPr>
          <p:cNvPr id="7" name="01"/>
          <p:cNvSpPr txBox="1"/>
          <p:nvPr/>
        </p:nvSpPr>
        <p:spPr>
          <a:xfrm>
            <a:off x="502920" y="1577339"/>
            <a:ext cx="411480" cy="320040"/>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01</a:t>
            </a:r>
          </a:p>
        </p:txBody>
      </p:sp>
      <p:sp>
        <p:nvSpPr>
          <p:cNvPr id="8" name="Trace Python → types → control flow"/>
          <p:cNvSpPr txBox="1"/>
          <p:nvPr/>
        </p:nvSpPr>
        <p:spPr>
          <a:xfrm>
            <a:off x="1060704" y="1554480"/>
            <a:ext cx="7589520" cy="402336"/>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000000"/>
                </a:solidFill>
                <a:latin typeface="NVIDIA Sans"/>
              </a:rPr>
              <a:t>Trace Python → types → control flow</a:t>
            </a:r>
          </a:p>
        </p:txBody>
      </p:sp>
      <p:sp>
        <p:nvSpPr>
          <p:cNvPr id="9" name="02"/>
          <p:cNvSpPr txBox="1"/>
          <p:nvPr/>
        </p:nvSpPr>
        <p:spPr>
          <a:xfrm>
            <a:off x="502920" y="2199132"/>
            <a:ext cx="411480" cy="320040"/>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02</a:t>
            </a:r>
          </a:p>
        </p:txBody>
      </p:sp>
      <p:sp>
        <p:nvSpPr>
          <p:cNvPr id="10" name="Host boundary → kernels → compilation"/>
          <p:cNvSpPr txBox="1"/>
          <p:nvPr/>
        </p:nvSpPr>
        <p:spPr>
          <a:xfrm>
            <a:off x="1060704" y="2176272"/>
            <a:ext cx="7589520" cy="402336"/>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000000"/>
                </a:solidFill>
                <a:latin typeface="NVIDIA Sans"/>
              </a:rPr>
              <a:t>Host boundary → kernels → compilation</a:t>
            </a:r>
          </a:p>
        </p:txBody>
      </p:sp>
      <p:sp>
        <p:nvSpPr>
          <p:cNvPr id="11" name="03"/>
          <p:cNvSpPr txBox="1"/>
          <p:nvPr/>
        </p:nvSpPr>
        <p:spPr>
          <a:xfrm>
            <a:off x="502920" y="2820924"/>
            <a:ext cx="411480" cy="320040"/>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03</a:t>
            </a:r>
          </a:p>
        </p:txBody>
      </p:sp>
      <p:sp>
        <p:nvSpPr>
          <p:cNvPr id="12" name="Tools → build your own DSL"/>
          <p:cNvSpPr txBox="1"/>
          <p:nvPr/>
        </p:nvSpPr>
        <p:spPr>
          <a:xfrm>
            <a:off x="1060704" y="2798064"/>
            <a:ext cx="7589520" cy="402336"/>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000000"/>
                </a:solidFill>
                <a:latin typeface="NVIDIA Sans"/>
              </a:rPr>
              <a:t>Tools → build your own DSL</a:t>
            </a:r>
          </a:p>
        </p:txBody>
      </p:sp>
      <p:sp>
        <p:nvSpPr>
          <p:cNvPr id="13" name="04"/>
          <p:cNvSpPr txBox="1"/>
          <p:nvPr/>
        </p:nvSpPr>
        <p:spPr>
          <a:xfrm>
            <a:off x="502920" y="3442716"/>
            <a:ext cx="411480" cy="320040"/>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04</a:t>
            </a:r>
          </a:p>
        </p:txBody>
      </p:sp>
      <p:sp>
        <p:nvSpPr>
          <p:cNvPr id="14" name="Amir: advanced mutation"/>
          <p:cNvSpPr txBox="1"/>
          <p:nvPr/>
        </p:nvSpPr>
        <p:spPr>
          <a:xfrm>
            <a:off x="1060704" y="3419856"/>
            <a:ext cx="7589520" cy="402336"/>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000000"/>
                </a:solidFill>
                <a:latin typeface="NVIDIA Sans"/>
              </a:rPr>
              <a:t>Amir: advanced mutation</a:t>
            </a:r>
          </a:p>
        </p:txBody>
      </p:sp>
      <p:sp>
        <p:nvSpPr>
          <p:cNvPr id="15" name="05"/>
          <p:cNvSpPr txBox="1"/>
          <p:nvPr/>
        </p:nvSpPr>
        <p:spPr>
          <a:xfrm>
            <a:off x="502920" y="4064508"/>
            <a:ext cx="411480" cy="320040"/>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05</a:t>
            </a:r>
          </a:p>
        </p:txBody>
      </p:sp>
      <p:sp>
        <p:nvSpPr>
          <p:cNvPr id="16" name="Amir: OpenAI Triton DSL"/>
          <p:cNvSpPr txBox="1"/>
          <p:nvPr/>
        </p:nvSpPr>
        <p:spPr>
          <a:xfrm>
            <a:off x="1060704" y="4041648"/>
            <a:ext cx="7589520" cy="402336"/>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000000"/>
                </a:solidFill>
                <a:latin typeface="NVIDIA Sans"/>
              </a:rPr>
              <a:t>Amir: OpenAI Triton DSL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1 · Tracing JIT"/>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1 · Tracing JIT</a:t>
            </a:r>
          </a:p>
        </p:txBody>
      </p:sp>
      <p:sp>
        <p:nvSpPr>
          <p:cNvPr id="5" name="14"/>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14</a:t>
            </a:r>
          </a:p>
        </p:txBody>
      </p:sp>
      <p:sp>
        <p:nvSpPr>
          <p:cNvPr id="6" name="mlir 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a:t>
            </a:r>
          </a:p>
        </p:txBody>
      </p:sp>
      <p:sp>
        <p:nvSpPr>
          <p:cNvPr id="7" name="Rectangle 6"/>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4023360" cy="365760"/>
          </a:xfrm>
          <a:prstGeom prst="rect">
            <a:avLst/>
          </a:prstGeom>
          <a:solidFill>
            <a:srgbClr val="76B900"/>
          </a:solidFill>
          <a:ln>
            <a:noFill/>
          </a:ln>
          <a:effectLst/>
        </p:spPr>
        <p:txBody>
          <a:bodyPr rtlCol="0" anchor="ctr"/>
          <a:lstStyle/>
          <a:p>
            <a:pPr algn="ctr"/>
          </a:p>
        </p:txBody>
      </p:sp>
      <p:sp>
        <p:nvSpPr>
          <p:cNvPr id="9" name="User program"/>
          <p:cNvSpPr txBox="1"/>
          <p:nvPr/>
        </p:nvSpPr>
        <p:spPr>
          <a:xfrm>
            <a:off x="594360" y="1604772"/>
            <a:ext cx="371246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User program</a:t>
            </a:r>
          </a:p>
        </p:txBody>
      </p:sp>
      <p:sp>
        <p:nvSpPr>
          <p:cNvPr id="10" name="import mlir.mlir_dsl as m"/>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import mlir.mlir_dsl as m</a:t>
            </a:r>
          </a:p>
        </p:txBody>
      </p:sp>
      <p:sp>
        <p:nvSpPr>
          <p:cNvPr id="11" name=""/>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12" name="@m.jit"/>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16600"/>
                </a:solidFill>
                <a:latin typeface="JetBrains Mono"/>
              </a:rPr>
              <a:t>@m.jit</a:t>
            </a:r>
          </a:p>
        </p:txBody>
      </p:sp>
      <p:sp>
        <p:nvSpPr>
          <p:cNvPr id="13" name="def scale(x: m.Int32, factor):"/>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scale(x: m.Int32, factor):</a:t>
            </a:r>
          </a:p>
        </p:txBody>
      </p:sp>
      <p:sp>
        <p:nvSpPr>
          <p:cNvPr id="14" name="    return x * factor"/>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return x * factor</a:t>
            </a:r>
          </a:p>
        </p:txBody>
      </p:sp>
      <p:sp>
        <p:nvSpPr>
          <p:cNvPr id="15" name=""/>
          <p:cNvSpPr txBox="1"/>
          <p:nvPr/>
        </p:nvSpPr>
        <p:spPr>
          <a:xfrm>
            <a:off x="594360" y="2911855"/>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16" name="int(scale(4, 3))  # 12"/>
          <p:cNvSpPr txBox="1"/>
          <p:nvPr/>
        </p:nvSpPr>
        <p:spPr>
          <a:xfrm>
            <a:off x="594360" y="3095548"/>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int(scale(4, 3))  # 12</a:t>
            </a:r>
          </a:p>
        </p:txBody>
      </p:sp>
      <p:sp>
        <p:nvSpPr>
          <p:cNvPr id="17" name="Rectangle 16"/>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18" name="Rectangle 17"/>
          <p:cNvSpPr/>
          <p:nvPr/>
        </p:nvSpPr>
        <p:spPr>
          <a:xfrm>
            <a:off x="4663440" y="1508760"/>
            <a:ext cx="4041648" cy="365760"/>
          </a:xfrm>
          <a:prstGeom prst="rect">
            <a:avLst/>
          </a:prstGeom>
          <a:solidFill>
            <a:srgbClr val="76B900"/>
          </a:solidFill>
          <a:ln>
            <a:noFill/>
          </a:ln>
          <a:effectLst/>
        </p:spPr>
        <p:txBody>
          <a:bodyPr rtlCol="0" anchor="ctr"/>
          <a:lstStyle/>
          <a:p>
            <a:pPr algn="ctr"/>
          </a:p>
        </p:txBody>
      </p:sp>
      <p:sp>
        <p:nvSpPr>
          <p:cNvPr id="19" name="Reference execution path"/>
          <p:cNvSpPr txBox="1"/>
          <p:nvPr/>
        </p:nvSpPr>
        <p:spPr>
          <a:xfrm>
            <a:off x="4818888" y="1604772"/>
            <a:ext cx="3730752"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Reference execution path</a:t>
            </a:r>
          </a:p>
        </p:txBody>
      </p:sp>
      <p:sp>
        <p:nvSpPr>
          <p:cNvPr id="20" name="Python call"/>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Python call</a:t>
            </a:r>
          </a:p>
        </p:txBody>
      </p:sp>
      <p:sp>
        <p:nvSpPr>
          <p:cNvPr id="21" name="    ↓"/>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t>
            </a:r>
          </a:p>
        </p:txBody>
      </p:sp>
      <p:sp>
        <p:nvSpPr>
          <p:cNvPr id="22" name="Trace func.func"/>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Trace func.func</a:t>
            </a:r>
          </a:p>
        </p:txBody>
      </p:sp>
      <p:sp>
        <p:nvSpPr>
          <p:cNvPr id="23" name="    ↓"/>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t>
            </a:r>
          </a:p>
        </p:txBody>
      </p:sp>
      <p:sp>
        <p:nvSpPr>
          <p:cNvPr id="24" name="Compile + cache"/>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Compile + cache</a:t>
            </a:r>
          </a:p>
        </p:txBody>
      </p:sp>
      <p:sp>
        <p:nvSpPr>
          <p:cNvPr id="25" name="    ↓"/>
          <p:cNvSpPr txBox="1"/>
          <p:nvPr/>
        </p:nvSpPr>
        <p:spPr>
          <a:xfrm>
            <a:off x="4818888" y="2911855"/>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t>
            </a:r>
          </a:p>
        </p:txBody>
      </p:sp>
      <p:sp>
        <p:nvSpPr>
          <p:cNvPr id="26" name="Invoke"/>
          <p:cNvSpPr txBox="1"/>
          <p:nvPr/>
        </p:nvSpPr>
        <p:spPr>
          <a:xfrm>
            <a:off x="4818888" y="3095548"/>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Invoke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2 · Python value or MLIR value?"/>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2 · Python value or MLIR value?</a:t>
            </a:r>
          </a:p>
        </p:txBody>
      </p:sp>
      <p:sp>
        <p:nvSpPr>
          <p:cNvPr id="5" name="15"/>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15</a:t>
            </a:r>
          </a:p>
        </p:txBody>
      </p:sp>
      <p:sp>
        <p:nvSpPr>
          <p:cNvPr id="6" name="mlir 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a:t>
            </a:r>
          </a:p>
        </p:txBody>
      </p:sp>
      <p:sp>
        <p:nvSpPr>
          <p:cNvPr id="7" name="Rectangle 6"/>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4023360" cy="365760"/>
          </a:xfrm>
          <a:prstGeom prst="rect">
            <a:avLst/>
          </a:prstGeom>
          <a:solidFill>
            <a:srgbClr val="76B900"/>
          </a:solidFill>
          <a:ln>
            <a:noFill/>
          </a:ln>
          <a:effectLst/>
        </p:spPr>
        <p:txBody>
          <a:bodyPr rtlCol="0" anchor="ctr"/>
          <a:lstStyle/>
          <a:p>
            <a:pPr algn="ctr"/>
          </a:p>
        </p:txBody>
      </p:sp>
      <p:sp>
        <p:nvSpPr>
          <p:cNvPr id="9" name="Python"/>
          <p:cNvSpPr txBox="1"/>
          <p:nvPr/>
        </p:nvSpPr>
        <p:spPr>
          <a:xfrm>
            <a:off x="594360" y="1604772"/>
            <a:ext cx="371246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Python</a:t>
            </a:r>
          </a:p>
        </p:txBody>
      </p:sp>
      <p:sp>
        <p:nvSpPr>
          <p:cNvPr id="10" name="@m.jit"/>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16600"/>
                </a:solidFill>
                <a:latin typeface="JetBrains Mono"/>
              </a:rPr>
              <a:t>@m.jit</a:t>
            </a:r>
          </a:p>
        </p:txBody>
      </p:sp>
      <p:sp>
        <p:nvSpPr>
          <p:cNvPr id="11" name="def scale(x: m.Int32, factor):"/>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scale(x: m.Int32, factor):</a:t>
            </a:r>
          </a:p>
        </p:txBody>
      </p:sp>
      <p:sp>
        <p:nvSpPr>
          <p:cNvPr id="12" name="    assert m.is_mlir_op(x)"/>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assert m.is_mlir_op(x)</a:t>
            </a:r>
          </a:p>
        </p:txBody>
      </p:sp>
      <p:sp>
        <p:nvSpPr>
          <p:cNvPr id="13" name="    assert not m.is_mlir_op(factor)"/>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assert not m.is_mlir_op(factor)</a:t>
            </a:r>
          </a:p>
        </p:txBody>
      </p:sp>
      <p:sp>
        <p:nvSpPr>
          <p:cNvPr id="14" name="    return x * factor"/>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return x * factor</a:t>
            </a:r>
          </a:p>
        </p:txBody>
      </p:sp>
      <p:sp>
        <p:nvSpPr>
          <p:cNvPr id="15" name=""/>
          <p:cNvSpPr txBox="1"/>
          <p:nvPr/>
        </p:nvSpPr>
        <p:spPr>
          <a:xfrm>
            <a:off x="594360" y="2911855"/>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16" name="scale(4, 3)"/>
          <p:cNvSpPr txBox="1"/>
          <p:nvPr/>
        </p:nvSpPr>
        <p:spPr>
          <a:xfrm>
            <a:off x="594360" y="3095548"/>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scale(4, 3)</a:t>
            </a:r>
          </a:p>
        </p:txBody>
      </p:sp>
      <p:sp>
        <p:nvSpPr>
          <p:cNvPr id="17" name="Rectangle 16"/>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18" name="Rectangle 17"/>
          <p:cNvSpPr/>
          <p:nvPr/>
        </p:nvSpPr>
        <p:spPr>
          <a:xfrm>
            <a:off x="4663440" y="1508760"/>
            <a:ext cx="4041648" cy="365760"/>
          </a:xfrm>
          <a:prstGeom prst="rect">
            <a:avLst/>
          </a:prstGeom>
          <a:solidFill>
            <a:srgbClr val="76B900"/>
          </a:solidFill>
          <a:ln>
            <a:noFill/>
          </a:ln>
          <a:effectLst/>
        </p:spPr>
        <p:txBody>
          <a:bodyPr rtlCol="0" anchor="ctr"/>
          <a:lstStyle/>
          <a:p>
            <a:pPr algn="ctr"/>
          </a:p>
        </p:txBody>
      </p:sp>
      <p:sp>
        <p:nvSpPr>
          <p:cNvPr id="19" name="Generated MLIR · excerpt"/>
          <p:cNvSpPr txBox="1"/>
          <p:nvPr/>
        </p:nvSpPr>
        <p:spPr>
          <a:xfrm>
            <a:off x="4818888" y="1604772"/>
            <a:ext cx="3730752"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Generated MLIR · excerpt</a:t>
            </a:r>
          </a:p>
        </p:txBody>
      </p:sp>
      <p:sp>
        <p:nvSpPr>
          <p:cNvPr id="20" name="# At trace time"/>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At trace time</a:t>
            </a:r>
          </a:p>
        </p:txBody>
      </p:sp>
      <p:sp>
        <p:nvSpPr>
          <p:cNvPr id="21" name="factor == 3"/>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factor == 3</a:t>
            </a:r>
          </a:p>
        </p:txBody>
      </p:sp>
      <p:sp>
        <p:nvSpPr>
          <p:cNvPr id="22" name=""/>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23" name="# In the generated program"/>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In the generated program</a:t>
            </a:r>
          </a:p>
        </p:txBody>
      </p:sp>
      <p:sp>
        <p:nvSpPr>
          <p:cNvPr id="24" name="%x : i32"/>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%x : i32</a:t>
            </a:r>
          </a:p>
        </p:txBody>
      </p:sp>
      <p:sp>
        <p:nvSpPr>
          <p:cNvPr id="25" name="%c3 = arith.constant 3 : i32"/>
          <p:cNvSpPr txBox="1"/>
          <p:nvPr/>
        </p:nvSpPr>
        <p:spPr>
          <a:xfrm>
            <a:off x="4818888" y="2911855"/>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%c3 = arith.constant 3 : i32</a:t>
            </a:r>
          </a:p>
        </p:txBody>
      </p:sp>
      <p:sp>
        <p:nvSpPr>
          <p:cNvPr id="26" name="%r = arith.muli %x, %c3 : i32"/>
          <p:cNvSpPr txBox="1"/>
          <p:nvPr/>
        </p:nvSpPr>
        <p:spPr>
          <a:xfrm>
            <a:off x="4818888" y="3095548"/>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%r = arith.muli %x, %c3 : i32</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Python is the metaprogram"/>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Python is the metaprogram</a:t>
            </a:r>
          </a:p>
        </p:txBody>
      </p:sp>
      <p:sp>
        <p:nvSpPr>
          <p:cNvPr id="5" name="16"/>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16</a:t>
            </a:r>
          </a:p>
        </p:txBody>
      </p:sp>
      <p:sp>
        <p:nvSpPr>
          <p:cNvPr id="6" name="mlir 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Python · implementation excerpt"/>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Python · implementation excerpt</a:t>
            </a:r>
          </a:p>
        </p:txBody>
      </p:sp>
      <p:sp>
        <p:nvSpPr>
          <p:cNvPr id="10" name="@m.jit"/>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1">
                <a:solidFill>
                  <a:srgbClr val="416600"/>
                </a:solidFill>
                <a:latin typeface="JetBrains Mono"/>
              </a:rPr>
              <a:t>@m.jit</a:t>
            </a:r>
          </a:p>
        </p:txBody>
      </p:sp>
      <p:sp>
        <p:nvSpPr>
          <p:cNvPr id="11" name="def affine(x: m.Int32, options):"/>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def affine(x: m.Int32, options):</a:t>
            </a:r>
          </a:p>
        </p:txBody>
      </p:sp>
      <p:sp>
        <p:nvSpPr>
          <p:cNvPr id="12" name="    scale = options[&quot;scale&quot;]"/>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scale = options["scale"]</a:t>
            </a:r>
          </a:p>
        </p:txBody>
      </p:sp>
      <p:sp>
        <p:nvSpPr>
          <p:cNvPr id="13" name="    bias = options[&quot;bias&quot;]"/>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bias = options["bias"]</a:t>
            </a:r>
          </a:p>
        </p:txBody>
      </p:sp>
      <p:sp>
        <p:nvSpPr>
          <p:cNvPr id="14" name="    return x * scale + bias"/>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return x * scale + bias</a:t>
            </a:r>
          </a:p>
        </p:txBody>
      </p:sp>
      <p:sp>
        <p:nvSpPr>
          <p:cNvPr id="15" name=""/>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6" name="options = {&quot;scale&quot;: 3, &quot;bias&quot;: 4}"/>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options = {"scale": 3, "bias": 4}</a:t>
            </a:r>
          </a:p>
        </p:txBody>
      </p:sp>
      <p:sp>
        <p:nvSpPr>
          <p:cNvPr id="17" name="affine(7, options)  # Int32(25)"/>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affine(7, options)  # Int32(25)</a:t>
            </a:r>
          </a:p>
        </p:txBody>
      </p:sp>
      <p:sp>
        <p:nvSpPr>
          <p:cNvPr id="18" name="Runs in Python"/>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Runs in Python</a:t>
            </a:r>
          </a:p>
        </p:txBody>
      </p:sp>
      <p:sp>
        <p:nvSpPr>
          <p:cNvPr id="19" name="Dictionary lookups"/>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Dictionary lookups</a:t>
            </a:r>
          </a:p>
        </p:txBody>
      </p:sp>
      <p:sp>
        <p:nvSpPr>
          <p:cNvPr id="20" name="Captured as MLIR"/>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Captured as MLIR</a:t>
            </a:r>
          </a:p>
        </p:txBody>
      </p:sp>
      <p:sp>
        <p:nvSpPr>
          <p:cNvPr id="21" name="Multiply + add"/>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Multiply + add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Objects + dictionaries → arithmetic"/>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Objects + dictionaries → arithmetic</a:t>
            </a:r>
          </a:p>
        </p:txBody>
      </p:sp>
      <p:sp>
        <p:nvSpPr>
          <p:cNvPr id="5" name="17"/>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17</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No runtime dictionary or virtual dispatch."/>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No runtime dictionary or virtual dispatch.</a:t>
            </a:r>
          </a:p>
        </p:txBody>
      </p:sp>
      <p:sp>
        <p:nvSpPr>
          <p:cNvPr id="8" name="Rectangle 7"/>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9" name="Rectangle 8"/>
          <p:cNvSpPr/>
          <p:nvPr/>
        </p:nvSpPr>
        <p:spPr>
          <a:xfrm>
            <a:off x="438912" y="1508760"/>
            <a:ext cx="4023360" cy="365760"/>
          </a:xfrm>
          <a:prstGeom prst="rect">
            <a:avLst/>
          </a:prstGeom>
          <a:solidFill>
            <a:srgbClr val="76B900"/>
          </a:solidFill>
          <a:ln>
            <a:noFill/>
          </a:ln>
          <a:effectLst/>
        </p:spPr>
        <p:txBody>
          <a:bodyPr rtlCol="0" anchor="ctr"/>
          <a:lstStyle/>
          <a:p>
            <a:pPr algn="ctr"/>
          </a:p>
        </p:txBody>
      </p:sp>
      <p:sp>
        <p:nvSpPr>
          <p:cNvPr id="10" name="Python polymorphism"/>
          <p:cNvSpPr txBox="1"/>
          <p:nvPr/>
        </p:nvSpPr>
        <p:spPr>
          <a:xfrm>
            <a:off x="594360" y="1604772"/>
            <a:ext cx="371246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Python polymorphism</a:t>
            </a:r>
          </a:p>
        </p:txBody>
      </p:sp>
      <p:sp>
        <p:nvSpPr>
          <p:cNvPr id="11" name="class Op:"/>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class Op:</a:t>
            </a:r>
          </a:p>
        </p:txBody>
      </p:sp>
      <p:sp>
        <p:nvSpPr>
          <p:cNvPr id="12" name="    def apply(self, x):"/>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def apply(self, x):</a:t>
            </a:r>
          </a:p>
        </p:txBody>
      </p:sp>
      <p:sp>
        <p:nvSpPr>
          <p:cNvPr id="13" name="        raise NotImplementedError"/>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raise NotImplementedError</a:t>
            </a:r>
          </a:p>
        </p:txBody>
      </p:sp>
      <p:sp>
        <p:nvSpPr>
          <p:cNvPr id="14" name=""/>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15" name="class AddN(Op):"/>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class AddN(Op):</a:t>
            </a:r>
          </a:p>
        </p:txBody>
      </p:sp>
      <p:sp>
        <p:nvSpPr>
          <p:cNvPr id="16" name="    def __init__(self, n): self.n = n"/>
          <p:cNvSpPr txBox="1"/>
          <p:nvPr/>
        </p:nvSpPr>
        <p:spPr>
          <a:xfrm>
            <a:off x="594360" y="2911855"/>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def __init__(self, n): self.n = n</a:t>
            </a:r>
          </a:p>
        </p:txBody>
      </p:sp>
      <p:sp>
        <p:nvSpPr>
          <p:cNvPr id="17" name="    def apply(self, x): return x + self.n"/>
          <p:cNvSpPr txBox="1"/>
          <p:nvPr/>
        </p:nvSpPr>
        <p:spPr>
          <a:xfrm>
            <a:off x="594360" y="3095548"/>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def apply(self, x): return x + self.n</a:t>
            </a:r>
          </a:p>
        </p:txBody>
      </p:sp>
      <p:sp>
        <p:nvSpPr>
          <p:cNvPr id="18" name=""/>
          <p:cNvSpPr txBox="1"/>
          <p:nvPr/>
        </p:nvSpPr>
        <p:spPr>
          <a:xfrm>
            <a:off x="594360" y="327924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19" name="class MulN(Op):"/>
          <p:cNvSpPr txBox="1"/>
          <p:nvPr/>
        </p:nvSpPr>
        <p:spPr>
          <a:xfrm>
            <a:off x="594360" y="346293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class MulN(Op):</a:t>
            </a:r>
          </a:p>
        </p:txBody>
      </p:sp>
      <p:sp>
        <p:nvSpPr>
          <p:cNvPr id="20" name="    def __init__(self, k): self.k = k"/>
          <p:cNvSpPr txBox="1"/>
          <p:nvPr/>
        </p:nvSpPr>
        <p:spPr>
          <a:xfrm>
            <a:off x="594360" y="364662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def __init__(self, k): self.k = k</a:t>
            </a:r>
          </a:p>
        </p:txBody>
      </p:sp>
      <p:sp>
        <p:nvSpPr>
          <p:cNvPr id="21" name="    def apply(self, x): return x * self.k"/>
          <p:cNvSpPr txBox="1"/>
          <p:nvPr/>
        </p:nvSpPr>
        <p:spPr>
          <a:xfrm>
            <a:off x="594360" y="3830319"/>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def apply(self, x): return x * self.k</a:t>
            </a:r>
          </a:p>
        </p:txBody>
      </p:sp>
      <p:sp>
        <p:nvSpPr>
          <p:cNvPr id="22" name="Rectangle 21"/>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23" name="Rectangle 22"/>
          <p:cNvSpPr/>
          <p:nvPr/>
        </p:nvSpPr>
        <p:spPr>
          <a:xfrm>
            <a:off x="4663440" y="1508760"/>
            <a:ext cx="4041648" cy="365760"/>
          </a:xfrm>
          <a:prstGeom prst="rect">
            <a:avLst/>
          </a:prstGeom>
          <a:solidFill>
            <a:srgbClr val="76B900"/>
          </a:solidFill>
          <a:ln>
            <a:noFill/>
          </a:ln>
          <a:effectLst/>
        </p:spPr>
        <p:txBody>
          <a:bodyPr rtlCol="0" anchor="ctr"/>
          <a:lstStyle/>
          <a:p>
            <a:pPr algn="ctr"/>
          </a:p>
        </p:txBody>
      </p:sp>
      <p:sp>
        <p:nvSpPr>
          <p:cNvPr id="24" name="Metaprogram"/>
          <p:cNvSpPr txBox="1"/>
          <p:nvPr/>
        </p:nvSpPr>
        <p:spPr>
          <a:xfrm>
            <a:off x="4818888" y="1604772"/>
            <a:ext cx="3730752"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Metaprogram</a:t>
            </a:r>
          </a:p>
        </p:txBody>
      </p:sp>
      <p:sp>
        <p:nvSpPr>
          <p:cNvPr id="25" name="@m.jit"/>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16600"/>
                </a:solidFill>
                <a:latin typeface="JetBrains Mono"/>
              </a:rPr>
              <a:t>@m.jit</a:t>
            </a:r>
          </a:p>
        </p:txBody>
      </p:sp>
      <p:sp>
        <p:nvSpPr>
          <p:cNvPr id="26" name="def pipeline(x: m.Int32, ops):"/>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pipeline(x: m.Int32, ops):</a:t>
            </a:r>
          </a:p>
        </p:txBody>
      </p:sp>
      <p:sp>
        <p:nvSpPr>
          <p:cNvPr id="27" name="    for op in ops.values():"/>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for op in ops.values():</a:t>
            </a:r>
          </a:p>
        </p:txBody>
      </p:sp>
      <p:sp>
        <p:nvSpPr>
          <p:cNvPr id="28" name="        x = op.apply(x)"/>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x = op.apply(x)</a:t>
            </a:r>
          </a:p>
        </p:txBody>
      </p:sp>
      <p:sp>
        <p:nvSpPr>
          <p:cNvPr id="29" name="    return x"/>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return x</a:t>
            </a:r>
          </a:p>
        </p:txBody>
      </p:sp>
      <p:sp>
        <p:nvSpPr>
          <p:cNvPr id="30" name=""/>
          <p:cNvSpPr txBox="1"/>
          <p:nvPr/>
        </p:nvSpPr>
        <p:spPr>
          <a:xfrm>
            <a:off x="4818888" y="2911855"/>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31" name="ops = {&quot;shift&quot;: AddN(2), &quot;scale&quot;: MulN(3)}"/>
          <p:cNvSpPr txBox="1"/>
          <p:nvPr/>
        </p:nvSpPr>
        <p:spPr>
          <a:xfrm>
            <a:off x="4818888" y="3095548"/>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ops = {"shift": AddN(2), "scale": MulN(3)}</a:t>
            </a:r>
          </a:p>
        </p:txBody>
      </p:sp>
      <p:sp>
        <p:nvSpPr>
          <p:cNvPr id="32" name="pipeline(4, ops)  # 18"/>
          <p:cNvSpPr txBox="1"/>
          <p:nvPr/>
        </p:nvSpPr>
        <p:spPr>
          <a:xfrm>
            <a:off x="4818888" y="327924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pipeline(4, ops)  # 18</a:t>
            </a:r>
          </a:p>
        </p:txBody>
      </p:sp>
      <p:sp>
        <p:nvSpPr>
          <p:cNvPr id="33" name=""/>
          <p:cNvSpPr txBox="1"/>
          <p:nvPr/>
        </p:nvSpPr>
        <p:spPr>
          <a:xfrm>
            <a:off x="4818888" y="346293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34" name="# Captured: (x + 2) * 3"/>
          <p:cNvSpPr txBox="1"/>
          <p:nvPr/>
        </p:nvSpPr>
        <p:spPr>
          <a:xfrm>
            <a:off x="4818888" y="364662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Captured: (x + 2) * 3</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3 · Numeric types are core policy"/>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3 · Numeric types are core policy</a:t>
            </a:r>
          </a:p>
        </p:txBody>
      </p:sp>
      <p:sp>
        <p:nvSpPr>
          <p:cNvPr id="5" name="18"/>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18</a:t>
            </a:r>
          </a:p>
        </p:txBody>
      </p:sp>
      <p:sp>
        <p:nvSpPr>
          <p:cNvPr id="6" name="mlir 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a:t>
            </a:r>
          </a:p>
        </p:txBody>
      </p:sp>
      <p:sp>
        <p:nvSpPr>
          <p:cNvPr id="7" name="Rectangle 6"/>
          <p:cNvSpPr/>
          <p:nvPr/>
        </p:nvSpPr>
        <p:spPr>
          <a:xfrm>
            <a:off x="438912" y="1517904"/>
            <a:ext cx="8266175" cy="438912"/>
          </a:xfrm>
          <a:prstGeom prst="rect">
            <a:avLst/>
          </a:prstGeom>
          <a:solidFill>
            <a:srgbClr val="E4F0D0"/>
          </a:solidFill>
          <a:ln>
            <a:noFill/>
          </a:ln>
          <a:effectLst/>
        </p:spPr>
        <p:txBody>
          <a:bodyPr rtlCol="0" anchor="ctr"/>
          <a:lstStyle/>
          <a:p>
            <a:pPr algn="ctr"/>
          </a:p>
        </p:txBody>
      </p:sp>
      <p:sp>
        <p:nvSpPr>
          <p:cNvPr id="8" name="Family"/>
          <p:cNvSpPr txBox="1"/>
          <p:nvPr/>
        </p:nvSpPr>
        <p:spPr>
          <a:xfrm>
            <a:off x="576072" y="1618488"/>
            <a:ext cx="2505456"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Family</a:t>
            </a:r>
          </a:p>
        </p:txBody>
      </p:sp>
      <p:sp>
        <p:nvSpPr>
          <p:cNvPr id="9" name="Types"/>
          <p:cNvSpPr txBox="1"/>
          <p:nvPr/>
        </p:nvSpPr>
        <p:spPr>
          <a:xfrm>
            <a:off x="3355848" y="1618488"/>
            <a:ext cx="5212080"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Types</a:t>
            </a:r>
          </a:p>
        </p:txBody>
      </p:sp>
      <p:sp>
        <p:nvSpPr>
          <p:cNvPr id="10" name="Rectangle 9"/>
          <p:cNvSpPr/>
          <p:nvPr/>
        </p:nvSpPr>
        <p:spPr>
          <a:xfrm>
            <a:off x="438912" y="1956816"/>
            <a:ext cx="8266175" cy="534924"/>
          </a:xfrm>
          <a:prstGeom prst="rect">
            <a:avLst/>
          </a:prstGeom>
          <a:solidFill>
            <a:srgbClr val="F7F7F7"/>
          </a:solidFill>
          <a:ln>
            <a:noFill/>
          </a:ln>
          <a:effectLst/>
        </p:spPr>
        <p:txBody>
          <a:bodyPr rtlCol="0" anchor="ctr"/>
          <a:lstStyle/>
          <a:p>
            <a:pPr algn="ctr"/>
          </a:p>
        </p:txBody>
      </p:sp>
      <p:sp>
        <p:nvSpPr>
          <p:cNvPr id="11" name="Integers"/>
          <p:cNvSpPr txBox="1"/>
          <p:nvPr/>
        </p:nvSpPr>
        <p:spPr>
          <a:xfrm>
            <a:off x="576072" y="2075688"/>
            <a:ext cx="2505456"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Integers</a:t>
            </a:r>
          </a:p>
        </p:txBody>
      </p:sp>
      <p:sp>
        <p:nvSpPr>
          <p:cNvPr id="12" name="Int2–Int128 · Uint8–Uint128"/>
          <p:cNvSpPr txBox="1"/>
          <p:nvPr/>
        </p:nvSpPr>
        <p:spPr>
          <a:xfrm>
            <a:off x="3355848" y="2075688"/>
            <a:ext cx="521208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Int2–Int128 · Uint8–Uint128</a:t>
            </a:r>
          </a:p>
        </p:txBody>
      </p:sp>
      <p:sp>
        <p:nvSpPr>
          <p:cNvPr id="13" name="Rectangle 12"/>
          <p:cNvSpPr/>
          <p:nvPr/>
        </p:nvSpPr>
        <p:spPr>
          <a:xfrm>
            <a:off x="438912" y="2491740"/>
            <a:ext cx="8266175" cy="534924"/>
          </a:xfrm>
          <a:prstGeom prst="rect">
            <a:avLst/>
          </a:prstGeom>
          <a:solidFill>
            <a:srgbClr val="FFFFFF"/>
          </a:solidFill>
          <a:ln>
            <a:noFill/>
          </a:ln>
          <a:effectLst/>
        </p:spPr>
        <p:txBody>
          <a:bodyPr rtlCol="0" anchor="ctr"/>
          <a:lstStyle/>
          <a:p>
            <a:pPr algn="ctr"/>
          </a:p>
        </p:txBody>
      </p:sp>
      <p:sp>
        <p:nvSpPr>
          <p:cNvPr id="14" name="Floating point"/>
          <p:cNvSpPr txBox="1"/>
          <p:nvPr/>
        </p:nvSpPr>
        <p:spPr>
          <a:xfrm>
            <a:off x="576072" y="2610612"/>
            <a:ext cx="2505456"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Floating point</a:t>
            </a:r>
          </a:p>
        </p:txBody>
      </p:sp>
      <p:sp>
        <p:nvSpPr>
          <p:cNvPr id="15" name="Float16/32/64 · BFloat16 · TFloat32"/>
          <p:cNvSpPr txBox="1"/>
          <p:nvPr/>
        </p:nvSpPr>
        <p:spPr>
          <a:xfrm>
            <a:off x="3355848" y="2610612"/>
            <a:ext cx="521208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Float16/32/64 · BFloat16 · TFloat32</a:t>
            </a:r>
          </a:p>
        </p:txBody>
      </p:sp>
      <p:sp>
        <p:nvSpPr>
          <p:cNvPr id="16" name="Rectangle 15"/>
          <p:cNvSpPr/>
          <p:nvPr/>
        </p:nvSpPr>
        <p:spPr>
          <a:xfrm>
            <a:off x="438912" y="3026664"/>
            <a:ext cx="8266175" cy="534924"/>
          </a:xfrm>
          <a:prstGeom prst="rect">
            <a:avLst/>
          </a:prstGeom>
          <a:solidFill>
            <a:srgbClr val="F7F7F7"/>
          </a:solidFill>
          <a:ln>
            <a:noFill/>
          </a:ln>
          <a:effectLst/>
        </p:spPr>
        <p:txBody>
          <a:bodyPr rtlCol="0" anchor="ctr"/>
          <a:lstStyle/>
          <a:p>
            <a:pPr algn="ctr"/>
          </a:p>
        </p:txBody>
      </p:sp>
      <p:sp>
        <p:nvSpPr>
          <p:cNvPr id="17" name="Narrow floats"/>
          <p:cNvSpPr txBox="1"/>
          <p:nvPr/>
        </p:nvSpPr>
        <p:spPr>
          <a:xfrm>
            <a:off x="576072" y="3145536"/>
            <a:ext cx="2505456"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Narrow floats</a:t>
            </a:r>
          </a:p>
        </p:txBody>
      </p:sp>
      <p:sp>
        <p:nvSpPr>
          <p:cNvPr id="18" name="FP8 · FP6 · FP4 formats"/>
          <p:cNvSpPr txBox="1"/>
          <p:nvPr/>
        </p:nvSpPr>
        <p:spPr>
          <a:xfrm>
            <a:off x="3355848" y="3145536"/>
            <a:ext cx="521208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FP8 · FP6 · FP4 formats</a:t>
            </a:r>
          </a:p>
        </p:txBody>
      </p:sp>
      <p:sp>
        <p:nvSpPr>
          <p:cNvPr id="19" name="Rectangle 18"/>
          <p:cNvSpPr/>
          <p:nvPr/>
        </p:nvSpPr>
        <p:spPr>
          <a:xfrm>
            <a:off x="438912" y="3561588"/>
            <a:ext cx="8266175" cy="534924"/>
          </a:xfrm>
          <a:prstGeom prst="rect">
            <a:avLst/>
          </a:prstGeom>
          <a:solidFill>
            <a:srgbClr val="FFFFFF"/>
          </a:solidFill>
          <a:ln>
            <a:noFill/>
          </a:ln>
          <a:effectLst/>
        </p:spPr>
        <p:txBody>
          <a:bodyPr rtlCol="0" anchor="ctr"/>
          <a:lstStyle/>
          <a:p>
            <a:pPr algn="ctr"/>
          </a:p>
        </p:txBody>
      </p:sp>
      <p:sp>
        <p:nvSpPr>
          <p:cNvPr id="20" name="Boolean"/>
          <p:cNvSpPr txBox="1"/>
          <p:nvPr/>
        </p:nvSpPr>
        <p:spPr>
          <a:xfrm>
            <a:off x="576072" y="3680460"/>
            <a:ext cx="2505456"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Boolean</a:t>
            </a:r>
          </a:p>
        </p:txBody>
      </p:sp>
      <p:sp>
        <p:nvSpPr>
          <p:cNvPr id="21" name="Boolean"/>
          <p:cNvSpPr txBox="1"/>
          <p:nvPr/>
        </p:nvSpPr>
        <p:spPr>
          <a:xfrm>
            <a:off x="3355848" y="3680460"/>
            <a:ext cx="521208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Boolean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Literal → promotion → cast"/>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Literal → promotion → cast</a:t>
            </a:r>
          </a:p>
        </p:txBody>
      </p:sp>
      <p:sp>
        <p:nvSpPr>
          <p:cNvPr id="5" name="19"/>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19</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Shown: TypeOps with arith"/>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Shown: TypeOps with arith</a:t>
            </a:r>
          </a:p>
        </p:txBody>
      </p:sp>
      <p:sp>
        <p:nvSpPr>
          <p:cNvPr id="8" name="Rectangle 7"/>
          <p:cNvSpPr/>
          <p:nvPr/>
        </p:nvSpPr>
        <p:spPr>
          <a:xfrm>
            <a:off x="484632" y="1380744"/>
            <a:ext cx="1371600" cy="347472"/>
          </a:xfrm>
          <a:prstGeom prst="rect">
            <a:avLst/>
          </a:prstGeom>
          <a:solidFill>
            <a:srgbClr val="F7F7F7"/>
          </a:solidFill>
          <a:ln>
            <a:noFill/>
          </a:ln>
          <a:effectLst/>
        </p:spPr>
        <p:txBody>
          <a:bodyPr rtlCol="0" anchor="ctr"/>
          <a:lstStyle/>
          <a:p>
            <a:pPr algn="ctr"/>
          </a:p>
        </p:txBody>
      </p:sp>
      <p:sp>
        <p:nvSpPr>
          <p:cNvPr id="9" name="Boolean · i1"/>
          <p:cNvSpPr txBox="1"/>
          <p:nvPr/>
        </p:nvSpPr>
        <p:spPr>
          <a:xfrm>
            <a:off x="548640" y="1463040"/>
            <a:ext cx="1243584" cy="210312"/>
          </a:xfrm>
          <a:prstGeom prst="rect">
            <a:avLst/>
          </a:prstGeom>
          <a:noFill/>
        </p:spPr>
        <p:txBody>
          <a:bodyPr wrap="none" anchor="t" lIns="0" rIns="0" tIns="0" bIns="0">
            <a:noAutofit/>
          </a:bodyPr>
          <a:lstStyle/>
          <a:p>
            <a:pPr algn="ctr">
              <a:lnSpc>
                <a:spcPts val="1322"/>
              </a:lnSpc>
              <a:spcBef>
                <a:spcPts val="0"/>
              </a:spcBef>
              <a:spcAft>
                <a:spcPts val="0"/>
              </a:spcAft>
            </a:pPr>
            <a:r>
              <a:rPr sz="1140" b="0">
                <a:solidFill>
                  <a:srgbClr val="616161"/>
                </a:solidFill>
                <a:latin typeface="NVIDIA Sans"/>
              </a:rPr>
              <a:t>Boolean · i1</a:t>
            </a:r>
          </a:p>
        </p:txBody>
      </p:sp>
      <p:sp>
        <p:nvSpPr>
          <p:cNvPr id="10" name="Rectangle 9"/>
          <p:cNvSpPr/>
          <p:nvPr/>
        </p:nvSpPr>
        <p:spPr>
          <a:xfrm>
            <a:off x="2002536" y="1380744"/>
            <a:ext cx="2103120" cy="347472"/>
          </a:xfrm>
          <a:prstGeom prst="rect">
            <a:avLst/>
          </a:prstGeom>
          <a:solidFill>
            <a:srgbClr val="F7F7F7"/>
          </a:solidFill>
          <a:ln>
            <a:noFill/>
          </a:ln>
          <a:effectLst/>
        </p:spPr>
        <p:txBody>
          <a:bodyPr rtlCol="0" anchor="ctr"/>
          <a:lstStyle/>
          <a:p>
            <a:pPr algn="ctr"/>
          </a:p>
        </p:txBody>
      </p:sp>
      <p:sp>
        <p:nvSpPr>
          <p:cNvPr id="11" name="Int2–128 / Uint8–128"/>
          <p:cNvSpPr txBox="1"/>
          <p:nvPr/>
        </p:nvSpPr>
        <p:spPr>
          <a:xfrm>
            <a:off x="2066543" y="1463040"/>
            <a:ext cx="1975103" cy="210312"/>
          </a:xfrm>
          <a:prstGeom prst="rect">
            <a:avLst/>
          </a:prstGeom>
          <a:noFill/>
        </p:spPr>
        <p:txBody>
          <a:bodyPr wrap="none" anchor="t" lIns="0" rIns="0" tIns="0" bIns="0">
            <a:noAutofit/>
          </a:bodyPr>
          <a:lstStyle/>
          <a:p>
            <a:pPr algn="ctr">
              <a:lnSpc>
                <a:spcPts val="1322"/>
              </a:lnSpc>
              <a:spcBef>
                <a:spcPts val="0"/>
              </a:spcBef>
              <a:spcAft>
                <a:spcPts val="0"/>
              </a:spcAft>
            </a:pPr>
            <a:r>
              <a:rPr sz="1140" b="0">
                <a:solidFill>
                  <a:srgbClr val="616161"/>
                </a:solidFill>
                <a:latin typeface="NVIDIA Sans"/>
              </a:rPr>
              <a:t>Int2–128 / Uint8–128</a:t>
            </a:r>
          </a:p>
        </p:txBody>
      </p:sp>
      <p:sp>
        <p:nvSpPr>
          <p:cNvPr id="12" name="Rectangle 11"/>
          <p:cNvSpPr/>
          <p:nvPr/>
        </p:nvSpPr>
        <p:spPr>
          <a:xfrm>
            <a:off x="4251960" y="1380744"/>
            <a:ext cx="2286000" cy="347472"/>
          </a:xfrm>
          <a:prstGeom prst="rect">
            <a:avLst/>
          </a:prstGeom>
          <a:solidFill>
            <a:srgbClr val="F7F7F7"/>
          </a:solidFill>
          <a:ln>
            <a:noFill/>
          </a:ln>
          <a:effectLst/>
        </p:spPr>
        <p:txBody>
          <a:bodyPr rtlCol="0" anchor="ctr"/>
          <a:lstStyle/>
          <a:p>
            <a:pPr algn="ctr"/>
          </a:p>
        </p:txBody>
      </p:sp>
      <p:sp>
        <p:nvSpPr>
          <p:cNvPr id="13" name="FP64/32/16 · BF16"/>
          <p:cNvSpPr txBox="1"/>
          <p:nvPr/>
        </p:nvSpPr>
        <p:spPr>
          <a:xfrm>
            <a:off x="4315968" y="1463040"/>
            <a:ext cx="2157984" cy="210312"/>
          </a:xfrm>
          <a:prstGeom prst="rect">
            <a:avLst/>
          </a:prstGeom>
          <a:noFill/>
        </p:spPr>
        <p:txBody>
          <a:bodyPr wrap="none" anchor="t" lIns="0" rIns="0" tIns="0" bIns="0">
            <a:noAutofit/>
          </a:bodyPr>
          <a:lstStyle/>
          <a:p>
            <a:pPr algn="ctr">
              <a:lnSpc>
                <a:spcPts val="1322"/>
              </a:lnSpc>
              <a:spcBef>
                <a:spcPts val="0"/>
              </a:spcBef>
              <a:spcAft>
                <a:spcPts val="0"/>
              </a:spcAft>
            </a:pPr>
            <a:r>
              <a:rPr sz="1140" b="0">
                <a:solidFill>
                  <a:srgbClr val="616161"/>
                </a:solidFill>
                <a:latin typeface="NVIDIA Sans"/>
              </a:rPr>
              <a:t>FP64/32/16 · BF16</a:t>
            </a:r>
          </a:p>
        </p:txBody>
      </p:sp>
      <p:sp>
        <p:nvSpPr>
          <p:cNvPr id="14" name="Rectangle 13"/>
          <p:cNvSpPr/>
          <p:nvPr/>
        </p:nvSpPr>
        <p:spPr>
          <a:xfrm>
            <a:off x="6684264" y="1380744"/>
            <a:ext cx="1975104" cy="347472"/>
          </a:xfrm>
          <a:prstGeom prst="rect">
            <a:avLst/>
          </a:prstGeom>
          <a:solidFill>
            <a:srgbClr val="F7F7F7"/>
          </a:solidFill>
          <a:ln>
            <a:noFill/>
          </a:ln>
          <a:effectLst/>
        </p:spPr>
        <p:txBody>
          <a:bodyPr rtlCol="0" anchor="ctr"/>
          <a:lstStyle/>
          <a:p>
            <a:pPr algn="ctr"/>
          </a:p>
        </p:txBody>
      </p:sp>
      <p:sp>
        <p:nvSpPr>
          <p:cNvPr id="15" name="FP8/6/4 · TF32"/>
          <p:cNvSpPr txBox="1"/>
          <p:nvPr/>
        </p:nvSpPr>
        <p:spPr>
          <a:xfrm>
            <a:off x="6748272" y="1463040"/>
            <a:ext cx="1847088" cy="210312"/>
          </a:xfrm>
          <a:prstGeom prst="rect">
            <a:avLst/>
          </a:prstGeom>
          <a:noFill/>
        </p:spPr>
        <p:txBody>
          <a:bodyPr wrap="none" anchor="t" lIns="0" rIns="0" tIns="0" bIns="0">
            <a:noAutofit/>
          </a:bodyPr>
          <a:lstStyle/>
          <a:p>
            <a:pPr algn="ctr">
              <a:lnSpc>
                <a:spcPts val="1322"/>
              </a:lnSpc>
              <a:spcBef>
                <a:spcPts val="0"/>
              </a:spcBef>
              <a:spcAft>
                <a:spcPts val="0"/>
              </a:spcAft>
            </a:pPr>
            <a:r>
              <a:rPr sz="1140" b="0">
                <a:solidFill>
                  <a:srgbClr val="616161"/>
                </a:solidFill>
                <a:latin typeface="NVIDIA Sans"/>
              </a:rPr>
              <a:t>FP8/6/4 · TF32</a:t>
            </a:r>
          </a:p>
        </p:txBody>
      </p:sp>
      <p:sp>
        <p:nvSpPr>
          <p:cNvPr id="16" name="Python or SSA value"/>
          <p:cNvSpPr txBox="1"/>
          <p:nvPr/>
        </p:nvSpPr>
        <p:spPr>
          <a:xfrm>
            <a:off x="758952" y="1938528"/>
            <a:ext cx="1965960" cy="283464"/>
          </a:xfrm>
          <a:prstGeom prst="rect">
            <a:avLst/>
          </a:prstGeom>
          <a:noFill/>
        </p:spPr>
        <p:txBody>
          <a:bodyPr wrap="none" anchor="t" lIns="0" rIns="0" tIns="0" bIns="0">
            <a:noAutofit/>
          </a:bodyPr>
          <a:lstStyle/>
          <a:p>
            <a:pPr algn="ctr">
              <a:lnSpc>
                <a:spcPts val="1855"/>
              </a:lnSpc>
              <a:spcBef>
                <a:spcPts val="0"/>
              </a:spcBef>
              <a:spcAft>
                <a:spcPts val="0"/>
              </a:spcAft>
            </a:pPr>
            <a:r>
              <a:rPr sz="1600" b="0">
                <a:solidFill>
                  <a:srgbClr val="000000"/>
                </a:solidFill>
                <a:latin typeface="NVIDIA Sans"/>
              </a:rPr>
              <a:t>Python or SSA value</a:t>
            </a:r>
          </a:p>
        </p:txBody>
      </p:sp>
      <p:cxnSp>
        <p:nvCxnSpPr>
          <p:cNvPr id="17" name="Connector 16"/>
          <p:cNvCxnSpPr/>
          <p:nvPr/>
        </p:nvCxnSpPr>
        <p:spPr>
          <a:xfrm>
            <a:off x="2834640" y="2057400"/>
            <a:ext cx="585216"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8" name="dtype + promotion"/>
          <p:cNvSpPr txBox="1"/>
          <p:nvPr/>
        </p:nvSpPr>
        <p:spPr>
          <a:xfrm>
            <a:off x="3593592" y="1938528"/>
            <a:ext cx="1965960" cy="283464"/>
          </a:xfrm>
          <a:prstGeom prst="rect">
            <a:avLst/>
          </a:prstGeom>
          <a:noFill/>
        </p:spPr>
        <p:txBody>
          <a:bodyPr wrap="none" anchor="t" lIns="0" rIns="0" tIns="0" bIns="0">
            <a:noAutofit/>
          </a:bodyPr>
          <a:lstStyle/>
          <a:p>
            <a:pPr algn="ctr">
              <a:lnSpc>
                <a:spcPts val="1855"/>
              </a:lnSpc>
              <a:spcBef>
                <a:spcPts val="0"/>
              </a:spcBef>
              <a:spcAft>
                <a:spcPts val="0"/>
              </a:spcAft>
            </a:pPr>
            <a:r>
              <a:rPr sz="1600" b="0">
                <a:solidFill>
                  <a:srgbClr val="416600"/>
                </a:solidFill>
                <a:latin typeface="NVIDIA Sans"/>
              </a:rPr>
              <a:t>dtype + promotion</a:t>
            </a:r>
          </a:p>
        </p:txBody>
      </p:sp>
      <p:cxnSp>
        <p:nvCxnSpPr>
          <p:cNvPr id="19" name="Connector 18"/>
          <p:cNvCxnSpPr/>
          <p:nvPr/>
        </p:nvCxnSpPr>
        <p:spPr>
          <a:xfrm>
            <a:off x="5669280" y="2057400"/>
            <a:ext cx="585216"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20" name="type_ops plugin"/>
          <p:cNvSpPr txBox="1"/>
          <p:nvPr/>
        </p:nvSpPr>
        <p:spPr>
          <a:xfrm>
            <a:off x="6428232" y="1938528"/>
            <a:ext cx="1965960" cy="283464"/>
          </a:xfrm>
          <a:prstGeom prst="rect">
            <a:avLst/>
          </a:prstGeom>
          <a:noFill/>
        </p:spPr>
        <p:txBody>
          <a:bodyPr wrap="none" anchor="t" lIns="0" rIns="0" tIns="0" bIns="0">
            <a:noAutofit/>
          </a:bodyPr>
          <a:lstStyle/>
          <a:p>
            <a:pPr algn="ctr">
              <a:lnSpc>
                <a:spcPts val="1855"/>
              </a:lnSpc>
              <a:spcBef>
                <a:spcPts val="0"/>
              </a:spcBef>
              <a:spcAft>
                <a:spcPts val="0"/>
              </a:spcAft>
            </a:pPr>
            <a:r>
              <a:rPr sz="1600" b="0">
                <a:solidFill>
                  <a:srgbClr val="416600"/>
                </a:solidFill>
                <a:latin typeface="NVIDIA Sans"/>
              </a:rPr>
              <a:t>type_ops plugin</a:t>
            </a:r>
          </a:p>
        </p:txBody>
      </p:sp>
      <p:sp>
        <p:nvSpPr>
          <p:cNvPr id="21" name="Conversion"/>
          <p:cNvSpPr txBox="1"/>
          <p:nvPr/>
        </p:nvSpPr>
        <p:spPr>
          <a:xfrm>
            <a:off x="630936" y="2359152"/>
            <a:ext cx="1316736" cy="228600"/>
          </a:xfrm>
          <a:prstGeom prst="rect">
            <a:avLst/>
          </a:prstGeom>
          <a:noFill/>
        </p:spPr>
        <p:txBody>
          <a:bodyPr wrap="none" anchor="t" lIns="0" rIns="0" tIns="0" bIns="0">
            <a:noAutofit/>
          </a:bodyPr>
          <a:lstStyle/>
          <a:p>
            <a:pPr algn="l">
              <a:lnSpc>
                <a:spcPts val="1194"/>
              </a:lnSpc>
              <a:spcBef>
                <a:spcPts val="0"/>
              </a:spcBef>
              <a:spcAft>
                <a:spcPts val="0"/>
              </a:spcAft>
            </a:pPr>
            <a:r>
              <a:rPr sz="1030" b="1">
                <a:solidFill>
                  <a:srgbClr val="616161"/>
                </a:solidFill>
                <a:latin typeface="NVIDIA Sans"/>
              </a:rPr>
              <a:t>Conversion</a:t>
            </a:r>
          </a:p>
        </p:txBody>
      </p:sp>
      <p:sp>
        <p:nvSpPr>
          <p:cNvPr id="22" name="Python"/>
          <p:cNvSpPr txBox="1"/>
          <p:nvPr/>
        </p:nvSpPr>
        <p:spPr>
          <a:xfrm>
            <a:off x="2130552" y="2359152"/>
            <a:ext cx="3044952" cy="228600"/>
          </a:xfrm>
          <a:prstGeom prst="rect">
            <a:avLst/>
          </a:prstGeom>
          <a:noFill/>
        </p:spPr>
        <p:txBody>
          <a:bodyPr wrap="none" anchor="t" lIns="0" rIns="0" tIns="0" bIns="0">
            <a:noAutofit/>
          </a:bodyPr>
          <a:lstStyle/>
          <a:p>
            <a:pPr algn="l">
              <a:lnSpc>
                <a:spcPts val="1194"/>
              </a:lnSpc>
              <a:spcBef>
                <a:spcPts val="0"/>
              </a:spcBef>
              <a:spcAft>
                <a:spcPts val="0"/>
              </a:spcAft>
            </a:pPr>
            <a:r>
              <a:rPr sz="1030" b="1">
                <a:solidFill>
                  <a:srgbClr val="616161"/>
                </a:solidFill>
                <a:latin typeface="NVIDIA Sans"/>
              </a:rPr>
              <a:t>Python</a:t>
            </a:r>
          </a:p>
        </p:txBody>
      </p:sp>
      <p:sp>
        <p:nvSpPr>
          <p:cNvPr id="23" name="MLIR"/>
          <p:cNvSpPr txBox="1"/>
          <p:nvPr/>
        </p:nvSpPr>
        <p:spPr>
          <a:xfrm>
            <a:off x="5358384" y="2359152"/>
            <a:ext cx="3108960" cy="228600"/>
          </a:xfrm>
          <a:prstGeom prst="rect">
            <a:avLst/>
          </a:prstGeom>
          <a:noFill/>
        </p:spPr>
        <p:txBody>
          <a:bodyPr wrap="none" anchor="t" lIns="0" rIns="0" tIns="0" bIns="0">
            <a:noAutofit/>
          </a:bodyPr>
          <a:lstStyle/>
          <a:p>
            <a:pPr algn="l">
              <a:lnSpc>
                <a:spcPts val="1194"/>
              </a:lnSpc>
              <a:spcBef>
                <a:spcPts val="0"/>
              </a:spcBef>
              <a:spcAft>
                <a:spcPts val="0"/>
              </a:spcAft>
            </a:pPr>
            <a:r>
              <a:rPr sz="1030" b="1">
                <a:solidFill>
                  <a:srgbClr val="616161"/>
                </a:solidFill>
                <a:latin typeface="NVIDIA Sans"/>
              </a:rPr>
              <a:t>MLIR</a:t>
            </a:r>
          </a:p>
        </p:txBody>
      </p:sp>
      <p:sp>
        <p:nvSpPr>
          <p:cNvPr id="24" name="Rectangle 23"/>
          <p:cNvSpPr/>
          <p:nvPr/>
        </p:nvSpPr>
        <p:spPr>
          <a:xfrm>
            <a:off x="484632" y="2624328"/>
            <a:ext cx="8174736" cy="10972"/>
          </a:xfrm>
          <a:prstGeom prst="rect">
            <a:avLst/>
          </a:prstGeom>
          <a:solidFill>
            <a:srgbClr val="D5D5D5"/>
          </a:solidFill>
          <a:ln>
            <a:noFill/>
          </a:ln>
          <a:effectLst/>
        </p:spPr>
        <p:txBody>
          <a:bodyPr rtlCol="0" anchor="ctr"/>
          <a:lstStyle/>
          <a:p>
            <a:pPr algn="ctr"/>
          </a:p>
        </p:txBody>
      </p:sp>
      <p:sp>
        <p:nvSpPr>
          <p:cNvPr id="25" name="Capture"/>
          <p:cNvSpPr txBox="1"/>
          <p:nvPr/>
        </p:nvSpPr>
        <p:spPr>
          <a:xfrm>
            <a:off x="630936" y="2688336"/>
            <a:ext cx="1316736" cy="256032"/>
          </a:xfrm>
          <a:prstGeom prst="rect">
            <a:avLst/>
          </a:prstGeom>
          <a:noFill/>
        </p:spPr>
        <p:txBody>
          <a:bodyPr wrap="none" anchor="t" lIns="0" rIns="0" tIns="0" bIns="0">
            <a:noAutofit/>
          </a:bodyPr>
          <a:lstStyle/>
          <a:p>
            <a:pPr algn="l">
              <a:lnSpc>
                <a:spcPts val="1449"/>
              </a:lnSpc>
              <a:spcBef>
                <a:spcPts val="0"/>
              </a:spcBef>
              <a:spcAft>
                <a:spcPts val="0"/>
              </a:spcAft>
            </a:pPr>
            <a:r>
              <a:rPr sz="1250" b="1">
                <a:solidFill>
                  <a:srgbClr val="416600"/>
                </a:solidFill>
                <a:latin typeface="NVIDIA Sans"/>
              </a:rPr>
              <a:t>Capture</a:t>
            </a:r>
          </a:p>
        </p:txBody>
      </p:sp>
      <p:sp>
        <p:nvSpPr>
          <p:cNvPr id="26" name="m.Int32(7) → staged use"/>
          <p:cNvSpPr txBox="1"/>
          <p:nvPr/>
        </p:nvSpPr>
        <p:spPr>
          <a:xfrm>
            <a:off x="2130552" y="2688336"/>
            <a:ext cx="3044952"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m.Int32(7) → staged use</a:t>
            </a:r>
          </a:p>
        </p:txBody>
      </p:sp>
      <p:sp>
        <p:nvSpPr>
          <p:cNvPr id="27" name="arith.constant : i32"/>
          <p:cNvSpPr txBox="1"/>
          <p:nvPr/>
        </p:nvSpPr>
        <p:spPr>
          <a:xfrm>
            <a:off x="5358384" y="2688336"/>
            <a:ext cx="3108960"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arith.constant : i32</a:t>
            </a:r>
          </a:p>
        </p:txBody>
      </p:sp>
      <p:sp>
        <p:nvSpPr>
          <p:cNvPr id="28" name="Promote / upcast"/>
          <p:cNvSpPr txBox="1"/>
          <p:nvPr/>
        </p:nvSpPr>
        <p:spPr>
          <a:xfrm>
            <a:off x="630936" y="2955340"/>
            <a:ext cx="1316736" cy="256032"/>
          </a:xfrm>
          <a:prstGeom prst="rect">
            <a:avLst/>
          </a:prstGeom>
          <a:noFill/>
        </p:spPr>
        <p:txBody>
          <a:bodyPr wrap="none" anchor="t" lIns="0" rIns="0" tIns="0" bIns="0">
            <a:noAutofit/>
          </a:bodyPr>
          <a:lstStyle/>
          <a:p>
            <a:pPr algn="l">
              <a:lnSpc>
                <a:spcPts val="1421"/>
              </a:lnSpc>
              <a:spcBef>
                <a:spcPts val="0"/>
              </a:spcBef>
              <a:spcAft>
                <a:spcPts val="0"/>
              </a:spcAft>
            </a:pPr>
            <a:r>
              <a:rPr sz="1225" b="1">
                <a:solidFill>
                  <a:srgbClr val="416600"/>
                </a:solidFill>
                <a:latin typeface="NVIDIA Sans"/>
              </a:rPr>
              <a:t>Promote / upcast</a:t>
            </a:r>
          </a:p>
        </p:txBody>
      </p:sp>
      <p:sp>
        <p:nvSpPr>
          <p:cNvPr id="29" name="x32 + y64"/>
          <p:cNvSpPr txBox="1"/>
          <p:nvPr/>
        </p:nvSpPr>
        <p:spPr>
          <a:xfrm>
            <a:off x="2130552" y="2955340"/>
            <a:ext cx="3044952"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x32 + y64</a:t>
            </a:r>
          </a:p>
        </p:txBody>
      </p:sp>
      <p:sp>
        <p:nvSpPr>
          <p:cNvPr id="30" name="extsi → addi : i64"/>
          <p:cNvSpPr txBox="1"/>
          <p:nvPr/>
        </p:nvSpPr>
        <p:spPr>
          <a:xfrm>
            <a:off x="5358384" y="2955340"/>
            <a:ext cx="3108960"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extsi → addi : i64</a:t>
            </a:r>
          </a:p>
        </p:txBody>
      </p:sp>
      <p:sp>
        <p:nvSpPr>
          <p:cNvPr id="31" name="Downcast"/>
          <p:cNvSpPr txBox="1"/>
          <p:nvPr/>
        </p:nvSpPr>
        <p:spPr>
          <a:xfrm>
            <a:off x="630936" y="3222345"/>
            <a:ext cx="1316736" cy="256032"/>
          </a:xfrm>
          <a:prstGeom prst="rect">
            <a:avLst/>
          </a:prstGeom>
          <a:noFill/>
        </p:spPr>
        <p:txBody>
          <a:bodyPr wrap="none" anchor="t" lIns="0" rIns="0" tIns="0" bIns="0">
            <a:noAutofit/>
          </a:bodyPr>
          <a:lstStyle/>
          <a:p>
            <a:pPr algn="l">
              <a:lnSpc>
                <a:spcPts val="1449"/>
              </a:lnSpc>
              <a:spcBef>
                <a:spcPts val="0"/>
              </a:spcBef>
              <a:spcAft>
                <a:spcPts val="0"/>
              </a:spcAft>
            </a:pPr>
            <a:r>
              <a:rPr sz="1250" b="1">
                <a:solidFill>
                  <a:srgbClr val="416600"/>
                </a:solidFill>
                <a:latin typeface="NVIDIA Sans"/>
              </a:rPr>
              <a:t>Downcast</a:t>
            </a:r>
          </a:p>
        </p:txBody>
      </p:sp>
      <p:sp>
        <p:nvSpPr>
          <p:cNvPr id="32" name="y64.to(m.Int32)"/>
          <p:cNvSpPr txBox="1"/>
          <p:nvPr/>
        </p:nvSpPr>
        <p:spPr>
          <a:xfrm>
            <a:off x="2130552" y="3222345"/>
            <a:ext cx="3044952"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y64.to(m.Int32)</a:t>
            </a:r>
          </a:p>
        </p:txBody>
      </p:sp>
      <p:sp>
        <p:nvSpPr>
          <p:cNvPr id="33" name="arith.trunci"/>
          <p:cNvSpPr txBox="1"/>
          <p:nvPr/>
        </p:nvSpPr>
        <p:spPr>
          <a:xfrm>
            <a:off x="5358384" y="3222345"/>
            <a:ext cx="3108960"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arith.trunci</a:t>
            </a:r>
          </a:p>
        </p:txBody>
      </p:sp>
      <p:sp>
        <p:nvSpPr>
          <p:cNvPr id="34" name="Int → float"/>
          <p:cNvSpPr txBox="1"/>
          <p:nvPr/>
        </p:nvSpPr>
        <p:spPr>
          <a:xfrm>
            <a:off x="630936" y="3489350"/>
            <a:ext cx="1316736" cy="256032"/>
          </a:xfrm>
          <a:prstGeom prst="rect">
            <a:avLst/>
          </a:prstGeom>
          <a:noFill/>
        </p:spPr>
        <p:txBody>
          <a:bodyPr wrap="none" anchor="t" lIns="0" rIns="0" tIns="0" bIns="0">
            <a:noAutofit/>
          </a:bodyPr>
          <a:lstStyle/>
          <a:p>
            <a:pPr algn="l">
              <a:lnSpc>
                <a:spcPts val="1449"/>
              </a:lnSpc>
              <a:spcBef>
                <a:spcPts val="0"/>
              </a:spcBef>
              <a:spcAft>
                <a:spcPts val="0"/>
              </a:spcAft>
            </a:pPr>
            <a:r>
              <a:rPr sz="1250" b="1">
                <a:solidFill>
                  <a:srgbClr val="416600"/>
                </a:solidFill>
                <a:latin typeface="NVIDIA Sans"/>
              </a:rPr>
              <a:t>Int → float</a:t>
            </a:r>
          </a:p>
        </p:txBody>
      </p:sp>
      <p:sp>
        <p:nvSpPr>
          <p:cNvPr id="35" name="x32.to(m.Float32)"/>
          <p:cNvSpPr txBox="1"/>
          <p:nvPr/>
        </p:nvSpPr>
        <p:spPr>
          <a:xfrm>
            <a:off x="2130552" y="3489350"/>
            <a:ext cx="3044952"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x32.to(m.Float32)</a:t>
            </a:r>
          </a:p>
        </p:txBody>
      </p:sp>
      <p:sp>
        <p:nvSpPr>
          <p:cNvPr id="36" name="arith.sitofp"/>
          <p:cNvSpPr txBox="1"/>
          <p:nvPr/>
        </p:nvSpPr>
        <p:spPr>
          <a:xfrm>
            <a:off x="5358384" y="3489350"/>
            <a:ext cx="3108960"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arith.sitofp</a:t>
            </a:r>
          </a:p>
        </p:txBody>
      </p:sp>
      <p:sp>
        <p:nvSpPr>
          <p:cNvPr id="37" name="Float → int"/>
          <p:cNvSpPr txBox="1"/>
          <p:nvPr/>
        </p:nvSpPr>
        <p:spPr>
          <a:xfrm>
            <a:off x="630936" y="3756355"/>
            <a:ext cx="1316736" cy="256032"/>
          </a:xfrm>
          <a:prstGeom prst="rect">
            <a:avLst/>
          </a:prstGeom>
          <a:noFill/>
        </p:spPr>
        <p:txBody>
          <a:bodyPr wrap="none" anchor="t" lIns="0" rIns="0" tIns="0" bIns="0">
            <a:noAutofit/>
          </a:bodyPr>
          <a:lstStyle/>
          <a:p>
            <a:pPr algn="l">
              <a:lnSpc>
                <a:spcPts val="1449"/>
              </a:lnSpc>
              <a:spcBef>
                <a:spcPts val="0"/>
              </a:spcBef>
              <a:spcAft>
                <a:spcPts val="0"/>
              </a:spcAft>
            </a:pPr>
            <a:r>
              <a:rPr sz="1250" b="1">
                <a:solidFill>
                  <a:srgbClr val="416600"/>
                </a:solidFill>
                <a:latin typeface="NVIDIA Sans"/>
              </a:rPr>
              <a:t>Float → int</a:t>
            </a:r>
          </a:p>
        </p:txBody>
      </p:sp>
      <p:sp>
        <p:nvSpPr>
          <p:cNvPr id="38" name="f32.to(m.Int32)"/>
          <p:cNvSpPr txBox="1"/>
          <p:nvPr/>
        </p:nvSpPr>
        <p:spPr>
          <a:xfrm>
            <a:off x="2130552" y="3756355"/>
            <a:ext cx="3044952"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f32.to(m.Int32)</a:t>
            </a:r>
          </a:p>
        </p:txBody>
      </p:sp>
      <p:sp>
        <p:nvSpPr>
          <p:cNvPr id="39" name="arith.fptosi"/>
          <p:cNvSpPr txBox="1"/>
          <p:nvPr/>
        </p:nvSpPr>
        <p:spPr>
          <a:xfrm>
            <a:off x="5358384" y="3756355"/>
            <a:ext cx="3108960"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arith.fptosi</a:t>
            </a:r>
          </a:p>
        </p:txBody>
      </p:sp>
      <p:sp>
        <p:nvSpPr>
          <p:cNvPr id="40" name="Error"/>
          <p:cNvSpPr txBox="1"/>
          <p:nvPr/>
        </p:nvSpPr>
        <p:spPr>
          <a:xfrm>
            <a:off x="630936" y="4023360"/>
            <a:ext cx="1316736" cy="256032"/>
          </a:xfrm>
          <a:prstGeom prst="rect">
            <a:avLst/>
          </a:prstGeom>
          <a:noFill/>
        </p:spPr>
        <p:txBody>
          <a:bodyPr wrap="none" anchor="t" lIns="0" rIns="0" tIns="0" bIns="0">
            <a:noAutofit/>
          </a:bodyPr>
          <a:lstStyle/>
          <a:p>
            <a:pPr algn="l">
              <a:lnSpc>
                <a:spcPts val="1449"/>
              </a:lnSpc>
              <a:spcBef>
                <a:spcPts val="0"/>
              </a:spcBef>
              <a:spcAft>
                <a:spcPts val="0"/>
              </a:spcAft>
            </a:pPr>
            <a:r>
              <a:rPr sz="1250" b="1">
                <a:solidFill>
                  <a:srgbClr val="416600"/>
                </a:solidFill>
                <a:latin typeface="NVIDIA Sans"/>
              </a:rPr>
              <a:t>Error</a:t>
            </a:r>
          </a:p>
        </p:txBody>
      </p:sp>
      <p:sp>
        <p:nvSpPr>
          <p:cNvPr id="41" name="x32.to(int)"/>
          <p:cNvSpPr txBox="1"/>
          <p:nvPr/>
        </p:nvSpPr>
        <p:spPr>
          <a:xfrm>
            <a:off x="2130552" y="4023360"/>
            <a:ext cx="3044952"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x32.to(int)</a:t>
            </a:r>
          </a:p>
        </p:txBody>
      </p:sp>
      <p:sp>
        <p:nvSpPr>
          <p:cNvPr id="42" name="Runtime ≠ Python value"/>
          <p:cNvSpPr txBox="1"/>
          <p:nvPr/>
        </p:nvSpPr>
        <p:spPr>
          <a:xfrm>
            <a:off x="5358384" y="4023360"/>
            <a:ext cx="3108960"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Runtime ≠ Python value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The same dtype can target another dialect"/>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The same dtype can target another dialect</a:t>
            </a:r>
          </a:p>
        </p:txBody>
      </p:sp>
      <p:sp>
        <p:nvSpPr>
          <p:cNvPr id="5" name="20"/>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20</a:t>
            </a:r>
          </a:p>
        </p:txBody>
      </p:sp>
      <p:sp>
        <p:nvSpPr>
          <p:cNvPr id="6" name="mlir 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Type-ops plugin · implementation excerpt"/>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Type-ops plugin · implementation excerpt</a:t>
            </a:r>
          </a:p>
        </p:txBody>
      </p:sp>
      <p:sp>
        <p:nvSpPr>
          <p:cNvPr id="10" name="class TileTypes(TypeOps):"/>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class TileTypes(TypeOps):</a:t>
            </a:r>
          </a:p>
        </p:txBody>
      </p:sp>
      <p:sp>
        <p:nvSpPr>
          <p:cNvPr id="11" name="    def mlir_type(self, dtype):"/>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def mlir_type(self, dtype):</a:t>
            </a:r>
          </a:p>
        </p:txBody>
      </p:sp>
      <p:sp>
        <p:nvSpPr>
          <p:cNvPr id="12" name="        return ir.RankedTensorType.get("/>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return ir.RankedTensorType.get(</a:t>
            </a:r>
          </a:p>
        </p:txBody>
      </p:sp>
      <p:sp>
        <p:nvSpPr>
          <p:cNvPr id="13" name="            [], dtype.scalar_mlir_type)"/>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 dtype.scalar_mlir_type)</a:t>
            </a:r>
          </a:p>
        </p:txBody>
      </p:sp>
      <p:sp>
        <p:nvSpPr>
          <p:cNvPr id="14" name=""/>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5" name="class TileLike(m.MlirTestDSL):"/>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class TileLike(m.MlirTestDSL):</a:t>
            </a:r>
          </a:p>
        </p:txBody>
      </p:sp>
      <p:sp>
        <p:nvSpPr>
          <p:cNvPr id="16" name="    plugins = replace("/>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plugins = replace(</a:t>
            </a:r>
          </a:p>
        </p:txBody>
      </p:sp>
      <p:sp>
        <p:nvSpPr>
          <p:cNvPr id="17" name="        m.MlirTestDSL.plugins,"/>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m.MlirTestDSL.plugins,</a:t>
            </a:r>
          </a:p>
        </p:txBody>
      </p:sp>
      <p:sp>
        <p:nvSpPr>
          <p:cNvPr id="18" name="        type_ops=TileTypes(scalars=arith))"/>
          <p:cNvSpPr txBox="1"/>
          <p:nvPr/>
        </p:nvSpPr>
        <p:spPr>
          <a:xfrm>
            <a:off x="594360" y="3501948"/>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type_ops=TileTypes(scalars=arith))</a:t>
            </a:r>
          </a:p>
        </p:txBody>
      </p:sp>
      <p:sp>
        <p:nvSpPr>
          <p:cNvPr id="19" name="Same source"/>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Same source</a:t>
            </a:r>
          </a:p>
        </p:txBody>
      </p:sp>
      <p:sp>
        <p:nvSpPr>
          <p:cNvPr id="20" name="m.Int32(6) + x"/>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m.Int32(6) + x</a:t>
            </a:r>
          </a:p>
        </p:txBody>
      </p:sp>
      <p:sp>
        <p:nvSpPr>
          <p:cNvPr id="21" name="Different IR type"/>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Different IR type</a:t>
            </a:r>
          </a:p>
        </p:txBody>
      </p:sp>
      <p:sp>
        <p:nvSpPr>
          <p:cNvPr id="22" name="i32 → tensor&lt;i32&gt;"/>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i32 → tensor&lt;i32&gt;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4 · Vectors, pointers, struct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4 · Vectors, pointers, structs</a:t>
            </a:r>
          </a:p>
        </p:txBody>
      </p:sp>
      <p:sp>
        <p:nvSpPr>
          <p:cNvPr id="5" name="21"/>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21</a:t>
            </a:r>
          </a:p>
        </p:txBody>
      </p:sp>
      <p:sp>
        <p:nvSpPr>
          <p:cNvPr id="6" name="mlir 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a:t>
            </a:r>
          </a:p>
        </p:txBody>
      </p:sp>
      <p:sp>
        <p:nvSpPr>
          <p:cNvPr id="7" name="Rectangle 6"/>
          <p:cNvSpPr/>
          <p:nvPr/>
        </p:nvSpPr>
        <p:spPr>
          <a:xfrm>
            <a:off x="438912" y="1517904"/>
            <a:ext cx="8266175" cy="438912"/>
          </a:xfrm>
          <a:prstGeom prst="rect">
            <a:avLst/>
          </a:prstGeom>
          <a:solidFill>
            <a:srgbClr val="E4F0D0"/>
          </a:solidFill>
          <a:ln>
            <a:noFill/>
          </a:ln>
          <a:effectLst/>
        </p:spPr>
        <p:txBody>
          <a:bodyPr rtlCol="0" anchor="ctr"/>
          <a:lstStyle/>
          <a:p>
            <a:pPr algn="ctr"/>
          </a:p>
        </p:txBody>
      </p:sp>
      <p:sp>
        <p:nvSpPr>
          <p:cNvPr id="8" name="Value"/>
          <p:cNvSpPr txBox="1"/>
          <p:nvPr/>
        </p:nvSpPr>
        <p:spPr>
          <a:xfrm>
            <a:off x="576072" y="1618488"/>
            <a:ext cx="2505456"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Value</a:t>
            </a:r>
          </a:p>
        </p:txBody>
      </p:sp>
      <p:sp>
        <p:nvSpPr>
          <p:cNvPr id="9" name="How it maps"/>
          <p:cNvSpPr txBox="1"/>
          <p:nvPr/>
        </p:nvSpPr>
        <p:spPr>
          <a:xfrm>
            <a:off x="3355848" y="1618488"/>
            <a:ext cx="5212080"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How it maps</a:t>
            </a:r>
          </a:p>
        </p:txBody>
      </p:sp>
      <p:sp>
        <p:nvSpPr>
          <p:cNvPr id="10" name="Rectangle 9"/>
          <p:cNvSpPr/>
          <p:nvPr/>
        </p:nvSpPr>
        <p:spPr>
          <a:xfrm>
            <a:off x="438912" y="1956816"/>
            <a:ext cx="8266175" cy="534924"/>
          </a:xfrm>
          <a:prstGeom prst="rect">
            <a:avLst/>
          </a:prstGeom>
          <a:solidFill>
            <a:srgbClr val="F7F7F7"/>
          </a:solidFill>
          <a:ln>
            <a:noFill/>
          </a:ln>
          <a:effectLst/>
        </p:spPr>
        <p:txBody>
          <a:bodyPr rtlCol="0" anchor="ctr"/>
          <a:lstStyle/>
          <a:p>
            <a:pPr algn="ctr"/>
          </a:p>
        </p:txBody>
      </p:sp>
      <p:sp>
        <p:nvSpPr>
          <p:cNvPr id="11" name="Vector"/>
          <p:cNvSpPr txBox="1"/>
          <p:nvPr/>
        </p:nvSpPr>
        <p:spPr>
          <a:xfrm>
            <a:off x="576072" y="2075688"/>
            <a:ext cx="2505456"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Vector</a:t>
            </a:r>
          </a:p>
        </p:txBody>
      </p:sp>
      <p:sp>
        <p:nvSpPr>
          <p:cNvPr id="12" name="vector hooks: create · extract · reduce"/>
          <p:cNvSpPr txBox="1"/>
          <p:nvPr/>
        </p:nvSpPr>
        <p:spPr>
          <a:xfrm>
            <a:off x="3355848" y="2075688"/>
            <a:ext cx="521208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vector hooks: create · extract · reduce</a:t>
            </a:r>
          </a:p>
        </p:txBody>
      </p:sp>
      <p:sp>
        <p:nvSpPr>
          <p:cNvPr id="13" name="Rectangle 12"/>
          <p:cNvSpPr/>
          <p:nvPr/>
        </p:nvSpPr>
        <p:spPr>
          <a:xfrm>
            <a:off x="438912" y="2491740"/>
            <a:ext cx="8266175" cy="534924"/>
          </a:xfrm>
          <a:prstGeom prst="rect">
            <a:avLst/>
          </a:prstGeom>
          <a:solidFill>
            <a:srgbClr val="FFFFFF"/>
          </a:solidFill>
          <a:ln>
            <a:noFill/>
          </a:ln>
          <a:effectLst/>
        </p:spPr>
        <p:txBody>
          <a:bodyPr rtlCol="0" anchor="ctr"/>
          <a:lstStyle/>
          <a:p>
            <a:pPr algn="ctr"/>
          </a:p>
        </p:txBody>
      </p:sp>
      <p:sp>
        <p:nvSpPr>
          <p:cNvPr id="14" name="Pointer[T]"/>
          <p:cNvSpPr txBox="1"/>
          <p:nvPr/>
        </p:nvSpPr>
        <p:spPr>
          <a:xfrm>
            <a:off x="576072" y="2610612"/>
            <a:ext cx="2505456"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Pointer[T]</a:t>
            </a:r>
          </a:p>
        </p:txBody>
      </p:sp>
      <p:sp>
        <p:nvSpPr>
          <p:cNvPr id="15" name="memory hooks: load · store · offset"/>
          <p:cNvSpPr txBox="1"/>
          <p:nvPr/>
        </p:nvSpPr>
        <p:spPr>
          <a:xfrm>
            <a:off x="3355848" y="2610612"/>
            <a:ext cx="521208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memory hooks: load · store · offset</a:t>
            </a:r>
          </a:p>
        </p:txBody>
      </p:sp>
      <p:sp>
        <p:nvSpPr>
          <p:cNvPr id="16" name="Rectangle 15"/>
          <p:cNvSpPr/>
          <p:nvPr/>
        </p:nvSpPr>
        <p:spPr>
          <a:xfrm>
            <a:off x="438912" y="3026664"/>
            <a:ext cx="8266175" cy="534924"/>
          </a:xfrm>
          <a:prstGeom prst="rect">
            <a:avLst/>
          </a:prstGeom>
          <a:solidFill>
            <a:srgbClr val="F7F7F7"/>
          </a:solidFill>
          <a:ln>
            <a:noFill/>
          </a:ln>
          <a:effectLst/>
        </p:spPr>
        <p:txBody>
          <a:bodyPr rtlCol="0" anchor="ctr"/>
          <a:lstStyle/>
          <a:p>
            <a:pPr algn="ctr"/>
          </a:p>
        </p:txBody>
      </p:sp>
      <p:sp>
        <p:nvSpPr>
          <p:cNvPr id="17" name="@struct"/>
          <p:cNvSpPr txBox="1"/>
          <p:nvPr/>
        </p:nvSpPr>
        <p:spPr>
          <a:xfrm>
            <a:off x="576072" y="3145536"/>
            <a:ext cx="2505456"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@struct</a:t>
            </a:r>
          </a:p>
        </p:txBody>
      </p:sp>
      <p:sp>
        <p:nvSpPr>
          <p:cNvPr id="18" name="Frozen record → flattened leaves"/>
          <p:cNvSpPr txBox="1"/>
          <p:nvPr/>
        </p:nvSpPr>
        <p:spPr>
          <a:xfrm>
            <a:off x="3355848" y="3145536"/>
            <a:ext cx="521208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Frozen record → flattened leaves</a:t>
            </a:r>
          </a:p>
        </p:txBody>
      </p:sp>
      <p:sp>
        <p:nvSpPr>
          <p:cNvPr id="19" name="Rectangle 18"/>
          <p:cNvSpPr/>
          <p:nvPr/>
        </p:nvSpPr>
        <p:spPr>
          <a:xfrm>
            <a:off x="438912" y="3561588"/>
            <a:ext cx="8266175" cy="534924"/>
          </a:xfrm>
          <a:prstGeom prst="rect">
            <a:avLst/>
          </a:prstGeom>
          <a:solidFill>
            <a:srgbClr val="FFFFFF"/>
          </a:solidFill>
          <a:ln>
            <a:noFill/>
          </a:ln>
          <a:effectLst/>
        </p:spPr>
        <p:txBody>
          <a:bodyPr rtlCol="0" anchor="ctr"/>
          <a:lstStyle/>
          <a:p>
            <a:pPr algn="ctr"/>
          </a:p>
        </p:txBody>
      </p:sp>
      <p:sp>
        <p:nvSpPr>
          <p:cNvPr id="20" name="Custom type"/>
          <p:cNvSpPr txBox="1"/>
          <p:nvPr/>
        </p:nvSpPr>
        <p:spPr>
          <a:xfrm>
            <a:off x="576072" y="3680460"/>
            <a:ext cx="2505456"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Custom type</a:t>
            </a:r>
          </a:p>
        </p:txBody>
      </p:sp>
      <p:sp>
        <p:nvSpPr>
          <p:cNvPr id="21" name="register_leaf → your SSA value"/>
          <p:cNvSpPr txBox="1"/>
          <p:nvPr/>
        </p:nvSpPr>
        <p:spPr>
          <a:xfrm>
            <a:off x="3355848" y="3680460"/>
            <a:ext cx="521208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register_leaf → your SSA value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Records flatten into their field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Records flatten into their fields</a:t>
            </a:r>
          </a:p>
        </p:txBody>
      </p:sp>
      <p:sp>
        <p:nvSpPr>
          <p:cNvPr id="5" name="22"/>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22</a:t>
            </a:r>
          </a:p>
        </p:txBody>
      </p:sp>
      <p:sp>
        <p:nvSpPr>
          <p:cNvPr id="6" name="Control flow"/>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Control flow</a:t>
            </a:r>
          </a:p>
        </p:txBody>
      </p:sp>
      <p:sp>
        <p:nvSpPr>
          <p:cNvPr id="7" name="Frozen record · no aggregate SSA type"/>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Frozen record · no aggregate SSA type</a:t>
            </a:r>
          </a:p>
        </p:txBody>
      </p:sp>
      <p:sp>
        <p:nvSpPr>
          <p:cNvPr id="8" name="Rectangle 7"/>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9" name="Rectangle 8"/>
          <p:cNvSpPr/>
          <p:nvPr/>
        </p:nvSpPr>
        <p:spPr>
          <a:xfrm>
            <a:off x="438912" y="1508760"/>
            <a:ext cx="4023360" cy="365760"/>
          </a:xfrm>
          <a:prstGeom prst="rect">
            <a:avLst/>
          </a:prstGeom>
          <a:solidFill>
            <a:srgbClr val="76B900"/>
          </a:solidFill>
          <a:ln>
            <a:noFill/>
          </a:ln>
          <a:effectLst/>
        </p:spPr>
        <p:txBody>
          <a:bodyPr rtlCol="0" anchor="ctr"/>
          <a:lstStyle/>
          <a:p>
            <a:pPr algn="ctr"/>
          </a:p>
        </p:txBody>
      </p:sp>
      <p:sp>
        <p:nvSpPr>
          <p:cNvPr id="10" name="Dialect-neutral record"/>
          <p:cNvSpPr txBox="1"/>
          <p:nvPr/>
        </p:nvSpPr>
        <p:spPr>
          <a:xfrm>
            <a:off x="594360" y="1604772"/>
            <a:ext cx="371246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Dialect-neutral record</a:t>
            </a:r>
          </a:p>
        </p:txBody>
      </p:sp>
      <p:sp>
        <p:nvSpPr>
          <p:cNvPr id="11" name="@m.struct"/>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84848"/>
                </a:solidFill>
                <a:latin typeface="JetBrains Mono"/>
              </a:rPr>
              <a:t>@m.struct</a:t>
            </a:r>
          </a:p>
        </p:txBody>
      </p:sp>
      <p:sp>
        <p:nvSpPr>
          <p:cNvPr id="12" name="class Vec2:"/>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class Vec2:</a:t>
            </a:r>
          </a:p>
        </p:txBody>
      </p:sp>
      <p:sp>
        <p:nvSpPr>
          <p:cNvPr id="13" name="    x: m.Float32"/>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x: m.Float32</a:t>
            </a:r>
          </a:p>
        </p:txBody>
      </p:sp>
      <p:sp>
        <p:nvSpPr>
          <p:cNvPr id="14" name="    y: m.Float32"/>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y: m.Float32</a:t>
            </a:r>
          </a:p>
        </p:txBody>
      </p:sp>
      <p:sp>
        <p:nvSpPr>
          <p:cNvPr id="15" name=""/>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16" name="@m.jit"/>
          <p:cNvSpPr txBox="1"/>
          <p:nvPr/>
        </p:nvSpPr>
        <p:spPr>
          <a:xfrm>
            <a:off x="594360" y="2911855"/>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16600"/>
                </a:solidFill>
                <a:latin typeface="JetBrains Mono"/>
              </a:rPr>
              <a:t>@m.jit</a:t>
            </a:r>
          </a:p>
        </p:txBody>
      </p:sp>
      <p:sp>
        <p:nvSpPr>
          <p:cNvPr id="17" name="def norm2(v: Vec2):"/>
          <p:cNvSpPr txBox="1"/>
          <p:nvPr/>
        </p:nvSpPr>
        <p:spPr>
          <a:xfrm>
            <a:off x="594360" y="3095548"/>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norm2(v: Vec2):</a:t>
            </a:r>
          </a:p>
        </p:txBody>
      </p:sp>
      <p:sp>
        <p:nvSpPr>
          <p:cNvPr id="18" name="    return v.x*v.x + v.y*v.y"/>
          <p:cNvSpPr txBox="1"/>
          <p:nvPr/>
        </p:nvSpPr>
        <p:spPr>
          <a:xfrm>
            <a:off x="594360" y="327924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return v.x*v.x + v.y*v.y</a:t>
            </a:r>
          </a:p>
        </p:txBody>
      </p:sp>
      <p:sp>
        <p:nvSpPr>
          <p:cNvPr id="19" name="Rectangle 18"/>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20" name="Rectangle 19"/>
          <p:cNvSpPr/>
          <p:nvPr/>
        </p:nvSpPr>
        <p:spPr>
          <a:xfrm>
            <a:off x="4663440" y="1508760"/>
            <a:ext cx="4041648" cy="365760"/>
          </a:xfrm>
          <a:prstGeom prst="rect">
            <a:avLst/>
          </a:prstGeom>
          <a:solidFill>
            <a:srgbClr val="76B900"/>
          </a:solidFill>
          <a:ln>
            <a:noFill/>
          </a:ln>
          <a:effectLst/>
        </p:spPr>
        <p:txBody>
          <a:bodyPr rtlCol="0" anchor="ctr"/>
          <a:lstStyle/>
          <a:p>
            <a:pPr algn="ctr"/>
          </a:p>
        </p:txBody>
      </p:sp>
      <p:sp>
        <p:nvSpPr>
          <p:cNvPr id="21" name="Two fields → two SSA arguments"/>
          <p:cNvSpPr txBox="1"/>
          <p:nvPr/>
        </p:nvSpPr>
        <p:spPr>
          <a:xfrm>
            <a:off x="4818888" y="1604772"/>
            <a:ext cx="3730752"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Two fields → two SSA arguments</a:t>
            </a:r>
          </a:p>
        </p:txBody>
      </p:sp>
      <p:sp>
        <p:nvSpPr>
          <p:cNvPr id="22" name="func.func @norm2("/>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func.func @norm2(</a:t>
            </a:r>
          </a:p>
        </p:txBody>
      </p:sp>
      <p:sp>
        <p:nvSpPr>
          <p:cNvPr id="23" name="    %x: f32, %y: f32) -&gt; f32 {"/>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%x: f32, %y: f32) -&gt; f32 {</a:t>
            </a:r>
          </a:p>
        </p:txBody>
      </p:sp>
      <p:sp>
        <p:nvSpPr>
          <p:cNvPr id="24" name="  %a = arith.mulf %x, %x : f32"/>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 = arith.mulf %x, %x : f32</a:t>
            </a:r>
          </a:p>
        </p:txBody>
      </p:sp>
      <p:sp>
        <p:nvSpPr>
          <p:cNvPr id="25" name="  %b = arith.mulf %y, %y : f32"/>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%b = arith.mulf %y, %y : f32</a:t>
            </a:r>
          </a:p>
        </p:txBody>
      </p:sp>
      <p:sp>
        <p:nvSpPr>
          <p:cNvPr id="26" name="  %r = arith.addf %a, %b : f32"/>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 = arith.addf %a, %b : f32</a:t>
            </a:r>
          </a:p>
        </p:txBody>
      </p:sp>
      <p:sp>
        <p:nvSpPr>
          <p:cNvPr id="27" name="  func.return %r : f32"/>
          <p:cNvSpPr txBox="1"/>
          <p:nvPr/>
        </p:nvSpPr>
        <p:spPr>
          <a:xfrm>
            <a:off x="4818888" y="2911855"/>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func.return %r : f32</a:t>
            </a:r>
          </a:p>
        </p:txBody>
      </p:sp>
      <p:sp>
        <p:nvSpPr>
          <p:cNvPr id="28" name="}"/>
          <p:cNvSpPr txBox="1"/>
          <p:nvPr/>
        </p:nvSpPr>
        <p:spPr>
          <a:xfrm>
            <a:off x="4818888" y="3095548"/>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a:t>
            </a:r>
          </a:p>
        </p:txBody>
      </p:sp>
      <p:sp>
        <p:nvSpPr>
          <p:cNvPr id="29" name=""/>
          <p:cNvSpPr txBox="1"/>
          <p:nvPr/>
        </p:nvSpPr>
        <p:spPr>
          <a:xfrm>
            <a:off x="4818888" y="327924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30" name="// norm2(Vec2(x=3, y=4)) → 25"/>
          <p:cNvSpPr txBox="1"/>
          <p:nvPr/>
        </p:nvSpPr>
        <p:spPr>
          <a:xfrm>
            <a:off x="4818888" y="346293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norm2(Vec2(x=3, y=4)) → 25</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Extend values with mydialect.Tensor"/>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Extend values with mydialect.Tensor</a:t>
            </a:r>
          </a:p>
        </p:txBody>
      </p:sp>
      <p:sp>
        <p:nvSpPr>
          <p:cNvPr id="5" name="23"/>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23</a:t>
            </a:r>
          </a:p>
        </p:txBody>
      </p:sp>
      <p:sp>
        <p:nvSpPr>
          <p:cNvPr id="6" name="mlir 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Custom leaf · implementation excerpt"/>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Custom leaf · implementation excerpt</a:t>
            </a:r>
          </a:p>
        </p:txBody>
      </p:sp>
      <p:sp>
        <p:nvSpPr>
          <p:cNvPr id="10" name="@dataclass(frozen=True)"/>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1">
                <a:solidFill>
                  <a:srgbClr val="484848"/>
                </a:solidFill>
                <a:latin typeface="JetBrains Mono"/>
              </a:rPr>
              <a:t>@dataclass(frozen=True)</a:t>
            </a:r>
          </a:p>
        </p:txBody>
      </p:sp>
      <p:sp>
        <p:nvSpPr>
          <p:cNvPr id="11" name="class Tensor:"/>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class Tensor:</a:t>
            </a:r>
          </a:p>
        </p:txBody>
      </p:sp>
      <p:sp>
        <p:nvSpPr>
          <p:cNvPr id="12" name="    value: ir.Value"/>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value: ir.Value</a:t>
            </a:r>
          </a:p>
        </p:txBody>
      </p:sp>
      <p:sp>
        <p:nvSpPr>
          <p:cNvPr id="13" name=""/>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4" name="register_leaf("/>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register_leaf(</a:t>
            </a:r>
          </a:p>
        </p:txBody>
      </p:sp>
      <p:sp>
        <p:nvSpPr>
          <p:cNvPr id="15" name="    Tensor,"/>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Tensor,</a:t>
            </a:r>
          </a:p>
        </p:txBody>
      </p:sp>
      <p:sp>
        <p:nvSpPr>
          <p:cNvPr id="16" name="    ir_types=lambda t: [t.value.type],"/>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ir_types=lambda t: [t.value.type],</a:t>
            </a:r>
          </a:p>
        </p:txBody>
      </p:sp>
      <p:sp>
        <p:nvSpPr>
          <p:cNvPr id="17" name="    ir_values=lambda t: [t.value],"/>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ir_values=lambda t: [t.value],</a:t>
            </a:r>
          </a:p>
        </p:txBody>
      </p:sp>
      <p:sp>
        <p:nvSpPr>
          <p:cNvPr id="18" name="    from_ir_values=lambda t, vs: Tensor(vs[0]),"/>
          <p:cNvSpPr txBox="1"/>
          <p:nvPr/>
        </p:nvSpPr>
        <p:spPr>
          <a:xfrm>
            <a:off x="594360" y="3501948"/>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from_ir_values=lambda t, vs: Tensor(vs[0]),</a:t>
            </a:r>
          </a:p>
        </p:txBody>
      </p:sp>
      <p:sp>
        <p:nvSpPr>
          <p:cNvPr id="19" name=")"/>
          <p:cNvSpPr txBox="1"/>
          <p:nvPr/>
        </p:nvSpPr>
        <p:spPr>
          <a:xfrm>
            <a:off x="594360" y="3690518"/>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a:t>
            </a:r>
          </a:p>
        </p:txBody>
      </p:sp>
      <p:sp>
        <p:nvSpPr>
          <p:cNvPr id="20" name="Keep a custom value"/>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Keep a custom value</a:t>
            </a:r>
          </a:p>
        </p:txBody>
      </p:sp>
      <p:sp>
        <p:nvSpPr>
          <p:cNvPr id="21" name="Own the Python wrapper"/>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Own the Python wrapper</a:t>
            </a:r>
          </a:p>
        </p:txBody>
      </p:sp>
      <p:sp>
        <p:nvSpPr>
          <p:cNvPr id="22" name="Cross DSL boundaries"/>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Cross DSL boundaries</a:t>
            </a:r>
          </a:p>
        </p:txBody>
      </p:sp>
      <p:sp>
        <p:nvSpPr>
          <p:cNvPr id="23" name="Extract + rebuild SSA leaves"/>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Extract + rebuild SSA leaves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5 · Native control flow"/>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5 · Native control flow</a:t>
            </a:r>
          </a:p>
        </p:txBody>
      </p:sp>
      <p:sp>
        <p:nvSpPr>
          <p:cNvPr id="5" name="24"/>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24</a:t>
            </a:r>
          </a:p>
        </p:txBody>
      </p:sp>
      <p:sp>
        <p:nvSpPr>
          <p:cNvPr id="6" name="Control flow"/>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Control flow</a:t>
            </a:r>
          </a:p>
        </p:txBody>
      </p:sp>
      <p:sp>
        <p:nvSpPr>
          <p:cNvPr id="7" name="Syntax capture and IR emission are separate choices."/>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Syntax capture and IR emission are separate choices.</a:t>
            </a:r>
          </a:p>
        </p:txBody>
      </p:sp>
      <p:sp>
        <p:nvSpPr>
          <p:cNvPr id="8" name="Rectangle 7"/>
          <p:cNvSpPr/>
          <p:nvPr/>
        </p:nvSpPr>
        <p:spPr>
          <a:xfrm>
            <a:off x="484632" y="1655064"/>
            <a:ext cx="1872234" cy="1316736"/>
          </a:xfrm>
          <a:prstGeom prst="rect">
            <a:avLst/>
          </a:prstGeom>
          <a:solidFill>
            <a:srgbClr val="F7F7F7"/>
          </a:solidFill>
          <a:ln w="8890">
            <a:solidFill>
              <a:srgbClr val="D5D5D5"/>
            </a:solidFill>
          </a:ln>
          <a:effectLst/>
        </p:spPr>
        <p:txBody>
          <a:bodyPr rtlCol="0" anchor="ctr"/>
          <a:lstStyle/>
          <a:p>
            <a:pPr algn="ctr"/>
          </a:p>
        </p:txBody>
      </p:sp>
      <p:sp>
        <p:nvSpPr>
          <p:cNvPr id="9" name="Python"/>
          <p:cNvSpPr txBox="1"/>
          <p:nvPr/>
        </p:nvSpPr>
        <p:spPr>
          <a:xfrm>
            <a:off x="603504" y="1828800"/>
            <a:ext cx="1634489" cy="466344"/>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000000"/>
                </a:solidFill>
                <a:latin typeface="NVIDIA Sans"/>
              </a:rPr>
              <a:t>Python</a:t>
            </a:r>
          </a:p>
        </p:txBody>
      </p:sp>
      <p:sp>
        <p:nvSpPr>
          <p:cNvPr id="10" name="if · for · while"/>
          <p:cNvSpPr txBox="1"/>
          <p:nvPr/>
        </p:nvSpPr>
        <p:spPr>
          <a:xfrm>
            <a:off x="603504" y="2523744"/>
            <a:ext cx="1634489" cy="35661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if · for · while</a:t>
            </a:r>
          </a:p>
        </p:txBody>
      </p:sp>
      <p:cxnSp>
        <p:nvCxnSpPr>
          <p:cNvPr id="11" name="Connector 10"/>
          <p:cNvCxnSpPr/>
          <p:nvPr/>
        </p:nvCxnSpPr>
        <p:spPr>
          <a:xfrm>
            <a:off x="2384297" y="2322576"/>
            <a:ext cx="173737"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2585465" y="1655064"/>
            <a:ext cx="1872234" cy="1316736"/>
          </a:xfrm>
          <a:prstGeom prst="rect">
            <a:avLst/>
          </a:prstGeom>
          <a:solidFill>
            <a:srgbClr val="F0F6E6"/>
          </a:solidFill>
          <a:ln w="8890">
            <a:solidFill>
              <a:srgbClr val="D5D5D5"/>
            </a:solidFill>
          </a:ln>
          <a:effectLst/>
        </p:spPr>
        <p:txBody>
          <a:bodyPr rtlCol="0" anchor="ctr"/>
          <a:lstStyle/>
          <a:p>
            <a:pPr algn="ctr"/>
          </a:p>
        </p:txBody>
      </p:sp>
      <p:sp>
        <p:nvSpPr>
          <p:cNvPr id="13" name="AST plugin"/>
          <p:cNvSpPr txBox="1"/>
          <p:nvPr/>
        </p:nvSpPr>
        <p:spPr>
          <a:xfrm>
            <a:off x="2704337" y="1828800"/>
            <a:ext cx="1634489" cy="466344"/>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AST plugin</a:t>
            </a:r>
          </a:p>
        </p:txBody>
      </p:sp>
      <p:sp>
        <p:nvSpPr>
          <p:cNvPr id="14" name="Rewrite regions"/>
          <p:cNvSpPr txBox="1"/>
          <p:nvPr/>
        </p:nvSpPr>
        <p:spPr>
          <a:xfrm>
            <a:off x="2704337" y="2523744"/>
            <a:ext cx="1634489" cy="35661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Rewrite regions</a:t>
            </a:r>
          </a:p>
        </p:txBody>
      </p:sp>
      <p:cxnSp>
        <p:nvCxnSpPr>
          <p:cNvPr id="15" name="Connector 14"/>
          <p:cNvCxnSpPr/>
          <p:nvPr/>
        </p:nvCxnSpPr>
        <p:spPr>
          <a:xfrm>
            <a:off x="4485132" y="2322576"/>
            <a:ext cx="173736"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4686300" y="1655064"/>
            <a:ext cx="1872234" cy="1316736"/>
          </a:xfrm>
          <a:prstGeom prst="rect">
            <a:avLst/>
          </a:prstGeom>
          <a:solidFill>
            <a:srgbClr val="F7F7F7"/>
          </a:solidFill>
          <a:ln w="8890">
            <a:solidFill>
              <a:srgbClr val="D5D5D5"/>
            </a:solidFill>
          </a:ln>
          <a:effectLst/>
        </p:spPr>
        <p:txBody>
          <a:bodyPr rtlCol="0" anchor="ctr"/>
          <a:lstStyle/>
          <a:p>
            <a:pPr algn="ctr"/>
          </a:p>
        </p:txBody>
      </p:sp>
      <p:sp>
        <p:nvSpPr>
          <p:cNvPr id="17" name="Executors"/>
          <p:cNvSpPr txBox="1"/>
          <p:nvPr/>
        </p:nvSpPr>
        <p:spPr>
          <a:xfrm>
            <a:off x="4805172" y="1828800"/>
            <a:ext cx="1634489" cy="466344"/>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000000"/>
                </a:solidFill>
                <a:latin typeface="NVIDIA Sans"/>
              </a:rPr>
              <a:t>Executors</a:t>
            </a:r>
          </a:p>
        </p:txBody>
      </p:sp>
      <p:sp>
        <p:nvSpPr>
          <p:cNvPr id="18" name="Meta or staged?"/>
          <p:cNvSpPr txBox="1"/>
          <p:nvPr/>
        </p:nvSpPr>
        <p:spPr>
          <a:xfrm>
            <a:off x="4805172" y="2523744"/>
            <a:ext cx="1634489" cy="35661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Meta or staged?</a:t>
            </a:r>
          </a:p>
        </p:txBody>
      </p:sp>
      <p:cxnSp>
        <p:nvCxnSpPr>
          <p:cNvPr id="19" name="Connector 18"/>
          <p:cNvCxnSpPr/>
          <p:nvPr/>
        </p:nvCxnSpPr>
        <p:spPr>
          <a:xfrm>
            <a:off x="6585966" y="2322576"/>
            <a:ext cx="173735"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6787134" y="1655064"/>
            <a:ext cx="1872234" cy="1316736"/>
          </a:xfrm>
          <a:prstGeom prst="rect">
            <a:avLst/>
          </a:prstGeom>
          <a:solidFill>
            <a:srgbClr val="F0F6E6"/>
          </a:solidFill>
          <a:ln w="8890">
            <a:solidFill>
              <a:srgbClr val="D5D5D5"/>
            </a:solidFill>
          </a:ln>
          <a:effectLst/>
        </p:spPr>
        <p:txBody>
          <a:bodyPr rtlCol="0" anchor="ctr"/>
          <a:lstStyle/>
          <a:p>
            <a:pPr algn="ctr"/>
          </a:p>
        </p:txBody>
      </p:sp>
      <p:sp>
        <p:nvSpPr>
          <p:cNvPr id="21" name="Regions"/>
          <p:cNvSpPr txBox="1"/>
          <p:nvPr/>
        </p:nvSpPr>
        <p:spPr>
          <a:xfrm>
            <a:off x="6906006" y="1828800"/>
            <a:ext cx="1634489" cy="466344"/>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Regions</a:t>
            </a:r>
          </a:p>
        </p:txBody>
      </p:sp>
      <p:sp>
        <p:nvSpPr>
          <p:cNvPr id="22" name="scf · your dialect"/>
          <p:cNvSpPr txBox="1"/>
          <p:nvPr/>
        </p:nvSpPr>
        <p:spPr>
          <a:xfrm>
            <a:off x="6906006" y="2523744"/>
            <a:ext cx="1634489" cy="35661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scf · your dialect</a:t>
            </a:r>
          </a:p>
        </p:txBody>
      </p:sp>
      <p:sp>
        <p:nvSpPr>
          <p:cNvPr id="23" name="Rectangle 22"/>
          <p:cNvSpPr/>
          <p:nvPr/>
        </p:nvSpPr>
        <p:spPr>
          <a:xfrm>
            <a:off x="2585465" y="3236976"/>
            <a:ext cx="6073902" cy="41148"/>
          </a:xfrm>
          <a:prstGeom prst="rect">
            <a:avLst/>
          </a:prstGeom>
          <a:solidFill>
            <a:srgbClr val="76B900"/>
          </a:solidFill>
          <a:ln>
            <a:noFill/>
          </a:ln>
          <a:effectLst/>
        </p:spPr>
        <p:txBody>
          <a:bodyPr rtlCol="0" anchor="ctr"/>
          <a:lstStyle/>
          <a:p>
            <a:pPr algn="ctr"/>
          </a:p>
        </p:txBody>
      </p:sp>
      <p:sp>
        <p:nvSpPr>
          <p:cNvPr id="24" name="ASTPreprocessorPlugin"/>
          <p:cNvSpPr txBox="1"/>
          <p:nvPr/>
        </p:nvSpPr>
        <p:spPr>
          <a:xfrm>
            <a:off x="2617470" y="3429000"/>
            <a:ext cx="6009894" cy="448056"/>
          </a:xfrm>
          <a:prstGeom prst="rect">
            <a:avLst/>
          </a:prstGeom>
          <a:noFill/>
        </p:spPr>
        <p:txBody>
          <a:bodyPr wrap="none" anchor="t" lIns="0" rIns="0" tIns="0" bIns="0">
            <a:noAutofit/>
          </a:bodyPr>
          <a:lstStyle/>
          <a:p>
            <a:pPr algn="ctr">
              <a:lnSpc>
                <a:spcPts val="1368"/>
              </a:lnSpc>
              <a:spcBef>
                <a:spcPts val="0"/>
              </a:spcBef>
              <a:spcAft>
                <a:spcPts val="0"/>
              </a:spcAft>
            </a:pPr>
            <a:r>
              <a:rPr sz="1180" b="1">
                <a:solidFill>
                  <a:srgbClr val="416600"/>
                </a:solidFill>
                <a:latin typeface="NVIDIA Sans"/>
              </a:rPr>
              <a:t>ASTPreprocessorPlugin</a:t>
            </a:r>
          </a:p>
        </p:txBody>
      </p:sp>
      <p:sp>
        <p:nvSpPr>
          <p:cNvPr id="25" name="scf / your dialect"/>
          <p:cNvSpPr txBox="1"/>
          <p:nvPr/>
        </p:nvSpPr>
        <p:spPr>
          <a:xfrm>
            <a:off x="530352" y="3931920"/>
            <a:ext cx="8083296" cy="265176"/>
          </a:xfrm>
          <a:prstGeom prst="rect">
            <a:avLst/>
          </a:prstGeom>
          <a:noFill/>
        </p:spPr>
        <p:txBody>
          <a:bodyPr wrap="none" anchor="t" lIns="0" rIns="0" tIns="0" bIns="0">
            <a:noAutofit/>
          </a:bodyPr>
          <a:lstStyle/>
          <a:p>
            <a:pPr algn="ctr">
              <a:lnSpc>
                <a:spcPts val="1391"/>
              </a:lnSpc>
              <a:spcBef>
                <a:spcPts val="0"/>
              </a:spcBef>
              <a:spcAft>
                <a:spcPts val="0"/>
              </a:spcAft>
            </a:pPr>
            <a:r>
              <a:rPr sz="1200" b="0">
                <a:solidFill>
                  <a:srgbClr val="616161"/>
                </a:solidFill>
                <a:latin typeface="NVIDIA Sans"/>
              </a:rPr>
              <a:t>scf / your dialect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Assigned name → iter_arg"/>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Assigned name → iter_arg</a:t>
            </a:r>
          </a:p>
        </p:txBody>
      </p:sp>
      <p:sp>
        <p:nvSpPr>
          <p:cNvPr id="5" name="25"/>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25</a:t>
            </a:r>
          </a:p>
        </p:txBody>
      </p:sp>
      <p:sp>
        <p:nvSpPr>
          <p:cNvPr id="6" name="Control flow"/>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Control flow</a:t>
            </a:r>
          </a:p>
        </p:txBody>
      </p:sp>
      <p:sp>
        <p:nvSpPr>
          <p:cNvPr id="7" name="Flatten → build region → yield → rebuild"/>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Flatten → build region → yield → rebuild</a:t>
            </a:r>
          </a:p>
        </p:txBody>
      </p:sp>
      <p:sp>
        <p:nvSpPr>
          <p:cNvPr id="8" name="Rectangle 7"/>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9" name="Rectangle 8"/>
          <p:cNvSpPr/>
          <p:nvPr/>
        </p:nvSpPr>
        <p:spPr>
          <a:xfrm>
            <a:off x="438912" y="1508760"/>
            <a:ext cx="4023360" cy="365760"/>
          </a:xfrm>
          <a:prstGeom prst="rect">
            <a:avLst/>
          </a:prstGeom>
          <a:solidFill>
            <a:srgbClr val="76B900"/>
          </a:solidFill>
          <a:ln>
            <a:noFill/>
          </a:ln>
          <a:effectLst/>
        </p:spPr>
        <p:txBody>
          <a:bodyPr rtlCol="0" anchor="ctr"/>
          <a:lstStyle/>
          <a:p>
            <a:pPr algn="ctr"/>
          </a:p>
        </p:txBody>
      </p:sp>
      <p:sp>
        <p:nvSpPr>
          <p:cNvPr id="10" name="Python · find the carry"/>
          <p:cNvSpPr txBox="1"/>
          <p:nvPr/>
        </p:nvSpPr>
        <p:spPr>
          <a:xfrm>
            <a:off x="594360" y="1604772"/>
            <a:ext cx="371246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Python · find the carry</a:t>
            </a:r>
          </a:p>
        </p:txBody>
      </p:sp>
      <p:sp>
        <p:nvSpPr>
          <p:cNvPr id="11" name="acc = m.Int32(0)"/>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acc = m.Int32(0)</a:t>
            </a:r>
          </a:p>
        </p:txBody>
      </p:sp>
      <p:sp>
        <p:nvSpPr>
          <p:cNvPr id="12" name="for i in range(n):"/>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for i in range(n):</a:t>
            </a:r>
          </a:p>
        </p:txBody>
      </p:sp>
      <p:sp>
        <p:nvSpPr>
          <p:cNvPr id="13" name="    acc = acc + i"/>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acc = acc + i</a:t>
            </a:r>
          </a:p>
        </p:txBody>
      </p:sp>
      <p:sp>
        <p:nvSpPr>
          <p:cNvPr id="14" name=""/>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15" name="# Defined outside: acc"/>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Defined outside: acc</a:t>
            </a:r>
          </a:p>
        </p:txBody>
      </p:sp>
      <p:sp>
        <p:nvSpPr>
          <p:cNvPr id="16" name="# Written inside:  acc"/>
          <p:cNvSpPr txBox="1"/>
          <p:nvPr/>
        </p:nvSpPr>
        <p:spPr>
          <a:xfrm>
            <a:off x="594360" y="2911855"/>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Written inside:  acc</a:t>
            </a:r>
          </a:p>
        </p:txBody>
      </p:sp>
      <p:sp>
        <p:nvSpPr>
          <p:cNvPr id="17" name="# write_args_names = [&quot;acc&quot;]"/>
          <p:cNvSpPr txBox="1"/>
          <p:nvPr/>
        </p:nvSpPr>
        <p:spPr>
          <a:xfrm>
            <a:off x="594360" y="3095548"/>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write_args_names = ["acc"]</a:t>
            </a:r>
          </a:p>
        </p:txBody>
      </p:sp>
      <p:sp>
        <p:nvSpPr>
          <p:cNvPr id="18" name="Rectangle 17"/>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19" name="Rectangle 18"/>
          <p:cNvSpPr/>
          <p:nvPr/>
        </p:nvSpPr>
        <p:spPr>
          <a:xfrm>
            <a:off x="4663440" y="1508760"/>
            <a:ext cx="4041648" cy="365760"/>
          </a:xfrm>
          <a:prstGeom prst="rect">
            <a:avLst/>
          </a:prstGeom>
          <a:solidFill>
            <a:srgbClr val="76B900"/>
          </a:solidFill>
          <a:ln>
            <a:noFill/>
          </a:ln>
          <a:effectLst/>
        </p:spPr>
        <p:txBody>
          <a:bodyPr rtlCol="0" anchor="ctr"/>
          <a:lstStyle/>
          <a:p>
            <a:pPr algn="ctr"/>
          </a:p>
        </p:txBody>
      </p:sp>
      <p:sp>
        <p:nvSpPr>
          <p:cNvPr id="20" name="MLIR · thread the SSA value"/>
          <p:cNvSpPr txBox="1"/>
          <p:nvPr/>
        </p:nvSpPr>
        <p:spPr>
          <a:xfrm>
            <a:off x="4818888" y="1604772"/>
            <a:ext cx="3730752"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MLIR · thread the SSA value</a:t>
            </a:r>
          </a:p>
        </p:txBody>
      </p:sp>
      <p:sp>
        <p:nvSpPr>
          <p:cNvPr id="21" name="%sum = scf.for %i = %c0 to %n"/>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%sum = scf.for %i = %c0 to %n</a:t>
            </a:r>
          </a:p>
        </p:txBody>
      </p:sp>
      <p:sp>
        <p:nvSpPr>
          <p:cNvPr id="22" name="    step %c1 iter_args(%acc = %zero)"/>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16600"/>
                </a:solidFill>
                <a:latin typeface="JetBrains Mono"/>
              </a:rPr>
              <a:t>    step %c1 iter_args(%acc = %zero)</a:t>
            </a:r>
          </a:p>
        </p:txBody>
      </p:sp>
      <p:sp>
        <p:nvSpPr>
          <p:cNvPr id="23" name="    -&gt; (i32) : i32 {"/>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-&gt; (i32) : i32 {</a:t>
            </a:r>
          </a:p>
        </p:txBody>
      </p:sp>
      <p:sp>
        <p:nvSpPr>
          <p:cNvPr id="24" name="  %next = arith.addi %acc, %i : i32"/>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%next = arith.addi %acc, %i : i32</a:t>
            </a:r>
          </a:p>
        </p:txBody>
      </p:sp>
      <p:sp>
        <p:nvSpPr>
          <p:cNvPr id="25" name="  scf.yield %next : i32"/>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16600"/>
                </a:solidFill>
                <a:latin typeface="JetBrains Mono"/>
              </a:rPr>
              <a:t>  scf.yield %next : i32</a:t>
            </a:r>
          </a:p>
        </p:txBody>
      </p:sp>
      <p:sp>
        <p:nvSpPr>
          <p:cNvPr id="26" name="}"/>
          <p:cNvSpPr txBox="1"/>
          <p:nvPr/>
        </p:nvSpPr>
        <p:spPr>
          <a:xfrm>
            <a:off x="4818888" y="2911855"/>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Capture has an explicit boundary"/>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Capture has an explicit boundary</a:t>
            </a:r>
          </a:p>
        </p:txBody>
      </p:sp>
      <p:sp>
        <p:nvSpPr>
          <p:cNvPr id="5" name="26"/>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26</a:t>
            </a:r>
          </a:p>
        </p:txBody>
      </p:sp>
      <p:sp>
        <p:nvSpPr>
          <p:cNvPr id="6" name="mlir 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a:t>
            </a:r>
          </a:p>
        </p:txBody>
      </p:sp>
      <p:sp>
        <p:nvSpPr>
          <p:cNvPr id="7" name="Rectangle 6"/>
          <p:cNvSpPr/>
          <p:nvPr/>
        </p:nvSpPr>
        <p:spPr>
          <a:xfrm>
            <a:off x="438912" y="1517904"/>
            <a:ext cx="8266175" cy="438912"/>
          </a:xfrm>
          <a:prstGeom prst="rect">
            <a:avLst/>
          </a:prstGeom>
          <a:solidFill>
            <a:srgbClr val="E4F0D0"/>
          </a:solidFill>
          <a:ln>
            <a:noFill/>
          </a:ln>
          <a:effectLst/>
        </p:spPr>
        <p:txBody>
          <a:bodyPr rtlCol="0" anchor="ctr"/>
          <a:lstStyle/>
          <a:p>
            <a:pPr algn="ctr"/>
          </a:p>
        </p:txBody>
      </p:sp>
      <p:sp>
        <p:nvSpPr>
          <p:cNvPr id="8" name="Python / Meta"/>
          <p:cNvSpPr txBox="1"/>
          <p:nvPr/>
        </p:nvSpPr>
        <p:spPr>
          <a:xfrm>
            <a:off x="576072" y="1618488"/>
            <a:ext cx="2505456"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Python / Meta</a:t>
            </a:r>
          </a:p>
        </p:txBody>
      </p:sp>
      <p:sp>
        <p:nvSpPr>
          <p:cNvPr id="9" name="Staged"/>
          <p:cNvSpPr txBox="1"/>
          <p:nvPr/>
        </p:nvSpPr>
        <p:spPr>
          <a:xfrm>
            <a:off x="3355848" y="1618488"/>
            <a:ext cx="5212080"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Staged</a:t>
            </a:r>
          </a:p>
        </p:txBody>
      </p:sp>
      <p:sp>
        <p:nvSpPr>
          <p:cNvPr id="10" name="Rectangle 9"/>
          <p:cNvSpPr/>
          <p:nvPr/>
        </p:nvSpPr>
        <p:spPr>
          <a:xfrm>
            <a:off x="438912" y="1956816"/>
            <a:ext cx="8266175" cy="534924"/>
          </a:xfrm>
          <a:prstGeom prst="rect">
            <a:avLst/>
          </a:prstGeom>
          <a:solidFill>
            <a:srgbClr val="F7F7F7"/>
          </a:solidFill>
          <a:ln>
            <a:noFill/>
          </a:ln>
          <a:effectLst/>
        </p:spPr>
        <p:txBody>
          <a:bodyPr rtlCol="0" anchor="ctr"/>
          <a:lstStyle/>
          <a:p>
            <a:pPr algn="ctr"/>
          </a:p>
        </p:txBody>
      </p:sp>
      <p:sp>
        <p:nvSpPr>
          <p:cNvPr id="11" name="if / for / while"/>
          <p:cNvSpPr txBox="1"/>
          <p:nvPr/>
        </p:nvSpPr>
        <p:spPr>
          <a:xfrm>
            <a:off x="576072" y="2075688"/>
            <a:ext cx="2505456"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if / for / while</a:t>
            </a:r>
          </a:p>
        </p:txBody>
      </p:sp>
      <p:sp>
        <p:nvSpPr>
          <p:cNvPr id="12" name="scf.if / scf.for / scf.while"/>
          <p:cNvSpPr txBox="1"/>
          <p:nvPr/>
        </p:nvSpPr>
        <p:spPr>
          <a:xfrm>
            <a:off x="3355848" y="2075688"/>
            <a:ext cx="521208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scf.if / scf.for / scf.while</a:t>
            </a:r>
          </a:p>
        </p:txBody>
      </p:sp>
      <p:sp>
        <p:nvSpPr>
          <p:cNvPr id="13" name="Rectangle 12"/>
          <p:cNvSpPr/>
          <p:nvPr/>
        </p:nvSpPr>
        <p:spPr>
          <a:xfrm>
            <a:off x="438912" y="2491740"/>
            <a:ext cx="8266175" cy="534924"/>
          </a:xfrm>
          <a:prstGeom prst="rect">
            <a:avLst/>
          </a:prstGeom>
          <a:solidFill>
            <a:srgbClr val="FFFFFF"/>
          </a:solidFill>
          <a:ln>
            <a:noFill/>
          </a:ln>
          <a:effectLst/>
        </p:spPr>
        <p:txBody>
          <a:bodyPr rtlCol="0" anchor="ctr"/>
          <a:lstStyle/>
          <a:p>
            <a:pPr algn="ctr"/>
          </a:p>
        </p:txBody>
      </p:sp>
      <p:sp>
        <p:nvSpPr>
          <p:cNvPr id="14" name="Known early exit"/>
          <p:cNvSpPr txBox="1"/>
          <p:nvPr/>
        </p:nvSpPr>
        <p:spPr>
          <a:xfrm>
            <a:off x="576072" y="2610612"/>
            <a:ext cx="2505456"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Known early exit</a:t>
            </a:r>
          </a:p>
        </p:txBody>
      </p:sp>
      <p:sp>
        <p:nvSpPr>
          <p:cNvPr id="15" name="Python executes it"/>
          <p:cNvSpPr txBox="1"/>
          <p:nvPr/>
        </p:nvSpPr>
        <p:spPr>
          <a:xfrm>
            <a:off x="3355848" y="2610612"/>
            <a:ext cx="521208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Python executes it</a:t>
            </a:r>
          </a:p>
        </p:txBody>
      </p:sp>
      <p:sp>
        <p:nvSpPr>
          <p:cNvPr id="16" name="Rectangle 15"/>
          <p:cNvSpPr/>
          <p:nvPr/>
        </p:nvSpPr>
        <p:spPr>
          <a:xfrm>
            <a:off x="438912" y="3026664"/>
            <a:ext cx="8266175" cy="534924"/>
          </a:xfrm>
          <a:prstGeom prst="rect">
            <a:avLst/>
          </a:prstGeom>
          <a:solidFill>
            <a:srgbClr val="F7F7F7"/>
          </a:solidFill>
          <a:ln>
            <a:noFill/>
          </a:ln>
          <a:effectLst/>
        </p:spPr>
        <p:txBody>
          <a:bodyPr rtlCol="0" anchor="ctr"/>
          <a:lstStyle/>
          <a:p>
            <a:pPr algn="ctr"/>
          </a:p>
        </p:txBody>
      </p:sp>
      <p:sp>
        <p:nvSpPr>
          <p:cNvPr id="17" name="Data-dependent early exit"/>
          <p:cNvSpPr txBox="1"/>
          <p:nvPr/>
        </p:nvSpPr>
        <p:spPr>
          <a:xfrm>
            <a:off x="576072" y="3145536"/>
            <a:ext cx="2505456"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Data-dependent early exit</a:t>
            </a:r>
          </a:p>
        </p:txBody>
      </p:sp>
      <p:sp>
        <p:nvSpPr>
          <p:cNvPr id="18" name="UNSUP_EARLY_EXIT"/>
          <p:cNvSpPr txBox="1"/>
          <p:nvPr/>
        </p:nvSpPr>
        <p:spPr>
          <a:xfrm>
            <a:off x="3355848" y="3145536"/>
            <a:ext cx="521208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UNSUP_EARLY_EXIT</a:t>
            </a:r>
          </a:p>
        </p:txBody>
      </p:sp>
      <p:sp>
        <p:nvSpPr>
          <p:cNvPr id="19" name="Rectangle 18"/>
          <p:cNvSpPr/>
          <p:nvPr/>
        </p:nvSpPr>
        <p:spPr>
          <a:xfrm>
            <a:off x="438912" y="3561588"/>
            <a:ext cx="8266175" cy="534924"/>
          </a:xfrm>
          <a:prstGeom prst="rect">
            <a:avLst/>
          </a:prstGeom>
          <a:solidFill>
            <a:srgbClr val="FFFFFF"/>
          </a:solidFill>
          <a:ln>
            <a:noFill/>
          </a:ln>
          <a:effectLst/>
        </p:spPr>
        <p:txBody>
          <a:bodyPr rtlCol="0" anchor="ctr"/>
          <a:lstStyle/>
          <a:p>
            <a:pPr algn="ctr"/>
          </a:p>
        </p:txBody>
      </p:sp>
      <p:sp>
        <p:nvSpPr>
          <p:cNvPr id="20" name="Frozen dataclass"/>
          <p:cNvSpPr txBox="1"/>
          <p:nvPr/>
        </p:nvSpPr>
        <p:spPr>
          <a:xfrm>
            <a:off x="576072" y="3680460"/>
            <a:ext cx="2505456"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Frozen dataclass</a:t>
            </a:r>
          </a:p>
        </p:txBody>
      </p:sp>
      <p:sp>
        <p:nvSpPr>
          <p:cNvPr id="21" name="Flatten + rebuild leaves"/>
          <p:cNvSpPr txBox="1"/>
          <p:nvPr/>
        </p:nvSpPr>
        <p:spPr>
          <a:xfrm>
            <a:off x="3355848" y="3680460"/>
            <a:ext cx="521208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Flatten + rebuild leaves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Replace capture through one role"/>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Replace capture through one role</a:t>
            </a:r>
          </a:p>
        </p:txBody>
      </p:sp>
      <p:sp>
        <p:nvSpPr>
          <p:cNvPr id="5" name="27"/>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27</a:t>
            </a:r>
          </a:p>
        </p:txBody>
      </p:sp>
      <p:sp>
        <p:nvSpPr>
          <p:cNvPr id="6" name="mlir 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AST plugin · implementation excerpt"/>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AST plugin · implementation excerpt</a:t>
            </a:r>
          </a:p>
        </p:txBody>
      </p:sp>
      <p:sp>
        <p:nvSpPr>
          <p:cNvPr id="10" name="class MyAST(scf.ASTPreprocessor):"/>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class MyAST(scf.ASTPreprocessor):</a:t>
            </a:r>
          </a:p>
        </p:txBody>
      </p:sp>
      <p:sp>
        <p:nvSpPr>
          <p:cNvPr id="11" name="    def executors(self, dsl):"/>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def executors(self, dsl):</a:t>
            </a:r>
          </a:p>
        </p:txBody>
      </p:sp>
      <p:sp>
        <p:nvSpPr>
          <p:cNvPr id="12" name="        hooks = super().executors(dsl)"/>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hooks = super().executors(dsl)</a:t>
            </a:r>
          </a:p>
        </p:txBody>
      </p:sp>
      <p:sp>
        <p:nvSpPr>
          <p:cNvPr id="13" name="        hooks[&quot;loop_execute_range_dynamic&quot;] = ("/>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hooks["loop_execute_range_dynamic"] = (</a:t>
            </a:r>
          </a:p>
        </p:txBody>
      </p:sp>
      <p:sp>
        <p:nvSpPr>
          <p:cNvPr id="14" name="            my_loop_executor)"/>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my_loop_executor)</a:t>
            </a:r>
          </a:p>
        </p:txBody>
      </p:sp>
      <p:sp>
        <p:nvSpPr>
          <p:cNvPr id="15" name="        return hooks"/>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return hooks</a:t>
            </a:r>
          </a:p>
        </p:txBody>
      </p:sp>
      <p:sp>
        <p:nvSpPr>
          <p:cNvPr id="16" name=""/>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7" name="# In the Plugins record:"/>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In the Plugins record:</a:t>
            </a:r>
          </a:p>
        </p:txBody>
      </p:sp>
      <p:sp>
        <p:nvSpPr>
          <p:cNvPr id="18" name="ast_preprocessor=MyAST()"/>
          <p:cNvSpPr txBox="1"/>
          <p:nvPr/>
        </p:nvSpPr>
        <p:spPr>
          <a:xfrm>
            <a:off x="594360" y="3501948"/>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ast_preprocessor=MyAST()</a:t>
            </a:r>
          </a:p>
        </p:txBody>
      </p:sp>
      <p:sp>
        <p:nvSpPr>
          <p:cNvPr id="19" name="Reuse the rewrite"/>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Reuse the rewrite</a:t>
            </a:r>
          </a:p>
        </p:txBody>
      </p:sp>
      <p:sp>
        <p:nvSpPr>
          <p:cNvPr id="20" name="Replace a region builder"/>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Replace a region builder</a:t>
            </a:r>
          </a:p>
        </p:txBody>
      </p:sp>
      <p:sp>
        <p:nvSpPr>
          <p:cNvPr id="21" name="Or replace both"/>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Or replace both</a:t>
            </a:r>
          </a:p>
        </p:txBody>
      </p:sp>
      <p:sp>
        <p:nvSpPr>
          <p:cNvPr id="22" name="preprocessor_class + executors"/>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preprocessor_class + executors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6 · Explicit builder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6 · Explicit builders</a:t>
            </a:r>
          </a:p>
        </p:txBody>
      </p:sp>
      <p:sp>
        <p:nvSpPr>
          <p:cNvPr id="5" name="28"/>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28</a:t>
            </a:r>
          </a:p>
        </p:txBody>
      </p:sp>
      <p:sp>
        <p:nvSpPr>
          <p:cNvPr id="6" name="mlir 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Python · implementation excerpt"/>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Python · implementation excerpt</a:t>
            </a:r>
          </a:p>
        </p:txBody>
      </p:sp>
      <p:sp>
        <p:nvSpPr>
          <p:cNvPr id="10" name="@m.jit(preprocess=False)"/>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1">
                <a:solidFill>
                  <a:srgbClr val="416600"/>
                </a:solidFill>
                <a:latin typeface="JetBrains Mono"/>
              </a:rPr>
              <a:t>@m.jit(preprocess=False)</a:t>
            </a:r>
          </a:p>
        </p:txBody>
      </p:sp>
      <p:sp>
        <p:nvSpPr>
          <p:cNvPr id="11" name="def sum_squares(n: m.Int32):"/>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def sum_squares(n: m.Int32):</a:t>
            </a:r>
          </a:p>
        </p:txBody>
      </p:sp>
      <p:sp>
        <p:nvSpPr>
          <p:cNvPr id="12" name="    for i, acc, result in m.for_("/>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for i, acc, result in m.for_(</a:t>
            </a:r>
          </a:p>
        </p:txBody>
      </p:sp>
      <p:sp>
        <p:nvSpPr>
          <p:cNvPr id="13" name="            0, n, 1, [m.Int32(0)]):"/>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0, n, 1, [m.Int32(0)]):</a:t>
            </a:r>
          </a:p>
        </p:txBody>
      </p:sp>
      <p:sp>
        <p:nvSpPr>
          <p:cNvPr id="14" name="        m.yield_(acc + i * i)"/>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m.yield_(acc + i * i)</a:t>
            </a:r>
          </a:p>
        </p:txBody>
      </p:sp>
      <p:sp>
        <p:nvSpPr>
          <p:cNvPr id="15" name="    return result"/>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return result</a:t>
            </a:r>
          </a:p>
        </p:txBody>
      </p:sp>
      <p:sp>
        <p:nvSpPr>
          <p:cNvPr id="16" name="No syntax rewrite"/>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No syntax rewrite</a:t>
            </a:r>
          </a:p>
        </p:txBody>
      </p:sp>
      <p:sp>
        <p:nvSpPr>
          <p:cNvPr id="17" name="Build regions directly"/>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Build regions directly</a:t>
            </a:r>
          </a:p>
        </p:txBody>
      </p:sp>
      <p:sp>
        <p:nvSpPr>
          <p:cNvPr id="18" name="Same building blocks"/>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Same building blocks</a:t>
            </a:r>
          </a:p>
        </p:txBody>
      </p:sp>
      <p:sp>
        <p:nvSpPr>
          <p:cNvPr id="19" name="for_ · if_ · while_ · yield_"/>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for_ · if_ · while_ · yield_</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7 · Bring host values to the DSL"/>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7 · Bring host values to the DSL</a:t>
            </a:r>
          </a:p>
        </p:txBody>
      </p:sp>
      <p:sp>
        <p:nvSpPr>
          <p:cNvPr id="5" name="29"/>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29</a:t>
            </a:r>
          </a:p>
        </p:txBody>
      </p:sp>
      <p:sp>
        <p:nvSpPr>
          <p:cNvPr id="6" name="mlir 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a:t>
            </a:r>
          </a:p>
        </p:txBody>
      </p:sp>
      <p:sp>
        <p:nvSpPr>
          <p:cNvPr id="7" name="Rectangle 6"/>
          <p:cNvSpPr/>
          <p:nvPr/>
        </p:nvSpPr>
        <p:spPr>
          <a:xfrm>
            <a:off x="438912" y="1856231"/>
            <a:ext cx="1895093" cy="1764792"/>
          </a:xfrm>
          <a:prstGeom prst="rect">
            <a:avLst/>
          </a:prstGeom>
          <a:solidFill>
            <a:srgbClr val="F0F6E6"/>
          </a:solidFill>
          <a:ln w="8890">
            <a:solidFill>
              <a:srgbClr val="D5D5D5"/>
            </a:solidFill>
          </a:ln>
          <a:effectLst/>
        </p:spPr>
        <p:txBody>
          <a:bodyPr rtlCol="0" anchor="ctr"/>
          <a:lstStyle/>
          <a:p>
            <a:pPr algn="ctr"/>
          </a:p>
        </p:txBody>
      </p:sp>
      <p:sp>
        <p:nvSpPr>
          <p:cNvPr id="8" name="Host objects"/>
          <p:cNvSpPr txBox="1"/>
          <p:nvPr/>
        </p:nvSpPr>
        <p:spPr>
          <a:xfrm>
            <a:off x="566928"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Host objects</a:t>
            </a:r>
          </a:p>
        </p:txBody>
      </p:sp>
      <p:sp>
        <p:nvSpPr>
          <p:cNvPr id="9" name="NumPy · records / PyTorch · DLPack"/>
          <p:cNvSpPr txBox="1"/>
          <p:nvPr/>
        </p:nvSpPr>
        <p:spPr>
          <a:xfrm>
            <a:off x="566928"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NumPy · records</a:t>
            </a:r>
          </a:p>
          <a:p>
            <a:pPr algn="l">
              <a:lnSpc>
                <a:spcPts val="1334"/>
              </a:lnSpc>
              <a:spcBef>
                <a:spcPts val="0"/>
              </a:spcBef>
              <a:spcAft>
                <a:spcPts val="0"/>
              </a:spcAft>
            </a:pPr>
            <a:r>
              <a:rPr sz="1150" b="0">
                <a:solidFill>
                  <a:srgbClr val="616161"/>
                </a:solidFill>
                <a:latin typeface="NVIDIA Sans"/>
              </a:rPr>
              <a:t>PyTorch · DLPack</a:t>
            </a:r>
          </a:p>
        </p:txBody>
      </p:sp>
      <p:cxnSp>
        <p:nvCxnSpPr>
          <p:cNvPr id="10" name="Connector 9"/>
          <p:cNvCxnSpPr/>
          <p:nvPr/>
        </p:nvCxnSpPr>
        <p:spPr>
          <a:xfrm>
            <a:off x="2366010" y="2706624"/>
            <a:ext cx="164591"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2562606" y="1856231"/>
            <a:ext cx="1895093" cy="1764792"/>
          </a:xfrm>
          <a:prstGeom prst="rect">
            <a:avLst/>
          </a:prstGeom>
          <a:solidFill>
            <a:srgbClr val="F7F7F7"/>
          </a:solidFill>
          <a:ln w="8890">
            <a:solidFill>
              <a:srgbClr val="D5D5D5"/>
            </a:solidFill>
          </a:ln>
          <a:effectLst/>
        </p:spPr>
        <p:txBody>
          <a:bodyPr rtlCol="0" anchor="ctr"/>
          <a:lstStyle/>
          <a:p>
            <a:pPr algn="ctr"/>
          </a:p>
        </p:txBody>
      </p:sp>
      <p:sp>
        <p:nvSpPr>
          <p:cNvPr id="12" name="Adapters"/>
          <p:cNvSpPr txBox="1"/>
          <p:nvPr/>
        </p:nvSpPr>
        <p:spPr>
          <a:xfrm>
            <a:off x="2690622"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Adapters</a:t>
            </a:r>
          </a:p>
        </p:txBody>
      </p:sp>
      <p:sp>
        <p:nvSpPr>
          <p:cNvPr id="13" name="Select + flatten"/>
          <p:cNvSpPr txBox="1"/>
          <p:nvPr/>
        </p:nvSpPr>
        <p:spPr>
          <a:xfrm>
            <a:off x="2690622"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Select + flatten</a:t>
            </a:r>
          </a:p>
        </p:txBody>
      </p:sp>
      <p:cxnSp>
        <p:nvCxnSpPr>
          <p:cNvPr id="14" name="Connector 13"/>
          <p:cNvCxnSpPr/>
          <p:nvPr/>
        </p:nvCxnSpPr>
        <p:spPr>
          <a:xfrm>
            <a:off x="4489704" y="2706624"/>
            <a:ext cx="16459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4686300" y="1856231"/>
            <a:ext cx="1895093" cy="1764792"/>
          </a:xfrm>
          <a:prstGeom prst="rect">
            <a:avLst/>
          </a:prstGeom>
          <a:solidFill>
            <a:srgbClr val="F7F7F7"/>
          </a:solidFill>
          <a:ln w="8890">
            <a:solidFill>
              <a:srgbClr val="D5D5D5"/>
            </a:solidFill>
          </a:ln>
          <a:effectLst/>
        </p:spPr>
        <p:txBody>
          <a:bodyPr rtlCol="0" anchor="ctr"/>
          <a:lstStyle/>
          <a:p>
            <a:pPr algn="ctr"/>
          </a:p>
        </p:txBody>
      </p:sp>
      <p:sp>
        <p:nvSpPr>
          <p:cNvPr id="16" name="DSL leaves"/>
          <p:cNvSpPr txBox="1"/>
          <p:nvPr/>
        </p:nvSpPr>
        <p:spPr>
          <a:xfrm>
            <a:off x="4814316"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DSL leaves</a:t>
            </a:r>
          </a:p>
        </p:txBody>
      </p:sp>
      <p:sp>
        <p:nvSpPr>
          <p:cNvPr id="17" name="Pointer[T] / Typed scalars"/>
          <p:cNvSpPr txBox="1"/>
          <p:nvPr/>
        </p:nvSpPr>
        <p:spPr>
          <a:xfrm>
            <a:off x="4814316"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Pointer[T]</a:t>
            </a:r>
          </a:p>
          <a:p>
            <a:pPr algn="l">
              <a:lnSpc>
                <a:spcPts val="1334"/>
              </a:lnSpc>
              <a:spcBef>
                <a:spcPts val="0"/>
              </a:spcBef>
              <a:spcAft>
                <a:spcPts val="0"/>
              </a:spcAft>
            </a:pPr>
            <a:r>
              <a:rPr sz="1150" b="0">
                <a:solidFill>
                  <a:srgbClr val="616161"/>
                </a:solidFill>
                <a:latin typeface="NVIDIA Sans"/>
              </a:rPr>
              <a:t>Typed scalars</a:t>
            </a:r>
          </a:p>
        </p:txBody>
      </p:sp>
      <p:cxnSp>
        <p:nvCxnSpPr>
          <p:cNvPr id="18" name="Connector 17"/>
          <p:cNvCxnSpPr/>
          <p:nvPr/>
        </p:nvCxnSpPr>
        <p:spPr>
          <a:xfrm>
            <a:off x="6613398" y="2706624"/>
            <a:ext cx="16459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6809994" y="1856231"/>
            <a:ext cx="1895093" cy="1764792"/>
          </a:xfrm>
          <a:prstGeom prst="rect">
            <a:avLst/>
          </a:prstGeom>
          <a:solidFill>
            <a:srgbClr val="F0F6E6"/>
          </a:solidFill>
          <a:ln w="8890">
            <a:solidFill>
              <a:srgbClr val="D5D5D5"/>
            </a:solidFill>
          </a:ln>
          <a:effectLst/>
        </p:spPr>
        <p:txBody>
          <a:bodyPr rtlCol="0" anchor="ctr"/>
          <a:lstStyle/>
          <a:p>
            <a:pPr algn="ctr"/>
          </a:p>
        </p:txBody>
      </p:sp>
      <p:sp>
        <p:nvSpPr>
          <p:cNvPr id="20" name="Compiled call"/>
          <p:cNvSpPr txBox="1"/>
          <p:nvPr/>
        </p:nvSpPr>
        <p:spPr>
          <a:xfrm>
            <a:off x="6938009"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Compiled call</a:t>
            </a:r>
          </a:p>
        </p:txBody>
      </p:sp>
      <p:sp>
        <p:nvSpPr>
          <p:cNvPr id="21" name="Packed arguments"/>
          <p:cNvSpPr txBox="1"/>
          <p:nvPr/>
        </p:nvSpPr>
        <p:spPr>
          <a:xfrm>
            <a:off x="6938009"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Packed arguments</a:t>
            </a:r>
          </a:p>
        </p:txBody>
      </p:sp>
      <p:sp>
        <p:nvSpPr>
          <p:cNvPr id="22" name="Pointer ABI: contiguous buffers · dimensions passed separately"/>
          <p:cNvSpPr txBox="1"/>
          <p:nvPr/>
        </p:nvSpPr>
        <p:spPr>
          <a:xfrm>
            <a:off x="457200" y="3822191"/>
            <a:ext cx="8229600" cy="320040"/>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Pointer ABI: contiguous buffers · dimensions passed separately</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Adapters work in both direction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Adapters work in both directions</a:t>
            </a:r>
          </a:p>
        </p:txBody>
      </p:sp>
      <p:sp>
        <p:nvSpPr>
          <p:cNvPr id="5" name="30"/>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30</a:t>
            </a:r>
          </a:p>
        </p:txBody>
      </p:sp>
      <p:sp>
        <p:nvSpPr>
          <p:cNvPr id="6" name="mlir 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a:t>
            </a:r>
          </a:p>
        </p:txBody>
      </p:sp>
      <p:sp>
        <p:nvSpPr>
          <p:cNvPr id="7" name="Rectangle 6"/>
          <p:cNvSpPr/>
          <p:nvPr/>
        </p:nvSpPr>
        <p:spPr>
          <a:xfrm>
            <a:off x="438912" y="1856231"/>
            <a:ext cx="1895093" cy="1764792"/>
          </a:xfrm>
          <a:prstGeom prst="rect">
            <a:avLst/>
          </a:prstGeom>
          <a:solidFill>
            <a:srgbClr val="F0F6E6"/>
          </a:solidFill>
          <a:ln w="8890">
            <a:solidFill>
              <a:srgbClr val="D5D5D5"/>
            </a:solidFill>
          </a:ln>
          <a:effectLst/>
        </p:spPr>
        <p:txBody>
          <a:bodyPr rtlCol="0" anchor="ctr"/>
          <a:lstStyle/>
          <a:p>
            <a:pPr algn="ctr"/>
          </a:p>
        </p:txBody>
      </p:sp>
      <p:sp>
        <p:nvSpPr>
          <p:cNvPr id="8" name="Inputs"/>
          <p:cNvSpPr txBox="1"/>
          <p:nvPr/>
        </p:nvSpPr>
        <p:spPr>
          <a:xfrm>
            <a:off x="566928"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Inputs</a:t>
            </a:r>
          </a:p>
        </p:txBody>
      </p:sp>
      <p:sp>
        <p:nvSpPr>
          <p:cNvPr id="9" name="Tensor → Pointer"/>
          <p:cNvSpPr txBox="1"/>
          <p:nvPr/>
        </p:nvSpPr>
        <p:spPr>
          <a:xfrm>
            <a:off x="566928"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Tensor → Pointer</a:t>
            </a:r>
          </a:p>
        </p:txBody>
      </p:sp>
      <p:cxnSp>
        <p:nvCxnSpPr>
          <p:cNvPr id="10" name="Connector 9"/>
          <p:cNvCxnSpPr/>
          <p:nvPr/>
        </p:nvCxnSpPr>
        <p:spPr>
          <a:xfrm>
            <a:off x="2366010" y="2706624"/>
            <a:ext cx="164591"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2562606" y="1856231"/>
            <a:ext cx="1895093" cy="1764792"/>
          </a:xfrm>
          <a:prstGeom prst="rect">
            <a:avLst/>
          </a:prstGeom>
          <a:solidFill>
            <a:srgbClr val="F7F7F7"/>
          </a:solidFill>
          <a:ln w="8890">
            <a:solidFill>
              <a:srgbClr val="D5D5D5"/>
            </a:solidFill>
          </a:ln>
          <a:effectLst/>
        </p:spPr>
        <p:txBody>
          <a:bodyPr rtlCol="0" anchor="ctr"/>
          <a:lstStyle/>
          <a:p>
            <a:pPr algn="ctr"/>
          </a:p>
        </p:txBody>
      </p:sp>
      <p:sp>
        <p:nvSpPr>
          <p:cNvPr id="12" name="Traced module"/>
          <p:cNvSpPr txBox="1"/>
          <p:nvPr/>
        </p:nvSpPr>
        <p:spPr>
          <a:xfrm>
            <a:off x="2690622"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Traced module</a:t>
            </a:r>
          </a:p>
        </p:txBody>
      </p:sp>
      <p:sp>
        <p:nvSpPr>
          <p:cNvPr id="13" name="Add ABI wrapper"/>
          <p:cNvSpPr txBox="1"/>
          <p:nvPr/>
        </p:nvSpPr>
        <p:spPr>
          <a:xfrm>
            <a:off x="2690622"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Add ABI wrapper</a:t>
            </a:r>
          </a:p>
        </p:txBody>
      </p:sp>
      <p:cxnSp>
        <p:nvCxnSpPr>
          <p:cNvPr id="14" name="Connector 13"/>
          <p:cNvCxnSpPr/>
          <p:nvPr/>
        </p:nvCxnSpPr>
        <p:spPr>
          <a:xfrm>
            <a:off x="4489704" y="2706624"/>
            <a:ext cx="16459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4686300" y="1856231"/>
            <a:ext cx="1895093" cy="1764792"/>
          </a:xfrm>
          <a:prstGeom prst="rect">
            <a:avLst/>
          </a:prstGeom>
          <a:solidFill>
            <a:srgbClr val="F7F7F7"/>
          </a:solidFill>
          <a:ln w="8890">
            <a:solidFill>
              <a:srgbClr val="D5D5D5"/>
            </a:solidFill>
          </a:ln>
          <a:effectLst/>
        </p:spPr>
        <p:txBody>
          <a:bodyPr rtlCol="0" anchor="ctr"/>
          <a:lstStyle/>
          <a:p>
            <a:pPr algn="ctr"/>
          </a:p>
        </p:txBody>
      </p:sp>
      <p:sp>
        <p:nvSpPr>
          <p:cNvPr id="16" name="Lowering"/>
          <p:cNvSpPr txBox="1"/>
          <p:nvPr/>
        </p:nvSpPr>
        <p:spPr>
          <a:xfrm>
            <a:off x="4814316"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Lowering</a:t>
            </a:r>
          </a:p>
        </p:txBody>
      </p:sp>
      <p:sp>
        <p:nvSpPr>
          <p:cNvPr id="17" name="Finalize the ABI"/>
          <p:cNvSpPr txBox="1"/>
          <p:nvPr/>
        </p:nvSpPr>
        <p:spPr>
          <a:xfrm>
            <a:off x="4814316"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Finalize the ABI</a:t>
            </a:r>
          </a:p>
        </p:txBody>
      </p:sp>
      <p:cxnSp>
        <p:nvCxnSpPr>
          <p:cNvPr id="18" name="Connector 17"/>
          <p:cNvCxnSpPr/>
          <p:nvPr/>
        </p:nvCxnSpPr>
        <p:spPr>
          <a:xfrm>
            <a:off x="6613398" y="2706624"/>
            <a:ext cx="16459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6809994" y="1856231"/>
            <a:ext cx="1895093" cy="1764792"/>
          </a:xfrm>
          <a:prstGeom prst="rect">
            <a:avLst/>
          </a:prstGeom>
          <a:solidFill>
            <a:srgbClr val="F0F6E6"/>
          </a:solidFill>
          <a:ln w="8890">
            <a:solidFill>
              <a:srgbClr val="D5D5D5"/>
            </a:solidFill>
          </a:ln>
          <a:effectLst/>
        </p:spPr>
        <p:txBody>
          <a:bodyPr rtlCol="0" anchor="ctr"/>
          <a:lstStyle/>
          <a:p>
            <a:pPr algn="ctr"/>
          </a:p>
        </p:txBody>
      </p:sp>
      <p:sp>
        <p:nvSpPr>
          <p:cNvPr id="20" name="Outputs"/>
          <p:cNvSpPr txBox="1"/>
          <p:nvPr/>
        </p:nvSpPr>
        <p:spPr>
          <a:xfrm>
            <a:off x="6938009"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Outputs</a:t>
            </a:r>
          </a:p>
        </p:txBody>
      </p:sp>
      <p:sp>
        <p:nvSpPr>
          <p:cNvPr id="21" name="TVM-FFI callable"/>
          <p:cNvSpPr txBox="1"/>
          <p:nvPr/>
        </p:nvSpPr>
        <p:spPr>
          <a:xfrm>
            <a:off x="6938009"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TVM-FFI callable</a:t>
            </a:r>
          </a:p>
        </p:txBody>
      </p:sp>
      <p:sp>
        <p:nvSpPr>
          <p:cNvPr id="22" name="AdapterPlugin · register / attach / after_lowering / wrap"/>
          <p:cNvSpPr txBox="1"/>
          <p:nvPr/>
        </p:nvSpPr>
        <p:spPr>
          <a:xfrm>
            <a:off x="457200" y="3822191"/>
            <a:ext cx="8229600" cy="320040"/>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AdapterPlugin · register / attach / after_lowering / wrap</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8 · @kernel comes from a decorator plugin"/>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8 · @kernel comes from a decorator plugin</a:t>
            </a:r>
          </a:p>
        </p:txBody>
      </p:sp>
      <p:sp>
        <p:nvSpPr>
          <p:cNvPr id="5" name="31"/>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31</a:t>
            </a:r>
          </a:p>
        </p:txBody>
      </p:sp>
      <p:sp>
        <p:nvSpPr>
          <p:cNvPr id="6" name="mlir 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GPU plugin + kernel · excerpt"/>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GPU plugin + kernel · excerpt</a:t>
            </a:r>
          </a:p>
        </p:txBody>
      </p:sp>
      <p:sp>
        <p:nvSpPr>
          <p:cNvPr id="10" name="plugins = Plugins("/>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plugins = Plugins(</a:t>
            </a:r>
          </a:p>
        </p:txBody>
      </p:sp>
      <p:sp>
        <p:nvSpPr>
          <p:cNvPr id="11" name="    # ... selected roles ..."/>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 ... selected roles ...</a:t>
            </a:r>
          </a:p>
        </p:txBody>
      </p:sp>
      <p:sp>
        <p:nvSpPr>
          <p:cNvPr id="12" name="    decorators=[gpu.Kernels("/>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decorators=[gpu.Kernels(</a:t>
            </a:r>
          </a:p>
        </p:txBody>
      </p:sp>
      <p:sp>
        <p:nvSpPr>
          <p:cNvPr id="13" name="        chip_option=&quot;cubin-chip&quot;)],"/>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chip_option="cubin-chip")],</a:t>
            </a:r>
          </a:p>
        </p:txBody>
      </p:sp>
      <p:sp>
        <p:nvSpPr>
          <p:cNvPr id="14" name=")"/>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a:t>
            </a:r>
          </a:p>
        </p:txBody>
      </p:sp>
      <p:sp>
        <p:nvSpPr>
          <p:cNvPr id="15" name=""/>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6" name="@m.kernel"/>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1">
                <a:solidFill>
                  <a:srgbClr val="416600"/>
                </a:solidFill>
                <a:latin typeface="JetBrains Mono"/>
              </a:rPr>
              <a:t>@m.kernel</a:t>
            </a:r>
          </a:p>
        </p:txBody>
      </p:sp>
      <p:sp>
        <p:nvSpPr>
          <p:cNvPr id="17" name="def add_one(p: m.Pointer[m.Float32]):"/>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def add_one(p: m.Pointer[m.Float32]):</a:t>
            </a:r>
          </a:p>
        </p:txBody>
      </p:sp>
      <p:sp>
        <p:nvSpPr>
          <p:cNvPr id="18" name="    i = m.thread_idx()[0]"/>
          <p:cNvSpPr txBox="1"/>
          <p:nvPr/>
        </p:nvSpPr>
        <p:spPr>
          <a:xfrm>
            <a:off x="594360" y="3501948"/>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i = m.thread_idx()[0]</a:t>
            </a:r>
          </a:p>
        </p:txBody>
      </p:sp>
      <p:sp>
        <p:nvSpPr>
          <p:cNvPr id="19" name="    p[i] = p[i] + 1.0"/>
          <p:cNvSpPr txBox="1"/>
          <p:nvPr/>
        </p:nvSpPr>
        <p:spPr>
          <a:xfrm>
            <a:off x="594360" y="3690518"/>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p[i] = p[i] + 1.0</a:t>
            </a:r>
          </a:p>
        </p:txBody>
      </p:sp>
      <p:sp>
        <p:nvSpPr>
          <p:cNvPr id="20" name="Core decorator"/>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Core decorator</a:t>
            </a:r>
          </a:p>
        </p:txBody>
      </p:sp>
      <p:sp>
        <p:nvSpPr>
          <p:cNvPr id="21" name="@jit"/>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@jit</a:t>
            </a:r>
          </a:p>
        </p:txBody>
      </p:sp>
      <p:sp>
        <p:nvSpPr>
          <p:cNvPr id="22" name="Decorator family"/>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Decorator family</a:t>
            </a:r>
          </a:p>
        </p:txBody>
      </p:sp>
      <p:sp>
        <p:nvSpPr>
          <p:cNvPr id="23" name="Adds @kernel + launcher"/>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Adds @kernel + launcher</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Launch is an explicit operation"/>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Launch is an explicit operation</a:t>
            </a:r>
          </a:p>
        </p:txBody>
      </p:sp>
      <p:sp>
        <p:nvSpPr>
          <p:cNvPr id="5" name="32"/>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32</a:t>
            </a:r>
          </a:p>
        </p:txBody>
      </p:sp>
      <p:sp>
        <p:nvSpPr>
          <p:cNvPr id="6" name="mlir 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Python · implementation excerpt"/>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Python · implementation excerpt</a:t>
            </a:r>
          </a:p>
        </p:txBody>
      </p:sp>
      <p:sp>
        <p:nvSpPr>
          <p:cNvPr id="10" name="@m.jit"/>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1">
                <a:solidFill>
                  <a:srgbClr val="416600"/>
                </a:solidFill>
                <a:latin typeface="JetBrains Mono"/>
              </a:rPr>
              <a:t>@m.jit</a:t>
            </a:r>
          </a:p>
        </p:txBody>
      </p:sp>
      <p:sp>
        <p:nvSpPr>
          <p:cNvPr id="11" name="def run(p: m.Pointer[m.Float32]):"/>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def run(p: m.Pointer[m.Float32]):</a:t>
            </a:r>
          </a:p>
        </p:txBody>
      </p:sp>
      <p:sp>
        <p:nvSpPr>
          <p:cNvPr id="12" name="    add_one(p).launch("/>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add_one(p).launch(</a:t>
            </a:r>
          </a:p>
        </p:txBody>
      </p:sp>
      <p:sp>
        <p:nvSpPr>
          <p:cNvPr id="13" name="        m.LaunchConfig("/>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m.LaunchConfig(</a:t>
            </a:r>
          </a:p>
        </p:txBody>
      </p:sp>
      <p:sp>
        <p:nvSpPr>
          <p:cNvPr id="14" name="            grid=[1], block=[32]))"/>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grid=[1], block=[32]))</a:t>
            </a:r>
          </a:p>
        </p:txBody>
      </p:sp>
      <p:sp>
        <p:nvSpPr>
          <p:cNvPr id="15" name=""/>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6" name="# Caller owns a 32-element CUDA buffer."/>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Caller owns a 32-element CUDA buffer.</a:t>
            </a:r>
          </a:p>
        </p:txBody>
      </p:sp>
      <p:sp>
        <p:nvSpPr>
          <p:cNvPr id="17" name="run(device_tensor)"/>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run(device_tensor)</a:t>
            </a:r>
          </a:p>
        </p:txBody>
      </p:sp>
      <p:sp>
        <p:nvSpPr>
          <p:cNvPr id="18" name="Prepare → launch"/>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Prepare → launch</a:t>
            </a:r>
          </a:p>
        </p:txBody>
      </p:sp>
      <p:sp>
        <p:nvSpPr>
          <p:cNvPr id="19" name="gpu.func → gpu.launch_func"/>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gpu.func → gpu.launch_func</a:t>
            </a:r>
          </a:p>
        </p:txBody>
      </p:sp>
      <p:sp>
        <p:nvSpPr>
          <p:cNvPr id="20" name="Guard + validate"/>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Guard + validate</a:t>
            </a:r>
          </a:p>
        </p:txBody>
      </p:sp>
      <p:sp>
        <p:nvSpPr>
          <p:cNvPr id="21" name="Grid size · buffer kind"/>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Grid size · buffer kind</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9 · The DSL owns the pass pipeline"/>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9 · The DSL owns the pass pipeline</a:t>
            </a:r>
          </a:p>
        </p:txBody>
      </p:sp>
      <p:sp>
        <p:nvSpPr>
          <p:cNvPr id="5" name="33"/>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33</a:t>
            </a:r>
          </a:p>
        </p:txBody>
      </p:sp>
      <p:sp>
        <p:nvSpPr>
          <p:cNvPr id="6" name="mlir 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a:t>
            </a:r>
          </a:p>
        </p:txBody>
      </p:sp>
      <p:sp>
        <p:nvSpPr>
          <p:cNvPr id="7" name="Rectangle 6"/>
          <p:cNvSpPr/>
          <p:nvPr/>
        </p:nvSpPr>
        <p:spPr>
          <a:xfrm>
            <a:off x="438912" y="1517904"/>
            <a:ext cx="8266175" cy="438912"/>
          </a:xfrm>
          <a:prstGeom prst="rect">
            <a:avLst/>
          </a:prstGeom>
          <a:solidFill>
            <a:srgbClr val="E4F0D0"/>
          </a:solidFill>
          <a:ln>
            <a:noFill/>
          </a:ln>
          <a:effectLst/>
        </p:spPr>
        <p:txBody>
          <a:bodyPr rtlCol="0" anchor="ctr"/>
          <a:lstStyle/>
          <a:p>
            <a:pPr algn="ctr"/>
          </a:p>
        </p:txBody>
      </p:sp>
      <p:sp>
        <p:nvSpPr>
          <p:cNvPr id="8" name="Owner"/>
          <p:cNvSpPr txBox="1"/>
          <p:nvPr/>
        </p:nvSpPr>
        <p:spPr>
          <a:xfrm>
            <a:off x="576072" y="1618488"/>
            <a:ext cx="2505456"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Owner</a:t>
            </a:r>
          </a:p>
        </p:txBody>
      </p:sp>
      <p:sp>
        <p:nvSpPr>
          <p:cNvPr id="9" name="Responsibility"/>
          <p:cNvSpPr txBox="1"/>
          <p:nvPr/>
        </p:nvSpPr>
        <p:spPr>
          <a:xfrm>
            <a:off x="3355848" y="1618488"/>
            <a:ext cx="5212080"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Responsibility</a:t>
            </a:r>
          </a:p>
        </p:txBody>
      </p:sp>
      <p:sp>
        <p:nvSpPr>
          <p:cNvPr id="10" name="Rectangle 9"/>
          <p:cNvSpPr/>
          <p:nvPr/>
        </p:nvSpPr>
        <p:spPr>
          <a:xfrm>
            <a:off x="438912" y="1956816"/>
            <a:ext cx="8266175" cy="534924"/>
          </a:xfrm>
          <a:prstGeom prst="rect">
            <a:avLst/>
          </a:prstGeom>
          <a:solidFill>
            <a:srgbClr val="F7F7F7"/>
          </a:solidFill>
          <a:ln>
            <a:noFill/>
          </a:ln>
          <a:effectLst/>
        </p:spPr>
        <p:txBody>
          <a:bodyPr rtlCol="0" anchor="ctr"/>
          <a:lstStyle/>
          <a:p>
            <a:pPr algn="ctr"/>
          </a:p>
        </p:txBody>
      </p:sp>
      <p:sp>
        <p:nvSpPr>
          <p:cNvPr id="11" name="Sub-DSL"/>
          <p:cNvSpPr txBox="1"/>
          <p:nvPr/>
        </p:nvSpPr>
        <p:spPr>
          <a:xfrm>
            <a:off x="576072" y="2075688"/>
            <a:ext cx="2505456"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Sub-DSL</a:t>
            </a:r>
          </a:p>
        </p:txBody>
      </p:sp>
      <p:sp>
        <p:nvSpPr>
          <p:cNvPr id="12" name="pipeline() · register_dialects(ctx)"/>
          <p:cNvSpPr txBox="1"/>
          <p:nvPr/>
        </p:nvSpPr>
        <p:spPr>
          <a:xfrm>
            <a:off x="3355848" y="2075688"/>
            <a:ext cx="521208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pipeline() · register_dialects(ctx)</a:t>
            </a:r>
          </a:p>
        </p:txBody>
      </p:sp>
      <p:sp>
        <p:nvSpPr>
          <p:cNvPr id="13" name="Rectangle 12"/>
          <p:cNvSpPr/>
          <p:nvPr/>
        </p:nvSpPr>
        <p:spPr>
          <a:xfrm>
            <a:off x="438912" y="2491740"/>
            <a:ext cx="8266175" cy="534924"/>
          </a:xfrm>
          <a:prstGeom prst="rect">
            <a:avLst/>
          </a:prstGeom>
          <a:solidFill>
            <a:srgbClr val="FFFFFF"/>
          </a:solidFill>
          <a:ln>
            <a:noFill/>
          </a:ln>
          <a:effectLst/>
        </p:spPr>
        <p:txBody>
          <a:bodyPr rtlCol="0" anchor="ctr"/>
          <a:lstStyle/>
          <a:p>
            <a:pPr algn="ctr"/>
          </a:p>
        </p:txBody>
      </p:sp>
      <p:sp>
        <p:nvSpPr>
          <p:cNvPr id="14" name="CompilerPlugin"/>
          <p:cNvSpPr txBox="1"/>
          <p:nvPr/>
        </p:nvSpPr>
        <p:spPr>
          <a:xfrm>
            <a:off x="576072" y="2610612"/>
            <a:ext cx="2505456"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CompilerPlugin</a:t>
            </a:r>
          </a:p>
        </p:txBody>
      </p:sp>
      <p:sp>
        <p:nvSpPr>
          <p:cNvPr id="15" name="compile · jit · load"/>
          <p:cNvSpPr txBox="1"/>
          <p:nvPr/>
        </p:nvSpPr>
        <p:spPr>
          <a:xfrm>
            <a:off x="3355848" y="2610612"/>
            <a:ext cx="521208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compile · jit · load</a:t>
            </a:r>
          </a:p>
        </p:txBody>
      </p:sp>
      <p:sp>
        <p:nvSpPr>
          <p:cNvPr id="16" name="Rectangle 15"/>
          <p:cNvSpPr/>
          <p:nvPr/>
        </p:nvSpPr>
        <p:spPr>
          <a:xfrm>
            <a:off x="438912" y="3026664"/>
            <a:ext cx="8266175" cy="534924"/>
          </a:xfrm>
          <a:prstGeom prst="rect">
            <a:avLst/>
          </a:prstGeom>
          <a:solidFill>
            <a:srgbClr val="F7F7F7"/>
          </a:solidFill>
          <a:ln>
            <a:noFill/>
          </a:ln>
          <a:effectLst/>
        </p:spPr>
        <p:txBody>
          <a:bodyPr rtlCol="0" anchor="ctr"/>
          <a:lstStyle/>
          <a:p>
            <a:pPr algn="ctr"/>
          </a:p>
        </p:txBody>
      </p:sp>
      <p:sp>
        <p:nvSpPr>
          <p:cNvPr id="17" name="FuncEntryPlugin"/>
          <p:cNvSpPr txBox="1"/>
          <p:nvPr/>
        </p:nvSpPr>
        <p:spPr>
          <a:xfrm>
            <a:off x="576072" y="3145536"/>
            <a:ext cx="2505456"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FuncEntryPlugin</a:t>
            </a:r>
          </a:p>
        </p:txBody>
      </p:sp>
      <p:sp>
        <p:nvSpPr>
          <p:cNvPr id="18" name="Entry op · results ABI"/>
          <p:cNvSpPr txBox="1"/>
          <p:nvPr/>
        </p:nvSpPr>
        <p:spPr>
          <a:xfrm>
            <a:off x="3355848" y="3145536"/>
            <a:ext cx="521208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Entry op · results ABI</a:t>
            </a:r>
          </a:p>
        </p:txBody>
      </p:sp>
      <p:sp>
        <p:nvSpPr>
          <p:cNvPr id="19" name="Rectangle 18"/>
          <p:cNvSpPr/>
          <p:nvPr/>
        </p:nvSpPr>
        <p:spPr>
          <a:xfrm>
            <a:off x="438912" y="3561588"/>
            <a:ext cx="8266175" cy="534924"/>
          </a:xfrm>
          <a:prstGeom prst="rect">
            <a:avLst/>
          </a:prstGeom>
          <a:solidFill>
            <a:srgbClr val="FFFFFF"/>
          </a:solidFill>
          <a:ln>
            <a:noFill/>
          </a:ln>
          <a:effectLst/>
        </p:spPr>
        <p:txBody>
          <a:bodyPr rtlCol="0" anchor="ctr"/>
          <a:lstStyle/>
          <a:p>
            <a:pPr algn="ctr"/>
          </a:p>
        </p:txBody>
      </p:sp>
      <p:sp>
        <p:nvSpPr>
          <p:cNvPr id="20" name="ExecutionEngine compiler"/>
          <p:cNvSpPr txBox="1"/>
          <p:nvPr/>
        </p:nvSpPr>
        <p:spPr>
          <a:xfrm>
            <a:off x="576072" y="3680460"/>
            <a:ext cx="2505456"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ExecutionEngine compiler</a:t>
            </a:r>
          </a:p>
        </p:txBody>
      </p:sp>
      <p:sp>
        <p:nvSpPr>
          <p:cNvPr id="21" name="LLVM lowering + packed ctypes call"/>
          <p:cNvSpPr txBox="1"/>
          <p:nvPr/>
        </p:nvSpPr>
        <p:spPr>
          <a:xfrm>
            <a:off x="3355848" y="3680460"/>
            <a:ext cx="521208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LLVM lowering + packed ctypes call</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Compile now. Call later."/>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Compile now. Call later.</a:t>
            </a:r>
          </a:p>
        </p:txBody>
      </p:sp>
      <p:sp>
        <p:nvSpPr>
          <p:cNvPr id="5" name="34"/>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34</a:t>
            </a:r>
          </a:p>
        </p:txBody>
      </p:sp>
      <p:sp>
        <p:nvSpPr>
          <p:cNvPr id="6" name="mlir 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Python · implementation excerpt"/>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Python · implementation excerpt</a:t>
            </a:r>
          </a:p>
        </p:txBody>
      </p:sp>
      <p:sp>
        <p:nvSpPr>
          <p:cNvPr id="10" name="@m.jit"/>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1">
                <a:solidFill>
                  <a:srgbClr val="416600"/>
                </a:solidFill>
                <a:latin typeface="JetBrains Mono"/>
              </a:rPr>
              <a:t>@m.jit</a:t>
            </a:r>
          </a:p>
        </p:txBody>
      </p:sp>
      <p:sp>
        <p:nvSpPr>
          <p:cNvPr id="11" name="def affine(x: m.Int32, scale, bias):"/>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def affine(x: m.Int32, scale, bias):</a:t>
            </a:r>
          </a:p>
        </p:txBody>
      </p:sp>
      <p:sp>
        <p:nvSpPr>
          <p:cNvPr id="12" name="    return x * scale + bias"/>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return x * scale + bias</a:t>
            </a:r>
          </a:p>
        </p:txBody>
      </p:sp>
      <p:sp>
        <p:nvSpPr>
          <p:cNvPr id="13" name=""/>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4" name="compiled = m.compile(affine, 7, 3, 4)"/>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compiled = m.compile(affine, 7, 3, 4)</a:t>
            </a:r>
          </a:p>
        </p:txBody>
      </p:sp>
      <p:sp>
        <p:nvSpPr>
          <p:cNvPr id="15" name="result = compiled(7, 3, 4)"/>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result = compiled(7, 3, 4)</a:t>
            </a:r>
          </a:p>
        </p:txBody>
      </p:sp>
      <p:sp>
        <p:nvSpPr>
          <p:cNvPr id="16" name="int(result)  # 25"/>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int(result)  # 25</a:t>
            </a:r>
          </a:p>
        </p:txBody>
      </p:sp>
      <p:sp>
        <p:nvSpPr>
          <p:cNvPr id="17" name="m.compile"/>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m.compile</a:t>
            </a:r>
          </a:p>
        </p:txBody>
      </p:sp>
      <p:sp>
        <p:nvSpPr>
          <p:cNvPr id="18" name="Specialize + compile"/>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Specialize + compile</a:t>
            </a:r>
          </a:p>
        </p:txBody>
      </p:sp>
      <p:sp>
        <p:nvSpPr>
          <p:cNvPr id="19" name="Compiled callable"/>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Compiled callable</a:t>
            </a:r>
          </a:p>
        </p:txBody>
      </p:sp>
      <p:sp>
        <p:nvSpPr>
          <p:cNvPr id="20" name="Invoke later"/>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Invoke later</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10 · Cache compilation work"/>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10 · Cache compilation work</a:t>
            </a:r>
          </a:p>
        </p:txBody>
      </p:sp>
      <p:sp>
        <p:nvSpPr>
          <p:cNvPr id="5" name="35"/>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35</a:t>
            </a:r>
          </a:p>
        </p:txBody>
      </p:sp>
      <p:sp>
        <p:nvSpPr>
          <p:cNvPr id="6" name="mlir 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a:t>
            </a:r>
          </a:p>
        </p:txBody>
      </p:sp>
      <p:sp>
        <p:nvSpPr>
          <p:cNvPr id="7" name="Rectangle 6"/>
          <p:cNvSpPr/>
          <p:nvPr/>
        </p:nvSpPr>
        <p:spPr>
          <a:xfrm>
            <a:off x="438912" y="1517904"/>
            <a:ext cx="8266175" cy="438912"/>
          </a:xfrm>
          <a:prstGeom prst="rect">
            <a:avLst/>
          </a:prstGeom>
          <a:solidFill>
            <a:srgbClr val="E4F0D0"/>
          </a:solidFill>
          <a:ln>
            <a:noFill/>
          </a:ln>
          <a:effectLst/>
        </p:spPr>
        <p:txBody>
          <a:bodyPr rtlCol="0" anchor="ctr"/>
          <a:lstStyle/>
          <a:p>
            <a:pPr algn="ctr"/>
          </a:p>
        </p:txBody>
      </p:sp>
      <p:sp>
        <p:nvSpPr>
          <p:cNvPr id="8" name="Cache"/>
          <p:cNvSpPr txBox="1"/>
          <p:nvPr/>
        </p:nvSpPr>
        <p:spPr>
          <a:xfrm>
            <a:off x="576072" y="1618488"/>
            <a:ext cx="2505456"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Cache</a:t>
            </a:r>
          </a:p>
        </p:txBody>
      </p:sp>
      <p:sp>
        <p:nvSpPr>
          <p:cNvPr id="9" name="What is reused"/>
          <p:cNvSpPr txBox="1"/>
          <p:nvPr/>
        </p:nvSpPr>
        <p:spPr>
          <a:xfrm>
            <a:off x="3355848" y="1618488"/>
            <a:ext cx="5212080"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What is reused</a:t>
            </a:r>
          </a:p>
        </p:txBody>
      </p:sp>
      <p:sp>
        <p:nvSpPr>
          <p:cNvPr id="10" name="Rectangle 9"/>
          <p:cNvSpPr/>
          <p:nvPr/>
        </p:nvSpPr>
        <p:spPr>
          <a:xfrm>
            <a:off x="438912" y="1956816"/>
            <a:ext cx="8266175" cy="534924"/>
          </a:xfrm>
          <a:prstGeom prst="rect">
            <a:avLst/>
          </a:prstGeom>
          <a:solidFill>
            <a:srgbClr val="F7F7F7"/>
          </a:solidFill>
          <a:ln>
            <a:noFill/>
          </a:ln>
          <a:effectLst/>
        </p:spPr>
        <p:txBody>
          <a:bodyPr rtlCol="0" anchor="ctr"/>
          <a:lstStyle/>
          <a:p>
            <a:pPr algn="ctr"/>
          </a:p>
        </p:txBody>
      </p:sp>
      <p:sp>
        <p:nvSpPr>
          <p:cNvPr id="11" name="In memory"/>
          <p:cNvSpPr txBox="1"/>
          <p:nvPr/>
        </p:nvSpPr>
        <p:spPr>
          <a:xfrm>
            <a:off x="576072" y="2075688"/>
            <a:ext cx="2505456"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In memory</a:t>
            </a:r>
          </a:p>
        </p:txBody>
      </p:sp>
      <p:sp>
        <p:nvSpPr>
          <p:cNvPr id="12" name="Traced-module key → compiled callable"/>
          <p:cNvSpPr txBox="1"/>
          <p:nvPr/>
        </p:nvSpPr>
        <p:spPr>
          <a:xfrm>
            <a:off x="3355848" y="2075688"/>
            <a:ext cx="521208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Traced-module key → compiled callable</a:t>
            </a:r>
          </a:p>
        </p:txBody>
      </p:sp>
      <p:sp>
        <p:nvSpPr>
          <p:cNvPr id="13" name="Rectangle 12"/>
          <p:cNvSpPr/>
          <p:nvPr/>
        </p:nvSpPr>
        <p:spPr>
          <a:xfrm>
            <a:off x="438912" y="2491740"/>
            <a:ext cx="8266175" cy="534924"/>
          </a:xfrm>
          <a:prstGeom prst="rect">
            <a:avLst/>
          </a:prstGeom>
          <a:solidFill>
            <a:srgbClr val="FFFFFF"/>
          </a:solidFill>
          <a:ln>
            <a:noFill/>
          </a:ln>
          <a:effectLst/>
        </p:spPr>
        <p:txBody>
          <a:bodyPr rtlCol="0" anchor="ctr"/>
          <a:lstStyle/>
          <a:p>
            <a:pPr algn="ctr"/>
          </a:p>
        </p:txBody>
      </p:sp>
      <p:sp>
        <p:nvSpPr>
          <p:cNvPr id="14" name="On disk"/>
          <p:cNvSpPr txBox="1"/>
          <p:nvPr/>
        </p:nvSpPr>
        <p:spPr>
          <a:xfrm>
            <a:off x="576072" y="2610612"/>
            <a:ext cx="2505456"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On disk</a:t>
            </a:r>
          </a:p>
        </p:txBody>
      </p:sp>
      <p:sp>
        <p:nvSpPr>
          <p:cNvPr id="15" name="Lowered bytecode + CRC32"/>
          <p:cNvSpPr txBox="1"/>
          <p:nvPr/>
        </p:nvSpPr>
        <p:spPr>
          <a:xfrm>
            <a:off x="3355848" y="2610612"/>
            <a:ext cx="521208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Lowered bytecode + CRC32</a:t>
            </a:r>
          </a:p>
        </p:txBody>
      </p:sp>
      <p:sp>
        <p:nvSpPr>
          <p:cNvPr id="16" name="Rectangle 15"/>
          <p:cNvSpPr/>
          <p:nvPr/>
        </p:nvSpPr>
        <p:spPr>
          <a:xfrm>
            <a:off x="438912" y="3026664"/>
            <a:ext cx="8266175" cy="534924"/>
          </a:xfrm>
          <a:prstGeom prst="rect">
            <a:avLst/>
          </a:prstGeom>
          <a:solidFill>
            <a:srgbClr val="F7F7F7"/>
          </a:solidFill>
          <a:ln>
            <a:noFill/>
          </a:ln>
          <a:effectLst/>
        </p:spPr>
        <p:txBody>
          <a:bodyPr rtlCol="0" anchor="ctr"/>
          <a:lstStyle/>
          <a:p>
            <a:pPr algn="ctr"/>
          </a:p>
        </p:txBody>
      </p:sp>
      <p:sp>
        <p:nvSpPr>
          <p:cNvPr id="17" name="Configuration"/>
          <p:cNvSpPr txBox="1"/>
          <p:nvPr/>
        </p:nvSpPr>
        <p:spPr>
          <a:xfrm>
            <a:off x="576072" y="3145536"/>
            <a:ext cx="2505456"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Configuration</a:t>
            </a:r>
          </a:p>
        </p:txBody>
      </p:sp>
      <p:sp>
        <p:nvSpPr>
          <p:cNvPr id="18" name="CACHE_DIR · DISABLE_FILE_CACHING"/>
          <p:cNvSpPr txBox="1"/>
          <p:nvPr/>
        </p:nvSpPr>
        <p:spPr>
          <a:xfrm>
            <a:off x="3355848" y="3145536"/>
            <a:ext cx="521208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CACHE_DIR · DISABLE_FILE_CACHING</a:t>
            </a:r>
          </a:p>
        </p:txBody>
      </p:sp>
      <p:sp>
        <p:nvSpPr>
          <p:cNvPr id="19" name="Rectangle 18"/>
          <p:cNvSpPr/>
          <p:nvPr/>
        </p:nvSpPr>
        <p:spPr>
          <a:xfrm>
            <a:off x="438912" y="3561588"/>
            <a:ext cx="8266175" cy="534924"/>
          </a:xfrm>
          <a:prstGeom prst="rect">
            <a:avLst/>
          </a:prstGeom>
          <a:solidFill>
            <a:srgbClr val="FFFFFF"/>
          </a:solidFill>
          <a:ln>
            <a:noFill/>
          </a:ln>
          <a:effectLst/>
        </p:spPr>
        <p:txBody>
          <a:bodyPr rtlCol="0" anchor="ctr"/>
          <a:lstStyle/>
          <a:p>
            <a:pPr algn="ctr"/>
          </a:p>
        </p:txBody>
      </p:sp>
      <p:sp>
        <p:nvSpPr>
          <p:cNvPr id="20" name="Observation"/>
          <p:cNvSpPr txBox="1"/>
          <p:nvPr/>
        </p:nvSpPr>
        <p:spPr>
          <a:xfrm>
            <a:off x="576072" y="3680460"/>
            <a:ext cx="2505456"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Observation</a:t>
            </a:r>
          </a:p>
        </p:txBody>
      </p:sp>
      <p:sp>
        <p:nvSpPr>
          <p:cNvPr id="21" name="cache_hits · file_cache_hits"/>
          <p:cNvSpPr txBox="1"/>
          <p:nvPr/>
        </p:nvSpPr>
        <p:spPr>
          <a:xfrm>
            <a:off x="3355848" y="3680460"/>
            <a:ext cx="521208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cache_hits · file_cache_hits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11 · Generate IR and stop"/>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11 · Generate IR and stop</a:t>
            </a:r>
          </a:p>
        </p:txBody>
      </p:sp>
      <p:sp>
        <p:nvSpPr>
          <p:cNvPr id="5" name="36"/>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36</a:t>
            </a:r>
          </a:p>
        </p:txBody>
      </p:sp>
      <p:sp>
        <p:nvSpPr>
          <p:cNvPr id="6" name="mlir 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IR-only DSL · setup excerpt"/>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IR-only DSL · setup excerpt</a:t>
            </a:r>
          </a:p>
        </p:txBody>
      </p:sp>
      <p:sp>
        <p:nvSpPr>
          <p:cNvPr id="10" name="class RecipeDSL(BaseDSL):"/>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class RecipeDSL(BaseDSL):</a:t>
            </a:r>
          </a:p>
        </p:txBody>
      </p:sp>
      <p:sp>
        <p:nvSpPr>
          <p:cNvPr id="11" name="    plugins = Plugins("/>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plugins = Plugins(</a:t>
            </a:r>
          </a:p>
        </p:txBody>
      </p:sp>
      <p:sp>
        <p:nvSpPr>
          <p:cNvPr id="12" name="        type_ops=TypeOps(scalars=arith),"/>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type_ops=TypeOps(scalars=arith),</a:t>
            </a:r>
          </a:p>
        </p:txBody>
      </p:sp>
      <p:sp>
        <p:nvSpPr>
          <p:cNvPr id="13" name="        func_entry=func.Entry(),"/>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func_entry=func.Entry(),</a:t>
            </a:r>
          </a:p>
        </p:txBody>
      </p:sp>
      <p:sp>
        <p:nvSpPr>
          <p:cNvPr id="14" name="        compiler=None,"/>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compiler=None,</a:t>
            </a:r>
          </a:p>
        </p:txBody>
      </p:sp>
      <p:sp>
        <p:nvSpPr>
          <p:cNvPr id="15" name="    )"/>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t>
            </a:r>
          </a:p>
        </p:txBody>
      </p:sp>
      <p:sp>
        <p:nvSpPr>
          <p:cNvPr id="16" name=""/>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7" name="# Or use an existing DSL:"/>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Or use an existing DSL:</a:t>
            </a:r>
          </a:p>
        </p:txBody>
      </p:sp>
      <p:sp>
        <p:nvSpPr>
          <p:cNvPr id="18" name="# MLIR_DSL_DRYRUN=1 MLIR_DSL_PRINT_IR=1"/>
          <p:cNvSpPr txBox="1"/>
          <p:nvPr/>
        </p:nvSpPr>
        <p:spPr>
          <a:xfrm>
            <a:off x="594360" y="3501948"/>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MLIR_DSL_DRYRUN=1 MLIR_DSL_PRINT_IR=1</a:t>
            </a:r>
          </a:p>
        </p:txBody>
      </p:sp>
      <p:sp>
        <p:nvSpPr>
          <p:cNvPr id="19" name="Compiler is optional"/>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Compiler is optional</a:t>
            </a:r>
          </a:p>
        </p:txBody>
      </p:sp>
      <p:sp>
        <p:nvSpPr>
          <p:cNvPr id="20" name="Trace result only"/>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Trace result only</a:t>
            </a:r>
          </a:p>
        </p:txBody>
      </p:sp>
      <p:sp>
        <p:nvSpPr>
          <p:cNvPr id="21" name="Useful for"/>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Useful for</a:t>
            </a:r>
          </a:p>
        </p:txBody>
      </p:sp>
      <p:sp>
        <p:nvSpPr>
          <p:cNvPr id="22" name="Tests · recipe consumers"/>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Tests · recipe consumers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12 · Errors should point to Python"/>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12 · Errors should point to Python</a:t>
            </a:r>
          </a:p>
        </p:txBody>
      </p:sp>
      <p:sp>
        <p:nvSpPr>
          <p:cNvPr id="5" name="37"/>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37</a:t>
            </a:r>
          </a:p>
        </p:txBody>
      </p:sp>
      <p:sp>
        <p:nvSpPr>
          <p:cNvPr id="6" name="mlir 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Python · implementation excerpt"/>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Python · implementation excerpt</a:t>
            </a:r>
          </a:p>
        </p:txBody>
      </p:sp>
      <p:sp>
        <p:nvSpPr>
          <p:cNvPr id="10" name="@m.jit"/>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1">
                <a:solidFill>
                  <a:srgbClr val="416600"/>
                </a:solidFill>
                <a:latin typeface="JetBrains Mono"/>
              </a:rPr>
              <a:t>@m.jit</a:t>
            </a:r>
          </a:p>
        </p:txBody>
      </p:sp>
      <p:sp>
        <p:nvSpPr>
          <p:cNvPr id="11" name="def bad(x: m.Int32):"/>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def bad(x: m.Int32):</a:t>
            </a:r>
          </a:p>
        </p:txBody>
      </p:sp>
      <p:sp>
        <p:nvSpPr>
          <p:cNvPr id="12" name="    return int(x)"/>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return int(x)</a:t>
            </a:r>
          </a:p>
        </p:txBody>
      </p:sp>
      <p:sp>
        <p:nvSpPr>
          <p:cNvPr id="13" name=""/>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4" name="# PHASE_REQUIRES_CONSTANT"/>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PHASE_REQUIRES_CONSTANT</a:t>
            </a:r>
          </a:p>
        </p:txBody>
      </p:sp>
      <p:sp>
        <p:nvSpPr>
          <p:cNvPr id="15" name="# Runtime value used as Python value"/>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Runtime value used as Python value</a:t>
            </a:r>
          </a:p>
        </p:txBody>
      </p:sp>
      <p:sp>
        <p:nvSpPr>
          <p:cNvPr id="16" name="Stable codes"/>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Stable codes</a:t>
            </a:r>
          </a:p>
        </p:txBody>
      </p:sp>
      <p:sp>
        <p:nvSpPr>
          <p:cNvPr id="17" name="Catalogue + suggestions"/>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Catalogue + suggestions</a:t>
            </a:r>
          </a:p>
        </p:txBody>
      </p:sp>
      <p:sp>
        <p:nvSpPr>
          <p:cNvPr id="18" name="Useful context"/>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Useful context</a:t>
            </a:r>
          </a:p>
        </p:txBody>
      </p:sp>
      <p:sp>
        <p:nvSpPr>
          <p:cNvPr id="19" name="Source frame + DSL message"/>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Source frame + DSL message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13 · Locations and remark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13 · Locations and remarks</a:t>
            </a:r>
          </a:p>
        </p:txBody>
      </p:sp>
      <p:sp>
        <p:nvSpPr>
          <p:cNvPr id="5" name="38"/>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38</a:t>
            </a:r>
          </a:p>
        </p:txBody>
      </p:sp>
      <p:sp>
        <p:nvSpPr>
          <p:cNvPr id="6" name="mlir 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a:t>
            </a:r>
          </a:p>
        </p:txBody>
      </p:sp>
      <p:sp>
        <p:nvSpPr>
          <p:cNvPr id="7" name="Rectangle 6"/>
          <p:cNvSpPr/>
          <p:nvPr/>
        </p:nvSpPr>
        <p:spPr>
          <a:xfrm>
            <a:off x="438912" y="1517904"/>
            <a:ext cx="8266175" cy="438912"/>
          </a:xfrm>
          <a:prstGeom prst="rect">
            <a:avLst/>
          </a:prstGeom>
          <a:solidFill>
            <a:srgbClr val="E4F0D0"/>
          </a:solidFill>
          <a:ln>
            <a:noFill/>
          </a:ln>
          <a:effectLst/>
        </p:spPr>
        <p:txBody>
          <a:bodyPr rtlCol="0" anchor="ctr"/>
          <a:lstStyle/>
          <a:p>
            <a:pPr algn="ctr"/>
          </a:p>
        </p:txBody>
      </p:sp>
      <p:sp>
        <p:nvSpPr>
          <p:cNvPr id="8" name="Mechanism"/>
          <p:cNvSpPr txBox="1"/>
          <p:nvPr/>
        </p:nvSpPr>
        <p:spPr>
          <a:xfrm>
            <a:off x="576072" y="1618488"/>
            <a:ext cx="2505456"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Mechanism</a:t>
            </a:r>
          </a:p>
        </p:txBody>
      </p:sp>
      <p:sp>
        <p:nvSpPr>
          <p:cNvPr id="9" name="What you see"/>
          <p:cNvSpPr txBox="1"/>
          <p:nvPr/>
        </p:nvSpPr>
        <p:spPr>
          <a:xfrm>
            <a:off x="3355848" y="1618488"/>
            <a:ext cx="5212080"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What you see</a:t>
            </a:r>
          </a:p>
        </p:txBody>
      </p:sp>
      <p:sp>
        <p:nvSpPr>
          <p:cNvPr id="10" name="Rectangle 9"/>
          <p:cNvSpPr/>
          <p:nvPr/>
        </p:nvSpPr>
        <p:spPr>
          <a:xfrm>
            <a:off x="438912" y="1956816"/>
            <a:ext cx="8266175" cy="534924"/>
          </a:xfrm>
          <a:prstGeom prst="rect">
            <a:avLst/>
          </a:prstGeom>
          <a:solidFill>
            <a:srgbClr val="F7F7F7"/>
          </a:solidFill>
          <a:ln>
            <a:noFill/>
          </a:ln>
          <a:effectLst/>
        </p:spPr>
        <p:txBody>
          <a:bodyPr rtlCol="0" anchor="ctr"/>
          <a:lstStyle/>
          <a:p>
            <a:pPr algn="ctr"/>
          </a:p>
        </p:txBody>
      </p:sp>
      <p:sp>
        <p:nvSpPr>
          <p:cNvPr id="11" name="DEBUGINFO"/>
          <p:cNvSpPr txBox="1"/>
          <p:nvPr/>
        </p:nvSpPr>
        <p:spPr>
          <a:xfrm>
            <a:off x="576072" y="2075688"/>
            <a:ext cx="2505456"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DEBUGINFO</a:t>
            </a:r>
          </a:p>
        </p:txBody>
      </p:sp>
      <p:sp>
        <p:nvSpPr>
          <p:cNvPr id="12" name="Python traceback → MLIR locations"/>
          <p:cNvSpPr txBox="1"/>
          <p:nvPr/>
        </p:nvSpPr>
        <p:spPr>
          <a:xfrm>
            <a:off x="3355848" y="2075688"/>
            <a:ext cx="521208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Python traceback → MLIR locations</a:t>
            </a:r>
          </a:p>
        </p:txBody>
      </p:sp>
      <p:sp>
        <p:nvSpPr>
          <p:cNvPr id="13" name="Rectangle 12"/>
          <p:cNvSpPr/>
          <p:nvPr/>
        </p:nvSpPr>
        <p:spPr>
          <a:xfrm>
            <a:off x="438912" y="2491740"/>
            <a:ext cx="8266175" cy="534924"/>
          </a:xfrm>
          <a:prstGeom prst="rect">
            <a:avLst/>
          </a:prstGeom>
          <a:solidFill>
            <a:srgbClr val="FFFFFF"/>
          </a:solidFill>
          <a:ln>
            <a:noFill/>
          </a:ln>
          <a:effectLst/>
        </p:spPr>
        <p:txBody>
          <a:bodyPr rtlCol="0" anchor="ctr"/>
          <a:lstStyle/>
          <a:p>
            <a:pPr algn="ctr"/>
          </a:p>
        </p:txBody>
      </p:sp>
      <p:sp>
        <p:nvSpPr>
          <p:cNvPr id="14" name="REMARKS"/>
          <p:cNvSpPr txBox="1"/>
          <p:nvPr/>
        </p:nvSpPr>
        <p:spPr>
          <a:xfrm>
            <a:off x="576072" y="2610612"/>
            <a:ext cx="2505456"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REMARKS</a:t>
            </a:r>
          </a:p>
        </p:txBody>
      </p:sp>
      <p:sp>
        <p:nvSpPr>
          <p:cNvPr id="15" name="Structured trace + compiler feedback"/>
          <p:cNvSpPr txBox="1"/>
          <p:nvPr/>
        </p:nvSpPr>
        <p:spPr>
          <a:xfrm>
            <a:off x="3355848" y="2610612"/>
            <a:ext cx="521208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Structured trace + compiler feedback</a:t>
            </a:r>
          </a:p>
        </p:txBody>
      </p:sp>
      <p:sp>
        <p:nvSpPr>
          <p:cNvPr id="16" name="Rectangle 15"/>
          <p:cNvSpPr/>
          <p:nvPr/>
        </p:nvSpPr>
        <p:spPr>
          <a:xfrm>
            <a:off x="438912" y="3026664"/>
            <a:ext cx="8266175" cy="534924"/>
          </a:xfrm>
          <a:prstGeom prst="rect">
            <a:avLst/>
          </a:prstGeom>
          <a:solidFill>
            <a:srgbClr val="F7F7F7"/>
          </a:solidFill>
          <a:ln>
            <a:noFill/>
          </a:ln>
          <a:effectLst/>
        </p:spPr>
        <p:txBody>
          <a:bodyPr rtlCol="0" anchor="ctr"/>
          <a:lstStyle/>
          <a:p>
            <a:pPr algn="ctr"/>
          </a:p>
        </p:txBody>
      </p:sp>
      <p:sp>
        <p:nvSpPr>
          <p:cNvPr id="17" name="Source frames"/>
          <p:cNvSpPr txBox="1"/>
          <p:nvPr/>
        </p:nvSpPr>
        <p:spPr>
          <a:xfrm>
            <a:off x="576072" y="3145536"/>
            <a:ext cx="2505456"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Source frames</a:t>
            </a:r>
          </a:p>
        </p:txBody>
      </p:sp>
      <p:sp>
        <p:nvSpPr>
          <p:cNvPr id="18" name="Diagnostics point back to the function"/>
          <p:cNvSpPr txBox="1"/>
          <p:nvPr/>
        </p:nvSpPr>
        <p:spPr>
          <a:xfrm>
            <a:off x="3355848" y="3145536"/>
            <a:ext cx="521208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Diagnostics point back to the function</a:t>
            </a:r>
          </a:p>
        </p:txBody>
      </p:sp>
      <p:sp>
        <p:nvSpPr>
          <p:cNvPr id="19" name="Rectangle 18"/>
          <p:cNvSpPr/>
          <p:nvPr/>
        </p:nvSpPr>
        <p:spPr>
          <a:xfrm>
            <a:off x="438912" y="3561588"/>
            <a:ext cx="8266175" cy="534924"/>
          </a:xfrm>
          <a:prstGeom prst="rect">
            <a:avLst/>
          </a:prstGeom>
          <a:solidFill>
            <a:srgbClr val="FFFFFF"/>
          </a:solidFill>
          <a:ln>
            <a:noFill/>
          </a:ln>
          <a:effectLst/>
        </p:spPr>
        <p:txBody>
          <a:bodyPr rtlCol="0" anchor="ctr"/>
          <a:lstStyle/>
          <a:p>
            <a:pPr algn="ctr"/>
          </a:p>
        </p:txBody>
      </p:sp>
      <p:sp>
        <p:nvSpPr>
          <p:cNvPr id="20" name="Compiler role"/>
          <p:cNvSpPr txBox="1"/>
          <p:nvPr/>
        </p:nvSpPr>
        <p:spPr>
          <a:xfrm>
            <a:off x="576072" y="3680460"/>
            <a:ext cx="2505456"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Compiler role</a:t>
            </a:r>
          </a:p>
        </p:txBody>
      </p:sp>
      <p:sp>
        <p:nvSpPr>
          <p:cNvPr id="21" name="Owns the remark session"/>
          <p:cNvSpPr txBox="1"/>
          <p:nvPr/>
        </p:nvSpPr>
        <p:spPr>
          <a:xfrm>
            <a:off x="3355848" y="3680460"/>
            <a:ext cx="521208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Owns the remark session</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14 · See what the compiler doe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14 · See what the compiler does</a:t>
            </a:r>
          </a:p>
        </p:txBody>
      </p:sp>
      <p:sp>
        <p:nvSpPr>
          <p:cNvPr id="5" name="39"/>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39</a:t>
            </a:r>
          </a:p>
        </p:txBody>
      </p:sp>
      <p:sp>
        <p:nvSpPr>
          <p:cNvPr id="6" name="mlir 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a:t>
            </a:r>
          </a:p>
        </p:txBody>
      </p:sp>
      <p:sp>
        <p:nvSpPr>
          <p:cNvPr id="7" name="Rectangle 6"/>
          <p:cNvSpPr/>
          <p:nvPr/>
        </p:nvSpPr>
        <p:spPr>
          <a:xfrm>
            <a:off x="438912" y="1517904"/>
            <a:ext cx="8266175" cy="438912"/>
          </a:xfrm>
          <a:prstGeom prst="rect">
            <a:avLst/>
          </a:prstGeom>
          <a:solidFill>
            <a:srgbClr val="E4F0D0"/>
          </a:solidFill>
          <a:ln>
            <a:noFill/>
          </a:ln>
          <a:effectLst/>
        </p:spPr>
        <p:txBody>
          <a:bodyPr rtlCol="0" anchor="ctr"/>
          <a:lstStyle/>
          <a:p>
            <a:pPr algn="ctr"/>
          </a:p>
        </p:txBody>
      </p:sp>
      <p:sp>
        <p:nvSpPr>
          <p:cNvPr id="8" name="&lt;PREFIX&gt;_*"/>
          <p:cNvSpPr txBox="1"/>
          <p:nvPr/>
        </p:nvSpPr>
        <p:spPr>
          <a:xfrm>
            <a:off x="576072" y="1618488"/>
            <a:ext cx="2505456"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&lt;PREFIX&gt;_*</a:t>
            </a:r>
          </a:p>
        </p:txBody>
      </p:sp>
      <p:sp>
        <p:nvSpPr>
          <p:cNvPr id="9" name="Purpose"/>
          <p:cNvSpPr txBox="1"/>
          <p:nvPr/>
        </p:nvSpPr>
        <p:spPr>
          <a:xfrm>
            <a:off x="3355848" y="1618488"/>
            <a:ext cx="5212080"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Purpose</a:t>
            </a:r>
          </a:p>
        </p:txBody>
      </p:sp>
      <p:sp>
        <p:nvSpPr>
          <p:cNvPr id="10" name="Rectangle 9"/>
          <p:cNvSpPr/>
          <p:nvPr/>
        </p:nvSpPr>
        <p:spPr>
          <a:xfrm>
            <a:off x="438912" y="1956816"/>
            <a:ext cx="8266175" cy="534924"/>
          </a:xfrm>
          <a:prstGeom prst="rect">
            <a:avLst/>
          </a:prstGeom>
          <a:solidFill>
            <a:srgbClr val="F7F7F7"/>
          </a:solidFill>
          <a:ln>
            <a:noFill/>
          </a:ln>
          <a:effectLst/>
        </p:spPr>
        <p:txBody>
          <a:bodyPr rtlCol="0" anchor="ctr"/>
          <a:lstStyle/>
          <a:p>
            <a:pPr algn="ctr"/>
          </a:p>
        </p:txBody>
      </p:sp>
      <p:sp>
        <p:nvSpPr>
          <p:cNvPr id="11" name="PRINT_IR · DRYRUN"/>
          <p:cNvSpPr txBox="1"/>
          <p:nvPr/>
        </p:nvSpPr>
        <p:spPr>
          <a:xfrm>
            <a:off x="576072" y="2075688"/>
            <a:ext cx="2505456"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PRINT_IR · DRYRUN</a:t>
            </a:r>
          </a:p>
        </p:txBody>
      </p:sp>
      <p:sp>
        <p:nvSpPr>
          <p:cNvPr id="12" name="Inspect the traced program"/>
          <p:cNvSpPr txBox="1"/>
          <p:nvPr/>
        </p:nvSpPr>
        <p:spPr>
          <a:xfrm>
            <a:off x="3355848" y="2075688"/>
            <a:ext cx="521208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Inspect the traced program</a:t>
            </a:r>
          </a:p>
        </p:txBody>
      </p:sp>
      <p:sp>
        <p:nvSpPr>
          <p:cNvPr id="13" name="Rectangle 12"/>
          <p:cNvSpPr/>
          <p:nvPr/>
        </p:nvSpPr>
        <p:spPr>
          <a:xfrm>
            <a:off x="438912" y="2491740"/>
            <a:ext cx="8266175" cy="534924"/>
          </a:xfrm>
          <a:prstGeom prst="rect">
            <a:avLst/>
          </a:prstGeom>
          <a:solidFill>
            <a:srgbClr val="FFFFFF"/>
          </a:solidFill>
          <a:ln>
            <a:noFill/>
          </a:ln>
          <a:effectLst/>
        </p:spPr>
        <p:txBody>
          <a:bodyPr rtlCol="0" anchor="ctr"/>
          <a:lstStyle/>
          <a:p>
            <a:pPr algn="ctr"/>
          </a:p>
        </p:txBody>
      </p:sp>
      <p:sp>
        <p:nvSpPr>
          <p:cNvPr id="14" name="PROFILE_COMPILER"/>
          <p:cNvSpPr txBox="1"/>
          <p:nvPr/>
        </p:nvSpPr>
        <p:spPr>
          <a:xfrm>
            <a:off x="576072" y="2610612"/>
            <a:ext cx="2505456"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PROFILE_COMPILER</a:t>
            </a:r>
          </a:p>
        </p:txBody>
      </p:sp>
      <p:sp>
        <p:nvSpPr>
          <p:cNvPr id="15" name="Time compilation phases"/>
          <p:cNvSpPr txBox="1"/>
          <p:nvPr/>
        </p:nvSpPr>
        <p:spPr>
          <a:xfrm>
            <a:off x="3355848" y="2610612"/>
            <a:ext cx="521208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Time compilation phases</a:t>
            </a:r>
          </a:p>
        </p:txBody>
      </p:sp>
      <p:sp>
        <p:nvSpPr>
          <p:cNvPr id="16" name="Rectangle 15"/>
          <p:cNvSpPr/>
          <p:nvPr/>
        </p:nvSpPr>
        <p:spPr>
          <a:xfrm>
            <a:off x="438912" y="3026664"/>
            <a:ext cx="8266175" cy="534924"/>
          </a:xfrm>
          <a:prstGeom prst="rect">
            <a:avLst/>
          </a:prstGeom>
          <a:solidFill>
            <a:srgbClr val="F7F7F7"/>
          </a:solidFill>
          <a:ln>
            <a:noFill/>
          </a:ln>
          <a:effectLst/>
        </p:spPr>
        <p:txBody>
          <a:bodyPr rtlCol="0" anchor="ctr"/>
          <a:lstStyle/>
          <a:p>
            <a:pPr algn="ctr"/>
          </a:p>
        </p:txBody>
      </p:sp>
      <p:sp>
        <p:nvSpPr>
          <p:cNvPr id="17" name="JIT_TIME_PROFILING"/>
          <p:cNvSpPr txBox="1"/>
          <p:nvPr/>
        </p:nvSpPr>
        <p:spPr>
          <a:xfrm>
            <a:off x="576072" y="3145536"/>
            <a:ext cx="2505456"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JIT_TIME_PROFILING</a:t>
            </a:r>
          </a:p>
        </p:txBody>
      </p:sp>
      <p:sp>
        <p:nvSpPr>
          <p:cNvPr id="18" name="Measure JIT work"/>
          <p:cNvSpPr txBox="1"/>
          <p:nvPr/>
        </p:nvSpPr>
        <p:spPr>
          <a:xfrm>
            <a:off x="3355848" y="3145536"/>
            <a:ext cx="521208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Measure JIT work</a:t>
            </a:r>
          </a:p>
        </p:txBody>
      </p:sp>
      <p:sp>
        <p:nvSpPr>
          <p:cNvPr id="19" name="Rectangle 18"/>
          <p:cNvSpPr/>
          <p:nvPr/>
        </p:nvSpPr>
        <p:spPr>
          <a:xfrm>
            <a:off x="438912" y="3561588"/>
            <a:ext cx="8266175" cy="534924"/>
          </a:xfrm>
          <a:prstGeom prst="rect">
            <a:avLst/>
          </a:prstGeom>
          <a:solidFill>
            <a:srgbClr val="FFFFFF"/>
          </a:solidFill>
          <a:ln>
            <a:noFill/>
          </a:ln>
          <a:effectLst/>
        </p:spPr>
        <p:txBody>
          <a:bodyPr rtlCol="0" anchor="ctr"/>
          <a:lstStyle/>
          <a:p>
            <a:pPr algn="ctr"/>
          </a:p>
        </p:txBody>
      </p:sp>
      <p:sp>
        <p:nvSpPr>
          <p:cNvPr id="20" name="LOG_LEVEL"/>
          <p:cNvSpPr txBox="1"/>
          <p:nvPr/>
        </p:nvSpPr>
        <p:spPr>
          <a:xfrm>
            <a:off x="576072" y="3680460"/>
            <a:ext cx="2505456"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LOG_LEVEL</a:t>
            </a:r>
          </a:p>
        </p:txBody>
      </p:sp>
      <p:sp>
        <p:nvSpPr>
          <p:cNvPr id="21" name="Control logging"/>
          <p:cNvSpPr txBox="1"/>
          <p:nvPr/>
        </p:nvSpPr>
        <p:spPr>
          <a:xfrm>
            <a:off x="3355848" y="3680460"/>
            <a:ext cx="521208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Control logging</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Four roles. Two familie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Four roles. Two families.</a:t>
            </a:r>
          </a:p>
        </p:txBody>
      </p:sp>
      <p:sp>
        <p:nvSpPr>
          <p:cNvPr id="5" name="40"/>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40</a:t>
            </a:r>
          </a:p>
        </p:txBody>
      </p:sp>
      <p:sp>
        <p:nvSpPr>
          <p:cNvPr id="6" name="Sub-DSL authoring"/>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Sub-DSL authoring</a:t>
            </a:r>
          </a:p>
        </p:txBody>
      </p:sp>
      <p:sp>
        <p:nvSpPr>
          <p:cNvPr id="7" name="Eight shipped plugins. Op modules are not plugins."/>
          <p:cNvSpPr txBox="1"/>
          <p:nvPr/>
        </p:nvSpPr>
        <p:spPr>
          <a:xfrm>
            <a:off x="539496" y="1005840"/>
            <a:ext cx="8019288" cy="2377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616161"/>
                </a:solidFill>
                <a:latin typeface="NVIDIA Sans"/>
              </a:rPr>
              <a:t>Eight shipped plugins. Op modules are not plugins.</a:t>
            </a:r>
          </a:p>
        </p:txBody>
      </p:sp>
      <p:sp>
        <p:nvSpPr>
          <p:cNvPr id="8" name="At most one per role"/>
          <p:cNvSpPr txBox="1"/>
          <p:nvPr/>
        </p:nvSpPr>
        <p:spPr>
          <a:xfrm>
            <a:off x="539496" y="1325880"/>
            <a:ext cx="8019288" cy="274320"/>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At most one per role</a:t>
            </a:r>
          </a:p>
        </p:txBody>
      </p:sp>
      <p:sp>
        <p:nvSpPr>
          <p:cNvPr id="9" name="Rectangle 8"/>
          <p:cNvSpPr/>
          <p:nvPr/>
        </p:nvSpPr>
        <p:spPr>
          <a:xfrm>
            <a:off x="484632" y="1682496"/>
            <a:ext cx="1933956" cy="1133856"/>
          </a:xfrm>
          <a:prstGeom prst="rect">
            <a:avLst/>
          </a:prstGeom>
          <a:solidFill>
            <a:srgbClr val="F0F6E6"/>
          </a:solidFill>
          <a:ln w="8890">
            <a:solidFill>
              <a:srgbClr val="76B900"/>
            </a:solidFill>
          </a:ln>
          <a:effectLst/>
        </p:spPr>
        <p:txBody>
          <a:bodyPr rtlCol="0" anchor="ctr"/>
          <a:lstStyle/>
          <a:p>
            <a:pPr algn="ctr"/>
          </a:p>
        </p:txBody>
      </p:sp>
      <p:sp>
        <p:nvSpPr>
          <p:cNvPr id="10" name="Type operations"/>
          <p:cNvSpPr txBox="1"/>
          <p:nvPr/>
        </p:nvSpPr>
        <p:spPr>
          <a:xfrm>
            <a:off x="594360" y="1810512"/>
            <a:ext cx="1714500" cy="265176"/>
          </a:xfrm>
          <a:prstGeom prst="rect">
            <a:avLst/>
          </a:prstGeom>
          <a:noFill/>
        </p:spPr>
        <p:txBody>
          <a:bodyPr wrap="none" anchor="t" lIns="0" rIns="0" tIns="0" bIns="0">
            <a:noAutofit/>
          </a:bodyPr>
          <a:lstStyle/>
          <a:p>
            <a:pPr algn="l">
              <a:lnSpc>
                <a:spcPts val="1716"/>
              </a:lnSpc>
              <a:spcBef>
                <a:spcPts val="0"/>
              </a:spcBef>
              <a:spcAft>
                <a:spcPts val="0"/>
              </a:spcAft>
            </a:pPr>
            <a:r>
              <a:rPr sz="1480" b="1">
                <a:solidFill>
                  <a:srgbClr val="416600"/>
                </a:solidFill>
                <a:latin typeface="NVIDIA Sans"/>
              </a:rPr>
              <a:t>Type operations</a:t>
            </a:r>
          </a:p>
        </p:txBody>
      </p:sp>
      <p:sp>
        <p:nvSpPr>
          <p:cNvPr id="11" name="Types + operators"/>
          <p:cNvSpPr txBox="1"/>
          <p:nvPr/>
        </p:nvSpPr>
        <p:spPr>
          <a:xfrm>
            <a:off x="594360" y="2231136"/>
            <a:ext cx="1714500" cy="246888"/>
          </a:xfrm>
          <a:prstGeom prst="rect">
            <a:avLst/>
          </a:prstGeom>
          <a:noFill/>
        </p:spPr>
        <p:txBody>
          <a:bodyPr wrap="none" anchor="t" lIns="0" rIns="0" tIns="0" bIns="0">
            <a:noAutofit/>
          </a:bodyPr>
          <a:lstStyle/>
          <a:p>
            <a:pPr algn="l">
              <a:lnSpc>
                <a:spcPts val="1461"/>
              </a:lnSpc>
              <a:spcBef>
                <a:spcPts val="0"/>
              </a:spcBef>
              <a:spcAft>
                <a:spcPts val="0"/>
              </a:spcAft>
            </a:pPr>
            <a:r>
              <a:rPr sz="1260" b="0">
                <a:solidFill>
                  <a:srgbClr val="000000"/>
                </a:solidFill>
                <a:latin typeface="NVIDIA Sans"/>
              </a:rPr>
              <a:t>Types + operators</a:t>
            </a:r>
          </a:p>
        </p:txBody>
      </p:sp>
      <p:sp>
        <p:nvSpPr>
          <p:cNvPr id="12" name="TypeOps"/>
          <p:cNvSpPr txBox="1"/>
          <p:nvPr/>
        </p:nvSpPr>
        <p:spPr>
          <a:xfrm>
            <a:off x="594360" y="2587752"/>
            <a:ext cx="1714500" cy="182880"/>
          </a:xfrm>
          <a:prstGeom prst="rect">
            <a:avLst/>
          </a:prstGeom>
          <a:noFill/>
        </p:spPr>
        <p:txBody>
          <a:bodyPr wrap="none" anchor="t" lIns="0" rIns="0" tIns="0" bIns="0">
            <a:noAutofit/>
          </a:bodyPr>
          <a:lstStyle/>
          <a:p>
            <a:pPr algn="l">
              <a:lnSpc>
                <a:spcPts val="1218"/>
              </a:lnSpc>
              <a:spcBef>
                <a:spcPts val="0"/>
              </a:spcBef>
              <a:spcAft>
                <a:spcPts val="0"/>
              </a:spcAft>
            </a:pPr>
            <a:r>
              <a:rPr sz="1050" b="0">
                <a:solidFill>
                  <a:srgbClr val="616161"/>
                </a:solidFill>
                <a:latin typeface="NVIDIA Sans"/>
              </a:rPr>
              <a:t>TypeOps</a:t>
            </a:r>
          </a:p>
        </p:txBody>
      </p:sp>
      <p:sp>
        <p:nvSpPr>
          <p:cNvPr id="13" name="Rectangle 12"/>
          <p:cNvSpPr/>
          <p:nvPr/>
        </p:nvSpPr>
        <p:spPr>
          <a:xfrm>
            <a:off x="2564891" y="1682496"/>
            <a:ext cx="1933956" cy="1133856"/>
          </a:xfrm>
          <a:prstGeom prst="rect">
            <a:avLst/>
          </a:prstGeom>
          <a:solidFill>
            <a:srgbClr val="F0F6E6"/>
          </a:solidFill>
          <a:ln w="8890">
            <a:solidFill>
              <a:srgbClr val="76B900"/>
            </a:solidFill>
          </a:ln>
          <a:effectLst/>
        </p:spPr>
        <p:txBody>
          <a:bodyPr rtlCol="0" anchor="ctr"/>
          <a:lstStyle/>
          <a:p>
            <a:pPr algn="ctr"/>
          </a:p>
        </p:txBody>
      </p:sp>
      <p:sp>
        <p:nvSpPr>
          <p:cNvPr id="14" name="Function entry"/>
          <p:cNvSpPr txBox="1"/>
          <p:nvPr/>
        </p:nvSpPr>
        <p:spPr>
          <a:xfrm>
            <a:off x="2674620" y="1810512"/>
            <a:ext cx="1714500" cy="265176"/>
          </a:xfrm>
          <a:prstGeom prst="rect">
            <a:avLst/>
          </a:prstGeom>
          <a:noFill/>
        </p:spPr>
        <p:txBody>
          <a:bodyPr wrap="none" anchor="t" lIns="0" rIns="0" tIns="0" bIns="0">
            <a:noAutofit/>
          </a:bodyPr>
          <a:lstStyle/>
          <a:p>
            <a:pPr algn="l">
              <a:lnSpc>
                <a:spcPts val="1716"/>
              </a:lnSpc>
              <a:spcBef>
                <a:spcPts val="0"/>
              </a:spcBef>
              <a:spcAft>
                <a:spcPts val="0"/>
              </a:spcAft>
            </a:pPr>
            <a:r>
              <a:rPr sz="1480" b="1">
                <a:solidFill>
                  <a:srgbClr val="416600"/>
                </a:solidFill>
                <a:latin typeface="NVIDIA Sans"/>
              </a:rPr>
              <a:t>Function entry</a:t>
            </a:r>
          </a:p>
        </p:txBody>
      </p:sp>
      <p:sp>
        <p:nvSpPr>
          <p:cNvPr id="15" name="Entry + results"/>
          <p:cNvSpPr txBox="1"/>
          <p:nvPr/>
        </p:nvSpPr>
        <p:spPr>
          <a:xfrm>
            <a:off x="2674620" y="2231136"/>
            <a:ext cx="1714500" cy="246888"/>
          </a:xfrm>
          <a:prstGeom prst="rect">
            <a:avLst/>
          </a:prstGeom>
          <a:noFill/>
        </p:spPr>
        <p:txBody>
          <a:bodyPr wrap="none" anchor="t" lIns="0" rIns="0" tIns="0" bIns="0">
            <a:noAutofit/>
          </a:bodyPr>
          <a:lstStyle/>
          <a:p>
            <a:pPr algn="l">
              <a:lnSpc>
                <a:spcPts val="1461"/>
              </a:lnSpc>
              <a:spcBef>
                <a:spcPts val="0"/>
              </a:spcBef>
              <a:spcAft>
                <a:spcPts val="0"/>
              </a:spcAft>
            </a:pPr>
            <a:r>
              <a:rPr sz="1260" b="0">
                <a:solidFill>
                  <a:srgbClr val="000000"/>
                </a:solidFill>
                <a:latin typeface="NVIDIA Sans"/>
              </a:rPr>
              <a:t>Entry + results</a:t>
            </a:r>
          </a:p>
        </p:txBody>
      </p:sp>
      <p:sp>
        <p:nvSpPr>
          <p:cNvPr id="16" name="func.Entry"/>
          <p:cNvSpPr txBox="1"/>
          <p:nvPr/>
        </p:nvSpPr>
        <p:spPr>
          <a:xfrm>
            <a:off x="2674620" y="2587752"/>
            <a:ext cx="1714500" cy="182880"/>
          </a:xfrm>
          <a:prstGeom prst="rect">
            <a:avLst/>
          </a:prstGeom>
          <a:noFill/>
        </p:spPr>
        <p:txBody>
          <a:bodyPr wrap="none" anchor="t" lIns="0" rIns="0" tIns="0" bIns="0">
            <a:noAutofit/>
          </a:bodyPr>
          <a:lstStyle/>
          <a:p>
            <a:pPr algn="l">
              <a:lnSpc>
                <a:spcPts val="1218"/>
              </a:lnSpc>
              <a:spcBef>
                <a:spcPts val="0"/>
              </a:spcBef>
              <a:spcAft>
                <a:spcPts val="0"/>
              </a:spcAft>
            </a:pPr>
            <a:r>
              <a:rPr sz="1050" b="0">
                <a:solidFill>
                  <a:srgbClr val="616161"/>
                </a:solidFill>
                <a:latin typeface="NVIDIA Sans"/>
              </a:rPr>
              <a:t>func.Entry</a:t>
            </a:r>
          </a:p>
        </p:txBody>
      </p:sp>
      <p:sp>
        <p:nvSpPr>
          <p:cNvPr id="17" name="Rectangle 16"/>
          <p:cNvSpPr/>
          <p:nvPr/>
        </p:nvSpPr>
        <p:spPr>
          <a:xfrm>
            <a:off x="4645152" y="1682496"/>
            <a:ext cx="1933956" cy="1133856"/>
          </a:xfrm>
          <a:prstGeom prst="rect">
            <a:avLst/>
          </a:prstGeom>
          <a:solidFill>
            <a:srgbClr val="F0F6E6"/>
          </a:solidFill>
          <a:ln w="8890">
            <a:solidFill>
              <a:srgbClr val="76B900"/>
            </a:solidFill>
          </a:ln>
          <a:effectLst/>
        </p:spPr>
        <p:txBody>
          <a:bodyPr rtlCol="0" anchor="ctr"/>
          <a:lstStyle/>
          <a:p>
            <a:pPr algn="ctr"/>
          </a:p>
        </p:txBody>
      </p:sp>
      <p:sp>
        <p:nvSpPr>
          <p:cNvPr id="18" name="AST preprocessor"/>
          <p:cNvSpPr txBox="1"/>
          <p:nvPr/>
        </p:nvSpPr>
        <p:spPr>
          <a:xfrm>
            <a:off x="4754880" y="1810512"/>
            <a:ext cx="1714500" cy="265176"/>
          </a:xfrm>
          <a:prstGeom prst="rect">
            <a:avLst/>
          </a:prstGeom>
          <a:noFill/>
        </p:spPr>
        <p:txBody>
          <a:bodyPr wrap="none" anchor="t" lIns="0" rIns="0" tIns="0" bIns="0">
            <a:noAutofit/>
          </a:bodyPr>
          <a:lstStyle/>
          <a:p>
            <a:pPr algn="l">
              <a:lnSpc>
                <a:spcPts val="1716"/>
              </a:lnSpc>
              <a:spcBef>
                <a:spcPts val="0"/>
              </a:spcBef>
              <a:spcAft>
                <a:spcPts val="0"/>
              </a:spcAft>
            </a:pPr>
            <a:r>
              <a:rPr sz="1480" b="1">
                <a:solidFill>
                  <a:srgbClr val="416600"/>
                </a:solidFill>
                <a:latin typeface="NVIDIA Sans"/>
              </a:rPr>
              <a:t>AST preprocessor</a:t>
            </a:r>
          </a:p>
        </p:txBody>
      </p:sp>
      <p:sp>
        <p:nvSpPr>
          <p:cNvPr id="19" name="Syntax capture"/>
          <p:cNvSpPr txBox="1"/>
          <p:nvPr/>
        </p:nvSpPr>
        <p:spPr>
          <a:xfrm>
            <a:off x="4754880" y="2231136"/>
            <a:ext cx="1714500" cy="246888"/>
          </a:xfrm>
          <a:prstGeom prst="rect">
            <a:avLst/>
          </a:prstGeom>
          <a:noFill/>
        </p:spPr>
        <p:txBody>
          <a:bodyPr wrap="none" anchor="t" lIns="0" rIns="0" tIns="0" bIns="0">
            <a:noAutofit/>
          </a:bodyPr>
          <a:lstStyle/>
          <a:p>
            <a:pPr algn="l">
              <a:lnSpc>
                <a:spcPts val="1461"/>
              </a:lnSpc>
              <a:spcBef>
                <a:spcPts val="0"/>
              </a:spcBef>
              <a:spcAft>
                <a:spcPts val="0"/>
              </a:spcAft>
            </a:pPr>
            <a:r>
              <a:rPr sz="1260" b="0">
                <a:solidFill>
                  <a:srgbClr val="000000"/>
                </a:solidFill>
                <a:latin typeface="NVIDIA Sans"/>
              </a:rPr>
              <a:t>Syntax capture</a:t>
            </a:r>
          </a:p>
        </p:txBody>
      </p:sp>
      <p:sp>
        <p:nvSpPr>
          <p:cNvPr id="20" name="scf.ASTPreprocessor"/>
          <p:cNvSpPr txBox="1"/>
          <p:nvPr/>
        </p:nvSpPr>
        <p:spPr>
          <a:xfrm>
            <a:off x="4754880" y="2587752"/>
            <a:ext cx="1714500" cy="182880"/>
          </a:xfrm>
          <a:prstGeom prst="rect">
            <a:avLst/>
          </a:prstGeom>
          <a:noFill/>
        </p:spPr>
        <p:txBody>
          <a:bodyPr wrap="none" anchor="t" lIns="0" rIns="0" tIns="0" bIns="0">
            <a:noAutofit/>
          </a:bodyPr>
          <a:lstStyle/>
          <a:p>
            <a:pPr algn="l">
              <a:lnSpc>
                <a:spcPts val="1218"/>
              </a:lnSpc>
              <a:spcBef>
                <a:spcPts val="0"/>
              </a:spcBef>
              <a:spcAft>
                <a:spcPts val="0"/>
              </a:spcAft>
            </a:pPr>
            <a:r>
              <a:rPr sz="1050" b="0">
                <a:solidFill>
                  <a:srgbClr val="616161"/>
                </a:solidFill>
                <a:latin typeface="NVIDIA Sans"/>
              </a:rPr>
              <a:t>scf.ASTPreprocessor</a:t>
            </a:r>
          </a:p>
        </p:txBody>
      </p:sp>
      <p:sp>
        <p:nvSpPr>
          <p:cNvPr id="21" name="Rectangle 20"/>
          <p:cNvSpPr/>
          <p:nvPr/>
        </p:nvSpPr>
        <p:spPr>
          <a:xfrm>
            <a:off x="6725412" y="1682496"/>
            <a:ext cx="1933956" cy="1133856"/>
          </a:xfrm>
          <a:prstGeom prst="rect">
            <a:avLst/>
          </a:prstGeom>
          <a:solidFill>
            <a:srgbClr val="F0F6E6"/>
          </a:solidFill>
          <a:ln w="8890">
            <a:solidFill>
              <a:srgbClr val="76B900"/>
            </a:solidFill>
          </a:ln>
          <a:effectLst/>
        </p:spPr>
        <p:txBody>
          <a:bodyPr rtlCol="0" anchor="ctr"/>
          <a:lstStyle/>
          <a:p>
            <a:pPr algn="ctr"/>
          </a:p>
        </p:txBody>
      </p:sp>
      <p:sp>
        <p:nvSpPr>
          <p:cNvPr id="22" name="Compiler"/>
          <p:cNvSpPr txBox="1"/>
          <p:nvPr/>
        </p:nvSpPr>
        <p:spPr>
          <a:xfrm>
            <a:off x="6835140" y="1810512"/>
            <a:ext cx="1714500" cy="265176"/>
          </a:xfrm>
          <a:prstGeom prst="rect">
            <a:avLst/>
          </a:prstGeom>
          <a:noFill/>
        </p:spPr>
        <p:txBody>
          <a:bodyPr wrap="none" anchor="t" lIns="0" rIns="0" tIns="0" bIns="0">
            <a:noAutofit/>
          </a:bodyPr>
          <a:lstStyle/>
          <a:p>
            <a:pPr algn="l">
              <a:lnSpc>
                <a:spcPts val="1716"/>
              </a:lnSpc>
              <a:spcBef>
                <a:spcPts val="0"/>
              </a:spcBef>
              <a:spcAft>
                <a:spcPts val="0"/>
              </a:spcAft>
            </a:pPr>
            <a:r>
              <a:rPr sz="1480" b="1">
                <a:solidFill>
                  <a:srgbClr val="416600"/>
                </a:solidFill>
                <a:latin typeface="NVIDIA Sans"/>
              </a:rPr>
              <a:t>Compiler</a:t>
            </a:r>
          </a:p>
        </p:txBody>
      </p:sp>
      <p:sp>
        <p:nvSpPr>
          <p:cNvPr id="23" name="Lower + invoke"/>
          <p:cNvSpPr txBox="1"/>
          <p:nvPr/>
        </p:nvSpPr>
        <p:spPr>
          <a:xfrm>
            <a:off x="6835140" y="2231136"/>
            <a:ext cx="1714500" cy="246888"/>
          </a:xfrm>
          <a:prstGeom prst="rect">
            <a:avLst/>
          </a:prstGeom>
          <a:noFill/>
        </p:spPr>
        <p:txBody>
          <a:bodyPr wrap="none" anchor="t" lIns="0" rIns="0" tIns="0" bIns="0">
            <a:noAutofit/>
          </a:bodyPr>
          <a:lstStyle/>
          <a:p>
            <a:pPr algn="l">
              <a:lnSpc>
                <a:spcPts val="1461"/>
              </a:lnSpc>
              <a:spcBef>
                <a:spcPts val="0"/>
              </a:spcBef>
              <a:spcAft>
                <a:spcPts val="0"/>
              </a:spcAft>
            </a:pPr>
            <a:r>
              <a:rPr sz="1260" b="0">
                <a:solidFill>
                  <a:srgbClr val="000000"/>
                </a:solidFill>
                <a:latin typeface="NVIDIA Sans"/>
              </a:rPr>
              <a:t>Lower + invoke</a:t>
            </a:r>
          </a:p>
        </p:txBody>
      </p:sp>
      <p:sp>
        <p:nvSpPr>
          <p:cNvPr id="24" name="ExecutionEngine compiler"/>
          <p:cNvSpPr txBox="1"/>
          <p:nvPr/>
        </p:nvSpPr>
        <p:spPr>
          <a:xfrm>
            <a:off x="6835140" y="2587752"/>
            <a:ext cx="1714500" cy="182880"/>
          </a:xfrm>
          <a:prstGeom prst="rect">
            <a:avLst/>
          </a:prstGeom>
          <a:noFill/>
        </p:spPr>
        <p:txBody>
          <a:bodyPr wrap="none" anchor="t" lIns="0" rIns="0" tIns="0" bIns="0">
            <a:noAutofit/>
          </a:bodyPr>
          <a:lstStyle/>
          <a:p>
            <a:pPr algn="l">
              <a:lnSpc>
                <a:spcPts val="1218"/>
              </a:lnSpc>
              <a:spcBef>
                <a:spcPts val="0"/>
              </a:spcBef>
              <a:spcAft>
                <a:spcPts val="0"/>
              </a:spcAft>
            </a:pPr>
            <a:r>
              <a:rPr sz="1050" b="0">
                <a:solidFill>
                  <a:srgbClr val="616161"/>
                </a:solidFill>
                <a:latin typeface="NVIDIA Sans"/>
              </a:rPr>
              <a:t>ExecutionEngine compiler</a:t>
            </a:r>
          </a:p>
        </p:txBody>
      </p:sp>
      <p:sp>
        <p:nvSpPr>
          <p:cNvPr id="25" name="Any number"/>
          <p:cNvSpPr txBox="1"/>
          <p:nvPr/>
        </p:nvSpPr>
        <p:spPr>
          <a:xfrm>
            <a:off x="539496" y="3035808"/>
            <a:ext cx="8019288" cy="274320"/>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Any number</a:t>
            </a:r>
          </a:p>
        </p:txBody>
      </p:sp>
      <p:sp>
        <p:nvSpPr>
          <p:cNvPr id="26" name="Rectangle 25"/>
          <p:cNvSpPr/>
          <p:nvPr/>
        </p:nvSpPr>
        <p:spPr>
          <a:xfrm>
            <a:off x="484632" y="3474720"/>
            <a:ext cx="3959352" cy="630936"/>
          </a:xfrm>
          <a:prstGeom prst="rect">
            <a:avLst/>
          </a:prstGeom>
          <a:solidFill>
            <a:srgbClr val="F7F7F7"/>
          </a:solidFill>
          <a:ln w="8890">
            <a:solidFill>
              <a:srgbClr val="D5D5D5"/>
            </a:solidFill>
          </a:ln>
          <a:effectLst/>
        </p:spPr>
        <p:txBody>
          <a:bodyPr rtlCol="0" anchor="ctr"/>
          <a:lstStyle/>
          <a:p>
            <a:pPr algn="ctr"/>
          </a:p>
        </p:txBody>
      </p:sp>
      <p:sp>
        <p:nvSpPr>
          <p:cNvPr id="27" name="Decorators"/>
          <p:cNvSpPr txBox="1"/>
          <p:nvPr/>
        </p:nvSpPr>
        <p:spPr>
          <a:xfrm>
            <a:off x="621792" y="3611879"/>
            <a:ext cx="1280160" cy="256032"/>
          </a:xfrm>
          <a:prstGeom prst="rect">
            <a:avLst/>
          </a:prstGeom>
          <a:noFill/>
        </p:spPr>
        <p:txBody>
          <a:bodyPr wrap="none" anchor="t" lIns="0" rIns="0" tIns="0" bIns="0">
            <a:noAutofit/>
          </a:bodyPr>
          <a:lstStyle/>
          <a:p>
            <a:pPr algn="l">
              <a:lnSpc>
                <a:spcPts val="1635"/>
              </a:lnSpc>
              <a:spcBef>
                <a:spcPts val="0"/>
              </a:spcBef>
              <a:spcAft>
                <a:spcPts val="0"/>
              </a:spcAft>
            </a:pPr>
            <a:r>
              <a:rPr sz="1410" b="1">
                <a:solidFill>
                  <a:srgbClr val="416600"/>
                </a:solidFill>
                <a:latin typeface="NVIDIA Sans"/>
              </a:rPr>
              <a:t>Decorators</a:t>
            </a:r>
          </a:p>
        </p:txBody>
      </p:sp>
      <p:sp>
        <p:nvSpPr>
          <p:cNvPr id="28" name="Add @kernel"/>
          <p:cNvSpPr txBox="1"/>
          <p:nvPr/>
        </p:nvSpPr>
        <p:spPr>
          <a:xfrm>
            <a:off x="2029967" y="3593591"/>
            <a:ext cx="2258568" cy="256032"/>
          </a:xfrm>
          <a:prstGeom prst="rect">
            <a:avLst/>
          </a:prstGeom>
          <a:noFill/>
        </p:spPr>
        <p:txBody>
          <a:bodyPr wrap="none" anchor="t" lIns="0" rIns="0" tIns="0" bIns="0">
            <a:noAutofit/>
          </a:bodyPr>
          <a:lstStyle/>
          <a:p>
            <a:pPr algn="l">
              <a:lnSpc>
                <a:spcPts val="1415"/>
              </a:lnSpc>
              <a:spcBef>
                <a:spcPts val="0"/>
              </a:spcBef>
              <a:spcAft>
                <a:spcPts val="0"/>
              </a:spcAft>
            </a:pPr>
            <a:r>
              <a:rPr sz="1220" b="0">
                <a:solidFill>
                  <a:srgbClr val="000000"/>
                </a:solidFill>
                <a:latin typeface="NVIDIA Sans"/>
              </a:rPr>
              <a:t>Add @kernel</a:t>
            </a:r>
          </a:p>
        </p:txBody>
      </p:sp>
      <p:sp>
        <p:nvSpPr>
          <p:cNvPr id="29" name="gpu.Kernels"/>
          <p:cNvSpPr txBox="1"/>
          <p:nvPr/>
        </p:nvSpPr>
        <p:spPr>
          <a:xfrm>
            <a:off x="2029967" y="3877056"/>
            <a:ext cx="2258568" cy="192024"/>
          </a:xfrm>
          <a:prstGeom prst="rect">
            <a:avLst/>
          </a:prstGeom>
          <a:noFill/>
        </p:spPr>
        <p:txBody>
          <a:bodyPr wrap="none" anchor="t" lIns="0" rIns="0" tIns="0" bIns="0">
            <a:noAutofit/>
          </a:bodyPr>
          <a:lstStyle/>
          <a:p>
            <a:pPr algn="l">
              <a:lnSpc>
                <a:spcPts val="1194"/>
              </a:lnSpc>
              <a:spcBef>
                <a:spcPts val="0"/>
              </a:spcBef>
              <a:spcAft>
                <a:spcPts val="0"/>
              </a:spcAft>
            </a:pPr>
            <a:r>
              <a:rPr sz="1030" b="0">
                <a:solidFill>
                  <a:srgbClr val="616161"/>
                </a:solidFill>
                <a:latin typeface="NVIDIA Sans"/>
              </a:rPr>
              <a:t>gpu.Kernels</a:t>
            </a:r>
          </a:p>
        </p:txBody>
      </p:sp>
      <p:sp>
        <p:nvSpPr>
          <p:cNvPr id="30" name="Rectangle 29"/>
          <p:cNvSpPr/>
          <p:nvPr/>
        </p:nvSpPr>
        <p:spPr>
          <a:xfrm>
            <a:off x="4700016" y="3474720"/>
            <a:ext cx="3959352" cy="630936"/>
          </a:xfrm>
          <a:prstGeom prst="rect">
            <a:avLst/>
          </a:prstGeom>
          <a:solidFill>
            <a:srgbClr val="F7F7F7"/>
          </a:solidFill>
          <a:ln w="8890">
            <a:solidFill>
              <a:srgbClr val="D5D5D5"/>
            </a:solidFill>
          </a:ln>
          <a:effectLst/>
        </p:spPr>
        <p:txBody>
          <a:bodyPr rtlCol="0" anchor="ctr"/>
          <a:lstStyle/>
          <a:p>
            <a:pPr algn="ctr"/>
          </a:p>
        </p:txBody>
      </p:sp>
      <p:sp>
        <p:nvSpPr>
          <p:cNvPr id="31" name="Adapters"/>
          <p:cNvSpPr txBox="1"/>
          <p:nvPr/>
        </p:nvSpPr>
        <p:spPr>
          <a:xfrm>
            <a:off x="4837176" y="3611879"/>
            <a:ext cx="1280160" cy="256032"/>
          </a:xfrm>
          <a:prstGeom prst="rect">
            <a:avLst/>
          </a:prstGeom>
          <a:noFill/>
        </p:spPr>
        <p:txBody>
          <a:bodyPr wrap="none" anchor="t" lIns="0" rIns="0" tIns="0" bIns="0">
            <a:noAutofit/>
          </a:bodyPr>
          <a:lstStyle/>
          <a:p>
            <a:pPr algn="l">
              <a:lnSpc>
                <a:spcPts val="1635"/>
              </a:lnSpc>
              <a:spcBef>
                <a:spcPts val="0"/>
              </a:spcBef>
              <a:spcAft>
                <a:spcPts val="0"/>
              </a:spcAft>
            </a:pPr>
            <a:r>
              <a:rPr sz="1410" b="1">
                <a:solidFill>
                  <a:srgbClr val="416600"/>
                </a:solidFill>
                <a:latin typeface="NVIDIA Sans"/>
              </a:rPr>
              <a:t>Adapters</a:t>
            </a:r>
          </a:p>
        </p:txBody>
      </p:sp>
      <p:sp>
        <p:nvSpPr>
          <p:cNvPr id="32" name="Inputs + exports"/>
          <p:cNvSpPr txBox="1"/>
          <p:nvPr/>
        </p:nvSpPr>
        <p:spPr>
          <a:xfrm>
            <a:off x="6245352" y="3593591"/>
            <a:ext cx="2258568" cy="256032"/>
          </a:xfrm>
          <a:prstGeom prst="rect">
            <a:avLst/>
          </a:prstGeom>
          <a:noFill/>
        </p:spPr>
        <p:txBody>
          <a:bodyPr wrap="none" anchor="t" lIns="0" rIns="0" tIns="0" bIns="0">
            <a:noAutofit/>
          </a:bodyPr>
          <a:lstStyle/>
          <a:p>
            <a:pPr algn="l">
              <a:lnSpc>
                <a:spcPts val="1415"/>
              </a:lnSpc>
              <a:spcBef>
                <a:spcPts val="0"/>
              </a:spcBef>
              <a:spcAft>
                <a:spcPts val="0"/>
              </a:spcAft>
            </a:pPr>
            <a:r>
              <a:rPr sz="1220" b="0">
                <a:solidFill>
                  <a:srgbClr val="000000"/>
                </a:solidFill>
                <a:latin typeface="NVIDIA Sans"/>
              </a:rPr>
              <a:t>Inputs + exports</a:t>
            </a:r>
          </a:p>
        </p:txBody>
      </p:sp>
      <p:sp>
        <p:nvSpPr>
          <p:cNvPr id="33" name="PyTorch · DLPack · TVM-FFI"/>
          <p:cNvSpPr txBox="1"/>
          <p:nvPr/>
        </p:nvSpPr>
        <p:spPr>
          <a:xfrm>
            <a:off x="6245352" y="3877056"/>
            <a:ext cx="2258568" cy="192024"/>
          </a:xfrm>
          <a:prstGeom prst="rect">
            <a:avLst/>
          </a:prstGeom>
          <a:noFill/>
        </p:spPr>
        <p:txBody>
          <a:bodyPr wrap="none" anchor="t" lIns="0" rIns="0" tIns="0" bIns="0">
            <a:noAutofit/>
          </a:bodyPr>
          <a:lstStyle/>
          <a:p>
            <a:pPr algn="l">
              <a:lnSpc>
                <a:spcPts val="1194"/>
              </a:lnSpc>
              <a:spcBef>
                <a:spcPts val="0"/>
              </a:spcBef>
              <a:spcAft>
                <a:spcPts val="0"/>
              </a:spcAft>
            </a:pPr>
            <a:r>
              <a:rPr sz="1030" b="0">
                <a:solidFill>
                  <a:srgbClr val="616161"/>
                </a:solidFill>
                <a:latin typeface="NVIDIA Sans"/>
              </a:rPr>
              <a:t>PyTorch · DLPack · TVM-FFI</a:t>
            </a:r>
          </a:p>
        </p:txBody>
      </p:sp>
      <p:sp>
        <p:nvSpPr>
          <p:cNvPr id="34" name="Rectangle 33"/>
          <p:cNvSpPr/>
          <p:nvPr/>
        </p:nvSpPr>
        <p:spPr>
          <a:xfrm>
            <a:off x="484632" y="4334256"/>
            <a:ext cx="8174736" cy="320040"/>
          </a:xfrm>
          <a:prstGeom prst="rect">
            <a:avLst/>
          </a:prstGeom>
          <a:solidFill>
            <a:srgbClr val="F7F7F7"/>
          </a:solidFill>
          <a:ln>
            <a:noFill/>
          </a:ln>
          <a:effectLst/>
        </p:spPr>
        <p:txBody>
          <a:bodyPr rtlCol="0" anchor="ctr"/>
          <a:lstStyle/>
          <a:p>
            <a:pPr algn="ctr"/>
          </a:p>
        </p:txBody>
      </p:sp>
      <p:sp>
        <p:nvSpPr>
          <p:cNvPr id="35" name="Shared core"/>
          <p:cNvSpPr txBox="1"/>
          <p:nvPr/>
        </p:nvSpPr>
        <p:spPr>
          <a:xfrm>
            <a:off x="640080" y="4398264"/>
            <a:ext cx="1298448" cy="219456"/>
          </a:xfrm>
          <a:prstGeom prst="rect">
            <a:avLst/>
          </a:prstGeom>
          <a:noFill/>
        </p:spPr>
        <p:txBody>
          <a:bodyPr wrap="none" anchor="t" lIns="0" rIns="0" tIns="0" bIns="0">
            <a:noAutofit/>
          </a:bodyPr>
          <a:lstStyle/>
          <a:p>
            <a:pPr algn="l">
              <a:lnSpc>
                <a:spcPts val="1368"/>
              </a:lnSpc>
              <a:spcBef>
                <a:spcPts val="0"/>
              </a:spcBef>
              <a:spcAft>
                <a:spcPts val="0"/>
              </a:spcAft>
            </a:pPr>
            <a:r>
              <a:rPr sz="1180" b="1">
                <a:solidFill>
                  <a:srgbClr val="000000"/>
                </a:solidFill>
                <a:latin typeface="NVIDIA Sans"/>
              </a:rPr>
              <a:t>Shared core</a:t>
            </a:r>
          </a:p>
        </p:txBody>
      </p:sp>
      <p:sp>
        <p:nvSpPr>
          <p:cNvPr id="36" name="Tracing"/>
          <p:cNvSpPr txBox="1"/>
          <p:nvPr/>
        </p:nvSpPr>
        <p:spPr>
          <a:xfrm>
            <a:off x="2093976" y="4398264"/>
            <a:ext cx="1490472" cy="210312"/>
          </a:xfrm>
          <a:prstGeom prst="rect">
            <a:avLst/>
          </a:prstGeom>
          <a:noFill/>
        </p:spPr>
        <p:txBody>
          <a:bodyPr wrap="none" anchor="t" lIns="0" rIns="0" tIns="0" bIns="0">
            <a:noAutofit/>
          </a:bodyPr>
          <a:lstStyle/>
          <a:p>
            <a:pPr algn="ctr">
              <a:lnSpc>
                <a:spcPts val="1264"/>
              </a:lnSpc>
              <a:spcBef>
                <a:spcPts val="0"/>
              </a:spcBef>
              <a:spcAft>
                <a:spcPts val="0"/>
              </a:spcAft>
            </a:pPr>
            <a:r>
              <a:rPr sz="1090" b="0">
                <a:solidFill>
                  <a:srgbClr val="616161"/>
                </a:solidFill>
                <a:latin typeface="NVIDIA Sans"/>
              </a:rPr>
              <a:t>Tracing</a:t>
            </a:r>
          </a:p>
        </p:txBody>
      </p:sp>
      <p:sp>
        <p:nvSpPr>
          <p:cNvPr id="37" name="Types"/>
          <p:cNvSpPr txBox="1"/>
          <p:nvPr/>
        </p:nvSpPr>
        <p:spPr>
          <a:xfrm>
            <a:off x="3712464" y="4398264"/>
            <a:ext cx="1490472" cy="210312"/>
          </a:xfrm>
          <a:prstGeom prst="rect">
            <a:avLst/>
          </a:prstGeom>
          <a:noFill/>
        </p:spPr>
        <p:txBody>
          <a:bodyPr wrap="none" anchor="t" lIns="0" rIns="0" tIns="0" bIns="0">
            <a:noAutofit/>
          </a:bodyPr>
          <a:lstStyle/>
          <a:p>
            <a:pPr algn="ctr">
              <a:lnSpc>
                <a:spcPts val="1264"/>
              </a:lnSpc>
              <a:spcBef>
                <a:spcPts val="0"/>
              </a:spcBef>
              <a:spcAft>
                <a:spcPts val="0"/>
              </a:spcAft>
            </a:pPr>
            <a:r>
              <a:rPr sz="1090" b="0">
                <a:solidFill>
                  <a:srgbClr val="616161"/>
                </a:solidFill>
                <a:latin typeface="NVIDIA Sans"/>
              </a:rPr>
              <a:t>Types</a:t>
            </a:r>
          </a:p>
        </p:txBody>
      </p:sp>
      <p:sp>
        <p:nvSpPr>
          <p:cNvPr id="38" name="Diagnostics"/>
          <p:cNvSpPr txBox="1"/>
          <p:nvPr/>
        </p:nvSpPr>
        <p:spPr>
          <a:xfrm>
            <a:off x="5330952" y="4398264"/>
            <a:ext cx="1490472" cy="210312"/>
          </a:xfrm>
          <a:prstGeom prst="rect">
            <a:avLst/>
          </a:prstGeom>
          <a:noFill/>
        </p:spPr>
        <p:txBody>
          <a:bodyPr wrap="none" anchor="t" lIns="0" rIns="0" tIns="0" bIns="0">
            <a:noAutofit/>
          </a:bodyPr>
          <a:lstStyle/>
          <a:p>
            <a:pPr algn="ctr">
              <a:lnSpc>
                <a:spcPts val="1264"/>
              </a:lnSpc>
              <a:spcBef>
                <a:spcPts val="0"/>
              </a:spcBef>
              <a:spcAft>
                <a:spcPts val="0"/>
              </a:spcAft>
            </a:pPr>
            <a:r>
              <a:rPr sz="1090" b="0">
                <a:solidFill>
                  <a:srgbClr val="616161"/>
                </a:solidFill>
                <a:latin typeface="NVIDIA Sans"/>
              </a:rPr>
              <a:t>Diagnostics</a:t>
            </a:r>
          </a:p>
        </p:txBody>
      </p:sp>
      <p:sp>
        <p:nvSpPr>
          <p:cNvPr id="39" name="Cache"/>
          <p:cNvSpPr txBox="1"/>
          <p:nvPr/>
        </p:nvSpPr>
        <p:spPr>
          <a:xfrm>
            <a:off x="6949440" y="4398264"/>
            <a:ext cx="1490472" cy="210312"/>
          </a:xfrm>
          <a:prstGeom prst="rect">
            <a:avLst/>
          </a:prstGeom>
          <a:noFill/>
        </p:spPr>
        <p:txBody>
          <a:bodyPr wrap="none" anchor="t" lIns="0" rIns="0" tIns="0" bIns="0">
            <a:noAutofit/>
          </a:bodyPr>
          <a:lstStyle/>
          <a:p>
            <a:pPr algn="ctr">
              <a:lnSpc>
                <a:spcPts val="1264"/>
              </a:lnSpc>
              <a:spcBef>
                <a:spcPts val="0"/>
              </a:spcBef>
              <a:spcAft>
                <a:spcPts val="0"/>
              </a:spcAft>
            </a:pPr>
            <a:r>
              <a:rPr sz="1090" b="0">
                <a:solidFill>
                  <a:srgbClr val="616161"/>
                </a:solidFill>
                <a:latin typeface="NVIDIA Sans"/>
              </a:rPr>
              <a:t>Cache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15 · One subclass. One Plugins record."/>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15 · One subclass. One Plugins record.</a:t>
            </a:r>
          </a:p>
        </p:txBody>
      </p:sp>
      <p:sp>
        <p:nvSpPr>
          <p:cNvPr id="5" name="41"/>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41</a:t>
            </a:r>
          </a:p>
        </p:txBody>
      </p:sp>
      <p:sp>
        <p:nvSpPr>
          <p:cNvPr id="6" name="mlir 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Downstream DSL · implementation excerpt"/>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Downstream DSL · implementation excerpt</a:t>
            </a:r>
          </a:p>
        </p:txBody>
      </p:sp>
      <p:sp>
        <p:nvSpPr>
          <p:cNvPr id="10" name="class MyDSL(BaseDSL):"/>
          <p:cNvSpPr txBox="1"/>
          <p:nvPr/>
        </p:nvSpPr>
        <p:spPr>
          <a:xfrm>
            <a:off x="594360" y="1993391"/>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0">
                <a:solidFill>
                  <a:srgbClr val="484848"/>
                </a:solidFill>
                <a:latin typeface="JetBrains Mono"/>
              </a:rPr>
              <a:t>class MyDSL(BaseDSL):</a:t>
            </a:r>
          </a:p>
        </p:txBody>
      </p:sp>
      <p:sp>
        <p:nvSpPr>
          <p:cNvPr id="11" name="    plugins = Plugins("/>
          <p:cNvSpPr txBox="1"/>
          <p:nvPr/>
        </p:nvSpPr>
        <p:spPr>
          <a:xfrm>
            <a:off x="594360" y="2177897"/>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0">
                <a:solidFill>
                  <a:srgbClr val="484848"/>
                </a:solidFill>
                <a:latin typeface="JetBrains Mono"/>
              </a:rPr>
              <a:t>    plugins = Plugins(</a:t>
            </a:r>
          </a:p>
        </p:txBody>
      </p:sp>
      <p:sp>
        <p:nvSpPr>
          <p:cNvPr id="12" name="        type_ops=TypeOps("/>
          <p:cNvSpPr txBox="1"/>
          <p:nvPr/>
        </p:nvSpPr>
        <p:spPr>
          <a:xfrm>
            <a:off x="594360" y="2362403"/>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0">
                <a:solidFill>
                  <a:srgbClr val="484848"/>
                </a:solidFill>
                <a:latin typeface="JetBrains Mono"/>
              </a:rPr>
              <a:t>        type_ops=TypeOps(</a:t>
            </a:r>
          </a:p>
        </p:txBody>
      </p:sp>
      <p:sp>
        <p:nvSpPr>
          <p:cNvPr id="13" name="            scalars=arith, vectors=vector, memory=llvm),"/>
          <p:cNvSpPr txBox="1"/>
          <p:nvPr/>
        </p:nvSpPr>
        <p:spPr>
          <a:xfrm>
            <a:off x="594360" y="2546908"/>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0">
                <a:solidFill>
                  <a:srgbClr val="484848"/>
                </a:solidFill>
                <a:latin typeface="JetBrains Mono"/>
              </a:rPr>
              <a:t>            scalars=arith, vectors=vector, memory=llvm),</a:t>
            </a:r>
          </a:p>
        </p:txBody>
      </p:sp>
      <p:sp>
        <p:nvSpPr>
          <p:cNvPr id="14" name="        func_entry=func.Entry(),"/>
          <p:cNvSpPr txBox="1"/>
          <p:nvPr/>
        </p:nvSpPr>
        <p:spPr>
          <a:xfrm>
            <a:off x="594360" y="2731414"/>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0">
                <a:solidFill>
                  <a:srgbClr val="484848"/>
                </a:solidFill>
                <a:latin typeface="JetBrains Mono"/>
              </a:rPr>
              <a:t>        func_entry=func.Entry(),</a:t>
            </a:r>
          </a:p>
        </p:txBody>
      </p:sp>
      <p:sp>
        <p:nvSpPr>
          <p:cNvPr id="15" name="        ast_preprocessor=scf.ASTPreprocessor(),"/>
          <p:cNvSpPr txBox="1"/>
          <p:nvPr/>
        </p:nvSpPr>
        <p:spPr>
          <a:xfrm>
            <a:off x="594360" y="2915919"/>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0">
                <a:solidFill>
                  <a:srgbClr val="484848"/>
                </a:solidFill>
                <a:latin typeface="JetBrains Mono"/>
              </a:rPr>
              <a:t>        ast_preprocessor=scf.ASTPreprocessor(),</a:t>
            </a:r>
          </a:p>
        </p:txBody>
      </p:sp>
      <p:sp>
        <p:nvSpPr>
          <p:cNvPr id="16" name="        compiler=execution_engine.Compiler(),"/>
          <p:cNvSpPr txBox="1"/>
          <p:nvPr/>
        </p:nvSpPr>
        <p:spPr>
          <a:xfrm>
            <a:off x="594360" y="3100425"/>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0">
                <a:solidFill>
                  <a:srgbClr val="484848"/>
                </a:solidFill>
                <a:latin typeface="JetBrains Mono"/>
              </a:rPr>
              <a:t>        compiler=execution_engine.Compiler(),</a:t>
            </a:r>
          </a:p>
        </p:txBody>
      </p:sp>
      <p:sp>
        <p:nvSpPr>
          <p:cNvPr id="17" name="        decorators=[gpu.Kernels()],"/>
          <p:cNvSpPr txBox="1"/>
          <p:nvPr/>
        </p:nvSpPr>
        <p:spPr>
          <a:xfrm>
            <a:off x="594360" y="3284931"/>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0">
                <a:solidFill>
                  <a:srgbClr val="484848"/>
                </a:solidFill>
                <a:latin typeface="JetBrains Mono"/>
              </a:rPr>
              <a:t>        decorators=[gpu.Kernels()],</a:t>
            </a:r>
          </a:p>
        </p:txBody>
      </p:sp>
      <p:sp>
        <p:nvSpPr>
          <p:cNvPr id="18" name="        adapters=[pytorch.PyTorchPlugin()],"/>
          <p:cNvSpPr txBox="1"/>
          <p:nvPr/>
        </p:nvSpPr>
        <p:spPr>
          <a:xfrm>
            <a:off x="594360" y="3469436"/>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0">
                <a:solidFill>
                  <a:srgbClr val="484848"/>
                </a:solidFill>
                <a:latin typeface="JetBrains Mono"/>
              </a:rPr>
              <a:t>        adapters=[pytorch.PyTorchPlugin()],</a:t>
            </a:r>
          </a:p>
        </p:txBody>
      </p:sp>
      <p:sp>
        <p:nvSpPr>
          <p:cNvPr id="19" name="    )"/>
          <p:cNvSpPr txBox="1"/>
          <p:nvPr/>
        </p:nvSpPr>
        <p:spPr>
          <a:xfrm>
            <a:off x="594360" y="3653942"/>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0">
                <a:solidFill>
                  <a:srgbClr val="484848"/>
                </a:solidFill>
                <a:latin typeface="JetBrains Mono"/>
              </a:rPr>
              <a:t>    )</a:t>
            </a:r>
          </a:p>
        </p:txBody>
      </p:sp>
      <p:sp>
        <p:nvSpPr>
          <p:cNvPr id="20" name="Select roles"/>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Select roles</a:t>
            </a:r>
          </a:p>
        </p:txBody>
      </p:sp>
      <p:sp>
        <p:nvSpPr>
          <p:cNvPr id="21" name="One implementation per role"/>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One implementation per role</a:t>
            </a:r>
          </a:p>
        </p:txBody>
      </p:sp>
      <p:sp>
        <p:nvSpPr>
          <p:cNvPr id="22" name="Extend families"/>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Extend families</a:t>
            </a:r>
          </a:p>
        </p:txBody>
      </p:sp>
      <p:sp>
        <p:nvSpPr>
          <p:cNvPr id="23" name="Any number of plugins"/>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Any number of plugins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Own the namespace and lowering"/>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Own the namespace and lowering</a:t>
            </a:r>
          </a:p>
        </p:txBody>
      </p:sp>
      <p:sp>
        <p:nvSpPr>
          <p:cNvPr id="5" name="42"/>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42</a:t>
            </a:r>
          </a:p>
        </p:txBody>
      </p:sp>
      <p:sp>
        <p:nvSpPr>
          <p:cNvPr id="6" name="mlir 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a:t>
            </a:r>
          </a:p>
        </p:txBody>
      </p:sp>
      <p:sp>
        <p:nvSpPr>
          <p:cNvPr id="7" name="Rectangle 6"/>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4023360" cy="365760"/>
          </a:xfrm>
          <a:prstGeom prst="rect">
            <a:avLst/>
          </a:prstGeom>
          <a:solidFill>
            <a:srgbClr val="76B900"/>
          </a:solidFill>
          <a:ln>
            <a:noFill/>
          </a:ln>
          <a:effectLst/>
        </p:spPr>
        <p:txBody>
          <a:bodyPr rtlCol="0" anchor="ctr"/>
          <a:lstStyle/>
          <a:p>
            <a:pPr algn="ctr"/>
          </a:p>
        </p:txBody>
      </p:sp>
      <p:sp>
        <p:nvSpPr>
          <p:cNvPr id="9" name="Downstream DSL · methods"/>
          <p:cNvSpPr txBox="1"/>
          <p:nvPr/>
        </p:nvSpPr>
        <p:spPr>
          <a:xfrm>
            <a:off x="594360" y="1604772"/>
            <a:ext cx="371246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Downstream DSL · methods</a:t>
            </a:r>
          </a:p>
        </p:txBody>
      </p:sp>
      <p:sp>
        <p:nvSpPr>
          <p:cNvPr id="10" name="def __init__(self):"/>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__init__(self):</a:t>
            </a:r>
          </a:p>
        </p:txBody>
      </p:sp>
      <p:sp>
        <p:nvSpPr>
          <p:cNvPr id="11" name="    super().__init__("/>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super().__init__(</a:t>
            </a:r>
          </a:p>
        </p:txBody>
      </p:sp>
      <p:sp>
        <p:nvSpPr>
          <p:cNvPr id="12" name="        name=&quot;MY_DSL&quot;,"/>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name="MY_DSL",</a:t>
            </a:r>
          </a:p>
        </p:txBody>
      </p:sp>
      <p:sp>
        <p:nvSpPr>
          <p:cNvPr id="13" name="        dsl_package_name=[&quot;mydsl&quot;],"/>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dsl_package_name=["mydsl"],</a:t>
            </a:r>
          </a:p>
        </p:txBody>
      </p:sp>
      <p:sp>
        <p:nvSpPr>
          <p:cNvPr id="14" name="        preprocess=True)"/>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preprocess=True)</a:t>
            </a:r>
          </a:p>
        </p:txBody>
      </p:sp>
      <p:sp>
        <p:nvSpPr>
          <p:cNvPr id="15" name=""/>
          <p:cNvSpPr txBox="1"/>
          <p:nvPr/>
        </p:nvSpPr>
        <p:spPr>
          <a:xfrm>
            <a:off x="594360" y="2911855"/>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16" name="def register_dialects(self, ctx):"/>
          <p:cNvSpPr txBox="1"/>
          <p:nvPr/>
        </p:nvSpPr>
        <p:spPr>
          <a:xfrm>
            <a:off x="594360" y="3095548"/>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register_dialects(self, ctx):</a:t>
            </a:r>
          </a:p>
        </p:txBody>
      </p:sp>
      <p:sp>
        <p:nvSpPr>
          <p:cNvPr id="17" name="    mydialect.register_dialect(ctx)"/>
          <p:cNvSpPr txBox="1"/>
          <p:nvPr/>
        </p:nvSpPr>
        <p:spPr>
          <a:xfrm>
            <a:off x="594360" y="327924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mydialect.register_dialect(ctx)</a:t>
            </a:r>
          </a:p>
        </p:txBody>
      </p:sp>
      <p:sp>
        <p:nvSpPr>
          <p:cNvPr id="18" name="Rectangle 17"/>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19" name="Rectangle 18"/>
          <p:cNvSpPr/>
          <p:nvPr/>
        </p:nvSpPr>
        <p:spPr>
          <a:xfrm>
            <a:off x="4663440" y="1508760"/>
            <a:ext cx="4041648" cy="365760"/>
          </a:xfrm>
          <a:prstGeom prst="rect">
            <a:avLst/>
          </a:prstGeom>
          <a:solidFill>
            <a:srgbClr val="76B900"/>
          </a:solidFill>
          <a:ln>
            <a:noFill/>
          </a:ln>
          <a:effectLst/>
        </p:spPr>
        <p:txBody>
          <a:bodyPr rtlCol="0" anchor="ctr"/>
          <a:lstStyle/>
          <a:p>
            <a:pPr algn="ctr"/>
          </a:p>
        </p:txBody>
      </p:sp>
      <p:sp>
        <p:nvSpPr>
          <p:cNvPr id="20" name="Downstream DSL · pipeline excerpt"/>
          <p:cNvSpPr txBox="1"/>
          <p:nvPr/>
        </p:nvSpPr>
        <p:spPr>
          <a:xfrm>
            <a:off x="4818888" y="1604772"/>
            <a:ext cx="3730752"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Downstream DSL · pipeline excerpt</a:t>
            </a:r>
          </a:p>
        </p:txBody>
      </p:sp>
      <p:sp>
        <p:nvSpPr>
          <p:cNvPr id="21" name="def pipeline(self):"/>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pipeline(self):</a:t>
            </a:r>
          </a:p>
        </p:txBody>
      </p:sp>
      <p:sp>
        <p:nvSpPr>
          <p:cNvPr id="22" name="    return ["/>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return [</a:t>
            </a:r>
          </a:p>
        </p:txBody>
      </p:sp>
      <p:sp>
        <p:nvSpPr>
          <p:cNvPr id="23" name="        &quot;convert-mydialect-to-llvm&quot;,"/>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"convert-mydialect-to-llvm",</a:t>
            </a:r>
          </a:p>
        </p:txBody>
      </p:sp>
      <p:sp>
        <p:nvSpPr>
          <p:cNvPr id="24" name="        &quot;convert-scf-to-cf&quot;,"/>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"convert-scf-to-cf",</a:t>
            </a:r>
          </a:p>
        </p:txBody>
      </p:sp>
      <p:sp>
        <p:nvSpPr>
          <p:cNvPr id="25" name="        &quot;convert-cf-to-llvm&quot;,"/>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"convert-cf-to-llvm",</a:t>
            </a:r>
          </a:p>
        </p:txBody>
      </p:sp>
      <p:sp>
        <p:nvSpPr>
          <p:cNvPr id="26" name="        &quot;convert-arith-to-llvm&quot;,"/>
          <p:cNvSpPr txBox="1"/>
          <p:nvPr/>
        </p:nvSpPr>
        <p:spPr>
          <a:xfrm>
            <a:off x="4818888" y="2911855"/>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"convert-arith-to-llvm",</a:t>
            </a:r>
          </a:p>
        </p:txBody>
      </p:sp>
      <p:sp>
        <p:nvSpPr>
          <p:cNvPr id="27" name="        &quot;convert-func-to-llvm&quot;,"/>
          <p:cNvSpPr txBox="1"/>
          <p:nvPr/>
        </p:nvSpPr>
        <p:spPr>
          <a:xfrm>
            <a:off x="4818888" y="3095548"/>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"convert-func-to-llvm",</a:t>
            </a:r>
          </a:p>
        </p:txBody>
      </p:sp>
      <p:sp>
        <p:nvSpPr>
          <p:cNvPr id="28" name="        &quot;reconcile-unrealized-casts&quot;,"/>
          <p:cNvSpPr txBox="1"/>
          <p:nvPr/>
        </p:nvSpPr>
        <p:spPr>
          <a:xfrm>
            <a:off x="4818888" y="327924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"reconcile-unrealized-casts",</a:t>
            </a:r>
          </a:p>
        </p:txBody>
      </p:sp>
      <p:sp>
        <p:nvSpPr>
          <p:cNvPr id="29" name="    ]"/>
          <p:cNvSpPr txBox="1"/>
          <p:nvPr/>
        </p:nvSpPr>
        <p:spPr>
          <a:xfrm>
            <a:off x="4818888" y="346293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Reuse a composition; change one field"/>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Reuse a composition; change one field</a:t>
            </a:r>
          </a:p>
        </p:txBody>
      </p:sp>
      <p:sp>
        <p:nvSpPr>
          <p:cNvPr id="5" name="43"/>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43</a:t>
            </a:r>
          </a:p>
        </p:txBody>
      </p:sp>
      <p:sp>
        <p:nvSpPr>
          <p:cNvPr id="6" name="mlir 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Python · implementation excerpt"/>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Python · implementation excerpt</a:t>
            </a:r>
          </a:p>
        </p:txBody>
      </p:sp>
      <p:sp>
        <p:nvSpPr>
          <p:cNvPr id="10" name="from dataclasses import replace"/>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from dataclasses import replace</a:t>
            </a:r>
          </a:p>
        </p:txBody>
      </p:sp>
      <p:sp>
        <p:nvSpPr>
          <p:cNvPr id="11" name=""/>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2" name="class CpuOnly(m.MlirTestDSL):"/>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class CpuOnly(m.MlirTestDSL):</a:t>
            </a:r>
          </a:p>
        </p:txBody>
      </p:sp>
      <p:sp>
        <p:nvSpPr>
          <p:cNvPr id="13" name="    plugins = replace("/>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plugins = replace(</a:t>
            </a:r>
          </a:p>
        </p:txBody>
      </p:sp>
      <p:sp>
        <p:nvSpPr>
          <p:cNvPr id="14" name="        m.MlirTestDSL.plugins,"/>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m.MlirTestDSL.plugins,</a:t>
            </a:r>
          </a:p>
        </p:txBody>
      </p:sp>
      <p:sp>
        <p:nvSpPr>
          <p:cNvPr id="15" name="        decorators=(),"/>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decorators=(),</a:t>
            </a:r>
          </a:p>
        </p:txBody>
      </p:sp>
      <p:sp>
        <p:nvSpPr>
          <p:cNvPr id="16" name="        adapters=(),"/>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adapters=(),</a:t>
            </a:r>
          </a:p>
        </p:txBody>
      </p:sp>
      <p:sp>
        <p:nvSpPr>
          <p:cNvPr id="17" name="    )"/>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t>
            </a:r>
          </a:p>
        </p:txBody>
      </p:sp>
      <p:sp>
        <p:nvSpPr>
          <p:cNvPr id="18" name="Keep the roles"/>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Keep the roles</a:t>
            </a:r>
          </a:p>
        </p:txBody>
      </p:sp>
      <p:sp>
        <p:nvSpPr>
          <p:cNvPr id="19" name="Types · entry · AST · compiler"/>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Types · entry · AST · compiler</a:t>
            </a:r>
          </a:p>
        </p:txBody>
      </p:sp>
      <p:sp>
        <p:nvSpPr>
          <p:cNvPr id="20" name="Change the families"/>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Change the families</a:t>
            </a:r>
          </a:p>
        </p:txBody>
      </p:sp>
      <p:sp>
        <p:nvSpPr>
          <p:cNvPr id="21" name="Drop GPU + optional adapters"/>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Drop GPU + optional adapters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Every plugin has a small shared lifecycle"/>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Every plugin has a small shared lifecycle</a:t>
            </a:r>
          </a:p>
        </p:txBody>
      </p:sp>
      <p:sp>
        <p:nvSpPr>
          <p:cNvPr id="5" name="44"/>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44</a:t>
            </a:r>
          </a:p>
        </p:txBody>
      </p:sp>
      <p:sp>
        <p:nvSpPr>
          <p:cNvPr id="6" name="mlir 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a:t>
            </a:r>
          </a:p>
        </p:txBody>
      </p:sp>
      <p:sp>
        <p:nvSpPr>
          <p:cNvPr id="7" name="Rectangle 6"/>
          <p:cNvSpPr/>
          <p:nvPr/>
        </p:nvSpPr>
        <p:spPr>
          <a:xfrm>
            <a:off x="438912" y="1517904"/>
            <a:ext cx="8266175" cy="438912"/>
          </a:xfrm>
          <a:prstGeom prst="rect">
            <a:avLst/>
          </a:prstGeom>
          <a:solidFill>
            <a:srgbClr val="E4F0D0"/>
          </a:solidFill>
          <a:ln>
            <a:noFill/>
          </a:ln>
          <a:effectLst/>
        </p:spPr>
        <p:txBody>
          <a:bodyPr rtlCol="0" anchor="ctr"/>
          <a:lstStyle/>
          <a:p>
            <a:pPr algn="ctr"/>
          </a:p>
        </p:txBody>
      </p:sp>
      <p:sp>
        <p:nvSpPr>
          <p:cNvPr id="8" name="Shared hook"/>
          <p:cNvSpPr txBox="1"/>
          <p:nvPr/>
        </p:nvSpPr>
        <p:spPr>
          <a:xfrm>
            <a:off x="576072" y="1618488"/>
            <a:ext cx="2505456"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Shared hook</a:t>
            </a:r>
          </a:p>
        </p:txBody>
      </p:sp>
      <p:sp>
        <p:nvSpPr>
          <p:cNvPr id="9" name="Meaning"/>
          <p:cNvSpPr txBox="1"/>
          <p:nvPr/>
        </p:nvSpPr>
        <p:spPr>
          <a:xfrm>
            <a:off x="3355848" y="1618488"/>
            <a:ext cx="5212080"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Meaning</a:t>
            </a:r>
          </a:p>
        </p:txBody>
      </p:sp>
      <p:sp>
        <p:nvSpPr>
          <p:cNvPr id="10" name="Rectangle 9"/>
          <p:cNvSpPr/>
          <p:nvPr/>
        </p:nvSpPr>
        <p:spPr>
          <a:xfrm>
            <a:off x="438912" y="1956816"/>
            <a:ext cx="8266175" cy="534924"/>
          </a:xfrm>
          <a:prstGeom prst="rect">
            <a:avLst/>
          </a:prstGeom>
          <a:solidFill>
            <a:srgbClr val="F7F7F7"/>
          </a:solidFill>
          <a:ln>
            <a:noFill/>
          </a:ln>
          <a:effectLst/>
        </p:spPr>
        <p:txBody>
          <a:bodyPr rtlCol="0" anchor="ctr"/>
          <a:lstStyle/>
          <a:p>
            <a:pPr algn="ctr"/>
          </a:p>
        </p:txBody>
      </p:sp>
      <p:sp>
        <p:nvSpPr>
          <p:cNvPr id="11" name="available()"/>
          <p:cNvSpPr txBox="1"/>
          <p:nvPr/>
        </p:nvSpPr>
        <p:spPr>
          <a:xfrm>
            <a:off x="576072" y="2075688"/>
            <a:ext cx="2505456"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available()</a:t>
            </a:r>
          </a:p>
        </p:txBody>
      </p:sp>
      <p:sp>
        <p:nvSpPr>
          <p:cNvPr id="12" name="Probe optional support"/>
          <p:cNvSpPr txBox="1"/>
          <p:nvPr/>
        </p:nvSpPr>
        <p:spPr>
          <a:xfrm>
            <a:off x="3355848" y="2075688"/>
            <a:ext cx="521208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Probe optional support</a:t>
            </a:r>
          </a:p>
        </p:txBody>
      </p:sp>
      <p:sp>
        <p:nvSpPr>
          <p:cNvPr id="13" name="Rectangle 12"/>
          <p:cNvSpPr/>
          <p:nvPr/>
        </p:nvSpPr>
        <p:spPr>
          <a:xfrm>
            <a:off x="438912" y="2491740"/>
            <a:ext cx="8266175" cy="534924"/>
          </a:xfrm>
          <a:prstGeom prst="rect">
            <a:avLst/>
          </a:prstGeom>
          <a:solidFill>
            <a:srgbClr val="FFFFFF"/>
          </a:solidFill>
          <a:ln>
            <a:noFill/>
          </a:ln>
          <a:effectLst/>
        </p:spPr>
        <p:txBody>
          <a:bodyPr rtlCol="0" anchor="ctr"/>
          <a:lstStyle/>
          <a:p>
            <a:pPr algn="ctr"/>
          </a:p>
        </p:txBody>
      </p:sp>
      <p:sp>
        <p:nvSpPr>
          <p:cNvPr id="14" name="install(dsl)"/>
          <p:cNvSpPr txBox="1"/>
          <p:nvPr/>
        </p:nvSpPr>
        <p:spPr>
          <a:xfrm>
            <a:off x="576072" y="2610612"/>
            <a:ext cx="2505456"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install(dsl)</a:t>
            </a:r>
          </a:p>
        </p:txBody>
      </p:sp>
      <p:sp>
        <p:nvSpPr>
          <p:cNvPr id="15" name="Bind this instance"/>
          <p:cNvSpPr txBox="1"/>
          <p:nvPr/>
        </p:nvSpPr>
        <p:spPr>
          <a:xfrm>
            <a:off x="3355848" y="2610612"/>
            <a:ext cx="521208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Bind this instance</a:t>
            </a:r>
          </a:p>
        </p:txBody>
      </p:sp>
      <p:sp>
        <p:nvSpPr>
          <p:cNvPr id="16" name="Rectangle 15"/>
          <p:cNvSpPr/>
          <p:nvPr/>
        </p:nvSpPr>
        <p:spPr>
          <a:xfrm>
            <a:off x="438912" y="3026664"/>
            <a:ext cx="8266175" cy="534924"/>
          </a:xfrm>
          <a:prstGeom prst="rect">
            <a:avLst/>
          </a:prstGeom>
          <a:solidFill>
            <a:srgbClr val="F7F7F7"/>
          </a:solidFill>
          <a:ln>
            <a:noFill/>
          </a:ln>
          <a:effectLst/>
        </p:spPr>
        <p:txBody>
          <a:bodyPr rtlCol="0" anchor="ctr"/>
          <a:lstStyle/>
          <a:p>
            <a:pPr algn="ctr"/>
          </a:p>
        </p:txBody>
      </p:sp>
      <p:sp>
        <p:nvSpPr>
          <p:cNvPr id="17" name="register_dialects(ctx)"/>
          <p:cNvSpPr txBox="1"/>
          <p:nvPr/>
        </p:nvSpPr>
        <p:spPr>
          <a:xfrm>
            <a:off x="576072" y="3145536"/>
            <a:ext cx="2505456"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register_dialects(ctx)</a:t>
            </a:r>
          </a:p>
        </p:txBody>
      </p:sp>
      <p:sp>
        <p:nvSpPr>
          <p:cNvPr id="18" name="Register owned dialects"/>
          <p:cNvSpPr txBox="1"/>
          <p:nvPr/>
        </p:nvSpPr>
        <p:spPr>
          <a:xfrm>
            <a:off x="3355848" y="3145536"/>
            <a:ext cx="521208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Register owned dialects</a:t>
            </a:r>
          </a:p>
        </p:txBody>
      </p:sp>
      <p:sp>
        <p:nvSpPr>
          <p:cNvPr id="19" name="Rectangle 18"/>
          <p:cNvSpPr/>
          <p:nvPr/>
        </p:nvSpPr>
        <p:spPr>
          <a:xfrm>
            <a:off x="438912" y="3561588"/>
            <a:ext cx="8266175" cy="534924"/>
          </a:xfrm>
          <a:prstGeom prst="rect">
            <a:avLst/>
          </a:prstGeom>
          <a:solidFill>
            <a:srgbClr val="FFFFFF"/>
          </a:solidFill>
          <a:ln>
            <a:noFill/>
          </a:ln>
          <a:effectLst/>
        </p:spPr>
        <p:txBody>
          <a:bodyPr rtlCol="0" anchor="ctr"/>
          <a:lstStyle/>
          <a:p>
            <a:pPr algn="ctr"/>
          </a:p>
        </p:txBody>
      </p:sp>
      <p:sp>
        <p:nvSpPr>
          <p:cNvPr id="20" name="shared_libs()"/>
          <p:cNvSpPr txBox="1"/>
          <p:nvPr/>
        </p:nvSpPr>
        <p:spPr>
          <a:xfrm>
            <a:off x="576072" y="3680460"/>
            <a:ext cx="2505456"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shared_libs()</a:t>
            </a:r>
          </a:p>
        </p:txBody>
      </p:sp>
      <p:sp>
        <p:nvSpPr>
          <p:cNvPr id="21" name="Provide runtime libraries"/>
          <p:cNvSpPr txBox="1"/>
          <p:nvPr/>
        </p:nvSpPr>
        <p:spPr>
          <a:xfrm>
            <a:off x="3355848" y="3680460"/>
            <a:ext cx="521208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Provide runtime libraries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One program: Python recipe + staged loop"/>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One program: Python recipe + staged loop</a:t>
            </a:r>
          </a:p>
        </p:txBody>
      </p:sp>
      <p:sp>
        <p:nvSpPr>
          <p:cNvPr id="5" name="45"/>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45</a:t>
            </a:r>
          </a:p>
        </p:txBody>
      </p:sp>
      <p:sp>
        <p:nvSpPr>
          <p:cNvPr id="6" name="Worked examples"/>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Worked examples</a:t>
            </a:r>
          </a:p>
        </p:txBody>
      </p:sp>
      <p:sp>
        <p:nvSpPr>
          <p:cNvPr id="7" name="Staged array loop · Meta recipe loop"/>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Staged array loop · Meta recipe loop</a:t>
            </a:r>
          </a:p>
        </p:txBody>
      </p:sp>
      <p:sp>
        <p:nvSpPr>
          <p:cNvPr id="8" name="Rectangle 7"/>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9" name="Rectangle 8"/>
          <p:cNvSpPr/>
          <p:nvPr/>
        </p:nvSpPr>
        <p:spPr>
          <a:xfrm>
            <a:off x="438912" y="1508760"/>
            <a:ext cx="4023360" cy="365760"/>
          </a:xfrm>
          <a:prstGeom prst="rect">
            <a:avLst/>
          </a:prstGeom>
          <a:solidFill>
            <a:srgbClr val="76B900"/>
          </a:solidFill>
          <a:ln>
            <a:noFill/>
          </a:ln>
          <a:effectLst/>
        </p:spPr>
        <p:txBody>
          <a:bodyPr rtlCol="0" anchor="ctr"/>
          <a:lstStyle/>
          <a:p>
            <a:pPr algn="ctr"/>
          </a:p>
        </p:txBody>
      </p:sp>
      <p:sp>
        <p:nvSpPr>
          <p:cNvPr id="10" name="Python · executed"/>
          <p:cNvSpPr txBox="1"/>
          <p:nvPr/>
        </p:nvSpPr>
        <p:spPr>
          <a:xfrm>
            <a:off x="594360" y="1604772"/>
            <a:ext cx="371246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Python · executed</a:t>
            </a:r>
          </a:p>
        </p:txBody>
      </p:sp>
      <p:sp>
        <p:nvSpPr>
          <p:cNvPr id="11" name="@m.jit"/>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16600"/>
                </a:solidFill>
                <a:latin typeface="JetBrains Mono"/>
              </a:rPr>
              <a:t>@m.jit</a:t>
            </a:r>
          </a:p>
        </p:txBody>
      </p:sp>
      <p:sp>
        <p:nvSpPr>
          <p:cNvPr id="12" name="def fused(arr: m.Pointer[m.Float32],"/>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fused(arr: m.Pointer[m.Float32],</a:t>
            </a:r>
          </a:p>
        </p:txBody>
      </p:sp>
      <p:sp>
        <p:nvSpPr>
          <p:cNvPr id="13" name="          ops):"/>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ops):</a:t>
            </a:r>
          </a:p>
        </p:txBody>
      </p:sp>
      <p:sp>
        <p:nvSpPr>
          <p:cNvPr id="14" name="    for i in m.range(4):"/>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for i in m.range(4):</a:t>
            </a:r>
          </a:p>
        </p:txBody>
      </p:sp>
      <p:sp>
        <p:nvSpPr>
          <p:cNvPr id="15" name="        x = arr[i]"/>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x = arr[i]</a:t>
            </a:r>
          </a:p>
        </p:txBody>
      </p:sp>
      <p:sp>
        <p:nvSpPr>
          <p:cNvPr id="16" name="        for op in ops.values():"/>
          <p:cNvSpPr txBox="1"/>
          <p:nvPr/>
        </p:nvSpPr>
        <p:spPr>
          <a:xfrm>
            <a:off x="594360" y="2911855"/>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for op in ops.values():</a:t>
            </a:r>
          </a:p>
        </p:txBody>
      </p:sp>
      <p:sp>
        <p:nvSpPr>
          <p:cNvPr id="17" name="            x = op.apply(x)"/>
          <p:cNvSpPr txBox="1"/>
          <p:nvPr/>
        </p:nvSpPr>
        <p:spPr>
          <a:xfrm>
            <a:off x="594360" y="3095548"/>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x = op.apply(x)</a:t>
            </a:r>
          </a:p>
        </p:txBody>
      </p:sp>
      <p:sp>
        <p:nvSpPr>
          <p:cNvPr id="18" name="        arr[i] = x"/>
          <p:cNvSpPr txBox="1"/>
          <p:nvPr/>
        </p:nvSpPr>
        <p:spPr>
          <a:xfrm>
            <a:off x="594360" y="327924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arr[i] = x</a:t>
            </a:r>
          </a:p>
        </p:txBody>
      </p:sp>
      <p:sp>
        <p:nvSpPr>
          <p:cNvPr id="19" name=""/>
          <p:cNvSpPr txBox="1"/>
          <p:nvPr/>
        </p:nvSpPr>
        <p:spPr>
          <a:xfrm>
            <a:off x="594360" y="346293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20" name="# [0, 1, 2, 3] -&gt; [6, 9, 12, 15]"/>
          <p:cNvSpPr txBox="1"/>
          <p:nvPr/>
        </p:nvSpPr>
        <p:spPr>
          <a:xfrm>
            <a:off x="594360" y="364662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[0, 1, 2, 3] -&gt; [6, 9, 12, 15]</a:t>
            </a:r>
          </a:p>
        </p:txBody>
      </p:sp>
      <p:sp>
        <p:nvSpPr>
          <p:cNvPr id="21" name="Rectangle 20"/>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22" name="Rectangle 21"/>
          <p:cNvSpPr/>
          <p:nvPr/>
        </p:nvSpPr>
        <p:spPr>
          <a:xfrm>
            <a:off x="4663440" y="1508760"/>
            <a:ext cx="4041648" cy="365760"/>
          </a:xfrm>
          <a:prstGeom prst="rect">
            <a:avLst/>
          </a:prstGeom>
          <a:solidFill>
            <a:srgbClr val="76B900"/>
          </a:solidFill>
          <a:ln>
            <a:noFill/>
          </a:ln>
          <a:effectLst/>
        </p:spPr>
        <p:txBody>
          <a:bodyPr rtlCol="0" anchor="ctr"/>
          <a:lstStyle/>
          <a:p>
            <a:pPr algn="ctr"/>
          </a:p>
        </p:txBody>
      </p:sp>
      <p:sp>
        <p:nvSpPr>
          <p:cNvPr id="23" name="MLIR · loop body"/>
          <p:cNvSpPr txBox="1"/>
          <p:nvPr/>
        </p:nvSpPr>
        <p:spPr>
          <a:xfrm>
            <a:off x="4818888" y="1604772"/>
            <a:ext cx="3730752"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MLIR · loop body</a:t>
            </a:r>
          </a:p>
        </p:txBody>
      </p:sp>
      <p:sp>
        <p:nvSpPr>
          <p:cNvPr id="24" name="%p = llvm.getelementptr %arr[%i]"/>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%p = llvm.getelementptr %arr[%i]</a:t>
            </a:r>
          </a:p>
        </p:txBody>
      </p:sp>
      <p:sp>
        <p:nvSpPr>
          <p:cNvPr id="25" name="    : (!llvm.ptr, i32) -&gt; !llvm.ptr, f32"/>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 (!llvm.ptr, i32) -&gt; !llvm.ptr, f32</a:t>
            </a:r>
          </a:p>
        </p:txBody>
      </p:sp>
      <p:sp>
        <p:nvSpPr>
          <p:cNvPr id="26" name="%x = llvm.load %p : !llvm.ptr -&gt; f32"/>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%x = llvm.load %p : !llvm.ptr -&gt; f32</a:t>
            </a:r>
          </a:p>
        </p:txBody>
      </p:sp>
      <p:sp>
        <p:nvSpPr>
          <p:cNvPr id="27" name="%a = arith.addf %x, %two : f32"/>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%a = arith.addf %x, %two : f32</a:t>
            </a:r>
          </a:p>
        </p:txBody>
      </p:sp>
      <p:sp>
        <p:nvSpPr>
          <p:cNvPr id="28" name="%r = arith.mulf %a, %three : f32"/>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%r = arith.mulf %a, %three : f32</a:t>
            </a:r>
          </a:p>
        </p:txBody>
      </p:sp>
      <p:sp>
        <p:nvSpPr>
          <p:cNvPr id="29" name="llvm.store %r, %p : f32, !llvm.ptr"/>
          <p:cNvSpPr txBox="1"/>
          <p:nvPr/>
        </p:nvSpPr>
        <p:spPr>
          <a:xfrm>
            <a:off x="4818888" y="2911855"/>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llvm.store %r, %p : f32, !llvm.ptr</a:t>
            </a:r>
          </a:p>
        </p:txBody>
      </p:sp>
      <p:sp>
        <p:nvSpPr>
          <p:cNvPr id="30" name="scf.yield"/>
          <p:cNvSpPr txBox="1"/>
          <p:nvPr/>
        </p:nvSpPr>
        <p:spPr>
          <a:xfrm>
            <a:off x="4818888" y="3095548"/>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16600"/>
                </a:solidFill>
                <a:latin typeface="JetBrains Mono"/>
              </a:rPr>
              <a:t>scf.yield</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46"/>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46</a:t>
            </a:r>
          </a:p>
        </p:txBody>
      </p:sp>
      <p:sp>
        <p:nvSpPr>
          <p:cNvPr id="5" name="AMIR TAVAKKOLI"/>
          <p:cNvSpPr txBox="1"/>
          <p:nvPr/>
        </p:nvSpPr>
        <p:spPr>
          <a:xfrm>
            <a:off x="475488" y="658368"/>
            <a:ext cx="8183879" cy="320040"/>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416600"/>
                </a:solidFill>
                <a:latin typeface="NVIDIA Sans"/>
              </a:rPr>
              <a:t>AMIR TAVAKKOLI</a:t>
            </a:r>
          </a:p>
        </p:txBody>
      </p:sp>
      <p:sp>
        <p:nvSpPr>
          <p:cNvPr id="6" name="From loop carries to richer mutation"/>
          <p:cNvSpPr txBox="1"/>
          <p:nvPr/>
        </p:nvSpPr>
        <p:spPr>
          <a:xfrm>
            <a:off x="448056" y="1627632"/>
            <a:ext cx="8229600" cy="1234440"/>
          </a:xfrm>
          <a:prstGeom prst="rect">
            <a:avLst/>
          </a:prstGeom>
          <a:noFill/>
        </p:spPr>
        <p:txBody>
          <a:bodyPr wrap="none" anchor="t" lIns="0" rIns="0" tIns="0" bIns="0">
            <a:noAutofit/>
          </a:bodyPr>
          <a:lstStyle/>
          <a:p>
            <a:pPr algn="l">
              <a:lnSpc>
                <a:spcPts val="3247"/>
              </a:lnSpc>
              <a:spcBef>
                <a:spcPts val="0"/>
              </a:spcBef>
              <a:spcAft>
                <a:spcPts val="0"/>
              </a:spcAft>
            </a:pPr>
            <a:r>
              <a:rPr sz="2800" b="0">
                <a:solidFill>
                  <a:srgbClr val="000000"/>
                </a:solidFill>
                <a:latin typeface="NVIDIA Sans Light"/>
              </a:rPr>
              <a:t>From loop carries to richer mutation</a:t>
            </a:r>
          </a:p>
        </p:txBody>
      </p:sp>
      <p:sp>
        <p:nvSpPr>
          <p:cNvPr id="7" name="Aliasing · mutable state · PyIR"/>
          <p:cNvSpPr txBox="1"/>
          <p:nvPr/>
        </p:nvSpPr>
        <p:spPr>
          <a:xfrm>
            <a:off x="475488" y="3118104"/>
            <a:ext cx="8193024" cy="804672"/>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616161"/>
                </a:solidFill>
                <a:latin typeface="NVIDIA Sans"/>
              </a:rPr>
              <a:t>Aliasing · mutable state · PyIR</a:t>
            </a:r>
          </a:p>
        </p:txBody>
      </p:sp>
      <p:sp>
        <p:nvSpPr>
          <p:cNvPr id="8" name="Rectangle 7"/>
          <p:cNvSpPr/>
          <p:nvPr/>
        </p:nvSpPr>
        <p:spPr>
          <a:xfrm>
            <a:off x="475488" y="4169663"/>
            <a:ext cx="438912" cy="54864"/>
          </a:xfrm>
          <a:prstGeom prst="rect">
            <a:avLst/>
          </a:prstGeom>
          <a:solidFill>
            <a:srgbClr val="76B900"/>
          </a:solidFill>
          <a:ln>
            <a:noFill/>
          </a:ln>
          <a:effectLst/>
        </p:spPr>
        <p:txBody>
          <a:bodyPr rtlCol="0" anchor="ctr"/>
          <a:lstStyle/>
          <a:p>
            <a:pPr algn="ctr"/>
          </a:p>
        </p:txBody>
      </p:sp>
      <p:sp>
        <p:nvSpPr>
          <p:cNvPr id="9" name="Amir’s section"/>
          <p:cNvSpPr txBox="1"/>
          <p:nvPr/>
        </p:nvSpPr>
        <p:spPr>
          <a:xfrm>
            <a:off x="1051560" y="4087368"/>
            <a:ext cx="7315200" cy="365760"/>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416600"/>
                </a:solidFill>
                <a:latin typeface="NVIDIA Sans"/>
              </a:rPr>
              <a:t>Amir’s section</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47"/>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47</a:t>
            </a:r>
          </a:p>
        </p:txBody>
      </p:sp>
      <p:sp>
        <p:nvSpPr>
          <p:cNvPr id="5" name="AMIR TAVAKKOLI"/>
          <p:cNvSpPr txBox="1"/>
          <p:nvPr/>
        </p:nvSpPr>
        <p:spPr>
          <a:xfrm>
            <a:off x="475488" y="658368"/>
            <a:ext cx="8183879" cy="320040"/>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416600"/>
                </a:solidFill>
                <a:latin typeface="NVIDIA Sans"/>
              </a:rPr>
              <a:t>AMIR TAVAKKOLI</a:t>
            </a:r>
          </a:p>
        </p:txBody>
      </p:sp>
      <p:sp>
        <p:nvSpPr>
          <p:cNvPr id="6" name="Advanced mutation tracking"/>
          <p:cNvSpPr txBox="1"/>
          <p:nvPr/>
        </p:nvSpPr>
        <p:spPr>
          <a:xfrm>
            <a:off x="448056" y="1627632"/>
            <a:ext cx="8229600" cy="1234440"/>
          </a:xfrm>
          <a:prstGeom prst="rect">
            <a:avLst/>
          </a:prstGeom>
          <a:noFill/>
        </p:spPr>
        <p:txBody>
          <a:bodyPr wrap="none" anchor="t" lIns="0" rIns="0" tIns="0" bIns="0">
            <a:noAutofit/>
          </a:bodyPr>
          <a:lstStyle/>
          <a:p>
            <a:pPr algn="l">
              <a:lnSpc>
                <a:spcPts val="3247"/>
              </a:lnSpc>
              <a:spcBef>
                <a:spcPts val="0"/>
              </a:spcBef>
              <a:spcAft>
                <a:spcPts val="0"/>
              </a:spcAft>
            </a:pPr>
            <a:r>
              <a:rPr sz="2800" b="0">
                <a:solidFill>
                  <a:srgbClr val="000000"/>
                </a:solidFill>
                <a:latin typeface="NVIDIA Sans Light"/>
              </a:rPr>
              <a:t>Advanced mutation tracking</a:t>
            </a:r>
          </a:p>
        </p:txBody>
      </p:sp>
      <p:sp>
        <p:nvSpPr>
          <p:cNvPr id="7" name="Amir supplies this section."/>
          <p:cNvSpPr txBox="1"/>
          <p:nvPr/>
        </p:nvSpPr>
        <p:spPr>
          <a:xfrm>
            <a:off x="475488" y="3118104"/>
            <a:ext cx="8193024" cy="804672"/>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616161"/>
                </a:solidFill>
                <a:latin typeface="NVIDIA Sans"/>
              </a:rPr>
              <a:t>Amir supplies this section.</a:t>
            </a:r>
          </a:p>
        </p:txBody>
      </p:sp>
      <p:sp>
        <p:nvSpPr>
          <p:cNvPr id="8" name="Rectangle 7"/>
          <p:cNvSpPr/>
          <p:nvPr/>
        </p:nvSpPr>
        <p:spPr>
          <a:xfrm>
            <a:off x="475488" y="4169663"/>
            <a:ext cx="438912" cy="54864"/>
          </a:xfrm>
          <a:prstGeom prst="rect">
            <a:avLst/>
          </a:prstGeom>
          <a:solidFill>
            <a:srgbClr val="76B900"/>
          </a:solidFill>
          <a:ln>
            <a:noFill/>
          </a:ln>
          <a:effectLst/>
        </p:spPr>
        <p:txBody>
          <a:bodyPr rtlCol="0" anchor="ctr"/>
          <a:lstStyle/>
          <a:p>
            <a:pPr algn="ctr"/>
          </a:p>
        </p:txBody>
      </p:sp>
      <p:sp>
        <p:nvSpPr>
          <p:cNvPr id="9" name="Return to Guray for a target example."/>
          <p:cNvSpPr txBox="1"/>
          <p:nvPr/>
        </p:nvSpPr>
        <p:spPr>
          <a:xfrm>
            <a:off x="1051560" y="4087368"/>
            <a:ext cx="7315200" cy="365760"/>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416600"/>
                </a:solidFill>
                <a:latin typeface="NVIDIA Sans"/>
              </a:rPr>
              <a:t>Return to Guray for a target example.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Tile IR: choose target implementation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Tile IR: choose target implementations</a:t>
            </a:r>
          </a:p>
        </p:txBody>
      </p:sp>
      <p:sp>
        <p:nvSpPr>
          <p:cNvPr id="5" name="48"/>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48</a:t>
            </a:r>
          </a:p>
        </p:txBody>
      </p:sp>
      <p:sp>
        <p:nvSpPr>
          <p:cNvPr id="6" name="Tile IR"/>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Tile IR</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Downstream port sketch · proposed API"/>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Downstream port sketch · proposed API</a:t>
            </a:r>
          </a:p>
        </p:txBody>
      </p:sp>
      <p:sp>
        <p:nvSpPr>
          <p:cNvPr id="10" name="class TileDSL(BaseDSL):"/>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class TileDSL(BaseDSL):</a:t>
            </a:r>
          </a:p>
        </p:txBody>
      </p:sp>
      <p:sp>
        <p:nvSpPr>
          <p:cNvPr id="11" name="    plugins = Plugins("/>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plugins = Plugins(</a:t>
            </a:r>
          </a:p>
        </p:txBody>
      </p:sp>
      <p:sp>
        <p:nvSpPr>
          <p:cNvPr id="12" name="        type_ops=tile.TypeOps(),"/>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type_ops=tile.TypeOps(),</a:t>
            </a:r>
          </a:p>
        </p:txBody>
      </p:sp>
      <p:sp>
        <p:nvSpPr>
          <p:cNvPr id="13" name="        func_entry=tile.Entry(),"/>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func_entry=tile.Entry(),</a:t>
            </a:r>
          </a:p>
        </p:txBody>
      </p:sp>
      <p:sp>
        <p:nvSpPr>
          <p:cNvPr id="14" name="        ast_preprocessor=tile.ASTPreprocessor(),"/>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ast_preprocessor=tile.ASTPreprocessor(),</a:t>
            </a:r>
          </a:p>
        </p:txBody>
      </p:sp>
      <p:sp>
        <p:nvSpPr>
          <p:cNvPr id="15" name="        compiler=tile.Compiler(),"/>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compiler=tile.Compiler(),</a:t>
            </a:r>
          </a:p>
        </p:txBody>
      </p:sp>
      <p:sp>
        <p:nvSpPr>
          <p:cNvPr id="16" name="        decorators=[tile.Kernels()],"/>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decorators=[tile.Kernels()],</a:t>
            </a:r>
          </a:p>
        </p:txBody>
      </p:sp>
      <p:sp>
        <p:nvSpPr>
          <p:cNvPr id="17" name="        adapters=[dlpack.DlpackPlugin()],"/>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adapters=[dlpack.DlpackPlugin()],</a:t>
            </a:r>
          </a:p>
        </p:txBody>
      </p:sp>
      <p:sp>
        <p:nvSpPr>
          <p:cNvPr id="18" name="    )"/>
          <p:cNvSpPr txBox="1"/>
          <p:nvPr/>
        </p:nvSpPr>
        <p:spPr>
          <a:xfrm>
            <a:off x="594360" y="3501948"/>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t>
            </a:r>
          </a:p>
        </p:txBody>
      </p:sp>
      <p:sp>
        <p:nvSpPr>
          <p:cNvPr id="19" name="Replace target roles"/>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Replace target roles</a:t>
            </a:r>
          </a:p>
        </p:txBody>
      </p:sp>
      <p:sp>
        <p:nvSpPr>
          <p:cNvPr id="20" name="Types · entry · capture · compiler"/>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Types · entry · capture · compiler</a:t>
            </a:r>
          </a:p>
        </p:txBody>
      </p:sp>
      <p:sp>
        <p:nvSpPr>
          <p:cNvPr id="21" name="Reuse infrastructure"/>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Reuse infrastructure</a:t>
            </a:r>
          </a:p>
        </p:txBody>
      </p:sp>
      <p:sp>
        <p:nvSpPr>
          <p:cNvPr id="22" name="Cache · diagnostics · adapters"/>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Cache · diagnostics · adapters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Tile IR: one type-ops role"/>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Tile IR: one type-ops role</a:t>
            </a:r>
          </a:p>
        </p:txBody>
      </p:sp>
      <p:sp>
        <p:nvSpPr>
          <p:cNvPr id="5" name="49"/>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49</a:t>
            </a:r>
          </a:p>
        </p:txBody>
      </p:sp>
      <p:sp>
        <p:nvSpPr>
          <p:cNvPr id="6" name="Tile IR"/>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Tile IR</a:t>
            </a:r>
          </a:p>
        </p:txBody>
      </p:sp>
      <p:sp>
        <p:nvSpPr>
          <p:cNvPr id="7" name="Rectangle 6"/>
          <p:cNvSpPr/>
          <p:nvPr/>
        </p:nvSpPr>
        <p:spPr>
          <a:xfrm>
            <a:off x="438912" y="1517904"/>
            <a:ext cx="8266175" cy="438912"/>
          </a:xfrm>
          <a:prstGeom prst="rect">
            <a:avLst/>
          </a:prstGeom>
          <a:solidFill>
            <a:srgbClr val="E4F0D0"/>
          </a:solidFill>
          <a:ln>
            <a:noFill/>
          </a:ln>
          <a:effectLst/>
        </p:spPr>
        <p:txBody>
          <a:bodyPr rtlCol="0" anchor="ctr"/>
          <a:lstStyle/>
          <a:p>
            <a:pPr algn="ctr"/>
          </a:p>
        </p:txBody>
      </p:sp>
      <p:sp>
        <p:nvSpPr>
          <p:cNvPr id="8" name="Python value"/>
          <p:cNvSpPr txBox="1"/>
          <p:nvPr/>
        </p:nvSpPr>
        <p:spPr>
          <a:xfrm>
            <a:off x="576072" y="1618488"/>
            <a:ext cx="2505456"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Python value</a:t>
            </a:r>
          </a:p>
        </p:txBody>
      </p:sp>
      <p:sp>
        <p:nvSpPr>
          <p:cNvPr id="9" name="Proposed Tile representation"/>
          <p:cNvSpPr txBox="1"/>
          <p:nvPr/>
        </p:nvSpPr>
        <p:spPr>
          <a:xfrm>
            <a:off x="3355848" y="1618488"/>
            <a:ext cx="5212080"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Proposed Tile representation</a:t>
            </a:r>
          </a:p>
        </p:txBody>
      </p:sp>
      <p:sp>
        <p:nvSpPr>
          <p:cNvPr id="10" name="Rectangle 9"/>
          <p:cNvSpPr/>
          <p:nvPr/>
        </p:nvSpPr>
        <p:spPr>
          <a:xfrm>
            <a:off x="438912" y="1956816"/>
            <a:ext cx="8266175" cy="534924"/>
          </a:xfrm>
          <a:prstGeom prst="rect">
            <a:avLst/>
          </a:prstGeom>
          <a:solidFill>
            <a:srgbClr val="F7F7F7"/>
          </a:solidFill>
          <a:ln>
            <a:noFill/>
          </a:ln>
          <a:effectLst/>
        </p:spPr>
        <p:txBody>
          <a:bodyPr rtlCol="0" anchor="ctr"/>
          <a:lstStyle/>
          <a:p>
            <a:pPr algn="ctr"/>
          </a:p>
        </p:txBody>
      </p:sp>
      <p:sp>
        <p:nvSpPr>
          <p:cNvPr id="11" name="Int32 / Float32"/>
          <p:cNvSpPr txBox="1"/>
          <p:nvPr/>
        </p:nvSpPr>
        <p:spPr>
          <a:xfrm>
            <a:off x="576072" y="2075688"/>
            <a:ext cx="2505456"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Int32 / Float32</a:t>
            </a:r>
          </a:p>
        </p:txBody>
      </p:sp>
      <p:sp>
        <p:nvSpPr>
          <p:cNvPr id="12" name="Rank-0 tile"/>
          <p:cNvSpPr txBox="1"/>
          <p:nvPr/>
        </p:nvSpPr>
        <p:spPr>
          <a:xfrm>
            <a:off x="3355848" y="2075688"/>
            <a:ext cx="521208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Rank-0 tile</a:t>
            </a:r>
          </a:p>
        </p:txBody>
      </p:sp>
      <p:sp>
        <p:nvSpPr>
          <p:cNvPr id="13" name="Rectangle 12"/>
          <p:cNvSpPr/>
          <p:nvPr/>
        </p:nvSpPr>
        <p:spPr>
          <a:xfrm>
            <a:off x="438912" y="2491740"/>
            <a:ext cx="8266175" cy="534924"/>
          </a:xfrm>
          <a:prstGeom prst="rect">
            <a:avLst/>
          </a:prstGeom>
          <a:solidFill>
            <a:srgbClr val="FFFFFF"/>
          </a:solidFill>
          <a:ln>
            <a:noFill/>
          </a:ln>
          <a:effectLst/>
        </p:spPr>
        <p:txBody>
          <a:bodyPr rtlCol="0" anchor="ctr"/>
          <a:lstStyle/>
          <a:p>
            <a:pPr algn="ctr"/>
          </a:p>
        </p:txBody>
      </p:sp>
      <p:sp>
        <p:nvSpPr>
          <p:cNvPr id="14" name="Vector"/>
          <p:cNvSpPr txBox="1"/>
          <p:nvPr/>
        </p:nvSpPr>
        <p:spPr>
          <a:xfrm>
            <a:off x="576072" y="2610612"/>
            <a:ext cx="2505456"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Vector</a:t>
            </a:r>
          </a:p>
        </p:txBody>
      </p:sp>
      <p:sp>
        <p:nvSpPr>
          <p:cNvPr id="15" name="Rank-1 tile"/>
          <p:cNvSpPr txBox="1"/>
          <p:nvPr/>
        </p:nvSpPr>
        <p:spPr>
          <a:xfrm>
            <a:off x="3355848" y="2610612"/>
            <a:ext cx="521208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Rank-1 tile</a:t>
            </a:r>
          </a:p>
        </p:txBody>
      </p:sp>
      <p:sp>
        <p:nvSpPr>
          <p:cNvPr id="16" name="Rectangle 15"/>
          <p:cNvSpPr/>
          <p:nvPr/>
        </p:nvSpPr>
        <p:spPr>
          <a:xfrm>
            <a:off x="438912" y="3026664"/>
            <a:ext cx="8266175" cy="534924"/>
          </a:xfrm>
          <a:prstGeom prst="rect">
            <a:avLst/>
          </a:prstGeom>
          <a:solidFill>
            <a:srgbClr val="F7F7F7"/>
          </a:solidFill>
          <a:ln>
            <a:noFill/>
          </a:ln>
          <a:effectLst/>
        </p:spPr>
        <p:txBody>
          <a:bodyPr rtlCol="0" anchor="ctr"/>
          <a:lstStyle/>
          <a:p>
            <a:pPr algn="ctr"/>
          </a:p>
        </p:txBody>
      </p:sp>
      <p:sp>
        <p:nvSpPr>
          <p:cNvPr id="17" name="Pointer[T]"/>
          <p:cNvSpPr txBox="1"/>
          <p:nvPr/>
        </p:nvSpPr>
        <p:spPr>
          <a:xfrm>
            <a:off x="576072" y="3145536"/>
            <a:ext cx="2505456"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Pointer[T]</a:t>
            </a:r>
          </a:p>
        </p:txBody>
      </p:sp>
      <p:sp>
        <p:nvSpPr>
          <p:cNvPr id="18" name="Tile of pointers"/>
          <p:cNvSpPr txBox="1"/>
          <p:nvPr/>
        </p:nvSpPr>
        <p:spPr>
          <a:xfrm>
            <a:off x="3355848" y="3145536"/>
            <a:ext cx="521208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Tile of pointers</a:t>
            </a:r>
          </a:p>
        </p:txBody>
      </p:sp>
      <p:sp>
        <p:nvSpPr>
          <p:cNvPr id="19" name="Rectangle 18"/>
          <p:cNvSpPr/>
          <p:nvPr/>
        </p:nvSpPr>
        <p:spPr>
          <a:xfrm>
            <a:off x="438912" y="3561588"/>
            <a:ext cx="8266175" cy="534924"/>
          </a:xfrm>
          <a:prstGeom prst="rect">
            <a:avLst/>
          </a:prstGeom>
          <a:solidFill>
            <a:srgbClr val="FFFFFF"/>
          </a:solidFill>
          <a:ln>
            <a:noFill/>
          </a:ln>
          <a:effectLst/>
        </p:spPr>
        <p:txBody>
          <a:bodyPr rtlCol="0" anchor="ctr"/>
          <a:lstStyle/>
          <a:p>
            <a:pPr algn="ctr"/>
          </a:p>
        </p:txBody>
      </p:sp>
      <p:sp>
        <p:nvSpPr>
          <p:cNvPr id="20" name="+ · load · store"/>
          <p:cNvSpPr txBox="1"/>
          <p:nvPr/>
        </p:nvSpPr>
        <p:spPr>
          <a:xfrm>
            <a:off x="576072" y="3680460"/>
            <a:ext cx="2505456"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 · load · store</a:t>
            </a:r>
          </a:p>
        </p:txBody>
      </p:sp>
      <p:sp>
        <p:nvSpPr>
          <p:cNvPr id="21" name="Target arithmetic + memory ops"/>
          <p:cNvSpPr txBox="1"/>
          <p:nvPr/>
        </p:nvSpPr>
        <p:spPr>
          <a:xfrm>
            <a:off x="3355848" y="3680460"/>
            <a:ext cx="521208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Target arithmetic + memory ops</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Tile IR: choose its control-flow model"/>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Tile IR: choose its control-flow model</a:t>
            </a:r>
          </a:p>
        </p:txBody>
      </p:sp>
      <p:sp>
        <p:nvSpPr>
          <p:cNvPr id="5" name="50"/>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50</a:t>
            </a:r>
          </a:p>
        </p:txBody>
      </p:sp>
      <p:sp>
        <p:nvSpPr>
          <p:cNvPr id="6" name="Tile IR"/>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Tile IR</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Downstream port sketch · proposed API"/>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Downstream port sketch · proposed API</a:t>
            </a:r>
          </a:p>
        </p:txBody>
      </p:sp>
      <p:sp>
        <p:nvSpPr>
          <p:cNvPr id="10" name="class TileAST(ASTPreprocessorPlugin):"/>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class TileAST(ASTPreprocessorPlugin):</a:t>
            </a:r>
          </a:p>
        </p:txBody>
      </p:sp>
      <p:sp>
        <p:nvSpPr>
          <p:cNvPr id="11" name="    preprocessor_class = TilePreprocessor"/>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preprocessor_class = TilePreprocessor</a:t>
            </a:r>
          </a:p>
        </p:txBody>
      </p:sp>
      <p:sp>
        <p:nvSpPr>
          <p:cNvPr id="12" name=""/>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3" name="    def executors(self, dsl):"/>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def executors(self, dsl):</a:t>
            </a:r>
          </a:p>
        </p:txBody>
      </p:sp>
      <p:sp>
        <p:nvSpPr>
          <p:cNvPr id="14" name="        return tile_region_builders(dsl)"/>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return tile_region_builders(dsl)</a:t>
            </a:r>
          </a:p>
        </p:txBody>
      </p:sp>
      <p:sp>
        <p:nvSpPr>
          <p:cNvPr id="15" name=""/>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6" name="# In the Plugins record:"/>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In the Plugins record:</a:t>
            </a:r>
          </a:p>
        </p:txBody>
      </p:sp>
      <p:sp>
        <p:nvSpPr>
          <p:cNvPr id="17" name="ast_preprocessor=TileAST()"/>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ast_preprocessor=TileAST()</a:t>
            </a:r>
          </a:p>
        </p:txBody>
      </p:sp>
      <p:sp>
        <p:nvSpPr>
          <p:cNvPr id="18" name="Reuse capture where it fits"/>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Reuse capture where it fits</a:t>
            </a:r>
          </a:p>
        </p:txBody>
      </p:sp>
      <p:sp>
        <p:nvSpPr>
          <p:cNvPr id="19" name="Python syntax → target regions"/>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Python syntax → target regions</a:t>
            </a:r>
          </a:p>
        </p:txBody>
      </p:sp>
      <p:sp>
        <p:nvSpPr>
          <p:cNvPr id="20" name="Own target semantics"/>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Own target semantics</a:t>
            </a:r>
          </a:p>
        </p:txBody>
      </p:sp>
      <p:sp>
        <p:nvSpPr>
          <p:cNvPr id="21" name="Early exits · carried values"/>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Early exits · carried values</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Tile IR: keep a small user surface"/>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Tile IR: keep a small user surface</a:t>
            </a:r>
          </a:p>
        </p:txBody>
      </p:sp>
      <p:sp>
        <p:nvSpPr>
          <p:cNvPr id="5" name="51"/>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51</a:t>
            </a:r>
          </a:p>
        </p:txBody>
      </p:sp>
      <p:sp>
        <p:nvSpPr>
          <p:cNvPr id="6" name="Tile IR"/>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Tile IR</a:t>
            </a:r>
          </a:p>
        </p:txBody>
      </p:sp>
      <p:sp>
        <p:nvSpPr>
          <p:cNvPr id="7" name="Rectangle 6"/>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4023360" cy="365760"/>
          </a:xfrm>
          <a:prstGeom prst="rect">
            <a:avLst/>
          </a:prstGeom>
          <a:solidFill>
            <a:srgbClr val="76B900"/>
          </a:solidFill>
          <a:ln>
            <a:noFill/>
          </a:ln>
          <a:effectLst/>
        </p:spPr>
        <p:txBody>
          <a:bodyPr rtlCol="0" anchor="ctr"/>
          <a:lstStyle/>
          <a:p>
            <a:pPr algn="ctr"/>
          </a:p>
        </p:txBody>
      </p:sp>
      <p:sp>
        <p:nvSpPr>
          <p:cNvPr id="9" name="Downstream port sketch · user API"/>
          <p:cNvSpPr txBox="1"/>
          <p:nvPr/>
        </p:nvSpPr>
        <p:spPr>
          <a:xfrm>
            <a:off x="594360" y="1604772"/>
            <a:ext cx="371246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Downstream port sketch · user API</a:t>
            </a:r>
          </a:p>
        </p:txBody>
      </p:sp>
      <p:sp>
        <p:nvSpPr>
          <p:cNvPr id="10" name="@tile.kernel"/>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84848"/>
                </a:solidFill>
                <a:latin typeface="JetBrains Mono"/>
              </a:rPr>
              <a:t>@tile.kernel</a:t>
            </a:r>
          </a:p>
        </p:txBody>
      </p:sp>
      <p:sp>
        <p:nvSpPr>
          <p:cNvPr id="11" name="def add(a: tile.Tensor,"/>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add(a: tile.Tensor,</a:t>
            </a:r>
          </a:p>
        </p:txBody>
      </p:sp>
      <p:sp>
        <p:nvSpPr>
          <p:cNvPr id="12" name="        b: tile.Tensor,"/>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b: tile.Tensor,</a:t>
            </a:r>
          </a:p>
        </p:txBody>
      </p:sp>
      <p:sp>
        <p:nvSpPr>
          <p:cNvPr id="13" name="        out: tile.Tensor):"/>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out: tile.Tensor):</a:t>
            </a:r>
          </a:p>
        </p:txBody>
      </p:sp>
      <p:sp>
        <p:nvSpPr>
          <p:cNvPr id="14" name="    x = tile.load(a)"/>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x = tile.load(a)</a:t>
            </a:r>
          </a:p>
        </p:txBody>
      </p:sp>
      <p:sp>
        <p:nvSpPr>
          <p:cNvPr id="15" name="    y = tile.load(b)"/>
          <p:cNvSpPr txBox="1"/>
          <p:nvPr/>
        </p:nvSpPr>
        <p:spPr>
          <a:xfrm>
            <a:off x="594360" y="2911855"/>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y = tile.load(b)</a:t>
            </a:r>
          </a:p>
        </p:txBody>
      </p:sp>
      <p:sp>
        <p:nvSpPr>
          <p:cNvPr id="16" name="    tile.store(out, x + y)"/>
          <p:cNvSpPr txBox="1"/>
          <p:nvPr/>
        </p:nvSpPr>
        <p:spPr>
          <a:xfrm>
            <a:off x="594360" y="3095548"/>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tile.store(out, x + y)</a:t>
            </a:r>
          </a:p>
        </p:txBody>
      </p:sp>
      <p:sp>
        <p:nvSpPr>
          <p:cNvPr id="17" name="Rectangle 16"/>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18" name="Rectangle 17"/>
          <p:cNvSpPr/>
          <p:nvPr/>
        </p:nvSpPr>
        <p:spPr>
          <a:xfrm>
            <a:off x="4663440" y="1508760"/>
            <a:ext cx="4041648" cy="365760"/>
          </a:xfrm>
          <a:prstGeom prst="rect">
            <a:avLst/>
          </a:prstGeom>
          <a:solidFill>
            <a:srgbClr val="76B900"/>
          </a:solidFill>
          <a:ln>
            <a:noFill/>
          </a:ln>
          <a:effectLst/>
        </p:spPr>
        <p:txBody>
          <a:bodyPr rtlCol="0" anchor="ctr"/>
          <a:lstStyle/>
          <a:p>
            <a:pPr algn="ctr"/>
          </a:p>
        </p:txBody>
      </p:sp>
      <p:sp>
        <p:nvSpPr>
          <p:cNvPr id="19" name="Proposed plugin ownership"/>
          <p:cNvSpPr txBox="1"/>
          <p:nvPr/>
        </p:nvSpPr>
        <p:spPr>
          <a:xfrm>
            <a:off x="4818888" y="1604772"/>
            <a:ext cx="3730752"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Proposed plugin ownership</a:t>
            </a:r>
          </a:p>
        </p:txBody>
      </p:sp>
      <p:sp>
        <p:nvSpPr>
          <p:cNvPr id="20" name="tile.TypeOps"/>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tile.TypeOps</a:t>
            </a:r>
          </a:p>
        </p:txBody>
      </p:sp>
      <p:sp>
        <p:nvSpPr>
          <p:cNvPr id="21" name="  types + operations"/>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types + operations</a:t>
            </a:r>
          </a:p>
        </p:txBody>
      </p:sp>
      <p:sp>
        <p:nvSpPr>
          <p:cNvPr id="22" name=""/>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23" name="tile.Kernels"/>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tile.Kernels</a:t>
            </a:r>
          </a:p>
        </p:txBody>
      </p:sp>
      <p:sp>
        <p:nvSpPr>
          <p:cNvPr id="24" name="  entry + launch"/>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entry + launch</a:t>
            </a:r>
          </a:p>
        </p:txBody>
      </p:sp>
      <p:sp>
        <p:nvSpPr>
          <p:cNvPr id="25" name=""/>
          <p:cNvSpPr txBox="1"/>
          <p:nvPr/>
        </p:nvSpPr>
        <p:spPr>
          <a:xfrm>
            <a:off x="4818888" y="2911855"/>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26" name="tile.Compiler"/>
          <p:cNvSpPr txBox="1"/>
          <p:nvPr/>
        </p:nvSpPr>
        <p:spPr>
          <a:xfrm>
            <a:off x="4818888" y="3095548"/>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tile.Compiler</a:t>
            </a:r>
          </a:p>
        </p:txBody>
      </p:sp>
      <p:sp>
        <p:nvSpPr>
          <p:cNvPr id="27" name="  binary + runtime"/>
          <p:cNvSpPr txBox="1"/>
          <p:nvPr/>
        </p:nvSpPr>
        <p:spPr>
          <a:xfrm>
            <a:off x="4818888" y="327924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binary + runtime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Tile IR: the target owns launch"/>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Tile IR: the target owns launch</a:t>
            </a:r>
          </a:p>
        </p:txBody>
      </p:sp>
      <p:sp>
        <p:nvSpPr>
          <p:cNvPr id="5" name="52"/>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52</a:t>
            </a:r>
          </a:p>
        </p:txBody>
      </p:sp>
      <p:sp>
        <p:nvSpPr>
          <p:cNvPr id="6" name="Tile IR"/>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Tile IR</a:t>
            </a:r>
          </a:p>
        </p:txBody>
      </p:sp>
      <p:sp>
        <p:nvSpPr>
          <p:cNvPr id="7" name="Rectangle 6"/>
          <p:cNvSpPr/>
          <p:nvPr/>
        </p:nvSpPr>
        <p:spPr>
          <a:xfrm>
            <a:off x="438912" y="1856231"/>
            <a:ext cx="1895093" cy="1764792"/>
          </a:xfrm>
          <a:prstGeom prst="rect">
            <a:avLst/>
          </a:prstGeom>
          <a:solidFill>
            <a:srgbClr val="F0F6E6"/>
          </a:solidFill>
          <a:ln w="8890">
            <a:solidFill>
              <a:srgbClr val="D5D5D5"/>
            </a:solidFill>
          </a:ln>
          <a:effectLst/>
        </p:spPr>
        <p:txBody>
          <a:bodyPr rtlCol="0" anchor="ctr"/>
          <a:lstStyle/>
          <a:p>
            <a:pPr algn="ctr"/>
          </a:p>
        </p:txBody>
      </p:sp>
      <p:sp>
        <p:nvSpPr>
          <p:cNvPr id="8" name="Python call"/>
          <p:cNvSpPr txBox="1"/>
          <p:nvPr/>
        </p:nvSpPr>
        <p:spPr>
          <a:xfrm>
            <a:off x="566928"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Python call</a:t>
            </a:r>
          </a:p>
        </p:txBody>
      </p:sp>
      <p:sp>
        <p:nvSpPr>
          <p:cNvPr id="9" name="@tile.kernel"/>
          <p:cNvSpPr txBox="1"/>
          <p:nvPr/>
        </p:nvSpPr>
        <p:spPr>
          <a:xfrm>
            <a:off x="566928"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@tile.kernel</a:t>
            </a:r>
          </a:p>
        </p:txBody>
      </p:sp>
      <p:cxnSp>
        <p:nvCxnSpPr>
          <p:cNvPr id="10" name="Connector 9"/>
          <p:cNvCxnSpPr/>
          <p:nvPr/>
        </p:nvCxnSpPr>
        <p:spPr>
          <a:xfrm>
            <a:off x="2366010" y="2706624"/>
            <a:ext cx="164591"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2562606" y="1856231"/>
            <a:ext cx="1895093" cy="1764792"/>
          </a:xfrm>
          <a:prstGeom prst="rect">
            <a:avLst/>
          </a:prstGeom>
          <a:solidFill>
            <a:srgbClr val="F7F7F7"/>
          </a:solidFill>
          <a:ln w="8890">
            <a:solidFill>
              <a:srgbClr val="D5D5D5"/>
            </a:solidFill>
          </a:ln>
          <a:effectLst/>
        </p:spPr>
        <p:txBody>
          <a:bodyPr rtlCol="0" anchor="ctr"/>
          <a:lstStyle/>
          <a:p>
            <a:pPr algn="ctr"/>
          </a:p>
        </p:txBody>
      </p:sp>
      <p:sp>
        <p:nvSpPr>
          <p:cNvPr id="12" name="Compiler role"/>
          <p:cNvSpPr txBox="1"/>
          <p:nvPr/>
        </p:nvSpPr>
        <p:spPr>
          <a:xfrm>
            <a:off x="2690622"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Compiler role</a:t>
            </a:r>
          </a:p>
        </p:txBody>
      </p:sp>
      <p:sp>
        <p:nvSpPr>
          <p:cNvPr id="13" name="Target pipeline / Target binary"/>
          <p:cNvSpPr txBox="1"/>
          <p:nvPr/>
        </p:nvSpPr>
        <p:spPr>
          <a:xfrm>
            <a:off x="2690622"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Target pipeline</a:t>
            </a:r>
          </a:p>
          <a:p>
            <a:pPr algn="l">
              <a:lnSpc>
                <a:spcPts val="1334"/>
              </a:lnSpc>
              <a:spcBef>
                <a:spcPts val="0"/>
              </a:spcBef>
              <a:spcAft>
                <a:spcPts val="0"/>
              </a:spcAft>
            </a:pPr>
            <a:r>
              <a:rPr sz="1150" b="0">
                <a:solidFill>
                  <a:srgbClr val="616161"/>
                </a:solidFill>
                <a:latin typeface="NVIDIA Sans"/>
              </a:rPr>
              <a:t>Target binary</a:t>
            </a:r>
          </a:p>
        </p:txBody>
      </p:sp>
      <p:cxnSp>
        <p:nvCxnSpPr>
          <p:cNvPr id="14" name="Connector 13"/>
          <p:cNvCxnSpPr/>
          <p:nvPr/>
        </p:nvCxnSpPr>
        <p:spPr>
          <a:xfrm>
            <a:off x="4489704" y="2706624"/>
            <a:ext cx="16459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4686300" y="1856231"/>
            <a:ext cx="1895093" cy="1764792"/>
          </a:xfrm>
          <a:prstGeom prst="rect">
            <a:avLst/>
          </a:prstGeom>
          <a:solidFill>
            <a:srgbClr val="F7F7F7"/>
          </a:solidFill>
          <a:ln w="8890">
            <a:solidFill>
              <a:srgbClr val="D5D5D5"/>
            </a:solidFill>
          </a:ln>
          <a:effectLst/>
        </p:spPr>
        <p:txBody>
          <a:bodyPr rtlCol="0" anchor="ctr"/>
          <a:lstStyle/>
          <a:p>
            <a:pPr algn="ctr"/>
          </a:p>
        </p:txBody>
      </p:sp>
      <p:sp>
        <p:nvSpPr>
          <p:cNvPr id="16" name="Decorator plugin"/>
          <p:cNvSpPr txBox="1"/>
          <p:nvPr/>
        </p:nvSpPr>
        <p:spPr>
          <a:xfrm>
            <a:off x="4814316"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Decorator plugin</a:t>
            </a:r>
          </a:p>
        </p:txBody>
      </p:sp>
      <p:sp>
        <p:nvSpPr>
          <p:cNvPr id="17" name="CUDA Python / launch wrapper"/>
          <p:cNvSpPr txBox="1"/>
          <p:nvPr/>
        </p:nvSpPr>
        <p:spPr>
          <a:xfrm>
            <a:off x="4814316"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CUDA Python</a:t>
            </a:r>
          </a:p>
          <a:p>
            <a:pPr algn="l">
              <a:lnSpc>
                <a:spcPts val="1334"/>
              </a:lnSpc>
              <a:spcBef>
                <a:spcPts val="0"/>
              </a:spcBef>
              <a:spcAft>
                <a:spcPts val="0"/>
              </a:spcAft>
            </a:pPr>
            <a:r>
              <a:rPr sz="1150" b="0">
                <a:solidFill>
                  <a:srgbClr val="616161"/>
                </a:solidFill>
                <a:latin typeface="NVIDIA Sans"/>
              </a:rPr>
              <a:t>launch wrapper</a:t>
            </a:r>
          </a:p>
        </p:txBody>
      </p:sp>
      <p:cxnSp>
        <p:nvCxnSpPr>
          <p:cNvPr id="18" name="Connector 17"/>
          <p:cNvCxnSpPr/>
          <p:nvPr/>
        </p:nvCxnSpPr>
        <p:spPr>
          <a:xfrm>
            <a:off x="6613398" y="2706624"/>
            <a:ext cx="16459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6809994" y="1856231"/>
            <a:ext cx="1895093" cy="1764792"/>
          </a:xfrm>
          <a:prstGeom prst="rect">
            <a:avLst/>
          </a:prstGeom>
          <a:solidFill>
            <a:srgbClr val="F0F6E6"/>
          </a:solidFill>
          <a:ln w="8890">
            <a:solidFill>
              <a:srgbClr val="D5D5D5"/>
            </a:solidFill>
          </a:ln>
          <a:effectLst/>
        </p:spPr>
        <p:txBody>
          <a:bodyPr rtlCol="0" anchor="ctr"/>
          <a:lstStyle/>
          <a:p>
            <a:pPr algn="ctr"/>
          </a:p>
        </p:txBody>
      </p:sp>
      <p:sp>
        <p:nvSpPr>
          <p:cNvPr id="20" name="Device"/>
          <p:cNvSpPr txBox="1"/>
          <p:nvPr/>
        </p:nvSpPr>
        <p:spPr>
          <a:xfrm>
            <a:off x="6938009"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Device</a:t>
            </a:r>
          </a:p>
        </p:txBody>
      </p:sp>
      <p:sp>
        <p:nvSpPr>
          <p:cNvPr id="21" name="Caller-owned memory"/>
          <p:cNvSpPr txBox="1"/>
          <p:nvPr/>
        </p:nvSpPr>
        <p:spPr>
          <a:xfrm>
            <a:off x="6938009"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Caller-owned memory</a:t>
            </a:r>
          </a:p>
        </p:txBody>
      </p:sp>
      <p:sp>
        <p:nvSpPr>
          <p:cNvPr id="22" name="Port sketch · reusable core, target-owned execution"/>
          <p:cNvSpPr txBox="1"/>
          <p:nvPr/>
        </p:nvSpPr>
        <p:spPr>
          <a:xfrm>
            <a:off x="457200" y="3822191"/>
            <a:ext cx="8229600" cy="320040"/>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Port sketch · reusable core, target-owned execution</a:t>
            </a:r>
          </a:p>
        </p:txBody>
      </p:sp>
    </p:spTree>
  </p:cSld>
  <p:clrMapOvr>
    <a:masterClrMapping/>
  </p:clrMapOvr>
</p:sld>
</file>

<file path=ppt/theme/theme1.xml><?xml version="1.0" encoding="utf-8"?>
<a:theme xmlns:a="http://schemas.openxmlformats.org/drawingml/2006/main" name="NVIDIA26_Corp Template_LIGHT_v2">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0" rIns="0" rtlCol="0" anchor="ctr"/>
      <a:lstStyle>
        <a:defPPr algn="ctr">
          <a:defRPr sz="3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38100">
          <a:solidFill>
            <a:schemeClr val="tx1"/>
          </a:solidFill>
          <a:headEnd w="lg" len="lg"/>
          <a:tailEnd type="triangle" w="lg" len="lg"/>
        </a:ln>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lgn="l">
          <a:lnSpc>
            <a:spcPct val="90000"/>
          </a:lnSpc>
          <a:spcBef>
            <a:spcPts val="800"/>
          </a:spcBef>
          <a:spcAft>
            <a:spcPts val="800"/>
          </a:spcAft>
          <a:defRPr sz="4400" kern="100" dirty="0" smtClean="0"/>
        </a:defPPr>
      </a:lstStyle>
    </a:txDef>
  </a:objectDefaults>
  <a:extraClrSchemeLst/>
  <a:extLst>
    <a:ext uri="{05A4C25C-085E-4340-85A3-A5531E510DB2}">
      <thm15:themeFamily xmlns:thm15="http://schemas.microsoft.com/office/thememl/2012/main" name="NVIDIA_PPT_Light_External_v2.potx" id="{89D8623C-2635-485F-9CA6-5E5546024BA4}" vid="{EC5B26FE-8EF1-484B-8617-0D0B03B15F2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to build a Python DSL for MLIR</dc:title>
  <dc:subject>LLVM conference tutorial · mlir dsl · core: 30 minutes; mutation: 10 minutes; showcase: 5 minutes</dc:subject>
  <dc:creator>Guray Ozen; Amir Tavakkoli</dc:creator>
  <cp:keywords>MLIR, Python, DSL, tutorial, draft</cp:keywords>
  <dc:description>Draft v16. Uses the supplied cutlass-python-pytorch-v22 template and style.</dc:description>
  <cp:lastModifiedBy>Steve Canny</cp:lastModifiedBy>
  <cp:revision>1</cp:revision>
  <dcterms:created xsi:type="dcterms:W3CDTF">2013-01-27T09:14:16Z</dcterms:created>
  <dcterms:modified xsi:type="dcterms:W3CDTF">2013-01-27T09:15:58Z</dcterms:modified>
  <cp:category/>
</cp:coreProperties>
</file>