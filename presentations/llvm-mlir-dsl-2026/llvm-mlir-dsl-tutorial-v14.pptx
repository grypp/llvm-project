
<file path=[Content_Types].xml><?xml version="1.0" encoding="utf-8"?>
<Types xmlns="http://schemas.openxmlformats.org/package/2006/content-types">
  <Default Extension="bin" ContentType="application/vnd.openxmlformats-officedocument.presentationml.printerSettings"/>
  <Default Extension="fntdata" ContentType="application/x-fontdata"/>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autoCompressPictures="0" embedTrueTypeFonts="1">
  <p:sldMasterIdLst>
    <p:sldMasterId id="2147483648" r:id="rId1"/>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Lst>
  <p:sldSz cx="9144000" cy="5143500" type="screen16x9"/>
  <p:notesSz cx="6858000" cy="9144000"/>
  <p:embeddedFontLst>
    <p:embeddedFont>
      <p:font typeface="NVIDIA Sans"/>
      <p:regular r:id="rIdEmbeddedFont1"/>
      <p:bold r:id="rIdEmbeddedFont2"/>
    </p:embeddedFont>
    <p:embeddedFont>
      <p:font typeface="NVIDIA Sans Light"/>
      <p:regular r:id="rIdEmbeddedFont3"/>
    </p:embeddedFont>
    <p:embeddedFont>
      <p:font typeface="JetBrains Mono"/>
      <p:regular r:id="rIdEmbeddedFont4"/>
      <p:bold r:id="rIdEmbeddedFont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EmbeddedFont1" Type="http://schemas.openxmlformats.org/officeDocument/2006/relationships/font" Target="fonts/codexFont1.fntdata"/><Relationship Id="rIdEmbeddedFont2" Type="http://schemas.openxmlformats.org/officeDocument/2006/relationships/font" Target="fonts/codexFont2.fntdata"/><Relationship Id="rIdEmbeddedFont3" Type="http://schemas.openxmlformats.org/officeDocument/2006/relationships/font" Target="fonts/codexFont3.fntdata"/><Relationship Id="rIdEmbeddedFont4" Type="http://schemas.openxmlformats.org/officeDocument/2006/relationships/font" Target="fonts/codexFont4.fntdata"/><Relationship Id="rIdEmbeddedFont5" Type="http://schemas.openxmlformats.org/officeDocument/2006/relationships/font" Target="fonts/codexFont5.fntdata"/><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 — How to build a Python DSL for MLIR</a:t>
            </a:r>
          </a:p>
          <a:p>
            <a:r>
              <a:t>Owner: Guray Ozen</a:t>
            </a:r>
          </a:p>
          <a:p>
            <a:r>
              <a:t>Clock: 00:00–00:15</a:t>
            </a:r>
          </a:p>
          <a:p>
            <a:r>
              <a:t>Target duration: 00:15</a:t>
            </a:r>
          </a:p>
          <a:p/>
          <a:p>
            <a:r>
              <a:t>How to build a Python DSL for MLIR. Current source snapshot: October 7, 2026. Guray presents the 30-minute core tutorial, Amir supplies ten minutes on advanced mutation, then Guray returns for the five-minute Tile integration sketch. Amir affiliation is unspecified. This deck is a source-checked tutorial, not an upstream acceptance or completed Tile integration claim.</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 How do we produce MLIR?</a:t>
            </a:r>
          </a:p>
          <a:p>
            <a:r>
              <a:t>Owner: Guray Ozen</a:t>
            </a:r>
          </a:p>
          <a:p>
            <a:r>
              <a:t>Clock: 00:15–00:40</a:t>
            </a:r>
          </a:p>
          <a:p>
            <a:r>
              <a:t>Target duration: 00:25</a:t>
            </a:r>
          </a:p>
          <a:p/>
          <a:p>
            <a:r>
              <a:t>Start with existing choices. Textual IR is useful for exact tests, but every variant is literal text: expressing families of programs requires hand edits or a separate generator. The Python bindings expose the full IR construction API; they still leave staging, type policy, lowering and the runtime boundary to the author. We want the DSL interface on the right. This is an ergonomic argument, not a claim that hand-written IR or bindings have no legitimate use.</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 We want to write the computation</a:t>
            </a:r>
          </a:p>
          <a:p>
            <a:r>
              <a:t>Owner: Guray Ozen</a:t>
            </a:r>
          </a:p>
          <a:p>
            <a:r>
              <a:t>Clock: 00:40–01:50</a:t>
            </a:r>
          </a:p>
          <a:p>
            <a:r>
              <a:t>Target duration: 01:10</a:t>
            </a:r>
          </a:p>
          <a:p/>
          <a:p>
            <a:r>
              <a:t>Both complete programs were executed on contiguous float32 PyTorch CPU tensors, for lengths 0, 1, 4 and 17, and matched PyTorch exactly. Shared inputs: a=torch.arange(4,dtype=torch.float32), b=torch.full_like(a,10), out=torch.empty_like(a). The left is a shortened display excerpt: imports, Context/Location, module, i32/f32/pointer types, func.func entry/C-interface attribute and pass list are omitted. DYN abbreviates -2147483648; ctypes names are imported directly; PIPELINE is RAW_PIPELINE in the full file. The body, lowering, engine and packed argument invocation remain visible. The right is the user program over the reference DSL, whose selected plugins supply the infrastructure. Say: this is the interface we want our users to write. Do not claim a runtime performance difference from this comparison. The displayed pointer alias P is F32Ptr in the complete demo.</a:t>
            </a:r>
          </a:p>
          <a:p/>
          <a:p>
            <a:r>
              <a:t>SOURCES / PREPARATION</a:t>
            </a:r>
          </a:p>
          <a:p>
            <a:r>
              <a:t>verification/v14/bindings-vs-dsl.py</a:t>
            </a:r>
          </a:p>
          <a:p>
            <a:r>
              <a:t>verification/v14/bindings-vs-dsl.txt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 Four use cases inside NVIDIA</a:t>
            </a:r>
          </a:p>
          <a:p>
            <a:r>
              <a:t>Owner: Guray Ozen</a:t>
            </a:r>
          </a:p>
          <a:p>
            <a:r>
              <a:t>Clock: 01:50–02:55</a:t>
            </a:r>
          </a:p>
          <a:p>
            <a:r>
              <a:t>Target duration: 01:05</a:t>
            </a:r>
          </a:p>
          <a:p/>
          <a:p>
            <a:r>
              <a:t>Four use cases supplied by Guray from NVIDIA work: generate internal dialect inputs directly for tests; emit recipe-only IR for a consumer that is not an MLIR compiler; reuse JIT cache, naming and environment infrastructure in another DSL; build a complete user-facing language. The public product example is NVIDIA CuTe DSL / CUTLASS Python; the hyperlink is official documentation. The first three are internal motivations without naming a confidential dialect. Keep this as a visual motivation, not a list of unsupported product claims.</a:t>
            </a:r>
          </a:p>
          <a:p/>
          <a:p>
            <a:r>
              <a:t>SOURCES / PREPARATION</a:t>
            </a:r>
          </a:p>
          <a:p>
            <a:r>
              <a:t>/home/gozen/work/llvm-project/mlir/tools/mlir-dsl/README.md</a:t>
            </a:r>
          </a:p>
          <a:p>
            <a:r>
              <a:t>verification/v14/api-audit.txt</a:t>
            </a:r>
          </a:p>
          <a:p>
            <a:r>
              <a:t>https://docs.nvidia.com/cutlass/latest/media/docs/pythonDSL/overview.html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 MLIR has many worlds</a:t>
            </a:r>
          </a:p>
          <a:p>
            <a:r>
              <a:t>Owner: Guray Ozen</a:t>
            </a:r>
          </a:p>
          <a:p>
            <a:r>
              <a:t>Clock: 02:55–03:20</a:t>
            </a:r>
          </a:p>
          <a:p>
            <a:r>
              <a:t>Target duration: 00:25</a:t>
            </a:r>
          </a:p>
          <a:p/>
          <a:p>
            <a:r>
              <a:t>MLIR is an infrastructure and collection of dialects, not one end-to-end compiler. Compiler A may use linalg and LLVM; compiler B may use tile operations and a different runtime. CUDA Tile and SCF express control flow differently. A front end tied to one dialect/pipeline is insufficient for all four use cases. SCF for has no direct break, while SCF while can express early termination; do not claim SCF cannot terminate early at all.</a:t>
            </a:r>
          </a:p>
          <a:p/>
          <a:p>
            <a:r>
              <a:t>SOURCES / PREPARATION</a:t>
            </a:r>
          </a:p>
          <a:p>
            <a:r>
              <a:t>/home/gozen/work/llvm-project/mlir/tools/mlir-dsl/README.md</a:t>
            </a:r>
          </a:p>
          <a:p>
            <a:r>
              <a:t>verification/v14/api-audit.txt</a:t>
            </a:r>
          </a:p>
          <a:p>
            <a:r>
              <a:t>verification/v9/control-flow-evidence.txt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 Proposal: a dialect-agnostic core</a:t>
            </a:r>
          </a:p>
          <a:p>
            <a:r>
              <a:t>Owner: Guray Ozen</a:t>
            </a:r>
          </a:p>
          <a:p>
            <a:r>
              <a:t>Clock: 03:20–03:50</a:t>
            </a:r>
          </a:p>
          <a:p>
            <a:r>
              <a:t>Target duration: 00:30</a:t>
            </a:r>
          </a:p>
          <a:p/>
          <a:p>
            <a:r>
              <a:t>The current BaseDSL starts with Plugins(), an empty record. The core imports no dialect and installs no default type emitter or compiler. It provides language/value policy, tracing services, diagnostics, AST integration, caches and configuration. Plugins fill the selected roles. An IR-only DSL still selects the type operations and function entry it needs; a literally empty core does not magically emit a target language. The reference mlir dsl is a separate end-to-end composition, not the definition of the core.</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 Four roles. Two families.</a:t>
            </a:r>
          </a:p>
          <a:p>
            <a:r>
              <a:t>Owner: Guray Ozen</a:t>
            </a:r>
          </a:p>
          <a:p>
            <a:r>
              <a:t>Clock: 03:50–04:55</a:t>
            </a:r>
          </a:p>
          <a:p>
            <a:r>
              <a:t>Target duration: 01:05</a:t>
            </a:r>
          </a:p>
          <a:p/>
          <a:p>
            <a:r>
              <a:t>At most one plugin fills each role: type_ops, func_entry, ast_preprocessor and compiler. decorators and adapters are families containing any number of plugins. Eight shipped plugins: TypeOps, func.Entry, scf.ASTPreprocessor, execution_engine.Compiler, gpu.Kernels, PyTorchPlugin, DlpackPlugin, TvmFfiPlugin. arith, vector and llvm are operation modules composed by TypeOps, not three more plugins. Plugin itself only supplies available/install/shared_libs/register_dialects lifecycle. The sub-DSL owns pipeline(); plugins do not contribute pass lists.</a:t>
            </a:r>
          </a:p>
          <a:p/>
          <a:p>
            <a:r>
              <a:t>SOURCES / PREPARATION</a:t>
            </a:r>
          </a:p>
          <a:p>
            <a:r>
              <a:t>/home/gozen/work/llvm-project/mlir/tools/mlir-dsl/dsl/core/plugin.py</a:t>
            </a:r>
          </a:p>
          <a:p>
            <a:r>
              <a:t>/home/gozen/work/llvm-project/mlir/tools/mlir-dsl/dsl/plugins/type_ops/__init__.py</a:t>
            </a:r>
          </a:p>
          <a:p>
            <a:r>
              <a:t>/home/gozen/work/llvm-project/mlir/tools/mlir-dsl/sub-dsls/mlir-dsl/dsl/mlir_dsl.py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 Generate IR—or build an end-to-end DSL</a:t>
            </a:r>
          </a:p>
          <a:p>
            <a:r>
              <a:t>Owner: Guray Ozen</a:t>
            </a:r>
          </a:p>
          <a:p>
            <a:r>
              <a:t>Clock: 04:55–05:30</a:t>
            </a:r>
          </a:p>
          <a:p>
            <a:r>
              <a:t>Target duration: 00:35</a:t>
            </a:r>
          </a:p>
          <a:p/>
          <a:p>
            <a:r>
              <a:t>Both paths compose roles on the same core. The IR generator selects type_ops and func_entry, plus an AST preprocessor only when needed; without compiler it traces and returns the trace result. An external recipe consumer can use that IR. The executable path additionally supplies a compiler and a sub-DSL-owned pass pipeline. The reference mlir.mlir_dsl package is a working assembly. Your own DSL can use existing plugins or replace only the roles it needs. This is not a claim that incompatible plugin combinations work automatically.</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 Why tracing? Keep Python in Python.</a:t>
            </a:r>
          </a:p>
          <a:p>
            <a:r>
              <a:t>Owner: Guray Ozen</a:t>
            </a:r>
          </a:p>
          <a:p>
            <a:r>
              <a:t>Clock: 05:30–06:20</a:t>
            </a:r>
          </a:p>
          <a:p>
            <a:r>
              <a:t>Target duration: 00:50</a:t>
            </a:r>
          </a:p>
          <a:p/>
          <a:p>
            <a:r>
              <a:t>An AST compiler can support many dialects: do not state that this is impossible. Our design choice is to avoid implementing a broad Python-shaped language and coupling its semantics to target lowering. Tracing reuses Python objects, imports, dynamic dispatch and metaprogramming while plugins supply types/operations. Operator tracing alone cannot intercept native data-dependent if/for/while, so the selected AST-preprocessor role performs limited syntax capture. This is tracing plus optional AST assistance, not a claim of no AST.</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Design principles</a:t>
            </a:r>
          </a:p>
          <a:p>
            <a:r>
              <a:t>Owner: Guray Ozen</a:t>
            </a:r>
          </a:p>
          <a:p>
            <a:r>
              <a:t>Clock: 06:20–06:40</a:t>
            </a:r>
          </a:p>
          <a:p>
            <a:r>
              <a:t>Target duration: 00:20</a:t>
            </a:r>
          </a:p>
          <a:p/>
          <a:p>
            <a:r>
              <a:t>Use Python as the unchanged host language for metaprogramming. Reuse objects, imports and libraries. Only explicit DSL values/operations generate MLIR. The frontend mechanism is modular and target-dialect agnostic; one reusable core underpins multiple sub-DSL namespaces.</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What is multi-stage programming?</a:t>
            </a:r>
          </a:p>
          <a:p>
            <a:r>
              <a:t>Owner: Guray Ozen</a:t>
            </a:r>
          </a:p>
          <a:p>
            <a:r>
              <a:t>Clock: 06:40–07:20</a:t>
            </a:r>
          </a:p>
          <a:p>
            <a:r>
              <a:t>Target duration: 00:40</a:t>
            </a:r>
          </a:p>
          <a:p/>
          <a:p>
            <a:r>
              <a:t>Python is the meta-language and MLIR the object language. The repetition row is an illustration of programs generating later-stage programs, not a claim of an infinite compiler loop. Here the Python interpreter runs the generator, producing MLIR. mlir-opt represents transformation passes; LLVM code generation/JIT creates executable code. The traditional and multi-stage source/compiler/binary icons have identical sizes.</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Why multi-stage programming?</a:t>
            </a:r>
          </a:p>
          <a:p>
            <a:r>
              <a:t>Owner: Guray Ozen</a:t>
            </a:r>
          </a:p>
          <a:p>
            <a:r>
              <a:t>Clock: 07:20–07:45</a:t>
            </a:r>
          </a:p>
          <a:p>
            <a:r>
              <a:t>Target duration: 00:25</a:t>
            </a:r>
          </a:p>
          <a:p/>
          <a:p>
            <a:r>
              <a:t>Use all of Python for trace-time work; capture explicitly through the selected DSL namespace and its typed values. Ordinary range over known values executes as Python; m.range forces staged range construction in the reference namespace. This binding-time boundary enables objects/dictionaries to specialize a program without runtime Python on the generated code path.</a:t>
            </a:r>
          </a:p>
          <a:p/>
          <a:p>
            <a:r>
              <a:t>SOURCES / PREPARATION</a:t>
            </a:r>
          </a:p>
          <a:p>
            <a:r>
              <a:t>/home/gozen/work/llvm-project/mlir/tools/mlir-dsl/dsl/core/staging.py</a:t>
            </a:r>
          </a:p>
          <a:p>
            <a:r>
              <a:t>/home/gozen/work/llvm-project/mlir/tools/mlir-dsl/dsl/plugins/ast_preprocessor/helpers.py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Agenda</a:t>
            </a:r>
          </a:p>
          <a:p>
            <a:r>
              <a:t>Owner: Guray Ozen</a:t>
            </a:r>
          </a:p>
          <a:p>
            <a:r>
              <a:t>Clock: 07:45–08:00</a:t>
            </a:r>
          </a:p>
          <a:p>
            <a:r>
              <a:t>Target duration: 00:15</a:t>
            </a:r>
          </a:p>
          <a:p/>
          <a:p>
            <a:r>
              <a:t>Walk the feature inventory in order: tracing JIT; two kinds of values; numeric and aggregate types; native control flow and explicit builders; arguments; kernels; compilation; caches; trace-only; diagnostics; locations/remarks; observability; sub-DSL authoring. Then hand off to Amir for his material and return for the five-slide Tile design sketch.</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1 · Tracing JIT</a:t>
            </a:r>
          </a:p>
          <a:p>
            <a:r>
              <a:t>Owner: Guray Ozen</a:t>
            </a:r>
          </a:p>
          <a:p>
            <a:r>
              <a:t>Clock: 08:00–08:45</a:t>
            </a:r>
          </a:p>
          <a:p>
            <a:r>
              <a:t>Target duration: 00:45</a:t>
            </a:r>
          </a:p>
          <a:p/>
          <a:p>
            <a:r>
              <a:t>The core owns @jit and orchestration. Selected func.Entry builds func.func; type_ops emits scalar operations; compiler lowers and invokes the chosen pipeline. Subsequent identical specializations reuse the compiled callable. The host scalar result is a Numeric wrapper; int/float/.value unwrap it. This reference end-to-end path is not provided by an empty BaseDSL.</a:t>
            </a:r>
          </a:p>
          <a:p/>
          <a:p>
            <a:r>
              <a:t>SOURCES / PREPARATION</a:t>
            </a:r>
          </a:p>
          <a:p>
            <a:r>
              <a:t>/home/gozen/work/llvm-project/mlir/tools/mlir-dsl/dsl/core/dsl.py</a:t>
            </a:r>
          </a:p>
          <a:p>
            <a:r>
              <a:t>/home/gozen/work/llvm-project/mlir/tools/mlir-dsl/dsl/plugins/func_entry/func.py</a:t>
            </a:r>
          </a:p>
          <a:p>
            <a:r>
              <a:t>/home/gozen/work/llvm-project/mlir/tools/mlir-dsl/dsl/plugins/compiler/execution_engine.py</a:t>
            </a:r>
          </a:p>
          <a:p>
            <a:r>
              <a:t>verification/v14/api-audit.txt</a:t>
            </a:r>
          </a:p>
          <a:p>
            <a:r>
              <a:t>verification/v14/metaprogram-examples.txt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2 · Python value or MLIR value?</a:t>
            </a:r>
          </a:p>
          <a:p>
            <a:r>
              <a:t>Owner: Guray Ozen</a:t>
            </a:r>
          </a:p>
          <a:p>
            <a:r>
              <a:t>Clock: 08:45–09:40</a:t>
            </a:r>
          </a:p>
          <a:p>
            <a:r>
              <a:t>Target duration: 00:55</a:t>
            </a:r>
          </a:p>
          <a:p/>
          <a:p>
            <a:r>
              <a:t>Two kinds of values: Python payloads compute now; MLIR-backed leaves build staged operations. A DSL annotation makes a runtime argument; ordinary Python configuration is Meta. The implementation additionally stages adapted values containing registered leaves even without annotations, so do not describe annotations as the only rule. is_mlir_op is the predicate. A Numeric wrapper may itself hold a Python literal or an SSA value. There is no Constexpr marker.</a:t>
            </a:r>
          </a:p>
          <a:p/>
          <a:p>
            <a:r>
              <a:t>SOURCES / PREPARATION</a:t>
            </a:r>
          </a:p>
          <a:p>
            <a:r>
              <a:t>/home/gozen/work/llvm-project/mlir/tools/mlir-dsl/dsl/core/staging.py</a:t>
            </a:r>
          </a:p>
          <a:p>
            <a:r>
              <a:t>/home/gozen/work/llvm-project/mlir/tools/mlir-dsl/dsl/types/typing.py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Python is the metaprogram</a:t>
            </a:r>
          </a:p>
          <a:p>
            <a:r>
              <a:t>Owner: Guray Ozen</a:t>
            </a:r>
          </a:p>
          <a:p>
            <a:r>
              <a:t>Clock: 09:40–10:10</a:t>
            </a:r>
          </a:p>
          <a:p>
            <a:r>
              <a:t>Target duration: 00:30</a:t>
            </a:r>
          </a:p>
          <a:p/>
          <a:p>
            <a:r>
              <a:t>Dictionary and values are known configuration; accesses and ordinary functions run in Python. Runtime x is MLIR-backed, so multiply/add emit operations. This is a conceptual variant of the checked affine example; no runtime dictionary is needed.</a:t>
            </a:r>
          </a:p>
          <a:p/>
          <a:p>
            <a:r>
              <a:t>SOURCES / PREPARATION</a:t>
            </a:r>
          </a:p>
          <a:p>
            <a:r>
              <a:t>/home/gozen/work/llvm-project/mlir/tools/mlir-dsl/dsl/core/staging.py</a:t>
            </a:r>
          </a:p>
          <a:p>
            <a:r>
              <a:t>/home/gozen/work/llvm-project/mlir/tools/mlir-dsl/sub-dsls/mlir-dsl/examples/01_staging.py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Objects + dictionaries → arithmetic</a:t>
            </a:r>
          </a:p>
          <a:p>
            <a:r>
              <a:t>Owner: Guray Ozen</a:t>
            </a:r>
          </a:p>
          <a:p>
            <a:r>
              <a:t>Clock: 10:10–11:00</a:t>
            </a:r>
          </a:p>
          <a:p>
            <a:r>
              <a:t>Target duration: 00:50</a:t>
            </a:r>
          </a:p>
          <a:p/>
          <a:p>
            <a:r>
              <a:t>An ordinary dictionary of Meta objects selects AddN and MulN by Python dispatch. The recipe loop runs while tracing. Each apply receives an MLIR-backed scalar, and only its arithmetic is captured. The same source was checked on the current October7 implementation: int(pipeline(4,ops)) is18. No runtime virtual dispatch or dictionary lookup is emitted. Mutable Meta configuration is legal; staged records crossing regions have different restrictions.</a:t>
            </a:r>
          </a:p>
          <a:p/>
          <a:p>
            <a:r>
              <a:t>SOURCES / PREPARATION</a:t>
            </a:r>
          </a:p>
          <a:p>
            <a:r>
              <a:t>/home/gozen/work/llvm-project/mlir/tools/mlir-dsl/dsl/core/staging.py</a:t>
            </a:r>
          </a:p>
          <a:p>
            <a:r>
              <a:t>/home/gozen/work/llvm-project/mlir/tools/mlir-dsl/dsl/util/tree_utils.py</a:t>
            </a:r>
          </a:p>
          <a:p>
            <a:r>
              <a:t>verification/v14/api-audit.txt</a:t>
            </a:r>
          </a:p>
          <a:p>
            <a:r>
              <a:t>verification/v14/metaprogram-examples.txt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3 · Numeric types are core policy</a:t>
            </a:r>
          </a:p>
          <a:p>
            <a:r>
              <a:t>Owner: Guray Ozen</a:t>
            </a:r>
          </a:p>
          <a:p>
            <a:r>
              <a:t>Clock: 11:00–11:30</a:t>
            </a:r>
          </a:p>
          <a:p>
            <a:r>
              <a:t>Target duration: 00:30</a:t>
            </a:r>
          </a:p>
          <a:p/>
          <a:p>
            <a:r>
              <a:t>These are the wrapper families in types/typing.py. Promotion and conversion policy live in Python. Representation support does not guarantee every host ABI or arithmetic operation for every narrow/wide type. TypeOps maps each dtype to the chosen physical MLIR type; outside a trace use scalar_mlir_type or ask a plugin explicitly, not Int32.mlir_type.</a:t>
            </a:r>
          </a:p>
          <a:p/>
          <a:p>
            <a:r>
              <a:t>SOURCES / PREPARATION</a:t>
            </a:r>
          </a:p>
          <a:p>
            <a:r>
              <a:t>/home/gozen/work/llvm-project/mlir/tools/mlir-dsl/dsl/types/typing.py</a:t>
            </a:r>
          </a:p>
          <a:p>
            <a:r>
              <a:t>/home/gozen/work/llvm-project/mlir/tools/mlir-dsl/sub-dsls/mlir-dsl/examples/02_numeric_types.py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Literal → promotion → cast</a:t>
            </a:r>
          </a:p>
          <a:p>
            <a:r>
              <a:t>Owner: Guray Ozen</a:t>
            </a:r>
          </a:p>
          <a:p>
            <a:r>
              <a:t>Clock: 11:30–12:30</a:t>
            </a:r>
          </a:p>
          <a:p>
            <a:r>
              <a:t>Target duration: 01:00</a:t>
            </a:r>
          </a:p>
          <a:p/>
          <a:p>
            <a:r>
              <a:t>Python literal defaults are bool→Boolean, int→Int32 (Int64 when outside i32 range), float→Float32. Wrappers with Python payloads can fold in Python. On staged use, the selected type_ops plugin materializes operations. Signed i32+i64 promotes; explicit narrowing truncates and is not universally an error. Narrow Python integer construction may wrap and warn. Runtime x.to(int) raises PHASE_REQUIRES_CONSTANT. Examples show TypeOps with arith, not a plugin named LLVM.</a:t>
            </a:r>
          </a:p>
          <a:p/>
          <a:p>
            <a:r>
              <a:t>SOURCES / PREPARATION</a:t>
            </a:r>
          </a:p>
          <a:p>
            <a:r>
              <a:t>/home/gozen/work/llvm-project/mlir/tools/mlir-dsl/dsl/types/typing.py</a:t>
            </a:r>
          </a:p>
          <a:p>
            <a:r>
              <a:t>/home/gozen/work/llvm-project/mlir/tools/mlir-dsl/dsl/plugins/type_ops/arith.py</a:t>
            </a:r>
          </a:p>
          <a:p>
            <a:r>
              <a:t>/home/gozen/work/llvm-project/mlir/tools/mlir-dsl/dsl/plugins/type_ops/__init__.py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The same dtype can target another dialect</a:t>
            </a:r>
          </a:p>
          <a:p>
            <a:r>
              <a:t>Owner: Guray Ozen</a:t>
            </a:r>
          </a:p>
          <a:p>
            <a:r>
              <a:t>Clock: 12:30–13:15</a:t>
            </a:r>
          </a:p>
          <a:p>
            <a:r>
              <a:t>Target duration: 00:45</a:t>
            </a:r>
          </a:p>
          <a:p/>
          <a:p>
            <a:r>
              <a:t>Short excerpt based on example14. Imports, scalar_type, tensor constant construction and custom pipeline are omitted; all are required in the full example. The checked full example emits i32 under the reference DSL and rank-zero tensor&lt;i32&gt; under the alternate type_ops plugin. It is a stand-in for a target such as cuda_tile, not actual Tile IR execution. The alternate path is trace-only because its custom lowering is not implemented. TypeOps composes scalar/vector/memory op modules; each part is optional.</a:t>
            </a:r>
          </a:p>
          <a:p/>
          <a:p>
            <a:r>
              <a:t>SOURCES / PREPARATION</a:t>
            </a:r>
          </a:p>
          <a:p>
            <a:r>
              <a:t>/home/gozen/work/llvm-project/mlir/tools/mlir-dsl/sub-dsls/mlir-dsl/examples/14_type_ops_plugin.py</a:t>
            </a:r>
          </a:p>
          <a:p>
            <a:r>
              <a:t>/home/gozen/work/llvm-project/mlir/tools/mlir-dsl/dsl/plugins/type_ops/__init__.py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4 · Vectors, pointers, structs</a:t>
            </a:r>
          </a:p>
          <a:p>
            <a:r>
              <a:t>Owner: Guray Ozen</a:t>
            </a:r>
          </a:p>
          <a:p>
            <a:r>
              <a:t>Clock: 13:15–13:50</a:t>
            </a:r>
          </a:p>
          <a:p>
            <a:r>
              <a:t>Target duration: 00:35</a:t>
            </a:r>
          </a:p>
          <a:p/>
          <a:p>
            <a:r>
              <a:t>Vector and Pointer delegate to type_ops. Host pointers wrap buffers; the default memory module emits LLVM pointer operations. Struct is a frozen pytree record rather than an aggregate SSA type and needs no type-ops hook. Native call/region boundaries flatten and reconstruct leaves. The func entry ABI may separately pack results, which does not change the language value model.</a:t>
            </a:r>
          </a:p>
          <a:p/>
          <a:p>
            <a:r>
              <a:t>SOURCES / PREPARATION</a:t>
            </a:r>
          </a:p>
          <a:p>
            <a:r>
              <a:t>/home/gozen/work/llvm-project/mlir/tools/mlir-dsl/dsl/types/vector.py</a:t>
            </a:r>
          </a:p>
          <a:p>
            <a:r>
              <a:t>/home/gozen/work/llvm-project/mlir/tools/mlir-dsl/dsl/types/typing.py</a:t>
            </a:r>
          </a:p>
          <a:p>
            <a:r>
              <a:t>/home/gozen/work/llvm-project/mlir/tools/mlir-dsl/dsl/util/tree_utils.py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Records flatten into their fields</a:t>
            </a:r>
          </a:p>
          <a:p>
            <a:r>
              <a:t>Owner: Guray Ozen</a:t>
            </a:r>
          </a:p>
          <a:p>
            <a:r>
              <a:t>Clock: 13:50–14:35</a:t>
            </a:r>
          </a:p>
          <a:p>
            <a:r>
              <a:t>Target duration: 00:45</a:t>
            </a:r>
          </a:p>
          <a:p/>
          <a:p>
            <a:r>
              <a:t>Frozen @struct records flatten at calls and control-flow boundaries. norm2 receives two f32 leaves. The displayed IR is a body/interface sketch; actual host result ABI is owned by func.Entry. The checked current structs example returns norm2=25, with Numeric wrappers for scalar leaves. General frozen dataclasses also work; mutable staged records are rejected. Meta objects need not be frozen.</a:t>
            </a:r>
          </a:p>
          <a:p/>
          <a:p>
            <a:r>
              <a:t>SOURCES / PREPARATION</a:t>
            </a:r>
          </a:p>
          <a:p>
            <a:r>
              <a:t>/home/gozen/work/llvm-project/mlir/tools/mlir-dsl/dsl/types/typing.py</a:t>
            </a:r>
          </a:p>
          <a:p>
            <a:r>
              <a:t>/home/gozen/work/llvm-project/mlir/tools/mlir-dsl/dsl/util/tree_utils.py</a:t>
            </a:r>
          </a:p>
          <a:p>
            <a:r>
              <a:t>/home/gozen/work/llvm-project/mlir/tools/mlir-dsl/sub-dsls/mlir-dsl/examples/05_structs.py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Extend values with mydialect.Tensor</a:t>
            </a:r>
          </a:p>
          <a:p>
            <a:r>
              <a:t>Owner: Guray Ozen</a:t>
            </a:r>
          </a:p>
          <a:p>
            <a:r>
              <a:t>Clock: 14:35–15:10</a:t>
            </a:r>
          </a:p>
          <a:p>
            <a:r>
              <a:t>Target duration: 00:35</a:t>
            </a:r>
          </a:p>
          <a:p/>
          <a:p>
            <a:r>
              <a:t>The staged-only Tensor wrapper demonstrates the exact keyword-only register_leaf API: ir_types, ir_values and from_ir_values. Imports are omitted. Without marshal it is a staged-only leaf, not a host tensor adapter. It can cross staged region boundaries through extracted/rebuilt SSA leaves. Host adaptation requires the additional marshal/adapter contract. Registration happens once at module import. A dialect module supplies operations; a custom value class alone is not a plugin.</a:t>
            </a:r>
          </a:p>
          <a:p/>
          <a:p>
            <a:r>
              <a:t>SOURCES / PREPARATION</a:t>
            </a:r>
          </a:p>
          <a:p>
            <a:r>
              <a:t>/home/gozen/work/llvm-project/mlir/tools/mlir-dsl/dsl/util/tree_utils.py</a:t>
            </a:r>
          </a:p>
          <a:p>
            <a:r>
              <a:t>/home/gozen/work/llvm-project/mlir/tools/mlir-dsl/dsl/types/typing.py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5 · Native control flow</a:t>
            </a:r>
          </a:p>
          <a:p>
            <a:r>
              <a:t>Owner: Guray Ozen</a:t>
            </a:r>
          </a:p>
          <a:p>
            <a:r>
              <a:t>Clock: 15:10–16:05</a:t>
            </a:r>
          </a:p>
          <a:p>
            <a:r>
              <a:t>Target duration: 00:55</a:t>
            </a:r>
          </a:p>
          <a:p/>
          <a:p>
            <a:r>
              <a:t>Tracing handles expressions, not Python keywords by operator overload alone. The optional ASTPreprocessorPlugin owns the rewrite and executor callbacks. The shipped scf.ASTPreprocessor pairs the generic syntax rewrite with SCF executors and builders. Meta conditions/bounds execute Python; MLIR-backed values build regions. A different role implementation can capture syntax for another control-flow dialect. No separate SCF dialect plugin exists now; lowering is listed in the sub-DSL pipeline.</a:t>
            </a:r>
          </a:p>
          <a:p/>
          <a:p>
            <a:r>
              <a:t>SOURCES / PREPARATION</a:t>
            </a:r>
          </a:p>
          <a:p>
            <a:r>
              <a:t>/home/gozen/work/llvm-project/mlir/tools/mlir-dsl/dsl/plugins/ast_preprocessor/preprocessor.py</a:t>
            </a:r>
          </a:p>
          <a:p>
            <a:r>
              <a:t>/home/gozen/work/llvm-project/mlir/tools/mlir-dsl/dsl/plugins/ast_preprocessor/scf/__init__.py</a:t>
            </a:r>
          </a:p>
          <a:p>
            <a:r>
              <a:t>/home/gozen/work/llvm-project/mlir/tools/mlir-dsl/dsl/plugins/ast_preprocessor/scf/executors.py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 Assigned name → iter_arg</a:t>
            </a:r>
          </a:p>
          <a:p>
            <a:r>
              <a:t>Owner: Guray Ozen</a:t>
            </a:r>
          </a:p>
          <a:p>
            <a:r>
              <a:t>Clock: 16:05–17:05</a:t>
            </a:r>
          </a:p>
          <a:p>
            <a:r>
              <a:t>Target duration: 01:00</a:t>
            </a:r>
          </a:p>
          <a:p/>
          <a:p>
            <a:r>
              <a:t>Assignment analysis identifies acc as a carried name. The selected executor flattens carries, creates region arguments, yields updates and rebuilds loop results. This is symbolic analysis of source names, not arbitrary mutation tracking. Current native-control-flow and TYPE_UNSTABLE_JOIN diagnostics pass. More general aliasing and mutation are the subject of Amir’s separate section.</a:t>
            </a:r>
          </a:p>
          <a:p/>
          <a:p>
            <a:r>
              <a:t>SOURCES / PREPARATION</a:t>
            </a:r>
          </a:p>
          <a:p>
            <a:r>
              <a:t>/home/gozen/work/llvm-project/mlir/tools/mlir-dsl/dsl/plugins/ast_preprocessor/preprocessor.py</a:t>
            </a:r>
          </a:p>
          <a:p>
            <a:r>
              <a:t>/home/gozen/work/llvm-project/mlir/tools/mlir-dsl/dsl/plugins/ast_preprocessor/scf/executors.py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 Capture has an explicit boundary</a:t>
            </a:r>
          </a:p>
          <a:p>
            <a:r>
              <a:t>Owner: Guray Ozen</a:t>
            </a:r>
          </a:p>
          <a:p>
            <a:r>
              <a:t>Clock: 17:05–17:35</a:t>
            </a:r>
          </a:p>
          <a:p>
            <a:r>
              <a:t>Target duration: 00:30</a:t>
            </a:r>
          </a:p>
          <a:p/>
          <a:p>
            <a:r>
              <a:t>The current preprocessor leaves an if/while owning return/raise/break/continue as Python, requiring a Meta condition when reached. Data-dependent early exits are not supported by this frontend. This restriction belongs to the selected preprocessor, not to every possible MLIR program. Captured staged records must be frozen; ordinary Meta objects can remain mutable. Comparisons, ternaries, and/or/not/any/all/min/max/range are handled by the selected capture implementation.</a:t>
            </a:r>
          </a:p>
          <a:p/>
          <a:p>
            <a:r>
              <a:t>SOURCES / PREPARATION</a:t>
            </a:r>
          </a:p>
          <a:p>
            <a:r>
              <a:t>/home/gozen/work/llvm-project/mlir/tools/mlir-dsl/dsl/plugins/ast_preprocessor/preprocessor.py</a:t>
            </a:r>
          </a:p>
          <a:p>
            <a:r>
              <a:t>/home/gozen/work/llvm-project/mlir/tools/mlir-dsl/test/ast_preprocessor.py</a:t>
            </a:r>
          </a:p>
          <a:p>
            <a:r>
              <a:t>/home/gozen/work/llvm-project/mlir/tools/mlir-dsl/test/diagnostics.py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 Replace capture through one role</a:t>
            </a:r>
          </a:p>
          <a:p>
            <a:r>
              <a:t>Owner: Guray Ozen</a:t>
            </a:r>
          </a:p>
          <a:p>
            <a:r>
              <a:t>Clock: 17:35–18:15</a:t>
            </a:r>
          </a:p>
          <a:p>
            <a:r>
              <a:t>Target duration: 00:40</a:t>
            </a:r>
          </a:p>
          <a:p/>
          <a:p>
            <a:r>
              <a:t>The checked CountingPreprocessor test uses this executors override shape to wrap staged loop construction. Here my_loop_executor is a downstream function omitted from the excerpt. Replacing callbacks can target another region dialect when its semantics fit; more extensive capture/early-exit changes may require a different preprocessor_class. This is not a promise that changing one callback supports every target control-flow feature.</a:t>
            </a:r>
          </a:p>
          <a:p/>
          <a:p>
            <a:r>
              <a:t>SOURCES / PREPARATION</a:t>
            </a:r>
          </a:p>
          <a:p>
            <a:r>
              <a:t>/home/gozen/work/llvm-project/mlir/tools/mlir-dsl/test/plugins_ast_preprocessor.py</a:t>
            </a:r>
          </a:p>
          <a:p>
            <a:r>
              <a:t>/home/gozen/work/llvm-project/mlir/tools/mlir-dsl/dsl/core/plugin.py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 6 · Explicit builders</a:t>
            </a:r>
          </a:p>
          <a:p>
            <a:r>
              <a:t>Owner: Guray Ozen</a:t>
            </a:r>
          </a:p>
          <a:p>
            <a:r>
              <a:t>Clock: 18:15–18:50</a:t>
            </a:r>
          </a:p>
          <a:p>
            <a:r>
              <a:t>Target duration: 00:35</a:t>
            </a:r>
          </a:p>
          <a:p/>
          <a:p>
            <a:r>
              <a:t>Explicit builders live with the SCF AST plugin implementation and can be used without enabling its source rewrite. Loop carry values are explicit. This is the sum_of_squares shape from example08. The complete source and other builders are linked; no native AST reconstruction is required for this function.</a:t>
            </a:r>
          </a:p>
          <a:p/>
          <a:p>
            <a:r>
              <a:t>SOURCES / PREPARATION</a:t>
            </a:r>
          </a:p>
          <a:p>
            <a:r>
              <a:t>/home/gozen/work/llvm-project/mlir/tools/mlir-dsl/sub-dsls/mlir-dsl/examples/08_explicit_builders.py</a:t>
            </a:r>
          </a:p>
          <a:p>
            <a:r>
              <a:t>/home/gozen/work/llvm-project/mlir/tools/mlir-dsl/dsl/plugins/ast_preprocessor/scf/builders.py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 7 · Bring host values to the DSL</a:t>
            </a:r>
          </a:p>
          <a:p>
            <a:r>
              <a:t>Owner: Guray Ozen</a:t>
            </a:r>
          </a:p>
          <a:p>
            <a:r>
              <a:t>Clock: 18:50–19:45</a:t>
            </a:r>
          </a:p>
          <a:p>
            <a:r>
              <a:t>Target duration: 00:55</a:t>
            </a:r>
          </a:p>
          <a:p/>
          <a:p>
            <a:r>
              <a:t>core/arguments.py owns binding/adaptation and the common registry. NumPy arrays and supported dataclass/tuple/list structures adapt to leaves. PyTorch and DLPack are optional AdapterPlugin implementations. DLPack preserves producer lifetime and validates supported dtype/device/contiguity. Dimensions are explicit arguments rather than an automatic Array descriptor. JAX can enter through the protocol when supported; no framework-specific JAX execution claim. The opening PyTorch comparison is checked in v14.</a:t>
            </a:r>
          </a:p>
          <a:p/>
          <a:p>
            <a:r>
              <a:t>SOURCES / PREPARATION</a:t>
            </a:r>
          </a:p>
          <a:p>
            <a:r>
              <a:t>/home/gozen/work/llvm-project/mlir/tools/mlir-dsl/dsl/core/arguments.py</a:t>
            </a:r>
          </a:p>
          <a:p>
            <a:r>
              <a:t>/home/gozen/work/llvm-project/mlir/tools/mlir-dsl/dsl/plugins/adapters/pytorch/plugin.py</a:t>
            </a:r>
          </a:p>
          <a:p>
            <a:r>
              <a:t>/home/gozen/work/llvm-project/mlir/tools/mlir-dsl/dsl/plugins/adapters/dlpack/plugin.py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 Adapters work in both directions</a:t>
            </a:r>
          </a:p>
          <a:p>
            <a:r>
              <a:t>Owner: Guray Ozen</a:t>
            </a:r>
          </a:p>
          <a:p>
            <a:r>
              <a:t>Clock: 19:45–20:15</a:t>
            </a:r>
          </a:p>
          <a:p>
            <a:r>
              <a:t>Target duration: 00:30</a:t>
            </a:r>
          </a:p>
          <a:p/>
          <a:p>
            <a:r>
              <a:t>Inbound adapters register host-value conversions; outbound adapters may attach ABI wrappers to the traced module, finalize after lowering, and wrap the callable. These hooks belong to AdapterPlugin, not bare Plugin. TVM-FFI is optional and enabled through the DSL environment. Plugin availability is resolved per instance; absent optional dependencies are recorded. No new TVM-FFI execution claim is made here.</a:t>
            </a:r>
          </a:p>
          <a:p/>
          <a:p>
            <a:r>
              <a:t>SOURCES / PREPARATION</a:t>
            </a:r>
          </a:p>
          <a:p>
            <a:r>
              <a:t>/home/gozen/work/llvm-project/mlir/tools/mlir-dsl/dsl/core/plugin.py</a:t>
            </a:r>
          </a:p>
          <a:p>
            <a:r>
              <a:t>/home/gozen/work/llvm-project/mlir/tools/mlir-dsl/dsl/plugins/adapters/tvm_ffi/plugin.py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 8 · @kernel comes from a decorator plugin</a:t>
            </a:r>
          </a:p>
          <a:p>
            <a:r>
              <a:t>Owner: Guray Ozen</a:t>
            </a:r>
          </a:p>
          <a:p>
            <a:r>
              <a:t>Clock: 20:15–20:55</a:t>
            </a:r>
          </a:p>
          <a:p>
            <a:r>
              <a:t>Target duration: 00:40</a:t>
            </a:r>
          </a:p>
          <a:p/>
          <a:p>
            <a:r>
              <a:t>The core knows @jit. gpu.Kernels is a DecoratorPlugin that adds @kernel and its deferred launcher, per-trace gpu.module management and host-boundary checks. The three-dot role comment is omitted configuration, not a complete Plugins record. This body assumes a launch covering valid device memory; the next slide uses exactly32 threads on a32-element buffer. GPU tracing can be checked without claiming execution.</a:t>
            </a:r>
          </a:p>
          <a:p/>
          <a:p>
            <a:r>
              <a:t>SOURCES / PREPARATION</a:t>
            </a:r>
          </a:p>
          <a:p>
            <a:r>
              <a:t>/home/gozen/work/llvm-project/mlir/tools/mlir-dsl/dsl/plugins/decorators/kernels/gpu/__init__.py</a:t>
            </a:r>
          </a:p>
          <a:p>
            <a:r>
              <a:t>/home/gozen/work/llvm-project/mlir/tools/mlir-dsl/dsl/plugins/decorators/kernels/launch.py</a:t>
            </a:r>
          </a:p>
          <a:p>
            <a:r>
              <a:t>/home/gozen/work/llvm-project/mlir/tools/mlir-dsl/sub-dsls/mlir-dsl/examples/12_gpu_kernels.py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 Launch is an explicit operation</a:t>
            </a:r>
          </a:p>
          <a:p>
            <a:r>
              <a:t>Owner: Guray Ozen</a:t>
            </a:r>
          </a:p>
          <a:p>
            <a:r>
              <a:t>Clock: 20:55–21:35</a:t>
            </a:r>
          </a:p>
          <a:p>
            <a:r>
              <a:t>Target duration: 00:40</a:t>
            </a:r>
          </a:p>
          <a:p/>
          <a:p>
            <a:r>
              <a:t>Calling the decorated kernel prepares a KernelLauncher; launch emits gpu.launch_func. LaunchConfig normalizes grid/block and dynamic grids are guarded against zero extents. The GPU plugin checks target architecture and host/device buffer kinds. The caller owns device allocation. Reference GPU execution requires a configured target, CUDA runtime and device buffer; this deck treats it as a tracing/source example unless separate GPU evidence is recorded.</a:t>
            </a:r>
          </a:p>
          <a:p/>
          <a:p>
            <a:r>
              <a:t>SOURCES / PREPARATION</a:t>
            </a:r>
          </a:p>
          <a:p>
            <a:r>
              <a:t>/home/gozen/work/llvm-project/mlir/tools/mlir-dsl/dsl/plugins/decorators/kernels/launch.py</a:t>
            </a:r>
          </a:p>
          <a:p>
            <a:r>
              <a:t>/home/gozen/work/llvm-project/mlir/tools/mlir-dsl/dsl/plugins/decorators/kernels/gpu/__init__.py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 9 · The DSL owns the pass pipeline</a:t>
            </a:r>
          </a:p>
          <a:p>
            <a:r>
              <a:t>Owner: Guray Ozen</a:t>
            </a:r>
          </a:p>
          <a:p>
            <a:r>
              <a:t>Clock: 21:35–22:30</a:t>
            </a:r>
          </a:p>
          <a:p>
            <a:r>
              <a:t>Target duration: 00:55</a:t>
            </a:r>
          </a:p>
          <a:p/>
          <a:p>
            <a:r>
              <a:t>Every sub-DSL lists its own pass pipeline in order. No plugin publishes pipeline_passes or contributes an implicit pass list. The selected compiler consumes that list, builds its runtime/engine and loads the entry. The shipped compiler uses MLIR pass manager and ExecutionEngine; another target can replace the whole compiler role. Func entry packs/unpacks results independently of the compiler.</a:t>
            </a:r>
          </a:p>
          <a:p/>
          <a:p>
            <a:r>
              <a:t>SOURCES / PREPARATION</a:t>
            </a:r>
          </a:p>
          <a:p>
            <a:r>
              <a:t>/home/gozen/work/llvm-project/mlir/tools/mlir-dsl/dsl/core/plugin.py</a:t>
            </a:r>
          </a:p>
          <a:p>
            <a:r>
              <a:t>/home/gozen/work/llvm-project/mlir/tools/mlir-dsl/dsl/plugins/compiler/execution_engine.py</a:t>
            </a:r>
          </a:p>
          <a:p>
            <a:r>
              <a:t>/home/gozen/work/llvm-project/mlir/tools/mlir-dsl/dsl/plugins/compiler/jit_executor.py</a:t>
            </a:r>
          </a:p>
          <a:p>
            <a:r>
              <a:t>/home/gozen/work/llvm-project/mlir/tools/mlir-dsl/sub-dsls/mlir-dsl/dsl/mlir_dsl.py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 Compile now. Call later.</a:t>
            </a:r>
          </a:p>
          <a:p>
            <a:r>
              <a:t>Owner: Guray Ozen</a:t>
            </a:r>
          </a:p>
          <a:p>
            <a:r>
              <a:t>Clock: 22:30–23:05</a:t>
            </a:r>
          </a:p>
          <a:p>
            <a:r>
              <a:t>Target duration: 00:35</a:t>
            </a:r>
          </a:p>
          <a:p/>
          <a:p>
            <a:r>
              <a:t>The current API is plain m.compile(function,*representative_args), not bracket flags. It compiles a decorated function without running it and returns a callable. Runtime leaves fix the signature; Python values fix specialization and are checked at later calls. This is ahead-of-call compilation, not a generic standalone binary export API.</a:t>
            </a:r>
          </a:p>
          <a:p/>
          <a:p>
            <a:r>
              <a:t>SOURCES / PREPARATION</a:t>
            </a:r>
          </a:p>
          <a:p>
            <a:r>
              <a:t>/home/gozen/work/llvm-project/mlir/tools/mlir-dsl/sub-dsls/mlir-dsl/dsl/mlir_dsl.py</a:t>
            </a:r>
          </a:p>
          <a:p>
            <a:r>
              <a:t>/home/gozen/work/llvm-project/mlir/tools/mlir-dsl/sub-dsls/mlir-dsl/examples/09_compile_and_cache.py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 10 · Cache compilation work</a:t>
            </a:r>
          </a:p>
          <a:p>
            <a:r>
              <a:t>Owner: Guray Ozen</a:t>
            </a:r>
          </a:p>
          <a:p>
            <a:r>
              <a:t>Clock: 23:05–23:40</a:t>
            </a:r>
          </a:p>
          <a:p>
            <a:r>
              <a:t>Target duration: 00:35</a:t>
            </a:r>
          </a:p>
          <a:p/>
          <a:p>
            <a:r>
              <a:t>In-memory cache keys incorporate the traced module identity and relevant compilation configuration. On-disk cache stores lowered bytecode with CRC32 validation; loading it is a file-cache hit rather than a miss. The current cache example passed memory counters (1 hit,3 misses) and a second-process file hit. Do not describe the file cache as a permanent native-binary artifact or claim every arbitrary compiler version/target mismatch is magically handled.</a:t>
            </a:r>
          </a:p>
          <a:p/>
          <a:p>
            <a:r>
              <a:t>SOURCES / PREPARATION</a:t>
            </a:r>
          </a:p>
          <a:p>
            <a:r>
              <a:t>/home/gozen/work/llvm-project/mlir/tools/mlir-dsl/dsl/util/cache.py</a:t>
            </a:r>
          </a:p>
          <a:p>
            <a:r>
              <a:t>/home/gozen/work/llvm-project/mlir/tools/mlir-dsl/dsl/core/dsl.py</a:t>
            </a:r>
          </a:p>
          <a:p>
            <a:r>
              <a:t>/home/gozen/work/llvm-project/mlir/tools/mlir-dsl/sub-dsls/mlir-dsl/examples/09_compile_and_cache.py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36 — 11 · Generate IR and stop</a:t>
            </a:r>
          </a:p>
          <a:p>
            <a:r>
              <a:t>Owner: Guray Ozen</a:t>
            </a:r>
          </a:p>
          <a:p>
            <a:r>
              <a:t>Clock: 23:40–24:15</a:t>
            </a:r>
          </a:p>
          <a:p>
            <a:r>
              <a:t>Target duration: 00:35</a:t>
            </a:r>
          </a:p>
          <a:p/>
          <a:p>
            <a:r>
              <a:t>An IR-only DSL still chooses the operations/types and entry needed to build its program. This excerpt omits constructor/imports and uses no native staged control flow; preprocessing must be disabled or supplied by an AST plugin. A missing compiler returns the trace result like DRYRUN, while explicit compile is an error. PRINT_IR displays generated IR. This is a first-class fit for two motivating use cases, not a failed JIT.</a:t>
            </a:r>
          </a:p>
          <a:p/>
          <a:p>
            <a:r>
              <a:t>SOURCES / PREPARATION</a:t>
            </a:r>
          </a:p>
          <a:p>
            <a:r>
              <a:t>/home/gozen/work/llvm-project/mlir/tools/mlir-dsl/dsl/core/dsl.py</a:t>
            </a:r>
          </a:p>
          <a:p>
            <a:r>
              <a:t>/home/gozen/work/llvm-project/mlir/tools/mlir-dsl/test/core_only.py</a:t>
            </a:r>
          </a:p>
          <a:p>
            <a:r>
              <a:t>/home/gozen/work/llvm-project/mlir/tools/mlir-dsl/dsl/core/env_manager.py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37 — 12 · Errors should point to Python</a:t>
            </a:r>
          </a:p>
          <a:p>
            <a:r>
              <a:t>Owner: Guray Ozen</a:t>
            </a:r>
          </a:p>
          <a:p>
            <a:r>
              <a:t>Clock: 24:15–24:50</a:t>
            </a:r>
          </a:p>
          <a:p>
            <a:r>
              <a:t>Target duration: 00:35</a:t>
            </a:r>
          </a:p>
          <a:p/>
          <a:p>
            <a:r>
              <a:t>User program errors use DSLUserCodeError; runtime/configuration failures use DSLRuntimeError. The renderer formats stable DiagId catalog entries, placeholders, source frames and suggestions. The current diagnostics example passed argument mismatch, early exit, unstable join and closure-capture errors; the old v8 diagnostic mismatch is no longer current. int(x) or x.to(int) on a staged scalar requires a Meta value.</a:t>
            </a:r>
          </a:p>
          <a:p/>
          <a:p>
            <a:r>
              <a:t>SOURCES / PREPARATION</a:t>
            </a:r>
          </a:p>
          <a:p>
            <a:r>
              <a:t>/home/gozen/work/llvm-project/mlir/tools/mlir-dsl/dsl/core/diagnostics.py</a:t>
            </a:r>
          </a:p>
          <a:p>
            <a:r>
              <a:t>/home/gozen/work/llvm-project/mlir/tools/mlir-dsl/dsl/core/common.py</a:t>
            </a:r>
          </a:p>
          <a:p>
            <a:r>
              <a:t>/home/gozen/work/llvm-project/mlir/tools/mlir-dsl/dsl/types/typing.py</a:t>
            </a:r>
          </a:p>
          <a:p>
            <a:r>
              <a:t>/home/gozen/work/llvm-project/mlir/tools/mlir-dsl/sub-dsls/mlir-dsl/examples/10_diagnostics.py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38 — 13 · Locations and remarks</a:t>
            </a:r>
          </a:p>
          <a:p>
            <a:r>
              <a:t>Owner: Guray Ozen</a:t>
            </a:r>
          </a:p>
          <a:p>
            <a:r>
              <a:t>Clock: 24:50–25:25</a:t>
            </a:r>
          </a:p>
          <a:p>
            <a:r>
              <a:t>Target duration: 00:35</a:t>
            </a:r>
          </a:p>
          <a:p/>
          <a:p>
            <a:r>
              <a:t>core/user_op.py creates traceback-derived locations under DEBUGINFO; core/remarks.py connects collection through the selected compiler remark session. Remarks are structured feedback, not exceptions. The current checkout contains MLIR remark APIs, but this tutorial does not claim they are already in an upstream release. Preserve source coordinates through generated operations for useful errors.</a:t>
            </a:r>
          </a:p>
          <a:p/>
          <a:p>
            <a:r>
              <a:t>SOURCES / PREPARATION</a:t>
            </a:r>
          </a:p>
          <a:p>
            <a:r>
              <a:t>/home/gozen/work/llvm-project/mlir/tools/mlir-dsl/dsl/core/user_op.py</a:t>
            </a:r>
          </a:p>
          <a:p>
            <a:r>
              <a:t>/home/gozen/work/llvm-project/mlir/tools/mlir-dsl/dsl/core/remarks.py</a:t>
            </a:r>
          </a:p>
          <a:p>
            <a:r>
              <a:t>/home/gozen/work/llvm-project/mlir/tools/mlir-dsl/test/remarks.py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39 — 14 · See what the compiler does</a:t>
            </a:r>
          </a:p>
          <a:p>
            <a:r>
              <a:t>Owner: Guray Ozen</a:t>
            </a:r>
          </a:p>
          <a:p>
            <a:r>
              <a:t>Clock: 25:25–25:55</a:t>
            </a:r>
          </a:p>
          <a:p>
            <a:r>
              <a:t>Target duration: 00:30</a:t>
            </a:r>
          </a:p>
          <a:p/>
          <a:p>
            <a:r>
              <a:t>The name passed to BaseDSL chooses the environment prefix. These environment names were checked in the current core/env_manager.py. LOG_LEVEL requires LOG_TO_CONSOLE or LOG_TO_FILE to enable a sink. Configuration, logging and compiler timing are inherited infrastructure, while a downstream DSL can add its own variables. Avoid current package-size or environment-count claims from an older snapshot.</a:t>
            </a:r>
          </a:p>
          <a:p/>
          <a:p>
            <a:r>
              <a:t>SOURCES / PREPARATION</a:t>
            </a:r>
          </a:p>
          <a:p>
            <a:r>
              <a:t>/home/gozen/work/llvm-project/mlir/tools/mlir-dsl/dsl/core/env_manager.py</a:t>
            </a:r>
          </a:p>
          <a:p>
            <a:r>
              <a:t>/home/gozen/work/llvm-project/mlir/tools/mlir-dsl/dsl/util/profiler.py</a:t>
            </a:r>
          </a:p>
          <a:p>
            <a:r>
              <a:t>/home/gozen/work/llvm-project/mlir/tools/mlir-dsl/dsl/util/logger.py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40 — 15 · One subclass. One Plugins record.</a:t>
            </a:r>
          </a:p>
          <a:p>
            <a:r>
              <a:t>Owner: Guray Ozen</a:t>
            </a:r>
          </a:p>
          <a:p>
            <a:r>
              <a:t>Clock: 25:55–26:55</a:t>
            </a:r>
          </a:p>
          <a:p>
            <a:r>
              <a:t>Target duration: 01:00</a:t>
            </a:r>
          </a:p>
          <a:p/>
          <a:p>
            <a:r>
              <a:t>This is the current assembly shape, not the obsolete list-valued plugins API. Import BaseDSL and Plugins from mlir.dsl; plugins from their role/family packages. Modules arith/vector/llvm are arguments to TypeOps, not independent plugins. Constructor, namespace exports and pipeline are shown/discussed next. A custom DSL should depend on the core and selected plugins rather than importing the reference language.</a:t>
            </a:r>
          </a:p>
          <a:p/>
          <a:p>
            <a:r>
              <a:t>SOURCES / PREPARATION</a:t>
            </a:r>
          </a:p>
          <a:p>
            <a:r>
              <a:t>/home/gozen/work/llvm-project/mlir/tools/mlir-dsl/dsl/core/plugin.py</a:t>
            </a:r>
          </a:p>
          <a:p>
            <a:r>
              <a:t>/home/gozen/work/llvm-project/mlir/tools/mlir-dsl/sub-dsls/mlir-dsl/dsl/mlir_dsl.py</a:t>
            </a:r>
          </a:p>
          <a:p>
            <a:r>
              <a:t>/home/gozen/work/llvm-project/mlir/tools/mlir-dsl/sub-dsls/mlir-dsl/examples/11_custom_dsl.py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41 — Own the namespace and lowering</a:t>
            </a:r>
          </a:p>
          <a:p>
            <a:r>
              <a:t>Owner: Guray Ozen</a:t>
            </a:r>
          </a:p>
          <a:p>
            <a:r>
              <a:t>Clock: 26:55–27:30</a:t>
            </a:r>
          </a:p>
          <a:p>
            <a:r>
              <a:t>Target duration: 00:35</a:t>
            </a:r>
          </a:p>
          <a:p/>
          <a:p>
            <a:r>
              <a:t>These are methods on MyDSL from the previous slide. mydsl exports the chosen user types, jit/kernel/compile names and syntax helpers its preprocessor imports. name selects MY_DSL_* configuration. The example pass list is schematic: mydialect and its lowering are downstream definitions, not shipped names; include vector/math/GPU passes if those operations are emitted. The concrete reference pass list is in mlir_dsl.py. No plugin publishes passes.</a:t>
            </a:r>
          </a:p>
          <a:p/>
          <a:p>
            <a:r>
              <a:t>SOURCES / PREPARATION</a:t>
            </a:r>
          </a:p>
          <a:p>
            <a:r>
              <a:t>/home/gozen/work/llvm-project/mlir/tools/mlir-dsl/sub-dsls/mlir-dsl/dsl/mlir_dsl.py</a:t>
            </a:r>
          </a:p>
          <a:p>
            <a:r>
              <a:t>/home/gozen/work/llvm-project/mlir/tools/mlir-dsl/dsl/core/dsl.py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42 — Reuse a composition; change one field</a:t>
            </a:r>
          </a:p>
          <a:p>
            <a:r>
              <a:t>Owner: Guray Ozen</a:t>
            </a:r>
          </a:p>
          <a:p>
            <a:r>
              <a:t>Clock: 27:30–28:05</a:t>
            </a:r>
          </a:p>
          <a:p>
            <a:r>
              <a:t>Target duration: 00:35</a:t>
            </a:r>
          </a:p>
          <a:p/>
          <a:p>
            <a:r>
              <a:t>This exact variant pattern is in example11. replace creates a new frozen Plugins record; role implementations are retained while decorators and adapters are dropped. Each DSL instance shallow-copies and installs its available plugins. Inheriting a decorator attribute from a base class does not make its missing plugin available; invoking it reports CALL_PLUGIN_REQUIRED. A separately authored language can instead construct BaseDSL and its record from scratch.</a:t>
            </a:r>
          </a:p>
          <a:p/>
          <a:p>
            <a:r>
              <a:t>SOURCES / PREPARATION</a:t>
            </a:r>
          </a:p>
          <a:p>
            <a:r>
              <a:t>/home/gozen/work/llvm-project/mlir/tools/mlir-dsl/sub-dsls/mlir-dsl/examples/11_custom_dsl.py</a:t>
            </a:r>
          </a:p>
          <a:p>
            <a:r>
              <a:t>/home/gozen/work/llvm-project/mlir/tools/mlir-dsl/dsl/core/plugin.py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43 — Every plugin has a small shared lifecycle</a:t>
            </a:r>
          </a:p>
          <a:p>
            <a:r>
              <a:t>Owner: Guray Ozen</a:t>
            </a:r>
          </a:p>
          <a:p>
            <a:r>
              <a:t>Clock: 28:05–28:40</a:t>
            </a:r>
          </a:p>
          <a:p>
            <a:r>
              <a:t>Target duration: 00:35</a:t>
            </a:r>
          </a:p>
          <a:p/>
          <a:p>
            <a:r>
              <a:t>Only these hooks are on bare Plugin. A role or family adds its own contract. Unavailable plugins are dropped and listed in unavailable_plugins; available ones are copied/installed in record order: roles, decorators, adapters. Each dispatch loop calls its own role/family. Compiler, decorator and adapter hooks must not be described as a single universal plugin interface.</a:t>
            </a:r>
          </a:p>
          <a:p/>
          <a:p>
            <a:r>
              <a:t>SOURCES / PREPARATION</a:t>
            </a:r>
          </a:p>
          <a:p>
            <a:r>
              <a:t>/home/gozen/work/llvm-project/mlir/tools/mlir-dsl/dsl/core/plugin.py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44 — One program: Python recipe + staged loop</a:t>
            </a:r>
          </a:p>
          <a:p>
            <a:r>
              <a:t>Owner: Guray Ozen</a:t>
            </a:r>
          </a:p>
          <a:p>
            <a:r>
              <a:t>Clock: 28:40–29:45</a:t>
            </a:r>
          </a:p>
          <a:p>
            <a:r>
              <a:t>Target duration: 01:05</a:t>
            </a:r>
          </a:p>
          <a:p/>
          <a:p>
            <a:r>
              <a:t>The array loop is staged and the ordinary recipe dictionary dispatches at trace time. Pointer load/store operations use the selected type_ops memory module; arithmetic uses its scalar module. The current v14 metaprogram check produced [6,9,12,15] for [0,1,2,3] with AddN(2), MulN(3). The displayed IR is a loop-body excerpt. This ties together values, metaprogramming, memory, control flow and execution.</a:t>
            </a:r>
          </a:p>
          <a:p/>
          <a:p>
            <a:r>
              <a:t>SOURCES / PREPARATION</a:t>
            </a:r>
          </a:p>
          <a:p>
            <a:r>
              <a:t>/home/gozen/work/llvm-project/mlir/tools/mlir-dsl/dsl/core/staging.py</a:t>
            </a:r>
          </a:p>
          <a:p>
            <a:r>
              <a:t>/home/gozen/work/llvm-project/mlir/tools/mlir-dsl/dsl/plugins/type_ops/llvm.py</a:t>
            </a:r>
          </a:p>
          <a:p>
            <a:r>
              <a:t>/home/gozen/work/llvm-project/mlir/tools/mlir-dsl/dsl/plugins/type_ops/arith.py</a:t>
            </a:r>
          </a:p>
          <a:p>
            <a:r>
              <a:t>verification/v14/api-audit.txt</a:t>
            </a:r>
          </a:p>
          <a:p>
            <a:r>
              <a:t>verification/v14/metaprogram-examples.txt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45 — From loop carries to richer mutation</a:t>
            </a:r>
          </a:p>
          <a:p>
            <a:r>
              <a:t>Owner: Guray Ozen</a:t>
            </a:r>
          </a:p>
          <a:p>
            <a:r>
              <a:t>Clock: 29:45–30:00</a:t>
            </a:r>
          </a:p>
          <a:p>
            <a:r>
              <a:t>Target duration: 00:15</a:t>
            </a:r>
          </a:p>
          <a:p/>
          <a:p>
            <a:r>
              <a:t>Hand off to Amir. This deck only reserves his ten-minute slot; it does not author or claim completion of his PyIR mutation-tracking implementation.</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46 — Advanced mutation tracking</a:t>
            </a:r>
          </a:p>
          <a:p>
            <a:r>
              <a:t>Owner: Amir Tavakkoli</a:t>
            </a:r>
          </a:p>
          <a:p>
            <a:r>
              <a:t>Clock: 30:00–40:00</a:t>
            </a:r>
          </a:p>
          <a:p>
            <a:r>
              <a:t>Target duration: 10:00</a:t>
            </a:r>
          </a:p>
          <a:p/>
          <a:p>
            <a:r>
              <a:t>Placeholder for Amir’s independently supplied material. Ten minutes reserved. No PyIR implementation or technical slides authored here.</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47 — Tile IR: choose target implementations</a:t>
            </a:r>
          </a:p>
          <a:p>
            <a:r>
              <a:t>Owner: Guray Ozen</a:t>
            </a:r>
          </a:p>
          <a:p>
            <a:r>
              <a:t>Clock: 40:00–41:00</a:t>
            </a:r>
          </a:p>
          <a:p>
            <a:r>
              <a:t>Target duration: 01:00</a:t>
            </a:r>
          </a:p>
          <a:p/>
          <a:p>
            <a:r>
              <a:t>Proposed mapping of a downstream Tile backend to the current role/family architecture. The tile.* classes are illustrative interfaces, not shipped or executed implementations. The existing DkgDSL backend motivates the mapping but has not been ported here. Reuse the core and compatible existing adapters; replace the target-specific roles and decorator plugin. All five closing slides are a five-minute design sketch.</a:t>
            </a:r>
          </a:p>
          <a:p/>
          <a:p>
            <a:r>
              <a:t>SOURCES / PREPARATION</a:t>
            </a:r>
          </a:p>
          <a:p>
            <a:r>
              <a:t>/home/gozen/work/llvm-project/mlir/tools/mlir-dsl/README.md</a:t>
            </a:r>
          </a:p>
          <a:p>
            <a:r>
              <a:t>/home/gozen/work/llvm-project/mlir/tools/mlir-dsl/dsl/core/plugin.py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48 — Tile IR: one type-ops role</a:t>
            </a:r>
          </a:p>
          <a:p>
            <a:r>
              <a:t>Owner: Guray Ozen</a:t>
            </a:r>
          </a:p>
          <a:p>
            <a:r>
              <a:t>Clock: 41:00–42:00</a:t>
            </a:r>
          </a:p>
          <a:p>
            <a:r>
              <a:t>Target duration: 01:00</a:t>
            </a:r>
          </a:p>
          <a:p/>
          <a:p>
            <a:r>
              <a:t>The type_ops contract covers scalar, vector and pointer types/operations. A real Tile implementation must provide the relevant hooks and preserve dtype policy. The checked rank-zero tensor example demonstrates replacement of physical representation but is not CUDA Tile IR and has no real Tile lowering. This slide is a proposed downstream mapping, not an executed port.</a:t>
            </a:r>
          </a:p>
          <a:p/>
          <a:p>
            <a:r>
              <a:t>SOURCES / PREPARATION</a:t>
            </a:r>
          </a:p>
          <a:p>
            <a:r>
              <a:t>/home/gozen/work/llvm-project/mlir/tools/mlir-dsl/README.md</a:t>
            </a:r>
          </a:p>
          <a:p>
            <a:r>
              <a:t>/home/gozen/work/llvm-project/mlir/tools/mlir-dsl/dsl/core/mlir_op.py</a:t>
            </a:r>
          </a:p>
          <a:p>
            <a:r>
              <a:t>/home/gozen/work/llvm-project/mlir/tools/mlir-dsl/sub-dsls/mlir-dsl/examples/14_type_ops_plugin.py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49 — Tile IR: choose its control-flow model</a:t>
            </a:r>
          </a:p>
          <a:p>
            <a:r>
              <a:t>Owner: Guray Ozen</a:t>
            </a:r>
          </a:p>
          <a:p>
            <a:r>
              <a:t>Clock: 42:00–43:00</a:t>
            </a:r>
          </a:p>
          <a:p>
            <a:r>
              <a:t>Target duration: 01:00</a:t>
            </a:r>
          </a:p>
          <a:p/>
          <a:p>
            <a:r>
              <a:t>The Tile preprocessor and region callbacks are proposed downstream definitions. CUDA Tile loop can use its own early-exit constructs; the current shipped SCF preprocessor rejects data-dependent early exits, and simply swapping one callback is not a promise of complete support. Different target semantics may need a different rewrite. No legacy annotation wrappers are used.</a:t>
            </a:r>
          </a:p>
          <a:p/>
          <a:p>
            <a:r>
              <a:t>SOURCES / PREPARATION</a:t>
            </a:r>
          </a:p>
          <a:p>
            <a:r>
              <a:t>/home/gozen/work/llvm-project/mlir/tools/mlir-dsl/dsl/core/plugin.py</a:t>
            </a:r>
          </a:p>
          <a:p>
            <a:r>
              <a:t>/home/gozen/work/llvm-project/mlir/tools/mlir-dsl/dsl/plugins/ast_preprocessor/preprocessor.py</a:t>
            </a:r>
          </a:p>
          <a:p>
            <a:r>
              <a:t>verification/v14/api-audit.txt</a:t>
            </a:r>
          </a:p>
          <a:p>
            <a:r>
              <a:t>verification/v9/control-flow-evidence.txt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50 — Tile IR: keep a small user surface</a:t>
            </a:r>
          </a:p>
          <a:p>
            <a:r>
              <a:t>Owner: Guray Ozen</a:t>
            </a:r>
          </a:p>
          <a:p>
            <a:r>
              <a:t>Clock: 43:00–44:00</a:t>
            </a:r>
          </a:p>
          <a:p>
            <a:r>
              <a:t>Target duration: 01:00</a:t>
            </a:r>
          </a:p>
          <a:p/>
          <a:p>
            <a:r>
              <a:t>Illustrative target namespace and directly typed Tensor annotations, not a current executable tile API. A downstream module emits the target operations, the type-ops role routes operators, and the decorator plugin/launcher supplies the target entry and launch model. Direct typed annotations are used. The kernel body is an API sketch; real indices, shapes and memory operations are target-defined.</a:t>
            </a:r>
          </a:p>
          <a:p/>
          <a:p>
            <a:r>
              <a:t>SOURCES / PREPARATION</a:t>
            </a:r>
          </a:p>
          <a:p>
            <a:r>
              <a:t>/home/gozen/work/llvm-project/mlir/tools/mlir-dsl/README.md</a:t>
            </a:r>
          </a:p>
          <a:p>
            <a:r>
              <a:t>/home/gozen/work/llvm-project/mlir/tools/mlir-dsl/dsl/plugins/decorators/kernels/launch.py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51 — Tile IR: the target owns launch</a:t>
            </a:r>
          </a:p>
          <a:p>
            <a:r>
              <a:t>Owner: Guray Ozen</a:t>
            </a:r>
          </a:p>
          <a:p>
            <a:r>
              <a:t>Clock: 44:00–45:00</a:t>
            </a:r>
          </a:p>
          <a:p>
            <a:r>
              <a:t>Target duration: 01:00</a:t>
            </a:r>
          </a:p>
          <a:p/>
          <a:p>
            <a:r>
              <a:t>The desired downstream path can launch a decorated kernel directly from Python using a target launcher. The kernel decorator plugin owns that behavior; the compiler role can return a target artifact rather than ExecutionEngine. CUDA Python is a proposed launch mechanism, not implemented or GPU-tested by this deck. This differs from the shipped GPU plugin whose kernel calls are launched from @jit through gpu.launch_func. Close by returning to the four use cases: same core, selected roles, own pipeline.</a:t>
            </a:r>
          </a:p>
          <a:p/>
          <a:p>
            <a:r>
              <a:t>SOURCES / PREPARATION</a:t>
            </a:r>
          </a:p>
          <a:p>
            <a:r>
              <a:t>/home/gozen/work/llvm-project/mlir/tools/mlir-dsl/README.md</a:t>
            </a:r>
          </a:p>
          <a:p>
            <a:r>
              <a:t>/home/gozen/work/llvm-project/mlir/tools/mlir-dsl/dsl/core/plugin.py</a:t>
            </a:r>
          </a:p>
          <a:p>
            <a:r>
              <a:t>/home/gozen/work/llvm-project/mlir/tools/mlir-dsl/dsl/plugins/decorators/kernels/launch.py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hyperlink" Target="https://docs.nvidia.com/cutlass/latest/media/docs/pythonDSL/overview.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0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01</a:t>
            </a:r>
          </a:p>
        </p:txBody>
      </p:sp>
      <p:sp>
        <p:nvSpPr>
          <p:cNvPr id="5" name="2026 US LLVM Developers’ Meeting"/>
          <p:cNvSpPr txBox="1"/>
          <p:nvPr/>
        </p:nvSpPr>
        <p:spPr>
          <a:xfrm>
            <a:off x="475488" y="530352"/>
            <a:ext cx="8193024" cy="27432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2026 US LLVM Developers’ Meeting</a:t>
            </a:r>
          </a:p>
        </p:txBody>
      </p:sp>
      <p:sp>
        <p:nvSpPr>
          <p:cNvPr id="6" name="27 October 2026"/>
          <p:cNvSpPr txBox="1"/>
          <p:nvPr/>
        </p:nvSpPr>
        <p:spPr>
          <a:xfrm>
            <a:off x="475488" y="905256"/>
            <a:ext cx="8193024" cy="25603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27 October 2026</a:t>
            </a:r>
          </a:p>
        </p:txBody>
      </p:sp>
      <p:sp>
        <p:nvSpPr>
          <p:cNvPr id="7" name="How to build a Python DSL / for MLIR"/>
          <p:cNvSpPr txBox="1"/>
          <p:nvPr/>
        </p:nvSpPr>
        <p:spPr>
          <a:xfrm>
            <a:off x="438912" y="1655064"/>
            <a:ext cx="8266175" cy="1124712"/>
          </a:xfrm>
          <a:prstGeom prst="rect">
            <a:avLst/>
          </a:prstGeom>
          <a:noFill/>
        </p:spPr>
        <p:txBody>
          <a:bodyPr wrap="none" anchor="t" lIns="0" rIns="0" tIns="0" bIns="0">
            <a:noAutofit/>
          </a:bodyPr>
          <a:lstStyle/>
          <a:p>
            <a:pPr algn="l">
              <a:lnSpc>
                <a:spcPts val="3596"/>
              </a:lnSpc>
              <a:spcBef>
                <a:spcPts val="0"/>
              </a:spcBef>
              <a:spcAft>
                <a:spcPts val="0"/>
              </a:spcAft>
            </a:pPr>
            <a:r>
              <a:rPr sz="3100" b="0">
                <a:solidFill>
                  <a:srgbClr val="000000"/>
                </a:solidFill>
                <a:latin typeface="NVIDIA Sans Light"/>
              </a:rPr>
              <a:t>How to build a Python DSL</a:t>
            </a:r>
          </a:p>
          <a:p>
            <a:pPr algn="l">
              <a:lnSpc>
                <a:spcPts val="3596"/>
              </a:lnSpc>
              <a:spcBef>
                <a:spcPts val="0"/>
              </a:spcBef>
              <a:spcAft>
                <a:spcPts val="0"/>
              </a:spcAft>
            </a:pPr>
            <a:r>
              <a:rPr sz="3100" b="0">
                <a:solidFill>
                  <a:srgbClr val="000000"/>
                </a:solidFill>
                <a:latin typeface="NVIDIA Sans Light"/>
              </a:rPr>
              <a:t>for MLIR</a:t>
            </a:r>
          </a:p>
        </p:txBody>
      </p:sp>
      <p:sp>
        <p:nvSpPr>
          <p:cNvPr id="8" name="mlir dsl · Python generates MLIR"/>
          <p:cNvSpPr txBox="1"/>
          <p:nvPr/>
        </p:nvSpPr>
        <p:spPr>
          <a:xfrm>
            <a:off x="475488" y="2990088"/>
            <a:ext cx="8211312" cy="365760"/>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416600"/>
                </a:solidFill>
                <a:latin typeface="NVIDIA Sans"/>
              </a:rPr>
              <a:t>mlir dsl · Python generates MLIR</a:t>
            </a:r>
          </a:p>
        </p:txBody>
      </p:sp>
      <p:sp>
        <p:nvSpPr>
          <p:cNvPr id="9" name="Guray Ozen"/>
          <p:cNvSpPr txBox="1"/>
          <p:nvPr/>
        </p:nvSpPr>
        <p:spPr>
          <a:xfrm>
            <a:off x="475488" y="3758184"/>
            <a:ext cx="3840480" cy="329184"/>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Guray Ozen</a:t>
            </a:r>
          </a:p>
        </p:txBody>
      </p:sp>
      <p:sp>
        <p:nvSpPr>
          <p:cNvPr id="10" name="Principal Compiler Engineer, NVIDIA"/>
          <p:cNvSpPr txBox="1"/>
          <p:nvPr/>
        </p:nvSpPr>
        <p:spPr>
          <a:xfrm>
            <a:off x="475488" y="4187952"/>
            <a:ext cx="3840480" cy="402336"/>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616161"/>
                </a:solidFill>
                <a:latin typeface="NVIDIA Sans"/>
              </a:rPr>
              <a:t>Principal Compiler Engineer, NVIDIA</a:t>
            </a:r>
          </a:p>
        </p:txBody>
      </p:sp>
      <p:sp>
        <p:nvSpPr>
          <p:cNvPr id="11" name="Amir Tavakkoli"/>
          <p:cNvSpPr txBox="1"/>
          <p:nvPr/>
        </p:nvSpPr>
        <p:spPr>
          <a:xfrm>
            <a:off x="4700016" y="3758184"/>
            <a:ext cx="3840480" cy="329184"/>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Amir Tavakkoli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How do we produce ML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How do we produce MLIR?</a:t>
            </a:r>
          </a:p>
        </p:txBody>
      </p:sp>
      <p:sp>
        <p:nvSpPr>
          <p:cNvPr id="5" name="0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02</a:t>
            </a:r>
          </a:p>
        </p:txBody>
      </p:sp>
      <p:sp>
        <p:nvSpPr>
          <p:cNvPr id="6" name="Motiva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Motivation</a:t>
            </a:r>
          </a:p>
        </p:txBody>
      </p:sp>
      <p:sp>
        <p:nvSpPr>
          <p:cNvPr id="7" name="Rectangle 6"/>
          <p:cNvSpPr/>
          <p:nvPr/>
        </p:nvSpPr>
        <p:spPr>
          <a:xfrm>
            <a:off x="438912" y="1572768"/>
            <a:ext cx="2621280" cy="245973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72768"/>
            <a:ext cx="2621280" cy="41148"/>
          </a:xfrm>
          <a:prstGeom prst="rect">
            <a:avLst/>
          </a:prstGeom>
          <a:solidFill>
            <a:srgbClr val="D5D5D5"/>
          </a:solidFill>
          <a:ln>
            <a:noFill/>
          </a:ln>
          <a:effectLst/>
        </p:spPr>
        <p:txBody>
          <a:bodyPr rtlCol="0" anchor="ctr"/>
          <a:lstStyle/>
          <a:p>
            <a:pPr algn="ctr"/>
          </a:p>
        </p:txBody>
      </p:sp>
      <p:sp>
        <p:nvSpPr>
          <p:cNvPr id="9" name="Write IR by hand"/>
          <p:cNvSpPr txBox="1"/>
          <p:nvPr/>
        </p:nvSpPr>
        <p:spPr>
          <a:xfrm>
            <a:off x="621792"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Write IR by hand</a:t>
            </a:r>
          </a:p>
        </p:txBody>
      </p:sp>
      <p:sp>
        <p:nvSpPr>
          <p:cNvPr id="10" name="Literal programs / Manual variants"/>
          <p:cNvSpPr txBox="1"/>
          <p:nvPr/>
        </p:nvSpPr>
        <p:spPr>
          <a:xfrm>
            <a:off x="621792"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Literal programs</a:t>
            </a:r>
          </a:p>
          <a:p>
            <a:pPr algn="l">
              <a:lnSpc>
                <a:spcPts val="1507"/>
              </a:lnSpc>
              <a:spcBef>
                <a:spcPts val="0"/>
              </a:spcBef>
              <a:spcAft>
                <a:spcPts val="0"/>
              </a:spcAft>
            </a:pPr>
            <a:r>
              <a:rPr sz="1300" b="0">
                <a:solidFill>
                  <a:srgbClr val="616161"/>
                </a:solidFill>
                <a:latin typeface="NVIDIA Sans"/>
              </a:rPr>
              <a:t>Manual variants</a:t>
            </a:r>
          </a:p>
        </p:txBody>
      </p:sp>
      <p:sp>
        <p:nvSpPr>
          <p:cNvPr id="11" name="Rectangle 10"/>
          <p:cNvSpPr/>
          <p:nvPr/>
        </p:nvSpPr>
        <p:spPr>
          <a:xfrm>
            <a:off x="3261360" y="1572768"/>
            <a:ext cx="2621280" cy="2459736"/>
          </a:xfrm>
          <a:prstGeom prst="rect">
            <a:avLst/>
          </a:prstGeom>
          <a:solidFill>
            <a:srgbClr val="F7F7F7"/>
          </a:solidFill>
          <a:ln>
            <a:noFill/>
          </a:ln>
          <a:effectLst/>
        </p:spPr>
        <p:txBody>
          <a:bodyPr rtlCol="0" anchor="ctr"/>
          <a:lstStyle/>
          <a:p>
            <a:pPr algn="ctr"/>
          </a:p>
        </p:txBody>
      </p:sp>
      <p:sp>
        <p:nvSpPr>
          <p:cNvPr id="12" name="Rectangle 11"/>
          <p:cNvSpPr/>
          <p:nvPr/>
        </p:nvSpPr>
        <p:spPr>
          <a:xfrm>
            <a:off x="3261360" y="1572768"/>
            <a:ext cx="2621280" cy="41148"/>
          </a:xfrm>
          <a:prstGeom prst="rect">
            <a:avLst/>
          </a:prstGeom>
          <a:solidFill>
            <a:srgbClr val="D5D5D5"/>
          </a:solidFill>
          <a:ln>
            <a:noFill/>
          </a:ln>
          <a:effectLst/>
        </p:spPr>
        <p:txBody>
          <a:bodyPr rtlCol="0" anchor="ctr"/>
          <a:lstStyle/>
          <a:p>
            <a:pPr algn="ctr"/>
          </a:p>
        </p:txBody>
      </p:sp>
      <p:sp>
        <p:nvSpPr>
          <p:cNvPr id="13" name="Python bindings"/>
          <p:cNvSpPr txBox="1"/>
          <p:nvPr/>
        </p:nvSpPr>
        <p:spPr>
          <a:xfrm>
            <a:off x="3444240"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Python bindings</a:t>
            </a:r>
          </a:p>
        </p:txBody>
      </p:sp>
      <p:sp>
        <p:nvSpPr>
          <p:cNvPr id="14" name="Build operations / Wire compilation + ABI"/>
          <p:cNvSpPr txBox="1"/>
          <p:nvPr/>
        </p:nvSpPr>
        <p:spPr>
          <a:xfrm>
            <a:off x="3444240"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Build operations</a:t>
            </a:r>
          </a:p>
          <a:p>
            <a:pPr algn="l">
              <a:lnSpc>
                <a:spcPts val="1507"/>
              </a:lnSpc>
              <a:spcBef>
                <a:spcPts val="0"/>
              </a:spcBef>
              <a:spcAft>
                <a:spcPts val="0"/>
              </a:spcAft>
            </a:pPr>
            <a:r>
              <a:rPr sz="1300" b="0">
                <a:solidFill>
                  <a:srgbClr val="616161"/>
                </a:solidFill>
                <a:latin typeface="NVIDIA Sans"/>
              </a:rPr>
              <a:t>Wire compilation + ABI</a:t>
            </a:r>
          </a:p>
        </p:txBody>
      </p:sp>
      <p:sp>
        <p:nvSpPr>
          <p:cNvPr id="15" name="Rectangle 14"/>
          <p:cNvSpPr/>
          <p:nvPr/>
        </p:nvSpPr>
        <p:spPr>
          <a:xfrm>
            <a:off x="6083808" y="1572768"/>
            <a:ext cx="2621280" cy="2459736"/>
          </a:xfrm>
          <a:prstGeom prst="rect">
            <a:avLst/>
          </a:prstGeom>
          <a:solidFill>
            <a:srgbClr val="F0F6E6"/>
          </a:solidFill>
          <a:ln>
            <a:noFill/>
          </a:ln>
          <a:effectLst/>
        </p:spPr>
        <p:txBody>
          <a:bodyPr rtlCol="0" anchor="ctr"/>
          <a:lstStyle/>
          <a:p>
            <a:pPr algn="ctr"/>
          </a:p>
        </p:txBody>
      </p:sp>
      <p:sp>
        <p:nvSpPr>
          <p:cNvPr id="16" name="Rectangle 15"/>
          <p:cNvSpPr/>
          <p:nvPr/>
        </p:nvSpPr>
        <p:spPr>
          <a:xfrm>
            <a:off x="6083808" y="1572768"/>
            <a:ext cx="2621280" cy="41148"/>
          </a:xfrm>
          <a:prstGeom prst="rect">
            <a:avLst/>
          </a:prstGeom>
          <a:solidFill>
            <a:srgbClr val="76B900"/>
          </a:solidFill>
          <a:ln>
            <a:noFill/>
          </a:ln>
          <a:effectLst/>
        </p:spPr>
        <p:txBody>
          <a:bodyPr rtlCol="0" anchor="ctr"/>
          <a:lstStyle/>
          <a:p>
            <a:pPr algn="ctr"/>
          </a:p>
        </p:txBody>
      </p:sp>
      <p:sp>
        <p:nvSpPr>
          <p:cNvPr id="17" name="Python DSL"/>
          <p:cNvSpPr txBox="1"/>
          <p:nvPr/>
        </p:nvSpPr>
        <p:spPr>
          <a:xfrm>
            <a:off x="6266688"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416600"/>
                </a:solidFill>
                <a:latin typeface="NVIDIA Sans"/>
              </a:rPr>
              <a:t>Python DSL</a:t>
            </a:r>
          </a:p>
        </p:txBody>
      </p:sp>
      <p:sp>
        <p:nvSpPr>
          <p:cNvPr id="18" name="Write the computation / Reuse the infrastructure"/>
          <p:cNvSpPr txBox="1"/>
          <p:nvPr/>
        </p:nvSpPr>
        <p:spPr>
          <a:xfrm>
            <a:off x="6266688"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Write the computation</a:t>
            </a:r>
          </a:p>
          <a:p>
            <a:pPr algn="l">
              <a:lnSpc>
                <a:spcPts val="1507"/>
              </a:lnSpc>
              <a:spcBef>
                <a:spcPts val="0"/>
              </a:spcBef>
              <a:spcAft>
                <a:spcPts val="0"/>
              </a:spcAft>
            </a:pPr>
            <a:r>
              <a:rPr sz="1300" b="0">
                <a:solidFill>
                  <a:srgbClr val="616161"/>
                </a:solidFill>
                <a:latin typeface="NVIDIA Sans"/>
              </a:rPr>
              <a:t>Reuse the infrastructure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e want to write the computatio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We want to write the computation</a:t>
            </a:r>
          </a:p>
        </p:txBody>
      </p:sp>
      <p:sp>
        <p:nvSpPr>
          <p:cNvPr id="5" name="0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03</a:t>
            </a:r>
          </a:p>
        </p:txBody>
      </p:sp>
      <p:sp>
        <p:nvSpPr>
          <p:cNvPr id="6" name="Motiva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Motivation</a:t>
            </a:r>
          </a:p>
        </p:txBody>
      </p:sp>
      <p:sp>
        <p:nvSpPr>
          <p:cNvPr id="7" name="Same PyTorch CPU tensors · same a + b"/>
          <p:cNvSpPr txBox="1"/>
          <p:nvPr/>
        </p:nvSpPr>
        <p:spPr>
          <a:xfrm>
            <a:off x="512064" y="1005840"/>
            <a:ext cx="8147304" cy="256032"/>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416600"/>
                </a:solidFill>
                <a:latin typeface="NVIDIA Sans"/>
              </a:rPr>
              <a:t>Same PyTorch CPU tensors · same a + b</a:t>
            </a:r>
          </a:p>
        </p:txBody>
      </p:sp>
      <p:sp>
        <p:nvSpPr>
          <p:cNvPr id="8" name="Rectangle 7"/>
          <p:cNvSpPr/>
          <p:nvPr/>
        </p:nvSpPr>
        <p:spPr>
          <a:xfrm>
            <a:off x="484632" y="1353312"/>
            <a:ext cx="5212080" cy="3291840"/>
          </a:xfrm>
          <a:prstGeom prst="rect">
            <a:avLst/>
          </a:prstGeom>
          <a:solidFill>
            <a:srgbClr val="F7F7F7"/>
          </a:solidFill>
          <a:ln>
            <a:noFill/>
          </a:ln>
          <a:effectLst/>
        </p:spPr>
        <p:txBody>
          <a:bodyPr rtlCol="0" anchor="ctr"/>
          <a:lstStyle/>
          <a:p>
            <a:pPr algn="ctr"/>
          </a:p>
        </p:txBody>
      </p:sp>
      <p:sp>
        <p:nvSpPr>
          <p:cNvPr id="9" name="Rectangle 8"/>
          <p:cNvSpPr/>
          <p:nvPr/>
        </p:nvSpPr>
        <p:spPr>
          <a:xfrm>
            <a:off x="484632" y="1353312"/>
            <a:ext cx="5212080" cy="365760"/>
          </a:xfrm>
          <a:prstGeom prst="rect">
            <a:avLst/>
          </a:prstGeom>
          <a:solidFill>
            <a:srgbClr val="76B900"/>
          </a:solidFill>
          <a:ln>
            <a:noFill/>
          </a:ln>
          <a:effectLst/>
        </p:spPr>
        <p:txBody>
          <a:bodyPr rtlCol="0" anchor="ctr"/>
          <a:lstStyle/>
          <a:p>
            <a:pPr algn="ctr"/>
          </a:p>
        </p:txBody>
      </p:sp>
      <p:sp>
        <p:nvSpPr>
          <p:cNvPr id="10" name="Raw bindings · setup omitted"/>
          <p:cNvSpPr txBox="1"/>
          <p:nvPr/>
        </p:nvSpPr>
        <p:spPr>
          <a:xfrm>
            <a:off x="640080" y="1449324"/>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Raw bindings · setup omitted</a:t>
            </a:r>
          </a:p>
        </p:txBody>
      </p:sp>
      <p:sp>
        <p:nvSpPr>
          <p:cNvPr id="11" name="with ir.InsertionPoint(fn.add_entry_block()):"/>
          <p:cNvSpPr txBox="1"/>
          <p:nvPr/>
        </p:nvSpPr>
        <p:spPr>
          <a:xfrm>
            <a:off x="640080" y="1837943"/>
            <a:ext cx="4901184" cy="160972"/>
          </a:xfrm>
          <a:prstGeom prst="rect">
            <a:avLst/>
          </a:prstGeom>
          <a:noFill/>
        </p:spPr>
        <p:txBody>
          <a:bodyPr wrap="none" anchor="t" lIns="0" rIns="0" tIns="0" bIns="0">
            <a:noAutofit/>
          </a:bodyPr>
          <a:lstStyle/>
          <a:p>
            <a:pPr algn="l">
              <a:lnSpc>
                <a:spcPts val="1228"/>
              </a:lnSpc>
              <a:spcBef>
                <a:spcPts val="0"/>
              </a:spcBef>
              <a:spcAft>
                <a:spcPts val="0"/>
              </a:spcAft>
            </a:pPr>
            <a:r>
              <a:rPr sz="975" b="0">
                <a:solidFill>
                  <a:srgbClr val="484848"/>
                </a:solidFill>
                <a:latin typeface="JetBrains Mono"/>
              </a:rPr>
              <a:t>with ir.InsertionPoint(fn.add_entry_block()):</a:t>
            </a:r>
          </a:p>
        </p:txBody>
      </p:sp>
      <p:sp>
        <p:nvSpPr>
          <p:cNvPr id="12" name="    n, x, y, z = fn.arguments"/>
          <p:cNvSpPr txBox="1"/>
          <p:nvPr/>
        </p:nvSpPr>
        <p:spPr>
          <a:xfrm>
            <a:off x="640080" y="1996439"/>
            <a:ext cx="4901184" cy="160972"/>
          </a:xfrm>
          <a:prstGeom prst="rect">
            <a:avLst/>
          </a:prstGeom>
          <a:noFill/>
        </p:spPr>
        <p:txBody>
          <a:bodyPr wrap="none" anchor="t" lIns="0" rIns="0" tIns="0" bIns="0">
            <a:noAutofit/>
          </a:bodyPr>
          <a:lstStyle/>
          <a:p>
            <a:pPr algn="l">
              <a:lnSpc>
                <a:spcPts val="1228"/>
              </a:lnSpc>
              <a:spcBef>
                <a:spcPts val="0"/>
              </a:spcBef>
              <a:spcAft>
                <a:spcPts val="0"/>
              </a:spcAft>
            </a:pPr>
            <a:r>
              <a:rPr sz="975" b="0">
                <a:solidFill>
                  <a:srgbClr val="484848"/>
                </a:solidFill>
                <a:latin typeface="JetBrains Mono"/>
              </a:rPr>
              <a:t>    n, x, y, z = fn.arguments</a:t>
            </a:r>
          </a:p>
        </p:txBody>
      </p:sp>
      <p:sp>
        <p:nvSpPr>
          <p:cNvPr id="13" name="    lo, step = arith.ConstantOp(i32,0), arith.ConstantOp(i32,1)"/>
          <p:cNvSpPr txBox="1"/>
          <p:nvPr/>
        </p:nvSpPr>
        <p:spPr>
          <a:xfrm>
            <a:off x="640080" y="2154936"/>
            <a:ext cx="4901184" cy="160972"/>
          </a:xfrm>
          <a:prstGeom prst="rect">
            <a:avLst/>
          </a:prstGeom>
          <a:noFill/>
        </p:spPr>
        <p:txBody>
          <a:bodyPr wrap="none" anchor="t" lIns="0" rIns="0" tIns="0" bIns="0">
            <a:noAutofit/>
          </a:bodyPr>
          <a:lstStyle/>
          <a:p>
            <a:pPr algn="l">
              <a:lnSpc>
                <a:spcPts val="1228"/>
              </a:lnSpc>
              <a:spcBef>
                <a:spcPts val="0"/>
              </a:spcBef>
              <a:spcAft>
                <a:spcPts val="0"/>
              </a:spcAft>
            </a:pPr>
            <a:r>
              <a:rPr sz="975" b="0">
                <a:solidFill>
                  <a:srgbClr val="484848"/>
                </a:solidFill>
                <a:latin typeface="JetBrains Mono"/>
              </a:rPr>
              <a:t>    lo, step = arith.ConstantOp(i32,0), arith.ConstantOp(i32,1)</a:t>
            </a:r>
          </a:p>
        </p:txBody>
      </p:sp>
      <p:sp>
        <p:nvSpPr>
          <p:cNvPr id="14" name="    loop = scf.ForOp(lo, n, step)"/>
          <p:cNvSpPr txBox="1"/>
          <p:nvPr/>
        </p:nvSpPr>
        <p:spPr>
          <a:xfrm>
            <a:off x="640080" y="2313432"/>
            <a:ext cx="4901184" cy="160972"/>
          </a:xfrm>
          <a:prstGeom prst="rect">
            <a:avLst/>
          </a:prstGeom>
          <a:noFill/>
        </p:spPr>
        <p:txBody>
          <a:bodyPr wrap="none" anchor="t" lIns="0" rIns="0" tIns="0" bIns="0">
            <a:noAutofit/>
          </a:bodyPr>
          <a:lstStyle/>
          <a:p>
            <a:pPr algn="l">
              <a:lnSpc>
                <a:spcPts val="1228"/>
              </a:lnSpc>
              <a:spcBef>
                <a:spcPts val="0"/>
              </a:spcBef>
              <a:spcAft>
                <a:spcPts val="0"/>
              </a:spcAft>
            </a:pPr>
            <a:r>
              <a:rPr sz="975" b="0">
                <a:solidFill>
                  <a:srgbClr val="484848"/>
                </a:solidFill>
                <a:latin typeface="JetBrains Mono"/>
              </a:rPr>
              <a:t>    loop = scf.ForOp(lo, n, step)</a:t>
            </a:r>
          </a:p>
        </p:txBody>
      </p:sp>
      <p:sp>
        <p:nvSpPr>
          <p:cNvPr id="15" name="    with ir.InsertionPoint(loop.body):"/>
          <p:cNvSpPr txBox="1"/>
          <p:nvPr/>
        </p:nvSpPr>
        <p:spPr>
          <a:xfrm>
            <a:off x="640080" y="2471928"/>
            <a:ext cx="4901184" cy="160972"/>
          </a:xfrm>
          <a:prstGeom prst="rect">
            <a:avLst/>
          </a:prstGeom>
          <a:noFill/>
        </p:spPr>
        <p:txBody>
          <a:bodyPr wrap="none" anchor="t" lIns="0" rIns="0" tIns="0" bIns="0">
            <a:noAutofit/>
          </a:bodyPr>
          <a:lstStyle/>
          <a:p>
            <a:pPr algn="l">
              <a:lnSpc>
                <a:spcPts val="1228"/>
              </a:lnSpc>
              <a:spcBef>
                <a:spcPts val="0"/>
              </a:spcBef>
              <a:spcAft>
                <a:spcPts val="0"/>
              </a:spcAft>
            </a:pPr>
            <a:r>
              <a:rPr sz="975" b="0">
                <a:solidFill>
                  <a:srgbClr val="484848"/>
                </a:solidFill>
                <a:latin typeface="JetBrains Mono"/>
              </a:rPr>
              <a:t>    with ir.InsertionPoint(loop.body):</a:t>
            </a:r>
          </a:p>
        </p:txBody>
      </p:sp>
      <p:sp>
        <p:nvSpPr>
          <p:cNvPr id="16" name="        i = loop.induction_variable"/>
          <p:cNvSpPr txBox="1"/>
          <p:nvPr/>
        </p:nvSpPr>
        <p:spPr>
          <a:xfrm>
            <a:off x="640080" y="2630424"/>
            <a:ext cx="4901184" cy="160972"/>
          </a:xfrm>
          <a:prstGeom prst="rect">
            <a:avLst/>
          </a:prstGeom>
          <a:noFill/>
        </p:spPr>
        <p:txBody>
          <a:bodyPr wrap="none" anchor="t" lIns="0" rIns="0" tIns="0" bIns="0">
            <a:noAutofit/>
          </a:bodyPr>
          <a:lstStyle/>
          <a:p>
            <a:pPr algn="l">
              <a:lnSpc>
                <a:spcPts val="1228"/>
              </a:lnSpc>
              <a:spcBef>
                <a:spcPts val="0"/>
              </a:spcBef>
              <a:spcAft>
                <a:spcPts val="0"/>
              </a:spcAft>
            </a:pPr>
            <a:r>
              <a:rPr sz="975" b="0">
                <a:solidFill>
                  <a:srgbClr val="484848"/>
                </a:solidFill>
                <a:latin typeface="JetBrains Mono"/>
              </a:rPr>
              <a:t>        i = loop.induction_variable</a:t>
            </a:r>
          </a:p>
        </p:txBody>
      </p:sp>
      <p:sp>
        <p:nvSpPr>
          <p:cNvPr id="17" name="        addr = [llvm.GEPOp(ptr,p,[i],[DYN],f32,&quot;None&quot;).result"/>
          <p:cNvSpPr txBox="1"/>
          <p:nvPr/>
        </p:nvSpPr>
        <p:spPr>
          <a:xfrm>
            <a:off x="640080" y="2788920"/>
            <a:ext cx="4901184" cy="160972"/>
          </a:xfrm>
          <a:prstGeom prst="rect">
            <a:avLst/>
          </a:prstGeom>
          <a:noFill/>
        </p:spPr>
        <p:txBody>
          <a:bodyPr wrap="none" anchor="t" lIns="0" rIns="0" tIns="0" bIns="0">
            <a:noAutofit/>
          </a:bodyPr>
          <a:lstStyle/>
          <a:p>
            <a:pPr algn="l">
              <a:lnSpc>
                <a:spcPts val="1228"/>
              </a:lnSpc>
              <a:spcBef>
                <a:spcPts val="0"/>
              </a:spcBef>
              <a:spcAft>
                <a:spcPts val="0"/>
              </a:spcAft>
            </a:pPr>
            <a:r>
              <a:rPr sz="975" b="0">
                <a:solidFill>
                  <a:srgbClr val="484848"/>
                </a:solidFill>
                <a:latin typeface="JetBrains Mono"/>
              </a:rPr>
              <a:t>        addr = [llvm.GEPOp(ptr,p,[i],[DYN],f32,"None").result</a:t>
            </a:r>
          </a:p>
        </p:txBody>
      </p:sp>
      <p:sp>
        <p:nvSpPr>
          <p:cNvPr id="18" name="                for p in (x,y,z)]"/>
          <p:cNvSpPr txBox="1"/>
          <p:nvPr/>
        </p:nvSpPr>
        <p:spPr>
          <a:xfrm>
            <a:off x="640080" y="2947416"/>
            <a:ext cx="4901184" cy="160972"/>
          </a:xfrm>
          <a:prstGeom prst="rect">
            <a:avLst/>
          </a:prstGeom>
          <a:noFill/>
        </p:spPr>
        <p:txBody>
          <a:bodyPr wrap="none" anchor="t" lIns="0" rIns="0" tIns="0" bIns="0">
            <a:noAutofit/>
          </a:bodyPr>
          <a:lstStyle/>
          <a:p>
            <a:pPr algn="l">
              <a:lnSpc>
                <a:spcPts val="1228"/>
              </a:lnSpc>
              <a:spcBef>
                <a:spcPts val="0"/>
              </a:spcBef>
              <a:spcAft>
                <a:spcPts val="0"/>
              </a:spcAft>
            </a:pPr>
            <a:r>
              <a:rPr sz="975" b="0">
                <a:solidFill>
                  <a:srgbClr val="484848"/>
                </a:solidFill>
                <a:latin typeface="JetBrains Mono"/>
              </a:rPr>
              <a:t>                for p in (x,y,z)]</a:t>
            </a:r>
          </a:p>
        </p:txBody>
      </p:sp>
      <p:sp>
        <p:nvSpPr>
          <p:cNvPr id="19" name="        lhs, rhs = [llvm.LoadOp(f32,p).result for p in addr[:2]]"/>
          <p:cNvSpPr txBox="1"/>
          <p:nvPr/>
        </p:nvSpPr>
        <p:spPr>
          <a:xfrm>
            <a:off x="640080" y="3105912"/>
            <a:ext cx="4901184" cy="160972"/>
          </a:xfrm>
          <a:prstGeom prst="rect">
            <a:avLst/>
          </a:prstGeom>
          <a:noFill/>
        </p:spPr>
        <p:txBody>
          <a:bodyPr wrap="none" anchor="t" lIns="0" rIns="0" tIns="0" bIns="0">
            <a:noAutofit/>
          </a:bodyPr>
          <a:lstStyle/>
          <a:p>
            <a:pPr algn="l">
              <a:lnSpc>
                <a:spcPts val="1228"/>
              </a:lnSpc>
              <a:spcBef>
                <a:spcPts val="0"/>
              </a:spcBef>
              <a:spcAft>
                <a:spcPts val="0"/>
              </a:spcAft>
            </a:pPr>
            <a:r>
              <a:rPr sz="975" b="0">
                <a:solidFill>
                  <a:srgbClr val="484848"/>
                </a:solidFill>
                <a:latin typeface="JetBrains Mono"/>
              </a:rPr>
              <a:t>        lhs, rhs = [llvm.LoadOp(f32,p).result for p in addr[:2]]</a:t>
            </a:r>
          </a:p>
        </p:txBody>
      </p:sp>
      <p:sp>
        <p:nvSpPr>
          <p:cNvPr id="20" name="        llvm.StoreOp(arith.AddFOp(lhs,rhs).result, addr[2])"/>
          <p:cNvSpPr txBox="1"/>
          <p:nvPr/>
        </p:nvSpPr>
        <p:spPr>
          <a:xfrm>
            <a:off x="640080" y="3264408"/>
            <a:ext cx="4901184" cy="160972"/>
          </a:xfrm>
          <a:prstGeom prst="rect">
            <a:avLst/>
          </a:prstGeom>
          <a:noFill/>
        </p:spPr>
        <p:txBody>
          <a:bodyPr wrap="none" anchor="t" lIns="0" rIns="0" tIns="0" bIns="0">
            <a:noAutofit/>
          </a:bodyPr>
          <a:lstStyle/>
          <a:p>
            <a:pPr algn="l">
              <a:lnSpc>
                <a:spcPts val="1228"/>
              </a:lnSpc>
              <a:spcBef>
                <a:spcPts val="0"/>
              </a:spcBef>
              <a:spcAft>
                <a:spcPts val="0"/>
              </a:spcAft>
            </a:pPr>
            <a:r>
              <a:rPr sz="975" b="0">
                <a:solidFill>
                  <a:srgbClr val="484848"/>
                </a:solidFill>
                <a:latin typeface="JetBrains Mono"/>
              </a:rPr>
              <a:t>        llvm.StoreOp(arith.AddFOp(lhs,rhs).result, addr[2])</a:t>
            </a:r>
          </a:p>
        </p:txBody>
      </p:sp>
      <p:sp>
        <p:nvSpPr>
          <p:cNvPr id="21" name="        scf.YieldOp([])"/>
          <p:cNvSpPr txBox="1"/>
          <p:nvPr/>
        </p:nvSpPr>
        <p:spPr>
          <a:xfrm>
            <a:off x="640080" y="3422904"/>
            <a:ext cx="4901184" cy="160972"/>
          </a:xfrm>
          <a:prstGeom prst="rect">
            <a:avLst/>
          </a:prstGeom>
          <a:noFill/>
        </p:spPr>
        <p:txBody>
          <a:bodyPr wrap="none" anchor="t" lIns="0" rIns="0" tIns="0" bIns="0">
            <a:noAutofit/>
          </a:bodyPr>
          <a:lstStyle/>
          <a:p>
            <a:pPr algn="l">
              <a:lnSpc>
                <a:spcPts val="1228"/>
              </a:lnSpc>
              <a:spcBef>
                <a:spcPts val="0"/>
              </a:spcBef>
              <a:spcAft>
                <a:spcPts val="0"/>
              </a:spcAft>
            </a:pPr>
            <a:r>
              <a:rPr sz="975" b="0">
                <a:solidFill>
                  <a:srgbClr val="484848"/>
                </a:solidFill>
                <a:latin typeface="JetBrains Mono"/>
              </a:rPr>
              <a:t>        scf.YieldOp([])</a:t>
            </a:r>
          </a:p>
        </p:txBody>
      </p:sp>
      <p:sp>
        <p:nvSpPr>
          <p:cNvPr id="22" name="    func.ReturnOp([])"/>
          <p:cNvSpPr txBox="1"/>
          <p:nvPr/>
        </p:nvSpPr>
        <p:spPr>
          <a:xfrm>
            <a:off x="640080" y="3581400"/>
            <a:ext cx="4901184" cy="160972"/>
          </a:xfrm>
          <a:prstGeom prst="rect">
            <a:avLst/>
          </a:prstGeom>
          <a:noFill/>
        </p:spPr>
        <p:txBody>
          <a:bodyPr wrap="none" anchor="t" lIns="0" rIns="0" tIns="0" bIns="0">
            <a:noAutofit/>
          </a:bodyPr>
          <a:lstStyle/>
          <a:p>
            <a:pPr algn="l">
              <a:lnSpc>
                <a:spcPts val="1228"/>
              </a:lnSpc>
              <a:spcBef>
                <a:spcPts val="0"/>
              </a:spcBef>
              <a:spcAft>
                <a:spcPts val="0"/>
              </a:spcAft>
            </a:pPr>
            <a:r>
              <a:rPr sz="975" b="0">
                <a:solidFill>
                  <a:srgbClr val="484848"/>
                </a:solidFill>
                <a:latin typeface="JetBrains Mono"/>
              </a:rPr>
              <a:t>    func.ReturnOp([])</a:t>
            </a:r>
          </a:p>
        </p:txBody>
      </p:sp>
      <p:sp>
        <p:nvSpPr>
          <p:cNvPr id="23" name="PassManager.parse(PIPELINE).run(module.operation)"/>
          <p:cNvSpPr txBox="1"/>
          <p:nvPr/>
        </p:nvSpPr>
        <p:spPr>
          <a:xfrm>
            <a:off x="640080" y="3739896"/>
            <a:ext cx="4901184" cy="160972"/>
          </a:xfrm>
          <a:prstGeom prst="rect">
            <a:avLst/>
          </a:prstGeom>
          <a:noFill/>
        </p:spPr>
        <p:txBody>
          <a:bodyPr wrap="none" anchor="t" lIns="0" rIns="0" tIns="0" bIns="0">
            <a:noAutofit/>
          </a:bodyPr>
          <a:lstStyle/>
          <a:p>
            <a:pPr algn="l">
              <a:lnSpc>
                <a:spcPts val="1228"/>
              </a:lnSpc>
              <a:spcBef>
                <a:spcPts val="0"/>
              </a:spcBef>
              <a:spcAft>
                <a:spcPts val="0"/>
              </a:spcAft>
            </a:pPr>
            <a:r>
              <a:rPr sz="975" b="0">
                <a:solidFill>
                  <a:srgbClr val="484848"/>
                </a:solidFill>
                <a:latin typeface="JetBrains Mono"/>
              </a:rPr>
              <a:t>PassManager.parse(PIPELINE).run(module.operation)</a:t>
            </a:r>
          </a:p>
        </p:txBody>
      </p:sp>
      <p:sp>
        <p:nvSpPr>
          <p:cNvPr id="24" name="engine = ExecutionEngine(module)"/>
          <p:cNvSpPr txBox="1"/>
          <p:nvPr/>
        </p:nvSpPr>
        <p:spPr>
          <a:xfrm>
            <a:off x="640080" y="3898391"/>
            <a:ext cx="4901184" cy="160972"/>
          </a:xfrm>
          <a:prstGeom prst="rect">
            <a:avLst/>
          </a:prstGeom>
          <a:noFill/>
        </p:spPr>
        <p:txBody>
          <a:bodyPr wrap="none" anchor="t" lIns="0" rIns="0" tIns="0" bIns="0">
            <a:noAutofit/>
          </a:bodyPr>
          <a:lstStyle/>
          <a:p>
            <a:pPr algn="l">
              <a:lnSpc>
                <a:spcPts val="1228"/>
              </a:lnSpc>
              <a:spcBef>
                <a:spcPts val="0"/>
              </a:spcBef>
              <a:spcAft>
                <a:spcPts val="0"/>
              </a:spcAft>
            </a:pPr>
            <a:r>
              <a:rPr sz="975" b="0">
                <a:solidFill>
                  <a:srgbClr val="484848"/>
                </a:solidFill>
                <a:latin typeface="JetBrains Mono"/>
              </a:rPr>
              <a:t>engine = ExecutionEngine(module)</a:t>
            </a:r>
          </a:p>
        </p:txBody>
      </p:sp>
      <p:sp>
        <p:nvSpPr>
          <p:cNvPr id="25" name="args = [c_int32(a.numel())]"/>
          <p:cNvSpPr txBox="1"/>
          <p:nvPr/>
        </p:nvSpPr>
        <p:spPr>
          <a:xfrm>
            <a:off x="640080" y="4056887"/>
            <a:ext cx="4901184" cy="160972"/>
          </a:xfrm>
          <a:prstGeom prst="rect">
            <a:avLst/>
          </a:prstGeom>
          <a:noFill/>
        </p:spPr>
        <p:txBody>
          <a:bodyPr wrap="none" anchor="t" lIns="0" rIns="0" tIns="0" bIns="0">
            <a:noAutofit/>
          </a:bodyPr>
          <a:lstStyle/>
          <a:p>
            <a:pPr algn="l">
              <a:lnSpc>
                <a:spcPts val="1228"/>
              </a:lnSpc>
              <a:spcBef>
                <a:spcPts val="0"/>
              </a:spcBef>
              <a:spcAft>
                <a:spcPts val="0"/>
              </a:spcAft>
            </a:pPr>
            <a:r>
              <a:rPr sz="975" b="0">
                <a:solidFill>
                  <a:srgbClr val="484848"/>
                </a:solidFill>
                <a:latin typeface="JetBrains Mono"/>
              </a:rPr>
              <a:t>args = [c_int32(a.numel())]</a:t>
            </a:r>
          </a:p>
        </p:txBody>
      </p:sp>
      <p:sp>
        <p:nvSpPr>
          <p:cNvPr id="26" name="args += [c_void_p(t.data_ptr()) for t in (a,b,out)]"/>
          <p:cNvSpPr txBox="1"/>
          <p:nvPr/>
        </p:nvSpPr>
        <p:spPr>
          <a:xfrm>
            <a:off x="640080" y="4215383"/>
            <a:ext cx="4901184" cy="160972"/>
          </a:xfrm>
          <a:prstGeom prst="rect">
            <a:avLst/>
          </a:prstGeom>
          <a:noFill/>
        </p:spPr>
        <p:txBody>
          <a:bodyPr wrap="none" anchor="t" lIns="0" rIns="0" tIns="0" bIns="0">
            <a:noAutofit/>
          </a:bodyPr>
          <a:lstStyle/>
          <a:p>
            <a:pPr algn="l">
              <a:lnSpc>
                <a:spcPts val="1228"/>
              </a:lnSpc>
              <a:spcBef>
                <a:spcPts val="0"/>
              </a:spcBef>
              <a:spcAft>
                <a:spcPts val="0"/>
              </a:spcAft>
            </a:pPr>
            <a:r>
              <a:rPr sz="975" b="0">
                <a:solidFill>
                  <a:srgbClr val="484848"/>
                </a:solidFill>
                <a:latin typeface="JetBrains Mono"/>
              </a:rPr>
              <a:t>args += [c_void_p(t.data_ptr()) for t in (a,b,out)]</a:t>
            </a:r>
          </a:p>
        </p:txBody>
      </p:sp>
      <p:sp>
        <p:nvSpPr>
          <p:cNvPr id="27" name="engine.invoke(&quot;add&quot;, *[byref(v) for v in args])"/>
          <p:cNvSpPr txBox="1"/>
          <p:nvPr/>
        </p:nvSpPr>
        <p:spPr>
          <a:xfrm>
            <a:off x="640080" y="4373879"/>
            <a:ext cx="4901184" cy="160972"/>
          </a:xfrm>
          <a:prstGeom prst="rect">
            <a:avLst/>
          </a:prstGeom>
          <a:noFill/>
        </p:spPr>
        <p:txBody>
          <a:bodyPr wrap="none" anchor="t" lIns="0" rIns="0" tIns="0" bIns="0">
            <a:noAutofit/>
          </a:bodyPr>
          <a:lstStyle/>
          <a:p>
            <a:pPr algn="l">
              <a:lnSpc>
                <a:spcPts val="1228"/>
              </a:lnSpc>
              <a:spcBef>
                <a:spcPts val="0"/>
              </a:spcBef>
              <a:spcAft>
                <a:spcPts val="0"/>
              </a:spcAft>
            </a:pPr>
            <a:r>
              <a:rPr sz="975" b="0">
                <a:solidFill>
                  <a:srgbClr val="484848"/>
                </a:solidFill>
                <a:latin typeface="JetBrains Mono"/>
              </a:rPr>
              <a:t>engine.invoke("add", *[byref(v) for v in args])</a:t>
            </a:r>
          </a:p>
        </p:txBody>
      </p:sp>
      <p:sp>
        <p:nvSpPr>
          <p:cNvPr id="28" name="Rectangle 27"/>
          <p:cNvSpPr/>
          <p:nvPr/>
        </p:nvSpPr>
        <p:spPr>
          <a:xfrm>
            <a:off x="5879592" y="1353312"/>
            <a:ext cx="2852928" cy="3291840"/>
          </a:xfrm>
          <a:prstGeom prst="rect">
            <a:avLst/>
          </a:prstGeom>
          <a:solidFill>
            <a:srgbClr val="F7F7F7"/>
          </a:solidFill>
          <a:ln>
            <a:noFill/>
          </a:ln>
          <a:effectLst/>
        </p:spPr>
        <p:txBody>
          <a:bodyPr rtlCol="0" anchor="ctr"/>
          <a:lstStyle/>
          <a:p>
            <a:pPr algn="ctr"/>
          </a:p>
        </p:txBody>
      </p:sp>
      <p:sp>
        <p:nvSpPr>
          <p:cNvPr id="29" name="Rectangle 28"/>
          <p:cNvSpPr/>
          <p:nvPr/>
        </p:nvSpPr>
        <p:spPr>
          <a:xfrm>
            <a:off x="5879592" y="1353312"/>
            <a:ext cx="2852928" cy="365760"/>
          </a:xfrm>
          <a:prstGeom prst="rect">
            <a:avLst/>
          </a:prstGeom>
          <a:solidFill>
            <a:srgbClr val="76B900"/>
          </a:solidFill>
          <a:ln>
            <a:noFill/>
          </a:ln>
          <a:effectLst/>
        </p:spPr>
        <p:txBody>
          <a:bodyPr rtlCol="0" anchor="ctr"/>
          <a:lstStyle/>
          <a:p>
            <a:pPr algn="ctr"/>
          </a:p>
        </p:txBody>
      </p:sp>
      <p:sp>
        <p:nvSpPr>
          <p:cNvPr id="30" name="mlir dsl"/>
          <p:cNvSpPr txBox="1"/>
          <p:nvPr/>
        </p:nvSpPr>
        <p:spPr>
          <a:xfrm>
            <a:off x="6035040" y="1449324"/>
            <a:ext cx="254203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dsl</a:t>
            </a:r>
          </a:p>
        </p:txBody>
      </p:sp>
      <p:sp>
        <p:nvSpPr>
          <p:cNvPr id="31" name="import mlir.mlir_dsl as m"/>
          <p:cNvSpPr txBox="1"/>
          <p:nvPr/>
        </p:nvSpPr>
        <p:spPr>
          <a:xfrm>
            <a:off x="6035040" y="1837943"/>
            <a:ext cx="2542032" cy="181610"/>
          </a:xfrm>
          <a:prstGeom prst="rect">
            <a:avLst/>
          </a:prstGeom>
          <a:noFill/>
        </p:spPr>
        <p:txBody>
          <a:bodyPr wrap="none" anchor="t" lIns="0" rIns="0" tIns="0" bIns="0">
            <a:noAutofit/>
          </a:bodyPr>
          <a:lstStyle/>
          <a:p>
            <a:pPr algn="l">
              <a:lnSpc>
                <a:spcPts val="1386"/>
              </a:lnSpc>
              <a:spcBef>
                <a:spcPts val="0"/>
              </a:spcBef>
              <a:spcAft>
                <a:spcPts val="0"/>
              </a:spcAft>
            </a:pPr>
            <a:r>
              <a:rPr sz="1100" b="0">
                <a:solidFill>
                  <a:srgbClr val="484848"/>
                </a:solidFill>
                <a:latin typeface="JetBrains Mono"/>
              </a:rPr>
              <a:t>import mlir.mlir_dsl as m</a:t>
            </a:r>
          </a:p>
        </p:txBody>
      </p:sp>
      <p:sp>
        <p:nvSpPr>
          <p:cNvPr id="32" name="P = m.Pointer[m.Float32]"/>
          <p:cNvSpPr txBox="1"/>
          <p:nvPr/>
        </p:nvSpPr>
        <p:spPr>
          <a:xfrm>
            <a:off x="6035040" y="2016759"/>
            <a:ext cx="2542032" cy="181610"/>
          </a:xfrm>
          <a:prstGeom prst="rect">
            <a:avLst/>
          </a:prstGeom>
          <a:noFill/>
        </p:spPr>
        <p:txBody>
          <a:bodyPr wrap="none" anchor="t" lIns="0" rIns="0" tIns="0" bIns="0">
            <a:noAutofit/>
          </a:bodyPr>
          <a:lstStyle/>
          <a:p>
            <a:pPr algn="l">
              <a:lnSpc>
                <a:spcPts val="1386"/>
              </a:lnSpc>
              <a:spcBef>
                <a:spcPts val="0"/>
              </a:spcBef>
              <a:spcAft>
                <a:spcPts val="0"/>
              </a:spcAft>
            </a:pPr>
            <a:r>
              <a:rPr sz="1100" b="0">
                <a:solidFill>
                  <a:srgbClr val="484848"/>
                </a:solidFill>
                <a:latin typeface="JetBrains Mono"/>
              </a:rPr>
              <a:t>P = m.Pointer[m.Float32]</a:t>
            </a:r>
          </a:p>
        </p:txBody>
      </p:sp>
      <p:sp>
        <p:nvSpPr>
          <p:cNvPr id="33" name=""/>
          <p:cNvSpPr txBox="1"/>
          <p:nvPr/>
        </p:nvSpPr>
        <p:spPr>
          <a:xfrm>
            <a:off x="6035040" y="2195575"/>
            <a:ext cx="2542032" cy="181610"/>
          </a:xfrm>
          <a:prstGeom prst="rect">
            <a:avLst/>
          </a:prstGeom>
          <a:noFill/>
        </p:spPr>
        <p:txBody>
          <a:bodyPr wrap="none" anchor="t" lIns="0" rIns="0" tIns="0" bIns="0">
            <a:noAutofit/>
          </a:bodyPr>
          <a:lstStyle/>
          <a:p>
            <a:pPr algn="l">
              <a:lnSpc>
                <a:spcPts val="1386"/>
              </a:lnSpc>
              <a:spcBef>
                <a:spcPts val="0"/>
              </a:spcBef>
              <a:spcAft>
                <a:spcPts val="0"/>
              </a:spcAft>
            </a:pPr>
            <a:r>
              <a:rPr sz="1100" b="0">
                <a:solidFill>
                  <a:srgbClr val="484848"/>
                </a:solidFill>
                <a:latin typeface="JetBrains Mono"/>
              </a:rPr>
              <a:t/>
            </a:r>
          </a:p>
        </p:txBody>
      </p:sp>
      <p:sp>
        <p:nvSpPr>
          <p:cNvPr id="34" name="@m.jit"/>
          <p:cNvSpPr txBox="1"/>
          <p:nvPr/>
        </p:nvSpPr>
        <p:spPr>
          <a:xfrm>
            <a:off x="6035040" y="2374391"/>
            <a:ext cx="2542032" cy="181610"/>
          </a:xfrm>
          <a:prstGeom prst="rect">
            <a:avLst/>
          </a:prstGeom>
          <a:noFill/>
        </p:spPr>
        <p:txBody>
          <a:bodyPr wrap="none" anchor="t" lIns="0" rIns="0" tIns="0" bIns="0">
            <a:noAutofit/>
          </a:bodyPr>
          <a:lstStyle/>
          <a:p>
            <a:pPr algn="l">
              <a:lnSpc>
                <a:spcPts val="1386"/>
              </a:lnSpc>
              <a:spcBef>
                <a:spcPts val="0"/>
              </a:spcBef>
              <a:spcAft>
                <a:spcPts val="0"/>
              </a:spcAft>
            </a:pPr>
            <a:r>
              <a:rPr sz="1100" b="1">
                <a:solidFill>
                  <a:srgbClr val="416600"/>
                </a:solidFill>
                <a:latin typeface="JetBrains Mono"/>
              </a:rPr>
              <a:t>@m.jit</a:t>
            </a:r>
          </a:p>
        </p:txBody>
      </p:sp>
      <p:sp>
        <p:nvSpPr>
          <p:cNvPr id="35" name="def add(n: m.Int32, a: P,"/>
          <p:cNvSpPr txBox="1"/>
          <p:nvPr/>
        </p:nvSpPr>
        <p:spPr>
          <a:xfrm>
            <a:off x="6035040" y="2553207"/>
            <a:ext cx="2542032" cy="181610"/>
          </a:xfrm>
          <a:prstGeom prst="rect">
            <a:avLst/>
          </a:prstGeom>
          <a:noFill/>
        </p:spPr>
        <p:txBody>
          <a:bodyPr wrap="none" anchor="t" lIns="0" rIns="0" tIns="0" bIns="0">
            <a:noAutofit/>
          </a:bodyPr>
          <a:lstStyle/>
          <a:p>
            <a:pPr algn="l">
              <a:lnSpc>
                <a:spcPts val="1386"/>
              </a:lnSpc>
              <a:spcBef>
                <a:spcPts val="0"/>
              </a:spcBef>
              <a:spcAft>
                <a:spcPts val="0"/>
              </a:spcAft>
            </a:pPr>
            <a:r>
              <a:rPr sz="1100" b="0">
                <a:solidFill>
                  <a:srgbClr val="484848"/>
                </a:solidFill>
                <a:latin typeface="JetBrains Mono"/>
              </a:rPr>
              <a:t>def add(n: m.Int32, a: P,</a:t>
            </a:r>
          </a:p>
        </p:txBody>
      </p:sp>
      <p:sp>
        <p:nvSpPr>
          <p:cNvPr id="36" name="        b: P, out: P):"/>
          <p:cNvSpPr txBox="1"/>
          <p:nvPr/>
        </p:nvSpPr>
        <p:spPr>
          <a:xfrm>
            <a:off x="6035040" y="2732023"/>
            <a:ext cx="2542032" cy="181610"/>
          </a:xfrm>
          <a:prstGeom prst="rect">
            <a:avLst/>
          </a:prstGeom>
          <a:noFill/>
        </p:spPr>
        <p:txBody>
          <a:bodyPr wrap="none" anchor="t" lIns="0" rIns="0" tIns="0" bIns="0">
            <a:noAutofit/>
          </a:bodyPr>
          <a:lstStyle/>
          <a:p>
            <a:pPr algn="l">
              <a:lnSpc>
                <a:spcPts val="1386"/>
              </a:lnSpc>
              <a:spcBef>
                <a:spcPts val="0"/>
              </a:spcBef>
              <a:spcAft>
                <a:spcPts val="0"/>
              </a:spcAft>
            </a:pPr>
            <a:r>
              <a:rPr sz="1100" b="0">
                <a:solidFill>
                  <a:srgbClr val="484848"/>
                </a:solidFill>
                <a:latin typeface="JetBrains Mono"/>
              </a:rPr>
              <a:t>        b: P, out: P):</a:t>
            </a:r>
          </a:p>
        </p:txBody>
      </p:sp>
      <p:sp>
        <p:nvSpPr>
          <p:cNvPr id="37" name="    for i in range(n):"/>
          <p:cNvSpPr txBox="1"/>
          <p:nvPr/>
        </p:nvSpPr>
        <p:spPr>
          <a:xfrm>
            <a:off x="6035040" y="2910839"/>
            <a:ext cx="2542032" cy="181610"/>
          </a:xfrm>
          <a:prstGeom prst="rect">
            <a:avLst/>
          </a:prstGeom>
          <a:noFill/>
        </p:spPr>
        <p:txBody>
          <a:bodyPr wrap="none" anchor="t" lIns="0" rIns="0" tIns="0" bIns="0">
            <a:noAutofit/>
          </a:bodyPr>
          <a:lstStyle/>
          <a:p>
            <a:pPr algn="l">
              <a:lnSpc>
                <a:spcPts val="1386"/>
              </a:lnSpc>
              <a:spcBef>
                <a:spcPts val="0"/>
              </a:spcBef>
              <a:spcAft>
                <a:spcPts val="0"/>
              </a:spcAft>
            </a:pPr>
            <a:r>
              <a:rPr sz="1100" b="0">
                <a:solidFill>
                  <a:srgbClr val="484848"/>
                </a:solidFill>
                <a:latin typeface="JetBrains Mono"/>
              </a:rPr>
              <a:t>    for i in range(n):</a:t>
            </a:r>
          </a:p>
        </p:txBody>
      </p:sp>
      <p:sp>
        <p:nvSpPr>
          <p:cNvPr id="38" name="        out[i] = a[i] + b[i]"/>
          <p:cNvSpPr txBox="1"/>
          <p:nvPr/>
        </p:nvSpPr>
        <p:spPr>
          <a:xfrm>
            <a:off x="6035040" y="3089655"/>
            <a:ext cx="2542032" cy="181610"/>
          </a:xfrm>
          <a:prstGeom prst="rect">
            <a:avLst/>
          </a:prstGeom>
          <a:noFill/>
        </p:spPr>
        <p:txBody>
          <a:bodyPr wrap="none" anchor="t" lIns="0" rIns="0" tIns="0" bIns="0">
            <a:noAutofit/>
          </a:bodyPr>
          <a:lstStyle/>
          <a:p>
            <a:pPr algn="l">
              <a:lnSpc>
                <a:spcPts val="1386"/>
              </a:lnSpc>
              <a:spcBef>
                <a:spcPts val="0"/>
              </a:spcBef>
              <a:spcAft>
                <a:spcPts val="0"/>
              </a:spcAft>
            </a:pPr>
            <a:r>
              <a:rPr sz="1100" b="0">
                <a:solidFill>
                  <a:srgbClr val="484848"/>
                </a:solidFill>
                <a:latin typeface="JetBrains Mono"/>
              </a:rPr>
              <a:t>        out[i] = a[i] + b[i]</a:t>
            </a:r>
          </a:p>
        </p:txBody>
      </p:sp>
      <p:sp>
        <p:nvSpPr>
          <p:cNvPr id="39" name=""/>
          <p:cNvSpPr txBox="1"/>
          <p:nvPr/>
        </p:nvSpPr>
        <p:spPr>
          <a:xfrm>
            <a:off x="6035040" y="3268471"/>
            <a:ext cx="2542032" cy="181610"/>
          </a:xfrm>
          <a:prstGeom prst="rect">
            <a:avLst/>
          </a:prstGeom>
          <a:noFill/>
        </p:spPr>
        <p:txBody>
          <a:bodyPr wrap="none" anchor="t" lIns="0" rIns="0" tIns="0" bIns="0">
            <a:noAutofit/>
          </a:bodyPr>
          <a:lstStyle/>
          <a:p>
            <a:pPr algn="l">
              <a:lnSpc>
                <a:spcPts val="1386"/>
              </a:lnSpc>
              <a:spcBef>
                <a:spcPts val="0"/>
              </a:spcBef>
              <a:spcAft>
                <a:spcPts val="0"/>
              </a:spcAft>
            </a:pPr>
            <a:r>
              <a:rPr sz="1100" b="0">
                <a:solidFill>
                  <a:srgbClr val="484848"/>
                </a:solidFill>
                <a:latin typeface="JetBrains Mono"/>
              </a:rPr>
              <a:t/>
            </a:r>
          </a:p>
        </p:txBody>
      </p:sp>
      <p:sp>
        <p:nvSpPr>
          <p:cNvPr id="40" name="add(a.numel(), a, b, out)"/>
          <p:cNvSpPr txBox="1"/>
          <p:nvPr/>
        </p:nvSpPr>
        <p:spPr>
          <a:xfrm>
            <a:off x="6035040" y="3447287"/>
            <a:ext cx="2542032" cy="181610"/>
          </a:xfrm>
          <a:prstGeom prst="rect">
            <a:avLst/>
          </a:prstGeom>
          <a:noFill/>
        </p:spPr>
        <p:txBody>
          <a:bodyPr wrap="none" anchor="t" lIns="0" rIns="0" tIns="0" bIns="0">
            <a:noAutofit/>
          </a:bodyPr>
          <a:lstStyle/>
          <a:p>
            <a:pPr algn="l">
              <a:lnSpc>
                <a:spcPts val="1386"/>
              </a:lnSpc>
              <a:spcBef>
                <a:spcPts val="0"/>
              </a:spcBef>
              <a:spcAft>
                <a:spcPts val="0"/>
              </a:spcAft>
            </a:pPr>
            <a:r>
              <a:rPr sz="1100" b="0">
                <a:solidFill>
                  <a:srgbClr val="484848"/>
                </a:solidFill>
                <a:latin typeface="JetBrains Mono"/>
              </a:rPr>
              <a:t>add(a.numel(), a, b, out)</a:t>
            </a:r>
          </a:p>
        </p:txBody>
      </p:sp>
      <p:sp>
        <p:nvSpPr>
          <p:cNvPr id="41" name="# out: [10., 11., 12., 13.]"/>
          <p:cNvSpPr txBox="1"/>
          <p:nvPr/>
        </p:nvSpPr>
        <p:spPr>
          <a:xfrm>
            <a:off x="6035040" y="3626103"/>
            <a:ext cx="2542032" cy="181610"/>
          </a:xfrm>
          <a:prstGeom prst="rect">
            <a:avLst/>
          </a:prstGeom>
          <a:noFill/>
        </p:spPr>
        <p:txBody>
          <a:bodyPr wrap="none" anchor="t" lIns="0" rIns="0" tIns="0" bIns="0">
            <a:noAutofit/>
          </a:bodyPr>
          <a:lstStyle/>
          <a:p>
            <a:pPr algn="l">
              <a:lnSpc>
                <a:spcPts val="1386"/>
              </a:lnSpc>
              <a:spcBef>
                <a:spcPts val="0"/>
              </a:spcBef>
              <a:spcAft>
                <a:spcPts val="0"/>
              </a:spcAft>
            </a:pPr>
            <a:r>
              <a:rPr sz="1100" b="0">
                <a:solidFill>
                  <a:srgbClr val="484848"/>
                </a:solidFill>
                <a:latin typeface="JetBrains Mono"/>
              </a:rPr>
              <a:t># out: [10., 11., 12.,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Four use cases inside NVIDIA"/>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Four use cases inside NVIDIA</a:t>
            </a:r>
          </a:p>
        </p:txBody>
      </p:sp>
      <p:sp>
        <p:nvSpPr>
          <p:cNvPr id="5" name="0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04</a:t>
            </a:r>
          </a:p>
        </p:txBody>
      </p:sp>
      <p:sp>
        <p:nvSpPr>
          <p:cNvPr id="6" name="Motiva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Motivation</a:t>
            </a:r>
          </a:p>
        </p:txBody>
      </p:sp>
      <p:sp>
        <p:nvSpPr>
          <p:cNvPr id="7" name="Rectangle 6"/>
          <p:cNvSpPr/>
          <p:nvPr/>
        </p:nvSpPr>
        <p:spPr>
          <a:xfrm>
            <a:off x="484632" y="1298448"/>
            <a:ext cx="3959352" cy="1426464"/>
          </a:xfrm>
          <a:prstGeom prst="rect">
            <a:avLst/>
          </a:prstGeom>
          <a:solidFill>
            <a:srgbClr val="F7F7F7"/>
          </a:solidFill>
          <a:ln>
            <a:noFill/>
          </a:ln>
          <a:effectLst/>
        </p:spPr>
        <p:txBody>
          <a:bodyPr rtlCol="0" anchor="ctr"/>
          <a:lstStyle/>
          <a:p>
            <a:pPr algn="ctr"/>
          </a:p>
        </p:txBody>
      </p:sp>
      <p:sp>
        <p:nvSpPr>
          <p:cNvPr id="8" name="Rectangle 7"/>
          <p:cNvSpPr/>
          <p:nvPr/>
        </p:nvSpPr>
        <p:spPr>
          <a:xfrm>
            <a:off x="621792" y="1417319"/>
            <a:ext cx="320040" cy="320040"/>
          </a:xfrm>
          <a:prstGeom prst="rect">
            <a:avLst/>
          </a:prstGeom>
          <a:solidFill>
            <a:srgbClr val="76B900"/>
          </a:solidFill>
          <a:ln>
            <a:noFill/>
          </a:ln>
          <a:effectLst/>
        </p:spPr>
        <p:txBody>
          <a:bodyPr rtlCol="0" anchor="ctr"/>
          <a:lstStyle/>
          <a:p>
            <a:pPr algn="ctr"/>
          </a:p>
        </p:txBody>
      </p:sp>
      <p:sp>
        <p:nvSpPr>
          <p:cNvPr id="9" name="01"/>
          <p:cNvSpPr txBox="1"/>
          <p:nvPr/>
        </p:nvSpPr>
        <p:spPr>
          <a:xfrm>
            <a:off x="630936" y="1490472"/>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01</a:t>
            </a:r>
          </a:p>
        </p:txBody>
      </p:sp>
      <p:sp>
        <p:nvSpPr>
          <p:cNvPr id="10" name="Test internal dialects"/>
          <p:cNvSpPr txBox="1"/>
          <p:nvPr/>
        </p:nvSpPr>
        <p:spPr>
          <a:xfrm>
            <a:off x="1069848" y="1444751"/>
            <a:ext cx="3209544" cy="320040"/>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Test internal dialects</a:t>
            </a:r>
          </a:p>
        </p:txBody>
      </p:sp>
      <p:sp>
        <p:nvSpPr>
          <p:cNvPr id="11" name="Rectangle 10"/>
          <p:cNvSpPr/>
          <p:nvPr/>
        </p:nvSpPr>
        <p:spPr>
          <a:xfrm>
            <a:off x="676656" y="2194560"/>
            <a:ext cx="987552" cy="365760"/>
          </a:xfrm>
          <a:prstGeom prst="rect">
            <a:avLst/>
          </a:prstGeom>
          <a:solidFill>
            <a:srgbClr val="FFFFFF"/>
          </a:solidFill>
          <a:ln w="8890">
            <a:solidFill>
              <a:srgbClr val="D5D5D5"/>
            </a:solidFill>
          </a:ln>
          <a:effectLst/>
        </p:spPr>
        <p:txBody>
          <a:bodyPr rtlCol="0" anchor="ctr"/>
          <a:lstStyle/>
          <a:p>
            <a:pPr algn="ctr"/>
          </a:p>
        </p:txBody>
      </p:sp>
      <p:sp>
        <p:nvSpPr>
          <p:cNvPr id="12" name="Public"/>
          <p:cNvSpPr txBox="1"/>
          <p:nvPr/>
        </p:nvSpPr>
        <p:spPr>
          <a:xfrm>
            <a:off x="713232" y="2299715"/>
            <a:ext cx="914400" cy="219456"/>
          </a:xfrm>
          <a:prstGeom prst="rect">
            <a:avLst/>
          </a:prstGeom>
          <a:noFill/>
        </p:spPr>
        <p:txBody>
          <a:bodyPr wrap="none" anchor="t" lIns="0" rIns="0" tIns="0" bIns="0">
            <a:noAutofit/>
          </a:bodyPr>
          <a:lstStyle/>
          <a:p>
            <a:pPr algn="ctr">
              <a:lnSpc>
                <a:spcPts val="1449"/>
              </a:lnSpc>
              <a:spcBef>
                <a:spcPts val="0"/>
              </a:spcBef>
              <a:spcAft>
                <a:spcPts val="0"/>
              </a:spcAft>
            </a:pPr>
            <a:r>
              <a:rPr sz="1250" b="0">
                <a:solidFill>
                  <a:srgbClr val="616161"/>
                </a:solidFill>
                <a:latin typeface="NVIDIA Sans"/>
              </a:rPr>
              <a:t>Public</a:t>
            </a:r>
          </a:p>
        </p:txBody>
      </p:sp>
      <p:cxnSp>
        <p:nvCxnSpPr>
          <p:cNvPr id="13" name="Connector 12"/>
          <p:cNvCxnSpPr/>
          <p:nvPr/>
        </p:nvCxnSpPr>
        <p:spPr>
          <a:xfrm>
            <a:off x="1709928" y="2377439"/>
            <a:ext cx="201167"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965960" y="2194560"/>
            <a:ext cx="987552" cy="365760"/>
          </a:xfrm>
          <a:prstGeom prst="rect">
            <a:avLst/>
          </a:prstGeom>
          <a:solidFill>
            <a:srgbClr val="F0F6E6"/>
          </a:solidFill>
          <a:ln w="8890">
            <a:solidFill>
              <a:srgbClr val="76B900"/>
            </a:solidFill>
          </a:ln>
          <a:effectLst/>
        </p:spPr>
        <p:txBody>
          <a:bodyPr rtlCol="0" anchor="ctr"/>
          <a:lstStyle/>
          <a:p>
            <a:pPr algn="ctr"/>
          </a:p>
        </p:txBody>
      </p:sp>
      <p:sp>
        <p:nvSpPr>
          <p:cNvPr id="15" name="Internal"/>
          <p:cNvSpPr txBox="1"/>
          <p:nvPr/>
        </p:nvSpPr>
        <p:spPr>
          <a:xfrm>
            <a:off x="2002536" y="2299715"/>
            <a:ext cx="914400" cy="219456"/>
          </a:xfrm>
          <a:prstGeom prst="rect">
            <a:avLst/>
          </a:prstGeom>
          <a:noFill/>
        </p:spPr>
        <p:txBody>
          <a:bodyPr wrap="none" anchor="t" lIns="0" rIns="0" tIns="0" bIns="0">
            <a:noAutofit/>
          </a:bodyPr>
          <a:lstStyle/>
          <a:p>
            <a:pPr algn="ctr">
              <a:lnSpc>
                <a:spcPts val="1449"/>
              </a:lnSpc>
              <a:spcBef>
                <a:spcPts val="0"/>
              </a:spcBef>
              <a:spcAft>
                <a:spcPts val="0"/>
              </a:spcAft>
            </a:pPr>
            <a:r>
              <a:rPr sz="1250" b="1">
                <a:solidFill>
                  <a:srgbClr val="416600"/>
                </a:solidFill>
                <a:latin typeface="NVIDIA Sans"/>
              </a:rPr>
              <a:t>Internal</a:t>
            </a:r>
          </a:p>
        </p:txBody>
      </p:sp>
      <p:cxnSp>
        <p:nvCxnSpPr>
          <p:cNvPr id="16" name="Connector 15"/>
          <p:cNvCxnSpPr/>
          <p:nvPr/>
        </p:nvCxnSpPr>
        <p:spPr>
          <a:xfrm>
            <a:off x="2999232" y="2377439"/>
            <a:ext cx="201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3255263" y="2194560"/>
            <a:ext cx="987552" cy="365760"/>
          </a:xfrm>
          <a:prstGeom prst="rect">
            <a:avLst/>
          </a:prstGeom>
          <a:solidFill>
            <a:srgbClr val="FFFFFF"/>
          </a:solidFill>
          <a:ln w="8890">
            <a:solidFill>
              <a:srgbClr val="D5D5D5"/>
            </a:solidFill>
          </a:ln>
          <a:effectLst/>
        </p:spPr>
        <p:txBody>
          <a:bodyPr rtlCol="0" anchor="ctr"/>
          <a:lstStyle/>
          <a:p>
            <a:pPr algn="ctr"/>
          </a:p>
        </p:txBody>
      </p:sp>
      <p:sp>
        <p:nvSpPr>
          <p:cNvPr id="18" name="LLVM"/>
          <p:cNvSpPr txBox="1"/>
          <p:nvPr/>
        </p:nvSpPr>
        <p:spPr>
          <a:xfrm>
            <a:off x="3291839" y="2299715"/>
            <a:ext cx="914400" cy="219456"/>
          </a:xfrm>
          <a:prstGeom prst="rect">
            <a:avLst/>
          </a:prstGeom>
          <a:noFill/>
        </p:spPr>
        <p:txBody>
          <a:bodyPr wrap="none" anchor="t" lIns="0" rIns="0" tIns="0" bIns="0">
            <a:noAutofit/>
          </a:bodyPr>
          <a:lstStyle/>
          <a:p>
            <a:pPr algn="ctr">
              <a:lnSpc>
                <a:spcPts val="1449"/>
              </a:lnSpc>
              <a:spcBef>
                <a:spcPts val="0"/>
              </a:spcBef>
              <a:spcAft>
                <a:spcPts val="0"/>
              </a:spcAft>
            </a:pPr>
            <a:r>
              <a:rPr sz="1250" b="0">
                <a:solidFill>
                  <a:srgbClr val="616161"/>
                </a:solidFill>
                <a:latin typeface="NVIDIA Sans"/>
              </a:rPr>
              <a:t>LLVM</a:t>
            </a:r>
          </a:p>
        </p:txBody>
      </p:sp>
      <p:sp>
        <p:nvSpPr>
          <p:cNvPr id="19" name="Python tests"/>
          <p:cNvSpPr txBox="1"/>
          <p:nvPr/>
        </p:nvSpPr>
        <p:spPr>
          <a:xfrm>
            <a:off x="1783080" y="1837943"/>
            <a:ext cx="1344168" cy="219456"/>
          </a:xfrm>
          <a:prstGeom prst="rect">
            <a:avLst/>
          </a:prstGeom>
          <a:noFill/>
        </p:spPr>
        <p:txBody>
          <a:bodyPr wrap="none" anchor="t" lIns="0" rIns="0" tIns="0" bIns="0">
            <a:noAutofit/>
          </a:bodyPr>
          <a:lstStyle/>
          <a:p>
            <a:pPr algn="ctr">
              <a:lnSpc>
                <a:spcPts val="1415"/>
              </a:lnSpc>
              <a:spcBef>
                <a:spcPts val="0"/>
              </a:spcBef>
              <a:spcAft>
                <a:spcPts val="0"/>
              </a:spcAft>
            </a:pPr>
            <a:r>
              <a:rPr sz="1220" b="1">
                <a:solidFill>
                  <a:srgbClr val="416600"/>
                </a:solidFill>
                <a:latin typeface="NVIDIA Sans"/>
              </a:rPr>
              <a:t>Python tests</a:t>
            </a:r>
          </a:p>
        </p:txBody>
      </p:sp>
      <p:cxnSp>
        <p:nvCxnSpPr>
          <p:cNvPr id="20" name="Connector 19"/>
          <p:cNvCxnSpPr/>
          <p:nvPr/>
        </p:nvCxnSpPr>
        <p:spPr>
          <a:xfrm>
            <a:off x="2459736" y="2075688"/>
            <a:ext cx="0" cy="9144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4700016" y="1298448"/>
            <a:ext cx="3959352" cy="1426464"/>
          </a:xfrm>
          <a:prstGeom prst="rect">
            <a:avLst/>
          </a:prstGeom>
          <a:solidFill>
            <a:srgbClr val="F7F7F7"/>
          </a:solidFill>
          <a:ln>
            <a:noFill/>
          </a:ln>
          <a:effectLst/>
        </p:spPr>
        <p:txBody>
          <a:bodyPr rtlCol="0" anchor="ctr"/>
          <a:lstStyle/>
          <a:p>
            <a:pPr algn="ctr"/>
          </a:p>
        </p:txBody>
      </p:sp>
      <p:sp>
        <p:nvSpPr>
          <p:cNvPr id="22" name="Rectangle 21"/>
          <p:cNvSpPr/>
          <p:nvPr/>
        </p:nvSpPr>
        <p:spPr>
          <a:xfrm>
            <a:off x="4837176" y="1417319"/>
            <a:ext cx="320040" cy="320040"/>
          </a:xfrm>
          <a:prstGeom prst="rect">
            <a:avLst/>
          </a:prstGeom>
          <a:solidFill>
            <a:srgbClr val="76B900"/>
          </a:solidFill>
          <a:ln>
            <a:noFill/>
          </a:ln>
          <a:effectLst/>
        </p:spPr>
        <p:txBody>
          <a:bodyPr rtlCol="0" anchor="ctr"/>
          <a:lstStyle/>
          <a:p>
            <a:pPr algn="ctr"/>
          </a:p>
        </p:txBody>
      </p:sp>
      <p:sp>
        <p:nvSpPr>
          <p:cNvPr id="23" name="02"/>
          <p:cNvSpPr txBox="1"/>
          <p:nvPr/>
        </p:nvSpPr>
        <p:spPr>
          <a:xfrm>
            <a:off x="4846320" y="1490472"/>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02</a:t>
            </a:r>
          </a:p>
        </p:txBody>
      </p:sp>
      <p:sp>
        <p:nvSpPr>
          <p:cNvPr id="24" name="Generate recipe IR"/>
          <p:cNvSpPr txBox="1"/>
          <p:nvPr/>
        </p:nvSpPr>
        <p:spPr>
          <a:xfrm>
            <a:off x="5285232" y="1444751"/>
            <a:ext cx="3209544" cy="320040"/>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Generate recipe IR</a:t>
            </a:r>
          </a:p>
        </p:txBody>
      </p:sp>
      <p:sp>
        <p:nvSpPr>
          <p:cNvPr id="25" name="Rectangle 24"/>
          <p:cNvSpPr/>
          <p:nvPr/>
        </p:nvSpPr>
        <p:spPr>
          <a:xfrm>
            <a:off x="5212080" y="1828800"/>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26" name="Connector 25"/>
          <p:cNvCxnSpPr/>
          <p:nvPr/>
        </p:nvCxnSpPr>
        <p:spPr>
          <a:xfrm>
            <a:off x="5385816" y="1828800"/>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385816" y="1924812"/>
            <a:ext cx="100584"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385816" y="1828800"/>
            <a:ext cx="100584"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29" name="&lt;/&gt;"/>
          <p:cNvSpPr txBox="1"/>
          <p:nvPr/>
        </p:nvSpPr>
        <p:spPr>
          <a:xfrm>
            <a:off x="5232196" y="19751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30" name="Python"/>
          <p:cNvSpPr txBox="1"/>
          <p:nvPr/>
        </p:nvSpPr>
        <p:spPr>
          <a:xfrm>
            <a:off x="4718304" y="2240280"/>
            <a:ext cx="1261872"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Python</a:t>
            </a:r>
          </a:p>
        </p:txBody>
      </p:sp>
      <p:cxnSp>
        <p:nvCxnSpPr>
          <p:cNvPr id="31" name="Connector 30"/>
          <p:cNvCxnSpPr/>
          <p:nvPr/>
        </p:nvCxnSpPr>
        <p:spPr>
          <a:xfrm>
            <a:off x="5605272" y="2002536"/>
            <a:ext cx="80467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6537960" y="18288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33" name="Connector 32"/>
          <p:cNvCxnSpPr/>
          <p:nvPr/>
        </p:nvCxnSpPr>
        <p:spPr>
          <a:xfrm>
            <a:off x="6711696" y="18288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711696" y="1924812"/>
            <a:ext cx="1005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711696" y="1828800"/>
            <a:ext cx="100584"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36" name="&lt;/&gt;"/>
          <p:cNvSpPr txBox="1"/>
          <p:nvPr/>
        </p:nvSpPr>
        <p:spPr>
          <a:xfrm>
            <a:off x="6558076" y="19751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37" name="Recipe IR"/>
          <p:cNvSpPr txBox="1"/>
          <p:nvPr/>
        </p:nvSpPr>
        <p:spPr>
          <a:xfrm>
            <a:off x="6044184" y="2240280"/>
            <a:ext cx="1261872"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Recipe IR</a:t>
            </a:r>
          </a:p>
        </p:txBody>
      </p:sp>
      <p:cxnSp>
        <p:nvCxnSpPr>
          <p:cNvPr id="38" name="Connector 37"/>
          <p:cNvCxnSpPr/>
          <p:nvPr/>
        </p:nvCxnSpPr>
        <p:spPr>
          <a:xfrm>
            <a:off x="6931152" y="2002536"/>
            <a:ext cx="80467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9" name="Gear 6 38"/>
          <p:cNvSpPr/>
          <p:nvPr/>
        </p:nvSpPr>
        <p:spPr>
          <a:xfrm>
            <a:off x="7822692" y="1828800"/>
            <a:ext cx="356616" cy="356616"/>
          </a:xfrm>
          <a:prstGeom prst="gear6">
            <a:avLst/>
          </a:prstGeom>
          <a:solidFill>
            <a:srgbClr val="F7F7F7"/>
          </a:solidFill>
          <a:ln w="11430">
            <a:solidFill>
              <a:srgbClr val="616161"/>
            </a:solidFill>
          </a:ln>
          <a:effectLst/>
        </p:spPr>
        <p:txBody>
          <a:bodyPr rtlCol="0" anchor="ctr"/>
          <a:lstStyle/>
          <a:p>
            <a:pPr algn="ctr"/>
          </a:p>
        </p:txBody>
      </p:sp>
      <p:sp>
        <p:nvSpPr>
          <p:cNvPr id="40" name="Consumer"/>
          <p:cNvSpPr txBox="1"/>
          <p:nvPr/>
        </p:nvSpPr>
        <p:spPr>
          <a:xfrm>
            <a:off x="7370064" y="2240280"/>
            <a:ext cx="1261872"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Consumer</a:t>
            </a:r>
          </a:p>
        </p:txBody>
      </p:sp>
      <p:sp>
        <p:nvSpPr>
          <p:cNvPr id="41" name="Consumer outside MLIR"/>
          <p:cNvSpPr txBox="1"/>
          <p:nvPr/>
        </p:nvSpPr>
        <p:spPr>
          <a:xfrm>
            <a:off x="4882896" y="2551176"/>
            <a:ext cx="3593592" cy="173736"/>
          </a:xfrm>
          <a:prstGeom prst="rect">
            <a:avLst/>
          </a:prstGeom>
          <a:noFill/>
        </p:spPr>
        <p:txBody>
          <a:bodyPr wrap="none" anchor="t" lIns="0" rIns="0" tIns="0" bIns="0">
            <a:noAutofit/>
          </a:bodyPr>
          <a:lstStyle/>
          <a:p>
            <a:pPr algn="ctr">
              <a:lnSpc>
                <a:spcPts val="1183"/>
              </a:lnSpc>
              <a:spcBef>
                <a:spcPts val="0"/>
              </a:spcBef>
              <a:spcAft>
                <a:spcPts val="0"/>
              </a:spcAft>
            </a:pPr>
            <a:r>
              <a:rPr sz="1019" b="0">
                <a:solidFill>
                  <a:srgbClr val="616161"/>
                </a:solidFill>
                <a:latin typeface="NVIDIA Sans"/>
              </a:rPr>
              <a:t>Consumer outside MLIR</a:t>
            </a:r>
          </a:p>
        </p:txBody>
      </p:sp>
      <p:sp>
        <p:nvSpPr>
          <p:cNvPr id="42" name="Rectangle 41"/>
          <p:cNvSpPr/>
          <p:nvPr/>
        </p:nvSpPr>
        <p:spPr>
          <a:xfrm>
            <a:off x="484632" y="2834639"/>
            <a:ext cx="3959352" cy="1426464"/>
          </a:xfrm>
          <a:prstGeom prst="rect">
            <a:avLst/>
          </a:prstGeom>
          <a:solidFill>
            <a:srgbClr val="F7F7F7"/>
          </a:solidFill>
          <a:ln>
            <a:noFill/>
          </a:ln>
          <a:effectLst/>
        </p:spPr>
        <p:txBody>
          <a:bodyPr rtlCol="0" anchor="ctr"/>
          <a:lstStyle/>
          <a:p>
            <a:pPr algn="ctr"/>
          </a:p>
        </p:txBody>
      </p:sp>
      <p:sp>
        <p:nvSpPr>
          <p:cNvPr id="43" name="Rectangle 42"/>
          <p:cNvSpPr/>
          <p:nvPr/>
        </p:nvSpPr>
        <p:spPr>
          <a:xfrm>
            <a:off x="621792" y="2953511"/>
            <a:ext cx="320040" cy="320040"/>
          </a:xfrm>
          <a:prstGeom prst="rect">
            <a:avLst/>
          </a:prstGeom>
          <a:solidFill>
            <a:srgbClr val="76B900"/>
          </a:solidFill>
          <a:ln>
            <a:noFill/>
          </a:ln>
          <a:effectLst/>
        </p:spPr>
        <p:txBody>
          <a:bodyPr rtlCol="0" anchor="ctr"/>
          <a:lstStyle/>
          <a:p>
            <a:pPr algn="ctr"/>
          </a:p>
        </p:txBody>
      </p:sp>
      <p:sp>
        <p:nvSpPr>
          <p:cNvPr id="44" name="03"/>
          <p:cNvSpPr txBox="1"/>
          <p:nvPr/>
        </p:nvSpPr>
        <p:spPr>
          <a:xfrm>
            <a:off x="630936" y="3026663"/>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03</a:t>
            </a:r>
          </a:p>
        </p:txBody>
      </p:sp>
      <p:sp>
        <p:nvSpPr>
          <p:cNvPr id="45" name="Reuse DSL building blocks"/>
          <p:cNvSpPr txBox="1"/>
          <p:nvPr/>
        </p:nvSpPr>
        <p:spPr>
          <a:xfrm>
            <a:off x="1069848" y="2980944"/>
            <a:ext cx="3209544" cy="320040"/>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Reuse DSL building blocks</a:t>
            </a:r>
          </a:p>
        </p:txBody>
      </p:sp>
      <p:sp>
        <p:nvSpPr>
          <p:cNvPr id="46" name="Rectangle 45"/>
          <p:cNvSpPr/>
          <p:nvPr/>
        </p:nvSpPr>
        <p:spPr>
          <a:xfrm>
            <a:off x="713232" y="3447287"/>
            <a:ext cx="3502152" cy="594360"/>
          </a:xfrm>
          <a:prstGeom prst="rect">
            <a:avLst/>
          </a:prstGeom>
          <a:solidFill>
            <a:srgbClr val="FFFFFF"/>
          </a:solidFill>
          <a:ln w="8890">
            <a:solidFill>
              <a:srgbClr val="76B900"/>
            </a:solidFill>
          </a:ln>
          <a:effectLst/>
        </p:spPr>
        <p:txBody>
          <a:bodyPr rtlCol="0" anchor="ctr"/>
          <a:lstStyle/>
          <a:p>
            <a:pPr algn="ctr"/>
          </a:p>
        </p:txBody>
      </p:sp>
      <p:sp>
        <p:nvSpPr>
          <p:cNvPr id="47" name="Your DSL"/>
          <p:cNvSpPr txBox="1"/>
          <p:nvPr/>
        </p:nvSpPr>
        <p:spPr>
          <a:xfrm>
            <a:off x="822960" y="3593591"/>
            <a:ext cx="932688" cy="274320"/>
          </a:xfrm>
          <a:prstGeom prst="rect">
            <a:avLst/>
          </a:prstGeom>
          <a:noFill/>
        </p:spPr>
        <p:txBody>
          <a:bodyPr wrap="none" anchor="t" lIns="0" rIns="0" tIns="0" bIns="0">
            <a:noAutofit/>
          </a:bodyPr>
          <a:lstStyle/>
          <a:p>
            <a:pPr algn="ctr">
              <a:lnSpc>
                <a:spcPts val="1739"/>
              </a:lnSpc>
              <a:spcBef>
                <a:spcPts val="0"/>
              </a:spcBef>
              <a:spcAft>
                <a:spcPts val="0"/>
              </a:spcAft>
            </a:pPr>
            <a:r>
              <a:rPr sz="1500" b="1">
                <a:solidFill>
                  <a:srgbClr val="416600"/>
                </a:solidFill>
                <a:latin typeface="NVIDIA Sans"/>
              </a:rPr>
              <a:t>Your DSL</a:t>
            </a:r>
          </a:p>
        </p:txBody>
      </p:sp>
      <p:sp>
        <p:nvSpPr>
          <p:cNvPr id="48" name="Rectangle 47"/>
          <p:cNvSpPr/>
          <p:nvPr/>
        </p:nvSpPr>
        <p:spPr>
          <a:xfrm>
            <a:off x="1901952" y="3575303"/>
            <a:ext cx="621792" cy="292608"/>
          </a:xfrm>
          <a:prstGeom prst="rect">
            <a:avLst/>
          </a:prstGeom>
          <a:solidFill>
            <a:srgbClr val="F0F6E6"/>
          </a:solidFill>
          <a:ln>
            <a:noFill/>
          </a:ln>
          <a:effectLst/>
        </p:spPr>
        <p:txBody>
          <a:bodyPr rtlCol="0" anchor="ctr"/>
          <a:lstStyle/>
          <a:p>
            <a:pPr algn="ctr"/>
          </a:p>
        </p:txBody>
      </p:sp>
      <p:sp>
        <p:nvSpPr>
          <p:cNvPr id="49" name="JIT"/>
          <p:cNvSpPr txBox="1"/>
          <p:nvPr/>
        </p:nvSpPr>
        <p:spPr>
          <a:xfrm>
            <a:off x="1933956" y="3639311"/>
            <a:ext cx="557784" cy="201168"/>
          </a:xfrm>
          <a:prstGeom prst="rect">
            <a:avLst/>
          </a:prstGeom>
          <a:noFill/>
        </p:spPr>
        <p:txBody>
          <a:bodyPr wrap="none" anchor="t" lIns="0" rIns="0" tIns="0" bIns="0">
            <a:noAutofit/>
          </a:bodyPr>
          <a:lstStyle/>
          <a:p>
            <a:pPr algn="ctr">
              <a:lnSpc>
                <a:spcPts val="1310"/>
              </a:lnSpc>
              <a:spcBef>
                <a:spcPts val="0"/>
              </a:spcBef>
              <a:spcAft>
                <a:spcPts val="0"/>
              </a:spcAft>
            </a:pPr>
            <a:r>
              <a:rPr sz="1130" b="1">
                <a:solidFill>
                  <a:srgbClr val="416600"/>
                </a:solidFill>
                <a:latin typeface="NVIDIA Sans"/>
              </a:rPr>
              <a:t>JIT</a:t>
            </a:r>
          </a:p>
        </p:txBody>
      </p:sp>
      <p:sp>
        <p:nvSpPr>
          <p:cNvPr id="50" name="Rectangle 49"/>
          <p:cNvSpPr/>
          <p:nvPr/>
        </p:nvSpPr>
        <p:spPr>
          <a:xfrm>
            <a:off x="2633472" y="3575303"/>
            <a:ext cx="621792" cy="292608"/>
          </a:xfrm>
          <a:prstGeom prst="rect">
            <a:avLst/>
          </a:prstGeom>
          <a:solidFill>
            <a:srgbClr val="F0F6E6"/>
          </a:solidFill>
          <a:ln>
            <a:noFill/>
          </a:ln>
          <a:effectLst/>
        </p:spPr>
        <p:txBody>
          <a:bodyPr rtlCol="0" anchor="ctr"/>
          <a:lstStyle/>
          <a:p>
            <a:pPr algn="ctr"/>
          </a:p>
        </p:txBody>
      </p:sp>
      <p:sp>
        <p:nvSpPr>
          <p:cNvPr id="51" name="Cache"/>
          <p:cNvSpPr txBox="1"/>
          <p:nvPr/>
        </p:nvSpPr>
        <p:spPr>
          <a:xfrm>
            <a:off x="2665476" y="3639311"/>
            <a:ext cx="557784" cy="201168"/>
          </a:xfrm>
          <a:prstGeom prst="rect">
            <a:avLst/>
          </a:prstGeom>
          <a:noFill/>
        </p:spPr>
        <p:txBody>
          <a:bodyPr wrap="none" anchor="t" lIns="0" rIns="0" tIns="0" bIns="0">
            <a:noAutofit/>
          </a:bodyPr>
          <a:lstStyle/>
          <a:p>
            <a:pPr algn="ctr">
              <a:lnSpc>
                <a:spcPts val="1310"/>
              </a:lnSpc>
              <a:spcBef>
                <a:spcPts val="0"/>
              </a:spcBef>
              <a:spcAft>
                <a:spcPts val="0"/>
              </a:spcAft>
            </a:pPr>
            <a:r>
              <a:rPr sz="1130" b="1">
                <a:solidFill>
                  <a:srgbClr val="416600"/>
                </a:solidFill>
                <a:latin typeface="NVIDIA Sans"/>
              </a:rPr>
              <a:t>Cache</a:t>
            </a:r>
          </a:p>
        </p:txBody>
      </p:sp>
      <p:sp>
        <p:nvSpPr>
          <p:cNvPr id="52" name="Rectangle 51"/>
          <p:cNvSpPr/>
          <p:nvPr/>
        </p:nvSpPr>
        <p:spPr>
          <a:xfrm>
            <a:off x="3364992" y="3575303"/>
            <a:ext cx="621792" cy="292608"/>
          </a:xfrm>
          <a:prstGeom prst="rect">
            <a:avLst/>
          </a:prstGeom>
          <a:solidFill>
            <a:srgbClr val="F0F6E6"/>
          </a:solidFill>
          <a:ln>
            <a:noFill/>
          </a:ln>
          <a:effectLst/>
        </p:spPr>
        <p:txBody>
          <a:bodyPr rtlCol="0" anchor="ctr"/>
          <a:lstStyle/>
          <a:p>
            <a:pPr algn="ctr"/>
          </a:p>
        </p:txBody>
      </p:sp>
      <p:sp>
        <p:nvSpPr>
          <p:cNvPr id="53" name="Env"/>
          <p:cNvSpPr txBox="1"/>
          <p:nvPr/>
        </p:nvSpPr>
        <p:spPr>
          <a:xfrm>
            <a:off x="3396996" y="3639311"/>
            <a:ext cx="557784" cy="201168"/>
          </a:xfrm>
          <a:prstGeom prst="rect">
            <a:avLst/>
          </a:prstGeom>
          <a:noFill/>
        </p:spPr>
        <p:txBody>
          <a:bodyPr wrap="none" anchor="t" lIns="0" rIns="0" tIns="0" bIns="0">
            <a:noAutofit/>
          </a:bodyPr>
          <a:lstStyle/>
          <a:p>
            <a:pPr algn="ctr">
              <a:lnSpc>
                <a:spcPts val="1310"/>
              </a:lnSpc>
              <a:spcBef>
                <a:spcPts val="0"/>
              </a:spcBef>
              <a:spcAft>
                <a:spcPts val="0"/>
              </a:spcAft>
            </a:pPr>
            <a:r>
              <a:rPr sz="1130" b="1">
                <a:solidFill>
                  <a:srgbClr val="416600"/>
                </a:solidFill>
                <a:latin typeface="NVIDIA Sans"/>
              </a:rPr>
              <a:t>Env</a:t>
            </a:r>
          </a:p>
        </p:txBody>
      </p:sp>
      <p:sp>
        <p:nvSpPr>
          <p:cNvPr id="54" name="Reuse the services."/>
          <p:cNvSpPr txBox="1"/>
          <p:nvPr/>
        </p:nvSpPr>
        <p:spPr>
          <a:xfrm>
            <a:off x="740664" y="4087368"/>
            <a:ext cx="3447288" cy="173736"/>
          </a:xfrm>
          <a:prstGeom prst="rect">
            <a:avLst/>
          </a:prstGeom>
          <a:noFill/>
        </p:spPr>
        <p:txBody>
          <a:bodyPr wrap="none" anchor="t" lIns="0" rIns="0" tIns="0" bIns="0">
            <a:noAutofit/>
          </a:bodyPr>
          <a:lstStyle/>
          <a:p>
            <a:pPr algn="ctr">
              <a:lnSpc>
                <a:spcPts val="1183"/>
              </a:lnSpc>
              <a:spcBef>
                <a:spcPts val="0"/>
              </a:spcBef>
              <a:spcAft>
                <a:spcPts val="0"/>
              </a:spcAft>
            </a:pPr>
            <a:r>
              <a:rPr sz="1019" b="0">
                <a:solidFill>
                  <a:srgbClr val="616161"/>
                </a:solidFill>
                <a:latin typeface="NVIDIA Sans"/>
              </a:rPr>
              <a:t>Reuse the services.</a:t>
            </a:r>
          </a:p>
        </p:txBody>
      </p:sp>
      <p:sp>
        <p:nvSpPr>
          <p:cNvPr id="55" name="Rectangle 54"/>
          <p:cNvSpPr/>
          <p:nvPr/>
        </p:nvSpPr>
        <p:spPr>
          <a:xfrm>
            <a:off x="4700016" y="2834639"/>
            <a:ext cx="3959352" cy="1426464"/>
          </a:xfrm>
          <a:prstGeom prst="rect">
            <a:avLst/>
          </a:prstGeom>
          <a:solidFill>
            <a:srgbClr val="F7F7F7"/>
          </a:solidFill>
          <a:ln>
            <a:noFill/>
          </a:ln>
          <a:effectLst/>
        </p:spPr>
        <p:txBody>
          <a:bodyPr rtlCol="0" anchor="ctr"/>
          <a:lstStyle/>
          <a:p>
            <a:pPr algn="ctr"/>
          </a:p>
        </p:txBody>
      </p:sp>
      <p:sp>
        <p:nvSpPr>
          <p:cNvPr id="56" name="Rectangle 55"/>
          <p:cNvSpPr/>
          <p:nvPr/>
        </p:nvSpPr>
        <p:spPr>
          <a:xfrm>
            <a:off x="4837176" y="2953511"/>
            <a:ext cx="320040" cy="320040"/>
          </a:xfrm>
          <a:prstGeom prst="rect">
            <a:avLst/>
          </a:prstGeom>
          <a:solidFill>
            <a:srgbClr val="76B900"/>
          </a:solidFill>
          <a:ln>
            <a:noFill/>
          </a:ln>
          <a:effectLst/>
        </p:spPr>
        <p:txBody>
          <a:bodyPr rtlCol="0" anchor="ctr"/>
          <a:lstStyle/>
          <a:p>
            <a:pPr algn="ctr"/>
          </a:p>
        </p:txBody>
      </p:sp>
      <p:sp>
        <p:nvSpPr>
          <p:cNvPr id="57" name="04"/>
          <p:cNvSpPr txBox="1"/>
          <p:nvPr/>
        </p:nvSpPr>
        <p:spPr>
          <a:xfrm>
            <a:off x="4846320" y="3026663"/>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04</a:t>
            </a:r>
          </a:p>
        </p:txBody>
      </p:sp>
      <p:sp>
        <p:nvSpPr>
          <p:cNvPr id="58" name="Build a full language"/>
          <p:cNvSpPr txBox="1"/>
          <p:nvPr/>
        </p:nvSpPr>
        <p:spPr>
          <a:xfrm>
            <a:off x="5285232" y="2980944"/>
            <a:ext cx="3209544" cy="320040"/>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Build a full language</a:t>
            </a:r>
          </a:p>
        </p:txBody>
      </p:sp>
      <p:sp>
        <p:nvSpPr>
          <p:cNvPr id="59" name="Rectangle 58"/>
          <p:cNvSpPr/>
          <p:nvPr/>
        </p:nvSpPr>
        <p:spPr>
          <a:xfrm>
            <a:off x="5212080" y="3364991"/>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60" name="Connector 59"/>
          <p:cNvCxnSpPr/>
          <p:nvPr/>
        </p:nvCxnSpPr>
        <p:spPr>
          <a:xfrm>
            <a:off x="5385816" y="3364991"/>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385816" y="3461003"/>
            <a:ext cx="100584"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5385816" y="3364991"/>
            <a:ext cx="100584"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63" name="&lt;/&gt;"/>
          <p:cNvSpPr txBox="1"/>
          <p:nvPr/>
        </p:nvSpPr>
        <p:spPr>
          <a:xfrm>
            <a:off x="5232196" y="3511296"/>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64" name="Python"/>
          <p:cNvSpPr txBox="1"/>
          <p:nvPr/>
        </p:nvSpPr>
        <p:spPr>
          <a:xfrm>
            <a:off x="4718304" y="3776472"/>
            <a:ext cx="1261872"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Python</a:t>
            </a:r>
          </a:p>
        </p:txBody>
      </p:sp>
      <p:cxnSp>
        <p:nvCxnSpPr>
          <p:cNvPr id="65" name="Connector 64"/>
          <p:cNvCxnSpPr/>
          <p:nvPr/>
        </p:nvCxnSpPr>
        <p:spPr>
          <a:xfrm>
            <a:off x="5605272" y="3538727"/>
            <a:ext cx="80467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66" name="Gear 6 65"/>
          <p:cNvSpPr/>
          <p:nvPr/>
        </p:nvSpPr>
        <p:spPr>
          <a:xfrm>
            <a:off x="6496812" y="3364991"/>
            <a:ext cx="356616" cy="356616"/>
          </a:xfrm>
          <a:prstGeom prst="gear6">
            <a:avLst/>
          </a:prstGeom>
          <a:solidFill>
            <a:srgbClr val="E4F0D0"/>
          </a:solidFill>
          <a:ln w="11430">
            <a:solidFill>
              <a:srgbClr val="416600"/>
            </a:solidFill>
          </a:ln>
          <a:effectLst/>
        </p:spPr>
        <p:txBody>
          <a:bodyPr rtlCol="0" anchor="ctr"/>
          <a:lstStyle/>
          <a:p>
            <a:pPr algn="ctr"/>
          </a:p>
        </p:txBody>
      </p:sp>
      <p:sp>
        <p:nvSpPr>
          <p:cNvPr id="67" name="DSL"/>
          <p:cNvSpPr txBox="1"/>
          <p:nvPr/>
        </p:nvSpPr>
        <p:spPr>
          <a:xfrm>
            <a:off x="6044184" y="3776472"/>
            <a:ext cx="1261872"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DSL</a:t>
            </a:r>
          </a:p>
        </p:txBody>
      </p:sp>
      <p:cxnSp>
        <p:nvCxnSpPr>
          <p:cNvPr id="68" name="Connector 67"/>
          <p:cNvCxnSpPr/>
          <p:nvPr/>
        </p:nvCxnSpPr>
        <p:spPr>
          <a:xfrm>
            <a:off x="6931152" y="3538727"/>
            <a:ext cx="80467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7863840" y="3401568"/>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70" name="Connector 69"/>
          <p:cNvCxnSpPr/>
          <p:nvPr/>
        </p:nvCxnSpPr>
        <p:spPr>
          <a:xfrm>
            <a:off x="7927848" y="3364991"/>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927848" y="3675887"/>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827264" y="3465575"/>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8138160" y="3465575"/>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8001000" y="3364991"/>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8001000" y="3675887"/>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7827264" y="3538727"/>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138160" y="3538727"/>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074152" y="3364991"/>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8074152" y="3675887"/>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7264" y="361187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8138160" y="361187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82" name="01"/>
          <p:cNvSpPr txBox="1"/>
          <p:nvPr/>
        </p:nvSpPr>
        <p:spPr>
          <a:xfrm>
            <a:off x="7882127" y="3474720"/>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83" name="GPU"/>
          <p:cNvSpPr txBox="1"/>
          <p:nvPr/>
        </p:nvSpPr>
        <p:spPr>
          <a:xfrm>
            <a:off x="7370064" y="3776472"/>
            <a:ext cx="1261872"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GPU</a:t>
            </a:r>
          </a:p>
        </p:txBody>
      </p:sp>
      <p:sp>
        <p:nvSpPr>
          <p:cNvPr id="84" name="NVIDIA CuTe DSL / CUTLASS Python"/>
          <p:cNvSpPr txBox="1"/>
          <p:nvPr/>
        </p:nvSpPr>
        <p:spPr>
          <a:xfrm>
            <a:off x="4882896" y="4087368"/>
            <a:ext cx="3593592" cy="173736"/>
          </a:xfrm>
          <a:prstGeom prst="rect">
            <a:avLst/>
          </a:prstGeom>
          <a:noFill/>
        </p:spPr>
        <p:txBody>
          <a:bodyPr wrap="none" anchor="t" lIns="0" rIns="0" tIns="0" bIns="0">
            <a:noAutofit/>
          </a:bodyPr>
          <a:lstStyle/>
          <a:p>
            <a:pPr algn="ctr">
              <a:lnSpc>
                <a:spcPts val="1136"/>
              </a:lnSpc>
              <a:spcBef>
                <a:spcPts val="0"/>
              </a:spcBef>
              <a:spcAft>
                <a:spcPts val="0"/>
              </a:spcAft>
            </a:pPr>
            <a:r>
              <a:rPr sz="980" b="0" u="sng">
                <a:solidFill>
                  <a:srgbClr val="416600"/>
                </a:solidFill>
                <a:latin typeface="NVIDIA Sans"/>
                <a:hlinkClick r:id="rId3"/>
              </a:rPr>
              <a:t>NVIDIA CuTe DSL / CUTLASS Python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MLIR has many world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MLIR has many worlds</a:t>
            </a:r>
          </a:p>
        </p:txBody>
      </p:sp>
      <p:sp>
        <p:nvSpPr>
          <p:cNvPr id="5" name="0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05</a:t>
            </a:r>
          </a:p>
        </p:txBody>
      </p:sp>
      <p:sp>
        <p:nvSpPr>
          <p:cNvPr id="6" name="Motiva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Motivation</a:t>
            </a:r>
          </a:p>
        </p:txBody>
      </p:sp>
      <p:sp>
        <p:nvSpPr>
          <p:cNvPr id="7" name="Different dialects."/>
          <p:cNvSpPr txBox="1"/>
          <p:nvPr/>
        </p:nvSpPr>
        <p:spPr>
          <a:xfrm>
            <a:off x="557784" y="1572768"/>
            <a:ext cx="7982712" cy="457200"/>
          </a:xfrm>
          <a:prstGeom prst="rect">
            <a:avLst/>
          </a:prstGeom>
          <a:noFill/>
        </p:spPr>
        <p:txBody>
          <a:bodyPr wrap="none" anchor="t" lIns="0" rIns="0" tIns="0" bIns="0">
            <a:noAutofit/>
          </a:bodyPr>
          <a:lstStyle/>
          <a:p>
            <a:pPr algn="l">
              <a:lnSpc>
                <a:spcPts val="3131"/>
              </a:lnSpc>
              <a:spcBef>
                <a:spcPts val="0"/>
              </a:spcBef>
              <a:spcAft>
                <a:spcPts val="0"/>
              </a:spcAft>
            </a:pPr>
            <a:r>
              <a:rPr sz="2700" b="0">
                <a:solidFill>
                  <a:srgbClr val="000000"/>
                </a:solidFill>
                <a:latin typeface="NVIDIA Sans Light"/>
              </a:rPr>
              <a:t>Different dialects.</a:t>
            </a:r>
          </a:p>
        </p:txBody>
      </p:sp>
      <p:sp>
        <p:nvSpPr>
          <p:cNvPr id="8" name="Different pipelines."/>
          <p:cNvSpPr txBox="1"/>
          <p:nvPr/>
        </p:nvSpPr>
        <p:spPr>
          <a:xfrm>
            <a:off x="557784" y="2249424"/>
            <a:ext cx="7982712" cy="457200"/>
          </a:xfrm>
          <a:prstGeom prst="rect">
            <a:avLst/>
          </a:prstGeom>
          <a:noFill/>
        </p:spPr>
        <p:txBody>
          <a:bodyPr wrap="none" anchor="t" lIns="0" rIns="0" tIns="0" bIns="0">
            <a:noAutofit/>
          </a:bodyPr>
          <a:lstStyle/>
          <a:p>
            <a:pPr algn="l">
              <a:lnSpc>
                <a:spcPts val="3131"/>
              </a:lnSpc>
              <a:spcBef>
                <a:spcPts val="0"/>
              </a:spcBef>
              <a:spcAft>
                <a:spcPts val="0"/>
              </a:spcAft>
            </a:pPr>
            <a:r>
              <a:rPr sz="2700" b="0">
                <a:solidFill>
                  <a:srgbClr val="000000"/>
                </a:solidFill>
                <a:latin typeface="NVIDIA Sans Light"/>
              </a:rPr>
              <a:t>Different pipelines.</a:t>
            </a:r>
          </a:p>
        </p:txBody>
      </p:sp>
      <p:sp>
        <p:nvSpPr>
          <p:cNvPr id="9" name="Different control flow."/>
          <p:cNvSpPr txBox="1"/>
          <p:nvPr/>
        </p:nvSpPr>
        <p:spPr>
          <a:xfrm>
            <a:off x="557784" y="2926080"/>
            <a:ext cx="7982712" cy="457200"/>
          </a:xfrm>
          <a:prstGeom prst="rect">
            <a:avLst/>
          </a:prstGeom>
          <a:noFill/>
        </p:spPr>
        <p:txBody>
          <a:bodyPr wrap="none" anchor="t" lIns="0" rIns="0" tIns="0" bIns="0">
            <a:noAutofit/>
          </a:bodyPr>
          <a:lstStyle/>
          <a:p>
            <a:pPr algn="l">
              <a:lnSpc>
                <a:spcPts val="3131"/>
              </a:lnSpc>
              <a:spcBef>
                <a:spcPts val="0"/>
              </a:spcBef>
              <a:spcAft>
                <a:spcPts val="0"/>
              </a:spcAft>
            </a:pPr>
            <a:r>
              <a:rPr sz="2700" b="0">
                <a:solidFill>
                  <a:srgbClr val="000000"/>
                </a:solidFill>
                <a:latin typeface="NVIDIA Sans Light"/>
              </a:rPr>
              <a:t>Different control flow.</a:t>
            </a:r>
          </a:p>
        </p:txBody>
      </p:sp>
      <p:sp>
        <p:nvSpPr>
          <p:cNvPr id="10" name="One fixed language cannot serve every compiler."/>
          <p:cNvSpPr txBox="1"/>
          <p:nvPr/>
        </p:nvSpPr>
        <p:spPr>
          <a:xfrm>
            <a:off x="557784" y="3968496"/>
            <a:ext cx="7982712" cy="402336"/>
          </a:xfrm>
          <a:prstGeom prst="rect">
            <a:avLst/>
          </a:prstGeom>
          <a:noFill/>
        </p:spPr>
        <p:txBody>
          <a:bodyPr wrap="none" anchor="t" lIns="0" rIns="0" tIns="0" bIns="0">
            <a:noAutofit/>
          </a:bodyPr>
          <a:lstStyle/>
          <a:p>
            <a:pPr algn="l">
              <a:lnSpc>
                <a:spcPts val="1855"/>
              </a:lnSpc>
              <a:spcBef>
                <a:spcPts val="0"/>
              </a:spcBef>
              <a:spcAft>
                <a:spcPts val="0"/>
              </a:spcAft>
            </a:pPr>
            <a:r>
              <a:rPr sz="1600" b="0">
                <a:solidFill>
                  <a:srgbClr val="416600"/>
                </a:solidFill>
                <a:latin typeface="NVIDIA Sans"/>
              </a:rPr>
              <a:t>One fixed language cannot serve every compiler.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Proposal: a dialect-agnostic cor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Proposal: a dialect-agnostic core</a:t>
            </a:r>
          </a:p>
        </p:txBody>
      </p:sp>
      <p:sp>
        <p:nvSpPr>
          <p:cNvPr id="5" name="0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06</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ctangle 6"/>
          <p:cNvSpPr/>
          <p:nvPr/>
        </p:nvSpPr>
        <p:spPr>
          <a:xfrm>
            <a:off x="484632" y="1353312"/>
            <a:ext cx="8174736" cy="2834640"/>
          </a:xfrm>
          <a:prstGeom prst="rect">
            <a:avLst/>
          </a:prstGeom>
          <a:solidFill>
            <a:srgbClr val="F7F7F7"/>
          </a:solidFill>
          <a:ln w="8890">
            <a:solidFill>
              <a:srgbClr val="D5D5D5"/>
            </a:solidFill>
          </a:ln>
          <a:effectLst/>
        </p:spPr>
        <p:txBody>
          <a:bodyPr rtlCol="0" anchor="ctr"/>
          <a:lstStyle/>
          <a:p>
            <a:pPr algn="ctr"/>
          </a:p>
        </p:txBody>
      </p:sp>
      <p:sp>
        <p:nvSpPr>
          <p:cNvPr id="8" name="Core DSL"/>
          <p:cNvSpPr txBox="1"/>
          <p:nvPr/>
        </p:nvSpPr>
        <p:spPr>
          <a:xfrm>
            <a:off x="722376" y="1554480"/>
            <a:ext cx="7699248" cy="356616"/>
          </a:xfrm>
          <a:prstGeom prst="rect">
            <a:avLst/>
          </a:prstGeom>
          <a:noFill/>
        </p:spPr>
        <p:txBody>
          <a:bodyPr wrap="none" anchor="t" lIns="0" rIns="0" tIns="0" bIns="0">
            <a:noAutofit/>
          </a:bodyPr>
          <a:lstStyle/>
          <a:p>
            <a:pPr algn="l">
              <a:lnSpc>
                <a:spcPts val="2552"/>
              </a:lnSpc>
              <a:spcBef>
                <a:spcPts val="0"/>
              </a:spcBef>
              <a:spcAft>
                <a:spcPts val="0"/>
              </a:spcAft>
            </a:pPr>
            <a:r>
              <a:rPr sz="2200" b="1">
                <a:solidFill>
                  <a:srgbClr val="000000"/>
                </a:solidFill>
                <a:latin typeface="NVIDIA Sans"/>
              </a:rPr>
              <a:t>Core DSL</a:t>
            </a:r>
          </a:p>
        </p:txBody>
      </p:sp>
      <p:sp>
        <p:nvSpPr>
          <p:cNvPr id="9" name="Rectangle 8"/>
          <p:cNvSpPr/>
          <p:nvPr/>
        </p:nvSpPr>
        <p:spPr>
          <a:xfrm>
            <a:off x="722376" y="2057400"/>
            <a:ext cx="3749039" cy="868680"/>
          </a:xfrm>
          <a:prstGeom prst="rect">
            <a:avLst/>
          </a:prstGeom>
          <a:solidFill>
            <a:srgbClr val="FFFFFF"/>
          </a:solidFill>
          <a:ln w="8890">
            <a:solidFill>
              <a:srgbClr val="D5D5D5"/>
            </a:solidFill>
          </a:ln>
          <a:effectLst/>
        </p:spPr>
        <p:txBody>
          <a:bodyPr rtlCol="0" anchor="ctr"/>
          <a:lstStyle/>
          <a:p>
            <a:pPr algn="ctr"/>
          </a:p>
        </p:txBody>
      </p:sp>
      <p:sp>
        <p:nvSpPr>
          <p:cNvPr id="10" name="Rectangle 9"/>
          <p:cNvSpPr/>
          <p:nvPr/>
        </p:nvSpPr>
        <p:spPr>
          <a:xfrm>
            <a:off x="722376" y="2057400"/>
            <a:ext cx="50292" cy="868680"/>
          </a:xfrm>
          <a:prstGeom prst="rect">
            <a:avLst/>
          </a:prstGeom>
          <a:solidFill>
            <a:srgbClr val="76B900"/>
          </a:solidFill>
          <a:ln>
            <a:noFill/>
          </a:ln>
          <a:effectLst/>
        </p:spPr>
        <p:txBody>
          <a:bodyPr rtlCol="0" anchor="ctr"/>
          <a:lstStyle/>
          <a:p>
            <a:pPr algn="ctr"/>
          </a:p>
        </p:txBody>
      </p:sp>
      <p:sp>
        <p:nvSpPr>
          <p:cNvPr id="11" name="Diagnostics"/>
          <p:cNvSpPr txBox="1"/>
          <p:nvPr/>
        </p:nvSpPr>
        <p:spPr>
          <a:xfrm>
            <a:off x="905256" y="2203704"/>
            <a:ext cx="3383279" cy="329184"/>
          </a:xfrm>
          <a:prstGeom prst="rect">
            <a:avLst/>
          </a:prstGeom>
          <a:noFill/>
        </p:spPr>
        <p:txBody>
          <a:bodyPr wrap="none" anchor="t" lIns="0" rIns="0" tIns="0" bIns="0">
            <a:noAutofit/>
          </a:bodyPr>
          <a:lstStyle/>
          <a:p>
            <a:pPr algn="l">
              <a:lnSpc>
                <a:spcPts val="2320"/>
              </a:lnSpc>
              <a:spcBef>
                <a:spcPts val="0"/>
              </a:spcBef>
              <a:spcAft>
                <a:spcPts val="0"/>
              </a:spcAft>
            </a:pPr>
            <a:r>
              <a:rPr sz="2000" b="1">
                <a:solidFill>
                  <a:srgbClr val="416600"/>
                </a:solidFill>
                <a:latin typeface="NVIDIA Sans"/>
              </a:rPr>
              <a:t>Diagnostics</a:t>
            </a:r>
          </a:p>
        </p:txBody>
      </p:sp>
      <p:sp>
        <p:nvSpPr>
          <p:cNvPr id="12" name="Errors · remarks"/>
          <p:cNvSpPr txBox="1"/>
          <p:nvPr/>
        </p:nvSpPr>
        <p:spPr>
          <a:xfrm>
            <a:off x="905256" y="2651760"/>
            <a:ext cx="3383279" cy="210312"/>
          </a:xfrm>
          <a:prstGeom prst="rect">
            <a:avLst/>
          </a:prstGeom>
          <a:noFill/>
        </p:spPr>
        <p:txBody>
          <a:bodyPr wrap="none" anchor="t" lIns="0" rIns="0" tIns="0" bIns="0">
            <a:noAutofit/>
          </a:bodyPr>
          <a:lstStyle/>
          <a:p>
            <a:pPr algn="l">
              <a:lnSpc>
                <a:spcPts val="1519"/>
              </a:lnSpc>
              <a:spcBef>
                <a:spcPts val="0"/>
              </a:spcBef>
              <a:spcAft>
                <a:spcPts val="0"/>
              </a:spcAft>
            </a:pPr>
            <a:r>
              <a:rPr sz="1310" b="0">
                <a:solidFill>
                  <a:srgbClr val="616161"/>
                </a:solidFill>
                <a:latin typeface="NVIDIA Sans"/>
              </a:rPr>
              <a:t>Errors · remarks</a:t>
            </a:r>
          </a:p>
        </p:txBody>
      </p:sp>
      <p:sp>
        <p:nvSpPr>
          <p:cNvPr id="13" name="Rectangle 12"/>
          <p:cNvSpPr/>
          <p:nvPr/>
        </p:nvSpPr>
        <p:spPr>
          <a:xfrm>
            <a:off x="4645152" y="2057400"/>
            <a:ext cx="3749039" cy="868680"/>
          </a:xfrm>
          <a:prstGeom prst="rect">
            <a:avLst/>
          </a:prstGeom>
          <a:solidFill>
            <a:srgbClr val="FFFFFF"/>
          </a:solidFill>
          <a:ln w="8890">
            <a:solidFill>
              <a:srgbClr val="D5D5D5"/>
            </a:solidFill>
          </a:ln>
          <a:effectLst/>
        </p:spPr>
        <p:txBody>
          <a:bodyPr rtlCol="0" anchor="ctr"/>
          <a:lstStyle/>
          <a:p>
            <a:pPr algn="ctr"/>
          </a:p>
        </p:txBody>
      </p:sp>
      <p:sp>
        <p:nvSpPr>
          <p:cNvPr id="14" name="Rectangle 13"/>
          <p:cNvSpPr/>
          <p:nvPr/>
        </p:nvSpPr>
        <p:spPr>
          <a:xfrm>
            <a:off x="4645152" y="2057400"/>
            <a:ext cx="50292" cy="868680"/>
          </a:xfrm>
          <a:prstGeom prst="rect">
            <a:avLst/>
          </a:prstGeom>
          <a:solidFill>
            <a:srgbClr val="76B900"/>
          </a:solidFill>
          <a:ln>
            <a:noFill/>
          </a:ln>
          <a:effectLst/>
        </p:spPr>
        <p:txBody>
          <a:bodyPr rtlCol="0" anchor="ctr"/>
          <a:lstStyle/>
          <a:p>
            <a:pPr algn="ctr"/>
          </a:p>
        </p:txBody>
      </p:sp>
      <p:sp>
        <p:nvSpPr>
          <p:cNvPr id="15" name="AST preprocessing"/>
          <p:cNvSpPr txBox="1"/>
          <p:nvPr/>
        </p:nvSpPr>
        <p:spPr>
          <a:xfrm>
            <a:off x="4828032" y="2203704"/>
            <a:ext cx="3383279" cy="329184"/>
          </a:xfrm>
          <a:prstGeom prst="rect">
            <a:avLst/>
          </a:prstGeom>
          <a:noFill/>
        </p:spPr>
        <p:txBody>
          <a:bodyPr wrap="none" anchor="t" lIns="0" rIns="0" tIns="0" bIns="0">
            <a:noAutofit/>
          </a:bodyPr>
          <a:lstStyle/>
          <a:p>
            <a:pPr algn="l">
              <a:lnSpc>
                <a:spcPts val="2320"/>
              </a:lnSpc>
              <a:spcBef>
                <a:spcPts val="0"/>
              </a:spcBef>
              <a:spcAft>
                <a:spcPts val="0"/>
              </a:spcAft>
            </a:pPr>
            <a:r>
              <a:rPr sz="2000" b="1">
                <a:solidFill>
                  <a:srgbClr val="416600"/>
                </a:solidFill>
                <a:latin typeface="NVIDIA Sans"/>
              </a:rPr>
              <a:t>AST preprocessing</a:t>
            </a:r>
          </a:p>
        </p:txBody>
      </p:sp>
      <p:sp>
        <p:nvSpPr>
          <p:cNvPr id="16" name="Plugin hooks"/>
          <p:cNvSpPr txBox="1"/>
          <p:nvPr/>
        </p:nvSpPr>
        <p:spPr>
          <a:xfrm>
            <a:off x="4828032" y="2651760"/>
            <a:ext cx="3383279" cy="210312"/>
          </a:xfrm>
          <a:prstGeom prst="rect">
            <a:avLst/>
          </a:prstGeom>
          <a:noFill/>
        </p:spPr>
        <p:txBody>
          <a:bodyPr wrap="none" anchor="t" lIns="0" rIns="0" tIns="0" bIns="0">
            <a:noAutofit/>
          </a:bodyPr>
          <a:lstStyle/>
          <a:p>
            <a:pPr algn="l">
              <a:lnSpc>
                <a:spcPts val="1519"/>
              </a:lnSpc>
              <a:spcBef>
                <a:spcPts val="0"/>
              </a:spcBef>
              <a:spcAft>
                <a:spcPts val="0"/>
              </a:spcAft>
            </a:pPr>
            <a:r>
              <a:rPr sz="1310" b="0">
                <a:solidFill>
                  <a:srgbClr val="616161"/>
                </a:solidFill>
                <a:latin typeface="NVIDIA Sans"/>
              </a:rPr>
              <a:t>Plugin hooks</a:t>
            </a:r>
          </a:p>
        </p:txBody>
      </p:sp>
      <p:sp>
        <p:nvSpPr>
          <p:cNvPr id="17" name="Rectangle 16"/>
          <p:cNvSpPr/>
          <p:nvPr/>
        </p:nvSpPr>
        <p:spPr>
          <a:xfrm>
            <a:off x="722376" y="3044952"/>
            <a:ext cx="3749039" cy="868680"/>
          </a:xfrm>
          <a:prstGeom prst="rect">
            <a:avLst/>
          </a:prstGeom>
          <a:solidFill>
            <a:srgbClr val="FFFFFF"/>
          </a:solidFill>
          <a:ln w="8890">
            <a:solidFill>
              <a:srgbClr val="D5D5D5"/>
            </a:solidFill>
          </a:ln>
          <a:effectLst/>
        </p:spPr>
        <p:txBody>
          <a:bodyPr rtlCol="0" anchor="ctr"/>
          <a:lstStyle/>
          <a:p>
            <a:pPr algn="ctr"/>
          </a:p>
        </p:txBody>
      </p:sp>
      <p:sp>
        <p:nvSpPr>
          <p:cNvPr id="18" name="Rectangle 17"/>
          <p:cNvSpPr/>
          <p:nvPr/>
        </p:nvSpPr>
        <p:spPr>
          <a:xfrm>
            <a:off x="722376" y="3044952"/>
            <a:ext cx="50292" cy="868680"/>
          </a:xfrm>
          <a:prstGeom prst="rect">
            <a:avLst/>
          </a:prstGeom>
          <a:solidFill>
            <a:srgbClr val="76B900"/>
          </a:solidFill>
          <a:ln>
            <a:noFill/>
          </a:ln>
          <a:effectLst/>
        </p:spPr>
        <p:txBody>
          <a:bodyPr rtlCol="0" anchor="ctr"/>
          <a:lstStyle/>
          <a:p>
            <a:pPr algn="ctr"/>
          </a:p>
        </p:txBody>
      </p:sp>
      <p:sp>
        <p:nvSpPr>
          <p:cNvPr id="19" name="JIT cache"/>
          <p:cNvSpPr txBox="1"/>
          <p:nvPr/>
        </p:nvSpPr>
        <p:spPr>
          <a:xfrm>
            <a:off x="905256" y="3191256"/>
            <a:ext cx="3383279" cy="329184"/>
          </a:xfrm>
          <a:prstGeom prst="rect">
            <a:avLst/>
          </a:prstGeom>
          <a:noFill/>
        </p:spPr>
        <p:txBody>
          <a:bodyPr wrap="none" anchor="t" lIns="0" rIns="0" tIns="0" bIns="0">
            <a:noAutofit/>
          </a:bodyPr>
          <a:lstStyle/>
          <a:p>
            <a:pPr algn="l">
              <a:lnSpc>
                <a:spcPts val="2320"/>
              </a:lnSpc>
              <a:spcBef>
                <a:spcPts val="0"/>
              </a:spcBef>
              <a:spcAft>
                <a:spcPts val="0"/>
              </a:spcAft>
            </a:pPr>
            <a:r>
              <a:rPr sz="2000" b="1">
                <a:solidFill>
                  <a:srgbClr val="416600"/>
                </a:solidFill>
                <a:latin typeface="NVIDIA Sans"/>
              </a:rPr>
              <a:t>JIT cache</a:t>
            </a:r>
          </a:p>
        </p:txBody>
      </p:sp>
      <p:sp>
        <p:nvSpPr>
          <p:cNvPr id="20" name="Memory · disk"/>
          <p:cNvSpPr txBox="1"/>
          <p:nvPr/>
        </p:nvSpPr>
        <p:spPr>
          <a:xfrm>
            <a:off x="905256" y="3639312"/>
            <a:ext cx="3383279" cy="210312"/>
          </a:xfrm>
          <a:prstGeom prst="rect">
            <a:avLst/>
          </a:prstGeom>
          <a:noFill/>
        </p:spPr>
        <p:txBody>
          <a:bodyPr wrap="none" anchor="t" lIns="0" rIns="0" tIns="0" bIns="0">
            <a:noAutofit/>
          </a:bodyPr>
          <a:lstStyle/>
          <a:p>
            <a:pPr algn="l">
              <a:lnSpc>
                <a:spcPts val="1519"/>
              </a:lnSpc>
              <a:spcBef>
                <a:spcPts val="0"/>
              </a:spcBef>
              <a:spcAft>
                <a:spcPts val="0"/>
              </a:spcAft>
            </a:pPr>
            <a:r>
              <a:rPr sz="1310" b="0">
                <a:solidFill>
                  <a:srgbClr val="616161"/>
                </a:solidFill>
                <a:latin typeface="NVIDIA Sans"/>
              </a:rPr>
              <a:t>Memory · disk</a:t>
            </a:r>
          </a:p>
        </p:txBody>
      </p:sp>
      <p:sp>
        <p:nvSpPr>
          <p:cNvPr id="21" name="Rectangle 20"/>
          <p:cNvSpPr/>
          <p:nvPr/>
        </p:nvSpPr>
        <p:spPr>
          <a:xfrm>
            <a:off x="4645152" y="3044952"/>
            <a:ext cx="3749039" cy="868680"/>
          </a:xfrm>
          <a:prstGeom prst="rect">
            <a:avLst/>
          </a:prstGeom>
          <a:solidFill>
            <a:srgbClr val="FFFFFF"/>
          </a:solidFill>
          <a:ln w="8890">
            <a:solidFill>
              <a:srgbClr val="D5D5D5"/>
            </a:solidFill>
          </a:ln>
          <a:effectLst/>
        </p:spPr>
        <p:txBody>
          <a:bodyPr rtlCol="0" anchor="ctr"/>
          <a:lstStyle/>
          <a:p>
            <a:pPr algn="ctr"/>
          </a:p>
        </p:txBody>
      </p:sp>
      <p:sp>
        <p:nvSpPr>
          <p:cNvPr id="22" name="Rectangle 21"/>
          <p:cNvSpPr/>
          <p:nvPr/>
        </p:nvSpPr>
        <p:spPr>
          <a:xfrm>
            <a:off x="4645152" y="3044952"/>
            <a:ext cx="50292" cy="868680"/>
          </a:xfrm>
          <a:prstGeom prst="rect">
            <a:avLst/>
          </a:prstGeom>
          <a:solidFill>
            <a:srgbClr val="76B900"/>
          </a:solidFill>
          <a:ln>
            <a:noFill/>
          </a:ln>
          <a:effectLst/>
        </p:spPr>
        <p:txBody>
          <a:bodyPr rtlCol="0" anchor="ctr"/>
          <a:lstStyle/>
          <a:p>
            <a:pPr algn="ctr"/>
          </a:p>
        </p:txBody>
      </p:sp>
      <p:sp>
        <p:nvSpPr>
          <p:cNvPr id="23" name="Type inference"/>
          <p:cNvSpPr txBox="1"/>
          <p:nvPr/>
        </p:nvSpPr>
        <p:spPr>
          <a:xfrm>
            <a:off x="4828032" y="3191256"/>
            <a:ext cx="3383279" cy="329184"/>
          </a:xfrm>
          <a:prstGeom prst="rect">
            <a:avLst/>
          </a:prstGeom>
          <a:noFill/>
        </p:spPr>
        <p:txBody>
          <a:bodyPr wrap="none" anchor="t" lIns="0" rIns="0" tIns="0" bIns="0">
            <a:noAutofit/>
          </a:bodyPr>
          <a:lstStyle/>
          <a:p>
            <a:pPr algn="l">
              <a:lnSpc>
                <a:spcPts val="2320"/>
              </a:lnSpc>
              <a:spcBef>
                <a:spcPts val="0"/>
              </a:spcBef>
              <a:spcAft>
                <a:spcPts val="0"/>
              </a:spcAft>
            </a:pPr>
            <a:r>
              <a:rPr sz="2000" b="1">
                <a:solidFill>
                  <a:srgbClr val="416600"/>
                </a:solidFill>
                <a:latin typeface="NVIDIA Sans"/>
              </a:rPr>
              <a:t>Type inference</a:t>
            </a:r>
          </a:p>
        </p:txBody>
      </p:sp>
      <p:sp>
        <p:nvSpPr>
          <p:cNvPr id="24" name="Promotion · casts"/>
          <p:cNvSpPr txBox="1"/>
          <p:nvPr/>
        </p:nvSpPr>
        <p:spPr>
          <a:xfrm>
            <a:off x="4828032" y="3639312"/>
            <a:ext cx="3383279" cy="210312"/>
          </a:xfrm>
          <a:prstGeom prst="rect">
            <a:avLst/>
          </a:prstGeom>
          <a:noFill/>
        </p:spPr>
        <p:txBody>
          <a:bodyPr wrap="none" anchor="t" lIns="0" rIns="0" tIns="0" bIns="0">
            <a:noAutofit/>
          </a:bodyPr>
          <a:lstStyle/>
          <a:p>
            <a:pPr algn="l">
              <a:lnSpc>
                <a:spcPts val="1519"/>
              </a:lnSpc>
              <a:spcBef>
                <a:spcPts val="0"/>
              </a:spcBef>
              <a:spcAft>
                <a:spcPts val="0"/>
              </a:spcAft>
            </a:pPr>
            <a:r>
              <a:rPr sz="1310" b="0">
                <a:solidFill>
                  <a:srgbClr val="616161"/>
                </a:solidFill>
                <a:latin typeface="NVIDIA Sans"/>
              </a:rPr>
              <a:t>Promotion · casts</a:t>
            </a:r>
          </a:p>
        </p:txBody>
      </p:sp>
      <p:sp>
        <p:nvSpPr>
          <p:cNvPr id="25" name="No default dialect. No default compiler."/>
          <p:cNvSpPr txBox="1"/>
          <p:nvPr/>
        </p:nvSpPr>
        <p:spPr>
          <a:xfrm>
            <a:off x="539496" y="4434840"/>
            <a:ext cx="8065008" cy="256032"/>
          </a:xfrm>
          <a:prstGeom prst="rect">
            <a:avLst/>
          </a:prstGeom>
          <a:noFill/>
        </p:spPr>
        <p:txBody>
          <a:bodyPr wrap="none" anchor="t" lIns="0" rIns="0" tIns="0" bIns="0">
            <a:noAutofit/>
          </a:bodyPr>
          <a:lstStyle/>
          <a:p>
            <a:pPr algn="ctr">
              <a:lnSpc>
                <a:spcPts val="1577"/>
              </a:lnSpc>
              <a:spcBef>
                <a:spcPts val="0"/>
              </a:spcBef>
              <a:spcAft>
                <a:spcPts val="0"/>
              </a:spcAft>
            </a:pPr>
            <a:r>
              <a:rPr sz="1360" b="0">
                <a:solidFill>
                  <a:srgbClr val="616161"/>
                </a:solidFill>
                <a:latin typeface="NVIDIA Sans"/>
              </a:rPr>
              <a:t>No default dialect. No default compiler.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Four roles. Two famili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Four roles. Two families.</a:t>
            </a:r>
          </a:p>
        </p:txBody>
      </p:sp>
      <p:sp>
        <p:nvSpPr>
          <p:cNvPr id="5" name="0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07</a:t>
            </a:r>
          </a:p>
        </p:txBody>
      </p:sp>
      <p:sp>
        <p:nvSpPr>
          <p:cNvPr id="6" name="Architectu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Architecture</a:t>
            </a:r>
          </a:p>
        </p:txBody>
      </p:sp>
      <p:sp>
        <p:nvSpPr>
          <p:cNvPr id="7" name="Eight shipped plugins. Op modules are not plugins."/>
          <p:cNvSpPr txBox="1"/>
          <p:nvPr/>
        </p:nvSpPr>
        <p:spPr>
          <a:xfrm>
            <a:off x="539496" y="1005840"/>
            <a:ext cx="8019288" cy="2377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616161"/>
                </a:solidFill>
                <a:latin typeface="NVIDIA Sans"/>
              </a:rPr>
              <a:t>Eight shipped plugins. Op modules are not plugins.</a:t>
            </a:r>
          </a:p>
        </p:txBody>
      </p:sp>
      <p:sp>
        <p:nvSpPr>
          <p:cNvPr id="8" name="At most one per role"/>
          <p:cNvSpPr txBox="1"/>
          <p:nvPr/>
        </p:nvSpPr>
        <p:spPr>
          <a:xfrm>
            <a:off x="539496" y="1325880"/>
            <a:ext cx="8019288" cy="274320"/>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At most one per role</a:t>
            </a:r>
          </a:p>
        </p:txBody>
      </p:sp>
      <p:sp>
        <p:nvSpPr>
          <p:cNvPr id="9" name="Rectangle 8"/>
          <p:cNvSpPr/>
          <p:nvPr/>
        </p:nvSpPr>
        <p:spPr>
          <a:xfrm>
            <a:off x="484632" y="1682496"/>
            <a:ext cx="1933956" cy="1133856"/>
          </a:xfrm>
          <a:prstGeom prst="rect">
            <a:avLst/>
          </a:prstGeom>
          <a:solidFill>
            <a:srgbClr val="F0F6E6"/>
          </a:solidFill>
          <a:ln w="8890">
            <a:solidFill>
              <a:srgbClr val="76B900"/>
            </a:solidFill>
          </a:ln>
          <a:effectLst/>
        </p:spPr>
        <p:txBody>
          <a:bodyPr rtlCol="0" anchor="ctr"/>
          <a:lstStyle/>
          <a:p>
            <a:pPr algn="ctr"/>
          </a:p>
        </p:txBody>
      </p:sp>
      <p:sp>
        <p:nvSpPr>
          <p:cNvPr id="10" name="Type operations"/>
          <p:cNvSpPr txBox="1"/>
          <p:nvPr/>
        </p:nvSpPr>
        <p:spPr>
          <a:xfrm>
            <a:off x="594360" y="1810512"/>
            <a:ext cx="1714500" cy="265176"/>
          </a:xfrm>
          <a:prstGeom prst="rect">
            <a:avLst/>
          </a:prstGeom>
          <a:noFill/>
        </p:spPr>
        <p:txBody>
          <a:bodyPr wrap="none" anchor="t" lIns="0" rIns="0" tIns="0" bIns="0">
            <a:noAutofit/>
          </a:bodyPr>
          <a:lstStyle/>
          <a:p>
            <a:pPr algn="l">
              <a:lnSpc>
                <a:spcPts val="1716"/>
              </a:lnSpc>
              <a:spcBef>
                <a:spcPts val="0"/>
              </a:spcBef>
              <a:spcAft>
                <a:spcPts val="0"/>
              </a:spcAft>
            </a:pPr>
            <a:r>
              <a:rPr sz="1480" b="1">
                <a:solidFill>
                  <a:srgbClr val="416600"/>
                </a:solidFill>
                <a:latin typeface="NVIDIA Sans"/>
              </a:rPr>
              <a:t>Type operations</a:t>
            </a:r>
          </a:p>
        </p:txBody>
      </p:sp>
      <p:sp>
        <p:nvSpPr>
          <p:cNvPr id="11" name="Types + operators"/>
          <p:cNvSpPr txBox="1"/>
          <p:nvPr/>
        </p:nvSpPr>
        <p:spPr>
          <a:xfrm>
            <a:off x="594360" y="2231136"/>
            <a:ext cx="1714500" cy="246888"/>
          </a:xfrm>
          <a:prstGeom prst="rect">
            <a:avLst/>
          </a:prstGeom>
          <a:noFill/>
        </p:spPr>
        <p:txBody>
          <a:bodyPr wrap="none" anchor="t" lIns="0" rIns="0" tIns="0" bIns="0">
            <a:noAutofit/>
          </a:bodyPr>
          <a:lstStyle/>
          <a:p>
            <a:pPr algn="l">
              <a:lnSpc>
                <a:spcPts val="1461"/>
              </a:lnSpc>
              <a:spcBef>
                <a:spcPts val="0"/>
              </a:spcBef>
              <a:spcAft>
                <a:spcPts val="0"/>
              </a:spcAft>
            </a:pPr>
            <a:r>
              <a:rPr sz="1260" b="0">
                <a:solidFill>
                  <a:srgbClr val="000000"/>
                </a:solidFill>
                <a:latin typeface="NVIDIA Sans"/>
              </a:rPr>
              <a:t>Types + operators</a:t>
            </a:r>
          </a:p>
        </p:txBody>
      </p:sp>
      <p:sp>
        <p:nvSpPr>
          <p:cNvPr id="12" name="TypeOps"/>
          <p:cNvSpPr txBox="1"/>
          <p:nvPr/>
        </p:nvSpPr>
        <p:spPr>
          <a:xfrm>
            <a:off x="594360" y="2587752"/>
            <a:ext cx="1714500" cy="182880"/>
          </a:xfrm>
          <a:prstGeom prst="rect">
            <a:avLst/>
          </a:prstGeom>
          <a:noFill/>
        </p:spPr>
        <p:txBody>
          <a:bodyPr wrap="none" anchor="t" lIns="0" rIns="0" tIns="0" bIns="0">
            <a:noAutofit/>
          </a:bodyPr>
          <a:lstStyle/>
          <a:p>
            <a:pPr algn="l">
              <a:lnSpc>
                <a:spcPts val="1218"/>
              </a:lnSpc>
              <a:spcBef>
                <a:spcPts val="0"/>
              </a:spcBef>
              <a:spcAft>
                <a:spcPts val="0"/>
              </a:spcAft>
            </a:pPr>
            <a:r>
              <a:rPr sz="1050" b="0">
                <a:solidFill>
                  <a:srgbClr val="616161"/>
                </a:solidFill>
                <a:latin typeface="NVIDIA Sans"/>
              </a:rPr>
              <a:t>TypeOps</a:t>
            </a:r>
          </a:p>
        </p:txBody>
      </p:sp>
      <p:sp>
        <p:nvSpPr>
          <p:cNvPr id="13" name="Rectangle 12"/>
          <p:cNvSpPr/>
          <p:nvPr/>
        </p:nvSpPr>
        <p:spPr>
          <a:xfrm>
            <a:off x="2564891" y="1682496"/>
            <a:ext cx="1933956" cy="1133856"/>
          </a:xfrm>
          <a:prstGeom prst="rect">
            <a:avLst/>
          </a:prstGeom>
          <a:solidFill>
            <a:srgbClr val="F0F6E6"/>
          </a:solidFill>
          <a:ln w="8890">
            <a:solidFill>
              <a:srgbClr val="76B900"/>
            </a:solidFill>
          </a:ln>
          <a:effectLst/>
        </p:spPr>
        <p:txBody>
          <a:bodyPr rtlCol="0" anchor="ctr"/>
          <a:lstStyle/>
          <a:p>
            <a:pPr algn="ctr"/>
          </a:p>
        </p:txBody>
      </p:sp>
      <p:sp>
        <p:nvSpPr>
          <p:cNvPr id="14" name="Function entry"/>
          <p:cNvSpPr txBox="1"/>
          <p:nvPr/>
        </p:nvSpPr>
        <p:spPr>
          <a:xfrm>
            <a:off x="2674620" y="1810512"/>
            <a:ext cx="1714500" cy="265176"/>
          </a:xfrm>
          <a:prstGeom prst="rect">
            <a:avLst/>
          </a:prstGeom>
          <a:noFill/>
        </p:spPr>
        <p:txBody>
          <a:bodyPr wrap="none" anchor="t" lIns="0" rIns="0" tIns="0" bIns="0">
            <a:noAutofit/>
          </a:bodyPr>
          <a:lstStyle/>
          <a:p>
            <a:pPr algn="l">
              <a:lnSpc>
                <a:spcPts val="1716"/>
              </a:lnSpc>
              <a:spcBef>
                <a:spcPts val="0"/>
              </a:spcBef>
              <a:spcAft>
                <a:spcPts val="0"/>
              </a:spcAft>
            </a:pPr>
            <a:r>
              <a:rPr sz="1480" b="1">
                <a:solidFill>
                  <a:srgbClr val="416600"/>
                </a:solidFill>
                <a:latin typeface="NVIDIA Sans"/>
              </a:rPr>
              <a:t>Function entry</a:t>
            </a:r>
          </a:p>
        </p:txBody>
      </p:sp>
      <p:sp>
        <p:nvSpPr>
          <p:cNvPr id="15" name="Entry + results"/>
          <p:cNvSpPr txBox="1"/>
          <p:nvPr/>
        </p:nvSpPr>
        <p:spPr>
          <a:xfrm>
            <a:off x="2674620" y="2231136"/>
            <a:ext cx="1714500" cy="246888"/>
          </a:xfrm>
          <a:prstGeom prst="rect">
            <a:avLst/>
          </a:prstGeom>
          <a:noFill/>
        </p:spPr>
        <p:txBody>
          <a:bodyPr wrap="none" anchor="t" lIns="0" rIns="0" tIns="0" bIns="0">
            <a:noAutofit/>
          </a:bodyPr>
          <a:lstStyle/>
          <a:p>
            <a:pPr algn="l">
              <a:lnSpc>
                <a:spcPts val="1461"/>
              </a:lnSpc>
              <a:spcBef>
                <a:spcPts val="0"/>
              </a:spcBef>
              <a:spcAft>
                <a:spcPts val="0"/>
              </a:spcAft>
            </a:pPr>
            <a:r>
              <a:rPr sz="1260" b="0">
                <a:solidFill>
                  <a:srgbClr val="000000"/>
                </a:solidFill>
                <a:latin typeface="NVIDIA Sans"/>
              </a:rPr>
              <a:t>Entry + results</a:t>
            </a:r>
          </a:p>
        </p:txBody>
      </p:sp>
      <p:sp>
        <p:nvSpPr>
          <p:cNvPr id="16" name="func.Entry"/>
          <p:cNvSpPr txBox="1"/>
          <p:nvPr/>
        </p:nvSpPr>
        <p:spPr>
          <a:xfrm>
            <a:off x="2674620" y="2587752"/>
            <a:ext cx="1714500" cy="182880"/>
          </a:xfrm>
          <a:prstGeom prst="rect">
            <a:avLst/>
          </a:prstGeom>
          <a:noFill/>
        </p:spPr>
        <p:txBody>
          <a:bodyPr wrap="none" anchor="t" lIns="0" rIns="0" tIns="0" bIns="0">
            <a:noAutofit/>
          </a:bodyPr>
          <a:lstStyle/>
          <a:p>
            <a:pPr algn="l">
              <a:lnSpc>
                <a:spcPts val="1218"/>
              </a:lnSpc>
              <a:spcBef>
                <a:spcPts val="0"/>
              </a:spcBef>
              <a:spcAft>
                <a:spcPts val="0"/>
              </a:spcAft>
            </a:pPr>
            <a:r>
              <a:rPr sz="1050" b="0">
                <a:solidFill>
                  <a:srgbClr val="616161"/>
                </a:solidFill>
                <a:latin typeface="NVIDIA Sans"/>
              </a:rPr>
              <a:t>func.Entry</a:t>
            </a:r>
          </a:p>
        </p:txBody>
      </p:sp>
      <p:sp>
        <p:nvSpPr>
          <p:cNvPr id="17" name="Rectangle 16"/>
          <p:cNvSpPr/>
          <p:nvPr/>
        </p:nvSpPr>
        <p:spPr>
          <a:xfrm>
            <a:off x="4645152" y="1682496"/>
            <a:ext cx="1933956" cy="1133856"/>
          </a:xfrm>
          <a:prstGeom prst="rect">
            <a:avLst/>
          </a:prstGeom>
          <a:solidFill>
            <a:srgbClr val="F0F6E6"/>
          </a:solidFill>
          <a:ln w="8890">
            <a:solidFill>
              <a:srgbClr val="76B900"/>
            </a:solidFill>
          </a:ln>
          <a:effectLst/>
        </p:spPr>
        <p:txBody>
          <a:bodyPr rtlCol="0" anchor="ctr"/>
          <a:lstStyle/>
          <a:p>
            <a:pPr algn="ctr"/>
          </a:p>
        </p:txBody>
      </p:sp>
      <p:sp>
        <p:nvSpPr>
          <p:cNvPr id="18" name="AST preprocessor"/>
          <p:cNvSpPr txBox="1"/>
          <p:nvPr/>
        </p:nvSpPr>
        <p:spPr>
          <a:xfrm>
            <a:off x="4754880" y="1810512"/>
            <a:ext cx="1714500" cy="265176"/>
          </a:xfrm>
          <a:prstGeom prst="rect">
            <a:avLst/>
          </a:prstGeom>
          <a:noFill/>
        </p:spPr>
        <p:txBody>
          <a:bodyPr wrap="none" anchor="t" lIns="0" rIns="0" tIns="0" bIns="0">
            <a:noAutofit/>
          </a:bodyPr>
          <a:lstStyle/>
          <a:p>
            <a:pPr algn="l">
              <a:lnSpc>
                <a:spcPts val="1716"/>
              </a:lnSpc>
              <a:spcBef>
                <a:spcPts val="0"/>
              </a:spcBef>
              <a:spcAft>
                <a:spcPts val="0"/>
              </a:spcAft>
            </a:pPr>
            <a:r>
              <a:rPr sz="1480" b="1">
                <a:solidFill>
                  <a:srgbClr val="416600"/>
                </a:solidFill>
                <a:latin typeface="NVIDIA Sans"/>
              </a:rPr>
              <a:t>AST preprocessor</a:t>
            </a:r>
          </a:p>
        </p:txBody>
      </p:sp>
      <p:sp>
        <p:nvSpPr>
          <p:cNvPr id="19" name="Syntax capture"/>
          <p:cNvSpPr txBox="1"/>
          <p:nvPr/>
        </p:nvSpPr>
        <p:spPr>
          <a:xfrm>
            <a:off x="4754880" y="2231136"/>
            <a:ext cx="1714500" cy="246888"/>
          </a:xfrm>
          <a:prstGeom prst="rect">
            <a:avLst/>
          </a:prstGeom>
          <a:noFill/>
        </p:spPr>
        <p:txBody>
          <a:bodyPr wrap="none" anchor="t" lIns="0" rIns="0" tIns="0" bIns="0">
            <a:noAutofit/>
          </a:bodyPr>
          <a:lstStyle/>
          <a:p>
            <a:pPr algn="l">
              <a:lnSpc>
                <a:spcPts val="1461"/>
              </a:lnSpc>
              <a:spcBef>
                <a:spcPts val="0"/>
              </a:spcBef>
              <a:spcAft>
                <a:spcPts val="0"/>
              </a:spcAft>
            </a:pPr>
            <a:r>
              <a:rPr sz="1260" b="0">
                <a:solidFill>
                  <a:srgbClr val="000000"/>
                </a:solidFill>
                <a:latin typeface="NVIDIA Sans"/>
              </a:rPr>
              <a:t>Syntax capture</a:t>
            </a:r>
          </a:p>
        </p:txBody>
      </p:sp>
      <p:sp>
        <p:nvSpPr>
          <p:cNvPr id="20" name="scf.ASTPreprocessor"/>
          <p:cNvSpPr txBox="1"/>
          <p:nvPr/>
        </p:nvSpPr>
        <p:spPr>
          <a:xfrm>
            <a:off x="4754880" y="2587752"/>
            <a:ext cx="1714500" cy="182880"/>
          </a:xfrm>
          <a:prstGeom prst="rect">
            <a:avLst/>
          </a:prstGeom>
          <a:noFill/>
        </p:spPr>
        <p:txBody>
          <a:bodyPr wrap="none" anchor="t" lIns="0" rIns="0" tIns="0" bIns="0">
            <a:noAutofit/>
          </a:bodyPr>
          <a:lstStyle/>
          <a:p>
            <a:pPr algn="l">
              <a:lnSpc>
                <a:spcPts val="1218"/>
              </a:lnSpc>
              <a:spcBef>
                <a:spcPts val="0"/>
              </a:spcBef>
              <a:spcAft>
                <a:spcPts val="0"/>
              </a:spcAft>
            </a:pPr>
            <a:r>
              <a:rPr sz="1050" b="0">
                <a:solidFill>
                  <a:srgbClr val="616161"/>
                </a:solidFill>
                <a:latin typeface="NVIDIA Sans"/>
              </a:rPr>
              <a:t>scf.ASTPreprocessor</a:t>
            </a:r>
          </a:p>
        </p:txBody>
      </p:sp>
      <p:sp>
        <p:nvSpPr>
          <p:cNvPr id="21" name="Rectangle 20"/>
          <p:cNvSpPr/>
          <p:nvPr/>
        </p:nvSpPr>
        <p:spPr>
          <a:xfrm>
            <a:off x="6725412" y="1682496"/>
            <a:ext cx="1933956" cy="1133856"/>
          </a:xfrm>
          <a:prstGeom prst="rect">
            <a:avLst/>
          </a:prstGeom>
          <a:solidFill>
            <a:srgbClr val="F0F6E6"/>
          </a:solidFill>
          <a:ln w="8890">
            <a:solidFill>
              <a:srgbClr val="76B900"/>
            </a:solidFill>
          </a:ln>
          <a:effectLst/>
        </p:spPr>
        <p:txBody>
          <a:bodyPr rtlCol="0" anchor="ctr"/>
          <a:lstStyle/>
          <a:p>
            <a:pPr algn="ctr"/>
          </a:p>
        </p:txBody>
      </p:sp>
      <p:sp>
        <p:nvSpPr>
          <p:cNvPr id="22" name="Compiler"/>
          <p:cNvSpPr txBox="1"/>
          <p:nvPr/>
        </p:nvSpPr>
        <p:spPr>
          <a:xfrm>
            <a:off x="6835140" y="1810512"/>
            <a:ext cx="1714500" cy="265176"/>
          </a:xfrm>
          <a:prstGeom prst="rect">
            <a:avLst/>
          </a:prstGeom>
          <a:noFill/>
        </p:spPr>
        <p:txBody>
          <a:bodyPr wrap="none" anchor="t" lIns="0" rIns="0" tIns="0" bIns="0">
            <a:noAutofit/>
          </a:bodyPr>
          <a:lstStyle/>
          <a:p>
            <a:pPr algn="l">
              <a:lnSpc>
                <a:spcPts val="1716"/>
              </a:lnSpc>
              <a:spcBef>
                <a:spcPts val="0"/>
              </a:spcBef>
              <a:spcAft>
                <a:spcPts val="0"/>
              </a:spcAft>
            </a:pPr>
            <a:r>
              <a:rPr sz="1480" b="1">
                <a:solidFill>
                  <a:srgbClr val="416600"/>
                </a:solidFill>
                <a:latin typeface="NVIDIA Sans"/>
              </a:rPr>
              <a:t>Compiler</a:t>
            </a:r>
          </a:p>
        </p:txBody>
      </p:sp>
      <p:sp>
        <p:nvSpPr>
          <p:cNvPr id="23" name="Lower + invoke"/>
          <p:cNvSpPr txBox="1"/>
          <p:nvPr/>
        </p:nvSpPr>
        <p:spPr>
          <a:xfrm>
            <a:off x="6835140" y="2231136"/>
            <a:ext cx="1714500" cy="246888"/>
          </a:xfrm>
          <a:prstGeom prst="rect">
            <a:avLst/>
          </a:prstGeom>
          <a:noFill/>
        </p:spPr>
        <p:txBody>
          <a:bodyPr wrap="none" anchor="t" lIns="0" rIns="0" tIns="0" bIns="0">
            <a:noAutofit/>
          </a:bodyPr>
          <a:lstStyle/>
          <a:p>
            <a:pPr algn="l">
              <a:lnSpc>
                <a:spcPts val="1461"/>
              </a:lnSpc>
              <a:spcBef>
                <a:spcPts val="0"/>
              </a:spcBef>
              <a:spcAft>
                <a:spcPts val="0"/>
              </a:spcAft>
            </a:pPr>
            <a:r>
              <a:rPr sz="1260" b="0">
                <a:solidFill>
                  <a:srgbClr val="000000"/>
                </a:solidFill>
                <a:latin typeface="NVIDIA Sans"/>
              </a:rPr>
              <a:t>Lower + invoke</a:t>
            </a:r>
          </a:p>
        </p:txBody>
      </p:sp>
      <p:sp>
        <p:nvSpPr>
          <p:cNvPr id="24" name="ExecutionEngine compiler"/>
          <p:cNvSpPr txBox="1"/>
          <p:nvPr/>
        </p:nvSpPr>
        <p:spPr>
          <a:xfrm>
            <a:off x="6835140" y="2587752"/>
            <a:ext cx="1714500" cy="182880"/>
          </a:xfrm>
          <a:prstGeom prst="rect">
            <a:avLst/>
          </a:prstGeom>
          <a:noFill/>
        </p:spPr>
        <p:txBody>
          <a:bodyPr wrap="none" anchor="t" lIns="0" rIns="0" tIns="0" bIns="0">
            <a:noAutofit/>
          </a:bodyPr>
          <a:lstStyle/>
          <a:p>
            <a:pPr algn="l">
              <a:lnSpc>
                <a:spcPts val="1218"/>
              </a:lnSpc>
              <a:spcBef>
                <a:spcPts val="0"/>
              </a:spcBef>
              <a:spcAft>
                <a:spcPts val="0"/>
              </a:spcAft>
            </a:pPr>
            <a:r>
              <a:rPr sz="1050" b="0">
                <a:solidFill>
                  <a:srgbClr val="616161"/>
                </a:solidFill>
                <a:latin typeface="NVIDIA Sans"/>
              </a:rPr>
              <a:t>ExecutionEngine compiler</a:t>
            </a:r>
          </a:p>
        </p:txBody>
      </p:sp>
      <p:sp>
        <p:nvSpPr>
          <p:cNvPr id="25" name="Any number"/>
          <p:cNvSpPr txBox="1"/>
          <p:nvPr/>
        </p:nvSpPr>
        <p:spPr>
          <a:xfrm>
            <a:off x="539496" y="3035808"/>
            <a:ext cx="8019288" cy="274320"/>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Any number</a:t>
            </a:r>
          </a:p>
        </p:txBody>
      </p:sp>
      <p:sp>
        <p:nvSpPr>
          <p:cNvPr id="26" name="Rectangle 25"/>
          <p:cNvSpPr/>
          <p:nvPr/>
        </p:nvSpPr>
        <p:spPr>
          <a:xfrm>
            <a:off x="484632" y="3474720"/>
            <a:ext cx="3959352" cy="630936"/>
          </a:xfrm>
          <a:prstGeom prst="rect">
            <a:avLst/>
          </a:prstGeom>
          <a:solidFill>
            <a:srgbClr val="F7F7F7"/>
          </a:solidFill>
          <a:ln w="8890">
            <a:solidFill>
              <a:srgbClr val="D5D5D5"/>
            </a:solidFill>
          </a:ln>
          <a:effectLst/>
        </p:spPr>
        <p:txBody>
          <a:bodyPr rtlCol="0" anchor="ctr"/>
          <a:lstStyle/>
          <a:p>
            <a:pPr algn="ctr"/>
          </a:p>
        </p:txBody>
      </p:sp>
      <p:sp>
        <p:nvSpPr>
          <p:cNvPr id="27" name="Decorators"/>
          <p:cNvSpPr txBox="1"/>
          <p:nvPr/>
        </p:nvSpPr>
        <p:spPr>
          <a:xfrm>
            <a:off x="621792" y="3611879"/>
            <a:ext cx="1280160" cy="256032"/>
          </a:xfrm>
          <a:prstGeom prst="rect">
            <a:avLst/>
          </a:prstGeom>
          <a:noFill/>
        </p:spPr>
        <p:txBody>
          <a:bodyPr wrap="none" anchor="t" lIns="0" rIns="0" tIns="0" bIns="0">
            <a:noAutofit/>
          </a:bodyPr>
          <a:lstStyle/>
          <a:p>
            <a:pPr algn="l">
              <a:lnSpc>
                <a:spcPts val="1635"/>
              </a:lnSpc>
              <a:spcBef>
                <a:spcPts val="0"/>
              </a:spcBef>
              <a:spcAft>
                <a:spcPts val="0"/>
              </a:spcAft>
            </a:pPr>
            <a:r>
              <a:rPr sz="1410" b="1">
                <a:solidFill>
                  <a:srgbClr val="416600"/>
                </a:solidFill>
                <a:latin typeface="NVIDIA Sans"/>
              </a:rPr>
              <a:t>Decorators</a:t>
            </a:r>
          </a:p>
        </p:txBody>
      </p:sp>
      <p:sp>
        <p:nvSpPr>
          <p:cNvPr id="28" name="Add @kernel"/>
          <p:cNvSpPr txBox="1"/>
          <p:nvPr/>
        </p:nvSpPr>
        <p:spPr>
          <a:xfrm>
            <a:off x="2029967" y="3593591"/>
            <a:ext cx="2258568" cy="256032"/>
          </a:xfrm>
          <a:prstGeom prst="rect">
            <a:avLst/>
          </a:prstGeom>
          <a:noFill/>
        </p:spPr>
        <p:txBody>
          <a:bodyPr wrap="none" anchor="t" lIns="0" rIns="0" tIns="0" bIns="0">
            <a:noAutofit/>
          </a:bodyPr>
          <a:lstStyle/>
          <a:p>
            <a:pPr algn="l">
              <a:lnSpc>
                <a:spcPts val="1415"/>
              </a:lnSpc>
              <a:spcBef>
                <a:spcPts val="0"/>
              </a:spcBef>
              <a:spcAft>
                <a:spcPts val="0"/>
              </a:spcAft>
            </a:pPr>
            <a:r>
              <a:rPr sz="1220" b="0">
                <a:solidFill>
                  <a:srgbClr val="000000"/>
                </a:solidFill>
                <a:latin typeface="NVIDIA Sans"/>
              </a:rPr>
              <a:t>Add @kernel</a:t>
            </a:r>
          </a:p>
        </p:txBody>
      </p:sp>
      <p:sp>
        <p:nvSpPr>
          <p:cNvPr id="29" name="gpu.Kernels"/>
          <p:cNvSpPr txBox="1"/>
          <p:nvPr/>
        </p:nvSpPr>
        <p:spPr>
          <a:xfrm>
            <a:off x="2029967" y="3877056"/>
            <a:ext cx="2258568" cy="192024"/>
          </a:xfrm>
          <a:prstGeom prst="rect">
            <a:avLst/>
          </a:prstGeom>
          <a:noFill/>
        </p:spPr>
        <p:txBody>
          <a:bodyPr wrap="none" anchor="t" lIns="0" rIns="0" tIns="0" bIns="0">
            <a:noAutofit/>
          </a:bodyPr>
          <a:lstStyle/>
          <a:p>
            <a:pPr algn="l">
              <a:lnSpc>
                <a:spcPts val="1194"/>
              </a:lnSpc>
              <a:spcBef>
                <a:spcPts val="0"/>
              </a:spcBef>
              <a:spcAft>
                <a:spcPts val="0"/>
              </a:spcAft>
            </a:pPr>
            <a:r>
              <a:rPr sz="1030" b="0">
                <a:solidFill>
                  <a:srgbClr val="616161"/>
                </a:solidFill>
                <a:latin typeface="NVIDIA Sans"/>
              </a:rPr>
              <a:t>gpu.Kernels</a:t>
            </a:r>
          </a:p>
        </p:txBody>
      </p:sp>
      <p:sp>
        <p:nvSpPr>
          <p:cNvPr id="30" name="Rectangle 29"/>
          <p:cNvSpPr/>
          <p:nvPr/>
        </p:nvSpPr>
        <p:spPr>
          <a:xfrm>
            <a:off x="4700016" y="3474720"/>
            <a:ext cx="3959352" cy="630936"/>
          </a:xfrm>
          <a:prstGeom prst="rect">
            <a:avLst/>
          </a:prstGeom>
          <a:solidFill>
            <a:srgbClr val="F7F7F7"/>
          </a:solidFill>
          <a:ln w="8890">
            <a:solidFill>
              <a:srgbClr val="D5D5D5"/>
            </a:solidFill>
          </a:ln>
          <a:effectLst/>
        </p:spPr>
        <p:txBody>
          <a:bodyPr rtlCol="0" anchor="ctr"/>
          <a:lstStyle/>
          <a:p>
            <a:pPr algn="ctr"/>
          </a:p>
        </p:txBody>
      </p:sp>
      <p:sp>
        <p:nvSpPr>
          <p:cNvPr id="31" name="Adapters"/>
          <p:cNvSpPr txBox="1"/>
          <p:nvPr/>
        </p:nvSpPr>
        <p:spPr>
          <a:xfrm>
            <a:off x="4837176" y="3611879"/>
            <a:ext cx="1280160" cy="256032"/>
          </a:xfrm>
          <a:prstGeom prst="rect">
            <a:avLst/>
          </a:prstGeom>
          <a:noFill/>
        </p:spPr>
        <p:txBody>
          <a:bodyPr wrap="none" anchor="t" lIns="0" rIns="0" tIns="0" bIns="0">
            <a:noAutofit/>
          </a:bodyPr>
          <a:lstStyle/>
          <a:p>
            <a:pPr algn="l">
              <a:lnSpc>
                <a:spcPts val="1635"/>
              </a:lnSpc>
              <a:spcBef>
                <a:spcPts val="0"/>
              </a:spcBef>
              <a:spcAft>
                <a:spcPts val="0"/>
              </a:spcAft>
            </a:pPr>
            <a:r>
              <a:rPr sz="1410" b="1">
                <a:solidFill>
                  <a:srgbClr val="416600"/>
                </a:solidFill>
                <a:latin typeface="NVIDIA Sans"/>
              </a:rPr>
              <a:t>Adapters</a:t>
            </a:r>
          </a:p>
        </p:txBody>
      </p:sp>
      <p:sp>
        <p:nvSpPr>
          <p:cNvPr id="32" name="Inputs + exports"/>
          <p:cNvSpPr txBox="1"/>
          <p:nvPr/>
        </p:nvSpPr>
        <p:spPr>
          <a:xfrm>
            <a:off x="6245352" y="3593591"/>
            <a:ext cx="2258568" cy="256032"/>
          </a:xfrm>
          <a:prstGeom prst="rect">
            <a:avLst/>
          </a:prstGeom>
          <a:noFill/>
        </p:spPr>
        <p:txBody>
          <a:bodyPr wrap="none" anchor="t" lIns="0" rIns="0" tIns="0" bIns="0">
            <a:noAutofit/>
          </a:bodyPr>
          <a:lstStyle/>
          <a:p>
            <a:pPr algn="l">
              <a:lnSpc>
                <a:spcPts val="1415"/>
              </a:lnSpc>
              <a:spcBef>
                <a:spcPts val="0"/>
              </a:spcBef>
              <a:spcAft>
                <a:spcPts val="0"/>
              </a:spcAft>
            </a:pPr>
            <a:r>
              <a:rPr sz="1220" b="0">
                <a:solidFill>
                  <a:srgbClr val="000000"/>
                </a:solidFill>
                <a:latin typeface="NVIDIA Sans"/>
              </a:rPr>
              <a:t>Inputs + exports</a:t>
            </a:r>
          </a:p>
        </p:txBody>
      </p:sp>
      <p:sp>
        <p:nvSpPr>
          <p:cNvPr id="33" name="PyTorch · DLPack · TVM-FFI"/>
          <p:cNvSpPr txBox="1"/>
          <p:nvPr/>
        </p:nvSpPr>
        <p:spPr>
          <a:xfrm>
            <a:off x="6245352" y="3877056"/>
            <a:ext cx="2258568" cy="192024"/>
          </a:xfrm>
          <a:prstGeom prst="rect">
            <a:avLst/>
          </a:prstGeom>
          <a:noFill/>
        </p:spPr>
        <p:txBody>
          <a:bodyPr wrap="none" anchor="t" lIns="0" rIns="0" tIns="0" bIns="0">
            <a:noAutofit/>
          </a:bodyPr>
          <a:lstStyle/>
          <a:p>
            <a:pPr algn="l">
              <a:lnSpc>
                <a:spcPts val="1194"/>
              </a:lnSpc>
              <a:spcBef>
                <a:spcPts val="0"/>
              </a:spcBef>
              <a:spcAft>
                <a:spcPts val="0"/>
              </a:spcAft>
            </a:pPr>
            <a:r>
              <a:rPr sz="1030" b="0">
                <a:solidFill>
                  <a:srgbClr val="616161"/>
                </a:solidFill>
                <a:latin typeface="NVIDIA Sans"/>
              </a:rPr>
              <a:t>PyTorch · DLPack · TVM-FFI</a:t>
            </a:r>
          </a:p>
        </p:txBody>
      </p:sp>
      <p:sp>
        <p:nvSpPr>
          <p:cNvPr id="34" name="Rectangle 33"/>
          <p:cNvSpPr/>
          <p:nvPr/>
        </p:nvSpPr>
        <p:spPr>
          <a:xfrm>
            <a:off x="484632" y="4334256"/>
            <a:ext cx="8174736" cy="320040"/>
          </a:xfrm>
          <a:prstGeom prst="rect">
            <a:avLst/>
          </a:prstGeom>
          <a:solidFill>
            <a:srgbClr val="F7F7F7"/>
          </a:solidFill>
          <a:ln>
            <a:noFill/>
          </a:ln>
          <a:effectLst/>
        </p:spPr>
        <p:txBody>
          <a:bodyPr rtlCol="0" anchor="ctr"/>
          <a:lstStyle/>
          <a:p>
            <a:pPr algn="ctr"/>
          </a:p>
        </p:txBody>
      </p:sp>
      <p:sp>
        <p:nvSpPr>
          <p:cNvPr id="35" name="Shared core"/>
          <p:cNvSpPr txBox="1"/>
          <p:nvPr/>
        </p:nvSpPr>
        <p:spPr>
          <a:xfrm>
            <a:off x="640080" y="4398264"/>
            <a:ext cx="1298448" cy="219456"/>
          </a:xfrm>
          <a:prstGeom prst="rect">
            <a:avLst/>
          </a:prstGeom>
          <a:noFill/>
        </p:spPr>
        <p:txBody>
          <a:bodyPr wrap="none" anchor="t" lIns="0" rIns="0" tIns="0" bIns="0">
            <a:noAutofit/>
          </a:bodyPr>
          <a:lstStyle/>
          <a:p>
            <a:pPr algn="l">
              <a:lnSpc>
                <a:spcPts val="1368"/>
              </a:lnSpc>
              <a:spcBef>
                <a:spcPts val="0"/>
              </a:spcBef>
              <a:spcAft>
                <a:spcPts val="0"/>
              </a:spcAft>
            </a:pPr>
            <a:r>
              <a:rPr sz="1180" b="1">
                <a:solidFill>
                  <a:srgbClr val="000000"/>
                </a:solidFill>
                <a:latin typeface="NVIDIA Sans"/>
              </a:rPr>
              <a:t>Shared core</a:t>
            </a:r>
          </a:p>
        </p:txBody>
      </p:sp>
      <p:sp>
        <p:nvSpPr>
          <p:cNvPr id="36" name="Tracing"/>
          <p:cNvSpPr txBox="1"/>
          <p:nvPr/>
        </p:nvSpPr>
        <p:spPr>
          <a:xfrm>
            <a:off x="2093976" y="4398264"/>
            <a:ext cx="1490472" cy="210312"/>
          </a:xfrm>
          <a:prstGeom prst="rect">
            <a:avLst/>
          </a:prstGeom>
          <a:noFill/>
        </p:spPr>
        <p:txBody>
          <a:bodyPr wrap="none" anchor="t" lIns="0" rIns="0" tIns="0" bIns="0">
            <a:noAutofit/>
          </a:bodyPr>
          <a:lstStyle/>
          <a:p>
            <a:pPr algn="ctr">
              <a:lnSpc>
                <a:spcPts val="1264"/>
              </a:lnSpc>
              <a:spcBef>
                <a:spcPts val="0"/>
              </a:spcBef>
              <a:spcAft>
                <a:spcPts val="0"/>
              </a:spcAft>
            </a:pPr>
            <a:r>
              <a:rPr sz="1090" b="0">
                <a:solidFill>
                  <a:srgbClr val="616161"/>
                </a:solidFill>
                <a:latin typeface="NVIDIA Sans"/>
              </a:rPr>
              <a:t>Tracing</a:t>
            </a:r>
          </a:p>
        </p:txBody>
      </p:sp>
      <p:sp>
        <p:nvSpPr>
          <p:cNvPr id="37" name="Types"/>
          <p:cNvSpPr txBox="1"/>
          <p:nvPr/>
        </p:nvSpPr>
        <p:spPr>
          <a:xfrm>
            <a:off x="3712464" y="4398264"/>
            <a:ext cx="1490472" cy="210312"/>
          </a:xfrm>
          <a:prstGeom prst="rect">
            <a:avLst/>
          </a:prstGeom>
          <a:noFill/>
        </p:spPr>
        <p:txBody>
          <a:bodyPr wrap="none" anchor="t" lIns="0" rIns="0" tIns="0" bIns="0">
            <a:noAutofit/>
          </a:bodyPr>
          <a:lstStyle/>
          <a:p>
            <a:pPr algn="ctr">
              <a:lnSpc>
                <a:spcPts val="1264"/>
              </a:lnSpc>
              <a:spcBef>
                <a:spcPts val="0"/>
              </a:spcBef>
              <a:spcAft>
                <a:spcPts val="0"/>
              </a:spcAft>
            </a:pPr>
            <a:r>
              <a:rPr sz="1090" b="0">
                <a:solidFill>
                  <a:srgbClr val="616161"/>
                </a:solidFill>
                <a:latin typeface="NVIDIA Sans"/>
              </a:rPr>
              <a:t>Types</a:t>
            </a:r>
          </a:p>
        </p:txBody>
      </p:sp>
      <p:sp>
        <p:nvSpPr>
          <p:cNvPr id="38" name="Diagnostics"/>
          <p:cNvSpPr txBox="1"/>
          <p:nvPr/>
        </p:nvSpPr>
        <p:spPr>
          <a:xfrm>
            <a:off x="5330952" y="4398264"/>
            <a:ext cx="1490472" cy="210312"/>
          </a:xfrm>
          <a:prstGeom prst="rect">
            <a:avLst/>
          </a:prstGeom>
          <a:noFill/>
        </p:spPr>
        <p:txBody>
          <a:bodyPr wrap="none" anchor="t" lIns="0" rIns="0" tIns="0" bIns="0">
            <a:noAutofit/>
          </a:bodyPr>
          <a:lstStyle/>
          <a:p>
            <a:pPr algn="ctr">
              <a:lnSpc>
                <a:spcPts val="1264"/>
              </a:lnSpc>
              <a:spcBef>
                <a:spcPts val="0"/>
              </a:spcBef>
              <a:spcAft>
                <a:spcPts val="0"/>
              </a:spcAft>
            </a:pPr>
            <a:r>
              <a:rPr sz="1090" b="0">
                <a:solidFill>
                  <a:srgbClr val="616161"/>
                </a:solidFill>
                <a:latin typeface="NVIDIA Sans"/>
              </a:rPr>
              <a:t>Diagnostics</a:t>
            </a:r>
          </a:p>
        </p:txBody>
      </p:sp>
      <p:sp>
        <p:nvSpPr>
          <p:cNvPr id="39" name="Cache"/>
          <p:cNvSpPr txBox="1"/>
          <p:nvPr/>
        </p:nvSpPr>
        <p:spPr>
          <a:xfrm>
            <a:off x="6949440" y="4398264"/>
            <a:ext cx="1490472" cy="210312"/>
          </a:xfrm>
          <a:prstGeom prst="rect">
            <a:avLst/>
          </a:prstGeom>
          <a:noFill/>
        </p:spPr>
        <p:txBody>
          <a:bodyPr wrap="none" anchor="t" lIns="0" rIns="0" tIns="0" bIns="0">
            <a:noAutofit/>
          </a:bodyPr>
          <a:lstStyle/>
          <a:p>
            <a:pPr algn="ctr">
              <a:lnSpc>
                <a:spcPts val="1264"/>
              </a:lnSpc>
              <a:spcBef>
                <a:spcPts val="0"/>
              </a:spcBef>
              <a:spcAft>
                <a:spcPts val="0"/>
              </a:spcAft>
            </a:pPr>
            <a:r>
              <a:rPr sz="1090" b="0">
                <a:solidFill>
                  <a:srgbClr val="616161"/>
                </a:solidFill>
                <a:latin typeface="NVIDIA Sans"/>
              </a:rPr>
              <a:t>Cache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Generate IR—or build an end-to-end DS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Generate IR—or build an end-to-end DSL</a:t>
            </a:r>
          </a:p>
        </p:txBody>
      </p:sp>
      <p:sp>
        <p:nvSpPr>
          <p:cNvPr id="5" name="0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08</a:t>
            </a:r>
          </a:p>
        </p:txBody>
      </p:sp>
      <p:sp>
        <p:nvSpPr>
          <p:cNvPr id="6" name="Architectu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Architecture</a:t>
            </a:r>
          </a:p>
        </p:txBody>
      </p:sp>
      <p:sp>
        <p:nvSpPr>
          <p:cNvPr id="7" name="Rectangle 6"/>
          <p:cNvSpPr/>
          <p:nvPr/>
        </p:nvSpPr>
        <p:spPr>
          <a:xfrm>
            <a:off x="484632" y="1399032"/>
            <a:ext cx="1865376" cy="2907792"/>
          </a:xfrm>
          <a:prstGeom prst="rect">
            <a:avLst/>
          </a:prstGeom>
          <a:solidFill>
            <a:srgbClr val="F7F7F7"/>
          </a:solidFill>
          <a:ln w="8890">
            <a:solidFill>
              <a:srgbClr val="D5D5D5"/>
            </a:solidFill>
          </a:ln>
          <a:effectLst/>
        </p:spPr>
        <p:txBody>
          <a:bodyPr rtlCol="0" anchor="ctr"/>
          <a:lstStyle/>
          <a:p>
            <a:pPr algn="ctr"/>
          </a:p>
        </p:txBody>
      </p:sp>
      <p:sp>
        <p:nvSpPr>
          <p:cNvPr id="8" name="Shared core"/>
          <p:cNvSpPr txBox="1"/>
          <p:nvPr/>
        </p:nvSpPr>
        <p:spPr>
          <a:xfrm>
            <a:off x="658368" y="1600200"/>
            <a:ext cx="1517904" cy="320040"/>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000000"/>
                </a:solidFill>
                <a:latin typeface="NVIDIA Sans"/>
              </a:rPr>
              <a:t>Shared core</a:t>
            </a:r>
          </a:p>
        </p:txBody>
      </p:sp>
      <p:sp>
        <p:nvSpPr>
          <p:cNvPr id="9" name="Tracing"/>
          <p:cNvSpPr txBox="1"/>
          <p:nvPr/>
        </p:nvSpPr>
        <p:spPr>
          <a:xfrm>
            <a:off x="658368" y="2139696"/>
            <a:ext cx="1508760" cy="256032"/>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Tracing</a:t>
            </a:r>
          </a:p>
        </p:txBody>
      </p:sp>
      <p:sp>
        <p:nvSpPr>
          <p:cNvPr id="10" name="Type policy"/>
          <p:cNvSpPr txBox="1"/>
          <p:nvPr/>
        </p:nvSpPr>
        <p:spPr>
          <a:xfrm>
            <a:off x="658368" y="2487168"/>
            <a:ext cx="1508760" cy="256032"/>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Type policy</a:t>
            </a:r>
          </a:p>
        </p:txBody>
      </p:sp>
      <p:sp>
        <p:nvSpPr>
          <p:cNvPr id="11" name="Diagnostics"/>
          <p:cNvSpPr txBox="1"/>
          <p:nvPr/>
        </p:nvSpPr>
        <p:spPr>
          <a:xfrm>
            <a:off x="658368" y="2834639"/>
            <a:ext cx="1508760" cy="256032"/>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Diagnostics</a:t>
            </a:r>
          </a:p>
        </p:txBody>
      </p:sp>
      <p:sp>
        <p:nvSpPr>
          <p:cNvPr id="12" name="Cache"/>
          <p:cNvSpPr txBox="1"/>
          <p:nvPr/>
        </p:nvSpPr>
        <p:spPr>
          <a:xfrm>
            <a:off x="658368" y="3182112"/>
            <a:ext cx="1508760" cy="256032"/>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Cache</a:t>
            </a:r>
          </a:p>
        </p:txBody>
      </p:sp>
      <p:sp>
        <p:nvSpPr>
          <p:cNvPr id="13" name="No target defaults"/>
          <p:cNvSpPr txBox="1"/>
          <p:nvPr/>
        </p:nvSpPr>
        <p:spPr>
          <a:xfrm>
            <a:off x="658368" y="3813048"/>
            <a:ext cx="1508760" cy="448056"/>
          </a:xfrm>
          <a:prstGeom prst="rect">
            <a:avLst/>
          </a:prstGeom>
          <a:noFill/>
        </p:spPr>
        <p:txBody>
          <a:bodyPr wrap="none" anchor="t" lIns="0" rIns="0" tIns="0" bIns="0">
            <a:noAutofit/>
          </a:bodyPr>
          <a:lstStyle/>
          <a:p>
            <a:pPr algn="l">
              <a:lnSpc>
                <a:spcPts val="1241"/>
              </a:lnSpc>
              <a:spcBef>
                <a:spcPts val="0"/>
              </a:spcBef>
              <a:spcAft>
                <a:spcPts val="0"/>
              </a:spcAft>
            </a:pPr>
            <a:r>
              <a:rPr sz="1070" b="0">
                <a:solidFill>
                  <a:srgbClr val="416600"/>
                </a:solidFill>
                <a:latin typeface="NVIDIA Sans"/>
              </a:rPr>
              <a:t>No target defaults</a:t>
            </a:r>
          </a:p>
        </p:txBody>
      </p:sp>
      <p:cxnSp>
        <p:nvCxnSpPr>
          <p:cNvPr id="14" name="Connector 13"/>
          <p:cNvCxnSpPr/>
          <p:nvPr/>
        </p:nvCxnSpPr>
        <p:spPr>
          <a:xfrm>
            <a:off x="2386584" y="2066543"/>
            <a:ext cx="43891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2889504" y="1399032"/>
            <a:ext cx="5769864" cy="1307592"/>
          </a:xfrm>
          <a:prstGeom prst="rect">
            <a:avLst/>
          </a:prstGeom>
          <a:solidFill>
            <a:srgbClr val="F0F6E6"/>
          </a:solidFill>
          <a:ln w="8890">
            <a:solidFill>
              <a:srgbClr val="76B900"/>
            </a:solidFill>
          </a:ln>
          <a:effectLst/>
        </p:spPr>
        <p:txBody>
          <a:bodyPr rtlCol="0" anchor="ctr"/>
          <a:lstStyle/>
          <a:p>
            <a:pPr algn="ctr"/>
          </a:p>
        </p:txBody>
      </p:sp>
      <p:sp>
        <p:nvSpPr>
          <p:cNvPr id="16" name="IR generator"/>
          <p:cNvSpPr txBox="1"/>
          <p:nvPr/>
        </p:nvSpPr>
        <p:spPr>
          <a:xfrm>
            <a:off x="3054096" y="1545336"/>
            <a:ext cx="2542032" cy="292608"/>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IR generator</a:t>
            </a:r>
          </a:p>
        </p:txBody>
      </p:sp>
      <p:sp>
        <p:nvSpPr>
          <p:cNvPr id="17" name="Types + entry + optional capture"/>
          <p:cNvSpPr txBox="1"/>
          <p:nvPr/>
        </p:nvSpPr>
        <p:spPr>
          <a:xfrm>
            <a:off x="3054096" y="1984248"/>
            <a:ext cx="5440680" cy="292608"/>
          </a:xfrm>
          <a:prstGeom prst="rect">
            <a:avLst/>
          </a:prstGeom>
          <a:noFill/>
        </p:spPr>
        <p:txBody>
          <a:bodyPr wrap="none" anchor="t" lIns="0" rIns="0" tIns="0" bIns="0">
            <a:noAutofit/>
          </a:bodyPr>
          <a:lstStyle/>
          <a:p>
            <a:pPr algn="l">
              <a:lnSpc>
                <a:spcPts val="1484"/>
              </a:lnSpc>
              <a:spcBef>
                <a:spcPts val="0"/>
              </a:spcBef>
              <a:spcAft>
                <a:spcPts val="0"/>
              </a:spcAft>
            </a:pPr>
            <a:r>
              <a:rPr sz="1280" b="0">
                <a:solidFill>
                  <a:srgbClr val="000000"/>
                </a:solidFill>
                <a:latin typeface="NVIDIA Sans"/>
              </a:rPr>
              <a:t>Types + entry + optional capture</a:t>
            </a:r>
          </a:p>
        </p:txBody>
      </p:sp>
      <p:sp>
        <p:nvSpPr>
          <p:cNvPr id="18" name="Python"/>
          <p:cNvSpPr txBox="1"/>
          <p:nvPr/>
        </p:nvSpPr>
        <p:spPr>
          <a:xfrm>
            <a:off x="5733288" y="1554480"/>
            <a:ext cx="740664" cy="411480"/>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616161"/>
                </a:solidFill>
                <a:latin typeface="NVIDIA Sans"/>
              </a:rPr>
              <a:t>Python</a:t>
            </a:r>
          </a:p>
        </p:txBody>
      </p:sp>
      <p:cxnSp>
        <p:nvCxnSpPr>
          <p:cNvPr id="19" name="Connector 18"/>
          <p:cNvCxnSpPr/>
          <p:nvPr/>
        </p:nvCxnSpPr>
        <p:spPr>
          <a:xfrm>
            <a:off x="6505955" y="1691639"/>
            <a:ext cx="21031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MLIR"/>
          <p:cNvSpPr txBox="1"/>
          <p:nvPr/>
        </p:nvSpPr>
        <p:spPr>
          <a:xfrm>
            <a:off x="6748271" y="1554480"/>
            <a:ext cx="740664" cy="411480"/>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616161"/>
                </a:solidFill>
                <a:latin typeface="NVIDIA Sans"/>
              </a:rPr>
              <a:t>MLIR</a:t>
            </a:r>
          </a:p>
        </p:txBody>
      </p:sp>
      <p:cxnSp>
        <p:nvCxnSpPr>
          <p:cNvPr id="21" name="Connector 20"/>
          <p:cNvCxnSpPr/>
          <p:nvPr/>
        </p:nvCxnSpPr>
        <p:spPr>
          <a:xfrm>
            <a:off x="7520940" y="1691639"/>
            <a:ext cx="21031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2" name="Consumer"/>
          <p:cNvSpPr txBox="1"/>
          <p:nvPr/>
        </p:nvSpPr>
        <p:spPr>
          <a:xfrm>
            <a:off x="7763255" y="1554480"/>
            <a:ext cx="740664" cy="411480"/>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416600"/>
                </a:solidFill>
                <a:latin typeface="NVIDIA Sans"/>
              </a:rPr>
              <a:t>Consumer</a:t>
            </a:r>
          </a:p>
        </p:txBody>
      </p:sp>
      <p:sp>
        <p:nvSpPr>
          <p:cNvPr id="23" name="No compiler required"/>
          <p:cNvSpPr txBox="1"/>
          <p:nvPr/>
        </p:nvSpPr>
        <p:spPr>
          <a:xfrm>
            <a:off x="3054096" y="2395728"/>
            <a:ext cx="5440680" cy="237744"/>
          </a:xfrm>
          <a:prstGeom prst="rect">
            <a:avLst/>
          </a:prstGeom>
          <a:noFill/>
        </p:spPr>
        <p:txBody>
          <a:bodyPr wrap="none" anchor="t" lIns="0" rIns="0" tIns="0" bIns="0">
            <a:noAutofit/>
          </a:bodyPr>
          <a:lstStyle/>
          <a:p>
            <a:pPr algn="l">
              <a:lnSpc>
                <a:spcPts val="1357"/>
              </a:lnSpc>
              <a:spcBef>
                <a:spcPts val="0"/>
              </a:spcBef>
              <a:spcAft>
                <a:spcPts val="0"/>
              </a:spcAft>
            </a:pPr>
            <a:r>
              <a:rPr sz="1170" b="0">
                <a:solidFill>
                  <a:srgbClr val="616161"/>
                </a:solidFill>
                <a:latin typeface="NVIDIA Sans"/>
              </a:rPr>
              <a:t>No compiler required</a:t>
            </a:r>
          </a:p>
        </p:txBody>
      </p:sp>
      <p:cxnSp>
        <p:nvCxnSpPr>
          <p:cNvPr id="24" name="Connector 23"/>
          <p:cNvCxnSpPr/>
          <p:nvPr/>
        </p:nvCxnSpPr>
        <p:spPr>
          <a:xfrm>
            <a:off x="2386584" y="3666744"/>
            <a:ext cx="43891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2889504" y="2999232"/>
            <a:ext cx="5769864" cy="1307592"/>
          </a:xfrm>
          <a:prstGeom prst="rect">
            <a:avLst/>
          </a:prstGeom>
          <a:solidFill>
            <a:srgbClr val="F7F7F7"/>
          </a:solidFill>
          <a:ln w="8890">
            <a:solidFill>
              <a:srgbClr val="D5D5D5"/>
            </a:solidFill>
          </a:ln>
          <a:effectLst/>
        </p:spPr>
        <p:txBody>
          <a:bodyPr rtlCol="0" anchor="ctr"/>
          <a:lstStyle/>
          <a:p>
            <a:pPr algn="ctr"/>
          </a:p>
        </p:txBody>
      </p:sp>
      <p:sp>
        <p:nvSpPr>
          <p:cNvPr id="26" name="Runnable DSL"/>
          <p:cNvSpPr txBox="1"/>
          <p:nvPr/>
        </p:nvSpPr>
        <p:spPr>
          <a:xfrm>
            <a:off x="3054096" y="3145536"/>
            <a:ext cx="2542032" cy="292608"/>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Runnable DSL</a:t>
            </a:r>
          </a:p>
        </p:txBody>
      </p:sp>
      <p:sp>
        <p:nvSpPr>
          <p:cNvPr id="27" name="Add compiler + your pipeline"/>
          <p:cNvSpPr txBox="1"/>
          <p:nvPr/>
        </p:nvSpPr>
        <p:spPr>
          <a:xfrm>
            <a:off x="3054096" y="3584448"/>
            <a:ext cx="5440680" cy="292608"/>
          </a:xfrm>
          <a:prstGeom prst="rect">
            <a:avLst/>
          </a:prstGeom>
          <a:noFill/>
        </p:spPr>
        <p:txBody>
          <a:bodyPr wrap="none" anchor="t" lIns="0" rIns="0" tIns="0" bIns="0">
            <a:noAutofit/>
          </a:bodyPr>
          <a:lstStyle/>
          <a:p>
            <a:pPr algn="l">
              <a:lnSpc>
                <a:spcPts val="1484"/>
              </a:lnSpc>
              <a:spcBef>
                <a:spcPts val="0"/>
              </a:spcBef>
              <a:spcAft>
                <a:spcPts val="0"/>
              </a:spcAft>
            </a:pPr>
            <a:r>
              <a:rPr sz="1280" b="0">
                <a:solidFill>
                  <a:srgbClr val="000000"/>
                </a:solidFill>
                <a:latin typeface="NVIDIA Sans"/>
              </a:rPr>
              <a:t>Add compiler + your pipeline</a:t>
            </a:r>
          </a:p>
        </p:txBody>
      </p:sp>
      <p:sp>
        <p:nvSpPr>
          <p:cNvPr id="28" name="Python"/>
          <p:cNvSpPr txBox="1"/>
          <p:nvPr/>
        </p:nvSpPr>
        <p:spPr>
          <a:xfrm>
            <a:off x="5733288" y="3154680"/>
            <a:ext cx="740664" cy="411480"/>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616161"/>
                </a:solidFill>
                <a:latin typeface="NVIDIA Sans"/>
              </a:rPr>
              <a:t>Python</a:t>
            </a:r>
          </a:p>
        </p:txBody>
      </p:sp>
      <p:cxnSp>
        <p:nvCxnSpPr>
          <p:cNvPr id="29" name="Connector 28"/>
          <p:cNvCxnSpPr/>
          <p:nvPr/>
        </p:nvCxnSpPr>
        <p:spPr>
          <a:xfrm>
            <a:off x="6505955" y="3291840"/>
            <a:ext cx="21031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0" name="MLIR"/>
          <p:cNvSpPr txBox="1"/>
          <p:nvPr/>
        </p:nvSpPr>
        <p:spPr>
          <a:xfrm>
            <a:off x="6748271" y="3154680"/>
            <a:ext cx="740664" cy="411480"/>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616161"/>
                </a:solidFill>
                <a:latin typeface="NVIDIA Sans"/>
              </a:rPr>
              <a:t>MLIR</a:t>
            </a:r>
          </a:p>
        </p:txBody>
      </p:sp>
      <p:cxnSp>
        <p:nvCxnSpPr>
          <p:cNvPr id="31" name="Connector 30"/>
          <p:cNvCxnSpPr/>
          <p:nvPr/>
        </p:nvCxnSpPr>
        <p:spPr>
          <a:xfrm>
            <a:off x="7520940" y="3291840"/>
            <a:ext cx="21031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2" name="Execute"/>
          <p:cNvSpPr txBox="1"/>
          <p:nvPr/>
        </p:nvSpPr>
        <p:spPr>
          <a:xfrm>
            <a:off x="7763255" y="3154680"/>
            <a:ext cx="740664" cy="411480"/>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416600"/>
                </a:solidFill>
                <a:latin typeface="NVIDIA Sans"/>
              </a:rPr>
              <a:t>Execute</a:t>
            </a:r>
          </a:p>
        </p:txBody>
      </p:sp>
      <p:sp>
        <p:nvSpPr>
          <p:cNvPr id="33" name="mlir dsl: the working showcase"/>
          <p:cNvSpPr txBox="1"/>
          <p:nvPr/>
        </p:nvSpPr>
        <p:spPr>
          <a:xfrm>
            <a:off x="3054096" y="3995928"/>
            <a:ext cx="5440680" cy="237744"/>
          </a:xfrm>
          <a:prstGeom prst="rect">
            <a:avLst/>
          </a:prstGeom>
          <a:noFill/>
        </p:spPr>
        <p:txBody>
          <a:bodyPr wrap="none" anchor="t" lIns="0" rIns="0" tIns="0" bIns="0">
            <a:noAutofit/>
          </a:bodyPr>
          <a:lstStyle/>
          <a:p>
            <a:pPr algn="l">
              <a:lnSpc>
                <a:spcPts val="1357"/>
              </a:lnSpc>
              <a:spcBef>
                <a:spcPts val="0"/>
              </a:spcBef>
              <a:spcAft>
                <a:spcPts val="0"/>
              </a:spcAft>
            </a:pPr>
            <a:r>
              <a:rPr sz="1170" b="0">
                <a:solidFill>
                  <a:srgbClr val="616161"/>
                </a:solidFill>
                <a:latin typeface="NVIDIA Sans"/>
              </a:rPr>
              <a:t>mlir dsl: the working showcase</a:t>
            </a:r>
          </a:p>
        </p:txBody>
      </p:sp>
      <p:sp>
        <p:nvSpPr>
          <p:cNvPr id="34" name="Your DSL can reuse the same plugins."/>
          <p:cNvSpPr txBox="1"/>
          <p:nvPr/>
        </p:nvSpPr>
        <p:spPr>
          <a:xfrm>
            <a:off x="530352" y="4471416"/>
            <a:ext cx="8083296" cy="22860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Your DSL can reuse the same plugins.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y tracing? Keep Python in Pytho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Why tracing? Keep Python in Python.</a:t>
            </a:r>
          </a:p>
        </p:txBody>
      </p:sp>
      <p:sp>
        <p:nvSpPr>
          <p:cNvPr id="5" name="0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09</a:t>
            </a:r>
          </a:p>
        </p:txBody>
      </p:sp>
      <p:sp>
        <p:nvSpPr>
          <p:cNvPr id="6" name="Architectu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Architecture</a:t>
            </a:r>
          </a:p>
        </p:txBody>
      </p:sp>
      <p:sp>
        <p:nvSpPr>
          <p:cNvPr id="7" name="AST-based frontend"/>
          <p:cNvSpPr txBox="1"/>
          <p:nvPr/>
        </p:nvSpPr>
        <p:spPr>
          <a:xfrm>
            <a:off x="576072" y="1362456"/>
            <a:ext cx="3776472" cy="365760"/>
          </a:xfrm>
          <a:prstGeom prst="rect">
            <a:avLst/>
          </a:prstGeom>
          <a:noFill/>
        </p:spPr>
        <p:txBody>
          <a:bodyPr wrap="none" anchor="t" lIns="0" rIns="0" tIns="0" bIns="0">
            <a:noAutofit/>
          </a:bodyPr>
          <a:lstStyle/>
          <a:p>
            <a:pPr algn="l">
              <a:lnSpc>
                <a:spcPts val="2320"/>
              </a:lnSpc>
              <a:spcBef>
                <a:spcPts val="0"/>
              </a:spcBef>
              <a:spcAft>
                <a:spcPts val="0"/>
              </a:spcAft>
            </a:pPr>
            <a:r>
              <a:rPr sz="2000" b="1">
                <a:solidFill>
                  <a:srgbClr val="416600"/>
                </a:solidFill>
                <a:latin typeface="NVIDIA Sans"/>
              </a:rPr>
              <a:t>AST-based frontend</a:t>
            </a:r>
          </a:p>
        </p:txBody>
      </p:sp>
      <p:sp>
        <p:nvSpPr>
          <p:cNvPr id="8" name="Rectangle 7"/>
          <p:cNvSpPr/>
          <p:nvPr/>
        </p:nvSpPr>
        <p:spPr>
          <a:xfrm>
            <a:off x="484632" y="1920240"/>
            <a:ext cx="3959352" cy="1024128"/>
          </a:xfrm>
          <a:prstGeom prst="rect">
            <a:avLst/>
          </a:prstGeom>
          <a:solidFill>
            <a:srgbClr val="F7F7F7"/>
          </a:solidFill>
          <a:ln>
            <a:noFill/>
          </a:ln>
          <a:effectLst/>
        </p:spPr>
        <p:txBody>
          <a:bodyPr rtlCol="0" anchor="ctr"/>
          <a:lstStyle/>
          <a:p>
            <a:pPr algn="ctr"/>
          </a:p>
        </p:txBody>
      </p:sp>
      <p:sp>
        <p:nvSpPr>
          <p:cNvPr id="9" name="Python AST"/>
          <p:cNvSpPr txBox="1"/>
          <p:nvPr/>
        </p:nvSpPr>
        <p:spPr>
          <a:xfrm>
            <a:off x="594360" y="2313432"/>
            <a:ext cx="1063752" cy="411480"/>
          </a:xfrm>
          <a:prstGeom prst="rect">
            <a:avLst/>
          </a:prstGeom>
          <a:noFill/>
        </p:spPr>
        <p:txBody>
          <a:bodyPr wrap="none" anchor="t" lIns="0" rIns="0" tIns="0" bIns="0">
            <a:noAutofit/>
          </a:bodyPr>
          <a:lstStyle/>
          <a:p>
            <a:pPr algn="ctr">
              <a:lnSpc>
                <a:spcPts val="1438"/>
              </a:lnSpc>
              <a:spcBef>
                <a:spcPts val="0"/>
              </a:spcBef>
              <a:spcAft>
                <a:spcPts val="0"/>
              </a:spcAft>
            </a:pPr>
            <a:r>
              <a:rPr sz="1240" b="0">
                <a:solidFill>
                  <a:srgbClr val="616161"/>
                </a:solidFill>
                <a:latin typeface="NVIDIA Sans"/>
              </a:rPr>
              <a:t>Python AST</a:t>
            </a:r>
          </a:p>
        </p:txBody>
      </p:sp>
      <p:cxnSp>
        <p:nvCxnSpPr>
          <p:cNvPr id="10" name="Connector 9"/>
          <p:cNvCxnSpPr/>
          <p:nvPr/>
        </p:nvCxnSpPr>
        <p:spPr>
          <a:xfrm>
            <a:off x="1690116" y="2450591"/>
            <a:ext cx="21031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Analyze + lower"/>
          <p:cNvSpPr txBox="1"/>
          <p:nvPr/>
        </p:nvSpPr>
        <p:spPr>
          <a:xfrm>
            <a:off x="1932432" y="2313432"/>
            <a:ext cx="1063752" cy="411480"/>
          </a:xfrm>
          <a:prstGeom prst="rect">
            <a:avLst/>
          </a:prstGeom>
          <a:noFill/>
        </p:spPr>
        <p:txBody>
          <a:bodyPr wrap="none" anchor="t" lIns="0" rIns="0" tIns="0" bIns="0">
            <a:noAutofit/>
          </a:bodyPr>
          <a:lstStyle/>
          <a:p>
            <a:pPr algn="ctr">
              <a:lnSpc>
                <a:spcPts val="1438"/>
              </a:lnSpc>
              <a:spcBef>
                <a:spcPts val="0"/>
              </a:spcBef>
              <a:spcAft>
                <a:spcPts val="0"/>
              </a:spcAft>
            </a:pPr>
            <a:r>
              <a:rPr sz="1240" b="0">
                <a:solidFill>
                  <a:srgbClr val="616161"/>
                </a:solidFill>
                <a:latin typeface="NVIDIA Sans"/>
              </a:rPr>
              <a:t>Analyze +</a:t>
            </a:r>
          </a:p>
          <a:p>
            <a:pPr algn="ctr">
              <a:lnSpc>
                <a:spcPts val="1438"/>
              </a:lnSpc>
              <a:spcBef>
                <a:spcPts val="0"/>
              </a:spcBef>
              <a:spcAft>
                <a:spcPts val="0"/>
              </a:spcAft>
            </a:pPr>
            <a:r>
              <a:rPr sz="1240" b="0">
                <a:solidFill>
                  <a:srgbClr val="616161"/>
                </a:solidFill>
                <a:latin typeface="NVIDIA Sans"/>
              </a:rPr>
              <a:t>lower</a:t>
            </a:r>
          </a:p>
        </p:txBody>
      </p:sp>
      <p:cxnSp>
        <p:nvCxnSpPr>
          <p:cNvPr id="12" name="Connector 11"/>
          <p:cNvCxnSpPr/>
          <p:nvPr/>
        </p:nvCxnSpPr>
        <p:spPr>
          <a:xfrm>
            <a:off x="3028188" y="2450591"/>
            <a:ext cx="21031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Target IR"/>
          <p:cNvSpPr txBox="1"/>
          <p:nvPr/>
        </p:nvSpPr>
        <p:spPr>
          <a:xfrm>
            <a:off x="3270504" y="2313432"/>
            <a:ext cx="1063752" cy="411480"/>
          </a:xfrm>
          <a:prstGeom prst="rect">
            <a:avLst/>
          </a:prstGeom>
          <a:noFill/>
        </p:spPr>
        <p:txBody>
          <a:bodyPr wrap="none" anchor="t" lIns="0" rIns="0" tIns="0" bIns="0">
            <a:noAutofit/>
          </a:bodyPr>
          <a:lstStyle/>
          <a:p>
            <a:pPr algn="ctr">
              <a:lnSpc>
                <a:spcPts val="1438"/>
              </a:lnSpc>
              <a:spcBef>
                <a:spcPts val="0"/>
              </a:spcBef>
              <a:spcAft>
                <a:spcPts val="0"/>
              </a:spcAft>
            </a:pPr>
            <a:r>
              <a:rPr sz="1240" b="0">
                <a:solidFill>
                  <a:srgbClr val="416600"/>
                </a:solidFill>
                <a:latin typeface="NVIDIA Sans"/>
              </a:rPr>
              <a:t>Target IR</a:t>
            </a:r>
          </a:p>
        </p:txBody>
      </p:sp>
      <p:sp>
        <p:nvSpPr>
          <p:cNvPr id="14" name="Own the language semantics"/>
          <p:cNvSpPr txBox="1"/>
          <p:nvPr/>
        </p:nvSpPr>
        <p:spPr>
          <a:xfrm>
            <a:off x="585216" y="3227832"/>
            <a:ext cx="3758184" cy="667512"/>
          </a:xfrm>
          <a:prstGeom prst="rect">
            <a:avLst/>
          </a:prstGeom>
          <a:noFill/>
        </p:spPr>
        <p:txBody>
          <a:bodyPr wrap="none" anchor="t" lIns="0" rIns="0" tIns="0" bIns="0">
            <a:noAutofit/>
          </a:bodyPr>
          <a:lstStyle/>
          <a:p>
            <a:pPr algn="l">
              <a:lnSpc>
                <a:spcPts val="1855"/>
              </a:lnSpc>
              <a:spcBef>
                <a:spcPts val="0"/>
              </a:spcBef>
              <a:spcAft>
                <a:spcPts val="0"/>
              </a:spcAft>
            </a:pPr>
            <a:r>
              <a:rPr sz="1600" b="0">
                <a:solidFill>
                  <a:srgbClr val="000000"/>
                </a:solidFill>
                <a:latin typeface="NVIDIA Sans"/>
              </a:rPr>
              <a:t>Own the language semantics</a:t>
            </a:r>
          </a:p>
        </p:txBody>
      </p:sp>
      <p:sp>
        <p:nvSpPr>
          <p:cNvPr id="15" name="Objects · calls · control flow"/>
          <p:cNvSpPr txBox="1"/>
          <p:nvPr/>
        </p:nvSpPr>
        <p:spPr>
          <a:xfrm>
            <a:off x="585216" y="3959352"/>
            <a:ext cx="3758184" cy="274320"/>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Objects · calls · control flow</a:t>
            </a:r>
          </a:p>
        </p:txBody>
      </p:sp>
      <p:sp>
        <p:nvSpPr>
          <p:cNvPr id="16" name="Tracing core"/>
          <p:cNvSpPr txBox="1"/>
          <p:nvPr/>
        </p:nvSpPr>
        <p:spPr>
          <a:xfrm>
            <a:off x="4791456" y="1362456"/>
            <a:ext cx="3776472" cy="365760"/>
          </a:xfrm>
          <a:prstGeom prst="rect">
            <a:avLst/>
          </a:prstGeom>
          <a:noFill/>
        </p:spPr>
        <p:txBody>
          <a:bodyPr wrap="none" anchor="t" lIns="0" rIns="0" tIns="0" bIns="0">
            <a:noAutofit/>
          </a:bodyPr>
          <a:lstStyle/>
          <a:p>
            <a:pPr algn="l">
              <a:lnSpc>
                <a:spcPts val="2320"/>
              </a:lnSpc>
              <a:spcBef>
                <a:spcPts val="0"/>
              </a:spcBef>
              <a:spcAft>
                <a:spcPts val="0"/>
              </a:spcAft>
            </a:pPr>
            <a:r>
              <a:rPr sz="2000" b="1">
                <a:solidFill>
                  <a:srgbClr val="416600"/>
                </a:solidFill>
                <a:latin typeface="NVIDIA Sans"/>
              </a:rPr>
              <a:t>Tracing core</a:t>
            </a:r>
          </a:p>
        </p:txBody>
      </p:sp>
      <p:sp>
        <p:nvSpPr>
          <p:cNvPr id="17" name="Rectangle 16"/>
          <p:cNvSpPr/>
          <p:nvPr/>
        </p:nvSpPr>
        <p:spPr>
          <a:xfrm>
            <a:off x="4700016" y="1920240"/>
            <a:ext cx="3959352" cy="1024128"/>
          </a:xfrm>
          <a:prstGeom prst="rect">
            <a:avLst/>
          </a:prstGeom>
          <a:solidFill>
            <a:srgbClr val="F0F6E6"/>
          </a:solidFill>
          <a:ln>
            <a:noFill/>
          </a:ln>
          <a:effectLst/>
        </p:spPr>
        <p:txBody>
          <a:bodyPr rtlCol="0" anchor="ctr"/>
          <a:lstStyle/>
          <a:p>
            <a:pPr algn="ctr"/>
          </a:p>
        </p:txBody>
      </p:sp>
      <p:sp>
        <p:nvSpPr>
          <p:cNvPr id="18" name="Run Python"/>
          <p:cNvSpPr txBox="1"/>
          <p:nvPr/>
        </p:nvSpPr>
        <p:spPr>
          <a:xfrm>
            <a:off x="4809744" y="2313432"/>
            <a:ext cx="1063752" cy="411480"/>
          </a:xfrm>
          <a:prstGeom prst="rect">
            <a:avLst/>
          </a:prstGeom>
          <a:noFill/>
        </p:spPr>
        <p:txBody>
          <a:bodyPr wrap="none" anchor="t" lIns="0" rIns="0" tIns="0" bIns="0">
            <a:noAutofit/>
          </a:bodyPr>
          <a:lstStyle/>
          <a:p>
            <a:pPr algn="ctr">
              <a:lnSpc>
                <a:spcPts val="1438"/>
              </a:lnSpc>
              <a:spcBef>
                <a:spcPts val="0"/>
              </a:spcBef>
              <a:spcAft>
                <a:spcPts val="0"/>
              </a:spcAft>
            </a:pPr>
            <a:r>
              <a:rPr sz="1240" b="0">
                <a:solidFill>
                  <a:srgbClr val="616161"/>
                </a:solidFill>
                <a:latin typeface="NVIDIA Sans"/>
              </a:rPr>
              <a:t>Run Python</a:t>
            </a:r>
          </a:p>
        </p:txBody>
      </p:sp>
      <p:cxnSp>
        <p:nvCxnSpPr>
          <p:cNvPr id="19" name="Connector 18"/>
          <p:cNvCxnSpPr/>
          <p:nvPr/>
        </p:nvCxnSpPr>
        <p:spPr>
          <a:xfrm>
            <a:off x="5905500" y="2450591"/>
            <a:ext cx="21031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DSL operations"/>
          <p:cNvSpPr txBox="1"/>
          <p:nvPr/>
        </p:nvSpPr>
        <p:spPr>
          <a:xfrm>
            <a:off x="6147816" y="2313432"/>
            <a:ext cx="1063752" cy="411480"/>
          </a:xfrm>
          <a:prstGeom prst="rect">
            <a:avLst/>
          </a:prstGeom>
          <a:noFill/>
        </p:spPr>
        <p:txBody>
          <a:bodyPr wrap="none" anchor="t" lIns="0" rIns="0" tIns="0" bIns="0">
            <a:noAutofit/>
          </a:bodyPr>
          <a:lstStyle/>
          <a:p>
            <a:pPr algn="ctr">
              <a:lnSpc>
                <a:spcPts val="1438"/>
              </a:lnSpc>
              <a:spcBef>
                <a:spcPts val="0"/>
              </a:spcBef>
              <a:spcAft>
                <a:spcPts val="0"/>
              </a:spcAft>
            </a:pPr>
            <a:r>
              <a:rPr sz="1240" b="0">
                <a:solidFill>
                  <a:srgbClr val="616161"/>
                </a:solidFill>
                <a:latin typeface="NVIDIA Sans"/>
              </a:rPr>
              <a:t>DSL</a:t>
            </a:r>
          </a:p>
          <a:p>
            <a:pPr algn="ctr">
              <a:lnSpc>
                <a:spcPts val="1438"/>
              </a:lnSpc>
              <a:spcBef>
                <a:spcPts val="0"/>
              </a:spcBef>
              <a:spcAft>
                <a:spcPts val="0"/>
              </a:spcAft>
            </a:pPr>
            <a:r>
              <a:rPr sz="1240" b="0">
                <a:solidFill>
                  <a:srgbClr val="616161"/>
                </a:solidFill>
                <a:latin typeface="NVIDIA Sans"/>
              </a:rPr>
              <a:t>operations</a:t>
            </a:r>
          </a:p>
        </p:txBody>
      </p:sp>
      <p:cxnSp>
        <p:nvCxnSpPr>
          <p:cNvPr id="21" name="Connector 20"/>
          <p:cNvCxnSpPr/>
          <p:nvPr/>
        </p:nvCxnSpPr>
        <p:spPr>
          <a:xfrm>
            <a:off x="7243572" y="2450591"/>
            <a:ext cx="21031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2" name="Target IR"/>
          <p:cNvSpPr txBox="1"/>
          <p:nvPr/>
        </p:nvSpPr>
        <p:spPr>
          <a:xfrm>
            <a:off x="7485888" y="2313432"/>
            <a:ext cx="1063752" cy="411480"/>
          </a:xfrm>
          <a:prstGeom prst="rect">
            <a:avLst/>
          </a:prstGeom>
          <a:noFill/>
        </p:spPr>
        <p:txBody>
          <a:bodyPr wrap="none" anchor="t" lIns="0" rIns="0" tIns="0" bIns="0">
            <a:noAutofit/>
          </a:bodyPr>
          <a:lstStyle/>
          <a:p>
            <a:pPr algn="ctr">
              <a:lnSpc>
                <a:spcPts val="1438"/>
              </a:lnSpc>
              <a:spcBef>
                <a:spcPts val="0"/>
              </a:spcBef>
              <a:spcAft>
                <a:spcPts val="0"/>
              </a:spcAft>
            </a:pPr>
            <a:r>
              <a:rPr sz="1240" b="0">
                <a:solidFill>
                  <a:srgbClr val="416600"/>
                </a:solidFill>
                <a:latin typeface="NVIDIA Sans"/>
              </a:rPr>
              <a:t>Target IR</a:t>
            </a:r>
          </a:p>
        </p:txBody>
      </p:sp>
      <p:sp>
        <p:nvSpPr>
          <p:cNvPr id="23" name="Python executes the metaprogram"/>
          <p:cNvSpPr txBox="1"/>
          <p:nvPr/>
        </p:nvSpPr>
        <p:spPr>
          <a:xfrm>
            <a:off x="4800600" y="3227832"/>
            <a:ext cx="3758184" cy="667512"/>
          </a:xfrm>
          <a:prstGeom prst="rect">
            <a:avLst/>
          </a:prstGeom>
          <a:noFill/>
        </p:spPr>
        <p:txBody>
          <a:bodyPr wrap="none" anchor="t" lIns="0" rIns="0" tIns="0" bIns="0">
            <a:noAutofit/>
          </a:bodyPr>
          <a:lstStyle/>
          <a:p>
            <a:pPr algn="l">
              <a:lnSpc>
                <a:spcPts val="1855"/>
              </a:lnSpc>
              <a:spcBef>
                <a:spcPts val="0"/>
              </a:spcBef>
              <a:spcAft>
                <a:spcPts val="0"/>
              </a:spcAft>
            </a:pPr>
            <a:r>
              <a:rPr sz="1600" b="0">
                <a:solidFill>
                  <a:srgbClr val="000000"/>
                </a:solidFill>
                <a:latin typeface="NVIDIA Sans"/>
              </a:rPr>
              <a:t>Python executes the metaprogram</a:t>
            </a:r>
          </a:p>
        </p:txBody>
      </p:sp>
      <p:sp>
        <p:nvSpPr>
          <p:cNvPr id="24" name="Plugins choose the emitted IR"/>
          <p:cNvSpPr txBox="1"/>
          <p:nvPr/>
        </p:nvSpPr>
        <p:spPr>
          <a:xfrm>
            <a:off x="4800600" y="3959352"/>
            <a:ext cx="3758184" cy="274320"/>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Plugins choose the emitted IR</a:t>
            </a:r>
          </a:p>
        </p:txBody>
      </p:sp>
      <p:sp>
        <p:nvSpPr>
          <p:cNvPr id="25" name="Small AST capture remains optional for staged control flow."/>
          <p:cNvSpPr txBox="1"/>
          <p:nvPr/>
        </p:nvSpPr>
        <p:spPr>
          <a:xfrm>
            <a:off x="539496" y="4462272"/>
            <a:ext cx="8055864" cy="256032"/>
          </a:xfrm>
          <a:prstGeom prst="rect">
            <a:avLst/>
          </a:prstGeom>
          <a:noFill/>
        </p:spPr>
        <p:txBody>
          <a:bodyPr wrap="none" anchor="t" lIns="0" rIns="0" tIns="0" bIns="0">
            <a:noAutofit/>
          </a:bodyPr>
          <a:lstStyle/>
          <a:p>
            <a:pPr algn="l">
              <a:lnSpc>
                <a:spcPts val="1519"/>
              </a:lnSpc>
              <a:spcBef>
                <a:spcPts val="0"/>
              </a:spcBef>
              <a:spcAft>
                <a:spcPts val="0"/>
              </a:spcAft>
            </a:pPr>
            <a:r>
              <a:rPr sz="1310" b="0">
                <a:solidFill>
                  <a:srgbClr val="416600"/>
                </a:solidFill>
                <a:latin typeface="NVIDIA Sans"/>
              </a:rPr>
              <a:t>Small AST capture remains optional for staged control flow.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Design principl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Design principles</a:t>
            </a:r>
          </a:p>
        </p:txBody>
      </p:sp>
      <p:sp>
        <p:nvSpPr>
          <p:cNvPr id="5" name="1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10</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01"/>
          <p:cNvSpPr txBox="1"/>
          <p:nvPr/>
        </p:nvSpPr>
        <p:spPr>
          <a:xfrm>
            <a:off x="512064" y="1682496"/>
            <a:ext cx="429768" cy="365760"/>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01</a:t>
            </a:r>
          </a:p>
        </p:txBody>
      </p:sp>
      <p:sp>
        <p:nvSpPr>
          <p:cNvPr id="8" name="No new language."/>
          <p:cNvSpPr txBox="1"/>
          <p:nvPr/>
        </p:nvSpPr>
        <p:spPr>
          <a:xfrm>
            <a:off x="1170432" y="1655064"/>
            <a:ext cx="7452360" cy="484632"/>
          </a:xfrm>
          <a:prstGeom prst="rect">
            <a:avLst/>
          </a:prstGeom>
          <a:noFill/>
        </p:spPr>
        <p:txBody>
          <a:bodyPr wrap="none" anchor="t" lIns="0" rIns="0" tIns="0" bIns="0">
            <a:noAutofit/>
          </a:bodyPr>
          <a:lstStyle/>
          <a:p>
            <a:pPr algn="l">
              <a:lnSpc>
                <a:spcPts val="2668"/>
              </a:lnSpc>
              <a:spcBef>
                <a:spcPts val="0"/>
              </a:spcBef>
              <a:spcAft>
                <a:spcPts val="0"/>
              </a:spcAft>
            </a:pPr>
            <a:r>
              <a:rPr sz="2300" b="0">
                <a:solidFill>
                  <a:srgbClr val="000000"/>
                </a:solidFill>
                <a:latin typeface="NVIDIA Sans Light"/>
              </a:rPr>
              <a:t>No new language.</a:t>
            </a:r>
          </a:p>
        </p:txBody>
      </p:sp>
      <p:sp>
        <p:nvSpPr>
          <p:cNvPr id="9" name="Objects · imports · libraries"/>
          <p:cNvSpPr txBox="1"/>
          <p:nvPr/>
        </p:nvSpPr>
        <p:spPr>
          <a:xfrm>
            <a:off x="1188720" y="2231136"/>
            <a:ext cx="7406640" cy="38404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Objects · imports · libraries</a:t>
            </a:r>
          </a:p>
        </p:txBody>
      </p:sp>
      <p:sp>
        <p:nvSpPr>
          <p:cNvPr id="10" name="02"/>
          <p:cNvSpPr txBox="1"/>
          <p:nvPr/>
        </p:nvSpPr>
        <p:spPr>
          <a:xfrm>
            <a:off x="512064" y="2688336"/>
            <a:ext cx="429768" cy="365760"/>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02</a:t>
            </a:r>
          </a:p>
        </p:txBody>
      </p:sp>
      <p:sp>
        <p:nvSpPr>
          <p:cNvPr id="11" name="Python stays Python."/>
          <p:cNvSpPr txBox="1"/>
          <p:nvPr/>
        </p:nvSpPr>
        <p:spPr>
          <a:xfrm>
            <a:off x="1170432" y="2660904"/>
            <a:ext cx="7452360" cy="484632"/>
          </a:xfrm>
          <a:prstGeom prst="rect">
            <a:avLst/>
          </a:prstGeom>
          <a:noFill/>
        </p:spPr>
        <p:txBody>
          <a:bodyPr wrap="none" anchor="t" lIns="0" rIns="0" tIns="0" bIns="0">
            <a:noAutofit/>
          </a:bodyPr>
          <a:lstStyle/>
          <a:p>
            <a:pPr algn="l">
              <a:lnSpc>
                <a:spcPts val="2668"/>
              </a:lnSpc>
              <a:spcBef>
                <a:spcPts val="0"/>
              </a:spcBef>
              <a:spcAft>
                <a:spcPts val="0"/>
              </a:spcAft>
            </a:pPr>
            <a:r>
              <a:rPr sz="2300" b="0">
                <a:solidFill>
                  <a:srgbClr val="000000"/>
                </a:solidFill>
                <a:latin typeface="NVIDIA Sans Light"/>
              </a:rPr>
              <a:t>Python stays Python.</a:t>
            </a:r>
          </a:p>
        </p:txBody>
      </p:sp>
      <p:sp>
        <p:nvSpPr>
          <p:cNvPr id="12" name="MLIR through a DSL namespace"/>
          <p:cNvSpPr txBox="1"/>
          <p:nvPr/>
        </p:nvSpPr>
        <p:spPr>
          <a:xfrm>
            <a:off x="1188720" y="3236976"/>
            <a:ext cx="7406640" cy="38404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MLIR through a DSL namespace</a:t>
            </a:r>
          </a:p>
        </p:txBody>
      </p:sp>
      <p:sp>
        <p:nvSpPr>
          <p:cNvPr id="13" name="This leads to multi-stage programming."/>
          <p:cNvSpPr txBox="1"/>
          <p:nvPr/>
        </p:nvSpPr>
        <p:spPr>
          <a:xfrm>
            <a:off x="502920" y="4005072"/>
            <a:ext cx="8138160" cy="356616"/>
          </a:xfrm>
          <a:prstGeom prst="rect">
            <a:avLst/>
          </a:prstGeom>
          <a:noFill/>
        </p:spPr>
        <p:txBody>
          <a:bodyPr wrap="none" anchor="t" lIns="0" rIns="0" tIns="0" bIns="0">
            <a:noAutofit/>
          </a:bodyPr>
          <a:lstStyle/>
          <a:p>
            <a:pPr algn="l">
              <a:lnSpc>
                <a:spcPts val="1855"/>
              </a:lnSpc>
              <a:spcBef>
                <a:spcPts val="0"/>
              </a:spcBef>
              <a:spcAft>
                <a:spcPts val="0"/>
              </a:spcAft>
            </a:pPr>
            <a:r>
              <a:rPr sz="1600" b="0">
                <a:solidFill>
                  <a:srgbClr val="416600"/>
                </a:solidFill>
                <a:latin typeface="NVIDIA Sans"/>
              </a:rPr>
              <a:t>This leads to </a:t>
            </a:r>
            <a:r>
              <a:rPr sz="1600" b="1">
                <a:solidFill>
                  <a:srgbClr val="416600"/>
                </a:solidFill>
                <a:latin typeface="NVIDIA Sans"/>
              </a:rPr>
              <a:t>multi-stage programming.</a:t>
            </a:r>
            <a:r>
              <a:rPr sz="1600" b="0">
                <a:solidFill>
                  <a:srgbClr val="416600"/>
                </a:solidFill>
                <a:latin typeface="NVIDIA Sans"/>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is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is multi-stage programming?</a:t>
            </a:r>
          </a:p>
        </p:txBody>
      </p:sp>
      <p:sp>
        <p:nvSpPr>
          <p:cNvPr id="5" name="1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11</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Traditional compiler"/>
          <p:cNvSpPr txBox="1"/>
          <p:nvPr/>
        </p:nvSpPr>
        <p:spPr>
          <a:xfrm>
            <a:off x="457200" y="134416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Traditional compiler</a:t>
            </a:r>
          </a:p>
        </p:txBody>
      </p:sp>
      <p:sp>
        <p:nvSpPr>
          <p:cNvPr id="8" name="Rectangle 7"/>
          <p:cNvSpPr/>
          <p:nvPr/>
        </p:nvSpPr>
        <p:spPr>
          <a:xfrm>
            <a:off x="758952" y="1627632"/>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9" name="Connector 8"/>
          <p:cNvCxnSpPr/>
          <p:nvPr/>
        </p:nvCxnSpPr>
        <p:spPr>
          <a:xfrm>
            <a:off x="932688" y="1627632"/>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32688" y="1723644"/>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32688" y="1627632"/>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12" name="&lt;/&gt;"/>
          <p:cNvSpPr txBox="1"/>
          <p:nvPr/>
        </p:nvSpPr>
        <p:spPr>
          <a:xfrm>
            <a:off x="779068" y="1773936"/>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13" name="source.cpp"/>
          <p:cNvSpPr txBox="1"/>
          <p:nvPr/>
        </p:nvSpPr>
        <p:spPr>
          <a:xfrm>
            <a:off x="164591" y="2039112"/>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14" name="Connector 13"/>
          <p:cNvCxnSpPr/>
          <p:nvPr/>
        </p:nvCxnSpPr>
        <p:spPr>
          <a:xfrm>
            <a:off x="1143000"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5" name="Gear 6 14"/>
          <p:cNvSpPr/>
          <p:nvPr/>
        </p:nvSpPr>
        <p:spPr>
          <a:xfrm>
            <a:off x="2564892" y="1627632"/>
            <a:ext cx="356616" cy="356616"/>
          </a:xfrm>
          <a:prstGeom prst="gear6">
            <a:avLst/>
          </a:prstGeom>
          <a:solidFill>
            <a:srgbClr val="F7F7F7"/>
          </a:solidFill>
          <a:ln w="11430">
            <a:solidFill>
              <a:srgbClr val="616161"/>
            </a:solidFill>
          </a:ln>
          <a:effectLst/>
        </p:spPr>
        <p:txBody>
          <a:bodyPr rtlCol="0" anchor="ctr"/>
          <a:lstStyle/>
          <a:p>
            <a:pPr algn="ctr"/>
          </a:p>
        </p:txBody>
      </p:sp>
      <p:sp>
        <p:nvSpPr>
          <p:cNvPr id="16" name="compiler"/>
          <p:cNvSpPr txBox="1"/>
          <p:nvPr/>
        </p:nvSpPr>
        <p:spPr>
          <a:xfrm>
            <a:off x="2011680"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17" name="Connector 16"/>
          <p:cNvCxnSpPr/>
          <p:nvPr/>
        </p:nvCxnSpPr>
        <p:spPr>
          <a:xfrm>
            <a:off x="2990088"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453127" y="1664208"/>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19" name="Connector 18"/>
          <p:cNvCxnSpPr/>
          <p:nvPr/>
        </p:nvCxnSpPr>
        <p:spPr>
          <a:xfrm>
            <a:off x="4517136"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517136"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416551"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727448"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590288"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590288"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416551"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727448"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663440"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663440"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416551"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727448"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1" name="01"/>
          <p:cNvSpPr txBox="1"/>
          <p:nvPr/>
        </p:nvSpPr>
        <p:spPr>
          <a:xfrm>
            <a:off x="4471416" y="1737360"/>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32" name="binary"/>
          <p:cNvSpPr txBox="1"/>
          <p:nvPr/>
        </p:nvSpPr>
        <p:spPr>
          <a:xfrm>
            <a:off x="3858768"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sp>
        <p:nvSpPr>
          <p:cNvPr id="33" name="Multi-stage compilers"/>
          <p:cNvSpPr txBox="1"/>
          <p:nvPr/>
        </p:nvSpPr>
        <p:spPr>
          <a:xfrm>
            <a:off x="457200" y="230428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Multi-stage compilers</a:t>
            </a:r>
          </a:p>
        </p:txBody>
      </p:sp>
      <p:sp>
        <p:nvSpPr>
          <p:cNvPr id="34" name="Rectangle 33"/>
          <p:cNvSpPr/>
          <p:nvPr/>
        </p:nvSpPr>
        <p:spPr>
          <a:xfrm>
            <a:off x="758952" y="2615184"/>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35" name="Connector 34"/>
          <p:cNvCxnSpPr/>
          <p:nvPr/>
        </p:nvCxnSpPr>
        <p:spPr>
          <a:xfrm>
            <a:off x="932688" y="2615184"/>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32688" y="2711196"/>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32688" y="2615184"/>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8" name="&lt;/&gt;"/>
          <p:cNvSpPr txBox="1"/>
          <p:nvPr/>
        </p:nvSpPr>
        <p:spPr>
          <a:xfrm>
            <a:off x="779068" y="2761488"/>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39" name="source.cpp"/>
          <p:cNvSpPr txBox="1"/>
          <p:nvPr/>
        </p:nvSpPr>
        <p:spPr>
          <a:xfrm>
            <a:off x="164591" y="3026664"/>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40" name="Connector 39"/>
          <p:cNvCxnSpPr/>
          <p:nvPr/>
        </p:nvCxnSpPr>
        <p:spPr>
          <a:xfrm>
            <a:off x="1143000" y="2788920"/>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1" name="Gear 6 40"/>
          <p:cNvSpPr/>
          <p:nvPr/>
        </p:nvSpPr>
        <p:spPr>
          <a:xfrm>
            <a:off x="2564892" y="2615184"/>
            <a:ext cx="356616" cy="356616"/>
          </a:xfrm>
          <a:prstGeom prst="gear6">
            <a:avLst/>
          </a:prstGeom>
          <a:solidFill>
            <a:srgbClr val="F7F7F7"/>
          </a:solidFill>
          <a:ln w="11430">
            <a:solidFill>
              <a:srgbClr val="616161"/>
            </a:solidFill>
          </a:ln>
          <a:effectLst/>
        </p:spPr>
        <p:txBody>
          <a:bodyPr rtlCol="0" anchor="ctr"/>
          <a:lstStyle/>
          <a:p>
            <a:pPr algn="ctr"/>
          </a:p>
        </p:txBody>
      </p:sp>
      <p:sp>
        <p:nvSpPr>
          <p:cNvPr id="42" name="compiler"/>
          <p:cNvSpPr txBox="1"/>
          <p:nvPr/>
        </p:nvSpPr>
        <p:spPr>
          <a:xfrm>
            <a:off x="2011680" y="3026664"/>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43" name="Connector 42"/>
          <p:cNvCxnSpPr/>
          <p:nvPr/>
        </p:nvCxnSpPr>
        <p:spPr>
          <a:xfrm>
            <a:off x="2990088" y="2788920"/>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4453127" y="2651760"/>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45" name="Connector 44"/>
          <p:cNvCxnSpPr/>
          <p:nvPr/>
        </p:nvCxnSpPr>
        <p:spPr>
          <a:xfrm>
            <a:off x="4517136"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517136"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416551"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727448"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590288"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590288"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4416551"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727448"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4663440"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4663440"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4416551"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727448"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57" name="01"/>
          <p:cNvSpPr txBox="1"/>
          <p:nvPr/>
        </p:nvSpPr>
        <p:spPr>
          <a:xfrm>
            <a:off x="4471416" y="2724912"/>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58" name="binary"/>
          <p:cNvSpPr txBox="1"/>
          <p:nvPr/>
        </p:nvSpPr>
        <p:spPr>
          <a:xfrm>
            <a:off x="3858768" y="3026664"/>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cxnSp>
        <p:nvCxnSpPr>
          <p:cNvPr id="59" name="Connector 58"/>
          <p:cNvCxnSpPr/>
          <p:nvPr/>
        </p:nvCxnSpPr>
        <p:spPr>
          <a:xfrm>
            <a:off x="4837175" y="2788920"/>
            <a:ext cx="402337"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239512"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384048" y="3310128"/>
            <a:ext cx="485546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384048"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84048" y="2788920"/>
            <a:ext cx="26517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64" name="Run → generate the next source"/>
          <p:cNvSpPr txBox="1"/>
          <p:nvPr/>
        </p:nvSpPr>
        <p:spPr>
          <a:xfrm>
            <a:off x="640080" y="3364992"/>
            <a:ext cx="4389120" cy="219456"/>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Run → generate the next source</a:t>
            </a:r>
          </a:p>
        </p:txBody>
      </p:sp>
      <p:sp>
        <p:nvSpPr>
          <p:cNvPr id="65" name="…"/>
          <p:cNvSpPr txBox="1"/>
          <p:nvPr/>
        </p:nvSpPr>
        <p:spPr>
          <a:xfrm>
            <a:off x="5605272" y="2660903"/>
            <a:ext cx="475488" cy="365760"/>
          </a:xfrm>
          <a:prstGeom prst="rect">
            <a:avLst/>
          </a:prstGeom>
          <a:noFill/>
        </p:spPr>
        <p:txBody>
          <a:bodyPr wrap="none" anchor="t" lIns="0" rIns="0" tIns="0" bIns="0">
            <a:noAutofit/>
          </a:bodyPr>
          <a:lstStyle/>
          <a:p>
            <a:pPr algn="ctr">
              <a:lnSpc>
                <a:spcPts val="2436"/>
              </a:lnSpc>
              <a:spcBef>
                <a:spcPts val="0"/>
              </a:spcBef>
              <a:spcAft>
                <a:spcPts val="0"/>
              </a:spcAft>
            </a:pPr>
            <a:r>
              <a:rPr sz="2100" b="0">
                <a:solidFill>
                  <a:srgbClr val="616161"/>
                </a:solidFill>
                <a:latin typeface="NVIDIA Sans Light"/>
              </a:rPr>
              <a:t>…</a:t>
            </a:r>
          </a:p>
        </p:txBody>
      </p:sp>
      <p:sp>
        <p:nvSpPr>
          <p:cNvPr id="66" name="Repeat…"/>
          <p:cNvSpPr txBox="1"/>
          <p:nvPr/>
        </p:nvSpPr>
        <p:spPr>
          <a:xfrm>
            <a:off x="6291072" y="2715768"/>
            <a:ext cx="2395728" cy="493776"/>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Repeat…</a:t>
            </a:r>
          </a:p>
        </p:txBody>
      </p:sp>
      <p:sp>
        <p:nvSpPr>
          <p:cNvPr id="67" name="In our case"/>
          <p:cNvSpPr txBox="1"/>
          <p:nvPr/>
        </p:nvSpPr>
        <p:spPr>
          <a:xfrm>
            <a:off x="457200" y="3602736"/>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In our case</a:t>
            </a:r>
          </a:p>
        </p:txBody>
      </p:sp>
      <p:sp>
        <p:nvSpPr>
          <p:cNvPr id="68" name="Rectangle 67"/>
          <p:cNvSpPr/>
          <p:nvPr/>
        </p:nvSpPr>
        <p:spPr>
          <a:xfrm>
            <a:off x="758952"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69" name="Connector 68"/>
          <p:cNvCxnSpPr/>
          <p:nvPr/>
        </p:nvCxnSpPr>
        <p:spPr>
          <a:xfrm>
            <a:off x="932688"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32688" y="3982212"/>
            <a:ext cx="100583"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32688" y="3886200"/>
            <a:ext cx="100583"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72" name="&lt;/&gt;"/>
          <p:cNvSpPr txBox="1"/>
          <p:nvPr/>
        </p:nvSpPr>
        <p:spPr>
          <a:xfrm>
            <a:off x="779068"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73" name="source.py"/>
          <p:cNvSpPr txBox="1"/>
          <p:nvPr/>
        </p:nvSpPr>
        <p:spPr>
          <a:xfrm>
            <a:off x="164591"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source.py</a:t>
            </a:r>
          </a:p>
        </p:txBody>
      </p:sp>
      <p:cxnSp>
        <p:nvCxnSpPr>
          <p:cNvPr id="74" name="Connector 73"/>
          <p:cNvCxnSpPr/>
          <p:nvPr/>
        </p:nvCxnSpPr>
        <p:spPr>
          <a:xfrm>
            <a:off x="1143000"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5" name="Gear 6 74"/>
          <p:cNvSpPr/>
          <p:nvPr/>
        </p:nvSpPr>
        <p:spPr>
          <a:xfrm>
            <a:off x="2555748"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76" name="Python / interpreter"/>
          <p:cNvSpPr txBox="1"/>
          <p:nvPr/>
        </p:nvSpPr>
        <p:spPr>
          <a:xfrm>
            <a:off x="2002535"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Python</a:t>
            </a:r>
          </a:p>
          <a:p>
            <a:pPr algn="ctr">
              <a:lnSpc>
                <a:spcPts val="1218"/>
              </a:lnSpc>
              <a:spcBef>
                <a:spcPts val="0"/>
              </a:spcBef>
              <a:spcAft>
                <a:spcPts val="0"/>
              </a:spcAft>
            </a:pPr>
            <a:r>
              <a:rPr sz="1050" b="0">
                <a:solidFill>
                  <a:srgbClr val="416600"/>
                </a:solidFill>
                <a:latin typeface="NVIDIA Sans"/>
              </a:rPr>
              <a:t>interpreter</a:t>
            </a:r>
          </a:p>
        </p:txBody>
      </p:sp>
      <p:cxnSp>
        <p:nvCxnSpPr>
          <p:cNvPr id="77" name="Connector 76"/>
          <p:cNvCxnSpPr/>
          <p:nvPr/>
        </p:nvCxnSpPr>
        <p:spPr>
          <a:xfrm>
            <a:off x="2980944"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4434840"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79" name="Connector 78"/>
          <p:cNvCxnSpPr/>
          <p:nvPr/>
        </p:nvCxnSpPr>
        <p:spPr>
          <a:xfrm>
            <a:off x="4608576"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608576" y="3982212"/>
            <a:ext cx="1005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608576" y="3886200"/>
            <a:ext cx="100584"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82" name="&lt;/&gt;"/>
          <p:cNvSpPr txBox="1"/>
          <p:nvPr/>
        </p:nvSpPr>
        <p:spPr>
          <a:xfrm>
            <a:off x="4454956"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83" name="*.mlir"/>
          <p:cNvSpPr txBox="1"/>
          <p:nvPr/>
        </p:nvSpPr>
        <p:spPr>
          <a:xfrm>
            <a:off x="3840480"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a:t>
            </a:r>
          </a:p>
        </p:txBody>
      </p:sp>
      <p:cxnSp>
        <p:nvCxnSpPr>
          <p:cNvPr id="84" name="Connector 83"/>
          <p:cNvCxnSpPr/>
          <p:nvPr/>
        </p:nvCxnSpPr>
        <p:spPr>
          <a:xfrm>
            <a:off x="4818888"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5" name="Gear 6 84"/>
          <p:cNvSpPr/>
          <p:nvPr/>
        </p:nvSpPr>
        <p:spPr>
          <a:xfrm>
            <a:off x="6231636"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86" name="mlir-opt"/>
          <p:cNvSpPr txBox="1"/>
          <p:nvPr/>
        </p:nvSpPr>
        <p:spPr>
          <a:xfrm>
            <a:off x="5678424"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mlir-opt</a:t>
            </a:r>
          </a:p>
        </p:txBody>
      </p:sp>
      <p:cxnSp>
        <p:nvCxnSpPr>
          <p:cNvPr id="87" name="Connector 86"/>
          <p:cNvCxnSpPr/>
          <p:nvPr/>
        </p:nvCxnSpPr>
        <p:spPr>
          <a:xfrm>
            <a:off x="6656831" y="4059936"/>
            <a:ext cx="1344169"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8110727" y="3922776"/>
            <a:ext cx="274320" cy="274320"/>
          </a:xfrm>
          <a:prstGeom prst="rect">
            <a:avLst/>
          </a:prstGeom>
          <a:solidFill>
            <a:srgbClr val="F0F6E6"/>
          </a:solidFill>
          <a:ln w="8890">
            <a:solidFill>
              <a:srgbClr val="416600"/>
            </a:solidFill>
          </a:ln>
          <a:effectLst/>
        </p:spPr>
        <p:txBody>
          <a:bodyPr rtlCol="0" anchor="ctr"/>
          <a:lstStyle/>
          <a:p>
            <a:pPr algn="ctr"/>
          </a:p>
        </p:txBody>
      </p:sp>
      <p:cxnSp>
        <p:nvCxnSpPr>
          <p:cNvPr id="89" name="Connector 88"/>
          <p:cNvCxnSpPr/>
          <p:nvPr/>
        </p:nvCxnSpPr>
        <p:spPr>
          <a:xfrm>
            <a:off x="8174736"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8174736"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074152" y="3986784"/>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385048" y="3986784"/>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247888"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247888"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074152" y="4059936"/>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385048" y="4059936"/>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321040"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321040"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074152" y="4133088"/>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385048" y="4133088"/>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101" name="01"/>
          <p:cNvSpPr txBox="1"/>
          <p:nvPr/>
        </p:nvSpPr>
        <p:spPr>
          <a:xfrm>
            <a:off x="8129015" y="3995928"/>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416600"/>
                </a:solidFill>
                <a:latin typeface="JetBrains Mono"/>
              </a:rPr>
              <a:t>01</a:t>
            </a:r>
          </a:p>
        </p:txBody>
      </p:sp>
      <p:sp>
        <p:nvSpPr>
          <p:cNvPr id="102" name="binary"/>
          <p:cNvSpPr txBox="1"/>
          <p:nvPr/>
        </p:nvSpPr>
        <p:spPr>
          <a:xfrm>
            <a:off x="7516367"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binary</a:t>
            </a:r>
          </a:p>
        </p:txBody>
      </p:sp>
      <p:sp>
        <p:nvSpPr>
          <p:cNvPr id="103" name="LLVM codegen / JIT"/>
          <p:cNvSpPr txBox="1"/>
          <p:nvPr/>
        </p:nvSpPr>
        <p:spPr>
          <a:xfrm>
            <a:off x="6542532" y="3721608"/>
            <a:ext cx="1572768" cy="192024"/>
          </a:xfrm>
          <a:prstGeom prst="rect">
            <a:avLst/>
          </a:prstGeom>
          <a:noFill/>
        </p:spPr>
        <p:txBody>
          <a:bodyPr wrap="none" anchor="t" lIns="0" rIns="0" tIns="0" bIns="0">
            <a:noAutofit/>
          </a:bodyPr>
          <a:lstStyle/>
          <a:p>
            <a:pPr algn="ctr">
              <a:lnSpc>
                <a:spcPts val="1044"/>
              </a:lnSpc>
              <a:spcBef>
                <a:spcPts val="0"/>
              </a:spcBef>
              <a:spcAft>
                <a:spcPts val="0"/>
              </a:spcAft>
            </a:pPr>
            <a:r>
              <a:rPr sz="900" b="0">
                <a:solidFill>
                  <a:srgbClr val="416600"/>
                </a:solidFill>
                <a:latin typeface="NVIDIA Sans"/>
              </a:rPr>
              <a:t>LLVM codegen / JIT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y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Why multi-stage programming?</a:t>
            </a:r>
          </a:p>
        </p:txBody>
      </p:sp>
      <p:sp>
        <p:nvSpPr>
          <p:cNvPr id="5" name="1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12</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ctangle 6"/>
          <p:cNvSpPr/>
          <p:nvPr/>
        </p:nvSpPr>
        <p:spPr>
          <a:xfrm>
            <a:off x="4498848" y="1536192"/>
            <a:ext cx="10972" cy="1353312"/>
          </a:xfrm>
          <a:prstGeom prst="rect">
            <a:avLst/>
          </a:prstGeom>
          <a:solidFill>
            <a:srgbClr val="D5D5D5"/>
          </a:solidFill>
          <a:ln>
            <a:noFill/>
          </a:ln>
          <a:effectLst/>
        </p:spPr>
        <p:txBody>
          <a:bodyPr rtlCol="0" anchor="ctr"/>
          <a:lstStyle/>
          <a:p>
            <a:pPr algn="ctr"/>
          </a:p>
        </p:txBody>
      </p:sp>
      <p:sp>
        <p:nvSpPr>
          <p:cNvPr id="8" name="01"/>
          <p:cNvSpPr txBox="1"/>
          <p:nvPr/>
        </p:nvSpPr>
        <p:spPr>
          <a:xfrm>
            <a:off x="502920" y="1554480"/>
            <a:ext cx="310896" cy="228600"/>
          </a:xfrm>
          <a:prstGeom prst="rect">
            <a:avLst/>
          </a:prstGeom>
          <a:noFill/>
        </p:spPr>
        <p:txBody>
          <a:bodyPr wrap="none" anchor="t" lIns="0" rIns="0" tIns="0" bIns="0">
            <a:noAutofit/>
          </a:bodyPr>
          <a:lstStyle/>
          <a:p>
            <a:pPr algn="l">
              <a:lnSpc>
                <a:spcPts val="1218"/>
              </a:lnSpc>
              <a:spcBef>
                <a:spcPts val="0"/>
              </a:spcBef>
              <a:spcAft>
                <a:spcPts val="0"/>
              </a:spcAft>
            </a:pPr>
            <a:r>
              <a:rPr sz="1050" b="1">
                <a:solidFill>
                  <a:srgbClr val="416600"/>
                </a:solidFill>
                <a:latin typeface="NVIDIA Sans"/>
              </a:rPr>
              <a:t>01</a:t>
            </a:r>
          </a:p>
        </p:txBody>
      </p:sp>
      <p:sp>
        <p:nvSpPr>
          <p:cNvPr id="9" name="METAPROGRAM"/>
          <p:cNvSpPr txBox="1"/>
          <p:nvPr/>
        </p:nvSpPr>
        <p:spPr>
          <a:xfrm>
            <a:off x="941832" y="1554480"/>
            <a:ext cx="3401568" cy="228600"/>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METAPROGRAM</a:t>
            </a:r>
          </a:p>
        </p:txBody>
      </p:sp>
      <p:sp>
        <p:nvSpPr>
          <p:cNvPr id="10" name="All of Python."/>
          <p:cNvSpPr txBox="1"/>
          <p:nvPr/>
        </p:nvSpPr>
        <p:spPr>
          <a:xfrm>
            <a:off x="502920" y="1938528"/>
            <a:ext cx="3840480" cy="429768"/>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All of Python.</a:t>
            </a:r>
          </a:p>
        </p:txBody>
      </p:sp>
      <p:sp>
        <p:nvSpPr>
          <p:cNvPr id="11" name="Objects · imports · libraries"/>
          <p:cNvSpPr txBox="1"/>
          <p:nvPr/>
        </p:nvSpPr>
        <p:spPr>
          <a:xfrm>
            <a:off x="502920" y="2542032"/>
            <a:ext cx="3840480" cy="530352"/>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Objects · imports · libraries</a:t>
            </a:r>
          </a:p>
        </p:txBody>
      </p:sp>
      <p:sp>
        <p:nvSpPr>
          <p:cNvPr id="12" name="02"/>
          <p:cNvSpPr txBox="1"/>
          <p:nvPr/>
        </p:nvSpPr>
        <p:spPr>
          <a:xfrm>
            <a:off x="4800600" y="1554480"/>
            <a:ext cx="310896" cy="228600"/>
          </a:xfrm>
          <a:prstGeom prst="rect">
            <a:avLst/>
          </a:prstGeom>
          <a:noFill/>
        </p:spPr>
        <p:txBody>
          <a:bodyPr wrap="none" anchor="t" lIns="0" rIns="0" tIns="0" bIns="0">
            <a:noAutofit/>
          </a:bodyPr>
          <a:lstStyle/>
          <a:p>
            <a:pPr algn="l">
              <a:lnSpc>
                <a:spcPts val="1218"/>
              </a:lnSpc>
              <a:spcBef>
                <a:spcPts val="0"/>
              </a:spcBef>
              <a:spcAft>
                <a:spcPts val="0"/>
              </a:spcAft>
            </a:pPr>
            <a:r>
              <a:rPr sz="1050" b="1">
                <a:solidFill>
                  <a:srgbClr val="416600"/>
                </a:solidFill>
                <a:latin typeface="NVIDIA Sans"/>
              </a:rPr>
              <a:t>02</a:t>
            </a:r>
          </a:p>
        </p:txBody>
      </p:sp>
      <p:sp>
        <p:nvSpPr>
          <p:cNvPr id="13" name="DSL NAMESPACE"/>
          <p:cNvSpPr txBox="1"/>
          <p:nvPr/>
        </p:nvSpPr>
        <p:spPr>
          <a:xfrm>
            <a:off x="5239512" y="1554480"/>
            <a:ext cx="3401568" cy="228600"/>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DSL NAMESPACE</a:t>
            </a:r>
          </a:p>
        </p:txBody>
      </p:sp>
      <p:sp>
        <p:nvSpPr>
          <p:cNvPr id="14" name="Explicit capture."/>
          <p:cNvSpPr txBox="1"/>
          <p:nvPr/>
        </p:nvSpPr>
        <p:spPr>
          <a:xfrm>
            <a:off x="4800600" y="1938528"/>
            <a:ext cx="3840480" cy="429768"/>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Explicit capture.</a:t>
            </a:r>
          </a:p>
        </p:txBody>
      </p:sp>
      <p:sp>
        <p:nvSpPr>
          <p:cNvPr id="15" name="Types · operators · builders"/>
          <p:cNvSpPr txBox="1"/>
          <p:nvPr/>
        </p:nvSpPr>
        <p:spPr>
          <a:xfrm>
            <a:off x="4800600" y="2542032"/>
            <a:ext cx="3840480" cy="530352"/>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Types · operators · builders</a:t>
            </a:r>
          </a:p>
        </p:txBody>
      </p:sp>
      <p:sp>
        <p:nvSpPr>
          <p:cNvPr id="16" name="Rectangle 15"/>
          <p:cNvSpPr/>
          <p:nvPr/>
        </p:nvSpPr>
        <p:spPr>
          <a:xfrm>
            <a:off x="502920" y="3182112"/>
            <a:ext cx="8138160" cy="10972"/>
          </a:xfrm>
          <a:prstGeom prst="rect">
            <a:avLst/>
          </a:prstGeom>
          <a:solidFill>
            <a:srgbClr val="D5D5D5"/>
          </a:solidFill>
          <a:ln>
            <a:noFill/>
          </a:ln>
          <a:effectLst/>
        </p:spPr>
        <p:txBody>
          <a:bodyPr rtlCol="0" anchor="ctr"/>
          <a:lstStyle/>
          <a:p>
            <a:pPr algn="ctr"/>
          </a:p>
        </p:txBody>
      </p:sp>
      <p:sp>
        <p:nvSpPr>
          <p:cNvPr id="17" name="import mlir.mlir_dsl as m"/>
          <p:cNvSpPr txBox="1"/>
          <p:nvPr/>
        </p:nvSpPr>
        <p:spPr>
          <a:xfrm>
            <a:off x="502920" y="3300984"/>
            <a:ext cx="8138160" cy="237744"/>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import mlir.mlir_dsl as m</a:t>
            </a:r>
          </a:p>
        </p:txBody>
      </p:sp>
      <p:sp>
        <p:nvSpPr>
          <p:cNvPr id="18" name="range(4)"/>
          <p:cNvSpPr txBox="1"/>
          <p:nvPr/>
        </p:nvSpPr>
        <p:spPr>
          <a:xfrm>
            <a:off x="502920" y="3675887"/>
            <a:ext cx="1481328" cy="320040"/>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616161"/>
                </a:solidFill>
                <a:latin typeface="JetBrains Mono"/>
              </a:rPr>
              <a:t>range(4)</a:t>
            </a:r>
          </a:p>
        </p:txBody>
      </p:sp>
      <p:cxnSp>
        <p:nvCxnSpPr>
          <p:cNvPr id="19" name="Connector 18"/>
          <p:cNvCxnSpPr/>
          <p:nvPr/>
        </p:nvCxnSpPr>
        <p:spPr>
          <a:xfrm>
            <a:off x="2121408" y="3822191"/>
            <a:ext cx="39319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20" name="Python loop"/>
          <p:cNvSpPr txBox="1"/>
          <p:nvPr/>
        </p:nvSpPr>
        <p:spPr>
          <a:xfrm>
            <a:off x="2706624" y="3666744"/>
            <a:ext cx="1691640" cy="301752"/>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616161"/>
                </a:solidFill>
                <a:latin typeface="NVIDIA Sans"/>
              </a:rPr>
              <a:t>Python loop</a:t>
            </a:r>
          </a:p>
        </p:txBody>
      </p:sp>
      <p:sp>
        <p:nvSpPr>
          <p:cNvPr id="21" name="Runs now"/>
          <p:cNvSpPr txBox="1"/>
          <p:nvPr/>
        </p:nvSpPr>
        <p:spPr>
          <a:xfrm>
            <a:off x="2706624" y="4005072"/>
            <a:ext cx="1691640" cy="228600"/>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Runs now</a:t>
            </a:r>
          </a:p>
        </p:txBody>
      </p:sp>
      <p:sp>
        <p:nvSpPr>
          <p:cNvPr id="22" name="m.range(4)"/>
          <p:cNvSpPr txBox="1"/>
          <p:nvPr/>
        </p:nvSpPr>
        <p:spPr>
          <a:xfrm>
            <a:off x="4800600" y="3675887"/>
            <a:ext cx="1481328" cy="320040"/>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416600"/>
                </a:solidFill>
                <a:latin typeface="JetBrains Mono"/>
              </a:rPr>
              <a:t>m.range(4)</a:t>
            </a:r>
          </a:p>
        </p:txBody>
      </p:sp>
      <p:cxnSp>
        <p:nvCxnSpPr>
          <p:cNvPr id="23" name="Connector 22"/>
          <p:cNvCxnSpPr/>
          <p:nvPr/>
        </p:nvCxnSpPr>
        <p:spPr>
          <a:xfrm>
            <a:off x="6419088" y="3822191"/>
            <a:ext cx="3931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4" name="scf.for"/>
          <p:cNvSpPr txBox="1"/>
          <p:nvPr/>
        </p:nvSpPr>
        <p:spPr>
          <a:xfrm>
            <a:off x="7004304" y="3666744"/>
            <a:ext cx="1691640" cy="301752"/>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416600"/>
                </a:solidFill>
                <a:latin typeface="JetBrains Mono"/>
              </a:rPr>
              <a:t>scf.for</a:t>
            </a:r>
          </a:p>
        </p:txBody>
      </p:sp>
      <p:sp>
        <p:nvSpPr>
          <p:cNvPr id="25" name="Runs later"/>
          <p:cNvSpPr txBox="1"/>
          <p:nvPr/>
        </p:nvSpPr>
        <p:spPr>
          <a:xfrm>
            <a:off x="7004304" y="4005072"/>
            <a:ext cx="1691640" cy="228600"/>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Runs later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genda"/>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Agenda</a:t>
            </a:r>
          </a:p>
        </p:txBody>
      </p:sp>
      <p:sp>
        <p:nvSpPr>
          <p:cNvPr id="5" name="1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13</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01"/>
          <p:cNvSpPr txBox="1"/>
          <p:nvPr/>
        </p:nvSpPr>
        <p:spPr>
          <a:xfrm>
            <a:off x="502920" y="1577339"/>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01</a:t>
            </a:r>
          </a:p>
        </p:txBody>
      </p:sp>
      <p:sp>
        <p:nvSpPr>
          <p:cNvPr id="8" name="Trace Python → types → control flow"/>
          <p:cNvSpPr txBox="1"/>
          <p:nvPr/>
        </p:nvSpPr>
        <p:spPr>
          <a:xfrm>
            <a:off x="1060704" y="1554480"/>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Trace Python → types → control flow</a:t>
            </a:r>
          </a:p>
        </p:txBody>
      </p:sp>
      <p:sp>
        <p:nvSpPr>
          <p:cNvPr id="9" name="02"/>
          <p:cNvSpPr txBox="1"/>
          <p:nvPr/>
        </p:nvSpPr>
        <p:spPr>
          <a:xfrm>
            <a:off x="502920" y="2199132"/>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02</a:t>
            </a:r>
          </a:p>
        </p:txBody>
      </p:sp>
      <p:sp>
        <p:nvSpPr>
          <p:cNvPr id="10" name="Host boundary → kernels → compilation"/>
          <p:cNvSpPr txBox="1"/>
          <p:nvPr/>
        </p:nvSpPr>
        <p:spPr>
          <a:xfrm>
            <a:off x="1060704" y="2176272"/>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Host boundary → kernels → compilation</a:t>
            </a:r>
          </a:p>
        </p:txBody>
      </p:sp>
      <p:sp>
        <p:nvSpPr>
          <p:cNvPr id="11" name="03"/>
          <p:cNvSpPr txBox="1"/>
          <p:nvPr/>
        </p:nvSpPr>
        <p:spPr>
          <a:xfrm>
            <a:off x="502920" y="2820924"/>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03</a:t>
            </a:r>
          </a:p>
        </p:txBody>
      </p:sp>
      <p:sp>
        <p:nvSpPr>
          <p:cNvPr id="12" name="Tools → build your own DSL"/>
          <p:cNvSpPr txBox="1"/>
          <p:nvPr/>
        </p:nvSpPr>
        <p:spPr>
          <a:xfrm>
            <a:off x="1060704" y="2798064"/>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Tools → build your own DSL</a:t>
            </a:r>
          </a:p>
        </p:txBody>
      </p:sp>
      <p:sp>
        <p:nvSpPr>
          <p:cNvPr id="13" name="04"/>
          <p:cNvSpPr txBox="1"/>
          <p:nvPr/>
        </p:nvSpPr>
        <p:spPr>
          <a:xfrm>
            <a:off x="502920" y="3442716"/>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04</a:t>
            </a:r>
          </a:p>
        </p:txBody>
      </p:sp>
      <p:sp>
        <p:nvSpPr>
          <p:cNvPr id="14" name="Amir: advanced mutation"/>
          <p:cNvSpPr txBox="1"/>
          <p:nvPr/>
        </p:nvSpPr>
        <p:spPr>
          <a:xfrm>
            <a:off x="1060704" y="3419856"/>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Amir: advanced mutation</a:t>
            </a:r>
          </a:p>
        </p:txBody>
      </p:sp>
      <p:sp>
        <p:nvSpPr>
          <p:cNvPr id="15" name="05"/>
          <p:cNvSpPr txBox="1"/>
          <p:nvPr/>
        </p:nvSpPr>
        <p:spPr>
          <a:xfrm>
            <a:off x="502920" y="4064508"/>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05</a:t>
            </a:r>
          </a:p>
        </p:txBody>
      </p:sp>
      <p:sp>
        <p:nvSpPr>
          <p:cNvPr id="16" name="Tile IR: a target composition"/>
          <p:cNvSpPr txBox="1"/>
          <p:nvPr/>
        </p:nvSpPr>
        <p:spPr>
          <a:xfrm>
            <a:off x="1060704" y="4041648"/>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Tile IR: a target composition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1 · Tracing JI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1 · Tracing JIT</a:t>
            </a:r>
          </a:p>
        </p:txBody>
      </p:sp>
      <p:sp>
        <p:nvSpPr>
          <p:cNvPr id="5" name="1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14</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User program"/>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User program</a:t>
            </a:r>
          </a:p>
        </p:txBody>
      </p:sp>
      <p:sp>
        <p:nvSpPr>
          <p:cNvPr id="10" name="import mlir.mlir_dsl as m"/>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import mlir.mlir_dsl as m</a:t>
            </a:r>
          </a:p>
        </p:txBody>
      </p:sp>
      <p:sp>
        <p:nvSpPr>
          <p:cNvPr id="11" name=""/>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2" name="@m.jit"/>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3" name="def scale(x: m.Int32, factor):"/>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scale(x: m.Int32, factor):</a:t>
            </a:r>
          </a:p>
        </p:txBody>
      </p:sp>
      <p:sp>
        <p:nvSpPr>
          <p:cNvPr id="14" name="    return x * factor"/>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 * factor</a:t>
            </a:r>
          </a:p>
        </p:txBody>
      </p:sp>
      <p:sp>
        <p:nvSpPr>
          <p:cNvPr id="15" name=""/>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6" name="int(scale(4, 3))  # 12"/>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int(scale(4, 3))  # 12</a:t>
            </a:r>
          </a:p>
        </p:txBody>
      </p:sp>
      <p:sp>
        <p:nvSpPr>
          <p:cNvPr id="17" name="Rectangle 16"/>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8" name="Rectangle 17"/>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19" name="Reference execution path"/>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Reference execution path</a:t>
            </a:r>
          </a:p>
        </p:txBody>
      </p:sp>
      <p:sp>
        <p:nvSpPr>
          <p:cNvPr id="20" name="Python call"/>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Python call</a:t>
            </a:r>
          </a:p>
        </p:txBody>
      </p:sp>
      <p:sp>
        <p:nvSpPr>
          <p:cNvPr id="21" name="    ↓"/>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t>
            </a:r>
          </a:p>
        </p:txBody>
      </p:sp>
      <p:sp>
        <p:nvSpPr>
          <p:cNvPr id="22" name="Trace func.func"/>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Trace func.func</a:t>
            </a:r>
          </a:p>
        </p:txBody>
      </p:sp>
      <p:sp>
        <p:nvSpPr>
          <p:cNvPr id="23" name="    ↓"/>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t>
            </a:r>
          </a:p>
        </p:txBody>
      </p:sp>
      <p:sp>
        <p:nvSpPr>
          <p:cNvPr id="24" name="Compile + cache"/>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Compile + cache</a:t>
            </a:r>
          </a:p>
        </p:txBody>
      </p:sp>
      <p:sp>
        <p:nvSpPr>
          <p:cNvPr id="25" name="    ↓"/>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t>
            </a:r>
          </a:p>
        </p:txBody>
      </p:sp>
      <p:sp>
        <p:nvSpPr>
          <p:cNvPr id="26" name="Invok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Invoke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2 · Python value or MLIR valu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2 · Python value or MLIR value?</a:t>
            </a:r>
          </a:p>
        </p:txBody>
      </p:sp>
      <p:sp>
        <p:nvSpPr>
          <p:cNvPr id="5" name="1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15</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Python"/>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a:t>
            </a:r>
          </a:p>
        </p:txBody>
      </p:sp>
      <p:sp>
        <p:nvSpPr>
          <p:cNvPr id="10"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1" name="def scale(x: m.Int32, factor):"/>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scale(x: m.Int32, factor):</a:t>
            </a:r>
          </a:p>
        </p:txBody>
      </p:sp>
      <p:sp>
        <p:nvSpPr>
          <p:cNvPr id="12" name="    assert m.is_mlir_op(x)"/>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assert m.is_mlir_op(x)</a:t>
            </a:r>
          </a:p>
        </p:txBody>
      </p:sp>
      <p:sp>
        <p:nvSpPr>
          <p:cNvPr id="13" name="    assert not m.is_mlir_op(factor)"/>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assert not m.is_mlir_op(factor)</a:t>
            </a:r>
          </a:p>
        </p:txBody>
      </p:sp>
      <p:sp>
        <p:nvSpPr>
          <p:cNvPr id="14" name="    return x * factor"/>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 * factor</a:t>
            </a:r>
          </a:p>
        </p:txBody>
      </p:sp>
      <p:sp>
        <p:nvSpPr>
          <p:cNvPr id="15" name=""/>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6" name="scale(4, 3)"/>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scale(4, 3)</a:t>
            </a:r>
          </a:p>
        </p:txBody>
      </p:sp>
      <p:sp>
        <p:nvSpPr>
          <p:cNvPr id="17" name="Rectangle 16"/>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8" name="Rectangle 17"/>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19" name="Generated MLIR · excerpt"/>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Generated MLIR · excerpt</a:t>
            </a:r>
          </a:p>
        </p:txBody>
      </p:sp>
      <p:sp>
        <p:nvSpPr>
          <p:cNvPr id="20" name="# At trace time"/>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At trace time</a:t>
            </a:r>
          </a:p>
        </p:txBody>
      </p:sp>
      <p:sp>
        <p:nvSpPr>
          <p:cNvPr id="21" name="factor == 3"/>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factor == 3</a:t>
            </a:r>
          </a:p>
        </p:txBody>
      </p:sp>
      <p:sp>
        <p:nvSpPr>
          <p:cNvPr id="22" name=""/>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3" name="# In the generated program"/>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In the generated program</a:t>
            </a:r>
          </a:p>
        </p:txBody>
      </p:sp>
      <p:sp>
        <p:nvSpPr>
          <p:cNvPr id="24" name="%x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%x : i32</a:t>
            </a:r>
          </a:p>
        </p:txBody>
      </p:sp>
      <p:sp>
        <p:nvSpPr>
          <p:cNvPr id="25" name="%c3 = arith.constant 3 : i32"/>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%c3 = arith.constant 3 : i32</a:t>
            </a:r>
          </a:p>
        </p:txBody>
      </p:sp>
      <p:sp>
        <p:nvSpPr>
          <p:cNvPr id="26" name="%r = arith.muli %x, %c3 : i32"/>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arith.muli %x, %c3 : i32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Python is the metaprogram"/>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Python is the metaprogram</a:t>
            </a:r>
          </a:p>
        </p:txBody>
      </p:sp>
      <p:sp>
        <p:nvSpPr>
          <p:cNvPr id="5" name="1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16</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Pytho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implementation excerpt</a:t>
            </a:r>
          </a:p>
        </p:txBody>
      </p:sp>
      <p:sp>
        <p:nvSpPr>
          <p:cNvPr id="10"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1" name="def affine(x: m.Int32, options):"/>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affine(x: m.Int32, options):</a:t>
            </a:r>
          </a:p>
        </p:txBody>
      </p:sp>
      <p:sp>
        <p:nvSpPr>
          <p:cNvPr id="12" name="    scale = options[&quot;scale&quo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scale = options["scale"]</a:t>
            </a:r>
          </a:p>
        </p:txBody>
      </p:sp>
      <p:sp>
        <p:nvSpPr>
          <p:cNvPr id="13" name="    bias = options[&quot;bias&quo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bias = options["bias"]</a:t>
            </a:r>
          </a:p>
        </p:txBody>
      </p:sp>
      <p:sp>
        <p:nvSpPr>
          <p:cNvPr id="14" name="    return x * scale + bias"/>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 * scale + bias</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options = {&quot;scale&quot;: 3, &quot;bias&quot;: 4}"/>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options = {"scale": 3, "bias": 4}</a:t>
            </a:r>
          </a:p>
        </p:txBody>
      </p:sp>
      <p:sp>
        <p:nvSpPr>
          <p:cNvPr id="17" name="affine(7, options)  # Int32(25)"/>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affine(7, options)  # Int32(25)</a:t>
            </a:r>
          </a:p>
        </p:txBody>
      </p:sp>
      <p:sp>
        <p:nvSpPr>
          <p:cNvPr id="18" name="Runs in Python"/>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Runs in Python</a:t>
            </a:r>
          </a:p>
        </p:txBody>
      </p:sp>
      <p:sp>
        <p:nvSpPr>
          <p:cNvPr id="19" name="Dictionary lookups"/>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Dictionary lookups</a:t>
            </a:r>
          </a:p>
        </p:txBody>
      </p:sp>
      <p:sp>
        <p:nvSpPr>
          <p:cNvPr id="20" name="Captured as MLI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Captured as MLIR</a:t>
            </a:r>
          </a:p>
        </p:txBody>
      </p:sp>
      <p:sp>
        <p:nvSpPr>
          <p:cNvPr id="21" name="Multiply + add"/>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Multiply + add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bjects + dictionaries → arithmetic"/>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Objects + dictionaries → arithmetic</a:t>
            </a:r>
          </a:p>
        </p:txBody>
      </p:sp>
      <p:sp>
        <p:nvSpPr>
          <p:cNvPr id="5" name="1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17</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No runtime dictionary or virtual dispatch."/>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No runtime dictionary or virtual dispatch.</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polymorphism"/>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polymorphism</a:t>
            </a:r>
          </a:p>
        </p:txBody>
      </p:sp>
      <p:sp>
        <p:nvSpPr>
          <p:cNvPr id="11" name="class Op:"/>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Op:</a:t>
            </a:r>
          </a:p>
        </p:txBody>
      </p:sp>
      <p:sp>
        <p:nvSpPr>
          <p:cNvPr id="12" name="    def apply(self, x):"/>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a:t>
            </a:r>
          </a:p>
        </p:txBody>
      </p:sp>
      <p:sp>
        <p:nvSpPr>
          <p:cNvPr id="13" name="        raise NotImplementedErro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raise NotImplementedError</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class AddN(Op):"/>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AddN(Op):</a:t>
            </a:r>
          </a:p>
        </p:txBody>
      </p:sp>
      <p:sp>
        <p:nvSpPr>
          <p:cNvPr id="16" name="    def __init__(self, n): self.n = n"/>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__init__(self, n): self.n = n</a:t>
            </a:r>
          </a:p>
        </p:txBody>
      </p:sp>
      <p:sp>
        <p:nvSpPr>
          <p:cNvPr id="17" name="    def apply(self, x): return x + self.n"/>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 return x + self.n</a:t>
            </a:r>
          </a:p>
        </p:txBody>
      </p:sp>
      <p:sp>
        <p:nvSpPr>
          <p:cNvPr id="18" name=""/>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9" name="class MulN(Op):"/>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MulN(Op):</a:t>
            </a:r>
          </a:p>
        </p:txBody>
      </p:sp>
      <p:sp>
        <p:nvSpPr>
          <p:cNvPr id="20" name="    def __init__(self, k): self.k = k"/>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__init__(self, k): self.k = k</a:t>
            </a:r>
          </a:p>
        </p:txBody>
      </p:sp>
      <p:sp>
        <p:nvSpPr>
          <p:cNvPr id="21" name="    def apply(self, x): return x * self.k"/>
          <p:cNvSpPr txBox="1"/>
          <p:nvPr/>
        </p:nvSpPr>
        <p:spPr>
          <a:xfrm>
            <a:off x="594360" y="3830319"/>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 return x * self.k</a:t>
            </a:r>
          </a:p>
        </p:txBody>
      </p:sp>
      <p:sp>
        <p:nvSpPr>
          <p:cNvPr id="22" name="Rectangle 21"/>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3" name="Rectangle 22"/>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4" name="Metaprogram"/>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Metaprogram</a:t>
            </a:r>
          </a:p>
        </p:txBody>
      </p:sp>
      <p:sp>
        <p:nvSpPr>
          <p:cNvPr id="25" name="@m.jit"/>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6" name="def pipeline(x: m.Int32, ops):"/>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pipeline(x: m.Int32, ops):</a:t>
            </a:r>
          </a:p>
        </p:txBody>
      </p:sp>
      <p:sp>
        <p:nvSpPr>
          <p:cNvPr id="27" name="    for op in ops.values():"/>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op in ops.values():</a:t>
            </a:r>
          </a:p>
        </p:txBody>
      </p:sp>
      <p:sp>
        <p:nvSpPr>
          <p:cNvPr id="28" name="        x = op.apply(x)"/>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op.apply(x)</a:t>
            </a:r>
          </a:p>
        </p:txBody>
      </p:sp>
      <p:sp>
        <p:nvSpPr>
          <p:cNvPr id="29" name="    return x"/>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a:t>
            </a:r>
          </a:p>
        </p:txBody>
      </p:sp>
      <p:sp>
        <p:nvSpPr>
          <p:cNvPr id="30"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1" name="ops = {&quot;shift&quot;: AddN(2), &quot;scale&quot;: MulN(3)}"/>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ops = {"shift": AddN(2), "scale": MulN(3)}</a:t>
            </a:r>
          </a:p>
        </p:txBody>
      </p:sp>
      <p:sp>
        <p:nvSpPr>
          <p:cNvPr id="32" name="pipeline(4, ops)  # 18"/>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pipeline(4, ops)  # 18</a:t>
            </a:r>
          </a:p>
        </p:txBody>
      </p:sp>
      <p:sp>
        <p:nvSpPr>
          <p:cNvPr id="33" name=""/>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4" name="# Captured: (x + 2) * 3"/>
          <p:cNvSpPr txBox="1"/>
          <p:nvPr/>
        </p:nvSpPr>
        <p:spPr>
          <a:xfrm>
            <a:off x="4818888" y="364662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Captured: (x + 2) * 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3 · Numeric types are core polic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3 · Numeric types are core policy</a:t>
            </a:r>
          </a:p>
        </p:txBody>
      </p:sp>
      <p:sp>
        <p:nvSpPr>
          <p:cNvPr id="5" name="1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18</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Family"/>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Family</a:t>
            </a:r>
          </a:p>
        </p:txBody>
      </p:sp>
      <p:sp>
        <p:nvSpPr>
          <p:cNvPr id="9" name="Types"/>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Types</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Integers"/>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Integers</a:t>
            </a:r>
          </a:p>
        </p:txBody>
      </p:sp>
      <p:sp>
        <p:nvSpPr>
          <p:cNvPr id="12" name="Int2–Int128 · Uint8–Uint128"/>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Int2–Int128 · Uint8–Uint128</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Floating point"/>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Floating point</a:t>
            </a:r>
          </a:p>
        </p:txBody>
      </p:sp>
      <p:sp>
        <p:nvSpPr>
          <p:cNvPr id="15" name="Float16/32/64 · BFloat16 · TFloat32"/>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Float16/32/64 · BFloat16 · TFloat32</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Narrow floats"/>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Narrow floats</a:t>
            </a:r>
          </a:p>
        </p:txBody>
      </p:sp>
      <p:sp>
        <p:nvSpPr>
          <p:cNvPr id="18" name="FP8 · FP6 · FP4 formats"/>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FP8 · FP6 · FP4 formats</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Boolean"/>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Boolean</a:t>
            </a:r>
          </a:p>
        </p:txBody>
      </p:sp>
      <p:sp>
        <p:nvSpPr>
          <p:cNvPr id="21" name="Boolean"/>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Boolean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Literal → promotion → cas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Literal → promotion → cast</a:t>
            </a:r>
          </a:p>
        </p:txBody>
      </p:sp>
      <p:sp>
        <p:nvSpPr>
          <p:cNvPr id="5" name="1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19</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Shown: TypeOps with arith"/>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Shown: TypeOps with arith</a:t>
            </a:r>
          </a:p>
        </p:txBody>
      </p:sp>
      <p:sp>
        <p:nvSpPr>
          <p:cNvPr id="8" name="Rectangle 7"/>
          <p:cNvSpPr/>
          <p:nvPr/>
        </p:nvSpPr>
        <p:spPr>
          <a:xfrm>
            <a:off x="484632" y="1380744"/>
            <a:ext cx="1371600" cy="347472"/>
          </a:xfrm>
          <a:prstGeom prst="rect">
            <a:avLst/>
          </a:prstGeom>
          <a:solidFill>
            <a:srgbClr val="F7F7F7"/>
          </a:solidFill>
          <a:ln>
            <a:noFill/>
          </a:ln>
          <a:effectLst/>
        </p:spPr>
        <p:txBody>
          <a:bodyPr rtlCol="0" anchor="ctr"/>
          <a:lstStyle/>
          <a:p>
            <a:pPr algn="ctr"/>
          </a:p>
        </p:txBody>
      </p:sp>
      <p:sp>
        <p:nvSpPr>
          <p:cNvPr id="9" name="Boolean · i1"/>
          <p:cNvSpPr txBox="1"/>
          <p:nvPr/>
        </p:nvSpPr>
        <p:spPr>
          <a:xfrm>
            <a:off x="548640" y="1463040"/>
            <a:ext cx="1243584"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Boolean · i1</a:t>
            </a:r>
          </a:p>
        </p:txBody>
      </p:sp>
      <p:sp>
        <p:nvSpPr>
          <p:cNvPr id="10" name="Rectangle 9"/>
          <p:cNvSpPr/>
          <p:nvPr/>
        </p:nvSpPr>
        <p:spPr>
          <a:xfrm>
            <a:off x="2002536" y="1380744"/>
            <a:ext cx="2103120" cy="347472"/>
          </a:xfrm>
          <a:prstGeom prst="rect">
            <a:avLst/>
          </a:prstGeom>
          <a:solidFill>
            <a:srgbClr val="F7F7F7"/>
          </a:solidFill>
          <a:ln>
            <a:noFill/>
          </a:ln>
          <a:effectLst/>
        </p:spPr>
        <p:txBody>
          <a:bodyPr rtlCol="0" anchor="ctr"/>
          <a:lstStyle/>
          <a:p>
            <a:pPr algn="ctr"/>
          </a:p>
        </p:txBody>
      </p:sp>
      <p:sp>
        <p:nvSpPr>
          <p:cNvPr id="11" name="Int2–128 / Uint8–128"/>
          <p:cNvSpPr txBox="1"/>
          <p:nvPr/>
        </p:nvSpPr>
        <p:spPr>
          <a:xfrm>
            <a:off x="2066543" y="1463040"/>
            <a:ext cx="1975103"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Int2–128 / Uint8–128</a:t>
            </a:r>
          </a:p>
        </p:txBody>
      </p:sp>
      <p:sp>
        <p:nvSpPr>
          <p:cNvPr id="12" name="Rectangle 11"/>
          <p:cNvSpPr/>
          <p:nvPr/>
        </p:nvSpPr>
        <p:spPr>
          <a:xfrm>
            <a:off x="4251960" y="1380744"/>
            <a:ext cx="2286000" cy="347472"/>
          </a:xfrm>
          <a:prstGeom prst="rect">
            <a:avLst/>
          </a:prstGeom>
          <a:solidFill>
            <a:srgbClr val="F7F7F7"/>
          </a:solidFill>
          <a:ln>
            <a:noFill/>
          </a:ln>
          <a:effectLst/>
        </p:spPr>
        <p:txBody>
          <a:bodyPr rtlCol="0" anchor="ctr"/>
          <a:lstStyle/>
          <a:p>
            <a:pPr algn="ctr"/>
          </a:p>
        </p:txBody>
      </p:sp>
      <p:sp>
        <p:nvSpPr>
          <p:cNvPr id="13" name="FP64/32/16 · BF16"/>
          <p:cNvSpPr txBox="1"/>
          <p:nvPr/>
        </p:nvSpPr>
        <p:spPr>
          <a:xfrm>
            <a:off x="4315968" y="1463040"/>
            <a:ext cx="2157984"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FP64/32/16 · BF16</a:t>
            </a:r>
          </a:p>
        </p:txBody>
      </p:sp>
      <p:sp>
        <p:nvSpPr>
          <p:cNvPr id="14" name="Rectangle 13"/>
          <p:cNvSpPr/>
          <p:nvPr/>
        </p:nvSpPr>
        <p:spPr>
          <a:xfrm>
            <a:off x="6684264" y="1380744"/>
            <a:ext cx="1975104" cy="347472"/>
          </a:xfrm>
          <a:prstGeom prst="rect">
            <a:avLst/>
          </a:prstGeom>
          <a:solidFill>
            <a:srgbClr val="F7F7F7"/>
          </a:solidFill>
          <a:ln>
            <a:noFill/>
          </a:ln>
          <a:effectLst/>
        </p:spPr>
        <p:txBody>
          <a:bodyPr rtlCol="0" anchor="ctr"/>
          <a:lstStyle/>
          <a:p>
            <a:pPr algn="ctr"/>
          </a:p>
        </p:txBody>
      </p:sp>
      <p:sp>
        <p:nvSpPr>
          <p:cNvPr id="15" name="FP8/6/4 · TF32"/>
          <p:cNvSpPr txBox="1"/>
          <p:nvPr/>
        </p:nvSpPr>
        <p:spPr>
          <a:xfrm>
            <a:off x="6748272" y="1463040"/>
            <a:ext cx="1847088"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FP8/6/4 · TF32</a:t>
            </a:r>
          </a:p>
        </p:txBody>
      </p:sp>
      <p:sp>
        <p:nvSpPr>
          <p:cNvPr id="16" name="Python or SSA value"/>
          <p:cNvSpPr txBox="1"/>
          <p:nvPr/>
        </p:nvSpPr>
        <p:spPr>
          <a:xfrm>
            <a:off x="75895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000000"/>
                </a:solidFill>
                <a:latin typeface="NVIDIA Sans"/>
              </a:rPr>
              <a:t>Python or SSA value</a:t>
            </a:r>
          </a:p>
        </p:txBody>
      </p:sp>
      <p:cxnSp>
        <p:nvCxnSpPr>
          <p:cNvPr id="17" name="Connector 16"/>
          <p:cNvCxnSpPr/>
          <p:nvPr/>
        </p:nvCxnSpPr>
        <p:spPr>
          <a:xfrm>
            <a:off x="2834640" y="2057400"/>
            <a:ext cx="58521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8" name="dtype + promotion"/>
          <p:cNvSpPr txBox="1"/>
          <p:nvPr/>
        </p:nvSpPr>
        <p:spPr>
          <a:xfrm>
            <a:off x="359359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416600"/>
                </a:solidFill>
                <a:latin typeface="NVIDIA Sans"/>
              </a:rPr>
              <a:t>dtype + promotion</a:t>
            </a:r>
          </a:p>
        </p:txBody>
      </p:sp>
      <p:cxnSp>
        <p:nvCxnSpPr>
          <p:cNvPr id="19" name="Connector 18"/>
          <p:cNvCxnSpPr/>
          <p:nvPr/>
        </p:nvCxnSpPr>
        <p:spPr>
          <a:xfrm>
            <a:off x="5669280" y="2057400"/>
            <a:ext cx="58521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type_ops plugin"/>
          <p:cNvSpPr txBox="1"/>
          <p:nvPr/>
        </p:nvSpPr>
        <p:spPr>
          <a:xfrm>
            <a:off x="642823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416600"/>
                </a:solidFill>
                <a:latin typeface="NVIDIA Sans"/>
              </a:rPr>
              <a:t>type_ops plugin</a:t>
            </a:r>
          </a:p>
        </p:txBody>
      </p:sp>
      <p:sp>
        <p:nvSpPr>
          <p:cNvPr id="21" name="Conversion"/>
          <p:cNvSpPr txBox="1"/>
          <p:nvPr/>
        </p:nvSpPr>
        <p:spPr>
          <a:xfrm>
            <a:off x="630936" y="2359152"/>
            <a:ext cx="1316736"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Conversion</a:t>
            </a:r>
          </a:p>
        </p:txBody>
      </p:sp>
      <p:sp>
        <p:nvSpPr>
          <p:cNvPr id="22" name="Python"/>
          <p:cNvSpPr txBox="1"/>
          <p:nvPr/>
        </p:nvSpPr>
        <p:spPr>
          <a:xfrm>
            <a:off x="2130552" y="2359152"/>
            <a:ext cx="3044952"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Python</a:t>
            </a:r>
          </a:p>
        </p:txBody>
      </p:sp>
      <p:sp>
        <p:nvSpPr>
          <p:cNvPr id="23" name="MLIR"/>
          <p:cNvSpPr txBox="1"/>
          <p:nvPr/>
        </p:nvSpPr>
        <p:spPr>
          <a:xfrm>
            <a:off x="5358384" y="2359152"/>
            <a:ext cx="3108960"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MLIR</a:t>
            </a:r>
          </a:p>
        </p:txBody>
      </p:sp>
      <p:sp>
        <p:nvSpPr>
          <p:cNvPr id="24" name="Rectangle 23"/>
          <p:cNvSpPr/>
          <p:nvPr/>
        </p:nvSpPr>
        <p:spPr>
          <a:xfrm>
            <a:off x="484632" y="2624328"/>
            <a:ext cx="8174736" cy="10972"/>
          </a:xfrm>
          <a:prstGeom prst="rect">
            <a:avLst/>
          </a:prstGeom>
          <a:solidFill>
            <a:srgbClr val="D5D5D5"/>
          </a:solidFill>
          <a:ln>
            <a:noFill/>
          </a:ln>
          <a:effectLst/>
        </p:spPr>
        <p:txBody>
          <a:bodyPr rtlCol="0" anchor="ctr"/>
          <a:lstStyle/>
          <a:p>
            <a:pPr algn="ctr"/>
          </a:p>
        </p:txBody>
      </p:sp>
      <p:sp>
        <p:nvSpPr>
          <p:cNvPr id="25" name="Capture"/>
          <p:cNvSpPr txBox="1"/>
          <p:nvPr/>
        </p:nvSpPr>
        <p:spPr>
          <a:xfrm>
            <a:off x="630936" y="2688336"/>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Capture</a:t>
            </a:r>
          </a:p>
        </p:txBody>
      </p:sp>
      <p:sp>
        <p:nvSpPr>
          <p:cNvPr id="26" name="m.Int32(7) → staged use"/>
          <p:cNvSpPr txBox="1"/>
          <p:nvPr/>
        </p:nvSpPr>
        <p:spPr>
          <a:xfrm>
            <a:off x="2130552" y="2688336"/>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m.Int32(7) → staged use</a:t>
            </a:r>
          </a:p>
        </p:txBody>
      </p:sp>
      <p:sp>
        <p:nvSpPr>
          <p:cNvPr id="27" name="arith.constant : i32"/>
          <p:cNvSpPr txBox="1"/>
          <p:nvPr/>
        </p:nvSpPr>
        <p:spPr>
          <a:xfrm>
            <a:off x="5358384" y="2688336"/>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arith.constant : i32</a:t>
            </a:r>
          </a:p>
        </p:txBody>
      </p:sp>
      <p:sp>
        <p:nvSpPr>
          <p:cNvPr id="28" name="Promote / upcast"/>
          <p:cNvSpPr txBox="1"/>
          <p:nvPr/>
        </p:nvSpPr>
        <p:spPr>
          <a:xfrm>
            <a:off x="630936" y="2955340"/>
            <a:ext cx="1316736" cy="256032"/>
          </a:xfrm>
          <a:prstGeom prst="rect">
            <a:avLst/>
          </a:prstGeom>
          <a:noFill/>
        </p:spPr>
        <p:txBody>
          <a:bodyPr wrap="none" anchor="t" lIns="0" rIns="0" tIns="0" bIns="0">
            <a:noAutofit/>
          </a:bodyPr>
          <a:lstStyle/>
          <a:p>
            <a:pPr algn="l">
              <a:lnSpc>
                <a:spcPts val="1421"/>
              </a:lnSpc>
              <a:spcBef>
                <a:spcPts val="0"/>
              </a:spcBef>
              <a:spcAft>
                <a:spcPts val="0"/>
              </a:spcAft>
            </a:pPr>
            <a:r>
              <a:rPr sz="1225" b="1">
                <a:solidFill>
                  <a:srgbClr val="416600"/>
                </a:solidFill>
                <a:latin typeface="NVIDIA Sans"/>
              </a:rPr>
              <a:t>Promote / upcast</a:t>
            </a:r>
          </a:p>
        </p:txBody>
      </p:sp>
      <p:sp>
        <p:nvSpPr>
          <p:cNvPr id="29" name="x32 + y64"/>
          <p:cNvSpPr txBox="1"/>
          <p:nvPr/>
        </p:nvSpPr>
        <p:spPr>
          <a:xfrm>
            <a:off x="2130552" y="295534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 + y64</a:t>
            </a:r>
          </a:p>
        </p:txBody>
      </p:sp>
      <p:sp>
        <p:nvSpPr>
          <p:cNvPr id="30" name="extsi → addi : i64"/>
          <p:cNvSpPr txBox="1"/>
          <p:nvPr/>
        </p:nvSpPr>
        <p:spPr>
          <a:xfrm>
            <a:off x="5358384" y="295534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extsi → addi : i64</a:t>
            </a:r>
          </a:p>
        </p:txBody>
      </p:sp>
      <p:sp>
        <p:nvSpPr>
          <p:cNvPr id="31" name="Downcast"/>
          <p:cNvSpPr txBox="1"/>
          <p:nvPr/>
        </p:nvSpPr>
        <p:spPr>
          <a:xfrm>
            <a:off x="630936" y="3222345"/>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Downcast</a:t>
            </a:r>
          </a:p>
        </p:txBody>
      </p:sp>
      <p:sp>
        <p:nvSpPr>
          <p:cNvPr id="32" name="y64.to(m.Int32)"/>
          <p:cNvSpPr txBox="1"/>
          <p:nvPr/>
        </p:nvSpPr>
        <p:spPr>
          <a:xfrm>
            <a:off x="2130552" y="3222345"/>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y64.to(m.Int32)</a:t>
            </a:r>
          </a:p>
        </p:txBody>
      </p:sp>
      <p:sp>
        <p:nvSpPr>
          <p:cNvPr id="33" name="arith.trunci"/>
          <p:cNvSpPr txBox="1"/>
          <p:nvPr/>
        </p:nvSpPr>
        <p:spPr>
          <a:xfrm>
            <a:off x="5358384" y="3222345"/>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arith.trunci</a:t>
            </a:r>
          </a:p>
        </p:txBody>
      </p:sp>
      <p:sp>
        <p:nvSpPr>
          <p:cNvPr id="34" name="Int → float"/>
          <p:cNvSpPr txBox="1"/>
          <p:nvPr/>
        </p:nvSpPr>
        <p:spPr>
          <a:xfrm>
            <a:off x="630936" y="3489350"/>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Int → float</a:t>
            </a:r>
          </a:p>
        </p:txBody>
      </p:sp>
      <p:sp>
        <p:nvSpPr>
          <p:cNvPr id="35" name="x32.to(m.Float32)"/>
          <p:cNvSpPr txBox="1"/>
          <p:nvPr/>
        </p:nvSpPr>
        <p:spPr>
          <a:xfrm>
            <a:off x="2130552" y="348935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x32.to(m.Float32)</a:t>
            </a:r>
          </a:p>
        </p:txBody>
      </p:sp>
      <p:sp>
        <p:nvSpPr>
          <p:cNvPr id="36" name="arith.sitofp"/>
          <p:cNvSpPr txBox="1"/>
          <p:nvPr/>
        </p:nvSpPr>
        <p:spPr>
          <a:xfrm>
            <a:off x="5358384" y="348935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arith.sitofp</a:t>
            </a:r>
          </a:p>
        </p:txBody>
      </p:sp>
      <p:sp>
        <p:nvSpPr>
          <p:cNvPr id="37" name="Float → int"/>
          <p:cNvSpPr txBox="1"/>
          <p:nvPr/>
        </p:nvSpPr>
        <p:spPr>
          <a:xfrm>
            <a:off x="630936" y="3756355"/>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Float → int</a:t>
            </a:r>
          </a:p>
        </p:txBody>
      </p:sp>
      <p:sp>
        <p:nvSpPr>
          <p:cNvPr id="38" name="f32.to(m.Int32)"/>
          <p:cNvSpPr txBox="1"/>
          <p:nvPr/>
        </p:nvSpPr>
        <p:spPr>
          <a:xfrm>
            <a:off x="2130552" y="3756355"/>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f32.to(m.Int32)</a:t>
            </a:r>
          </a:p>
        </p:txBody>
      </p:sp>
      <p:sp>
        <p:nvSpPr>
          <p:cNvPr id="39" name="arith.fptosi"/>
          <p:cNvSpPr txBox="1"/>
          <p:nvPr/>
        </p:nvSpPr>
        <p:spPr>
          <a:xfrm>
            <a:off x="5358384" y="3756355"/>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arith.fptosi</a:t>
            </a:r>
          </a:p>
        </p:txBody>
      </p:sp>
      <p:sp>
        <p:nvSpPr>
          <p:cNvPr id="40" name="Error"/>
          <p:cNvSpPr txBox="1"/>
          <p:nvPr/>
        </p:nvSpPr>
        <p:spPr>
          <a:xfrm>
            <a:off x="630936" y="4023360"/>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Error</a:t>
            </a:r>
          </a:p>
        </p:txBody>
      </p:sp>
      <p:sp>
        <p:nvSpPr>
          <p:cNvPr id="41" name="x32.to(int)"/>
          <p:cNvSpPr txBox="1"/>
          <p:nvPr/>
        </p:nvSpPr>
        <p:spPr>
          <a:xfrm>
            <a:off x="2130552" y="402336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x32.to(int)</a:t>
            </a:r>
          </a:p>
        </p:txBody>
      </p:sp>
      <p:sp>
        <p:nvSpPr>
          <p:cNvPr id="42" name="Runtime ≠ Python value"/>
          <p:cNvSpPr txBox="1"/>
          <p:nvPr/>
        </p:nvSpPr>
        <p:spPr>
          <a:xfrm>
            <a:off x="5358384" y="402336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Runtime ≠ Python value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he same dtype can target another dialec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The same dtype can target another dialect</a:t>
            </a:r>
          </a:p>
        </p:txBody>
      </p:sp>
      <p:sp>
        <p:nvSpPr>
          <p:cNvPr id="5" name="2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20</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Type-ops plugi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Type-ops plugin · implementation excerpt</a:t>
            </a:r>
          </a:p>
        </p:txBody>
      </p:sp>
      <p:sp>
        <p:nvSpPr>
          <p:cNvPr id="10" name="class TileTypes(TypeOps):"/>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TileTypes(TypeOps):</a:t>
            </a:r>
          </a:p>
        </p:txBody>
      </p:sp>
      <p:sp>
        <p:nvSpPr>
          <p:cNvPr id="11" name="    def mlir_type(self, dtyp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mlir_type(self, dtype):</a:t>
            </a:r>
          </a:p>
        </p:txBody>
      </p:sp>
      <p:sp>
        <p:nvSpPr>
          <p:cNvPr id="12" name="        return ir.RankedTensorType.ge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ir.RankedTensorType.get(</a:t>
            </a:r>
          </a:p>
        </p:txBody>
      </p:sp>
      <p:sp>
        <p:nvSpPr>
          <p:cNvPr id="13" name="            [], dtype.scalar_mlir_typ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 dtype.scalar_mlir_type)</a:t>
            </a:r>
          </a:p>
        </p:txBody>
      </p:sp>
      <p:sp>
        <p:nvSpPr>
          <p:cNvPr id="14" name=""/>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5" name="class TileLike(m.MlirTestDSL):"/>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TileLike(m.MlirTestDSL):</a:t>
            </a:r>
          </a:p>
        </p:txBody>
      </p:sp>
      <p:sp>
        <p:nvSpPr>
          <p:cNvPr id="16" name="    plugins = replac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replace(</a:t>
            </a:r>
          </a:p>
        </p:txBody>
      </p:sp>
      <p:sp>
        <p:nvSpPr>
          <p:cNvPr id="17" name="        m.MlirTestDSL.plugins,"/>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m.MlirTestDSL.plugins,</a:t>
            </a:r>
          </a:p>
        </p:txBody>
      </p:sp>
      <p:sp>
        <p:nvSpPr>
          <p:cNvPr id="18" name="        type_ops=TileTypes(scalars=arith))"/>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type_ops=TileTypes(scalars=arith))</a:t>
            </a:r>
          </a:p>
        </p:txBody>
      </p:sp>
      <p:sp>
        <p:nvSpPr>
          <p:cNvPr id="19" name="Same sourc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Same source</a:t>
            </a:r>
          </a:p>
        </p:txBody>
      </p:sp>
      <p:sp>
        <p:nvSpPr>
          <p:cNvPr id="20" name="m.Int32(6) + x"/>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m.Int32(6) + x</a:t>
            </a:r>
          </a:p>
        </p:txBody>
      </p:sp>
      <p:sp>
        <p:nvSpPr>
          <p:cNvPr id="21" name="Different IR type"/>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Different IR type</a:t>
            </a:r>
          </a:p>
        </p:txBody>
      </p:sp>
      <p:sp>
        <p:nvSpPr>
          <p:cNvPr id="22" name="i32 → tensor&lt;i32&gt;"/>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i32 → tensor&lt;i32&gt;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4 · Vectors, pointers, struct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4 · Vectors, pointers, structs</a:t>
            </a:r>
          </a:p>
        </p:txBody>
      </p:sp>
      <p:sp>
        <p:nvSpPr>
          <p:cNvPr id="5" name="2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21</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Value"/>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Value</a:t>
            </a:r>
          </a:p>
        </p:txBody>
      </p:sp>
      <p:sp>
        <p:nvSpPr>
          <p:cNvPr id="9" name="How it maps"/>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How it maps</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Vector"/>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Vector</a:t>
            </a:r>
          </a:p>
        </p:txBody>
      </p:sp>
      <p:sp>
        <p:nvSpPr>
          <p:cNvPr id="12" name="vector hooks: create · extract · reduce"/>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vector hooks: create · extract · reduce</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Pointer[T]"/>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Pointer[T]</a:t>
            </a:r>
          </a:p>
        </p:txBody>
      </p:sp>
      <p:sp>
        <p:nvSpPr>
          <p:cNvPr id="15" name="memory hooks: load · store · offset"/>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memory hooks: load · store · offset</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struct"/>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@struct</a:t>
            </a:r>
          </a:p>
        </p:txBody>
      </p:sp>
      <p:sp>
        <p:nvSpPr>
          <p:cNvPr id="18" name="Frozen record → flattened leaves"/>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Frozen record → flattened leaves</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Custom type"/>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Custom type</a:t>
            </a:r>
          </a:p>
        </p:txBody>
      </p:sp>
      <p:sp>
        <p:nvSpPr>
          <p:cNvPr id="21" name="register_leaf → your SSA value"/>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register_leaf → your SSA value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Records flatten into their field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Records flatten into their fields</a:t>
            </a:r>
          </a:p>
        </p:txBody>
      </p:sp>
      <p:sp>
        <p:nvSpPr>
          <p:cNvPr id="5" name="2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22</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Frozen record · no aggregate SSA typ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Frozen record · no aggregate SSA type</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Dialect-neutral record"/>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Dialect-neutral record</a:t>
            </a:r>
          </a:p>
        </p:txBody>
      </p:sp>
      <p:sp>
        <p:nvSpPr>
          <p:cNvPr id="11" name="@m.struc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@m.struct</a:t>
            </a:r>
          </a:p>
        </p:txBody>
      </p:sp>
      <p:sp>
        <p:nvSpPr>
          <p:cNvPr id="12" name="class Vec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Vec2:</a:t>
            </a:r>
          </a:p>
        </p:txBody>
      </p:sp>
      <p:sp>
        <p:nvSpPr>
          <p:cNvPr id="13" name="    x: m.Float32"/>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m.Float32</a:t>
            </a:r>
          </a:p>
        </p:txBody>
      </p:sp>
      <p:sp>
        <p:nvSpPr>
          <p:cNvPr id="14" name="    y: m.Float32"/>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y: m.Float32</a:t>
            </a:r>
          </a:p>
        </p:txBody>
      </p:sp>
      <p:sp>
        <p:nvSpPr>
          <p:cNvPr id="15" name=""/>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6" name="@m.jit"/>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7" name="def norm2(v: Vec2):"/>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norm2(v: Vec2):</a:t>
            </a:r>
          </a:p>
        </p:txBody>
      </p:sp>
      <p:sp>
        <p:nvSpPr>
          <p:cNvPr id="18" name="    return v.x*v.x + v.y*v.y"/>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v.x*v.x + v.y*v.y</a:t>
            </a:r>
          </a:p>
        </p:txBody>
      </p:sp>
      <p:sp>
        <p:nvSpPr>
          <p:cNvPr id="19" name="Rectangle 18"/>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0" name="Rectangle 19"/>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1" name="Two fields → two SSA arguments"/>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Two fields → two SSA arguments</a:t>
            </a:r>
          </a:p>
        </p:txBody>
      </p:sp>
      <p:sp>
        <p:nvSpPr>
          <p:cNvPr id="22" name="func.func @norm2("/>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func.func @norm2(</a:t>
            </a:r>
          </a:p>
        </p:txBody>
      </p:sp>
      <p:sp>
        <p:nvSpPr>
          <p:cNvPr id="23" name="    %x: f32, %y: f32) -&gt; f32 {"/>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f32, %y: f32) -&gt; f32 {</a:t>
            </a:r>
          </a:p>
        </p:txBody>
      </p:sp>
      <p:sp>
        <p:nvSpPr>
          <p:cNvPr id="24" name="  %a = arith.mulf %x, %x : f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 = arith.mulf %x, %x : f32</a:t>
            </a:r>
          </a:p>
        </p:txBody>
      </p:sp>
      <p:sp>
        <p:nvSpPr>
          <p:cNvPr id="25" name="  %b = arith.mulf %y, %y : f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 = arith.mulf %y, %y : f32</a:t>
            </a:r>
          </a:p>
        </p:txBody>
      </p:sp>
      <p:sp>
        <p:nvSpPr>
          <p:cNvPr id="26" name="  %r = arith.addf %a, %b : f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 = arith.addf %a, %b : f32</a:t>
            </a:r>
          </a:p>
        </p:txBody>
      </p:sp>
      <p:sp>
        <p:nvSpPr>
          <p:cNvPr id="27" name="  func.return %r : f32"/>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func.return %r : f32</a:t>
            </a:r>
          </a:p>
        </p:txBody>
      </p:sp>
      <p:sp>
        <p:nvSpPr>
          <p:cNvPr id="28"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
        <p:nvSpPr>
          <p:cNvPr id="29" name=""/>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0" name="// norm2(Vec2(x=3, y=4)) → 25"/>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norm2(Vec2(x=3, y=4)) → 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Extend values with mydialect.Tenso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Extend values with mydialect.Tensor</a:t>
            </a:r>
          </a:p>
        </p:txBody>
      </p:sp>
      <p:sp>
        <p:nvSpPr>
          <p:cNvPr id="5" name="2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23</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Custom leaf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Custom leaf · implementation excerpt</a:t>
            </a:r>
          </a:p>
        </p:txBody>
      </p:sp>
      <p:sp>
        <p:nvSpPr>
          <p:cNvPr id="10" name="@dataclass(frozen=True)"/>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84848"/>
                </a:solidFill>
                <a:latin typeface="JetBrains Mono"/>
              </a:rPr>
              <a:t>@dataclass(frozen=True)</a:t>
            </a:r>
          </a:p>
        </p:txBody>
      </p:sp>
      <p:sp>
        <p:nvSpPr>
          <p:cNvPr id="11" name="class Tenso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Tensor:</a:t>
            </a:r>
          </a:p>
        </p:txBody>
      </p:sp>
      <p:sp>
        <p:nvSpPr>
          <p:cNvPr id="12" name="    value: ir.Valu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value: ir.Value</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register_leaf("/>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register_leaf(</a:t>
            </a:r>
          </a:p>
        </p:txBody>
      </p:sp>
      <p:sp>
        <p:nvSpPr>
          <p:cNvPr id="15" name="    Tensor,"/>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Tensor,</a:t>
            </a:r>
          </a:p>
        </p:txBody>
      </p:sp>
      <p:sp>
        <p:nvSpPr>
          <p:cNvPr id="16" name="    ir_types=lambda t: [t.value.typ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ir_types=lambda t: [t.value.type],</a:t>
            </a:r>
          </a:p>
        </p:txBody>
      </p:sp>
      <p:sp>
        <p:nvSpPr>
          <p:cNvPr id="17" name="    ir_values=lambda t: [t.value],"/>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ir_values=lambda t: [t.value],</a:t>
            </a:r>
          </a:p>
        </p:txBody>
      </p:sp>
      <p:sp>
        <p:nvSpPr>
          <p:cNvPr id="18" name="    from_ir_values=lambda t, vs: Tensor(vs[0]),"/>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from_ir_values=lambda t, vs: Tensor(vs[0]),</a:t>
            </a:r>
          </a:p>
        </p:txBody>
      </p:sp>
      <p:sp>
        <p:nvSpPr>
          <p:cNvPr id="19" name=")"/>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t>
            </a:r>
          </a:p>
        </p:txBody>
      </p:sp>
      <p:sp>
        <p:nvSpPr>
          <p:cNvPr id="20" name="Keep a custom valu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Keep a custom value</a:t>
            </a:r>
          </a:p>
        </p:txBody>
      </p:sp>
      <p:sp>
        <p:nvSpPr>
          <p:cNvPr id="21" name="Own the Python wrapper"/>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Own the Python wrapper</a:t>
            </a:r>
          </a:p>
        </p:txBody>
      </p:sp>
      <p:sp>
        <p:nvSpPr>
          <p:cNvPr id="22" name="Cross DSL boundarie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Cross DSL boundaries</a:t>
            </a:r>
          </a:p>
        </p:txBody>
      </p:sp>
      <p:sp>
        <p:nvSpPr>
          <p:cNvPr id="23" name="Extract + rebuild SSA leave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Extract + rebuild SSA leaves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5 · Native control flow"/>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5 · Native control flow</a:t>
            </a:r>
          </a:p>
        </p:txBody>
      </p:sp>
      <p:sp>
        <p:nvSpPr>
          <p:cNvPr id="5" name="2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24</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Syntax capture and IR emission are separate choice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Syntax capture and IR emission are separate choices.</a:t>
            </a:r>
          </a:p>
        </p:txBody>
      </p:sp>
      <p:sp>
        <p:nvSpPr>
          <p:cNvPr id="8" name="Rectangle 7"/>
          <p:cNvSpPr/>
          <p:nvPr/>
        </p:nvSpPr>
        <p:spPr>
          <a:xfrm>
            <a:off x="484632" y="1655064"/>
            <a:ext cx="1872234" cy="1316736"/>
          </a:xfrm>
          <a:prstGeom prst="rect">
            <a:avLst/>
          </a:prstGeom>
          <a:solidFill>
            <a:srgbClr val="F7F7F7"/>
          </a:solidFill>
          <a:ln w="8890">
            <a:solidFill>
              <a:srgbClr val="D5D5D5"/>
            </a:solidFill>
          </a:ln>
          <a:effectLst/>
        </p:spPr>
        <p:txBody>
          <a:bodyPr rtlCol="0" anchor="ctr"/>
          <a:lstStyle/>
          <a:p>
            <a:pPr algn="ctr"/>
          </a:p>
        </p:txBody>
      </p:sp>
      <p:sp>
        <p:nvSpPr>
          <p:cNvPr id="9" name="Python"/>
          <p:cNvSpPr txBox="1"/>
          <p:nvPr/>
        </p:nvSpPr>
        <p:spPr>
          <a:xfrm>
            <a:off x="603504"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000000"/>
                </a:solidFill>
                <a:latin typeface="NVIDIA Sans"/>
              </a:rPr>
              <a:t>Python</a:t>
            </a:r>
          </a:p>
        </p:txBody>
      </p:sp>
      <p:sp>
        <p:nvSpPr>
          <p:cNvPr id="10" name="if · for · while"/>
          <p:cNvSpPr txBox="1"/>
          <p:nvPr/>
        </p:nvSpPr>
        <p:spPr>
          <a:xfrm>
            <a:off x="603504"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if · for · while</a:t>
            </a:r>
          </a:p>
        </p:txBody>
      </p:sp>
      <p:cxnSp>
        <p:nvCxnSpPr>
          <p:cNvPr id="11" name="Connector 10"/>
          <p:cNvCxnSpPr/>
          <p:nvPr/>
        </p:nvCxnSpPr>
        <p:spPr>
          <a:xfrm>
            <a:off x="2384297" y="2322576"/>
            <a:ext cx="173737"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585465" y="1655064"/>
            <a:ext cx="1872234" cy="1316736"/>
          </a:xfrm>
          <a:prstGeom prst="rect">
            <a:avLst/>
          </a:prstGeom>
          <a:solidFill>
            <a:srgbClr val="F0F6E6"/>
          </a:solidFill>
          <a:ln w="8890">
            <a:solidFill>
              <a:srgbClr val="D5D5D5"/>
            </a:solidFill>
          </a:ln>
          <a:effectLst/>
        </p:spPr>
        <p:txBody>
          <a:bodyPr rtlCol="0" anchor="ctr"/>
          <a:lstStyle/>
          <a:p>
            <a:pPr algn="ctr"/>
          </a:p>
        </p:txBody>
      </p:sp>
      <p:sp>
        <p:nvSpPr>
          <p:cNvPr id="13" name="AST plugin"/>
          <p:cNvSpPr txBox="1"/>
          <p:nvPr/>
        </p:nvSpPr>
        <p:spPr>
          <a:xfrm>
            <a:off x="2704337"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AST plugin</a:t>
            </a:r>
          </a:p>
        </p:txBody>
      </p:sp>
      <p:sp>
        <p:nvSpPr>
          <p:cNvPr id="14" name="Rewrite regions"/>
          <p:cNvSpPr txBox="1"/>
          <p:nvPr/>
        </p:nvSpPr>
        <p:spPr>
          <a:xfrm>
            <a:off x="2704337"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Rewrite regions</a:t>
            </a:r>
          </a:p>
        </p:txBody>
      </p:sp>
      <p:cxnSp>
        <p:nvCxnSpPr>
          <p:cNvPr id="15" name="Connector 14"/>
          <p:cNvCxnSpPr/>
          <p:nvPr/>
        </p:nvCxnSpPr>
        <p:spPr>
          <a:xfrm>
            <a:off x="4485132" y="2322576"/>
            <a:ext cx="17373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4686300" y="1655064"/>
            <a:ext cx="1872234" cy="1316736"/>
          </a:xfrm>
          <a:prstGeom prst="rect">
            <a:avLst/>
          </a:prstGeom>
          <a:solidFill>
            <a:srgbClr val="F7F7F7"/>
          </a:solidFill>
          <a:ln w="8890">
            <a:solidFill>
              <a:srgbClr val="D5D5D5"/>
            </a:solidFill>
          </a:ln>
          <a:effectLst/>
        </p:spPr>
        <p:txBody>
          <a:bodyPr rtlCol="0" anchor="ctr"/>
          <a:lstStyle/>
          <a:p>
            <a:pPr algn="ctr"/>
          </a:p>
        </p:txBody>
      </p:sp>
      <p:sp>
        <p:nvSpPr>
          <p:cNvPr id="17" name="Executors"/>
          <p:cNvSpPr txBox="1"/>
          <p:nvPr/>
        </p:nvSpPr>
        <p:spPr>
          <a:xfrm>
            <a:off x="4805172"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000000"/>
                </a:solidFill>
                <a:latin typeface="NVIDIA Sans"/>
              </a:rPr>
              <a:t>Executors</a:t>
            </a:r>
          </a:p>
        </p:txBody>
      </p:sp>
      <p:sp>
        <p:nvSpPr>
          <p:cNvPr id="18" name="Meta or staged?"/>
          <p:cNvSpPr txBox="1"/>
          <p:nvPr/>
        </p:nvSpPr>
        <p:spPr>
          <a:xfrm>
            <a:off x="4805172"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Meta or staged?</a:t>
            </a:r>
          </a:p>
        </p:txBody>
      </p:sp>
      <p:cxnSp>
        <p:nvCxnSpPr>
          <p:cNvPr id="19" name="Connector 18"/>
          <p:cNvCxnSpPr/>
          <p:nvPr/>
        </p:nvCxnSpPr>
        <p:spPr>
          <a:xfrm>
            <a:off x="6585966" y="2322576"/>
            <a:ext cx="173735"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787134" y="1655064"/>
            <a:ext cx="1872234" cy="1316736"/>
          </a:xfrm>
          <a:prstGeom prst="rect">
            <a:avLst/>
          </a:prstGeom>
          <a:solidFill>
            <a:srgbClr val="F0F6E6"/>
          </a:solidFill>
          <a:ln w="8890">
            <a:solidFill>
              <a:srgbClr val="D5D5D5"/>
            </a:solidFill>
          </a:ln>
          <a:effectLst/>
        </p:spPr>
        <p:txBody>
          <a:bodyPr rtlCol="0" anchor="ctr"/>
          <a:lstStyle/>
          <a:p>
            <a:pPr algn="ctr"/>
          </a:p>
        </p:txBody>
      </p:sp>
      <p:sp>
        <p:nvSpPr>
          <p:cNvPr id="21" name="Regions"/>
          <p:cNvSpPr txBox="1"/>
          <p:nvPr/>
        </p:nvSpPr>
        <p:spPr>
          <a:xfrm>
            <a:off x="6906006"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Regions</a:t>
            </a:r>
          </a:p>
        </p:txBody>
      </p:sp>
      <p:sp>
        <p:nvSpPr>
          <p:cNvPr id="22" name="scf · your dialect"/>
          <p:cNvSpPr txBox="1"/>
          <p:nvPr/>
        </p:nvSpPr>
        <p:spPr>
          <a:xfrm>
            <a:off x="6906006"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scf · your dialect</a:t>
            </a:r>
          </a:p>
        </p:txBody>
      </p:sp>
      <p:sp>
        <p:nvSpPr>
          <p:cNvPr id="23" name="Rectangle 22"/>
          <p:cNvSpPr/>
          <p:nvPr/>
        </p:nvSpPr>
        <p:spPr>
          <a:xfrm>
            <a:off x="2585465" y="3236976"/>
            <a:ext cx="6073902" cy="41148"/>
          </a:xfrm>
          <a:prstGeom prst="rect">
            <a:avLst/>
          </a:prstGeom>
          <a:solidFill>
            <a:srgbClr val="76B900"/>
          </a:solidFill>
          <a:ln>
            <a:noFill/>
          </a:ln>
          <a:effectLst/>
        </p:spPr>
        <p:txBody>
          <a:bodyPr rtlCol="0" anchor="ctr"/>
          <a:lstStyle/>
          <a:p>
            <a:pPr algn="ctr"/>
          </a:p>
        </p:txBody>
      </p:sp>
      <p:sp>
        <p:nvSpPr>
          <p:cNvPr id="24" name="ASTPreprocessorPlugin"/>
          <p:cNvSpPr txBox="1"/>
          <p:nvPr/>
        </p:nvSpPr>
        <p:spPr>
          <a:xfrm>
            <a:off x="2617470" y="3429000"/>
            <a:ext cx="6009894" cy="448056"/>
          </a:xfrm>
          <a:prstGeom prst="rect">
            <a:avLst/>
          </a:prstGeom>
          <a:noFill/>
        </p:spPr>
        <p:txBody>
          <a:bodyPr wrap="none" anchor="t" lIns="0" rIns="0" tIns="0" bIns="0">
            <a:noAutofit/>
          </a:bodyPr>
          <a:lstStyle/>
          <a:p>
            <a:pPr algn="ctr">
              <a:lnSpc>
                <a:spcPts val="1368"/>
              </a:lnSpc>
              <a:spcBef>
                <a:spcPts val="0"/>
              </a:spcBef>
              <a:spcAft>
                <a:spcPts val="0"/>
              </a:spcAft>
            </a:pPr>
            <a:r>
              <a:rPr sz="1180" b="1">
                <a:solidFill>
                  <a:srgbClr val="416600"/>
                </a:solidFill>
                <a:latin typeface="NVIDIA Sans"/>
              </a:rPr>
              <a:t>ASTPreprocessorPlugin</a:t>
            </a:r>
          </a:p>
        </p:txBody>
      </p:sp>
      <p:sp>
        <p:nvSpPr>
          <p:cNvPr id="25" name="scf / your dialect"/>
          <p:cNvSpPr txBox="1"/>
          <p:nvPr/>
        </p:nvSpPr>
        <p:spPr>
          <a:xfrm>
            <a:off x="530352" y="3931920"/>
            <a:ext cx="8083296" cy="265176"/>
          </a:xfrm>
          <a:prstGeom prst="rect">
            <a:avLst/>
          </a:prstGeom>
          <a:noFill/>
        </p:spPr>
        <p:txBody>
          <a:bodyPr wrap="none" anchor="t" lIns="0" rIns="0" tIns="0" bIns="0">
            <a:noAutofit/>
          </a:bodyPr>
          <a:lstStyle/>
          <a:p>
            <a:pPr algn="ctr">
              <a:lnSpc>
                <a:spcPts val="1391"/>
              </a:lnSpc>
              <a:spcBef>
                <a:spcPts val="0"/>
              </a:spcBef>
              <a:spcAft>
                <a:spcPts val="0"/>
              </a:spcAft>
            </a:pPr>
            <a:r>
              <a:rPr sz="1200" b="0">
                <a:solidFill>
                  <a:srgbClr val="616161"/>
                </a:solidFill>
                <a:latin typeface="NVIDIA Sans"/>
              </a:rPr>
              <a:t>scf / your dialect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ssigned name → iter_ar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Assigned name → iter_arg</a:t>
            </a:r>
          </a:p>
        </p:txBody>
      </p:sp>
      <p:sp>
        <p:nvSpPr>
          <p:cNvPr id="5" name="2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25</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Flatten → build region → yield → rebuil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Flatten → build region → yield → rebuild</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 find the carry"/>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find the carry</a:t>
            </a:r>
          </a:p>
        </p:txBody>
      </p:sp>
      <p:sp>
        <p:nvSpPr>
          <p:cNvPr id="11" name="acc = m.Int32(0)"/>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acc = m.Int32(0)</a:t>
            </a:r>
          </a:p>
        </p:txBody>
      </p:sp>
      <p:sp>
        <p:nvSpPr>
          <p:cNvPr id="12" name="for i in range(n):"/>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for i in range(n):</a:t>
            </a:r>
          </a:p>
        </p:txBody>
      </p:sp>
      <p:sp>
        <p:nvSpPr>
          <p:cNvPr id="13" name="    acc = acc + i"/>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acc + i</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 Defined outside: acc"/>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Defined outside: acc</a:t>
            </a:r>
          </a:p>
        </p:txBody>
      </p:sp>
      <p:sp>
        <p:nvSpPr>
          <p:cNvPr id="16" name="# Written inside: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Written inside:  acc</a:t>
            </a:r>
          </a:p>
        </p:txBody>
      </p:sp>
      <p:sp>
        <p:nvSpPr>
          <p:cNvPr id="17" name="# write_args_names = [&quot;acc&quot;]"/>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write_args_names = ["acc"]</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MLIR · thread the SSA value"/>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 thread the SSA value</a:t>
            </a:r>
          </a:p>
        </p:txBody>
      </p:sp>
      <p:sp>
        <p:nvSpPr>
          <p:cNvPr id="21" name="%sum = scf.for %i = %c0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scf.for %i = %c0 to %n</a:t>
            </a:r>
          </a:p>
        </p:txBody>
      </p:sp>
      <p:sp>
        <p:nvSpPr>
          <p:cNvPr id="22" name="    step %c1 iter_args(%acc = %zero)"/>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step %c1 iter_args(%acc = %zero)</a:t>
            </a:r>
          </a:p>
        </p:txBody>
      </p:sp>
      <p:sp>
        <p:nvSpPr>
          <p:cNvPr id="23" name="    -&gt; (i32) : i32 {"/>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(i32) : i32 {</a:t>
            </a:r>
          </a:p>
        </p:txBody>
      </p:sp>
      <p:sp>
        <p:nvSpPr>
          <p:cNvPr id="24" name="  %next = arith.addi %acc, %i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arith.addi %acc, %i : i32</a:t>
            </a:r>
          </a:p>
        </p:txBody>
      </p:sp>
      <p:sp>
        <p:nvSpPr>
          <p:cNvPr id="25" name="  scf.yield %next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scf.yield %next : i32</a:t>
            </a:r>
          </a:p>
        </p:txBody>
      </p:sp>
      <p:sp>
        <p:nvSpPr>
          <p:cNvPr id="26"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apture has an explicit boundar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Capture has an explicit boundary</a:t>
            </a:r>
          </a:p>
        </p:txBody>
      </p:sp>
      <p:sp>
        <p:nvSpPr>
          <p:cNvPr id="5" name="2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26</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Python / Meta"/>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Python / Meta</a:t>
            </a:r>
          </a:p>
        </p:txBody>
      </p:sp>
      <p:sp>
        <p:nvSpPr>
          <p:cNvPr id="9" name="Staged"/>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Staged</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if / for / while"/>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if / for / while</a:t>
            </a:r>
          </a:p>
        </p:txBody>
      </p:sp>
      <p:sp>
        <p:nvSpPr>
          <p:cNvPr id="12" name="scf.if / scf.for / scf.while"/>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scf.if / scf.for / scf.while</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Known early exit"/>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Known early exit</a:t>
            </a:r>
          </a:p>
        </p:txBody>
      </p:sp>
      <p:sp>
        <p:nvSpPr>
          <p:cNvPr id="15" name="Python executes it"/>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Python executes it</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Data-dependent early exit"/>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Data-dependent early exit</a:t>
            </a:r>
          </a:p>
        </p:txBody>
      </p:sp>
      <p:sp>
        <p:nvSpPr>
          <p:cNvPr id="18" name="UNSUP_EARLY_EXIT"/>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UNSUP_EARLY_EXIT</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Frozen dataclass"/>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Frozen dataclass</a:t>
            </a:r>
          </a:p>
        </p:txBody>
      </p:sp>
      <p:sp>
        <p:nvSpPr>
          <p:cNvPr id="21" name="Flatten + rebuild leaves"/>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 + rebuild leaves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Replace capture through one rol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Replace capture through one role</a:t>
            </a:r>
          </a:p>
        </p:txBody>
      </p:sp>
      <p:sp>
        <p:nvSpPr>
          <p:cNvPr id="5" name="2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27</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AST plugi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AST plugin · implementation excerpt</a:t>
            </a:r>
          </a:p>
        </p:txBody>
      </p:sp>
      <p:sp>
        <p:nvSpPr>
          <p:cNvPr id="10" name="class MyAST(scf.ASTPreprocessor):"/>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MyAST(scf.ASTPreprocessor):</a:t>
            </a:r>
          </a:p>
        </p:txBody>
      </p:sp>
      <p:sp>
        <p:nvSpPr>
          <p:cNvPr id="11" name="    def executors(self, dsl):"/>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executors(self, dsl):</a:t>
            </a:r>
          </a:p>
        </p:txBody>
      </p:sp>
      <p:sp>
        <p:nvSpPr>
          <p:cNvPr id="12" name="        hooks = super().executors(dsl)"/>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hooks = super().executors(dsl)</a:t>
            </a:r>
          </a:p>
        </p:txBody>
      </p:sp>
      <p:sp>
        <p:nvSpPr>
          <p:cNvPr id="13" name="        hooks[&quot;loop_execute_range_dynamic&quot;] = ("/>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hooks["loop_execute_range_dynamic"] = (</a:t>
            </a:r>
          </a:p>
        </p:txBody>
      </p:sp>
      <p:sp>
        <p:nvSpPr>
          <p:cNvPr id="14" name="            my_loop_executor)"/>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my_loop_executor)</a:t>
            </a:r>
          </a:p>
        </p:txBody>
      </p:sp>
      <p:sp>
        <p:nvSpPr>
          <p:cNvPr id="15" name="        return hooks"/>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hooks</a:t>
            </a:r>
          </a:p>
        </p:txBody>
      </p:sp>
      <p:sp>
        <p:nvSpPr>
          <p:cNvPr id="16" nam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7" name="# In the Plugins record:"/>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In the Plugins record:</a:t>
            </a:r>
          </a:p>
        </p:txBody>
      </p:sp>
      <p:sp>
        <p:nvSpPr>
          <p:cNvPr id="18" name="ast_preprocessor=MyAST()"/>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ast_preprocessor=MyAST()</a:t>
            </a:r>
          </a:p>
        </p:txBody>
      </p:sp>
      <p:sp>
        <p:nvSpPr>
          <p:cNvPr id="19" name="Reuse the rewrit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Reuse the rewrite</a:t>
            </a:r>
          </a:p>
        </p:txBody>
      </p:sp>
      <p:sp>
        <p:nvSpPr>
          <p:cNvPr id="20" name="Replace a region builder"/>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Replace a region builder</a:t>
            </a:r>
          </a:p>
        </p:txBody>
      </p:sp>
      <p:sp>
        <p:nvSpPr>
          <p:cNvPr id="21" name="Or replace both"/>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Or replace both</a:t>
            </a:r>
          </a:p>
        </p:txBody>
      </p:sp>
      <p:sp>
        <p:nvSpPr>
          <p:cNvPr id="22" name="preprocessor_class + executor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preprocessor_class + executors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6 · Explicit builder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6 · Explicit builders</a:t>
            </a:r>
          </a:p>
        </p:txBody>
      </p:sp>
      <p:sp>
        <p:nvSpPr>
          <p:cNvPr id="5" name="2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28</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Pytho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implementation excerpt</a:t>
            </a:r>
          </a:p>
        </p:txBody>
      </p:sp>
      <p:sp>
        <p:nvSpPr>
          <p:cNvPr id="10" name="@m.jit(preprocess=False)"/>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@m.jit(preprocess=False)</a:t>
            </a:r>
          </a:p>
        </p:txBody>
      </p:sp>
      <p:sp>
        <p:nvSpPr>
          <p:cNvPr id="11" name="def sum_squares(n: m.In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sum_squares(n: m.Int32):</a:t>
            </a:r>
          </a:p>
        </p:txBody>
      </p:sp>
      <p:sp>
        <p:nvSpPr>
          <p:cNvPr id="12" name="    for i, acc, result in m.for_("/>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for i, acc, result in m.for_(</a:t>
            </a:r>
          </a:p>
        </p:txBody>
      </p:sp>
      <p:sp>
        <p:nvSpPr>
          <p:cNvPr id="13" name="            0, n, 1, [m.Int32(0)]):"/>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0, n, 1, [m.Int32(0)]):</a:t>
            </a:r>
          </a:p>
        </p:txBody>
      </p:sp>
      <p:sp>
        <p:nvSpPr>
          <p:cNvPr id="14" name="        m.yield_(acc + i * i)"/>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m.yield_(acc + i * i)</a:t>
            </a:r>
          </a:p>
        </p:txBody>
      </p:sp>
      <p:sp>
        <p:nvSpPr>
          <p:cNvPr id="15" name="    return result"/>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result</a:t>
            </a:r>
          </a:p>
        </p:txBody>
      </p:sp>
      <p:sp>
        <p:nvSpPr>
          <p:cNvPr id="16" name="No syntax rewrit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No syntax rewrite</a:t>
            </a:r>
          </a:p>
        </p:txBody>
      </p:sp>
      <p:sp>
        <p:nvSpPr>
          <p:cNvPr id="17" name="Build regions directly"/>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Build regions directly</a:t>
            </a:r>
          </a:p>
        </p:txBody>
      </p:sp>
      <p:sp>
        <p:nvSpPr>
          <p:cNvPr id="18" name="Same building block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Same building blocks</a:t>
            </a:r>
          </a:p>
        </p:txBody>
      </p:sp>
      <p:sp>
        <p:nvSpPr>
          <p:cNvPr id="19" name="for_ · if_ · while_ · yield_"/>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for_ · if_ · while_ · yield_</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7 · Bring host values to the DS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7 · Bring host values to the DSL</a:t>
            </a:r>
          </a:p>
        </p:txBody>
      </p:sp>
      <p:sp>
        <p:nvSpPr>
          <p:cNvPr id="5" name="2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29</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8" name="Host objects"/>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Host objects</a:t>
            </a:r>
          </a:p>
        </p:txBody>
      </p:sp>
      <p:sp>
        <p:nvSpPr>
          <p:cNvPr id="9" name="NumPy · records / PyTorch · DLPack"/>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NumPy · records</a:t>
            </a:r>
          </a:p>
          <a:p>
            <a:pPr algn="l">
              <a:lnSpc>
                <a:spcPts val="1334"/>
              </a:lnSpc>
              <a:spcBef>
                <a:spcPts val="0"/>
              </a:spcBef>
              <a:spcAft>
                <a:spcPts val="0"/>
              </a:spcAft>
            </a:pPr>
            <a:r>
              <a:rPr sz="1150" b="0">
                <a:solidFill>
                  <a:srgbClr val="616161"/>
                </a:solidFill>
                <a:latin typeface="NVIDIA Sans"/>
              </a:rPr>
              <a:t>PyTorch · DLPack</a:t>
            </a:r>
          </a:p>
        </p:txBody>
      </p:sp>
      <p:cxnSp>
        <p:nvCxnSpPr>
          <p:cNvPr id="10" name="Connector 9"/>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2" name="Adapters"/>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Adapters</a:t>
            </a:r>
          </a:p>
        </p:txBody>
      </p:sp>
      <p:sp>
        <p:nvSpPr>
          <p:cNvPr id="13" name="Select + flatten"/>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Select + flatten</a:t>
            </a:r>
          </a:p>
        </p:txBody>
      </p:sp>
      <p:cxnSp>
        <p:nvCxnSpPr>
          <p:cNvPr id="14" name="Connector 13"/>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6" name="DSL leaves"/>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DSL leaves</a:t>
            </a:r>
          </a:p>
        </p:txBody>
      </p:sp>
      <p:sp>
        <p:nvSpPr>
          <p:cNvPr id="17" name="Pointer[T] / Typed scalars"/>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Pointer[T]</a:t>
            </a:r>
          </a:p>
          <a:p>
            <a:pPr algn="l">
              <a:lnSpc>
                <a:spcPts val="1334"/>
              </a:lnSpc>
              <a:spcBef>
                <a:spcPts val="0"/>
              </a:spcBef>
              <a:spcAft>
                <a:spcPts val="0"/>
              </a:spcAft>
            </a:pPr>
            <a:r>
              <a:rPr sz="1150" b="0">
                <a:solidFill>
                  <a:srgbClr val="616161"/>
                </a:solidFill>
                <a:latin typeface="NVIDIA Sans"/>
              </a:rPr>
              <a:t>Typed scalars</a:t>
            </a:r>
          </a:p>
        </p:txBody>
      </p:sp>
      <p:cxnSp>
        <p:nvCxnSpPr>
          <p:cNvPr id="18" name="Connector 17"/>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0" name="Compiled call"/>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Compiled call</a:t>
            </a:r>
          </a:p>
        </p:txBody>
      </p:sp>
      <p:sp>
        <p:nvSpPr>
          <p:cNvPr id="21" name="Packed arguments"/>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Packed arguments</a:t>
            </a:r>
          </a:p>
        </p:txBody>
      </p:sp>
      <p:sp>
        <p:nvSpPr>
          <p:cNvPr id="22" name="Pointer ABI: contiguous buffers · dimensions passed separately"/>
          <p:cNvSpPr txBox="1"/>
          <p:nvPr/>
        </p:nvSpPr>
        <p:spPr>
          <a:xfrm>
            <a:off x="457200" y="3822191"/>
            <a:ext cx="8229600" cy="320040"/>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Pointer ABI: contiguous buffers · dimensions passed separately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dapters work in both direction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Adapters work in both directions</a:t>
            </a:r>
          </a:p>
        </p:txBody>
      </p:sp>
      <p:sp>
        <p:nvSpPr>
          <p:cNvPr id="5" name="3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30</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8" name="Inputs"/>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Inputs</a:t>
            </a:r>
          </a:p>
        </p:txBody>
      </p:sp>
      <p:sp>
        <p:nvSpPr>
          <p:cNvPr id="9" name="Tensor → Pointer"/>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Tensor → Pointer</a:t>
            </a:r>
          </a:p>
        </p:txBody>
      </p:sp>
      <p:cxnSp>
        <p:nvCxnSpPr>
          <p:cNvPr id="10" name="Connector 9"/>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2" name="Traced module"/>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Traced module</a:t>
            </a:r>
          </a:p>
        </p:txBody>
      </p:sp>
      <p:sp>
        <p:nvSpPr>
          <p:cNvPr id="13" name="Add ABI wrapper"/>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Add ABI wrapper</a:t>
            </a:r>
          </a:p>
        </p:txBody>
      </p:sp>
      <p:cxnSp>
        <p:nvCxnSpPr>
          <p:cNvPr id="14" name="Connector 13"/>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6" name="Lowering"/>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Lowering</a:t>
            </a:r>
          </a:p>
        </p:txBody>
      </p:sp>
      <p:sp>
        <p:nvSpPr>
          <p:cNvPr id="17" name="Finalize the ABI"/>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Finalize the ABI</a:t>
            </a:r>
          </a:p>
        </p:txBody>
      </p:sp>
      <p:cxnSp>
        <p:nvCxnSpPr>
          <p:cNvPr id="18" name="Connector 17"/>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0" name="Outputs"/>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Outputs</a:t>
            </a:r>
          </a:p>
        </p:txBody>
      </p:sp>
      <p:sp>
        <p:nvSpPr>
          <p:cNvPr id="21" name="TVM-FFI callable"/>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TVM-FFI callable</a:t>
            </a:r>
          </a:p>
        </p:txBody>
      </p:sp>
      <p:sp>
        <p:nvSpPr>
          <p:cNvPr id="22" name="AdapterPlugin · register / attach / after_lowering / wrap"/>
          <p:cNvSpPr txBox="1"/>
          <p:nvPr/>
        </p:nvSpPr>
        <p:spPr>
          <a:xfrm>
            <a:off x="457200" y="3822191"/>
            <a:ext cx="8229600" cy="320040"/>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AdapterPlugin · register / attach / after_lowering / wrap</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8 · @kernel comes from a decorator plugi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8 · @kernel comes from a decorator plugin</a:t>
            </a:r>
          </a:p>
        </p:txBody>
      </p:sp>
      <p:sp>
        <p:nvSpPr>
          <p:cNvPr id="5" name="3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31</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GPU plugin + kernel ·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GPU plugin + kernel · excerpt</a:t>
            </a:r>
          </a:p>
        </p:txBody>
      </p:sp>
      <p:sp>
        <p:nvSpPr>
          <p:cNvPr id="10" name="plugins = Plugins("/>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plugins = Plugins(</a:t>
            </a:r>
          </a:p>
        </p:txBody>
      </p:sp>
      <p:sp>
        <p:nvSpPr>
          <p:cNvPr id="11" name="    # ... selected roles ..."/>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 ... selected roles ...</a:t>
            </a:r>
          </a:p>
        </p:txBody>
      </p:sp>
      <p:sp>
        <p:nvSpPr>
          <p:cNvPr id="12" name="    decorators=[gpu.Kernels("/>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decorators=[gpu.Kernels(</a:t>
            </a:r>
          </a:p>
        </p:txBody>
      </p:sp>
      <p:sp>
        <p:nvSpPr>
          <p:cNvPr id="13" name="        chip_option=&quot;cubin-chip&quo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chip_option="cubin-chip")],</a:t>
            </a:r>
          </a:p>
        </p:txBody>
      </p:sp>
      <p:sp>
        <p:nvSpPr>
          <p:cNvPr id="14" name=")"/>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m.kernel"/>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@m.kernel</a:t>
            </a:r>
          </a:p>
        </p:txBody>
      </p:sp>
      <p:sp>
        <p:nvSpPr>
          <p:cNvPr id="17" name="def add_one(p: m.Pointer[m.Float32]):"/>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add_one(p: m.Pointer[m.Float32]):</a:t>
            </a:r>
          </a:p>
        </p:txBody>
      </p:sp>
      <p:sp>
        <p:nvSpPr>
          <p:cNvPr id="18" name="    i = m.thread_idx()[0]"/>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 = m.thread_idx()[0]</a:t>
            </a:r>
          </a:p>
        </p:txBody>
      </p:sp>
      <p:sp>
        <p:nvSpPr>
          <p:cNvPr id="19" name="    p[i] = p[i] + 1.0"/>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p[i] = p[i] + 1.0</a:t>
            </a:r>
          </a:p>
        </p:txBody>
      </p:sp>
      <p:sp>
        <p:nvSpPr>
          <p:cNvPr id="20" name="Core decorator"/>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Core decorator</a:t>
            </a:r>
          </a:p>
        </p:txBody>
      </p:sp>
      <p:sp>
        <p:nvSpPr>
          <p:cNvPr id="21" name="@jit"/>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@jit</a:t>
            </a:r>
          </a:p>
        </p:txBody>
      </p:sp>
      <p:sp>
        <p:nvSpPr>
          <p:cNvPr id="22" name="Decorator family"/>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Decorator family</a:t>
            </a:r>
          </a:p>
        </p:txBody>
      </p:sp>
      <p:sp>
        <p:nvSpPr>
          <p:cNvPr id="23" name="Adds @kernel + launcher"/>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Adds @kernel + launcher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Launch is an explicit operatio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Launch is an explicit operation</a:t>
            </a:r>
          </a:p>
        </p:txBody>
      </p:sp>
      <p:sp>
        <p:nvSpPr>
          <p:cNvPr id="5" name="3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32</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Pytho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implementation excerpt</a:t>
            </a:r>
          </a:p>
        </p:txBody>
      </p:sp>
      <p:sp>
        <p:nvSpPr>
          <p:cNvPr id="10"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1" name="def run(p: m.Pointer[m.Floa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run(p: m.Pointer[m.Float32]):</a:t>
            </a:r>
          </a:p>
        </p:txBody>
      </p:sp>
      <p:sp>
        <p:nvSpPr>
          <p:cNvPr id="12" name="    add_one(p).launch("/>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add_one(p).launch(</a:t>
            </a:r>
          </a:p>
        </p:txBody>
      </p:sp>
      <p:sp>
        <p:nvSpPr>
          <p:cNvPr id="13" name="        m.LaunchConfig("/>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m.LaunchConfig(</a:t>
            </a:r>
          </a:p>
        </p:txBody>
      </p:sp>
      <p:sp>
        <p:nvSpPr>
          <p:cNvPr id="14" name="            grid=[1], block=[32]))"/>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grid=[1], block=[32]))</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Caller owns a 32-element CUDA buffer."/>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Caller owns a 32-element CUDA buffer.</a:t>
            </a:r>
          </a:p>
        </p:txBody>
      </p:sp>
      <p:sp>
        <p:nvSpPr>
          <p:cNvPr id="17" name="run(device_tensor)"/>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run(device_tensor)</a:t>
            </a:r>
          </a:p>
        </p:txBody>
      </p:sp>
      <p:sp>
        <p:nvSpPr>
          <p:cNvPr id="18" name="Prepare → launch"/>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Prepare → launch</a:t>
            </a:r>
          </a:p>
        </p:txBody>
      </p:sp>
      <p:sp>
        <p:nvSpPr>
          <p:cNvPr id="19" name="gpu.func → gpu.launch_func"/>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gpu.func → gpu.launch_func</a:t>
            </a:r>
          </a:p>
        </p:txBody>
      </p:sp>
      <p:sp>
        <p:nvSpPr>
          <p:cNvPr id="20" name="Guard + validate"/>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Guard + validate</a:t>
            </a:r>
          </a:p>
        </p:txBody>
      </p:sp>
      <p:sp>
        <p:nvSpPr>
          <p:cNvPr id="21" name="Grid size · buffer kind"/>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Grid size · buffer kind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9 · The DSL owns the pass pipelin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9 · The DSL owns the pass pipeline</a:t>
            </a:r>
          </a:p>
        </p:txBody>
      </p:sp>
      <p:sp>
        <p:nvSpPr>
          <p:cNvPr id="5" name="3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33</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Owner"/>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Owner</a:t>
            </a:r>
          </a:p>
        </p:txBody>
      </p:sp>
      <p:sp>
        <p:nvSpPr>
          <p:cNvPr id="9" name="Responsibility"/>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Responsibility</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Sub-DSL"/>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Sub-DSL</a:t>
            </a:r>
          </a:p>
        </p:txBody>
      </p:sp>
      <p:sp>
        <p:nvSpPr>
          <p:cNvPr id="12" name="pipeline() · register_dialects(ctx)"/>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pipeline() · register_dialects(ctx)</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CompilerPlugin"/>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CompilerPlugin</a:t>
            </a:r>
          </a:p>
        </p:txBody>
      </p:sp>
      <p:sp>
        <p:nvSpPr>
          <p:cNvPr id="15" name="compile · jit · load"/>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compile · jit · load</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FuncEntryPlugin"/>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FuncEntryPlugin</a:t>
            </a:r>
          </a:p>
        </p:txBody>
      </p:sp>
      <p:sp>
        <p:nvSpPr>
          <p:cNvPr id="18" name="Entry op · results ABI"/>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Entry op · results ABI</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ExecutionEngine compiler"/>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ExecutionEngine compiler</a:t>
            </a:r>
          </a:p>
        </p:txBody>
      </p:sp>
      <p:sp>
        <p:nvSpPr>
          <p:cNvPr id="21" name="LLVM lowering + packed ctypes call"/>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LLVM lowering + packed ctypes call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ompile now. Call late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Compile now. Call later.</a:t>
            </a:r>
          </a:p>
        </p:txBody>
      </p:sp>
      <p:sp>
        <p:nvSpPr>
          <p:cNvPr id="5" name="3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34</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Pytho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implementation excerpt</a:t>
            </a:r>
          </a:p>
        </p:txBody>
      </p:sp>
      <p:sp>
        <p:nvSpPr>
          <p:cNvPr id="10"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1" name="def affine(x: m.Int32, scale, bias):"/>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affine(x: m.Int32, scale, bias):</a:t>
            </a:r>
          </a:p>
        </p:txBody>
      </p:sp>
      <p:sp>
        <p:nvSpPr>
          <p:cNvPr id="12" name="    return x * scale + bias"/>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 * scale + bias</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compiled = m.compile(affine, 7, 3, 4)"/>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compiled = m.compile(affine, 7, 3, 4)</a:t>
            </a:r>
          </a:p>
        </p:txBody>
      </p:sp>
      <p:sp>
        <p:nvSpPr>
          <p:cNvPr id="15" name="result = compiled(7, 3, 4)"/>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result = compiled(7, 3, 4)</a:t>
            </a:r>
          </a:p>
        </p:txBody>
      </p:sp>
      <p:sp>
        <p:nvSpPr>
          <p:cNvPr id="16" name="int(result)  # 25"/>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int(result)  # 25</a:t>
            </a:r>
          </a:p>
        </p:txBody>
      </p:sp>
      <p:sp>
        <p:nvSpPr>
          <p:cNvPr id="17" name="m.compil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m.compile</a:t>
            </a:r>
          </a:p>
        </p:txBody>
      </p:sp>
      <p:sp>
        <p:nvSpPr>
          <p:cNvPr id="18" name="Specialize + compile"/>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Specialize + compile</a:t>
            </a:r>
          </a:p>
        </p:txBody>
      </p:sp>
      <p:sp>
        <p:nvSpPr>
          <p:cNvPr id="19" name="Compiled callable"/>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Compiled callable</a:t>
            </a:r>
          </a:p>
        </p:txBody>
      </p:sp>
      <p:sp>
        <p:nvSpPr>
          <p:cNvPr id="20" name="Invoke later"/>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Invoke later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10 · Cache compilation work"/>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10 · Cache compilation work</a:t>
            </a:r>
          </a:p>
        </p:txBody>
      </p:sp>
      <p:sp>
        <p:nvSpPr>
          <p:cNvPr id="5" name="3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35</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Cache"/>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Cache</a:t>
            </a:r>
          </a:p>
        </p:txBody>
      </p:sp>
      <p:sp>
        <p:nvSpPr>
          <p:cNvPr id="9" name="What is reused"/>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What is reused</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In memory"/>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 memory</a:t>
            </a:r>
          </a:p>
        </p:txBody>
      </p:sp>
      <p:sp>
        <p:nvSpPr>
          <p:cNvPr id="12" name="Traced-module key → compiled callable"/>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Traced-module key → compiled callable</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On disk"/>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On disk</a:t>
            </a:r>
          </a:p>
        </p:txBody>
      </p:sp>
      <p:sp>
        <p:nvSpPr>
          <p:cNvPr id="15" name="Lowered bytecode + CRC32"/>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Lowered bytecode + CRC32</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Configuration"/>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Configuration</a:t>
            </a:r>
          </a:p>
        </p:txBody>
      </p:sp>
      <p:sp>
        <p:nvSpPr>
          <p:cNvPr id="18" name="CACHE_DIR · DISABLE_FILE_CACHING"/>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CACHE_DIR · DISABLE_FILE_CACHING</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Observation"/>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Observation</a:t>
            </a:r>
          </a:p>
        </p:txBody>
      </p:sp>
      <p:sp>
        <p:nvSpPr>
          <p:cNvPr id="21" name="cache_hits · file_cache_hits"/>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cache_hits · file_cache_hits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11 · Generate IR and stop"/>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11 · Generate IR and stop</a:t>
            </a:r>
          </a:p>
        </p:txBody>
      </p:sp>
      <p:sp>
        <p:nvSpPr>
          <p:cNvPr id="5" name="3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36</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IR-only DSL · setup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IR-only DSL · setup excerpt</a:t>
            </a:r>
          </a:p>
        </p:txBody>
      </p:sp>
      <p:sp>
        <p:nvSpPr>
          <p:cNvPr id="10" name="class RecipeDSL(BaseDSL):"/>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RecipeDSL(BaseDSL):</a:t>
            </a:r>
          </a:p>
        </p:txBody>
      </p:sp>
      <p:sp>
        <p:nvSpPr>
          <p:cNvPr id="11" name="    plugins = Plugins("/>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Plugins(</a:t>
            </a:r>
          </a:p>
        </p:txBody>
      </p:sp>
      <p:sp>
        <p:nvSpPr>
          <p:cNvPr id="12" name="        type_ops=TypeOps(scalars=arith),"/>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type_ops=TypeOps(scalars=arith),</a:t>
            </a:r>
          </a:p>
        </p:txBody>
      </p:sp>
      <p:sp>
        <p:nvSpPr>
          <p:cNvPr id="13" name="        func_entry=func.Entry(),"/>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func_entry=func.Entry(),</a:t>
            </a:r>
          </a:p>
        </p:txBody>
      </p:sp>
      <p:sp>
        <p:nvSpPr>
          <p:cNvPr id="14" name="        compiler=None,"/>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compiler=None,</a:t>
            </a:r>
          </a:p>
        </p:txBody>
      </p:sp>
      <p:sp>
        <p:nvSpPr>
          <p:cNvPr id="15" name="    )"/>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t>
            </a:r>
          </a:p>
        </p:txBody>
      </p:sp>
      <p:sp>
        <p:nvSpPr>
          <p:cNvPr id="16" nam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7" name="# Or use an existing DSL:"/>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Or use an existing DSL:</a:t>
            </a:r>
          </a:p>
        </p:txBody>
      </p:sp>
      <p:sp>
        <p:nvSpPr>
          <p:cNvPr id="18" name="# MLIR_DSL_DRYRUN=1 MLIR_DSL_PRINT_IR=1"/>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MLIR_DSL_DRYRUN=1 MLIR_DSL_PRINT_IR=1</a:t>
            </a:r>
          </a:p>
        </p:txBody>
      </p:sp>
      <p:sp>
        <p:nvSpPr>
          <p:cNvPr id="19" name="Compiler is optional"/>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Compiler is optional</a:t>
            </a:r>
          </a:p>
        </p:txBody>
      </p:sp>
      <p:sp>
        <p:nvSpPr>
          <p:cNvPr id="20" name="Trace result only"/>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Trace result only</a:t>
            </a:r>
          </a:p>
        </p:txBody>
      </p:sp>
      <p:sp>
        <p:nvSpPr>
          <p:cNvPr id="21" name="Useful fo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Useful for</a:t>
            </a:r>
          </a:p>
        </p:txBody>
      </p:sp>
      <p:sp>
        <p:nvSpPr>
          <p:cNvPr id="22" name="Tests · recipe consumer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Tests · recipe consumers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12 · Errors should point to Pytho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12 · Errors should point to Python</a:t>
            </a:r>
          </a:p>
        </p:txBody>
      </p:sp>
      <p:sp>
        <p:nvSpPr>
          <p:cNvPr id="5" name="3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37</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Pytho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implementation excerpt</a:t>
            </a:r>
          </a:p>
        </p:txBody>
      </p:sp>
      <p:sp>
        <p:nvSpPr>
          <p:cNvPr id="10"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1" name="def bad(x: m.In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bad(x: m.Int32):</a:t>
            </a:r>
          </a:p>
        </p:txBody>
      </p:sp>
      <p:sp>
        <p:nvSpPr>
          <p:cNvPr id="12" name="    return int(x)"/>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int(x)</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 PHASE_REQUIRES_CONSTANT"/>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PHASE_REQUIRES_CONSTANT</a:t>
            </a:r>
          </a:p>
        </p:txBody>
      </p:sp>
      <p:sp>
        <p:nvSpPr>
          <p:cNvPr id="15" name="# Runtime value used as Python valu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Runtime value used as Python value</a:t>
            </a:r>
          </a:p>
        </p:txBody>
      </p:sp>
      <p:sp>
        <p:nvSpPr>
          <p:cNvPr id="16" name="Stable code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Stable codes</a:t>
            </a:r>
          </a:p>
        </p:txBody>
      </p:sp>
      <p:sp>
        <p:nvSpPr>
          <p:cNvPr id="17" name="Catalogue + suggestions"/>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Catalogue + suggestions</a:t>
            </a:r>
          </a:p>
        </p:txBody>
      </p:sp>
      <p:sp>
        <p:nvSpPr>
          <p:cNvPr id="18" name="Useful context"/>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Useful context</a:t>
            </a:r>
          </a:p>
        </p:txBody>
      </p:sp>
      <p:sp>
        <p:nvSpPr>
          <p:cNvPr id="19" name="Source frame + DSL message"/>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Source frame + DSL message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13 · Locations and remark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13 · Locations and remarks</a:t>
            </a:r>
          </a:p>
        </p:txBody>
      </p:sp>
      <p:sp>
        <p:nvSpPr>
          <p:cNvPr id="5" name="3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38</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Mechanism"/>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Mechanism</a:t>
            </a:r>
          </a:p>
        </p:txBody>
      </p:sp>
      <p:sp>
        <p:nvSpPr>
          <p:cNvPr id="9" name="What you see"/>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What you see</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DEBUGINFO"/>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DEBUGINFO</a:t>
            </a:r>
          </a:p>
        </p:txBody>
      </p:sp>
      <p:sp>
        <p:nvSpPr>
          <p:cNvPr id="12" name="Python traceback → MLIR locations"/>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Python traceback → MLIR locations</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REMARKS"/>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REMARKS</a:t>
            </a:r>
          </a:p>
        </p:txBody>
      </p:sp>
      <p:sp>
        <p:nvSpPr>
          <p:cNvPr id="15" name="Structured trace + compiler feedback"/>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Structured trace + compiler feedback</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Source frames"/>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Source frames</a:t>
            </a:r>
          </a:p>
        </p:txBody>
      </p:sp>
      <p:sp>
        <p:nvSpPr>
          <p:cNvPr id="18" name="Diagnostics point back to the function"/>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Diagnostics point back to the function</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Compiler role"/>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Compiler role</a:t>
            </a:r>
          </a:p>
        </p:txBody>
      </p:sp>
      <p:sp>
        <p:nvSpPr>
          <p:cNvPr id="21" name="Owns the remark session"/>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Owns the remark session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14 · See what the compiler do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14 · See what the compiler does</a:t>
            </a:r>
          </a:p>
        </p:txBody>
      </p:sp>
      <p:sp>
        <p:nvSpPr>
          <p:cNvPr id="5" name="3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39</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lt;PREFIX&gt;_*"/>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&lt;PREFIX&gt;_*</a:t>
            </a:r>
          </a:p>
        </p:txBody>
      </p:sp>
      <p:sp>
        <p:nvSpPr>
          <p:cNvPr id="9" name="Purpose"/>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Purpose</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PRINT_IR · DRYRUN"/>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PRINT_IR · DRYRUN</a:t>
            </a:r>
          </a:p>
        </p:txBody>
      </p:sp>
      <p:sp>
        <p:nvSpPr>
          <p:cNvPr id="12" name="Inspect the traced program"/>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Inspect the traced program</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PROFILE_COMPILER"/>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PROFILE_COMPILER</a:t>
            </a:r>
          </a:p>
        </p:txBody>
      </p:sp>
      <p:sp>
        <p:nvSpPr>
          <p:cNvPr id="15" name="Time compilation phases"/>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Time compilation phases</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JIT_TIME_PROFILING"/>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JIT_TIME_PROFILING</a:t>
            </a:r>
          </a:p>
        </p:txBody>
      </p:sp>
      <p:sp>
        <p:nvSpPr>
          <p:cNvPr id="18" name="Measure JIT work"/>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Measure JIT work</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LOG_LEVEL"/>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LOG_LEVEL</a:t>
            </a:r>
          </a:p>
        </p:txBody>
      </p:sp>
      <p:sp>
        <p:nvSpPr>
          <p:cNvPr id="21" name="Control logging"/>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Control logging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15 · One subclass. One Plugins record."/>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15 · One subclass. One Plugins record.</a:t>
            </a:r>
          </a:p>
        </p:txBody>
      </p:sp>
      <p:sp>
        <p:nvSpPr>
          <p:cNvPr id="5" name="4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40</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Downstream DSL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Downstream DSL · implementation excerpt</a:t>
            </a:r>
          </a:p>
        </p:txBody>
      </p:sp>
      <p:sp>
        <p:nvSpPr>
          <p:cNvPr id="10" name="class MyDSL(BaseDSL):"/>
          <p:cNvSpPr txBox="1"/>
          <p:nvPr/>
        </p:nvSpPr>
        <p:spPr>
          <a:xfrm>
            <a:off x="594360" y="1993391"/>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class MyDSL(BaseDSL):</a:t>
            </a:r>
          </a:p>
        </p:txBody>
      </p:sp>
      <p:sp>
        <p:nvSpPr>
          <p:cNvPr id="11" name="    plugins = Plugins("/>
          <p:cNvSpPr txBox="1"/>
          <p:nvPr/>
        </p:nvSpPr>
        <p:spPr>
          <a:xfrm>
            <a:off x="594360" y="2177897"/>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plugins = Plugins(</a:t>
            </a:r>
          </a:p>
        </p:txBody>
      </p:sp>
      <p:sp>
        <p:nvSpPr>
          <p:cNvPr id="12" name="        type_ops=TypeOps("/>
          <p:cNvSpPr txBox="1"/>
          <p:nvPr/>
        </p:nvSpPr>
        <p:spPr>
          <a:xfrm>
            <a:off x="594360" y="2362403"/>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type_ops=TypeOps(</a:t>
            </a:r>
          </a:p>
        </p:txBody>
      </p:sp>
      <p:sp>
        <p:nvSpPr>
          <p:cNvPr id="13" name="            scalars=arith, vectors=vector, memory=llvm),"/>
          <p:cNvSpPr txBox="1"/>
          <p:nvPr/>
        </p:nvSpPr>
        <p:spPr>
          <a:xfrm>
            <a:off x="594360" y="2546908"/>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scalars=arith, vectors=vector, memory=llvm),</a:t>
            </a:r>
          </a:p>
        </p:txBody>
      </p:sp>
      <p:sp>
        <p:nvSpPr>
          <p:cNvPr id="14" name="        func_entry=func.Entry(),"/>
          <p:cNvSpPr txBox="1"/>
          <p:nvPr/>
        </p:nvSpPr>
        <p:spPr>
          <a:xfrm>
            <a:off x="594360" y="2731414"/>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func_entry=func.Entry(),</a:t>
            </a:r>
          </a:p>
        </p:txBody>
      </p:sp>
      <p:sp>
        <p:nvSpPr>
          <p:cNvPr id="15" name="        ast_preprocessor=scf.ASTPreprocessor(),"/>
          <p:cNvSpPr txBox="1"/>
          <p:nvPr/>
        </p:nvSpPr>
        <p:spPr>
          <a:xfrm>
            <a:off x="594360" y="2915919"/>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ast_preprocessor=scf.ASTPreprocessor(),</a:t>
            </a:r>
          </a:p>
        </p:txBody>
      </p:sp>
      <p:sp>
        <p:nvSpPr>
          <p:cNvPr id="16" name="        compiler=execution_engine.Compiler(),"/>
          <p:cNvSpPr txBox="1"/>
          <p:nvPr/>
        </p:nvSpPr>
        <p:spPr>
          <a:xfrm>
            <a:off x="594360" y="3100425"/>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compiler=execution_engine.Compiler(),</a:t>
            </a:r>
          </a:p>
        </p:txBody>
      </p:sp>
      <p:sp>
        <p:nvSpPr>
          <p:cNvPr id="17" name="        decorators=[gpu.Kernels()],"/>
          <p:cNvSpPr txBox="1"/>
          <p:nvPr/>
        </p:nvSpPr>
        <p:spPr>
          <a:xfrm>
            <a:off x="594360" y="3284931"/>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decorators=[gpu.Kernels()],</a:t>
            </a:r>
          </a:p>
        </p:txBody>
      </p:sp>
      <p:sp>
        <p:nvSpPr>
          <p:cNvPr id="18" name="        adapters=[pytorch.PyTorchPlugin()],"/>
          <p:cNvSpPr txBox="1"/>
          <p:nvPr/>
        </p:nvSpPr>
        <p:spPr>
          <a:xfrm>
            <a:off x="594360" y="3469436"/>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adapters=[pytorch.PyTorchPlugin()],</a:t>
            </a:r>
          </a:p>
        </p:txBody>
      </p:sp>
      <p:sp>
        <p:nvSpPr>
          <p:cNvPr id="19" name="    )"/>
          <p:cNvSpPr txBox="1"/>
          <p:nvPr/>
        </p:nvSpPr>
        <p:spPr>
          <a:xfrm>
            <a:off x="594360" y="3653942"/>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a:t>
            </a:r>
          </a:p>
        </p:txBody>
      </p:sp>
      <p:sp>
        <p:nvSpPr>
          <p:cNvPr id="20" name="Select role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Select roles</a:t>
            </a:r>
          </a:p>
        </p:txBody>
      </p:sp>
      <p:sp>
        <p:nvSpPr>
          <p:cNvPr id="21" name="One implementation per role"/>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One implementation per role</a:t>
            </a:r>
          </a:p>
        </p:txBody>
      </p:sp>
      <p:sp>
        <p:nvSpPr>
          <p:cNvPr id="22" name="Extend familie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Extend families</a:t>
            </a:r>
          </a:p>
        </p:txBody>
      </p:sp>
      <p:sp>
        <p:nvSpPr>
          <p:cNvPr id="23" name="Any number of plugin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Any number of plugins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wn the namespace and lower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Own the namespace and lowering</a:t>
            </a:r>
          </a:p>
        </p:txBody>
      </p:sp>
      <p:sp>
        <p:nvSpPr>
          <p:cNvPr id="5" name="4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41</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Downstream DSL · methods"/>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Downstream DSL · methods</a:t>
            </a:r>
          </a:p>
        </p:txBody>
      </p:sp>
      <p:sp>
        <p:nvSpPr>
          <p:cNvPr id="10" name="def __init__(self):"/>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__init__(self):</a:t>
            </a:r>
          </a:p>
        </p:txBody>
      </p:sp>
      <p:sp>
        <p:nvSpPr>
          <p:cNvPr id="11" name="    super().__init__("/>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super().__init__(</a:t>
            </a:r>
          </a:p>
        </p:txBody>
      </p:sp>
      <p:sp>
        <p:nvSpPr>
          <p:cNvPr id="12" name="        name=&quot;MY_DSL&quot;,"/>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name="MY_DSL",</a:t>
            </a:r>
          </a:p>
        </p:txBody>
      </p:sp>
      <p:sp>
        <p:nvSpPr>
          <p:cNvPr id="13" name="        dsl_package_name=[&quot;mydsl&quot;],"/>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dsl_package_name=["mydsl"],</a:t>
            </a:r>
          </a:p>
        </p:txBody>
      </p:sp>
      <p:sp>
        <p:nvSpPr>
          <p:cNvPr id="14" name="        preprocess=True)"/>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preprocess=True)</a:t>
            </a:r>
          </a:p>
        </p:txBody>
      </p:sp>
      <p:sp>
        <p:nvSpPr>
          <p:cNvPr id="15" name=""/>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6" name="def register_dialects(self, ctx):"/>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register_dialects(self, ctx):</a:t>
            </a:r>
          </a:p>
        </p:txBody>
      </p:sp>
      <p:sp>
        <p:nvSpPr>
          <p:cNvPr id="17" name="    mydialect.register_dialect(ctx)"/>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mydialect.register_dialect(ctx)</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Downstream DSL · pipeline excerpt"/>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Downstream DSL · pipeline excerpt</a:t>
            </a:r>
          </a:p>
        </p:txBody>
      </p:sp>
      <p:sp>
        <p:nvSpPr>
          <p:cNvPr id="21" name="def pipeline(self):"/>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pipeline(self):</a:t>
            </a:r>
          </a:p>
        </p:txBody>
      </p:sp>
      <p:sp>
        <p:nvSpPr>
          <p:cNvPr id="22" name="    return ["/>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t>
            </a:r>
          </a:p>
        </p:txBody>
      </p:sp>
      <p:sp>
        <p:nvSpPr>
          <p:cNvPr id="23" name="        &quot;convert-mydialect-to-llvm&quot;,"/>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"convert-mydialect-to-llvm",</a:t>
            </a:r>
          </a:p>
        </p:txBody>
      </p:sp>
      <p:sp>
        <p:nvSpPr>
          <p:cNvPr id="24" name="        &quot;convert-scf-to-cf&quot;,"/>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"convert-scf-to-cf",</a:t>
            </a:r>
          </a:p>
        </p:txBody>
      </p:sp>
      <p:sp>
        <p:nvSpPr>
          <p:cNvPr id="25" name="        &quot;convert-cf-to-llvm&quot;,"/>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"convert-cf-to-llvm",</a:t>
            </a:r>
          </a:p>
        </p:txBody>
      </p:sp>
      <p:sp>
        <p:nvSpPr>
          <p:cNvPr id="26" name="        &quot;convert-arith-to-llvm&quot;,"/>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"convert-arith-to-llvm",</a:t>
            </a:r>
          </a:p>
        </p:txBody>
      </p:sp>
      <p:sp>
        <p:nvSpPr>
          <p:cNvPr id="27" name="        &quot;convert-func-to-llvm&quot;,"/>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"convert-func-to-llvm",</a:t>
            </a:r>
          </a:p>
        </p:txBody>
      </p:sp>
      <p:sp>
        <p:nvSpPr>
          <p:cNvPr id="28" name="        &quot;reconcile-unrealized-casts&quot;,"/>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"reconcile-unrealized-casts",</a:t>
            </a:r>
          </a:p>
        </p:txBody>
      </p:sp>
      <p:sp>
        <p:nvSpPr>
          <p:cNvPr id="29" name="    ]"/>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Reuse a composition; change one field"/>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Reuse a composition; change one field</a:t>
            </a:r>
          </a:p>
        </p:txBody>
      </p:sp>
      <p:sp>
        <p:nvSpPr>
          <p:cNvPr id="5" name="4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42</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Pytho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implementation excerpt</a:t>
            </a:r>
          </a:p>
        </p:txBody>
      </p:sp>
      <p:sp>
        <p:nvSpPr>
          <p:cNvPr id="10" name="from dataclasses import replace"/>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from dataclasses import replace</a:t>
            </a:r>
          </a:p>
        </p:txBody>
      </p:sp>
      <p:sp>
        <p:nvSpPr>
          <p:cNvPr id="11" nam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2" name="class CpuOnly(m.MlirTestDSL):"/>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CpuOnly(m.MlirTestDSL):</a:t>
            </a:r>
          </a:p>
        </p:txBody>
      </p:sp>
      <p:sp>
        <p:nvSpPr>
          <p:cNvPr id="13" name="    plugins = replac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replace(</a:t>
            </a:r>
          </a:p>
        </p:txBody>
      </p:sp>
      <p:sp>
        <p:nvSpPr>
          <p:cNvPr id="14" name="        m.MlirTestDSL.plugins,"/>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m.MlirTestDSL.plugins,</a:t>
            </a:r>
          </a:p>
        </p:txBody>
      </p:sp>
      <p:sp>
        <p:nvSpPr>
          <p:cNvPr id="15" name="        decorators=(),"/>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decorators=(),</a:t>
            </a:r>
          </a:p>
        </p:txBody>
      </p:sp>
      <p:sp>
        <p:nvSpPr>
          <p:cNvPr id="16" name="        adapters=(),"/>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adapters=(),</a:t>
            </a:r>
          </a:p>
        </p:txBody>
      </p:sp>
      <p:sp>
        <p:nvSpPr>
          <p:cNvPr id="17" name="    )"/>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t>
            </a:r>
          </a:p>
        </p:txBody>
      </p:sp>
      <p:sp>
        <p:nvSpPr>
          <p:cNvPr id="18" name="Keep the role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Keep the roles</a:t>
            </a:r>
          </a:p>
        </p:txBody>
      </p:sp>
      <p:sp>
        <p:nvSpPr>
          <p:cNvPr id="19" name="Types · entry · AST · compiler"/>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Types · entry · AST · compiler</a:t>
            </a:r>
          </a:p>
        </p:txBody>
      </p:sp>
      <p:sp>
        <p:nvSpPr>
          <p:cNvPr id="20" name="Change the familie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Change the families</a:t>
            </a:r>
          </a:p>
        </p:txBody>
      </p:sp>
      <p:sp>
        <p:nvSpPr>
          <p:cNvPr id="21" name="Drop GPU + optional adapter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Drop GPU + optional adapters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Every plugin has a small shared lifecycl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Every plugin has a small shared lifecycle</a:t>
            </a:r>
          </a:p>
        </p:txBody>
      </p:sp>
      <p:sp>
        <p:nvSpPr>
          <p:cNvPr id="5" name="4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43</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Shared hook"/>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Shared hook</a:t>
            </a:r>
          </a:p>
        </p:txBody>
      </p:sp>
      <p:sp>
        <p:nvSpPr>
          <p:cNvPr id="9" name="Meaning"/>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Meaning</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available()"/>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available()</a:t>
            </a:r>
          </a:p>
        </p:txBody>
      </p:sp>
      <p:sp>
        <p:nvSpPr>
          <p:cNvPr id="12" name="Probe optional support"/>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Probe optional support</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install(dsl)"/>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install(dsl)</a:t>
            </a:r>
          </a:p>
        </p:txBody>
      </p:sp>
      <p:sp>
        <p:nvSpPr>
          <p:cNvPr id="15" name="Bind this instance"/>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Bind this instance</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register_dialects(ctx)"/>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register_dialects(ctx)</a:t>
            </a:r>
          </a:p>
        </p:txBody>
      </p:sp>
      <p:sp>
        <p:nvSpPr>
          <p:cNvPr id="18" name="Register owned dialects"/>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Register owned dialects</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shared_libs()"/>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shared_libs()</a:t>
            </a:r>
          </a:p>
        </p:txBody>
      </p:sp>
      <p:sp>
        <p:nvSpPr>
          <p:cNvPr id="21" name="Provide runtime libraries"/>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Provide runtime libraries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ne program: Python recipe + staged loop"/>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One program: Python recipe + staged loop</a:t>
            </a:r>
          </a:p>
        </p:txBody>
      </p:sp>
      <p:sp>
        <p:nvSpPr>
          <p:cNvPr id="5" name="4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44</a:t>
            </a:r>
          </a:p>
        </p:txBody>
      </p:sp>
      <p:sp>
        <p:nvSpPr>
          <p:cNvPr id="6" name="Worked examples"/>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Worked examples</a:t>
            </a:r>
          </a:p>
        </p:txBody>
      </p:sp>
      <p:sp>
        <p:nvSpPr>
          <p:cNvPr id="7" name="Staged array loop · Meta recipe loop"/>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Staged array loop · Meta recipe loop</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 executed"/>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executed</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fused(arr: m.Pointer[m.Floa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fused(arr: m.Pointer[m.Float32],</a:t>
            </a:r>
          </a:p>
        </p:txBody>
      </p:sp>
      <p:sp>
        <p:nvSpPr>
          <p:cNvPr id="13" name="          ops):"/>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ops):</a:t>
            </a:r>
          </a:p>
        </p:txBody>
      </p:sp>
      <p:sp>
        <p:nvSpPr>
          <p:cNvPr id="14" name="    for i in m.range(4):"/>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m.range(4):</a:t>
            </a:r>
          </a:p>
        </p:txBody>
      </p:sp>
      <p:sp>
        <p:nvSpPr>
          <p:cNvPr id="15" name="        x = arr[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arr[i]</a:t>
            </a:r>
          </a:p>
        </p:txBody>
      </p:sp>
      <p:sp>
        <p:nvSpPr>
          <p:cNvPr id="16" name="        for op in ops.values():"/>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op in ops.values():</a:t>
            </a:r>
          </a:p>
        </p:txBody>
      </p:sp>
      <p:sp>
        <p:nvSpPr>
          <p:cNvPr id="17" name="            x = op.apply(x)"/>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op.apply(x)</a:t>
            </a:r>
          </a:p>
        </p:txBody>
      </p:sp>
      <p:sp>
        <p:nvSpPr>
          <p:cNvPr id="18" name="        arr[i] = x"/>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arr[i] = x</a:t>
            </a:r>
          </a:p>
        </p:txBody>
      </p:sp>
      <p:sp>
        <p:nvSpPr>
          <p:cNvPr id="19" name=""/>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0" name="# [0, 1, 2, 3] -&gt; [6, 9, 12, 15]"/>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[0, 1, 2, 3] -&gt; [6, 9, 12, 15]</a:t>
            </a:r>
          </a:p>
        </p:txBody>
      </p:sp>
      <p:sp>
        <p:nvSpPr>
          <p:cNvPr id="21" name="Rectangle 20"/>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2" name="Rectangle 21"/>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3" name="MLIR · loop body"/>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 loop body</a:t>
            </a:r>
          </a:p>
        </p:txBody>
      </p:sp>
      <p:sp>
        <p:nvSpPr>
          <p:cNvPr id="24" name="%p = llvm.getelementptr %arr[%i]"/>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 = llvm.getelementptr %arr[%i]</a:t>
            </a:r>
          </a:p>
        </p:txBody>
      </p:sp>
      <p:sp>
        <p:nvSpPr>
          <p:cNvPr id="25" name="    : (!llvm.ptr, i32) -&gt; !llvm.ptr, f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(!llvm.ptr, i32) -&gt; !llvm.ptr, f32</a:t>
            </a:r>
          </a:p>
        </p:txBody>
      </p:sp>
      <p:sp>
        <p:nvSpPr>
          <p:cNvPr id="26" name="%x = llvm.load %p : !llvm.ptr -&gt; f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%x = llvm.load %p : !llvm.ptr -&gt; f32</a:t>
            </a:r>
          </a:p>
        </p:txBody>
      </p:sp>
      <p:sp>
        <p:nvSpPr>
          <p:cNvPr id="27" name="%a = arith.addf %x, %two : f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 = arith.addf %x, %two : f32</a:t>
            </a:r>
          </a:p>
        </p:txBody>
      </p:sp>
      <p:sp>
        <p:nvSpPr>
          <p:cNvPr id="28" name="%r = arith.mulf %a, %three : f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arith.mulf %a, %three : f32</a:t>
            </a:r>
          </a:p>
        </p:txBody>
      </p:sp>
      <p:sp>
        <p:nvSpPr>
          <p:cNvPr id="29" name="llvm.store %r, %p : f32, !llvm.ptr"/>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llvm.store %r, %p : f32, !llvm.ptr</a:t>
            </a:r>
          </a:p>
        </p:txBody>
      </p:sp>
      <p:sp>
        <p:nvSpPr>
          <p:cNvPr id="30" name="scf.yield"/>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scf.yield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4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45</a:t>
            </a:r>
          </a:p>
        </p:txBody>
      </p:sp>
      <p:sp>
        <p:nvSpPr>
          <p:cNvPr id="5" name="AMIR TAVAKKOLI"/>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AMIR TAVAKKOLI</a:t>
            </a:r>
          </a:p>
        </p:txBody>
      </p:sp>
      <p:sp>
        <p:nvSpPr>
          <p:cNvPr id="6" name="From loop carries to richer mutation"/>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From loop carries to richer mutation</a:t>
            </a:r>
          </a:p>
        </p:txBody>
      </p:sp>
      <p:sp>
        <p:nvSpPr>
          <p:cNvPr id="7" name="Aliasing · mutable state · PyIR"/>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Aliasing · mutable state · PyIR</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Amir’s section"/>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Amir’s section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4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46</a:t>
            </a:r>
          </a:p>
        </p:txBody>
      </p:sp>
      <p:sp>
        <p:nvSpPr>
          <p:cNvPr id="5" name="AMIR TAVAKKOLI"/>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AMIR TAVAKKOLI</a:t>
            </a:r>
          </a:p>
        </p:txBody>
      </p:sp>
      <p:sp>
        <p:nvSpPr>
          <p:cNvPr id="6" name="Advanced mutation tracking"/>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Advanced mutation tracking</a:t>
            </a:r>
          </a:p>
        </p:txBody>
      </p:sp>
      <p:sp>
        <p:nvSpPr>
          <p:cNvPr id="7" name="Amir supplies this section."/>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Amir supplies this section.</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Return to Guray for a target example."/>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Return to Guray for a target example.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choose target implementation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choose target implementations</a:t>
            </a:r>
          </a:p>
        </p:txBody>
      </p:sp>
      <p:sp>
        <p:nvSpPr>
          <p:cNvPr id="5" name="4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47</a:t>
            </a:r>
          </a:p>
        </p:txBody>
      </p:sp>
      <p:sp>
        <p:nvSpPr>
          <p:cNvPr id="6" name="Tile 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Downstream port sketch · proposed API"/>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Downstream port sketch · proposed API</a:t>
            </a:r>
          </a:p>
        </p:txBody>
      </p:sp>
      <p:sp>
        <p:nvSpPr>
          <p:cNvPr id="10" name="class TileDSL(BaseDSL):"/>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TileDSL(BaseDSL):</a:t>
            </a:r>
          </a:p>
        </p:txBody>
      </p:sp>
      <p:sp>
        <p:nvSpPr>
          <p:cNvPr id="11" name="    plugins = Plugins("/>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Plugins(</a:t>
            </a:r>
          </a:p>
        </p:txBody>
      </p:sp>
      <p:sp>
        <p:nvSpPr>
          <p:cNvPr id="12" name="        type_ops=tile.TypeOps(),"/>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type_ops=tile.TypeOps(),</a:t>
            </a:r>
          </a:p>
        </p:txBody>
      </p:sp>
      <p:sp>
        <p:nvSpPr>
          <p:cNvPr id="13" name="        func_entry=tile.Entry(),"/>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func_entry=tile.Entry(),</a:t>
            </a:r>
          </a:p>
        </p:txBody>
      </p:sp>
      <p:sp>
        <p:nvSpPr>
          <p:cNvPr id="14" name="        ast_preprocessor=tile.ASTPreprocessor(),"/>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ast_preprocessor=tile.ASTPreprocessor(),</a:t>
            </a:r>
          </a:p>
        </p:txBody>
      </p:sp>
      <p:sp>
        <p:nvSpPr>
          <p:cNvPr id="15" name="        compiler=tile.Compiler(),"/>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compiler=tile.Compiler(),</a:t>
            </a:r>
          </a:p>
        </p:txBody>
      </p:sp>
      <p:sp>
        <p:nvSpPr>
          <p:cNvPr id="16" name="        decorators=[tile.Kernels()],"/>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decorators=[tile.Kernels()],</a:t>
            </a:r>
          </a:p>
        </p:txBody>
      </p:sp>
      <p:sp>
        <p:nvSpPr>
          <p:cNvPr id="17" name="        adapters=[dlpack.DlpackPlugin()],"/>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adapters=[dlpack.DlpackPlugin()],</a:t>
            </a:r>
          </a:p>
        </p:txBody>
      </p:sp>
      <p:sp>
        <p:nvSpPr>
          <p:cNvPr id="18" name="    )"/>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t>
            </a:r>
          </a:p>
        </p:txBody>
      </p:sp>
      <p:sp>
        <p:nvSpPr>
          <p:cNvPr id="19" name="Replace target role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Replace target roles</a:t>
            </a:r>
          </a:p>
        </p:txBody>
      </p:sp>
      <p:sp>
        <p:nvSpPr>
          <p:cNvPr id="20" name="Types · entry · capture · compiler"/>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Types · entry · capture · compiler</a:t>
            </a:r>
          </a:p>
        </p:txBody>
      </p:sp>
      <p:sp>
        <p:nvSpPr>
          <p:cNvPr id="21" name="Reuse infrastructure"/>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Reuse infrastructure</a:t>
            </a:r>
          </a:p>
        </p:txBody>
      </p:sp>
      <p:sp>
        <p:nvSpPr>
          <p:cNvPr id="22" name="Cache · diagnostics · adapter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Cache · diagnostics · adapters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one type-ops rol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one type-ops role</a:t>
            </a:r>
          </a:p>
        </p:txBody>
      </p:sp>
      <p:sp>
        <p:nvSpPr>
          <p:cNvPr id="5" name="4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48</a:t>
            </a:r>
          </a:p>
        </p:txBody>
      </p:sp>
      <p:sp>
        <p:nvSpPr>
          <p:cNvPr id="6" name="Tile 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Python value"/>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Python value</a:t>
            </a:r>
          </a:p>
        </p:txBody>
      </p:sp>
      <p:sp>
        <p:nvSpPr>
          <p:cNvPr id="9" name="Proposed Tile representation"/>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Proposed Tile representation</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Int32 / Float32"/>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Int32 / Float32</a:t>
            </a:r>
          </a:p>
        </p:txBody>
      </p:sp>
      <p:sp>
        <p:nvSpPr>
          <p:cNvPr id="12" name="Rank-0 tile"/>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Rank-0 tile</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Vector"/>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Vector</a:t>
            </a:r>
          </a:p>
        </p:txBody>
      </p:sp>
      <p:sp>
        <p:nvSpPr>
          <p:cNvPr id="15" name="Rank-1 tile"/>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Rank-1 tile</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Pointer[T]"/>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Pointer[T]</a:t>
            </a:r>
          </a:p>
        </p:txBody>
      </p:sp>
      <p:sp>
        <p:nvSpPr>
          <p:cNvPr id="18" name="Tile of pointers"/>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Tile of pointers</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 · load · store"/>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 · load · store</a:t>
            </a:r>
          </a:p>
        </p:txBody>
      </p:sp>
      <p:sp>
        <p:nvSpPr>
          <p:cNvPr id="21" name="Target arithmetic + memory ops"/>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Target arithmetic + memory ops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choose its control-flow mode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choose its control-flow model</a:t>
            </a:r>
          </a:p>
        </p:txBody>
      </p:sp>
      <p:sp>
        <p:nvSpPr>
          <p:cNvPr id="5" name="4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49</a:t>
            </a:r>
          </a:p>
        </p:txBody>
      </p:sp>
      <p:sp>
        <p:nvSpPr>
          <p:cNvPr id="6" name="Tile 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Downstream port sketch · proposed API"/>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Downstream port sketch · proposed API</a:t>
            </a:r>
          </a:p>
        </p:txBody>
      </p:sp>
      <p:sp>
        <p:nvSpPr>
          <p:cNvPr id="10" name="class TileAST(ASTPreprocessorPlug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TileAST(ASTPreprocessorPlugin):</a:t>
            </a:r>
          </a:p>
        </p:txBody>
      </p:sp>
      <p:sp>
        <p:nvSpPr>
          <p:cNvPr id="11" name="    preprocessor_class = TilePreprocesso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preprocessor_class = TilePreprocessor</a:t>
            </a:r>
          </a:p>
        </p:txBody>
      </p:sp>
      <p:sp>
        <p:nvSpPr>
          <p:cNvPr id="12" nam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3" name="    def executors(self, dsl):"/>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executors(self, dsl):</a:t>
            </a:r>
          </a:p>
        </p:txBody>
      </p:sp>
      <p:sp>
        <p:nvSpPr>
          <p:cNvPr id="14" name="        return tile_region_builders(dsl)"/>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tile_region_builders(dsl)</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In the Plugins record:"/>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In the Plugins record:</a:t>
            </a:r>
          </a:p>
        </p:txBody>
      </p:sp>
      <p:sp>
        <p:nvSpPr>
          <p:cNvPr id="17" name="ast_preprocessor=TileAS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ast_preprocessor=TileAST()</a:t>
            </a:r>
          </a:p>
        </p:txBody>
      </p:sp>
      <p:sp>
        <p:nvSpPr>
          <p:cNvPr id="18" name="Reuse capture where it fit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Reuse capture where it fits</a:t>
            </a:r>
          </a:p>
        </p:txBody>
      </p:sp>
      <p:sp>
        <p:nvSpPr>
          <p:cNvPr id="19" name="Python syntax → target regions"/>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Python syntax → target regions</a:t>
            </a:r>
          </a:p>
        </p:txBody>
      </p:sp>
      <p:sp>
        <p:nvSpPr>
          <p:cNvPr id="20" name="Own target semantic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Own target semantics</a:t>
            </a:r>
          </a:p>
        </p:txBody>
      </p:sp>
      <p:sp>
        <p:nvSpPr>
          <p:cNvPr id="21" name="Early exits · carried value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Early exits · carried values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keep a small user surfac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keep a small user surface</a:t>
            </a:r>
          </a:p>
        </p:txBody>
      </p:sp>
      <p:sp>
        <p:nvSpPr>
          <p:cNvPr id="5" name="5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50</a:t>
            </a:r>
          </a:p>
        </p:txBody>
      </p:sp>
      <p:sp>
        <p:nvSpPr>
          <p:cNvPr id="6" name="Tile 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Downstream port sketch · user API"/>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Downstream port sketch · user API</a:t>
            </a:r>
          </a:p>
        </p:txBody>
      </p:sp>
      <p:sp>
        <p:nvSpPr>
          <p:cNvPr id="10" name="@tile.kernel"/>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@tile.kernel</a:t>
            </a:r>
          </a:p>
        </p:txBody>
      </p:sp>
      <p:sp>
        <p:nvSpPr>
          <p:cNvPr id="11" name="def add(a: tile.Tensor,"/>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add(a: tile.Tensor,</a:t>
            </a:r>
          </a:p>
        </p:txBody>
      </p:sp>
      <p:sp>
        <p:nvSpPr>
          <p:cNvPr id="12" name="        b: tile.Tenso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 tile.Tensor,</a:t>
            </a:r>
          </a:p>
        </p:txBody>
      </p:sp>
      <p:sp>
        <p:nvSpPr>
          <p:cNvPr id="13" name="        out: tile.Tensor):"/>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out: tile.Tensor):</a:t>
            </a:r>
          </a:p>
        </p:txBody>
      </p:sp>
      <p:sp>
        <p:nvSpPr>
          <p:cNvPr id="14" name="    x = tile.load(a)"/>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tile.load(a)</a:t>
            </a:r>
          </a:p>
        </p:txBody>
      </p:sp>
      <p:sp>
        <p:nvSpPr>
          <p:cNvPr id="15" name="    y = tile.load(b)"/>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y = tile.load(b)</a:t>
            </a:r>
          </a:p>
        </p:txBody>
      </p:sp>
      <p:sp>
        <p:nvSpPr>
          <p:cNvPr id="16" name="    tile.store(out, x + y)"/>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tile.store(out, x + y)</a:t>
            </a:r>
          </a:p>
        </p:txBody>
      </p:sp>
      <p:sp>
        <p:nvSpPr>
          <p:cNvPr id="17" name="Rectangle 16"/>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8" name="Rectangle 17"/>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19" name="Proposed plugin ownership"/>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Proposed plugin ownership</a:t>
            </a:r>
          </a:p>
        </p:txBody>
      </p:sp>
      <p:sp>
        <p:nvSpPr>
          <p:cNvPr id="20" name="tile.TypeOps"/>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tile.TypeOps</a:t>
            </a:r>
          </a:p>
        </p:txBody>
      </p:sp>
      <p:sp>
        <p:nvSpPr>
          <p:cNvPr id="21" name="  types + operations"/>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types + operations</a:t>
            </a:r>
          </a:p>
        </p:txBody>
      </p:sp>
      <p:sp>
        <p:nvSpPr>
          <p:cNvPr id="22" name=""/>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3" name="tile.Kernels"/>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tile.Kernels</a:t>
            </a:r>
          </a:p>
        </p:txBody>
      </p:sp>
      <p:sp>
        <p:nvSpPr>
          <p:cNvPr id="24" name="  entry + launch"/>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entry + launch</a:t>
            </a:r>
          </a:p>
        </p:txBody>
      </p:sp>
      <p:sp>
        <p:nvSpPr>
          <p:cNvPr id="25"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6" name="tile.Compiler"/>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tile.Compiler</a:t>
            </a:r>
          </a:p>
        </p:txBody>
      </p:sp>
      <p:sp>
        <p:nvSpPr>
          <p:cNvPr id="27" name="  binary + runtime"/>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binary + runtime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the target owns launch"/>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the target owns launch</a:t>
            </a:r>
          </a:p>
        </p:txBody>
      </p:sp>
      <p:sp>
        <p:nvSpPr>
          <p:cNvPr id="5" name="5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51</a:t>
            </a:r>
          </a:p>
        </p:txBody>
      </p:sp>
      <p:sp>
        <p:nvSpPr>
          <p:cNvPr id="6" name="Tile 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a:t>
            </a:r>
          </a:p>
        </p:txBody>
      </p:sp>
      <p:sp>
        <p:nvSpPr>
          <p:cNvPr id="7" name="Rectangle 6"/>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8" name="Python call"/>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Python call</a:t>
            </a:r>
          </a:p>
        </p:txBody>
      </p:sp>
      <p:sp>
        <p:nvSpPr>
          <p:cNvPr id="9" name="@tile.kernel"/>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@tile.kernel</a:t>
            </a:r>
          </a:p>
        </p:txBody>
      </p:sp>
      <p:cxnSp>
        <p:nvCxnSpPr>
          <p:cNvPr id="10" name="Connector 9"/>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2" name="Compiler role"/>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Compiler role</a:t>
            </a:r>
          </a:p>
        </p:txBody>
      </p:sp>
      <p:sp>
        <p:nvSpPr>
          <p:cNvPr id="13" name="Target pipeline / Target binary"/>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Target pipeline</a:t>
            </a:r>
          </a:p>
          <a:p>
            <a:pPr algn="l">
              <a:lnSpc>
                <a:spcPts val="1334"/>
              </a:lnSpc>
              <a:spcBef>
                <a:spcPts val="0"/>
              </a:spcBef>
              <a:spcAft>
                <a:spcPts val="0"/>
              </a:spcAft>
            </a:pPr>
            <a:r>
              <a:rPr sz="1150" b="0">
                <a:solidFill>
                  <a:srgbClr val="616161"/>
                </a:solidFill>
                <a:latin typeface="NVIDIA Sans"/>
              </a:rPr>
              <a:t>Target binary</a:t>
            </a:r>
          </a:p>
        </p:txBody>
      </p:sp>
      <p:cxnSp>
        <p:nvCxnSpPr>
          <p:cNvPr id="14" name="Connector 13"/>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6" name="Decorator plugin"/>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Decorator plugin</a:t>
            </a:r>
          </a:p>
        </p:txBody>
      </p:sp>
      <p:sp>
        <p:nvSpPr>
          <p:cNvPr id="17" name="CUDA Python / launch wrapper"/>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CUDA Python</a:t>
            </a:r>
          </a:p>
          <a:p>
            <a:pPr algn="l">
              <a:lnSpc>
                <a:spcPts val="1334"/>
              </a:lnSpc>
              <a:spcBef>
                <a:spcPts val="0"/>
              </a:spcBef>
              <a:spcAft>
                <a:spcPts val="0"/>
              </a:spcAft>
            </a:pPr>
            <a:r>
              <a:rPr sz="1150" b="0">
                <a:solidFill>
                  <a:srgbClr val="616161"/>
                </a:solidFill>
                <a:latin typeface="NVIDIA Sans"/>
              </a:rPr>
              <a:t>launch wrapper</a:t>
            </a:r>
          </a:p>
        </p:txBody>
      </p:sp>
      <p:cxnSp>
        <p:nvCxnSpPr>
          <p:cNvPr id="18" name="Connector 17"/>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0" name="Device"/>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Device</a:t>
            </a:r>
          </a:p>
        </p:txBody>
      </p:sp>
      <p:sp>
        <p:nvSpPr>
          <p:cNvPr id="21" name="Caller-owned memory"/>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Caller-owned memory</a:t>
            </a:r>
          </a:p>
        </p:txBody>
      </p:sp>
      <p:sp>
        <p:nvSpPr>
          <p:cNvPr id="22" name="Port sketch · reusable core, target-owned execution"/>
          <p:cNvSpPr txBox="1"/>
          <p:nvPr/>
        </p:nvSpPr>
        <p:spPr>
          <a:xfrm>
            <a:off x="457200" y="3822191"/>
            <a:ext cx="8229600" cy="320040"/>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Port sketch · reusable core, target-owned execution</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build a Python DSL for MLIR</dc:title>
  <dc:subject>LLVM conference tutorial · mlir dsl · core: 30 minutes; mutation: 10 minutes; showcase: 5 minutes</dc:subject>
  <dc:creator>Guray Ozen; Amir Tavakkoli</dc:creator>
  <cp:keywords>MLIR, Python, DSL, tutorial, draft</cp:keywords>
  <dc:description>Draft v14. Uses the supplied cutlass-python-pytorch-v22 template and style.</dc:description>
  <cp:lastModifiedBy>Steve Canny</cp:lastModifiedBy>
  <cp:revision>1</cp:revision>
  <dcterms:created xsi:type="dcterms:W3CDTF">2013-01-27T09:14:16Z</dcterms:created>
  <dcterms:modified xsi:type="dcterms:W3CDTF">2013-01-27T09:15:58Z</dcterms:modified>
  <cp:category/>
</cp:coreProperties>
</file>