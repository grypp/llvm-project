
<file path=[Content_Types].xml><?xml version="1.0" encoding="utf-8"?>
<Types xmlns="http://schemas.openxmlformats.org/package/2006/content-types">
  <Default Extension="bin" ContentType="application/vnd.openxmlformats-officedocument.presentationml.printerSettings"/>
  <Default Extension="fntdata" ContentType="application/x-fontdata"/>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autoCompressPictures="0" embedTrueTypeFonts="1">
  <p:sldMasterIdLst>
    <p:sldMasterId id="2147483648" r:id="rId1"/>
  </p:sldMasterIdLst>
  <p:sldIdLst>
    <p:sldId id="256" r:id="rId13"/>
    <p:sldId id="257" r:id="rId14"/>
    <p:sldId id="258" r:id="rId15"/>
    <p:sldId id="259" r:id="rId16"/>
    <p:sldId id="260" r:id="rId17"/>
    <p:sldId id="261" r:id="rId18"/>
    <p:sldId id="262" r:id="rId19"/>
    <p:sldId id="263" r:id="rId20"/>
    <p:sldId id="264" r:id="rId21"/>
    <p:sldId id="265" r:id="rId22"/>
    <p:sldId id="266" r:id="rId23"/>
    <p:sldId id="267" r:id="rId24"/>
    <p:sldId id="268" r:id="rId25"/>
    <p:sldId id="269" r:id="rId26"/>
    <p:sldId id="270" r:id="rId27"/>
    <p:sldId id="271" r:id="rId28"/>
    <p:sldId id="272" r:id="rId29"/>
    <p:sldId id="273" r:id="rId30"/>
    <p:sldId id="274" r:id="rId31"/>
    <p:sldId id="275" r:id="rId32"/>
    <p:sldId id="276" r:id="rId33"/>
    <p:sldId id="277" r:id="rId34"/>
    <p:sldId id="278" r:id="rId35"/>
  </p:sldIdLst>
  <p:sldSz cx="9144000" cy="5143500" type="screen16x9"/>
  <p:notesSz cx="6858000" cy="9144000"/>
  <p:embeddedFontLst>
    <p:embeddedFont>
      <p:font typeface="NVIDIA Sans"/>
      <p:regular r:id="rIdEmbeddedFont1"/>
      <p:bold r:id="rIdEmbeddedFont2"/>
    </p:embeddedFont>
    <p:embeddedFont>
      <p:font typeface="NVIDIA Sans Light"/>
      <p:regular r:id="rIdEmbeddedFont3"/>
    </p:embeddedFont>
    <p:embeddedFont>
      <p:font typeface="JetBrains Mono"/>
      <p:regular r:id="rIdEmbeddedFont4"/>
      <p:bold r:id="rIdEmbeddedFont5"/>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EmbeddedFont1" Type="http://schemas.openxmlformats.org/officeDocument/2006/relationships/font" Target="fonts/codexFont1.fntdata"/><Relationship Id="rIdEmbeddedFont2" Type="http://schemas.openxmlformats.org/officeDocument/2006/relationships/font" Target="fonts/codexFont2.fntdata"/><Relationship Id="rIdEmbeddedFont3" Type="http://schemas.openxmlformats.org/officeDocument/2006/relationships/font" Target="fonts/codexFont3.fntdata"/><Relationship Id="rIdEmbeddedFont4" Type="http://schemas.openxmlformats.org/officeDocument/2006/relationships/font" Target="fonts/codexFont4.fntdata"/><Relationship Id="rIdEmbeddedFont5" Type="http://schemas.openxmlformats.org/officeDocument/2006/relationships/font" Target="fonts/codexFont5.fntdata"/><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8" Type="http://schemas.openxmlformats.org/officeDocument/2006/relationships/notesMaster" Target="notesMasters/notesMaster1.xml"/><Relationship Id="rId13" Type="http://schemas.openxmlformats.org/officeDocument/2006/relationships/slide" Target="slides/slide1.xml"/><Relationship Id="rId14" Type="http://schemas.openxmlformats.org/officeDocument/2006/relationships/slide" Target="slides/slide2.xml"/><Relationship Id="rId15" Type="http://schemas.openxmlformats.org/officeDocument/2006/relationships/slide" Target="slides/slide3.xml"/><Relationship Id="rId16" Type="http://schemas.openxmlformats.org/officeDocument/2006/relationships/slide" Target="slides/slide4.xml"/><Relationship Id="rId17" Type="http://schemas.openxmlformats.org/officeDocument/2006/relationships/slide" Target="slides/slide5.xml"/><Relationship Id="rId18" Type="http://schemas.openxmlformats.org/officeDocument/2006/relationships/slide" Target="slides/slide6.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 Id="rId23" Type="http://schemas.openxmlformats.org/officeDocument/2006/relationships/slide" Target="slides/slide11.xml"/><Relationship Id="rId24" Type="http://schemas.openxmlformats.org/officeDocument/2006/relationships/slide" Target="slides/slide12.xml"/><Relationship Id="rId25" Type="http://schemas.openxmlformats.org/officeDocument/2006/relationships/slide" Target="slides/slide13.xml"/><Relationship Id="rId26" Type="http://schemas.openxmlformats.org/officeDocument/2006/relationships/slide" Target="slides/slide14.xml"/><Relationship Id="rId27" Type="http://schemas.openxmlformats.org/officeDocument/2006/relationships/slide" Target="slides/slide15.xml"/><Relationship Id="rId28" Type="http://schemas.openxmlformats.org/officeDocument/2006/relationships/slide" Target="slides/slide16.xml"/><Relationship Id="rId29" Type="http://schemas.openxmlformats.org/officeDocument/2006/relationships/slide" Target="slides/slide17.xml"/><Relationship Id="rId30" Type="http://schemas.openxmlformats.org/officeDocument/2006/relationships/slide" Target="slides/slide18.xml"/><Relationship Id="rId31" Type="http://schemas.openxmlformats.org/officeDocument/2006/relationships/slide" Target="slides/slide19.xml"/><Relationship Id="rId32" Type="http://schemas.openxmlformats.org/officeDocument/2006/relationships/slide" Target="slides/slide20.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01 — Build a Python DSL for MLIR</a:t>
            </a:r>
          </a:p>
          <a:p>
            <a:r>
              <a:t>Owner: Presenter</a:t>
            </a:r>
          </a:p>
          <a:p>
            <a:r>
              <a:t>Clock: 00:00–00:30</a:t>
            </a:r>
          </a:p>
          <a:p>
            <a:r>
              <a:t>Target duration: 00:30</a:t>
            </a:r>
          </a:p>
          <a:p/>
          <a:p>
            <a:r>
              <a:t>Open with the goal: build a reusable Python DSL base, then let dialect authors define their own operations and execution model. This is a tutorial implementation in the current working tree, not an upstream release claim. First presenter: 30 minutes. Amir: final 15 minutes on mutation and the PyIR idea.</a:t>
            </a:r>
          </a:p>
          <a:p/>
          <a:p>
            <a:r>
              <a:t>SOURCES / PREPARATION</a:t>
            </a:r>
          </a:p>
          <a:p>
            <a:r>
              <a:t>mlir/python/mlir/dsl/__init__.py:5</a:t>
            </a:r>
          </a:p>
          <a:p>
            <a:r>
              <a:t>mlir/python/mlir/dsl/core/dsl.py:5</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02 — The next 45 minutes</a:t>
            </a:r>
          </a:p>
          <a:p>
            <a:r>
              <a:t>Owner: Presenter</a:t>
            </a:r>
          </a:p>
          <a:p>
            <a:r>
              <a:t>Clock: 00:30–01:15</a:t>
            </a:r>
          </a:p>
          <a:p>
            <a:r>
              <a:t>Target duration: 00:45</a:t>
            </a:r>
          </a:p>
          <a:p/>
          <a:p>
            <a:r>
              <a:t>Assume Python familiarity and a basic understanding of SSA. No prior implementation of a Python compiler is required. Questions can be taken at transitions; the authored content budgets exactly 30 minutes before Amir. Amir owns all technical content in the final 15 minutes.</a:t>
            </a:r>
          </a:p>
          <a:p/>
          <a:p>
            <a:r>
              <a:t>SOURCES / PREPARATION</a:t>
            </a:r>
          </a:p>
          <a:p>
            <a:r>
              <a:t>mlir/tools/mlir-dsl/docs/_index.md:15</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03 — Reuse the Python you already have</a:t>
            </a:r>
          </a:p>
          <a:p>
            <a:r>
              <a:t>Owner: Presenter</a:t>
            </a:r>
          </a:p>
          <a:p>
            <a:r>
              <a:t>Clock: 01:15–02:45</a:t>
            </a:r>
          </a:p>
          <a:p>
            <a:r>
              <a:t>Target duration: 01:30</a:t>
            </a:r>
          </a:p>
          <a:p/>
          <a:p>
            <a:r>
              <a:t>Use the terms meta-language (Python) and object language (MLIR). The interpreter remains the evaluator for Python computations; overloaded runtime values emit MLIR. The reusable architecture has replaceable executors and plugins. Be precise: the current default BaseDSL host path uses llvm.func and LLVM pointers; dialect independence is provided through extension seams, not an absence of dialect-specific defaults.</a:t>
            </a:r>
          </a:p>
          <a:p/>
          <a:p>
            <a:r>
              <a:t>SOURCES / PREPARATION</a:t>
            </a:r>
          </a:p>
          <a:p>
            <a:r>
              <a:t>mlir/python/mlir/dsl/core/dsl.py:5</a:t>
            </a:r>
          </a:p>
          <a:p>
            <a:r>
              <a:t>mlir/python/mlir/dsl/types/typing.py:688</a:t>
            </a:r>
          </a:p>
          <a:p>
            <a:r>
              <a:t>mlir/python/mlir/dsl/frontend/ast_helpers.py:83</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04 — Three ways to build the frontend</a:t>
            </a:r>
          </a:p>
          <a:p>
            <a:r>
              <a:t>Owner: Presenter</a:t>
            </a:r>
          </a:p>
          <a:p>
            <a:r>
              <a:t>Clock: 02:45–04:30</a:t>
            </a:r>
          </a:p>
          <a:p>
            <a:r>
              <a:t>Target duration: 01:45</a:t>
            </a:r>
          </a:p>
          <a:p/>
          <a:p>
            <a:r>
              <a:t>This is a conceptual comparison, not a benchmark. An AST-only compiler gives control over syntax but must implement the subset it accepts. Proxy tracing naturally reuses ordinary Python helpers; Python truth tests and range need a decision unavailable from a runtime SSA value. The hybrid keeps Python evaluation and introduces callbacks around native if/for/while. Point out that explicit builders also remain available without preprocessing.</a:t>
            </a:r>
          </a:p>
          <a:p/>
          <a:p>
            <a:r>
              <a:t>SOURCES / PREPARATION</a:t>
            </a:r>
          </a:p>
          <a:p>
            <a:r>
              <a:t>mlir/python/mlir/dsl/types/typing.py:1124</a:t>
            </a:r>
          </a:p>
          <a:p>
            <a:r>
              <a:t>mlir/python/mlir/dsl/frontend/ast_preprocessor.py:1064</a:t>
            </a:r>
          </a:p>
          <a:p>
            <a:r>
              <a:t>mlir/python/mlir/dsl/mlir_dsl/mlir_dsl_ast_decorators.py:5</a:t>
            </a:r>
          </a:p>
          <a:p>
            <a:r>
              <a:t>mlir/python/mlir/dsl/mlir_dsl/mlir_dsl.py:246</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05 — One call, two kinds of execution</a:t>
            </a:r>
          </a:p>
          <a:p>
            <a:r>
              <a:t>Owner: Presenter</a:t>
            </a:r>
          </a:p>
          <a:p>
            <a:r>
              <a:t>Clock: 04:30–05:45</a:t>
            </a:r>
          </a:p>
          <a:p>
            <a:r>
              <a:t>Target duration: 01:15</a:t>
            </a:r>
          </a:p>
          <a:p/>
          <a:p>
            <a:r>
              <a:t>Follow one @m.jit call from Python input values to generated llvm.func to the ExecutionEngine. The actual implementation creates IR before checking the compile cache. Show a conceptual pipeline, then explain cache placement later. The host entry uses packed ExecutionEngine invocation of an LLVM-dialect function, not func.func plus a C-interface wrapper.</a:t>
            </a:r>
          </a:p>
          <a:p/>
          <a:p>
            <a:r>
              <a:t>SOURCES / PREPARATION</a:t>
            </a:r>
          </a:p>
          <a:p>
            <a:r>
              <a:t>mlir/python/mlir/dsl/core/dsl.py:1869</a:t>
            </a:r>
          </a:p>
          <a:p>
            <a:r>
              <a:t>mlir/python/mlir/dsl/core/dsl.py:2255</a:t>
            </a:r>
          </a:p>
          <a:p>
            <a:r>
              <a:t>mlir/python/mlir/dsl/compiler/jit_executor.py:97</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06 — Binding time is part of the API</a:t>
            </a:r>
          </a:p>
          <a:p>
            <a:r>
              <a:t>Owner: Presenter</a:t>
            </a:r>
          </a:p>
          <a:p>
            <a:r>
              <a:t>Clock: 05:45–07:30</a:t>
            </a:r>
          </a:p>
          <a:p>
            <a:r>
              <a:t>Target duration: 01:45</a:t>
            </a:r>
          </a:p>
          <a:p/>
          <a:p>
            <a:r>
              <a:t>Ask the audience how many runtime arguments expression has: two. Changing scale changes the generated program. Changing a or b alone can reuse compiled code. Critical source-version distinction: the legacy mlir/tools/mlir-dsl tutorial says annotations only document intent. That is not the current mlir/python/mlir/dsl API. Current Numeric annotations stage plain host inputs, and unannotated leaf-free Python values are Meta. Explicit Constexpr is also available.</a:t>
            </a:r>
          </a:p>
          <a:p/>
          <a:p>
            <a:r>
              <a:t>SOURCES / PREPARATION</a:t>
            </a:r>
          </a:p>
          <a:p>
            <a:r>
              <a:t>mlir/test/python/dsl/expression.py:8</a:t>
            </a:r>
          </a:p>
          <a:p>
            <a:r>
              <a:t>mlir/python/mlir/dsl/runtime/jit_arg_adapters.py:151</a:t>
            </a:r>
          </a:p>
          <a:p>
            <a:r>
              <a:t>mlir/python/mlir/dsl/core/dsl.py:823</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07 — An expression becomes operations</a:t>
            </a:r>
          </a:p>
          <a:p>
            <a:r>
              <a:t>Owner: Presenter</a:t>
            </a:r>
          </a:p>
          <a:p>
            <a:r>
              <a:t>Clock: 07:30–09:00</a:t>
            </a:r>
          </a:p>
          <a:p>
            <a:r>
              <a:t>Target duration: 01:30</a:t>
            </a:r>
          </a:p>
          <a:p/>
          <a:p>
            <a:r>
              <a:t>This IR was captured from the current expression.py test with MLIR_DSL_DRYRUN=1 MLIR_DSL_PRINT_IR=1; only the function-signature line wrap and surrounding module are adjusted for the slide. Explain operation overloading rather than presenting an expression parser. Numeric wrappers can hold a Python payload or an ir.Value; the operator path folds known values and emits operations for staged values. The fma example in the same test demonstrates explicit Int32-to-Float32 conversion via arith.sitofp.</a:t>
            </a:r>
          </a:p>
          <a:p/>
          <a:p>
            <a:r>
              <a:t>SOURCES / PREPARATION</a:t>
            </a:r>
          </a:p>
          <a:p>
            <a:r>
              <a:t>mlir/test/python/dsl/expression.py:8</a:t>
            </a:r>
          </a:p>
          <a:p>
            <a:r>
              <a:t>mlir/python/mlir/dsl/types/typing.py:688</a:t>
            </a:r>
          </a:p>
          <a:p>
            <a:r>
              <a:t>mlir/python/mlir/dsl/types/typing.py:1124</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08 — Helpers compose during tracing</a:t>
            </a:r>
          </a:p>
          <a:p>
            <a:r>
              <a:t>Owner: Presenter</a:t>
            </a:r>
          </a:p>
          <a:p>
            <a:r>
              <a:t>Clock: 09:00–10:15</a:t>
            </a:r>
          </a:p>
          <a:p>
            <a:r>
              <a:t>Target duration: 01:15</a:t>
            </a:r>
          </a:p>
          <a:p/>
          <a:p>
            <a:r>
              <a:t>Do not claim separate func.call emission: core/dsl.py explicitly executes a nested preprocessed body inline when a context and insertion point are active. Ordinary helpers with expression operations naturally work. An ordinary helper using Python if on a runtime value needs preprocessing through @m.jit or explicit builders. A separately compiled helper ABI would be a different frontend design choice.</a:t>
            </a:r>
          </a:p>
          <a:p/>
          <a:p>
            <a:r>
              <a:t>SOURCES / PREPARATION</a:t>
            </a:r>
          </a:p>
          <a:p>
            <a:r>
              <a:t>mlir/python/mlir/dsl/core/dsl.py:2269</a:t>
            </a:r>
          </a:p>
          <a:p>
            <a:r>
              <a:t>mlir/python/mlir/dsl/core/dsl.py:612</a:t>
            </a:r>
          </a:p>
          <a:p>
            <a:r>
              <a:t>mlir/test/python/dsl/diagnostics.py:37</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09 — The same syntax can run now or later</a:t>
            </a:r>
          </a:p>
          <a:p>
            <a:r>
              <a:t>Owner: Presenter</a:t>
            </a:r>
          </a:p>
          <a:p>
            <a:r>
              <a:t>Clock: 10:15–11:30</a:t>
            </a:r>
          </a:p>
          <a:p>
            <a:r>
              <a:t>Target duration: 01:15</a:t>
            </a:r>
          </a:p>
          <a:p/>
          <a:p>
            <a:r>
              <a:t>The default DSL installs executors behind the frontend selectors. With a Meta bound, bare range follows Python execution; m.range explicitly stages even a known bound. With staged conditions, Python executes callbacks to build regions rather than taking one runtime branch. Side effects in those callbacks happen during tracing. Do not claim all Python control-flow constructs are supported; early exits and joins have explicit diagnostics.</a:t>
            </a:r>
          </a:p>
          <a:p/>
          <a:p>
            <a:r>
              <a:t>SOURCES / PREPARATION</a:t>
            </a:r>
          </a:p>
          <a:p>
            <a:r>
              <a:t>mlir/test/python/dsl/meta_loop.py:13</a:t>
            </a:r>
          </a:p>
          <a:p>
            <a:r>
              <a:t>mlir/python/mlir/dsl/frontend/ast_helpers.py:83</a:t>
            </a:r>
          </a:p>
          <a:p>
            <a:r>
              <a:t>mlir/python/mlir/dsl/mlir_dsl/mlir_dsl_ast_decorators.py:383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 Watch one local become an SSA carry</a:t>
            </a:r>
          </a:p>
          <a:p>
            <a:r>
              <a:t>Owner: Presenter</a:t>
            </a:r>
          </a:p>
          <a:p>
            <a:r>
              <a:t>Clock: 11:30–13:30</a:t>
            </a:r>
          </a:p>
          <a:p>
            <a:r>
              <a:t>Target duration: 02:00</a:t>
            </a:r>
          </a:p>
          <a:p/>
          <a:p>
            <a:r>
              <a:t>Run the existing cumsum.py test or use the captured output. It executes successfully on the configured build: RESULT: 45 Int32. The IR preserves the emitted operations including both zero constants; SSA names are shortened and whitespace wrapped for display. Identify each role: initial acc, current iteration acc, yielded next acc, final loop result. Save the explicit-builder comparison for the mutation transition at minute 27.</a:t>
            </a:r>
          </a:p>
          <a:p/>
          <a:p>
            <a:r>
              <a:t>SOURCES / PREPARATION</a:t>
            </a:r>
          </a:p>
          <a:p>
            <a:r>
              <a:t>mlir/test/python/dsl/cumsum.py:11</a:t>
            </a:r>
          </a:p>
          <a:p>
            <a:r>
              <a:t>mlir/python/mlir/dsl/frontend/ast_preprocessor.py:1064</a:t>
            </a:r>
          </a:p>
          <a:p>
            <a:r>
              <a:t>mlir/python/mlir/dsl/mlir_dsl/mlir_dsl_ast_decorators.py:415</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 A complete CPU kernel</a:t>
            </a:r>
          </a:p>
          <a:p>
            <a:r>
              <a:t>Owner: Presenter</a:t>
            </a:r>
          </a:p>
          <a:p>
            <a:r>
              <a:t>Clock: 13:30–15:15</a:t>
            </a:r>
          </a:p>
          <a:p>
            <a:r>
              <a:t>Target duration: 01:45</a:t>
            </a:r>
          </a:p>
          <a:p/>
          <a:p>
            <a:r>
              <a:t>This is the current axpy_pointer.py test with Pointer[Float32] abbreviated as P. The test was run on the configured build and printed MATCH: True 2.5 512.5. Input arrays must be C-contiguous and have the declared dtype. Shape and strides are not passed in the pointer ABI; n is explicit. Memory stores are represented runtime effects and do not require turning the pointer into a loop carry when only its pointee is written.</a:t>
            </a:r>
          </a:p>
          <a:p/>
          <a:p>
            <a:r>
              <a:t>SOURCES / PREPARATION</a:t>
            </a:r>
          </a:p>
          <a:p>
            <a:r>
              <a:t>mlir/test/python/dsl/axpy_pointer.py:12</a:t>
            </a:r>
          </a:p>
          <a:p>
            <a:r>
              <a:t>mlir/python/mlir/dsl/runtime/jit_arg_adapters.py:533</a:t>
            </a:r>
          </a:p>
          <a:p>
            <a:r>
              <a:t>mlir/python/mlir/dsl/mlir_dsl/mlir_dsl_ast_decorators.py:208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 Interop is an adapter boundary</a:t>
            </a:r>
          </a:p>
          <a:p>
            <a:r>
              <a:t>Owner: Presenter</a:t>
            </a:r>
          </a:p>
          <a:p>
            <a:r>
              <a:t>Clock: 15:15–16:15</a:t>
            </a:r>
          </a:p>
          <a:p>
            <a:r>
              <a:t>Target duration: 01:00</a:t>
            </a:r>
          </a:p>
          <a:p/>
          <a:p>
            <a:r>
              <a:t>The abstract mentions DLPack and memrefs. Correct that distinction verbally: current mlir/python/mlir/dsl implements NumPy and lazy PyTorch adapters to LLVM pointers, with no shape or stride in the ABI. DLPack and memref array views exist in the older mlir/tools/mlir-dsl prototype; they illustrate an alternative interop design, not an implemented current API. Do not show m.from_dlpack or m.Array in current runnable snippets. The current torch adapter is registered by name, so the base package does not import torch.</a:t>
            </a:r>
          </a:p>
          <a:p/>
          <a:p>
            <a:r>
              <a:t>SOURCES / PREPARATION</a:t>
            </a:r>
          </a:p>
          <a:p>
            <a:r>
              <a:t>mlir/python/mlir/dsl/runtime/jit_arg_adapters.py:533</a:t>
            </a:r>
          </a:p>
          <a:p>
            <a:r>
              <a:t>mlir/python/mlir/dsl/runtime/jit_arg_adapters.py:553</a:t>
            </a:r>
          </a:p>
          <a:p>
            <a:r>
              <a:t>mlir/tools/mlir-dsl/python/mlir/dsl/runtime.py:102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 Diagnostics are part of the frontend</a:t>
            </a:r>
          </a:p>
          <a:p>
            <a:r>
              <a:t>Owner: Presenter</a:t>
            </a:r>
          </a:p>
          <a:p>
            <a:r>
              <a:t>Clock: 16:15–17:45</a:t>
            </a:r>
          </a:p>
          <a:p>
            <a:r>
              <a:t>Target duration: 01:30</a:t>
            </a:r>
          </a:p>
          <a:p/>
          <a:p>
            <a:r>
              <a:t>The right panel is a shortened diagnostic summary, not a verbatim full transcript. The actual diagnostics.py example reports error[PHASE_MUTATE_PYTHON], filename and line 21, a source caret, region for, and a suggestion to initialize Int32(0). It was executed successfully to check the diagnostics. For emitted-op locations, use MLIR_DSL_DEBUGINFO=1; _mlir_helpers/op.py attaches a source snippet NameLoc with a FileLineColLoc. The expression test was checked and points multiplication to expression.py:10:15. Keep internal compiler failures distinct from user-facing errors.</a:t>
            </a:r>
          </a:p>
          <a:p/>
          <a:p>
            <a:r>
              <a:t>SOURCES / PREPARATION</a:t>
            </a:r>
          </a:p>
          <a:p>
            <a:r>
              <a:t>mlir/test/python/dsl/diagnostics.py:18</a:t>
            </a:r>
          </a:p>
          <a:p>
            <a:r>
              <a:t>mlir/python/mlir/dsl/core/diagnostics.py:747</a:t>
            </a:r>
          </a:p>
          <a:p>
            <a:r>
              <a:t>mlir/python/mlir/dsl/_mlir_helpers/op.py:255</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 Cache compilation after tracing</a:t>
            </a:r>
          </a:p>
          <a:p>
            <a:r>
              <a:t>Owner: Presenter</a:t>
            </a:r>
          </a:p>
          <a:p>
            <a:r>
              <a:t>Clock: 17:45–19:00</a:t>
            </a:r>
          </a:p>
          <a:p>
            <a:r>
              <a:t>Target duration: 01:15</a:t>
            </a:r>
          </a:p>
          <a:p/>
          <a:p>
            <a:r>
              <a:t>Current generate_mlir constructs original IR before jit_cache.get. get_module_hash includes IR bytecode, compile-affecting environment settings, pipeline, extra linked libraries, and toolchain identity. The cache is in memory; CACHE_DIR currently controls saved IR artifacts, not a persistent compiled-artifact cache. m.compile(fn, *representative_args) returns a compiled callable for direct reuse. Do not repeat the older prototype's disk cache description. Python side effects in ordinary @jit bodies can repeat on cache hits.</a:t>
            </a:r>
          </a:p>
          <a:p/>
          <a:p>
            <a:r>
              <a:t>SOURCES / PREPARATION</a:t>
            </a:r>
          </a:p>
          <a:p>
            <a:r>
              <a:t>mlir/python/mlir/dsl/core/dsl.py:1482</a:t>
            </a:r>
          </a:p>
          <a:p>
            <a:r>
              <a:t>mlir/python/mlir/dsl/core/dsl.py:1918</a:t>
            </a:r>
          </a:p>
          <a:p>
            <a:r>
              <a:t>mlir/python/mlir/dsl/core/dsl.py:1939</a:t>
            </a:r>
          </a:p>
          <a:p>
            <a:r>
              <a:t>mlir/python/mlir/dsl/mlir_dsl/mlir_dsl.py:199</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 Keep the reusable core behind your DSL</a:t>
            </a:r>
          </a:p>
          <a:p>
            <a:r>
              <a:t>Owner: Presenter</a:t>
            </a:r>
          </a:p>
          <a:p>
            <a:r>
              <a:t>Clock: 19:00–20:30</a:t>
            </a:r>
          </a:p>
          <a:p>
            <a:r>
              <a:t>Target duration: 01:30</a:t>
            </a:r>
          </a:p>
          <a:p/>
          <a:p>
            <a:r>
              <a:t>The current MlirDSL subclasses BaseDSL and installs SCF executors with Executor.set_functions. Its plugins are class attributes, copied per DSL instance. DialectPlugin has install, register_dialects, pipeline_passes, and shared_libs. register_leaf is the public value-extension hook; register_jit_arg_adapter maps framework objects into those values. The Design.md subclass-versus-plugin rule is a useful design guideline. Do not claim the proposed ComplexPlugin example is a current test: the cited file does not exist in this tree.</a:t>
            </a:r>
          </a:p>
          <a:p/>
          <a:p>
            <a:r>
              <a:t>SOURCES / PREPARATION</a:t>
            </a:r>
          </a:p>
          <a:p>
            <a:r>
              <a:t>mlir/python/mlir/dsl/core/plugin.py:26</a:t>
            </a:r>
          </a:p>
          <a:p>
            <a:r>
              <a:t>mlir/python/mlir/dsl/mlir_dsl/mlir_dsl.py:154</a:t>
            </a:r>
          </a:p>
          <a:p>
            <a:r>
              <a:t>mlir/python/mlir/dsl/util/tree_utils.py:152</a:t>
            </a:r>
          </a:p>
          <a:p>
            <a:r>
              <a:t>mlir/tools/mlir-dsl/docs/Design.md:1046</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 GPU execution is a concrete extension</a:t>
            </a:r>
          </a:p>
          <a:p>
            <a:r>
              <a:t>Owner: Presenter</a:t>
            </a:r>
          </a:p>
          <a:p>
            <a:r>
              <a:t>Clock: 20:30–22:00</a:t>
            </a:r>
          </a:p>
          <a:p>
            <a:r>
              <a:t>Target duration: 01:30</a:t>
            </a:r>
          </a:p>
          <a:p/>
          <a:p>
            <a:r>
              <a:t>This example is composed from the current public APIs and was not GPU-executed during deck preparation. Preflight it on the intended conference GPU before a live demo. Current thread_idx/block_idx/block_dim return Int32 tuples; GPU launch dimensions are converted separately by the plugin. A host @m.jit is required around launch. Allocate contiguous CUDA buffers with the caller's framework and pass them through the lazy adapter. Configure MLIR_DSL_ARCH and the MLIR CUDA runtime library for the chosen build. This is a correctness example, not a performance kernel.</a:t>
            </a:r>
          </a:p>
          <a:p/>
          <a:p>
            <a:r>
              <a:t>SOURCES / PREPARATION</a:t>
            </a:r>
          </a:p>
          <a:p>
            <a:r>
              <a:t>mlir/python/mlir/dsl/dialect_plugins/gpu.py:175</a:t>
            </a:r>
          </a:p>
          <a:p>
            <a:r>
              <a:t>mlir/python/mlir/dsl/dialect_plugins/gpu.py:293</a:t>
            </a:r>
          </a:p>
          <a:p>
            <a:r>
              <a:t>mlir/python/mlir/dsl/core/dsl.py:335</a:t>
            </a:r>
          </a:p>
          <a:p>
            <a:r>
              <a:t>mlir/python/mlir/dsl/runtime/jit_arg_adapters.py:553</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 A plugin supplies the offload path</a:t>
            </a:r>
          </a:p>
          <a:p>
            <a:r>
              <a:t>Owner: Presenter</a:t>
            </a:r>
          </a:p>
          <a:p>
            <a:r>
              <a:t>Clock: 22:00–23:30</a:t>
            </a:r>
          </a:p>
          <a:p>
            <a:r>
              <a:t>Target duration: 01:30</a:t>
            </a:r>
          </a:p>
          <a:p/>
          <a:p>
            <a:r>
              <a:t>GpuPlugin.install supplies gpu_dialect and GpuKernelGenHelper. pipeline_passes returns gpu-lower-to-nvvm-pipeline with the selected cubin-chip. BaseDSL appends its core conversion list after plugin passes. shared_libs contributes libmlir_cuda_runtime for generated host code. The DSL does not allocate or copy device buffers. Current launch semantics are synchronous; a nonempty async_deps is unsupported. Avoid promising user-stream interop from the legacy DLPack example. Keep detailed LLVM/NVVM pass names in notes unless asked.</a:t>
            </a:r>
          </a:p>
          <a:p/>
          <a:p>
            <a:r>
              <a:t>SOURCES / PREPARATION</a:t>
            </a:r>
          </a:p>
          <a:p>
            <a:r>
              <a:t>mlir/python/mlir/dsl/dialect_plugins/gpu.py:423</a:t>
            </a:r>
          </a:p>
          <a:p>
            <a:r>
              <a:t>mlir/python/mlir/dsl/core/dsl.py:83</a:t>
            </a:r>
          </a:p>
          <a:p>
            <a:r>
              <a:t>mlir/python/mlir/dsl/core/dsl.py:774</a:t>
            </a:r>
          </a:p>
          <a:p>
            <a:r>
              <a:t>mlir/python/mlir/dsl/dialect_plugins/gpu.py:293</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 Use independent agents as API learners</a:t>
            </a:r>
          </a:p>
          <a:p>
            <a:r>
              <a:t>Owner: Presenter</a:t>
            </a:r>
          </a:p>
          <a:p>
            <a:r>
              <a:t>Clock: 23:30–24:45</a:t>
            </a:r>
          </a:p>
          <a:p>
            <a:r>
              <a:t>Target duration: 01:15</a:t>
            </a:r>
          </a:p>
          <a:p/>
          <a:p>
            <a:r>
              <a:t>This is the proposed four-role protocol, not a claim that all four were evaluated. Supply the same current examples/tests, an exact environment, and a separate scratch directory. Use a fixed 15-minute first attempt; no implementation source or communication between learners. A separate reviewer reruns the submitted code and classifies environment problems, documentation issues, diagnostics, defects, and unsupported features. The existing protocol needs adaptation to the current Pointer API: replace strided-input and DLPack stream requirements with supported contiguous-buffer cases. Agent learning exercises inform API design; they do not establish human usability or performance.</a:t>
            </a:r>
          </a:p>
          <a:p/>
          <a:p>
            <a:r>
              <a:t>SOURCES / PREPARATION</a:t>
            </a:r>
          </a:p>
          <a:p>
            <a:r>
              <a:t>mlir/tools/mlir-dsl/docs/AgentFeedback.md:3</a:t>
            </a:r>
          </a:p>
          <a:p>
            <a:r>
              <a:t>mlir/tools/mlir-dsl/docs/AgentFeedback.md:18</a:t>
            </a:r>
          </a:p>
          <a:p>
            <a:r>
              <a:t>mlir/tools/mlir-dsl/docs/AgentFeedback.md:63</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 What the recorded feedback actually shows</a:t>
            </a:r>
          </a:p>
          <a:p>
            <a:r>
              <a:t>Owner: Presenter</a:t>
            </a:r>
          </a:p>
          <a:p>
            <a:r>
              <a:t>Clock: 24:45–25:30</a:t>
            </a:r>
          </a:p>
          <a:p>
            <a:r>
              <a:t>Target duration: 00:45</a:t>
            </a:r>
          </a:p>
          <a:p/>
          <a:p>
            <a:r>
              <a:t>Source: SmokeExercises.md. The two independent agents were given examples, README, and selected tests, not implementation files or each other's findings. Both reported no concrete API/documentation difficulty. The report records CPU contiguous/strided/reversed cases and CUDA stream/tail checks under the old array/DLPack implementation. Do not transfer these claims to current Pointer adapters or present a four-role evaluation, failure rate, human comparison, or benchmark. The historical source and logs are preserved under mlir/tools/mlir-dsl.</a:t>
            </a:r>
          </a:p>
          <a:p/>
          <a:p>
            <a:r>
              <a:t>SOURCES / PREPARATION</a:t>
            </a:r>
          </a:p>
          <a:p>
            <a:r>
              <a:t>mlir/tools/mlir-dsl/docs/SmokeExercises.md:3</a:t>
            </a:r>
          </a:p>
          <a:p>
            <a:r>
              <a:t>mlir/tools/mlir-dsl/docs/feedback/cpu-output.txt</a:t>
            </a:r>
          </a:p>
          <a:p>
            <a:r>
              <a:t>mlir/tools/mlir-dsl/docs/feedback/cuda-output.txt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 Make the state transfer visible</a:t>
            </a:r>
          </a:p>
          <a:p>
            <a:r>
              <a:t>Owner: Presenter</a:t>
            </a:r>
          </a:p>
          <a:p>
            <a:r>
              <a:t>Clock: 25:30–27:30</a:t>
            </a:r>
          </a:p>
          <a:p>
            <a:r>
              <a:t>Target duration: 02:00</a:t>
            </a:r>
          </a:p>
          <a:p/>
          <a:p>
            <a:r>
              <a:t>The explicit program is the current builders.py cumsum example with names shortened; the native one is current cumsum.py. Both were executed, returning 45. Explain the generator builder yields once at trace time; its MLIR loop runs at runtime. Explicit state makes the SSA requirement visible. The AST analyzer collects rebinding and store-base names, then the SCF executor flattens carried leaves, calls the body with block arguments, emits yield, and reconstructs the result. This is the final technical bridge before Amir; no PyIR implementation is introduced here.</a:t>
            </a:r>
          </a:p>
          <a:p/>
          <a:p>
            <a:r>
              <a:t>SOURCES / PREPARATION</a:t>
            </a:r>
          </a:p>
          <a:p>
            <a:r>
              <a:t>mlir/test/python/dsl/builders.py:9</a:t>
            </a:r>
          </a:p>
          <a:p>
            <a:r>
              <a:t>mlir/test/python/dsl/cumsum.py:11</a:t>
            </a:r>
          </a:p>
          <a:p>
            <a:r>
              <a:t>mlir/python/mlir/dsl/frontend/ast_preprocessor.py:1064</a:t>
            </a:r>
          </a:p>
          <a:p>
            <a:r>
              <a:t>mlir/python/mlir/dsl/mlir_dsl/mlir_dsl_ast_decorators.py:415</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 Which state does the frontend represent?</a:t>
            </a:r>
          </a:p>
          <a:p>
            <a:r>
              <a:t>Owner: Presenter</a:t>
            </a:r>
          </a:p>
          <a:p>
            <a:r>
              <a:t>Clock: 27:30–29:30</a:t>
            </a:r>
          </a:p>
          <a:p>
            <a:r>
              <a:t>Target duration: 02:00</a:t>
            </a:r>
          </a:p>
          <a:p/>
          <a:p>
            <a:r>
              <a:t>Avoid the legacy blanket claim that all list/dict mutation is unsupported. Current tree_utils supports fixed-structure tuple/list/dict/frozen-record containers of registered leaves, and checks joins for stable types/structure. A registered pointer reference leaf is not carried when only its pointee is stored. Rebuilt containers and identity-bearing leaves cannot appear twice in the flattened tree; aliased objects raise CONTAINER_ALIASED_OBJECT. Present these as the current representation boundary. Stop at the problem statement: Amir owns the PyIR idea and all technical content about that approach.</a:t>
            </a:r>
          </a:p>
          <a:p/>
          <a:p>
            <a:r>
              <a:t>SOURCES / PREPARATION</a:t>
            </a:r>
          </a:p>
          <a:p>
            <a:r>
              <a:t>mlir/python/mlir/dsl/util/tree_utils.py:5</a:t>
            </a:r>
          </a:p>
          <a:p>
            <a:r>
              <a:t>mlir/python/mlir/dsl/mlir_dsl/mlir_dsl_ast_decorators.py:185</a:t>
            </a:r>
          </a:p>
          <a:p>
            <a:r>
              <a:t>mlir/python/mlir/dsl/mlir_dsl/mlir_dsl_ast_decorators.py:298</a:t>
            </a:r>
          </a:p>
          <a:p>
            <a:r>
              <a:t>mlir/python/mlir/dsl/core/diagnostics.py:990</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 From values to mutation</a:t>
            </a:r>
          </a:p>
          <a:p>
            <a:r>
              <a:t>Owner: Presenter</a:t>
            </a:r>
          </a:p>
          <a:p>
            <a:r>
              <a:t>Clock: 29:30–30:00</a:t>
            </a:r>
          </a:p>
          <a:p>
            <a:r>
              <a:t>Target duration: 00:30</a:t>
            </a:r>
          </a:p>
          <a:p/>
          <a:p>
            <a:r>
              <a:t>Handoff wording: We have made runtime values and control-flow state explicit, and we can execute the resulting MLIR. The next question is how a frontend should represent mutation when Python objects carry state and identity. Amir will take that from here and introduce the PyIR idea. Do not add a technical PyIR preview or claim the implementation is in this repository.</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 Amir · Mutation and the PyIR idea</a:t>
            </a:r>
          </a:p>
          <a:p>
            <a:r>
              <a:t>Owner: Amir</a:t>
            </a:r>
          </a:p>
          <a:p>
            <a:r>
              <a:t>Clock: 30:00–45:00</a:t>
            </a:r>
          </a:p>
          <a:p>
            <a:r>
              <a:t>Target duration: 15:00</a:t>
            </a:r>
          </a:p>
          <a:p/>
          <a:p>
            <a:r>
              <a:t>Editorial placeholder only. This single marker reserves the complete final 15 minutes. Amir supplies all PyIR material. There is no PyIR implementation in this checkout and no PyIR technical content has been authored for this section.</a:t>
            </a:r>
          </a:p>
          <a:p/>
          <a:p>
            <a:r>
              <a:t>SOURCES / PREPARATION</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0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01</a:t>
            </a:r>
          </a:p>
        </p:txBody>
      </p:sp>
      <p:sp>
        <p:nvSpPr>
          <p:cNvPr id="5" name="LLVM Conference · Tutorial"/>
          <p:cNvSpPr txBox="1"/>
          <p:nvPr/>
        </p:nvSpPr>
        <p:spPr>
          <a:xfrm>
            <a:off x="475488" y="530352"/>
            <a:ext cx="8193024" cy="25603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LLVM Conference · Tutorial</a:t>
            </a:r>
          </a:p>
        </p:txBody>
      </p:sp>
      <p:sp>
        <p:nvSpPr>
          <p:cNvPr id="6" name="Building a Python DSL / for MLIR"/>
          <p:cNvSpPr txBox="1"/>
          <p:nvPr/>
        </p:nvSpPr>
        <p:spPr>
          <a:xfrm>
            <a:off x="438912" y="1709928"/>
            <a:ext cx="8266175" cy="987552"/>
          </a:xfrm>
          <a:prstGeom prst="rect">
            <a:avLst/>
          </a:prstGeom>
          <a:noFill/>
        </p:spPr>
        <p:txBody>
          <a:bodyPr wrap="none" anchor="t" lIns="0" rIns="0" tIns="0" bIns="0">
            <a:noAutofit/>
          </a:bodyPr>
          <a:lstStyle/>
          <a:p>
            <a:pPr algn="l">
              <a:lnSpc>
                <a:spcPts val="3364"/>
              </a:lnSpc>
              <a:spcBef>
                <a:spcPts val="0"/>
              </a:spcBef>
              <a:spcAft>
                <a:spcPts val="0"/>
              </a:spcAft>
            </a:pPr>
            <a:r>
              <a:rPr sz="2900" b="0">
                <a:solidFill>
                  <a:srgbClr val="000000"/>
                </a:solidFill>
                <a:latin typeface="NVIDIA Sans Light"/>
              </a:rPr>
              <a:t>Building a Python DSL</a:t>
            </a:r>
          </a:p>
          <a:p>
            <a:pPr algn="l">
              <a:lnSpc>
                <a:spcPts val="3364"/>
              </a:lnSpc>
              <a:spcBef>
                <a:spcPts val="0"/>
              </a:spcBef>
              <a:spcAft>
                <a:spcPts val="0"/>
              </a:spcAft>
            </a:pPr>
            <a:r>
              <a:rPr sz="2900" b="0">
                <a:solidFill>
                  <a:srgbClr val="000000"/>
                </a:solidFill>
                <a:latin typeface="NVIDIA Sans Light"/>
              </a:rPr>
              <a:t>for MLIR</a:t>
            </a:r>
          </a:p>
        </p:txBody>
      </p:sp>
      <p:sp>
        <p:nvSpPr>
          <p:cNvPr id="7" name="Python is the meta-language. MLIR is the object language."/>
          <p:cNvSpPr txBox="1"/>
          <p:nvPr/>
        </p:nvSpPr>
        <p:spPr>
          <a:xfrm>
            <a:off x="475488" y="3090672"/>
            <a:ext cx="8211312" cy="484632"/>
          </a:xfrm>
          <a:prstGeom prst="rect">
            <a:avLst/>
          </a:prstGeom>
          <a:noFill/>
        </p:spPr>
        <p:txBody>
          <a:bodyPr wrap="none" anchor="t" lIns="0" rIns="0" tIns="0" bIns="0">
            <a:noAutofit/>
          </a:bodyPr>
          <a:lstStyle/>
          <a:p>
            <a:pPr algn="l">
              <a:lnSpc>
                <a:spcPts val="1739"/>
              </a:lnSpc>
              <a:spcBef>
                <a:spcPts val="0"/>
              </a:spcBef>
              <a:spcAft>
                <a:spcPts val="0"/>
              </a:spcAft>
            </a:pPr>
            <a:r>
              <a:rPr sz="1500" b="0">
                <a:solidFill>
                  <a:srgbClr val="416600"/>
                </a:solidFill>
                <a:latin typeface="NVIDIA Sans"/>
              </a:rPr>
              <a:t>Python is the meta-language. MLIR is the object language.</a:t>
            </a:r>
          </a:p>
        </p:txBody>
      </p:sp>
      <p:sp>
        <p:nvSpPr>
          <p:cNvPr id="8" name="Reusable core  /  Sub-DSLs  /  GenAI feedback"/>
          <p:cNvSpPr txBox="1"/>
          <p:nvPr/>
        </p:nvSpPr>
        <p:spPr>
          <a:xfrm>
            <a:off x="475488" y="3739896"/>
            <a:ext cx="8211312" cy="283464"/>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Reusable core  /  Sub-DSLs  /  GenAI feedback</a:t>
            </a:r>
          </a:p>
        </p:txBody>
      </p:sp>
      <p:sp>
        <p:nvSpPr>
          <p:cNvPr id="9" name="30 minutes + 15 minutes with Amir on mutation and PyIR"/>
          <p:cNvSpPr txBox="1"/>
          <p:nvPr/>
        </p:nvSpPr>
        <p:spPr>
          <a:xfrm>
            <a:off x="475488" y="4178808"/>
            <a:ext cx="8211312" cy="283464"/>
          </a:xfrm>
          <a:prstGeom prst="rect">
            <a:avLst/>
          </a:prstGeom>
          <a:noFill/>
        </p:spPr>
        <p:txBody>
          <a:bodyPr wrap="none" anchor="t" lIns="0" rIns="0" tIns="0" bIns="0">
            <a:noAutofit/>
          </a:bodyPr>
          <a:lstStyle/>
          <a:p>
            <a:pPr algn="l">
              <a:lnSpc>
                <a:spcPts val="1218"/>
              </a:lnSpc>
              <a:spcBef>
                <a:spcPts val="0"/>
              </a:spcBef>
              <a:spcAft>
                <a:spcPts val="0"/>
              </a:spcAft>
            </a:pPr>
            <a:r>
              <a:rPr sz="1050" b="0">
                <a:solidFill>
                  <a:srgbClr val="616161"/>
                </a:solidFill>
                <a:latin typeface="NVIDIA Sans"/>
              </a:rPr>
              <a:t>30 minutes + 15 minutes with Amir on mutation and PyIR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next 45 minute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next 45 minutes</a:t>
            </a:r>
          </a:p>
        </p:txBody>
      </p:sp>
      <p:sp>
        <p:nvSpPr>
          <p:cNvPr id="5" name="A working frontend first; mutation with Amir at minute 30."/>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working frontend first; mutation with Amir at minute 30.</a:t>
            </a:r>
          </a:p>
        </p:txBody>
      </p:sp>
      <p:sp>
        <p:nvSpPr>
          <p:cNvPr id="6" name="0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02</a:t>
            </a:r>
          </a:p>
        </p:txBody>
      </p:sp>
      <p:sp>
        <p:nvSpPr>
          <p:cNvPr id="7" name="Introduction"/>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Introduction</a:t>
            </a:r>
          </a:p>
        </p:txBody>
      </p:sp>
      <p:sp>
        <p:nvSpPr>
          <p:cNvPr id="8" name="Leave with a reusable architecture and a runnable CPU exampl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Leave with a reusable architecture and a runnable CPU example.</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00:00–19:00"/>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00:00–19:00</a:t>
            </a:r>
          </a:p>
        </p:txBody>
      </p:sp>
      <p:sp>
        <p:nvSpPr>
          <p:cNvPr id="11" name="Python → MLIR / Values, execution, interop"/>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 MLIR</a:t>
            </a:r>
          </a:p>
          <a:p>
            <a:pPr algn="l">
              <a:lnSpc>
                <a:spcPts val="1334"/>
              </a:lnSpc>
              <a:spcBef>
                <a:spcPts val="0"/>
              </a:spcBef>
              <a:spcAft>
                <a:spcPts val="0"/>
              </a:spcAft>
            </a:pPr>
            <a:r>
              <a:rPr sz="1150" b="0">
                <a:solidFill>
                  <a:srgbClr val="616161"/>
                </a:solidFill>
                <a:latin typeface="NVIDIA Sans"/>
              </a:rPr>
              <a:t>Values, execution,</a:t>
            </a:r>
          </a:p>
          <a:p>
            <a:pPr algn="l">
              <a:lnSpc>
                <a:spcPts val="1334"/>
              </a:lnSpc>
              <a:spcBef>
                <a:spcPts val="0"/>
              </a:spcBef>
              <a:spcAft>
                <a:spcPts val="0"/>
              </a:spcAft>
            </a:pPr>
            <a:r>
              <a:rPr sz="1150" b="0">
                <a:solidFill>
                  <a:srgbClr val="616161"/>
                </a:solidFill>
                <a:latin typeface="NVIDIA Sans"/>
              </a:rPr>
              <a:t>interop</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19:00–23:30"/>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19:00–23:30</a:t>
            </a:r>
          </a:p>
        </p:txBody>
      </p:sp>
      <p:sp>
        <p:nvSpPr>
          <p:cNvPr id="15" name="Build a sub-DSL / GPU as a concrete extensio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Build a sub-DSL</a:t>
            </a:r>
          </a:p>
          <a:p>
            <a:pPr algn="l">
              <a:lnSpc>
                <a:spcPts val="1334"/>
              </a:lnSpc>
              <a:spcBef>
                <a:spcPts val="0"/>
              </a:spcBef>
              <a:spcAft>
                <a:spcPts val="0"/>
              </a:spcAft>
            </a:pPr>
            <a:r>
              <a:rPr sz="1150" b="0">
                <a:solidFill>
                  <a:srgbClr val="616161"/>
                </a:solidFill>
                <a:latin typeface="NVIDIA Sans"/>
              </a:rPr>
              <a:t>GPU as a concrete</a:t>
            </a:r>
          </a:p>
          <a:p>
            <a:pPr algn="l">
              <a:lnSpc>
                <a:spcPts val="1334"/>
              </a:lnSpc>
              <a:spcBef>
                <a:spcPts val="0"/>
              </a:spcBef>
              <a:spcAft>
                <a:spcPts val="0"/>
              </a:spcAft>
            </a:pPr>
            <a:r>
              <a:rPr sz="1150" b="0">
                <a:solidFill>
                  <a:srgbClr val="616161"/>
                </a:solidFill>
                <a:latin typeface="NVIDIA Sans"/>
              </a:rPr>
              <a:t>extension</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23:30–30:00"/>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23:30–30:00</a:t>
            </a:r>
          </a:p>
        </p:txBody>
      </p:sp>
      <p:sp>
        <p:nvSpPr>
          <p:cNvPr id="19" name="Feedback + state / What the frontend must track"/>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Feedback + state</a:t>
            </a:r>
          </a:p>
          <a:p>
            <a:pPr algn="l">
              <a:lnSpc>
                <a:spcPts val="1334"/>
              </a:lnSpc>
              <a:spcBef>
                <a:spcPts val="0"/>
              </a:spcBef>
              <a:spcAft>
                <a:spcPts val="0"/>
              </a:spcAft>
            </a:pPr>
            <a:r>
              <a:rPr sz="1150" b="0">
                <a:solidFill>
                  <a:srgbClr val="616161"/>
                </a:solidFill>
                <a:latin typeface="NVIDIA Sans"/>
              </a:rPr>
              <a:t>What the frontend</a:t>
            </a:r>
          </a:p>
          <a:p>
            <a:pPr algn="l">
              <a:lnSpc>
                <a:spcPts val="1334"/>
              </a:lnSpc>
              <a:spcBef>
                <a:spcPts val="0"/>
              </a:spcBef>
              <a:spcAft>
                <a:spcPts val="0"/>
              </a:spcAft>
            </a:pPr>
            <a:r>
              <a:rPr sz="1150" b="0">
                <a:solidFill>
                  <a:srgbClr val="616161"/>
                </a:solidFill>
                <a:latin typeface="NVIDIA Sans"/>
              </a:rPr>
              <a:t>must track</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30:00–45:00"/>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30:00–45:00</a:t>
            </a:r>
          </a:p>
        </p:txBody>
      </p:sp>
      <p:sp>
        <p:nvSpPr>
          <p:cNvPr id="23" name="Amir / Mutation and the PyIR idea"/>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Amir</a:t>
            </a:r>
          </a:p>
          <a:p>
            <a:pPr algn="l">
              <a:lnSpc>
                <a:spcPts val="1334"/>
              </a:lnSpc>
              <a:spcBef>
                <a:spcPts val="0"/>
              </a:spcBef>
              <a:spcAft>
                <a:spcPts val="0"/>
              </a:spcAft>
            </a:pPr>
            <a:r>
              <a:rPr sz="1150" b="0">
                <a:solidFill>
                  <a:srgbClr val="616161"/>
                </a:solidFill>
                <a:latin typeface="NVIDIA Sans"/>
              </a:rPr>
              <a:t>Mutation and the PyIR</a:t>
            </a:r>
          </a:p>
          <a:p>
            <a:pPr algn="l">
              <a:lnSpc>
                <a:spcPts val="1334"/>
              </a:lnSpc>
              <a:spcBef>
                <a:spcPts val="0"/>
              </a:spcBef>
              <a:spcAft>
                <a:spcPts val="0"/>
              </a:spcAft>
            </a:pPr>
            <a:r>
              <a:rPr sz="1150" b="0">
                <a:solidFill>
                  <a:srgbClr val="616161"/>
                </a:solidFill>
                <a:latin typeface="NVIDIA Sans"/>
              </a:rPr>
              <a:t>idea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Reuse the Python you already hav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Reuse the Python you already have</a:t>
            </a:r>
          </a:p>
        </p:txBody>
      </p:sp>
      <p:sp>
        <p:nvSpPr>
          <p:cNvPr id="5" name="Online partial evaluation: execute what is known; emit what remain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Online partial evaluation: execute what is known; emit what remains.</a:t>
            </a:r>
          </a:p>
        </p:txBody>
      </p:sp>
      <p:sp>
        <p:nvSpPr>
          <p:cNvPr id="6" name="0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03</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A DSL author chooses what becomes part of the runtime program."/>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 DSL author chooses what becomes part of the runtime program.</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Python runs now"/>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Python runs now</a:t>
            </a:r>
          </a:p>
        </p:txBody>
      </p:sp>
      <p:sp>
        <p:nvSpPr>
          <p:cNvPr id="12" name="Imports, helpers, configuration, / and computations over known values."/>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Imports, helpers,</a:t>
            </a:r>
          </a:p>
          <a:p>
            <a:pPr algn="l">
              <a:lnSpc>
                <a:spcPts val="1507"/>
              </a:lnSpc>
              <a:spcBef>
                <a:spcPts val="0"/>
              </a:spcBef>
              <a:spcAft>
                <a:spcPts val="0"/>
              </a:spcAft>
            </a:pPr>
            <a:r>
              <a:rPr sz="1300" b="0">
                <a:solidFill>
                  <a:srgbClr val="616161"/>
                </a:solidFill>
                <a:latin typeface="NVIDIA Sans"/>
              </a:rPr>
              <a:t>configuration,</a:t>
            </a:r>
          </a:p>
          <a:p>
            <a:pPr algn="l">
              <a:lnSpc>
                <a:spcPts val="1507"/>
              </a:lnSpc>
              <a:spcBef>
                <a:spcPts val="0"/>
              </a:spcBef>
              <a:spcAft>
                <a:spcPts val="0"/>
              </a:spcAft>
            </a:pPr>
            <a:r>
              <a:rPr sz="1300" b="0">
                <a:solidFill>
                  <a:srgbClr val="616161"/>
                </a:solidFill>
                <a:latin typeface="NVIDIA Sans"/>
              </a:rPr>
              <a:t>and computations over</a:t>
            </a:r>
          </a:p>
          <a:p>
            <a:pPr algn="l">
              <a:lnSpc>
                <a:spcPts val="1507"/>
              </a:lnSpc>
              <a:spcBef>
                <a:spcPts val="0"/>
              </a:spcBef>
              <a:spcAft>
                <a:spcPts val="0"/>
              </a:spcAft>
            </a:pPr>
            <a:r>
              <a:rPr sz="1300" b="0">
                <a:solidFill>
                  <a:srgbClr val="616161"/>
                </a:solidFill>
                <a:latin typeface="NVIDIA Sans"/>
              </a:rPr>
              <a:t>known values.</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MLIR runs later"/>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MLIR runs later</a:t>
            </a:r>
          </a:p>
        </p:txBody>
      </p:sp>
      <p:sp>
        <p:nvSpPr>
          <p:cNvPr id="16" name="Typed runtime values, arithmetic, / regions, loads, and stores."/>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Typed runtime values,</a:t>
            </a:r>
          </a:p>
          <a:p>
            <a:pPr algn="l">
              <a:lnSpc>
                <a:spcPts val="1507"/>
              </a:lnSpc>
              <a:spcBef>
                <a:spcPts val="0"/>
              </a:spcBef>
              <a:spcAft>
                <a:spcPts val="0"/>
              </a:spcAft>
            </a:pPr>
            <a:r>
              <a:rPr sz="1300" b="0">
                <a:solidFill>
                  <a:srgbClr val="616161"/>
                </a:solidFill>
                <a:latin typeface="NVIDIA Sans"/>
              </a:rPr>
              <a:t>arithmetic,</a:t>
            </a:r>
          </a:p>
          <a:p>
            <a:pPr algn="l">
              <a:lnSpc>
                <a:spcPts val="1507"/>
              </a:lnSpc>
              <a:spcBef>
                <a:spcPts val="0"/>
              </a:spcBef>
              <a:spcAft>
                <a:spcPts val="0"/>
              </a:spcAft>
            </a:pPr>
            <a:r>
              <a:rPr sz="1300" b="0">
                <a:solidFill>
                  <a:srgbClr val="616161"/>
                </a:solidFill>
                <a:latin typeface="NVIDIA Sans"/>
              </a:rPr>
              <a:t>regions, loads, and stores.</a:t>
            </a:r>
          </a:p>
        </p:txBody>
      </p:sp>
      <p:sp>
        <p:nvSpPr>
          <p:cNvPr id="17" name="Rectangle 16"/>
          <p:cNvSpPr/>
          <p:nvPr/>
        </p:nvSpPr>
        <p:spPr>
          <a:xfrm>
            <a:off x="6083808" y="1572768"/>
            <a:ext cx="2621280" cy="2459736"/>
          </a:xfrm>
          <a:prstGeom prst="rect">
            <a:avLst/>
          </a:prstGeom>
          <a:solidFill>
            <a:srgbClr val="F7F7F7"/>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D5D5D5"/>
          </a:solidFill>
          <a:ln>
            <a:noFill/>
          </a:ln>
          <a:effectLst/>
        </p:spPr>
        <p:txBody>
          <a:bodyPr rtlCol="0" anchor="ctr"/>
          <a:lstStyle/>
          <a:p>
            <a:pPr algn="ctr"/>
          </a:p>
        </p:txBody>
      </p:sp>
      <p:sp>
        <p:nvSpPr>
          <p:cNvPr id="19" name="A reusable base"/>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A reusable base</a:t>
            </a:r>
          </a:p>
        </p:txBody>
      </p:sp>
      <p:sp>
        <p:nvSpPr>
          <p:cNvPr id="20" name="Share binding, tracing, diagnostics, / compilation, and invocation."/>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Share binding, tracing,</a:t>
            </a:r>
          </a:p>
          <a:p>
            <a:pPr algn="l">
              <a:lnSpc>
                <a:spcPts val="1507"/>
              </a:lnSpc>
              <a:spcBef>
                <a:spcPts val="0"/>
              </a:spcBef>
              <a:spcAft>
                <a:spcPts val="0"/>
              </a:spcAft>
            </a:pPr>
            <a:r>
              <a:rPr sz="1300" b="0">
                <a:solidFill>
                  <a:srgbClr val="616161"/>
                </a:solidFill>
                <a:latin typeface="NVIDIA Sans"/>
              </a:rPr>
              <a:t>diagnostics,</a:t>
            </a:r>
          </a:p>
          <a:p>
            <a:pPr algn="l">
              <a:lnSpc>
                <a:spcPts val="1507"/>
              </a:lnSpc>
              <a:spcBef>
                <a:spcPts val="0"/>
              </a:spcBef>
              <a:spcAft>
                <a:spcPts val="0"/>
              </a:spcAft>
            </a:pPr>
            <a:r>
              <a:rPr sz="1300" b="0">
                <a:solidFill>
                  <a:srgbClr val="616161"/>
                </a:solidFill>
                <a:latin typeface="NVIDIA Sans"/>
              </a:rPr>
              <a:t>compilation, and invocation.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ree ways to build the fronten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Three ways to build the frontend</a:t>
            </a:r>
          </a:p>
        </p:txBody>
      </p:sp>
      <p:sp>
        <p:nvSpPr>
          <p:cNvPr id="5" name="Choose where Python stops and your compiler start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Choose where Python stops and your compiler starts.</a:t>
            </a:r>
          </a:p>
        </p:txBody>
      </p:sp>
      <p:sp>
        <p:nvSpPr>
          <p:cNvPr id="6" name="0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04</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is tutorial uses proxies for values and an AST rewrite for region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This tutorial uses proxies for values and an AST rewrite for regions.</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AST compiler"/>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AST compiler</a:t>
            </a:r>
          </a:p>
        </p:txBody>
      </p:sp>
      <p:sp>
        <p:nvSpPr>
          <p:cNvPr id="12" name="Read syntax and lower it. / Own the supported Python semantics."/>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Read syntax and lower it.</a:t>
            </a:r>
          </a:p>
          <a:p>
            <a:pPr algn="l">
              <a:lnSpc>
                <a:spcPts val="1507"/>
              </a:lnSpc>
              <a:spcBef>
                <a:spcPts val="0"/>
              </a:spcBef>
              <a:spcAft>
                <a:spcPts val="0"/>
              </a:spcAft>
            </a:pPr>
            <a:r>
              <a:rPr sz="1300" b="0">
                <a:solidFill>
                  <a:srgbClr val="616161"/>
                </a:solidFill>
                <a:latin typeface="NVIDIA Sans"/>
              </a:rPr>
              <a:t>Own the supported Python</a:t>
            </a:r>
          </a:p>
          <a:p>
            <a:pPr algn="l">
              <a:lnSpc>
                <a:spcPts val="1507"/>
              </a:lnSpc>
              <a:spcBef>
                <a:spcPts val="0"/>
              </a:spcBef>
              <a:spcAft>
                <a:spcPts val="0"/>
              </a:spcAft>
            </a:pPr>
            <a:r>
              <a:rPr sz="1300" b="0">
                <a:solidFill>
                  <a:srgbClr val="616161"/>
                </a:solidFill>
                <a:latin typeface="NVIDIA Sans"/>
              </a:rPr>
              <a:t>semantics.</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Proxy tracing"/>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Proxy tracing</a:t>
            </a:r>
          </a:p>
        </p:txBody>
      </p:sp>
      <p:sp>
        <p:nvSpPr>
          <p:cNvPr id="16" name="Run Python with value proxies. / Operators emit operations."/>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Run Python with value</a:t>
            </a:r>
          </a:p>
          <a:p>
            <a:pPr algn="l">
              <a:lnSpc>
                <a:spcPts val="1507"/>
              </a:lnSpc>
              <a:spcBef>
                <a:spcPts val="0"/>
              </a:spcBef>
              <a:spcAft>
                <a:spcPts val="0"/>
              </a:spcAft>
            </a:pPr>
            <a:r>
              <a:rPr sz="1300" b="0">
                <a:solidFill>
                  <a:srgbClr val="616161"/>
                </a:solidFill>
                <a:latin typeface="NVIDIA Sans"/>
              </a:rPr>
              <a:t>proxies.</a:t>
            </a:r>
          </a:p>
          <a:p>
            <a:pPr algn="l">
              <a:lnSpc>
                <a:spcPts val="1507"/>
              </a:lnSpc>
              <a:spcBef>
                <a:spcPts val="0"/>
              </a:spcBef>
              <a:spcAft>
                <a:spcPts val="0"/>
              </a:spcAft>
            </a:pPr>
            <a:r>
              <a:rPr sz="1300" b="0">
                <a:solidFill>
                  <a:srgbClr val="616161"/>
                </a:solidFill>
                <a:latin typeface="NVIDIA Sans"/>
              </a:rPr>
              <a:t>Operators emit operations.</a:t>
            </a:r>
          </a:p>
        </p:txBody>
      </p:sp>
      <p:sp>
        <p:nvSpPr>
          <p:cNvPr id="17" name="Rectangle 16"/>
          <p:cNvSpPr/>
          <p:nvPr/>
        </p:nvSpPr>
        <p:spPr>
          <a:xfrm>
            <a:off x="6083808" y="1572768"/>
            <a:ext cx="2621280" cy="2459736"/>
          </a:xfrm>
          <a:prstGeom prst="rect">
            <a:avLst/>
          </a:prstGeom>
          <a:solidFill>
            <a:srgbClr val="F0F6E6"/>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76B900"/>
          </a:solidFill>
          <a:ln>
            <a:noFill/>
          </a:ln>
          <a:effectLst/>
        </p:spPr>
        <p:txBody>
          <a:bodyPr rtlCol="0" anchor="ctr"/>
          <a:lstStyle/>
          <a:p>
            <a:pPr algn="ctr"/>
          </a:p>
        </p:txBody>
      </p:sp>
      <p:sp>
        <p:nvSpPr>
          <p:cNvPr id="19" name="Hybrid"/>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416600"/>
                </a:solidFill>
                <a:latin typeface="NVIDIA Sans"/>
              </a:rPr>
              <a:t>Hybrid</a:t>
            </a:r>
          </a:p>
        </p:txBody>
      </p:sp>
      <p:sp>
        <p:nvSpPr>
          <p:cNvPr id="20" name="Trace expressions. / Rewrite control flow into callbacks."/>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Trace expressions.</a:t>
            </a:r>
          </a:p>
          <a:p>
            <a:pPr algn="l">
              <a:lnSpc>
                <a:spcPts val="1507"/>
              </a:lnSpc>
              <a:spcBef>
                <a:spcPts val="0"/>
              </a:spcBef>
              <a:spcAft>
                <a:spcPts val="0"/>
              </a:spcAft>
            </a:pPr>
            <a:r>
              <a:rPr sz="1300" b="0">
                <a:solidFill>
                  <a:srgbClr val="616161"/>
                </a:solidFill>
                <a:latin typeface="NVIDIA Sans"/>
              </a:rPr>
              <a:t>Rewrite control flow into</a:t>
            </a:r>
          </a:p>
          <a:p>
            <a:pPr algn="l">
              <a:lnSpc>
                <a:spcPts val="1507"/>
              </a:lnSpc>
              <a:spcBef>
                <a:spcPts val="0"/>
              </a:spcBef>
              <a:spcAft>
                <a:spcPts val="0"/>
              </a:spcAft>
            </a:pPr>
            <a:r>
              <a:rPr sz="1300" b="0">
                <a:solidFill>
                  <a:srgbClr val="616161"/>
                </a:solidFill>
                <a:latin typeface="NVIDIA Sans"/>
              </a:rPr>
              <a:t>callbacks.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One call, two kinds of execut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One call, two kinds of execution</a:t>
            </a:r>
          </a:p>
        </p:txBody>
      </p:sp>
      <p:sp>
        <p:nvSpPr>
          <p:cNvPr id="5" name="The JIT boundary connects ordinary Python to compiled cod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JIT boundary connects ordinary Python to compiled code.</a:t>
            </a:r>
          </a:p>
        </p:txBody>
      </p:sp>
      <p:sp>
        <p:nvSpPr>
          <p:cNvPr id="6" name="0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05</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racing constructs a program; invocation executes that program."/>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Tracing constructs a program; invocation executes that program.</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Bind"/>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Bind</a:t>
            </a:r>
          </a:p>
        </p:txBody>
      </p:sp>
      <p:sp>
        <p:nvSpPr>
          <p:cNvPr id="11" name="Annotations + adapters / select runtime arguments."/>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Annotations + adapters</a:t>
            </a:r>
          </a:p>
          <a:p>
            <a:pPr algn="l">
              <a:lnSpc>
                <a:spcPts val="1334"/>
              </a:lnSpc>
              <a:spcBef>
                <a:spcPts val="0"/>
              </a:spcBef>
              <a:spcAft>
                <a:spcPts val="0"/>
              </a:spcAft>
            </a:pPr>
            <a:r>
              <a:rPr sz="1150" b="0">
                <a:solidFill>
                  <a:srgbClr val="616161"/>
                </a:solidFill>
                <a:latin typeface="NVIDIA Sans"/>
              </a:rPr>
              <a:t>select runtime</a:t>
            </a:r>
          </a:p>
          <a:p>
            <a:pPr algn="l">
              <a:lnSpc>
                <a:spcPts val="1334"/>
              </a:lnSpc>
              <a:spcBef>
                <a:spcPts val="0"/>
              </a:spcBef>
              <a:spcAft>
                <a:spcPts val="0"/>
              </a:spcAft>
            </a:pPr>
            <a:r>
              <a:rPr sz="1150" b="0">
                <a:solidFill>
                  <a:srgbClr val="616161"/>
                </a:solidFill>
                <a:latin typeface="NVIDIA Sans"/>
              </a:rPr>
              <a:t>arguments.</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Trace"/>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a:t>
            </a:r>
          </a:p>
        </p:txBody>
      </p:sp>
      <p:sp>
        <p:nvSpPr>
          <p:cNvPr id="15" name="Python builds a module / with proxy values."/>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builds a module</a:t>
            </a:r>
          </a:p>
          <a:p>
            <a:pPr algn="l">
              <a:lnSpc>
                <a:spcPts val="1334"/>
              </a:lnSpc>
              <a:spcBef>
                <a:spcPts val="0"/>
              </a:spcBef>
              <a:spcAft>
                <a:spcPts val="0"/>
              </a:spcAft>
            </a:pPr>
            <a:r>
              <a:rPr sz="1150" b="0">
                <a:solidFill>
                  <a:srgbClr val="616161"/>
                </a:solidFill>
                <a:latin typeface="NVIDIA Sans"/>
              </a:rPr>
              <a:t>with proxy values.</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Lower"/>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Lower</a:t>
            </a:r>
          </a:p>
        </p:txBody>
      </p:sp>
      <p:sp>
        <p:nvSpPr>
          <p:cNvPr id="19" name="Verify IR, run passes, / create an execution engine."/>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Verify IR, run passes,</a:t>
            </a:r>
          </a:p>
          <a:p>
            <a:pPr algn="l">
              <a:lnSpc>
                <a:spcPts val="1334"/>
              </a:lnSpc>
              <a:spcBef>
                <a:spcPts val="0"/>
              </a:spcBef>
              <a:spcAft>
                <a:spcPts val="0"/>
              </a:spcAft>
            </a:pPr>
            <a:r>
              <a:rPr sz="1150" b="0">
                <a:solidFill>
                  <a:srgbClr val="616161"/>
                </a:solidFill>
                <a:latin typeface="NVIDIA Sans"/>
              </a:rPr>
              <a:t>create an execution</a:t>
            </a:r>
          </a:p>
          <a:p>
            <a:pPr algn="l">
              <a:lnSpc>
                <a:spcPts val="1334"/>
              </a:lnSpc>
              <a:spcBef>
                <a:spcPts val="0"/>
              </a:spcBef>
              <a:spcAft>
                <a:spcPts val="0"/>
              </a:spcAft>
            </a:pPr>
            <a:r>
              <a:rPr sz="1150" b="0">
                <a:solidFill>
                  <a:srgbClr val="616161"/>
                </a:solidFill>
                <a:latin typeface="NVIDIA Sans"/>
              </a:rPr>
              <a:t>engine.</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Invok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Invoke</a:t>
            </a:r>
          </a:p>
        </p:txBody>
      </p:sp>
      <p:sp>
        <p:nvSpPr>
          <p:cNvPr id="23" name="Marshal arguments; / return the result."/>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Marshal arguments;</a:t>
            </a:r>
          </a:p>
          <a:p>
            <a:pPr algn="l">
              <a:lnSpc>
                <a:spcPts val="1334"/>
              </a:lnSpc>
              <a:spcBef>
                <a:spcPts val="0"/>
              </a:spcBef>
              <a:spcAft>
                <a:spcPts val="0"/>
              </a:spcAft>
            </a:pPr>
            <a:r>
              <a:rPr sz="1150" b="0">
                <a:solidFill>
                  <a:srgbClr val="616161"/>
                </a:solidFill>
                <a:latin typeface="NVIDIA Sans"/>
              </a:rPr>
              <a:t>return the result.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Binding time is part of the API"/>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Binding time is part of the API</a:t>
            </a:r>
          </a:p>
        </p:txBody>
      </p:sp>
      <p:sp>
        <p:nvSpPr>
          <p:cNvPr id="5" name="An annotation declares a runtime value; plain configuration can specializ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An annotation declares a runtime value; plain configuration can specialize.</a:t>
            </a:r>
          </a:p>
        </p:txBody>
      </p:sp>
      <p:sp>
        <p:nvSpPr>
          <p:cNvPr id="6" name="0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06</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Separate runtime data from the Python values that define a specializ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Separate runtime data from the Python values that define a specialization.</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Definition and call"/>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Definition and call</a:t>
            </a:r>
          </a:p>
        </p:txBody>
      </p:sp>
      <p:sp>
        <p:nvSpPr>
          <p:cNvPr id="11" name="import mlir.dsl as m"/>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import mlir.dsl as m</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expression(a: m.Int32, b: m.Int32,"/>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expression(a: m.Int32, b: m.Int32,</a:t>
            </a:r>
          </a:p>
        </p:txBody>
      </p:sp>
      <p:sp>
        <p:nvSpPr>
          <p:cNvPr id="15" name="               scale) -&gt;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scale) -&gt; m.Int32:</a:t>
            </a:r>
          </a:p>
        </p:txBody>
      </p:sp>
      <p:sp>
        <p:nvSpPr>
          <p:cNvPr id="16" name="    return a + b * scale"/>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a + b * scale</a:t>
            </a:r>
          </a:p>
        </p:txBody>
      </p:sp>
      <p:sp>
        <p:nvSpPr>
          <p:cNvPr id="17"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8" name="expression(1, 2, 3)  # 7"/>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expression(1, 2, 3)  # 7</a:t>
            </a:r>
          </a:p>
        </p:txBody>
      </p:sp>
      <p:sp>
        <p:nvSpPr>
          <p:cNvPr id="19" name="a and b"/>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and b</a:t>
            </a:r>
          </a:p>
        </p:txBody>
      </p:sp>
      <p:sp>
        <p:nvSpPr>
          <p:cNvPr id="20" name="Runtime i32 arguments. / Their values do not become constants."/>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i32 arguments.</a:t>
            </a:r>
          </a:p>
          <a:p>
            <a:pPr algn="l">
              <a:lnSpc>
                <a:spcPts val="1391"/>
              </a:lnSpc>
              <a:spcBef>
                <a:spcPts val="0"/>
              </a:spcBef>
              <a:spcAft>
                <a:spcPts val="0"/>
              </a:spcAft>
            </a:pPr>
            <a:r>
              <a:rPr sz="1200" b="0">
                <a:solidFill>
                  <a:srgbClr val="616161"/>
                </a:solidFill>
                <a:latin typeface="NVIDIA Sans"/>
              </a:rPr>
              <a:t>Their values do not become constants.</a:t>
            </a:r>
          </a:p>
        </p:txBody>
      </p:sp>
      <p:sp>
        <p:nvSpPr>
          <p:cNvPr id="21" name="scale"/>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scale</a:t>
            </a:r>
          </a:p>
        </p:txBody>
      </p:sp>
      <p:sp>
        <p:nvSpPr>
          <p:cNvPr id="22" name="A Python value during tracing. / The generated program contains 3."/>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 Python value during tracing.</a:t>
            </a:r>
          </a:p>
          <a:p>
            <a:pPr algn="l">
              <a:lnSpc>
                <a:spcPts val="1391"/>
              </a:lnSpc>
              <a:spcBef>
                <a:spcPts val="0"/>
              </a:spcBef>
              <a:spcAft>
                <a:spcPts val="0"/>
              </a:spcAft>
            </a:pPr>
            <a:r>
              <a:rPr sz="1200" b="0">
                <a:solidFill>
                  <a:srgbClr val="616161"/>
                </a:solidFill>
                <a:latin typeface="NVIDIA Sans"/>
              </a:rPr>
              <a:t>The generated program contains 3.</a:t>
            </a:r>
          </a:p>
        </p:txBody>
      </p:sp>
      <p:sp>
        <p:nvSpPr>
          <p:cNvPr id="23" name="Typed values"/>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Typed values</a:t>
            </a:r>
          </a:p>
        </p:txBody>
      </p:sp>
      <p:sp>
        <p:nvSpPr>
          <p:cNvPr id="24" name="DSL leaves and adapted buffers / also select runtime data."/>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DSL leaves and adapted buffers</a:t>
            </a:r>
          </a:p>
          <a:p>
            <a:pPr algn="l">
              <a:lnSpc>
                <a:spcPts val="1391"/>
              </a:lnSpc>
              <a:spcBef>
                <a:spcPts val="0"/>
              </a:spcBef>
              <a:spcAft>
                <a:spcPts val="0"/>
              </a:spcAft>
            </a:pPr>
            <a:r>
              <a:rPr sz="1200" b="0">
                <a:solidFill>
                  <a:srgbClr val="616161"/>
                </a:solidFill>
                <a:latin typeface="NVIDIA Sans"/>
              </a:rPr>
              <a:t>also select runtime data.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n expression becomes operation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An expression becomes operations</a:t>
            </a:r>
          </a:p>
        </p:txBody>
      </p:sp>
      <p:sp>
        <p:nvSpPr>
          <p:cNvPr id="5" name="Typed Python values are the handles through which tracing emits MLIR."/>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Typed Python values are the handles through which tracing emits MLIR.</a:t>
            </a:r>
          </a:p>
        </p:txBody>
      </p:sp>
      <p:sp>
        <p:nvSpPr>
          <p:cNvPr id="6" name="0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07</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Runtime operands emit operations; known operands become constants or fol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Runtime operands emit operations; known operands become constants or fold.</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Python"/>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Python</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expression(a: m.Int32, b: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expression(a: m.Int32, b: m.Int32,</a:t>
            </a:r>
          </a:p>
        </p:txBody>
      </p:sp>
      <p:sp>
        <p:nvSpPr>
          <p:cNvPr id="13" name="               scale) -&gt; m.Int32:"/>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scale) -&gt; m.Int32:</a:t>
            </a:r>
          </a:p>
        </p:txBody>
      </p:sp>
      <p:sp>
        <p:nvSpPr>
          <p:cNvPr id="14" name="    return a + b * scale"/>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 + b * scale</a:t>
            </a:r>
          </a:p>
        </p:txBody>
      </p:sp>
      <p:sp>
        <p:nvSpPr>
          <p:cNvPr id="15" name=""/>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6" name="expression(1, 2, 3)"/>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expression(1, 2, 3)</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Captured MLIR"/>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Captured MLIR</a:t>
            </a:r>
          </a:p>
        </p:txBody>
      </p:sp>
      <p:sp>
        <p:nvSpPr>
          <p:cNvPr id="19" name="llvm.func @expression_3("/>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llvm.func @expression_3(</a:t>
            </a:r>
          </a:p>
        </p:txBody>
      </p:sp>
      <p:sp>
        <p:nvSpPr>
          <p:cNvPr id="20" name="    %arg0: i32, %arg1: i32) -&gt; i32 {"/>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%arg0: i32, %arg1: i32) -&gt; i32 {</a:t>
            </a:r>
          </a:p>
        </p:txBody>
      </p:sp>
      <p:sp>
        <p:nvSpPr>
          <p:cNvPr id="21" name="  %c3_i32 = arith.constant 3 : i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%c3_i32 = arith.constant 3 : i32</a:t>
            </a:r>
          </a:p>
        </p:txBody>
      </p:sp>
      <p:sp>
        <p:nvSpPr>
          <p:cNvPr id="22" name="  %0 = arith.muli %arg1, %c3_i32 : i32"/>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 arith.muli %arg1, %c3_i32 : i32</a:t>
            </a:r>
          </a:p>
        </p:txBody>
      </p:sp>
      <p:sp>
        <p:nvSpPr>
          <p:cNvPr id="23" name="  %1 = arith.addi %arg0, %0 : i32"/>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%1 = arith.addi %arg0, %0 : i32</a:t>
            </a:r>
          </a:p>
        </p:txBody>
      </p:sp>
      <p:sp>
        <p:nvSpPr>
          <p:cNvPr id="24" name="  llvm.return %1 : i32"/>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llvm.return %1 : i32</a:t>
            </a:r>
          </a:p>
        </p:txBody>
      </p:sp>
      <p:sp>
        <p:nvSpPr>
          <p:cNvPr id="25"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Helpers compose during trac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Helpers compose during tracing</a:t>
            </a:r>
          </a:p>
        </p:txBody>
      </p:sp>
      <p:sp>
        <p:nvSpPr>
          <p:cNvPr id="5" name="Use Python abstraction to construct a larger runtime program."/>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Use Python abstraction to construct a larger runtime program.</a:t>
            </a:r>
          </a:p>
        </p:txBody>
      </p:sp>
      <p:sp>
        <p:nvSpPr>
          <p:cNvPr id="6" name="0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08</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Python call structure need not become runtime call structure."/>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Python call structure need not become runtime call structure.</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Ordinary Python helper"/>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Ordinary Python helper</a:t>
            </a:r>
          </a:p>
        </p:txBody>
      </p:sp>
      <p:sp>
        <p:nvSpPr>
          <p:cNvPr id="11" name="def twice(x):"/>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twice(x):</a:t>
            </a:r>
          </a:p>
        </p:txBody>
      </p:sp>
      <p:sp>
        <p:nvSpPr>
          <p:cNvPr id="12" name="    return x + x"/>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x + x</a:t>
            </a:r>
          </a:p>
        </p:txBody>
      </p:sp>
      <p:sp>
        <p:nvSpPr>
          <p:cNvPr id="13" name=""/>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4" name="@m.jit"/>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5" name="def compute(x: m.Int32) -&gt;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compute(x: m.Int32) -&gt; m.Int32:</a:t>
            </a:r>
          </a:p>
        </p:txBody>
      </p:sp>
      <p:sp>
        <p:nvSpPr>
          <p:cNvPr id="16" name="    return twice(x) + 1"/>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return twice(x) + 1</a:t>
            </a:r>
          </a:p>
        </p:txBody>
      </p:sp>
      <p:sp>
        <p:nvSpPr>
          <p:cNvPr id="17" name=""/>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8" name="compute(3)  # 7"/>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compute(3)  # 7</a:t>
            </a:r>
          </a:p>
        </p:txBody>
      </p:sp>
      <p:sp>
        <p:nvSpPr>
          <p:cNvPr id="19" name="A helper runs now"/>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helper runs now</a:t>
            </a:r>
          </a:p>
        </p:txBody>
      </p:sp>
      <p:sp>
        <p:nvSpPr>
          <p:cNvPr id="20" name="Its proxy arguments emit operations / into the enclosing trace."/>
          <p:cNvSpPr txBox="1"/>
          <p:nvPr/>
        </p:nvSpPr>
        <p:spPr>
          <a:xfrm>
            <a:off x="5916168" y="1984248"/>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Its proxy arguments emit operations</a:t>
            </a:r>
          </a:p>
          <a:p>
            <a:pPr algn="l">
              <a:lnSpc>
                <a:spcPts val="1391"/>
              </a:lnSpc>
              <a:spcBef>
                <a:spcPts val="0"/>
              </a:spcBef>
              <a:spcAft>
                <a:spcPts val="0"/>
              </a:spcAft>
            </a:pPr>
            <a:r>
              <a:rPr sz="1200" b="0">
                <a:solidFill>
                  <a:srgbClr val="616161"/>
                </a:solidFill>
                <a:latin typeface="NVIDIA Sans"/>
              </a:rPr>
              <a:t>into the enclosing trace.</a:t>
            </a:r>
          </a:p>
        </p:txBody>
      </p:sp>
      <p:sp>
        <p:nvSpPr>
          <p:cNvPr id="21" name="Native control flow"/>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Native control flow</a:t>
            </a:r>
          </a:p>
        </p:txBody>
      </p:sp>
      <p:sp>
        <p:nvSpPr>
          <p:cNvPr id="22" name="Decorate a helper with @m.jit / when its control flow must be staged."/>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Decorate a helper with @m.jit</a:t>
            </a:r>
          </a:p>
          <a:p>
            <a:pPr algn="l">
              <a:lnSpc>
                <a:spcPts val="1391"/>
              </a:lnSpc>
              <a:spcBef>
                <a:spcPts val="0"/>
              </a:spcBef>
              <a:spcAft>
                <a:spcPts val="0"/>
              </a:spcAft>
            </a:pPr>
            <a:r>
              <a:rPr sz="1200" b="0">
                <a:solidFill>
                  <a:srgbClr val="616161"/>
                </a:solidFill>
                <a:latin typeface="NVIDIA Sans"/>
              </a:rPr>
              <a:t>when its control flow must be staged.</a:t>
            </a:r>
          </a:p>
        </p:txBody>
      </p:sp>
      <p:sp>
        <p:nvSpPr>
          <p:cNvPr id="23" name="Current call boundary"/>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Current call boundary</a:t>
            </a:r>
          </a:p>
        </p:txBody>
      </p:sp>
      <p:sp>
        <p:nvSpPr>
          <p:cNvPr id="24" name="Nested @m.jit bodies inline / while the enclosing function traces."/>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Nested @m.jit bodies inline</a:t>
            </a:r>
          </a:p>
          <a:p>
            <a:pPr algn="l">
              <a:lnSpc>
                <a:spcPts val="1391"/>
              </a:lnSpc>
              <a:spcBef>
                <a:spcPts val="0"/>
              </a:spcBef>
              <a:spcAft>
                <a:spcPts val="0"/>
              </a:spcAft>
            </a:pPr>
            <a:r>
              <a:rPr sz="1200" b="0">
                <a:solidFill>
                  <a:srgbClr val="616161"/>
                </a:solidFill>
                <a:latin typeface="NVIDIA Sans"/>
              </a:rPr>
              <a:t>while the enclosing function traces.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The same syntax can run now or later"/>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The same syntax can run now or later</a:t>
            </a:r>
          </a:p>
        </p:txBody>
      </p:sp>
      <p:sp>
        <p:nvSpPr>
          <p:cNvPr id="5" name="Control-flow dispatch follows the values it se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Control-flow dispatch follows the values it sees.</a:t>
            </a:r>
          </a:p>
        </p:txBody>
      </p:sp>
      <p:sp>
        <p:nvSpPr>
          <p:cNvPr id="6" name="0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09</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e loop body is traced once when the loop itself is runtime work."/>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loop body is traced once when the loop itself is runtime work.</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Python syntax"/>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Python syntax</a:t>
            </a:r>
          </a:p>
        </p:txBody>
      </p:sp>
      <p:sp>
        <p:nvSpPr>
          <p:cNvPr id="11" name="Known values"/>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Known values</a:t>
            </a:r>
          </a:p>
        </p:txBody>
      </p:sp>
      <p:sp>
        <p:nvSpPr>
          <p:cNvPr id="12" name="Runtime values"/>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Runtime values</a:t>
            </a:r>
          </a:p>
        </p:txBody>
      </p:sp>
      <p:sp>
        <p:nvSpPr>
          <p:cNvPr id="13" name="Rectangle 12"/>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4" name="if predicate"/>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if predicate</a:t>
            </a:r>
          </a:p>
        </p:txBody>
      </p:sp>
      <p:sp>
        <p:nvSpPr>
          <p:cNvPr id="15" name="Choose a Python arm"/>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Choose a Python arm</a:t>
            </a:r>
          </a:p>
        </p:txBody>
      </p:sp>
      <p:sp>
        <p:nvSpPr>
          <p:cNvPr id="16" name="Build scf.if regions"/>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scf.if regions</a:t>
            </a:r>
          </a:p>
        </p:txBody>
      </p:sp>
      <p:sp>
        <p:nvSpPr>
          <p:cNvPr id="17" name="Rectangle 16"/>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8" name="for i in range(n)"/>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for i in range(n)</a:t>
            </a:r>
          </a:p>
        </p:txBody>
      </p:sp>
      <p:sp>
        <p:nvSpPr>
          <p:cNvPr id="19" name="Run the Python loop"/>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 the Python loop</a:t>
            </a:r>
          </a:p>
        </p:txBody>
      </p:sp>
      <p:sp>
        <p:nvSpPr>
          <p:cNvPr id="20" name="Build an scf.for"/>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an scf.for</a:t>
            </a:r>
          </a:p>
        </p:txBody>
      </p:sp>
      <p:sp>
        <p:nvSpPr>
          <p:cNvPr id="21" name="Rectangle 20"/>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2" name="while predicate"/>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while predicate</a:t>
            </a:r>
          </a:p>
        </p:txBody>
      </p:sp>
      <p:sp>
        <p:nvSpPr>
          <p:cNvPr id="23" name="Run the Python loop"/>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 the Python loop</a:t>
            </a:r>
          </a:p>
        </p:txBody>
      </p:sp>
      <p:sp>
        <p:nvSpPr>
          <p:cNvPr id="24" name="Build scf.while regions"/>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Build scf.while regions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atch one local become an SSA car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Watch one local become an SSA carry</a:t>
            </a:r>
          </a:p>
        </p:txBody>
      </p:sp>
      <p:sp>
        <p:nvSpPr>
          <p:cNvPr id="5" name="The running total crosses the loop boundary explicitly."/>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The running total crosses the loop boundary explicitly.</a:t>
            </a:r>
          </a:p>
        </p:txBody>
      </p:sp>
      <p:sp>
        <p:nvSpPr>
          <p:cNvPr id="6" name="1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10</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acc has an initial value, a body block argument, and a loop resul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acc has an initial value, a body block argument, and a loop result.</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Native Python syntax"/>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Native Python syntax</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cumsum(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cumsum(n: m.Int32) -&gt; m.Int32:</a:t>
            </a:r>
          </a:p>
        </p:txBody>
      </p:sp>
      <p:sp>
        <p:nvSpPr>
          <p:cNvPr id="13"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4"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5"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6"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7" name=""/>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8" name="cumsum(10)  # 45"/>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cumsum(10)  # 45</a:t>
            </a:r>
          </a:p>
        </p:txBody>
      </p:sp>
      <p:sp>
        <p:nvSpPr>
          <p:cNvPr id="19" name="Rectangle 18"/>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0" name="Captured MLIR · SSA names shortened"/>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Captured MLIR · SSA names shortened</a:t>
            </a:r>
          </a:p>
        </p:txBody>
      </p:sp>
      <p:sp>
        <p:nvSpPr>
          <p:cNvPr id="21" name="llvm.func @cumsum(%n: i32) -&gt; i32 {"/>
          <p:cNvSpPr txBox="1"/>
          <p:nvPr/>
        </p:nvSpPr>
        <p:spPr>
          <a:xfrm>
            <a:off x="4818888" y="1993391"/>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llvm.func @cumsum(%n: i32) -&gt; i32 {</a:t>
            </a:r>
          </a:p>
        </p:txBody>
      </p:sp>
      <p:sp>
        <p:nvSpPr>
          <p:cNvPr id="22" name="  %init = arith.constant 0 : i32"/>
          <p:cNvSpPr txBox="1"/>
          <p:nvPr/>
        </p:nvSpPr>
        <p:spPr>
          <a:xfrm>
            <a:off x="4818888" y="2173020"/>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%init = arith.constant 0 : i32</a:t>
            </a:r>
          </a:p>
        </p:txBody>
      </p:sp>
      <p:sp>
        <p:nvSpPr>
          <p:cNvPr id="23" name="  %lb = arith.constant 0 : i32"/>
          <p:cNvSpPr txBox="1"/>
          <p:nvPr/>
        </p:nvSpPr>
        <p:spPr>
          <a:xfrm>
            <a:off x="4818888" y="2352649"/>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%lb = arith.constant 0 : i32</a:t>
            </a:r>
          </a:p>
        </p:txBody>
      </p:sp>
      <p:sp>
        <p:nvSpPr>
          <p:cNvPr id="24" name="  %s = arith.constant 1 : i32"/>
          <p:cNvSpPr txBox="1"/>
          <p:nvPr/>
        </p:nvSpPr>
        <p:spPr>
          <a:xfrm>
            <a:off x="4818888" y="2532278"/>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%s = arith.constant 1 : i32</a:t>
            </a:r>
          </a:p>
        </p:txBody>
      </p:sp>
      <p:sp>
        <p:nvSpPr>
          <p:cNvPr id="25" name="  %r = scf.for %i = %lb to %n step %s"/>
          <p:cNvSpPr txBox="1"/>
          <p:nvPr/>
        </p:nvSpPr>
        <p:spPr>
          <a:xfrm>
            <a:off x="4818888" y="2711907"/>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%r = scf.for %i = %lb to %n step %s</a:t>
            </a:r>
          </a:p>
        </p:txBody>
      </p:sp>
      <p:sp>
        <p:nvSpPr>
          <p:cNvPr id="26" name="      iter_args(%a = %init) -&gt; (i32) : i32 {"/>
          <p:cNvSpPr txBox="1"/>
          <p:nvPr/>
        </p:nvSpPr>
        <p:spPr>
          <a:xfrm>
            <a:off x="4818888" y="2891535"/>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16600"/>
                </a:solidFill>
                <a:latin typeface="JetBrains Mono"/>
              </a:rPr>
              <a:t>      iter_args(%a = %init) -&gt; (i32) : i32 {</a:t>
            </a:r>
          </a:p>
        </p:txBody>
      </p:sp>
      <p:sp>
        <p:nvSpPr>
          <p:cNvPr id="27" name="    %next = arith.addi %a, %i : i32"/>
          <p:cNvSpPr txBox="1"/>
          <p:nvPr/>
        </p:nvSpPr>
        <p:spPr>
          <a:xfrm>
            <a:off x="4818888" y="3071164"/>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%next = arith.addi %a, %i : i32</a:t>
            </a:r>
          </a:p>
        </p:txBody>
      </p:sp>
      <p:sp>
        <p:nvSpPr>
          <p:cNvPr id="28" name="    scf.yield %next : i32"/>
          <p:cNvSpPr txBox="1"/>
          <p:nvPr/>
        </p:nvSpPr>
        <p:spPr>
          <a:xfrm>
            <a:off x="4818888" y="3250793"/>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16600"/>
                </a:solidFill>
                <a:latin typeface="JetBrains Mono"/>
              </a:rPr>
              <a:t>    scf.yield %next : i32</a:t>
            </a:r>
          </a:p>
        </p:txBody>
      </p:sp>
      <p:sp>
        <p:nvSpPr>
          <p:cNvPr id="29" name="  }"/>
          <p:cNvSpPr txBox="1"/>
          <p:nvPr/>
        </p:nvSpPr>
        <p:spPr>
          <a:xfrm>
            <a:off x="4818888" y="3430422"/>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a:t>
            </a:r>
          </a:p>
        </p:txBody>
      </p:sp>
      <p:sp>
        <p:nvSpPr>
          <p:cNvPr id="30" name="  llvm.return %r : i32"/>
          <p:cNvSpPr txBox="1"/>
          <p:nvPr/>
        </p:nvSpPr>
        <p:spPr>
          <a:xfrm>
            <a:off x="4818888" y="3610051"/>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  llvm.return %r : i32</a:t>
            </a:r>
          </a:p>
        </p:txBody>
      </p:sp>
      <p:sp>
        <p:nvSpPr>
          <p:cNvPr id="31" name="}"/>
          <p:cNvSpPr txBox="1"/>
          <p:nvPr/>
        </p:nvSpPr>
        <p:spPr>
          <a:xfrm>
            <a:off x="4818888" y="3789679"/>
            <a:ext cx="3730752" cy="182435"/>
          </a:xfrm>
          <a:prstGeom prst="rect">
            <a:avLst/>
          </a:prstGeom>
          <a:noFill/>
        </p:spPr>
        <p:txBody>
          <a:bodyPr wrap="none" anchor="t" lIns="0" rIns="0" tIns="0" bIns="0">
            <a:noAutofit/>
          </a:bodyPr>
          <a:lstStyle/>
          <a:p>
            <a:pPr algn="l">
              <a:lnSpc>
                <a:spcPts val="1392"/>
              </a:lnSpc>
              <a:spcBef>
                <a:spcPts val="0"/>
              </a:spcBef>
              <a:spcAft>
                <a:spcPts val="0"/>
              </a:spcAft>
            </a:pPr>
            <a:r>
              <a:rPr sz="1105" b="0">
                <a:solidFill>
                  <a:srgbClr val="484848"/>
                </a:solidFill>
                <a:latin typeface="JetBrains Mono"/>
              </a:rPr>
              <a: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complete CPU kerne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complete CPU kernel</a:t>
            </a:r>
          </a:p>
        </p:txBody>
      </p:sp>
      <p:sp>
        <p:nvSpPr>
          <p:cNvPr id="5" name="Use caller-owned buffers and explicit siz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Use caller-owned buffers and explicit sizes.</a:t>
            </a:r>
          </a:p>
        </p:txBody>
      </p:sp>
      <p:sp>
        <p:nvSpPr>
          <p:cNvPr id="6" name="1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11</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The generated program uses the existing allocation directl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generated program uses the existing allocation directly.</a:t>
            </a:r>
          </a:p>
        </p:txBody>
      </p:sp>
      <p:sp>
        <p:nvSpPr>
          <p:cNvPr id="9" name="Rectangle 8"/>
          <p:cNvSpPr/>
          <p:nvPr/>
        </p:nvSpPr>
        <p:spPr>
          <a:xfrm>
            <a:off x="438912" y="1508760"/>
            <a:ext cx="5212080" cy="2596896"/>
          </a:xfrm>
          <a:prstGeom prst="rect">
            <a:avLst/>
          </a:prstGeom>
          <a:solidFill>
            <a:srgbClr val="F7F7F7"/>
          </a:solidFill>
          <a:ln>
            <a:noFill/>
          </a:ln>
          <a:effectLst/>
        </p:spPr>
        <p:txBody>
          <a:bodyPr rtlCol="0" anchor="ctr"/>
          <a:lstStyle/>
          <a:p>
            <a:pPr algn="ctr"/>
          </a:p>
        </p:txBody>
      </p:sp>
      <p:sp>
        <p:nvSpPr>
          <p:cNvPr id="10" name="Pointer AXPY"/>
          <p:cNvSpPr txBox="1"/>
          <p:nvPr/>
        </p:nvSpPr>
        <p:spPr>
          <a:xfrm>
            <a:off x="594360" y="1618488"/>
            <a:ext cx="490118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Pointer AXPY</a:t>
            </a:r>
          </a:p>
        </p:txBody>
      </p:sp>
      <p:sp>
        <p:nvSpPr>
          <p:cNvPr id="11" name="P = m.Pointer[m.Float32]"/>
          <p:cNvSpPr txBox="1"/>
          <p:nvPr/>
        </p:nvSpPr>
        <p:spPr>
          <a:xfrm>
            <a:off x="594360" y="199339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P = m.Pointer[m.Float32]</a:t>
            </a:r>
          </a:p>
        </p:txBody>
      </p:sp>
      <p:sp>
        <p:nvSpPr>
          <p:cNvPr id="12" name=""/>
          <p:cNvSpPr txBox="1"/>
          <p:nvPr/>
        </p:nvSpPr>
        <p:spPr>
          <a:xfrm>
            <a:off x="594360" y="218196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3" name="@m.jit"/>
          <p:cNvSpPr txBox="1"/>
          <p:nvPr/>
        </p:nvSpPr>
        <p:spPr>
          <a:xfrm>
            <a:off x="594360" y="2370531"/>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1">
                <a:solidFill>
                  <a:srgbClr val="416600"/>
                </a:solidFill>
                <a:latin typeface="JetBrains Mono"/>
              </a:rPr>
              <a:t>@m.jit</a:t>
            </a:r>
          </a:p>
        </p:txBody>
      </p:sp>
      <p:sp>
        <p:nvSpPr>
          <p:cNvPr id="14" name="def axpy(alpha: m.Float32, x: P, y: P,"/>
          <p:cNvSpPr txBox="1"/>
          <p:nvPr/>
        </p:nvSpPr>
        <p:spPr>
          <a:xfrm>
            <a:off x="594360" y="255910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def axpy(alpha: m.Float32, x: P, y: P,</a:t>
            </a:r>
          </a:p>
        </p:txBody>
      </p:sp>
      <p:sp>
        <p:nvSpPr>
          <p:cNvPr id="15" name="         out: P, n: m.Int32):"/>
          <p:cNvSpPr txBox="1"/>
          <p:nvPr/>
        </p:nvSpPr>
        <p:spPr>
          <a:xfrm>
            <a:off x="594360" y="274767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out: P, n: m.Int32):</a:t>
            </a:r>
          </a:p>
        </p:txBody>
      </p:sp>
      <p:sp>
        <p:nvSpPr>
          <p:cNvPr id="16" name="    for i in range(n):"/>
          <p:cNvSpPr txBox="1"/>
          <p:nvPr/>
        </p:nvSpPr>
        <p:spPr>
          <a:xfrm>
            <a:off x="594360" y="2936240"/>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for i in range(n):</a:t>
            </a:r>
          </a:p>
        </p:txBody>
      </p:sp>
      <p:sp>
        <p:nvSpPr>
          <p:cNvPr id="17" name="        out[i] = alpha * x[i] + y[i]"/>
          <p:cNvSpPr txBox="1"/>
          <p:nvPr/>
        </p:nvSpPr>
        <p:spPr>
          <a:xfrm>
            <a:off x="594360" y="312480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out[i] = alpha * x[i] + y[i]</a:t>
            </a:r>
          </a:p>
        </p:txBody>
      </p:sp>
      <p:sp>
        <p:nvSpPr>
          <p:cNvPr id="18" name=""/>
          <p:cNvSpPr txBox="1"/>
          <p:nvPr/>
        </p:nvSpPr>
        <p:spPr>
          <a:xfrm>
            <a:off x="594360" y="3313379"/>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a:r>
          </a:p>
        </p:txBody>
      </p:sp>
      <p:sp>
        <p:nvSpPr>
          <p:cNvPr id="19" name="# x, y, out: contiguous float32 NumPy arrays"/>
          <p:cNvSpPr txBox="1"/>
          <p:nvPr/>
        </p:nvSpPr>
        <p:spPr>
          <a:xfrm>
            <a:off x="594360" y="350194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 x, y, out: contiguous float32 NumPy arrays</a:t>
            </a:r>
          </a:p>
        </p:txBody>
      </p:sp>
      <p:sp>
        <p:nvSpPr>
          <p:cNvPr id="20" name="axpy(2.0, x, y, out, len(x))"/>
          <p:cNvSpPr txBox="1"/>
          <p:nvPr/>
        </p:nvSpPr>
        <p:spPr>
          <a:xfrm>
            <a:off x="594360" y="3690518"/>
            <a:ext cx="4901184" cy="191516"/>
          </a:xfrm>
          <a:prstGeom prst="rect">
            <a:avLst/>
          </a:prstGeom>
          <a:noFill/>
        </p:spPr>
        <p:txBody>
          <a:bodyPr wrap="none" anchor="t" lIns="0" rIns="0" tIns="0" bIns="0">
            <a:noAutofit/>
          </a:bodyPr>
          <a:lstStyle/>
          <a:p>
            <a:pPr algn="l">
              <a:lnSpc>
                <a:spcPts val="1461"/>
              </a:lnSpc>
              <a:spcBef>
                <a:spcPts val="0"/>
              </a:spcBef>
              <a:spcAft>
                <a:spcPts val="0"/>
              </a:spcAft>
            </a:pPr>
            <a:r>
              <a:rPr sz="1160" b="0">
                <a:solidFill>
                  <a:srgbClr val="484848"/>
                </a:solidFill>
                <a:latin typeface="JetBrains Mono"/>
              </a:rPr>
              <a:t>axpy(2.0, x, y, out, len(x))</a:t>
            </a:r>
          </a:p>
        </p:txBody>
      </p:sp>
      <p:sp>
        <p:nvSpPr>
          <p:cNvPr id="21" name="One pointer per buffer"/>
          <p:cNvSpPr txBox="1"/>
          <p:nvPr/>
        </p:nvSpPr>
        <p:spPr>
          <a:xfrm>
            <a:off x="5916168" y="1545336"/>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One pointer per buffer</a:t>
            </a:r>
          </a:p>
        </p:txBody>
      </p:sp>
      <p:sp>
        <p:nvSpPr>
          <p:cNvPr id="22" name="NumPy ownership stays with the caller. / The adapter retains the input."/>
          <p:cNvSpPr txBox="1"/>
          <p:nvPr/>
        </p:nvSpPr>
        <p:spPr>
          <a:xfrm>
            <a:off x="5916168" y="1984248"/>
            <a:ext cx="2770632" cy="380999"/>
          </a:xfrm>
          <a:prstGeom prst="rect">
            <a:avLst/>
          </a:prstGeom>
          <a:noFill/>
        </p:spPr>
        <p:txBody>
          <a:bodyPr wrap="none" anchor="t" lIns="0" rIns="0" tIns="0" bIns="0">
            <a:noAutofit/>
          </a:bodyPr>
          <a:lstStyle/>
          <a:p>
            <a:pPr algn="l">
              <a:lnSpc>
                <a:spcPts val="1363"/>
              </a:lnSpc>
              <a:spcBef>
                <a:spcPts val="0"/>
              </a:spcBef>
              <a:spcAft>
                <a:spcPts val="0"/>
              </a:spcAft>
            </a:pPr>
            <a:r>
              <a:rPr sz="1175" b="0">
                <a:solidFill>
                  <a:srgbClr val="616161"/>
                </a:solidFill>
                <a:latin typeface="NVIDIA Sans"/>
              </a:rPr>
              <a:t>NumPy ownership stays with the caller.</a:t>
            </a:r>
          </a:p>
          <a:p>
            <a:pPr algn="l">
              <a:lnSpc>
                <a:spcPts val="1363"/>
              </a:lnSpc>
              <a:spcBef>
                <a:spcPts val="0"/>
              </a:spcBef>
              <a:spcAft>
                <a:spcPts val="0"/>
              </a:spcAft>
            </a:pPr>
            <a:r>
              <a:rPr sz="1175" b="0">
                <a:solidFill>
                  <a:srgbClr val="616161"/>
                </a:solidFill>
                <a:latin typeface="NVIDIA Sans"/>
              </a:rPr>
              <a:t>The adapter retains the input.</a:t>
            </a:r>
          </a:p>
        </p:txBody>
      </p:sp>
      <p:sp>
        <p:nvSpPr>
          <p:cNvPr id="23" name="Memory is explicit"/>
          <p:cNvSpPr txBox="1"/>
          <p:nvPr/>
        </p:nvSpPr>
        <p:spPr>
          <a:xfrm>
            <a:off x="5916168" y="2410968"/>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Memory is explicit</a:t>
            </a:r>
          </a:p>
        </p:txBody>
      </p:sp>
      <p:sp>
        <p:nvSpPr>
          <p:cNvPr id="24" name="Indexing emits getelementptr, / load, and store operations."/>
          <p:cNvSpPr txBox="1"/>
          <p:nvPr/>
        </p:nvSpPr>
        <p:spPr>
          <a:xfrm>
            <a:off x="5916168" y="2849880"/>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Indexing emits getelementptr,</a:t>
            </a:r>
          </a:p>
          <a:p>
            <a:pPr algn="l">
              <a:lnSpc>
                <a:spcPts val="1391"/>
              </a:lnSpc>
              <a:spcBef>
                <a:spcPts val="0"/>
              </a:spcBef>
              <a:spcAft>
                <a:spcPts val="0"/>
              </a:spcAft>
            </a:pPr>
            <a:r>
              <a:rPr sz="1200" b="0">
                <a:solidFill>
                  <a:srgbClr val="616161"/>
                </a:solidFill>
                <a:latin typeface="NVIDIA Sans"/>
              </a:rPr>
              <a:t>load, and store operations.</a:t>
            </a:r>
          </a:p>
        </p:txBody>
      </p:sp>
      <p:sp>
        <p:nvSpPr>
          <p:cNvPr id="25" name="A working endpoint"/>
          <p:cNvSpPr txBox="1"/>
          <p:nvPr/>
        </p:nvSpPr>
        <p:spPr>
          <a:xfrm>
            <a:off x="5916168" y="3276599"/>
            <a:ext cx="2770632" cy="402336"/>
          </a:xfrm>
          <a:prstGeom prst="rect">
            <a:avLst/>
          </a:prstGeom>
          <a:noFill/>
        </p:spPr>
        <p:txBody>
          <a:bodyPr wrap="none" anchor="t" lIns="0" rIns="0" tIns="0" bIns="0">
            <a:noAutofit/>
          </a:bodyPr>
          <a:lstStyle/>
          <a:p>
            <a:pPr algn="l">
              <a:lnSpc>
                <a:spcPts val="1623"/>
              </a:lnSpc>
              <a:spcBef>
                <a:spcPts val="0"/>
              </a:spcBef>
              <a:spcAft>
                <a:spcPts val="0"/>
              </a:spcAft>
            </a:pPr>
            <a:r>
              <a:rPr sz="1400" b="1">
                <a:solidFill>
                  <a:srgbClr val="416600"/>
                </a:solidFill>
                <a:latin typeface="NVIDIA Sans"/>
              </a:rPr>
              <a:t>A working endpoint</a:t>
            </a:r>
          </a:p>
        </p:txBody>
      </p:sp>
      <p:sp>
        <p:nvSpPr>
          <p:cNvPr id="26" name="257 elements match NumPy. / The loop becomes scf.for."/>
          <p:cNvSpPr txBox="1"/>
          <p:nvPr/>
        </p:nvSpPr>
        <p:spPr>
          <a:xfrm>
            <a:off x="5916168" y="3715511"/>
            <a:ext cx="2770632" cy="380999"/>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257 elements match NumPy.</a:t>
            </a:r>
          </a:p>
          <a:p>
            <a:pPr algn="l">
              <a:lnSpc>
                <a:spcPts val="1391"/>
              </a:lnSpc>
              <a:spcBef>
                <a:spcPts val="0"/>
              </a:spcBef>
              <a:spcAft>
                <a:spcPts val="0"/>
              </a:spcAft>
            </a:pPr>
            <a:r>
              <a:rPr sz="1200" b="0">
                <a:solidFill>
                  <a:srgbClr val="616161"/>
                </a:solidFill>
                <a:latin typeface="NVIDIA Sans"/>
              </a:rPr>
              <a:t>The loop becomes scf.for.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Interop is an adapter boundary"/>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Interop is an adapter boundary</a:t>
            </a:r>
          </a:p>
        </p:txBody>
      </p:sp>
      <p:sp>
        <p:nvSpPr>
          <p:cNvPr id="5" name="Keep framework ownership separate from the DSL value model."/>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Keep framework ownership separate from the DSL value model.</a:t>
            </a:r>
          </a:p>
        </p:txBody>
      </p:sp>
      <p:sp>
        <p:nvSpPr>
          <p:cNvPr id="6" name="1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12</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Choose the runtime ABI deliberately; adapters connect it to Python object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Choose the runtime ABI deliberately; adapters connect it to Python objects.</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Input"/>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Input</a:t>
            </a:r>
          </a:p>
        </p:txBody>
      </p:sp>
      <p:sp>
        <p:nvSpPr>
          <p:cNvPr id="11" name="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Representation</a:t>
            </a:r>
          </a:p>
        </p:txBody>
      </p:sp>
      <p:sp>
        <p:nvSpPr>
          <p:cNvPr id="12" name="Role"/>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Role</a:t>
            </a:r>
          </a:p>
        </p:txBody>
      </p:sp>
      <p:sp>
        <p:nvSpPr>
          <p:cNvPr id="13" name="Rectangle 12"/>
          <p:cNvSpPr/>
          <p:nvPr/>
        </p:nvSpPr>
        <p:spPr>
          <a:xfrm>
            <a:off x="438912" y="1956816"/>
            <a:ext cx="8266175" cy="713231"/>
          </a:xfrm>
          <a:prstGeom prst="rect">
            <a:avLst/>
          </a:prstGeom>
          <a:solidFill>
            <a:srgbClr val="F7F7F7"/>
          </a:solidFill>
          <a:ln>
            <a:noFill/>
          </a:ln>
          <a:effectLst/>
        </p:spPr>
        <p:txBody>
          <a:bodyPr rtlCol="0" anchor="ctr"/>
          <a:lstStyle/>
          <a:p>
            <a:pPr algn="ctr"/>
          </a:p>
        </p:txBody>
      </p:sp>
      <p:sp>
        <p:nvSpPr>
          <p:cNvPr id="14" name="Contiguous NumPy array"/>
          <p:cNvSpPr txBox="1"/>
          <p:nvPr/>
        </p:nvSpPr>
        <p:spPr>
          <a:xfrm>
            <a:off x="576072" y="2075688"/>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Contiguous NumPy</a:t>
            </a:r>
          </a:p>
          <a:p>
            <a:pPr algn="l">
              <a:lnSpc>
                <a:spcPts val="1391"/>
              </a:lnSpc>
              <a:spcBef>
                <a:spcPts val="0"/>
              </a:spcBef>
              <a:spcAft>
                <a:spcPts val="0"/>
              </a:spcAft>
            </a:pPr>
            <a:r>
              <a:rPr sz="1200" b="1">
                <a:solidFill>
                  <a:srgbClr val="000000"/>
                </a:solidFill>
                <a:latin typeface="NVIDIA Sans"/>
              </a:rPr>
              <a:t>array</a:t>
            </a:r>
          </a:p>
        </p:txBody>
      </p:sp>
      <p:sp>
        <p:nvSpPr>
          <p:cNvPr id="15" name="Pointer + retained owner"/>
          <p:cNvSpPr txBox="1"/>
          <p:nvPr/>
        </p:nvSpPr>
        <p:spPr>
          <a:xfrm>
            <a:off x="2450591" y="2075688"/>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 retained owner</a:t>
            </a:r>
          </a:p>
        </p:txBody>
      </p:sp>
      <p:sp>
        <p:nvSpPr>
          <p:cNvPr id="16" name="Current CPU adapter"/>
          <p:cNvSpPr txBox="1"/>
          <p:nvPr/>
        </p:nvSpPr>
        <p:spPr>
          <a:xfrm>
            <a:off x="5605272" y="2075688"/>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Current CPU adapter</a:t>
            </a:r>
          </a:p>
        </p:txBody>
      </p:sp>
      <p:sp>
        <p:nvSpPr>
          <p:cNvPr id="17" name="Rectangle 16"/>
          <p:cNvSpPr/>
          <p:nvPr/>
        </p:nvSpPr>
        <p:spPr>
          <a:xfrm>
            <a:off x="438912" y="2670048"/>
            <a:ext cx="8266175" cy="713231"/>
          </a:xfrm>
          <a:prstGeom prst="rect">
            <a:avLst/>
          </a:prstGeom>
          <a:solidFill>
            <a:srgbClr val="FFFFFF"/>
          </a:solidFill>
          <a:ln>
            <a:noFill/>
          </a:ln>
          <a:effectLst/>
        </p:spPr>
        <p:txBody>
          <a:bodyPr rtlCol="0" anchor="ctr"/>
          <a:lstStyle/>
          <a:p>
            <a:pPr algn="ctr"/>
          </a:p>
        </p:txBody>
      </p:sp>
      <p:sp>
        <p:nvSpPr>
          <p:cNvPr id="18" name="Contiguous torch.Tensor"/>
          <p:cNvSpPr txBox="1"/>
          <p:nvPr/>
        </p:nvSpPr>
        <p:spPr>
          <a:xfrm>
            <a:off x="576072" y="2788920"/>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Contiguous</a:t>
            </a:r>
          </a:p>
          <a:p>
            <a:pPr algn="l">
              <a:lnSpc>
                <a:spcPts val="1391"/>
              </a:lnSpc>
              <a:spcBef>
                <a:spcPts val="0"/>
              </a:spcBef>
              <a:spcAft>
                <a:spcPts val="0"/>
              </a:spcAft>
            </a:pPr>
            <a:r>
              <a:rPr sz="1200" b="1">
                <a:solidFill>
                  <a:srgbClr val="000000"/>
                </a:solidFill>
                <a:latin typeface="NVIDIA Sans"/>
              </a:rPr>
              <a:t>torch.Tensor</a:t>
            </a:r>
          </a:p>
        </p:txBody>
      </p:sp>
      <p:sp>
        <p:nvSpPr>
          <p:cNvPr id="19" name="Pointer + device kind"/>
          <p:cNvSpPr txBox="1"/>
          <p:nvPr/>
        </p:nvSpPr>
        <p:spPr>
          <a:xfrm>
            <a:off x="2450591" y="2788920"/>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 device kind</a:t>
            </a:r>
          </a:p>
        </p:txBody>
      </p:sp>
      <p:sp>
        <p:nvSpPr>
          <p:cNvPr id="20" name="Current lazy adapter"/>
          <p:cNvSpPr txBox="1"/>
          <p:nvPr/>
        </p:nvSpPr>
        <p:spPr>
          <a:xfrm>
            <a:off x="5605272" y="2788920"/>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Current lazy adapter</a:t>
            </a:r>
          </a:p>
        </p:txBody>
      </p:sp>
      <p:sp>
        <p:nvSpPr>
          <p:cNvPr id="21" name="Rectangle 20"/>
          <p:cNvSpPr/>
          <p:nvPr/>
        </p:nvSpPr>
        <p:spPr>
          <a:xfrm>
            <a:off x="438912" y="3383280"/>
            <a:ext cx="8266175" cy="713231"/>
          </a:xfrm>
          <a:prstGeom prst="rect">
            <a:avLst/>
          </a:prstGeom>
          <a:solidFill>
            <a:srgbClr val="F7F7F7"/>
          </a:solidFill>
          <a:ln>
            <a:noFill/>
          </a:ln>
          <a:effectLst/>
        </p:spPr>
        <p:txBody>
          <a:bodyPr rtlCol="0" anchor="ctr"/>
          <a:lstStyle/>
          <a:p>
            <a:pPr algn="ctr"/>
          </a:p>
        </p:txBody>
      </p:sp>
      <p:sp>
        <p:nvSpPr>
          <p:cNvPr id="22" name="DLPack producer"/>
          <p:cNvSpPr txBox="1"/>
          <p:nvPr/>
        </p:nvSpPr>
        <p:spPr>
          <a:xfrm>
            <a:off x="576072" y="3502152"/>
            <a:ext cx="1600199" cy="530351"/>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DLPack producer</a:t>
            </a:r>
          </a:p>
        </p:txBody>
      </p:sp>
      <p:sp>
        <p:nvSpPr>
          <p:cNvPr id="23" name="Protocol-managed array view"/>
          <p:cNvSpPr txBox="1"/>
          <p:nvPr/>
        </p:nvSpPr>
        <p:spPr>
          <a:xfrm>
            <a:off x="2450591" y="3502152"/>
            <a:ext cx="2880360"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Protocol-managed array view</a:t>
            </a:r>
          </a:p>
        </p:txBody>
      </p:sp>
      <p:sp>
        <p:nvSpPr>
          <p:cNvPr id="24" name="Alternative adapter design"/>
          <p:cNvSpPr txBox="1"/>
          <p:nvPr/>
        </p:nvSpPr>
        <p:spPr>
          <a:xfrm>
            <a:off x="5605272" y="3502152"/>
            <a:ext cx="2962656" cy="530351"/>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Alternative adapter design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Diagnostics are part of the frontend"/>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Diagnostics are part of the frontend</a:t>
            </a:r>
          </a:p>
        </p:txBody>
      </p:sp>
      <p:sp>
        <p:nvSpPr>
          <p:cNvPr id="5" name="Preserve Python source locations in both diagnostics and emitted operation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Preserve Python source locations in both diagnostics and emitted operations.</a:t>
            </a:r>
          </a:p>
        </p:txBody>
      </p:sp>
      <p:sp>
        <p:nvSpPr>
          <p:cNvPr id="6" name="1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13</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MLIR_DSL_DEBUGINFO=1: Python line → FileLineColLoc → operation location."/>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MLIR_DSL_DEBUGINFO=1: Python line → FileLineColLoc → operation location.</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A Python value crosses phases"/>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A Python value crosses phases</a:t>
            </a:r>
          </a:p>
        </p:txBody>
      </p:sp>
      <p:sp>
        <p:nvSpPr>
          <p:cNvPr id="11" name="@m.jit"/>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12" name="def cumsum(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cumsum(n: m.Int32) -&gt; m.Int32:</a:t>
            </a:r>
          </a:p>
        </p:txBody>
      </p:sp>
      <p:sp>
        <p:nvSpPr>
          <p:cNvPr id="13" name="    acc = 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0</a:t>
            </a:r>
          </a:p>
        </p:txBody>
      </p:sp>
      <p:sp>
        <p:nvSpPr>
          <p:cNvPr id="14" name="    for i in range(n):"/>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15" name="        acc += i"/>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16" name="    return acc"/>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17" name="Rectangle 16"/>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8" name="Diagnostic summary"/>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Diagnostic summary</a:t>
            </a:r>
          </a:p>
        </p:txBody>
      </p:sp>
      <p:sp>
        <p:nvSpPr>
          <p:cNvPr id="19" name="error[PHASE_MUTATE_PYTHON]:"/>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error[PHASE_MUTATE_PYTHON]:</a:t>
            </a:r>
          </a:p>
        </p:txBody>
      </p:sp>
      <p:sp>
        <p:nvSpPr>
          <p:cNvPr id="20" name="`acc` is a Python value, but it is changed"/>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`acc` is a Python value, but it is changed</a:t>
            </a:r>
          </a:p>
        </p:txBody>
      </p:sp>
      <p:sp>
        <p:nvSpPr>
          <p:cNvPr id="21" name="inside a runtime-controlled region."/>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inside a runtime-controlled region.</a:t>
            </a:r>
          </a:p>
        </p:txBody>
      </p:sp>
      <p:sp>
        <p:nvSpPr>
          <p:cNvPr id="22" name=""/>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3" name="21 |     for i in range(n):"/>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21 |     for i in range(n):</a:t>
            </a:r>
          </a:p>
        </p:txBody>
      </p:sp>
      <p:sp>
        <p:nvSpPr>
          <p:cNvPr id="24" name="   |     ^"/>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     ^</a:t>
            </a:r>
          </a:p>
        </p:txBody>
      </p:sp>
      <p:sp>
        <p:nvSpPr>
          <p:cNvPr id="25"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6" name="suggestion:"/>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suggestion:</a:t>
            </a:r>
          </a:p>
        </p:txBody>
      </p:sp>
      <p:sp>
        <p:nvSpPr>
          <p:cNvPr id="27" name="Create `acc` as a runtime value:"/>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Create `acc` as a runtime value:</a:t>
            </a:r>
          </a:p>
        </p:txBody>
      </p:sp>
      <p:sp>
        <p:nvSpPr>
          <p:cNvPr id="28" name="    acc = m.Int32(0)"/>
          <p:cNvSpPr txBox="1"/>
          <p:nvPr/>
        </p:nvSpPr>
        <p:spPr>
          <a:xfrm>
            <a:off x="4818888" y="364662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Cache compilation after tracing"/>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Cache compilation after tracing</a:t>
            </a:r>
          </a:p>
        </p:txBody>
      </p:sp>
      <p:sp>
        <p:nvSpPr>
          <p:cNvPr id="5" name="A normal @jit call still observes the current Python state."/>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 normal @jit call still observes the current Python state.</a:t>
            </a:r>
          </a:p>
        </p:txBody>
      </p:sp>
      <p:sp>
        <p:nvSpPr>
          <p:cNvPr id="6" name="14"/>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14</a:t>
            </a:r>
          </a:p>
        </p:txBody>
      </p:sp>
      <p:sp>
        <p:nvSpPr>
          <p:cNvPr id="7" name="Python → MLIR"/>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Python → MLIR</a:t>
            </a:r>
          </a:p>
        </p:txBody>
      </p:sp>
      <p:sp>
        <p:nvSpPr>
          <p:cNvPr id="8" name="A compile cache and a trace cache solve different problem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 compile cache and a trace cache solve different problems.</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Trace each call"/>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Trace each call</a:t>
            </a:r>
          </a:p>
        </p:txBody>
      </p:sp>
      <p:sp>
        <p:nvSpPr>
          <p:cNvPr id="11" name="Run Python helpers and / construct the current IR."/>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Run Python helpers and</a:t>
            </a:r>
          </a:p>
          <a:p>
            <a:pPr algn="l">
              <a:lnSpc>
                <a:spcPts val="1334"/>
              </a:lnSpc>
              <a:spcBef>
                <a:spcPts val="0"/>
              </a:spcBef>
              <a:spcAft>
                <a:spcPts val="0"/>
              </a:spcAft>
            </a:pPr>
            <a:r>
              <a:rPr sz="1150" b="0">
                <a:solidFill>
                  <a:srgbClr val="616161"/>
                </a:solidFill>
                <a:latin typeface="NVIDIA Sans"/>
              </a:rPr>
              <a:t>construct the current</a:t>
            </a:r>
          </a:p>
          <a:p>
            <a:pPr algn="l">
              <a:lnSpc>
                <a:spcPts val="1334"/>
              </a:lnSpc>
              <a:spcBef>
                <a:spcPts val="0"/>
              </a:spcBef>
              <a:spcAft>
                <a:spcPts val="0"/>
              </a:spcAft>
            </a:pPr>
            <a:r>
              <a:rPr sz="1150" b="0">
                <a:solidFill>
                  <a:srgbClr val="616161"/>
                </a:solidFill>
                <a:latin typeface="NVIDIA Sans"/>
              </a:rPr>
              <a:t>IR.</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Compute the key"/>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Compute the key</a:t>
            </a:r>
          </a:p>
        </p:txBody>
      </p:sp>
      <p:sp>
        <p:nvSpPr>
          <p:cNvPr id="15" name="IR + compilation settings / + pipeline + toolchai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IR + compilation</a:t>
            </a:r>
          </a:p>
          <a:p>
            <a:pPr algn="l">
              <a:lnSpc>
                <a:spcPts val="1334"/>
              </a:lnSpc>
              <a:spcBef>
                <a:spcPts val="0"/>
              </a:spcBef>
              <a:spcAft>
                <a:spcPts val="0"/>
              </a:spcAft>
            </a:pPr>
            <a:r>
              <a:rPr sz="1150" b="0">
                <a:solidFill>
                  <a:srgbClr val="616161"/>
                </a:solidFill>
                <a:latin typeface="NVIDIA Sans"/>
              </a:rPr>
              <a:t>settings</a:t>
            </a:r>
          </a:p>
          <a:p>
            <a:pPr algn="l">
              <a:lnSpc>
                <a:spcPts val="1334"/>
              </a:lnSpc>
              <a:spcBef>
                <a:spcPts val="0"/>
              </a:spcBef>
              <a:spcAft>
                <a:spcPts val="0"/>
              </a:spcAft>
            </a:pPr>
            <a:r>
              <a:rPr sz="1150" b="0">
                <a:solidFill>
                  <a:srgbClr val="616161"/>
                </a:solidFill>
                <a:latin typeface="NVIDIA Sans"/>
              </a:rPr>
              <a:t>+ pipeline + toolchain.</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Reuse compiled code"/>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Reuse compiled</a:t>
            </a:r>
          </a:p>
          <a:p>
            <a:pPr algn="l">
              <a:lnSpc>
                <a:spcPts val="1739"/>
              </a:lnSpc>
              <a:spcBef>
                <a:spcPts val="0"/>
              </a:spcBef>
              <a:spcAft>
                <a:spcPts val="0"/>
              </a:spcAft>
            </a:pPr>
            <a:r>
              <a:rPr sz="1500" b="1">
                <a:solidFill>
                  <a:srgbClr val="416600"/>
                </a:solidFill>
                <a:latin typeface="NVIDIA Sans"/>
              </a:rPr>
              <a:t>code</a:t>
            </a:r>
          </a:p>
        </p:txBody>
      </p:sp>
      <p:sp>
        <p:nvSpPr>
          <p:cNvPr id="19" name="An in-memory hit skips / lowering and engine creation."/>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An in-memory hit skips</a:t>
            </a:r>
          </a:p>
          <a:p>
            <a:pPr algn="l">
              <a:lnSpc>
                <a:spcPts val="1334"/>
              </a:lnSpc>
              <a:spcBef>
                <a:spcPts val="0"/>
              </a:spcBef>
              <a:spcAft>
                <a:spcPts val="0"/>
              </a:spcAft>
            </a:pPr>
            <a:r>
              <a:rPr sz="1150" b="0">
                <a:solidFill>
                  <a:srgbClr val="616161"/>
                </a:solidFill>
                <a:latin typeface="NVIDIA Sans"/>
              </a:rPr>
              <a:t>lowering and engine</a:t>
            </a:r>
          </a:p>
          <a:p>
            <a:pPr algn="l">
              <a:lnSpc>
                <a:spcPts val="1334"/>
              </a:lnSpc>
              <a:spcBef>
                <a:spcPts val="0"/>
              </a:spcBef>
              <a:spcAft>
                <a:spcPts val="0"/>
              </a:spcAft>
            </a:pPr>
            <a:r>
              <a:rPr sz="1150" b="0">
                <a:solidFill>
                  <a:srgbClr val="616161"/>
                </a:solidFill>
                <a:latin typeface="NVIDIA Sans"/>
              </a:rPr>
              <a:t>creation.</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Execut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Execute</a:t>
            </a:r>
          </a:p>
        </p:txBody>
      </p:sp>
      <p:sp>
        <p:nvSpPr>
          <p:cNvPr id="23" name="Pass this call's / runtime arguments."/>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Pass this call's</a:t>
            </a:r>
          </a:p>
          <a:p>
            <a:pPr algn="l">
              <a:lnSpc>
                <a:spcPts val="1334"/>
              </a:lnSpc>
              <a:spcBef>
                <a:spcPts val="0"/>
              </a:spcBef>
              <a:spcAft>
                <a:spcPts val="0"/>
              </a:spcAft>
            </a:pPr>
            <a:r>
              <a:rPr sz="1150" b="0">
                <a:solidFill>
                  <a:srgbClr val="616161"/>
                </a:solidFill>
                <a:latin typeface="NVIDIA Sans"/>
              </a:rPr>
              <a:t>runtime arguments.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Keep the reusable core behind your DSL"/>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Keep the reusable core behind your DSL</a:t>
            </a:r>
          </a:p>
        </p:txBody>
      </p:sp>
      <p:sp>
        <p:nvSpPr>
          <p:cNvPr id="5" name="Add a plugin when extending a contract; subclass when changing it."/>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Add a plugin when extending a contract; subclass when changing it.</a:t>
            </a:r>
          </a:p>
        </p:txBody>
      </p:sp>
      <p:sp>
        <p:nvSpPr>
          <p:cNvPr id="6" name="15"/>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15</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Reuse the mechanics; make the domain-specific decisions explicit."/>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Reuse the mechanics; make the domain-specific decisions explicit.</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BaseDSL"/>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BaseDSL</a:t>
            </a:r>
          </a:p>
        </p:txBody>
      </p:sp>
      <p:sp>
        <p:nvSpPr>
          <p:cNvPr id="12" name="Binding, preprocessing, tracing, / cache, diagnostics, invocation."/>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Binding, preprocessing,</a:t>
            </a:r>
          </a:p>
          <a:p>
            <a:pPr algn="l">
              <a:lnSpc>
                <a:spcPts val="1507"/>
              </a:lnSpc>
              <a:spcBef>
                <a:spcPts val="0"/>
              </a:spcBef>
              <a:spcAft>
                <a:spcPts val="0"/>
              </a:spcAft>
            </a:pPr>
            <a:r>
              <a:rPr sz="1300" b="0">
                <a:solidFill>
                  <a:srgbClr val="616161"/>
                </a:solidFill>
                <a:latin typeface="NVIDIA Sans"/>
              </a:rPr>
              <a:t>tracing,</a:t>
            </a:r>
          </a:p>
          <a:p>
            <a:pPr algn="l">
              <a:lnSpc>
                <a:spcPts val="1507"/>
              </a:lnSpc>
              <a:spcBef>
                <a:spcPts val="0"/>
              </a:spcBef>
              <a:spcAft>
                <a:spcPts val="0"/>
              </a:spcAft>
            </a:pPr>
            <a:r>
              <a:rPr sz="1300" b="0">
                <a:solidFill>
                  <a:srgbClr val="616161"/>
                </a:solidFill>
                <a:latin typeface="NVIDIA Sans"/>
              </a:rPr>
              <a:t>cache, diagnostics,</a:t>
            </a:r>
          </a:p>
          <a:p>
            <a:pPr algn="l">
              <a:lnSpc>
                <a:spcPts val="1507"/>
              </a:lnSpc>
              <a:spcBef>
                <a:spcPts val="0"/>
              </a:spcBef>
              <a:spcAft>
                <a:spcPts val="0"/>
              </a:spcAft>
            </a:pPr>
            <a:r>
              <a:rPr sz="1300" b="0">
                <a:solidFill>
                  <a:srgbClr val="616161"/>
                </a:solidFill>
                <a:latin typeface="NVIDIA Sans"/>
              </a:rPr>
              <a:t>invocation.</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Your DSL subclass"/>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Your DSL subclass</a:t>
            </a:r>
          </a:p>
        </p:txBody>
      </p:sp>
      <p:sp>
        <p:nvSpPr>
          <p:cNvPr id="16" name="Choose entry operations, executors, / configuration, and launch behavior."/>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Choose entry operations,</a:t>
            </a:r>
          </a:p>
          <a:p>
            <a:pPr algn="l">
              <a:lnSpc>
                <a:spcPts val="1507"/>
              </a:lnSpc>
              <a:spcBef>
                <a:spcPts val="0"/>
              </a:spcBef>
              <a:spcAft>
                <a:spcPts val="0"/>
              </a:spcAft>
            </a:pPr>
            <a:r>
              <a:rPr sz="1300" b="0">
                <a:solidFill>
                  <a:srgbClr val="616161"/>
                </a:solidFill>
                <a:latin typeface="NVIDIA Sans"/>
              </a:rPr>
              <a:t>executors,</a:t>
            </a:r>
          </a:p>
          <a:p>
            <a:pPr algn="l">
              <a:lnSpc>
                <a:spcPts val="1507"/>
              </a:lnSpc>
              <a:spcBef>
                <a:spcPts val="0"/>
              </a:spcBef>
              <a:spcAft>
                <a:spcPts val="0"/>
              </a:spcAft>
            </a:pPr>
            <a:r>
              <a:rPr sz="1300" b="0">
                <a:solidFill>
                  <a:srgbClr val="616161"/>
                </a:solidFill>
                <a:latin typeface="NVIDIA Sans"/>
              </a:rPr>
              <a:t>configuration, and launch</a:t>
            </a:r>
          </a:p>
          <a:p>
            <a:pPr algn="l">
              <a:lnSpc>
                <a:spcPts val="1507"/>
              </a:lnSpc>
              <a:spcBef>
                <a:spcPts val="0"/>
              </a:spcBef>
              <a:spcAft>
                <a:spcPts val="0"/>
              </a:spcAft>
            </a:pPr>
            <a:r>
              <a:rPr sz="1300" b="0">
                <a:solidFill>
                  <a:srgbClr val="616161"/>
                </a:solidFill>
                <a:latin typeface="NVIDIA Sans"/>
              </a:rPr>
              <a:t>behavior.</a:t>
            </a:r>
          </a:p>
        </p:txBody>
      </p:sp>
      <p:sp>
        <p:nvSpPr>
          <p:cNvPr id="17" name="Rectangle 16"/>
          <p:cNvSpPr/>
          <p:nvPr/>
        </p:nvSpPr>
        <p:spPr>
          <a:xfrm>
            <a:off x="6083808" y="1572768"/>
            <a:ext cx="2621280" cy="2459736"/>
          </a:xfrm>
          <a:prstGeom prst="rect">
            <a:avLst/>
          </a:prstGeom>
          <a:solidFill>
            <a:srgbClr val="F7F7F7"/>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D5D5D5"/>
          </a:solidFill>
          <a:ln>
            <a:noFill/>
          </a:ln>
          <a:effectLst/>
        </p:spPr>
        <p:txBody>
          <a:bodyPr rtlCol="0" anchor="ctr"/>
          <a:lstStyle/>
          <a:p>
            <a:pPr algn="ctr"/>
          </a:p>
        </p:txBody>
      </p:sp>
      <p:sp>
        <p:nvSpPr>
          <p:cNvPr id="19" name="DialectPlugin"/>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DialectPlugin</a:t>
            </a:r>
          </a:p>
        </p:txBody>
      </p:sp>
      <p:sp>
        <p:nvSpPr>
          <p:cNvPr id="20" name="Add dialect registration, operations, / lowering passes, and libraries."/>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Add dialect registration,</a:t>
            </a:r>
          </a:p>
          <a:p>
            <a:pPr algn="l">
              <a:lnSpc>
                <a:spcPts val="1507"/>
              </a:lnSpc>
              <a:spcBef>
                <a:spcPts val="0"/>
              </a:spcBef>
              <a:spcAft>
                <a:spcPts val="0"/>
              </a:spcAft>
            </a:pPr>
            <a:r>
              <a:rPr sz="1300" b="0">
                <a:solidFill>
                  <a:srgbClr val="616161"/>
                </a:solidFill>
                <a:latin typeface="NVIDIA Sans"/>
              </a:rPr>
              <a:t>operations,</a:t>
            </a:r>
          </a:p>
          <a:p>
            <a:pPr algn="l">
              <a:lnSpc>
                <a:spcPts val="1507"/>
              </a:lnSpc>
              <a:spcBef>
                <a:spcPts val="0"/>
              </a:spcBef>
              <a:spcAft>
                <a:spcPts val="0"/>
              </a:spcAft>
            </a:pPr>
            <a:r>
              <a:rPr sz="1300" b="0">
                <a:solidFill>
                  <a:srgbClr val="616161"/>
                </a:solidFill>
                <a:latin typeface="NVIDIA Sans"/>
              </a:rPr>
              <a:t>lowering passes, and</a:t>
            </a:r>
          </a:p>
          <a:p>
            <a:pPr algn="l">
              <a:lnSpc>
                <a:spcPts val="1507"/>
              </a:lnSpc>
              <a:spcBef>
                <a:spcPts val="0"/>
              </a:spcBef>
              <a:spcAft>
                <a:spcPts val="0"/>
              </a:spcAft>
            </a:pPr>
            <a:r>
              <a:rPr sz="1300" b="0">
                <a:solidFill>
                  <a:srgbClr val="616161"/>
                </a:solidFill>
                <a:latin typeface="NVIDIA Sans"/>
              </a:rPr>
              <a:t>libraries.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GPU execution is a concrete extension"/>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GPU execution is a concrete extension</a:t>
            </a:r>
          </a:p>
        </p:txBody>
      </p:sp>
      <p:sp>
        <p:nvSpPr>
          <p:cNvPr id="5" name="Separate the device body from the host launch."/>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Separate the device body from the host launch.</a:t>
            </a:r>
          </a:p>
        </p:txBody>
      </p:sp>
      <p:sp>
        <p:nvSpPr>
          <p:cNvPr id="6" name="16"/>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16</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The same expression tracing builds a GPU body with an explicit launc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same expression tracing builds a GPU body with an explicit launch.</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Device body"/>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Device body</a:t>
            </a:r>
          </a:p>
        </p:txBody>
      </p:sp>
      <p:sp>
        <p:nvSpPr>
          <p:cNvPr id="11" name="P = m.Pointer[m.Float32]"/>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P = m.Pointer[m.Float32]</a:t>
            </a:r>
          </a:p>
        </p:txBody>
      </p:sp>
      <p:sp>
        <p:nvSpPr>
          <p:cNvPr id="12" name=""/>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13" name="@m.kernel"/>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@m.kernel</a:t>
            </a:r>
          </a:p>
        </p:txBody>
      </p:sp>
      <p:sp>
        <p:nvSpPr>
          <p:cNvPr id="14" name="def axpy_gpu(a: m.Float32, x: P, y: P,"/>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axpy_gpu(a: m.Float32, x: P, y: P,</a:t>
            </a:r>
          </a:p>
        </p:txBody>
      </p:sp>
      <p:sp>
        <p:nvSpPr>
          <p:cNvPr id="15" name="             out: P, n: m.Int32):"/>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P, n: m.Int32):</a:t>
            </a:r>
          </a:p>
        </p:txBody>
      </p:sp>
      <p:sp>
        <p:nvSpPr>
          <p:cNvPr id="16" name="    i = m.block_idx()[0] * m.block_dim()[0]"/>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 = m.block_idx()[0] * m.block_dim()[0]</a:t>
            </a:r>
          </a:p>
        </p:txBody>
      </p:sp>
      <p:sp>
        <p:nvSpPr>
          <p:cNvPr id="17" name="    i += m.thread_idx()[0]"/>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 += m.thread_idx()[0]</a:t>
            </a:r>
          </a:p>
        </p:txBody>
      </p:sp>
      <p:sp>
        <p:nvSpPr>
          <p:cNvPr id="18" name="    if i &lt; n:"/>
          <p:cNvSpPr txBox="1"/>
          <p:nvPr/>
        </p:nvSpPr>
        <p:spPr>
          <a:xfrm>
            <a:off x="594360" y="327924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if i &lt; n:</a:t>
            </a:r>
          </a:p>
        </p:txBody>
      </p:sp>
      <p:sp>
        <p:nvSpPr>
          <p:cNvPr id="19" name="        out[i] = a * x[i] + y[i]"/>
          <p:cNvSpPr txBox="1"/>
          <p:nvPr/>
        </p:nvSpPr>
        <p:spPr>
          <a:xfrm>
            <a:off x="594360" y="346293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out[i] = a * x[i] + y[i]</a:t>
            </a:r>
          </a:p>
        </p:txBody>
      </p:sp>
      <p:sp>
        <p:nvSpPr>
          <p:cNvPr id="20" name="Rectangle 19"/>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21" name="Host launch"/>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Host launch</a:t>
            </a:r>
          </a:p>
        </p:txBody>
      </p:sp>
      <p:sp>
        <p:nvSpPr>
          <p:cNvPr id="22"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3" name="def launch(a: m.Float32, x: P, y: P,"/>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launch(a: m.Float32, x: P, y: P,</a:t>
            </a:r>
          </a:p>
        </p:txBody>
      </p:sp>
      <p:sp>
        <p:nvSpPr>
          <p:cNvPr id="24" name="           out: P, n: m.Int32):"/>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out: P, n: m.Int32):</a:t>
            </a:r>
          </a:p>
        </p:txBody>
      </p:sp>
      <p:sp>
        <p:nvSpPr>
          <p:cNvPr id="25" name="    axpy_gpu(a, x, y, out, n).launch("/>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axpy_gpu(a, x, y, out, n).launch(</a:t>
            </a:r>
          </a:p>
        </p:txBody>
      </p:sp>
      <p:sp>
        <p:nvSpPr>
          <p:cNvPr id="26" name="        grid=((n + 255) // 256, 1, 1),"/>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grid=((n + 255) // 256, 1, 1),</a:t>
            </a:r>
          </a:p>
        </p:txBody>
      </p:sp>
      <p:sp>
        <p:nvSpPr>
          <p:cNvPr id="27" name="        block=(256, 1, 1))"/>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block=(256, 1, 1))</a:t>
            </a:r>
          </a:p>
        </p:txBody>
      </p:sp>
      <p:sp>
        <p:nvSpPr>
          <p:cNvPr id="28"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9" name="# Pass caller-owned device buffers."/>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Pass caller-owned device buffers.</a:t>
            </a:r>
          </a:p>
        </p:txBody>
      </p:sp>
      <p:sp>
        <p:nvSpPr>
          <p:cNvPr id="30" name="# The framework owns their allocation."/>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The framework owns their allocation.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A plugin supplies the offload path"/>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A plugin supplies the offload path</a:t>
            </a:r>
          </a:p>
        </p:txBody>
      </p:sp>
      <p:sp>
        <p:nvSpPr>
          <p:cNvPr id="5" name="Compose the target-specific pipeline before the core lowering pass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Compose the target-specific pipeline before the core lowering passes.</a:t>
            </a:r>
          </a:p>
        </p:txBody>
      </p:sp>
      <p:sp>
        <p:nvSpPr>
          <p:cNvPr id="6" name="17"/>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17</a:t>
            </a:r>
          </a:p>
        </p:txBody>
      </p:sp>
      <p:sp>
        <p:nvSpPr>
          <p:cNvPr id="7" name="Build a sub-DSL"/>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Build a sub-DSL</a:t>
            </a:r>
          </a:p>
        </p:txBody>
      </p:sp>
      <p:sp>
        <p:nvSpPr>
          <p:cNvPr id="8" name="The frontend shares its value model; the plugin adds the target path."/>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frontend shares its value model; the plugin adds the target path.</a:t>
            </a:r>
          </a:p>
        </p:txBody>
      </p:sp>
      <p:sp>
        <p:nvSpPr>
          <p:cNvPr id="9" name="Rectangle 8"/>
          <p:cNvSpPr/>
          <p:nvPr/>
        </p:nvSpPr>
        <p:spPr>
          <a:xfrm>
            <a:off x="438912"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10" name="Capture"/>
          <p:cNvSpPr txBox="1"/>
          <p:nvPr/>
        </p:nvSpPr>
        <p:spPr>
          <a:xfrm>
            <a:off x="566928"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Capture</a:t>
            </a:r>
          </a:p>
        </p:txBody>
      </p:sp>
      <p:sp>
        <p:nvSpPr>
          <p:cNvPr id="11" name="gpu.func device body / + host launch operation."/>
          <p:cNvSpPr txBox="1"/>
          <p:nvPr/>
        </p:nvSpPr>
        <p:spPr>
          <a:xfrm>
            <a:off x="566928"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gpu.func device body</a:t>
            </a:r>
          </a:p>
          <a:p>
            <a:pPr algn="l">
              <a:lnSpc>
                <a:spcPts val="1334"/>
              </a:lnSpc>
              <a:spcBef>
                <a:spcPts val="0"/>
              </a:spcBef>
              <a:spcAft>
                <a:spcPts val="0"/>
              </a:spcAft>
            </a:pPr>
            <a:r>
              <a:rPr sz="1150" b="0">
                <a:solidFill>
                  <a:srgbClr val="616161"/>
                </a:solidFill>
                <a:latin typeface="NVIDIA Sans"/>
              </a:rPr>
              <a:t>+ host launch</a:t>
            </a:r>
          </a:p>
          <a:p>
            <a:pPr algn="l">
              <a:lnSpc>
                <a:spcPts val="1334"/>
              </a:lnSpc>
              <a:spcBef>
                <a:spcPts val="0"/>
              </a:spcBef>
              <a:spcAft>
                <a:spcPts val="0"/>
              </a:spcAft>
            </a:pPr>
            <a:r>
              <a:rPr sz="1150" b="0">
                <a:solidFill>
                  <a:srgbClr val="616161"/>
                </a:solidFill>
                <a:latin typeface="NVIDIA Sans"/>
              </a:rPr>
              <a:t>operation.</a:t>
            </a:r>
          </a:p>
        </p:txBody>
      </p:sp>
      <p:cxnSp>
        <p:nvCxnSpPr>
          <p:cNvPr id="12" name="Connector 11"/>
          <p:cNvCxnSpPr/>
          <p:nvPr/>
        </p:nvCxnSpPr>
        <p:spPr>
          <a:xfrm>
            <a:off x="2366010" y="2706624"/>
            <a:ext cx="164591"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562606"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4" name="GPU plugin"/>
          <p:cNvSpPr txBox="1"/>
          <p:nvPr/>
        </p:nvSpPr>
        <p:spPr>
          <a:xfrm>
            <a:off x="2690622"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GPU plugin</a:t>
            </a:r>
          </a:p>
        </p:txBody>
      </p:sp>
      <p:sp>
        <p:nvSpPr>
          <p:cNvPr id="15" name="GPU → NVVM lowering / and target compilation."/>
          <p:cNvSpPr txBox="1"/>
          <p:nvPr/>
        </p:nvSpPr>
        <p:spPr>
          <a:xfrm>
            <a:off x="2690622"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GPU → NVVM lowering</a:t>
            </a:r>
          </a:p>
          <a:p>
            <a:pPr algn="l">
              <a:lnSpc>
                <a:spcPts val="1334"/>
              </a:lnSpc>
              <a:spcBef>
                <a:spcPts val="0"/>
              </a:spcBef>
              <a:spcAft>
                <a:spcPts val="0"/>
              </a:spcAft>
            </a:pPr>
            <a:r>
              <a:rPr sz="1150" b="0">
                <a:solidFill>
                  <a:srgbClr val="616161"/>
                </a:solidFill>
                <a:latin typeface="NVIDIA Sans"/>
              </a:rPr>
              <a:t>and target compilation.</a:t>
            </a:r>
          </a:p>
        </p:txBody>
      </p:sp>
      <p:cxnSp>
        <p:nvCxnSpPr>
          <p:cNvPr id="16" name="Connector 15"/>
          <p:cNvCxnSpPr/>
          <p:nvPr/>
        </p:nvCxnSpPr>
        <p:spPr>
          <a:xfrm>
            <a:off x="4489704"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17" name="Rectangle 16"/>
          <p:cNvSpPr/>
          <p:nvPr/>
        </p:nvSpPr>
        <p:spPr>
          <a:xfrm>
            <a:off x="4686300" y="1856231"/>
            <a:ext cx="1895093" cy="1764792"/>
          </a:xfrm>
          <a:prstGeom prst="rect">
            <a:avLst/>
          </a:prstGeom>
          <a:solidFill>
            <a:srgbClr val="F7F7F7"/>
          </a:solidFill>
          <a:ln w="8890">
            <a:solidFill>
              <a:srgbClr val="D5D5D5"/>
            </a:solidFill>
          </a:ln>
          <a:effectLst/>
        </p:spPr>
        <p:txBody>
          <a:bodyPr rtlCol="0" anchor="ctr"/>
          <a:lstStyle/>
          <a:p>
            <a:pPr algn="ctr"/>
          </a:p>
        </p:txBody>
      </p:sp>
      <p:sp>
        <p:nvSpPr>
          <p:cNvPr id="18" name="Core lowering"/>
          <p:cNvSpPr txBox="1"/>
          <p:nvPr/>
        </p:nvSpPr>
        <p:spPr>
          <a:xfrm>
            <a:off x="4814316"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Core lowering</a:t>
            </a:r>
          </a:p>
        </p:txBody>
      </p:sp>
      <p:sp>
        <p:nvSpPr>
          <p:cNvPr id="19" name="SCF, arithmetic, and vectors / lower to LLVM."/>
          <p:cNvSpPr txBox="1"/>
          <p:nvPr/>
        </p:nvSpPr>
        <p:spPr>
          <a:xfrm>
            <a:off x="4814316"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SCF, arithmetic, and</a:t>
            </a:r>
          </a:p>
          <a:p>
            <a:pPr algn="l">
              <a:lnSpc>
                <a:spcPts val="1334"/>
              </a:lnSpc>
              <a:spcBef>
                <a:spcPts val="0"/>
              </a:spcBef>
              <a:spcAft>
                <a:spcPts val="0"/>
              </a:spcAft>
            </a:pPr>
            <a:r>
              <a:rPr sz="1150" b="0">
                <a:solidFill>
                  <a:srgbClr val="616161"/>
                </a:solidFill>
                <a:latin typeface="NVIDIA Sans"/>
              </a:rPr>
              <a:t>vectors</a:t>
            </a:r>
          </a:p>
          <a:p>
            <a:pPr algn="l">
              <a:lnSpc>
                <a:spcPts val="1334"/>
              </a:lnSpc>
              <a:spcBef>
                <a:spcPts val="0"/>
              </a:spcBef>
              <a:spcAft>
                <a:spcPts val="0"/>
              </a:spcAft>
            </a:pPr>
            <a:r>
              <a:rPr sz="1150" b="0">
                <a:solidFill>
                  <a:srgbClr val="616161"/>
                </a:solidFill>
                <a:latin typeface="NVIDIA Sans"/>
              </a:rPr>
              <a:t>lower to LLVM.</a:t>
            </a:r>
          </a:p>
        </p:txBody>
      </p:sp>
      <p:cxnSp>
        <p:nvCxnSpPr>
          <p:cNvPr id="20" name="Connector 19"/>
          <p:cNvCxnSpPr/>
          <p:nvPr/>
        </p:nvCxnSpPr>
        <p:spPr>
          <a:xfrm>
            <a:off x="6613398" y="2706624"/>
            <a:ext cx="164592" cy="0"/>
          </a:xfrm>
          <a:prstGeom prst="line">
            <a:avLst/>
          </a:prstGeom>
          <a:ln w="15875">
            <a:solidFill>
              <a:srgbClr val="416600"/>
            </a:solidFill>
            <a:tailEnd type="triangle"/>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6809994" y="1856231"/>
            <a:ext cx="1895093" cy="1764792"/>
          </a:xfrm>
          <a:prstGeom prst="rect">
            <a:avLst/>
          </a:prstGeom>
          <a:solidFill>
            <a:srgbClr val="F0F6E6"/>
          </a:solidFill>
          <a:ln w="8890">
            <a:solidFill>
              <a:srgbClr val="D5D5D5"/>
            </a:solidFill>
          </a:ln>
          <a:effectLst/>
        </p:spPr>
        <p:txBody>
          <a:bodyPr rtlCol="0" anchor="ctr"/>
          <a:lstStyle/>
          <a:p>
            <a:pPr algn="ctr"/>
          </a:p>
        </p:txBody>
      </p:sp>
      <p:sp>
        <p:nvSpPr>
          <p:cNvPr id="22" name="Execution engine"/>
          <p:cNvSpPr txBox="1"/>
          <p:nvPr/>
        </p:nvSpPr>
        <p:spPr>
          <a:xfrm>
            <a:off x="6938009" y="2039112"/>
            <a:ext cx="1639061" cy="566928"/>
          </a:xfrm>
          <a:prstGeom prst="rect">
            <a:avLst/>
          </a:prstGeom>
          <a:noFill/>
        </p:spPr>
        <p:txBody>
          <a:bodyPr wrap="none" anchor="t" lIns="0" rIns="0" tIns="0" bIns="0">
            <a:noAutofit/>
          </a:bodyPr>
          <a:lstStyle/>
          <a:p>
            <a:pPr algn="l">
              <a:lnSpc>
                <a:spcPts val="1739"/>
              </a:lnSpc>
              <a:spcBef>
                <a:spcPts val="0"/>
              </a:spcBef>
              <a:spcAft>
                <a:spcPts val="0"/>
              </a:spcAft>
            </a:pPr>
            <a:r>
              <a:rPr sz="1500" b="1">
                <a:solidFill>
                  <a:srgbClr val="416600"/>
                </a:solidFill>
                <a:latin typeface="NVIDIA Sans"/>
              </a:rPr>
              <a:t>Execution engine</a:t>
            </a:r>
          </a:p>
        </p:txBody>
      </p:sp>
      <p:sp>
        <p:nvSpPr>
          <p:cNvPr id="23" name="Generated host code calls / the CUDA runtime library."/>
          <p:cNvSpPr txBox="1"/>
          <p:nvPr/>
        </p:nvSpPr>
        <p:spPr>
          <a:xfrm>
            <a:off x="6938009" y="2770632"/>
            <a:ext cx="1639061" cy="667512"/>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Generated host code</a:t>
            </a:r>
          </a:p>
          <a:p>
            <a:pPr algn="l">
              <a:lnSpc>
                <a:spcPts val="1334"/>
              </a:lnSpc>
              <a:spcBef>
                <a:spcPts val="0"/>
              </a:spcBef>
              <a:spcAft>
                <a:spcPts val="0"/>
              </a:spcAft>
            </a:pPr>
            <a:r>
              <a:rPr sz="1150" b="0">
                <a:solidFill>
                  <a:srgbClr val="616161"/>
                </a:solidFill>
                <a:latin typeface="NVIDIA Sans"/>
              </a:rPr>
              <a:t>calls</a:t>
            </a:r>
          </a:p>
          <a:p>
            <a:pPr algn="l">
              <a:lnSpc>
                <a:spcPts val="1334"/>
              </a:lnSpc>
              <a:spcBef>
                <a:spcPts val="0"/>
              </a:spcBef>
              <a:spcAft>
                <a:spcPts val="0"/>
              </a:spcAft>
            </a:pPr>
            <a:r>
              <a:rPr sz="1150" b="0">
                <a:solidFill>
                  <a:srgbClr val="616161"/>
                </a:solidFill>
                <a:latin typeface="NVIDIA Sans"/>
              </a:rPr>
              <a:t>the CUDA runtime</a:t>
            </a:r>
          </a:p>
          <a:p>
            <a:pPr algn="l">
              <a:lnSpc>
                <a:spcPts val="1334"/>
              </a:lnSpc>
              <a:spcBef>
                <a:spcPts val="0"/>
              </a:spcBef>
              <a:spcAft>
                <a:spcPts val="0"/>
              </a:spcAft>
            </a:pPr>
            <a:r>
              <a:rPr sz="1150" b="0">
                <a:solidFill>
                  <a:srgbClr val="616161"/>
                </a:solidFill>
                <a:latin typeface="NVIDIA Sans"/>
              </a:rPr>
              <a:t>library.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Use independent agents as API learner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Use independent agents as API learners</a:t>
            </a:r>
          </a:p>
        </p:txBody>
      </p:sp>
      <p:sp>
        <p:nvSpPr>
          <p:cNvPr id="5" name="Give each role a bounded task, fixed resources, and observable check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Give each role a bounded task, fixed resources, and observable checks.</a:t>
            </a:r>
          </a:p>
        </p:txBody>
      </p:sp>
      <p:sp>
        <p:nvSpPr>
          <p:cNvPr id="6" name="18"/>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18</a:t>
            </a:r>
          </a:p>
        </p:txBody>
      </p:sp>
      <p:sp>
        <p:nvSpPr>
          <p:cNvPr id="7" name="Feedback"/>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Feedback</a:t>
            </a:r>
          </a:p>
        </p:txBody>
      </p:sp>
      <p:sp>
        <p:nvSpPr>
          <p:cNvPr id="8" name="Review the code, logs, and failures; treat self-reports as claims to verify."/>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Review the code, logs, and failures; treat self-reports as claims to verify.</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Rol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Role</a:t>
            </a:r>
          </a:p>
        </p:txBody>
      </p:sp>
      <p:sp>
        <p:nvSpPr>
          <p:cNvPr id="11" name="Task"/>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Task</a:t>
            </a:r>
          </a:p>
        </p:txBody>
      </p:sp>
      <p:sp>
        <p:nvSpPr>
          <p:cNvPr id="12" name="Evidence to keep"/>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Evidence to keep</a:t>
            </a:r>
          </a:p>
        </p:txBody>
      </p:sp>
      <p:sp>
        <p:nvSpPr>
          <p:cNvPr id="13" name="Rectangle 12"/>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4" name="ML researcher"/>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ML researcher</a:t>
            </a:r>
          </a:p>
        </p:txBody>
      </p:sp>
      <p:sp>
        <p:nvSpPr>
          <p:cNvPr id="15" name="CPU sum of squares"/>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CPU sum of squares</a:t>
            </a:r>
          </a:p>
        </p:txBody>
      </p:sp>
      <p:sp>
        <p:nvSpPr>
          <p:cNvPr id="16" name="Numerical checks + API obstacles"/>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Numerical checks + API obstacles</a:t>
            </a:r>
          </a:p>
        </p:txBody>
      </p:sp>
      <p:sp>
        <p:nvSpPr>
          <p:cNvPr id="17" name="Rectangle 16"/>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8" name="MLIR engineer"/>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MLIR engineer</a:t>
            </a:r>
          </a:p>
        </p:txBody>
      </p:sp>
      <p:sp>
        <p:nvSpPr>
          <p:cNvPr id="19" name="Runtime prefix sum"/>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prefix sum</a:t>
            </a:r>
          </a:p>
        </p:txBody>
      </p:sp>
      <p:sp>
        <p:nvSpPr>
          <p:cNvPr id="20" name="IR carry + yield + results"/>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IR carry + yield + results</a:t>
            </a:r>
          </a:p>
        </p:txBody>
      </p:sp>
      <p:sp>
        <p:nvSpPr>
          <p:cNvPr id="21" name="Rectangle 20"/>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2" name="GPU expert"/>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GPU expert</a:t>
            </a:r>
          </a:p>
        </p:txBody>
      </p:sp>
      <p:sp>
        <p:nvSpPr>
          <p:cNvPr id="23" name="Vector addition"/>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Vector addition</a:t>
            </a:r>
          </a:p>
        </p:txBody>
      </p:sp>
      <p:sp>
        <p:nvSpPr>
          <p:cNvPr id="24" name="Tail cases + actual execution"/>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Tail cases + actual execution</a:t>
            </a:r>
          </a:p>
        </p:txBody>
      </p:sp>
      <p:sp>
        <p:nvSpPr>
          <p:cNvPr id="25" name="Rectangle 24"/>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6" name="Triton author"/>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Triton author</a:t>
            </a:r>
          </a:p>
        </p:txBody>
      </p:sp>
      <p:sp>
        <p:nvSpPr>
          <p:cNvPr id="27" name="Elementwise ReLU"/>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Elementwise ReLU</a:t>
            </a:r>
          </a:p>
        </p:txBody>
      </p:sp>
      <p:sp>
        <p:nvSpPr>
          <p:cNvPr id="28" name="Chosen syntax + diagnostics"/>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Chosen syntax + diagnostics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at the recorded feedback actually shows"/>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What the recorded feedback actually shows</a:t>
            </a:r>
          </a:p>
        </p:txBody>
      </p:sp>
      <p:sp>
        <p:nvSpPr>
          <p:cNvPr id="5" name="Two smoke exercises · older explicit-builder prototype · 21 September 2026"/>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Two smoke exercises · older explicit-builder prototype · 21 September 2026</a:t>
            </a:r>
          </a:p>
        </p:txBody>
      </p:sp>
      <p:sp>
        <p:nvSpPr>
          <p:cNvPr id="6" name="19"/>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19</a:t>
            </a:r>
          </a:p>
        </p:txBody>
      </p:sp>
      <p:sp>
        <p:nvSpPr>
          <p:cNvPr id="7" name="Feedback"/>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Feedback</a:t>
            </a:r>
          </a:p>
        </p:txBody>
      </p:sp>
      <p:sp>
        <p:nvSpPr>
          <p:cNvPr id="8" name="Keep historical evidence tied to the API version it evaluated."/>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Keep historical evidence tied to the API version it evaluated.</a:t>
            </a:r>
          </a:p>
        </p:txBody>
      </p:sp>
      <p:sp>
        <p:nvSpPr>
          <p:cNvPr id="9" name="Rectangle 8"/>
          <p:cNvSpPr/>
          <p:nvPr/>
        </p:nvSpPr>
        <p:spPr>
          <a:xfrm>
            <a:off x="438912" y="1572768"/>
            <a:ext cx="2621280" cy="2459736"/>
          </a:xfrm>
          <a:prstGeom prst="rect">
            <a:avLst/>
          </a:prstGeom>
          <a:solidFill>
            <a:srgbClr val="F7F7F7"/>
          </a:solidFill>
          <a:ln>
            <a:noFill/>
          </a:ln>
          <a:effectLst/>
        </p:spPr>
        <p:txBody>
          <a:bodyPr rtlCol="0" anchor="ctr"/>
          <a:lstStyle/>
          <a:p>
            <a:pPr algn="ctr"/>
          </a:p>
        </p:txBody>
      </p:sp>
      <p:sp>
        <p:nvSpPr>
          <p:cNvPr id="10" name="Rectangle 9"/>
          <p:cNvSpPr/>
          <p:nvPr/>
        </p:nvSpPr>
        <p:spPr>
          <a:xfrm>
            <a:off x="438912" y="1572768"/>
            <a:ext cx="2621280" cy="41148"/>
          </a:xfrm>
          <a:prstGeom prst="rect">
            <a:avLst/>
          </a:prstGeom>
          <a:solidFill>
            <a:srgbClr val="D5D5D5"/>
          </a:solidFill>
          <a:ln>
            <a:noFill/>
          </a:ln>
          <a:effectLst/>
        </p:spPr>
        <p:txBody>
          <a:bodyPr rtlCol="0" anchor="ctr"/>
          <a:lstStyle/>
          <a:p>
            <a:pPr algn="ctr"/>
          </a:p>
        </p:txBody>
      </p:sp>
      <p:sp>
        <p:nvSpPr>
          <p:cNvPr id="11" name="CPU sum of squares"/>
          <p:cNvSpPr txBox="1"/>
          <p:nvPr/>
        </p:nvSpPr>
        <p:spPr>
          <a:xfrm>
            <a:off x="621792"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CPU sum of squares</a:t>
            </a:r>
          </a:p>
        </p:txBody>
      </p:sp>
      <p:sp>
        <p:nvSpPr>
          <p:cNvPr id="12" name="Ten recorded numerical comparisons. / An independent reviewer reran the script."/>
          <p:cNvSpPr txBox="1"/>
          <p:nvPr/>
        </p:nvSpPr>
        <p:spPr>
          <a:xfrm>
            <a:off x="621792"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Ten recorded numerical</a:t>
            </a:r>
          </a:p>
          <a:p>
            <a:pPr algn="l">
              <a:lnSpc>
                <a:spcPts val="1507"/>
              </a:lnSpc>
              <a:spcBef>
                <a:spcPts val="0"/>
              </a:spcBef>
              <a:spcAft>
                <a:spcPts val="0"/>
              </a:spcAft>
            </a:pPr>
            <a:r>
              <a:rPr sz="1300" b="0">
                <a:solidFill>
                  <a:srgbClr val="616161"/>
                </a:solidFill>
                <a:latin typeface="NVIDIA Sans"/>
              </a:rPr>
              <a:t>comparisons.</a:t>
            </a:r>
          </a:p>
          <a:p>
            <a:pPr algn="l">
              <a:lnSpc>
                <a:spcPts val="1507"/>
              </a:lnSpc>
              <a:spcBef>
                <a:spcPts val="0"/>
              </a:spcBef>
              <a:spcAft>
                <a:spcPts val="0"/>
              </a:spcAft>
            </a:pPr>
            <a:r>
              <a:rPr sz="1300" b="0">
                <a:solidFill>
                  <a:srgbClr val="616161"/>
                </a:solidFill>
                <a:latin typeface="NVIDIA Sans"/>
              </a:rPr>
              <a:t>An independent reviewer</a:t>
            </a:r>
          </a:p>
          <a:p>
            <a:pPr algn="l">
              <a:lnSpc>
                <a:spcPts val="1507"/>
              </a:lnSpc>
              <a:spcBef>
                <a:spcPts val="0"/>
              </a:spcBef>
              <a:spcAft>
                <a:spcPts val="0"/>
              </a:spcAft>
            </a:pPr>
            <a:r>
              <a:rPr sz="1300" b="0">
                <a:solidFill>
                  <a:srgbClr val="616161"/>
                </a:solidFill>
                <a:latin typeface="NVIDIA Sans"/>
              </a:rPr>
              <a:t>reran the script.</a:t>
            </a:r>
          </a:p>
        </p:txBody>
      </p:sp>
      <p:sp>
        <p:nvSpPr>
          <p:cNvPr id="13" name="Rectangle 12"/>
          <p:cNvSpPr/>
          <p:nvPr/>
        </p:nvSpPr>
        <p:spPr>
          <a:xfrm>
            <a:off x="3261360" y="1572768"/>
            <a:ext cx="2621280" cy="2459736"/>
          </a:xfrm>
          <a:prstGeom prst="rect">
            <a:avLst/>
          </a:prstGeom>
          <a:solidFill>
            <a:srgbClr val="F7F7F7"/>
          </a:solidFill>
          <a:ln>
            <a:noFill/>
          </a:ln>
          <a:effectLst/>
        </p:spPr>
        <p:txBody>
          <a:bodyPr rtlCol="0" anchor="ctr"/>
          <a:lstStyle/>
          <a:p>
            <a:pPr algn="ctr"/>
          </a:p>
        </p:txBody>
      </p:sp>
      <p:sp>
        <p:nvSpPr>
          <p:cNvPr id="14" name="Rectangle 13"/>
          <p:cNvSpPr/>
          <p:nvPr/>
        </p:nvSpPr>
        <p:spPr>
          <a:xfrm>
            <a:off x="3261360" y="1572768"/>
            <a:ext cx="2621280" cy="41148"/>
          </a:xfrm>
          <a:prstGeom prst="rect">
            <a:avLst/>
          </a:prstGeom>
          <a:solidFill>
            <a:srgbClr val="D5D5D5"/>
          </a:solidFill>
          <a:ln>
            <a:noFill/>
          </a:ln>
          <a:effectLst/>
        </p:spPr>
        <p:txBody>
          <a:bodyPr rtlCol="0" anchor="ctr"/>
          <a:lstStyle/>
          <a:p>
            <a:pPr algn="ctr"/>
          </a:p>
        </p:txBody>
      </p:sp>
      <p:sp>
        <p:nvSpPr>
          <p:cNvPr id="15" name="CUDA ReLU"/>
          <p:cNvSpPr txBox="1"/>
          <p:nvPr/>
        </p:nvSpPr>
        <p:spPr>
          <a:xfrm>
            <a:off x="3444240"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CUDA ReLU</a:t>
            </a:r>
          </a:p>
        </p:txBody>
      </p:sp>
      <p:sp>
        <p:nvSpPr>
          <p:cNvPr id="16" name="Empty, singleton, and tail cases. / Recorded framework agreement."/>
          <p:cNvSpPr txBox="1"/>
          <p:nvPr/>
        </p:nvSpPr>
        <p:spPr>
          <a:xfrm>
            <a:off x="3444240"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Empty, singleton, and tail</a:t>
            </a:r>
          </a:p>
          <a:p>
            <a:pPr algn="l">
              <a:lnSpc>
                <a:spcPts val="1507"/>
              </a:lnSpc>
              <a:spcBef>
                <a:spcPts val="0"/>
              </a:spcBef>
              <a:spcAft>
                <a:spcPts val="0"/>
              </a:spcAft>
            </a:pPr>
            <a:r>
              <a:rPr sz="1300" b="0">
                <a:solidFill>
                  <a:srgbClr val="616161"/>
                </a:solidFill>
                <a:latin typeface="NVIDIA Sans"/>
              </a:rPr>
              <a:t>cases.</a:t>
            </a:r>
          </a:p>
          <a:p>
            <a:pPr algn="l">
              <a:lnSpc>
                <a:spcPts val="1507"/>
              </a:lnSpc>
              <a:spcBef>
                <a:spcPts val="0"/>
              </a:spcBef>
              <a:spcAft>
                <a:spcPts val="0"/>
              </a:spcAft>
            </a:pPr>
            <a:r>
              <a:rPr sz="1300" b="0">
                <a:solidFill>
                  <a:srgbClr val="616161"/>
                </a:solidFill>
                <a:latin typeface="NVIDIA Sans"/>
              </a:rPr>
              <a:t>Recorded framework</a:t>
            </a:r>
          </a:p>
          <a:p>
            <a:pPr algn="l">
              <a:lnSpc>
                <a:spcPts val="1507"/>
              </a:lnSpc>
              <a:spcBef>
                <a:spcPts val="0"/>
              </a:spcBef>
              <a:spcAft>
                <a:spcPts val="0"/>
              </a:spcAft>
            </a:pPr>
            <a:r>
              <a:rPr sz="1300" b="0">
                <a:solidFill>
                  <a:srgbClr val="616161"/>
                </a:solidFill>
                <a:latin typeface="NVIDIA Sans"/>
              </a:rPr>
              <a:t>agreement.</a:t>
            </a:r>
          </a:p>
        </p:txBody>
      </p:sp>
      <p:sp>
        <p:nvSpPr>
          <p:cNvPr id="17" name="Rectangle 16"/>
          <p:cNvSpPr/>
          <p:nvPr/>
        </p:nvSpPr>
        <p:spPr>
          <a:xfrm>
            <a:off x="6083808" y="1572768"/>
            <a:ext cx="2621280" cy="2459736"/>
          </a:xfrm>
          <a:prstGeom prst="rect">
            <a:avLst/>
          </a:prstGeom>
          <a:solidFill>
            <a:srgbClr val="F7F7F7"/>
          </a:solidFill>
          <a:ln>
            <a:noFill/>
          </a:ln>
          <a:effectLst/>
        </p:spPr>
        <p:txBody>
          <a:bodyPr rtlCol="0" anchor="ctr"/>
          <a:lstStyle/>
          <a:p>
            <a:pPr algn="ctr"/>
          </a:p>
        </p:txBody>
      </p:sp>
      <p:sp>
        <p:nvSpPr>
          <p:cNvPr id="18" name="Rectangle 17"/>
          <p:cNvSpPr/>
          <p:nvPr/>
        </p:nvSpPr>
        <p:spPr>
          <a:xfrm>
            <a:off x="6083808" y="1572768"/>
            <a:ext cx="2621280" cy="41148"/>
          </a:xfrm>
          <a:prstGeom prst="rect">
            <a:avLst/>
          </a:prstGeom>
          <a:solidFill>
            <a:srgbClr val="D5D5D5"/>
          </a:solidFill>
          <a:ln>
            <a:noFill/>
          </a:ln>
          <a:effectLst/>
        </p:spPr>
        <p:txBody>
          <a:bodyPr rtlCol="0" anchor="ctr"/>
          <a:lstStyle/>
          <a:p>
            <a:pPr algn="ctr"/>
          </a:p>
        </p:txBody>
      </p:sp>
      <p:sp>
        <p:nvSpPr>
          <p:cNvPr id="19" name="Evidence boundary"/>
          <p:cNvSpPr txBox="1"/>
          <p:nvPr/>
        </p:nvSpPr>
        <p:spPr>
          <a:xfrm>
            <a:off x="6266688" y="1773936"/>
            <a:ext cx="2255520" cy="576072"/>
          </a:xfrm>
          <a:prstGeom prst="rect">
            <a:avLst/>
          </a:prstGeom>
          <a:noFill/>
        </p:spPr>
        <p:txBody>
          <a:bodyPr wrap="none" anchor="t" lIns="0" rIns="0" tIns="0" bIns="0">
            <a:noAutofit/>
          </a:bodyPr>
          <a:lstStyle/>
          <a:p>
            <a:pPr algn="l">
              <a:lnSpc>
                <a:spcPts val="1972"/>
              </a:lnSpc>
              <a:spcBef>
                <a:spcPts val="0"/>
              </a:spcBef>
              <a:spcAft>
                <a:spcPts val="0"/>
              </a:spcAft>
            </a:pPr>
            <a:r>
              <a:rPr sz="1700" b="1">
                <a:solidFill>
                  <a:srgbClr val="000000"/>
                </a:solidFill>
                <a:latin typeface="NVIDIA Sans"/>
              </a:rPr>
              <a:t>Evidence boundary</a:t>
            </a:r>
          </a:p>
        </p:txBody>
      </p:sp>
      <p:sp>
        <p:nvSpPr>
          <p:cNvPr id="20" name="Both agents reported first-pass success. / This predates native AST capture."/>
          <p:cNvSpPr txBox="1"/>
          <p:nvPr/>
        </p:nvSpPr>
        <p:spPr>
          <a:xfrm>
            <a:off x="6266688" y="2578608"/>
            <a:ext cx="2255520" cy="1207008"/>
          </a:xfrm>
          <a:prstGeom prst="rect">
            <a:avLst/>
          </a:prstGeom>
          <a:noFill/>
        </p:spPr>
        <p:txBody>
          <a:bodyPr wrap="none" anchor="t" lIns="0" rIns="0" tIns="0" bIns="0">
            <a:noAutofit/>
          </a:bodyPr>
          <a:lstStyle/>
          <a:p>
            <a:pPr algn="l">
              <a:lnSpc>
                <a:spcPts val="1507"/>
              </a:lnSpc>
              <a:spcBef>
                <a:spcPts val="0"/>
              </a:spcBef>
              <a:spcAft>
                <a:spcPts val="0"/>
              </a:spcAft>
            </a:pPr>
            <a:r>
              <a:rPr sz="1300" b="0">
                <a:solidFill>
                  <a:srgbClr val="616161"/>
                </a:solidFill>
                <a:latin typeface="NVIDIA Sans"/>
              </a:rPr>
              <a:t>Both agents reported</a:t>
            </a:r>
          </a:p>
          <a:p>
            <a:pPr algn="l">
              <a:lnSpc>
                <a:spcPts val="1507"/>
              </a:lnSpc>
              <a:spcBef>
                <a:spcPts val="0"/>
              </a:spcBef>
              <a:spcAft>
                <a:spcPts val="0"/>
              </a:spcAft>
            </a:pPr>
            <a:r>
              <a:rPr sz="1300" b="0">
                <a:solidFill>
                  <a:srgbClr val="616161"/>
                </a:solidFill>
                <a:latin typeface="NVIDIA Sans"/>
              </a:rPr>
              <a:t>first-pass success.</a:t>
            </a:r>
          </a:p>
          <a:p>
            <a:pPr algn="l">
              <a:lnSpc>
                <a:spcPts val="1507"/>
              </a:lnSpc>
              <a:spcBef>
                <a:spcPts val="0"/>
              </a:spcBef>
              <a:spcAft>
                <a:spcPts val="0"/>
              </a:spcAft>
            </a:pPr>
            <a:r>
              <a:rPr sz="1300" b="0">
                <a:solidFill>
                  <a:srgbClr val="616161"/>
                </a:solidFill>
                <a:latin typeface="NVIDIA Sans"/>
              </a:rPr>
              <a:t>This predates native AST</a:t>
            </a:r>
          </a:p>
          <a:p>
            <a:pPr algn="l">
              <a:lnSpc>
                <a:spcPts val="1507"/>
              </a:lnSpc>
              <a:spcBef>
                <a:spcPts val="0"/>
              </a:spcBef>
              <a:spcAft>
                <a:spcPts val="0"/>
              </a:spcAft>
            </a:pPr>
            <a:r>
              <a:rPr sz="1300" b="0">
                <a:solidFill>
                  <a:srgbClr val="616161"/>
                </a:solidFill>
                <a:latin typeface="NVIDIA Sans"/>
              </a:rPr>
              <a:t>capture.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Make the state transfer visible"/>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Make the state transfer visible</a:t>
            </a:r>
          </a:p>
        </p:txBody>
      </p:sp>
      <p:sp>
        <p:nvSpPr>
          <p:cNvPr id="5" name="Native syntax and explicit builders describe the same loop dataflow."/>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Native syntax and explicit builders describe the same loop dataflow.</a:t>
            </a:r>
          </a:p>
        </p:txBody>
      </p:sp>
      <p:sp>
        <p:nvSpPr>
          <p:cNvPr id="6" name="20"/>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20</a:t>
            </a:r>
          </a:p>
        </p:txBody>
      </p:sp>
      <p:sp>
        <p:nvSpPr>
          <p:cNvPr id="7" name="Mutation handoff"/>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Mutation handoff</a:t>
            </a:r>
          </a:p>
        </p:txBody>
      </p:sp>
      <p:sp>
        <p:nvSpPr>
          <p:cNvPr id="8" name="The AST pass identifies writes and threads values through region callbacks."/>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AST pass identifies writes and threads values through region callbacks.</a:t>
            </a:r>
          </a:p>
        </p:txBody>
      </p:sp>
      <p:sp>
        <p:nvSpPr>
          <p:cNvPr id="9" name="Rectangle 8"/>
          <p:cNvSpPr/>
          <p:nvPr/>
        </p:nvSpPr>
        <p:spPr>
          <a:xfrm>
            <a:off x="438912" y="1508760"/>
            <a:ext cx="4023360" cy="2596896"/>
          </a:xfrm>
          <a:prstGeom prst="rect">
            <a:avLst/>
          </a:prstGeom>
          <a:solidFill>
            <a:srgbClr val="F7F7F7"/>
          </a:solidFill>
          <a:ln>
            <a:noFill/>
          </a:ln>
          <a:effectLst/>
        </p:spPr>
        <p:txBody>
          <a:bodyPr rtlCol="0" anchor="ctr"/>
          <a:lstStyle/>
          <a:p>
            <a:pPr algn="ctr"/>
          </a:p>
        </p:txBody>
      </p:sp>
      <p:sp>
        <p:nvSpPr>
          <p:cNvPr id="10" name="Explicit carries"/>
          <p:cNvSpPr txBox="1"/>
          <p:nvPr/>
        </p:nvSpPr>
        <p:spPr>
          <a:xfrm>
            <a:off x="594360" y="1618488"/>
            <a:ext cx="3712464"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616161"/>
                </a:solidFill>
                <a:latin typeface="NVIDIA Sans"/>
              </a:rPr>
              <a:t>Explicit carries</a:t>
            </a:r>
          </a:p>
        </p:txBody>
      </p:sp>
      <p:sp>
        <p:nvSpPr>
          <p:cNvPr id="11" name="@m.jit(preprocess=False)"/>
          <p:cNvSpPr txBox="1"/>
          <p:nvPr/>
        </p:nvSpPr>
        <p:spPr>
          <a:xfrm>
            <a:off x="594360" y="1993391"/>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@m.jit(preprocess=False)</a:t>
            </a:r>
          </a:p>
        </p:txBody>
      </p:sp>
      <p:sp>
        <p:nvSpPr>
          <p:cNvPr id="12" name="def explicit(n: m.Int32) -&gt; m.Int32:"/>
          <p:cNvSpPr txBox="1"/>
          <p:nvPr/>
        </p:nvSpPr>
        <p:spPr>
          <a:xfrm>
            <a:off x="594360" y="2177084"/>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explicit(n: m.Int32) -&gt; m.Int32:</a:t>
            </a:r>
          </a:p>
        </p:txBody>
      </p:sp>
      <p:sp>
        <p:nvSpPr>
          <p:cNvPr id="13" name="    acc = m.Int32(0)"/>
          <p:cNvSpPr txBox="1"/>
          <p:nvPr/>
        </p:nvSpPr>
        <p:spPr>
          <a:xfrm>
            <a:off x="594360" y="2360777"/>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14" name="    for i, a, result in m.for_("/>
          <p:cNvSpPr txBox="1"/>
          <p:nvPr/>
        </p:nvSpPr>
        <p:spPr>
          <a:xfrm>
            <a:off x="594360" y="2544470"/>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a, result in m.for_(</a:t>
            </a:r>
          </a:p>
        </p:txBody>
      </p:sp>
      <p:sp>
        <p:nvSpPr>
          <p:cNvPr id="15" name="            0, n, 1, [acc]):"/>
          <p:cNvSpPr txBox="1"/>
          <p:nvPr/>
        </p:nvSpPr>
        <p:spPr>
          <a:xfrm>
            <a:off x="594360" y="2728163"/>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0, n, 1, [acc]):</a:t>
            </a:r>
          </a:p>
        </p:txBody>
      </p:sp>
      <p:sp>
        <p:nvSpPr>
          <p:cNvPr id="16" name="        m.yield_([a + i])"/>
          <p:cNvSpPr txBox="1"/>
          <p:nvPr/>
        </p:nvSpPr>
        <p:spPr>
          <a:xfrm>
            <a:off x="594360" y="2911855"/>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m.yield_([a + i])</a:t>
            </a:r>
          </a:p>
        </p:txBody>
      </p:sp>
      <p:sp>
        <p:nvSpPr>
          <p:cNvPr id="17" name="    return result"/>
          <p:cNvSpPr txBox="1"/>
          <p:nvPr/>
        </p:nvSpPr>
        <p:spPr>
          <a:xfrm>
            <a:off x="594360" y="3095548"/>
            <a:ext cx="3712464"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result</a:t>
            </a:r>
          </a:p>
        </p:txBody>
      </p:sp>
      <p:sp>
        <p:nvSpPr>
          <p:cNvPr id="18" name="Rectangle 17"/>
          <p:cNvSpPr/>
          <p:nvPr/>
        </p:nvSpPr>
        <p:spPr>
          <a:xfrm>
            <a:off x="4663440" y="1508760"/>
            <a:ext cx="4041648" cy="2596896"/>
          </a:xfrm>
          <a:prstGeom prst="rect">
            <a:avLst/>
          </a:prstGeom>
          <a:solidFill>
            <a:srgbClr val="F0F6E6"/>
          </a:solidFill>
          <a:ln>
            <a:noFill/>
          </a:ln>
          <a:effectLst/>
        </p:spPr>
        <p:txBody>
          <a:bodyPr rtlCol="0" anchor="ctr"/>
          <a:lstStyle/>
          <a:p>
            <a:pPr algn="ctr"/>
          </a:p>
        </p:txBody>
      </p:sp>
      <p:sp>
        <p:nvSpPr>
          <p:cNvPr id="19" name="AST-assisted syntax"/>
          <p:cNvSpPr txBox="1"/>
          <p:nvPr/>
        </p:nvSpPr>
        <p:spPr>
          <a:xfrm>
            <a:off x="4818888" y="1618488"/>
            <a:ext cx="3730752" cy="256032"/>
          </a:xfrm>
          <a:prstGeom prst="rect">
            <a:avLst/>
          </a:prstGeom>
          <a:noFill/>
        </p:spPr>
        <p:txBody>
          <a:bodyPr wrap="none" anchor="t" lIns="0" rIns="0" tIns="0" bIns="0">
            <a:noAutofit/>
          </a:bodyPr>
          <a:lstStyle/>
          <a:p>
            <a:pPr algn="l">
              <a:lnSpc>
                <a:spcPts val="1160"/>
              </a:lnSpc>
              <a:spcBef>
                <a:spcPts val="0"/>
              </a:spcBef>
              <a:spcAft>
                <a:spcPts val="0"/>
              </a:spcAft>
            </a:pPr>
            <a:r>
              <a:rPr sz="1000" b="1">
                <a:solidFill>
                  <a:srgbClr val="416600"/>
                </a:solidFill>
                <a:latin typeface="NVIDIA Sans"/>
              </a:rPr>
              <a:t>AST-assisted syntax</a:t>
            </a:r>
          </a:p>
        </p:txBody>
      </p:sp>
      <p:sp>
        <p:nvSpPr>
          <p:cNvPr id="20" name="@m.jit"/>
          <p:cNvSpPr txBox="1"/>
          <p:nvPr/>
        </p:nvSpPr>
        <p:spPr>
          <a:xfrm>
            <a:off x="4818888" y="199339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1">
                <a:solidFill>
                  <a:srgbClr val="416600"/>
                </a:solidFill>
                <a:latin typeface="JetBrains Mono"/>
              </a:rPr>
              <a:t>@m.jit</a:t>
            </a:r>
          </a:p>
        </p:txBody>
      </p:sp>
      <p:sp>
        <p:nvSpPr>
          <p:cNvPr id="21" name="def native(n: m.Int32) -&gt; m.Int32:"/>
          <p:cNvSpPr txBox="1"/>
          <p:nvPr/>
        </p:nvSpPr>
        <p:spPr>
          <a:xfrm>
            <a:off x="4818888" y="217708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def native(n: m.Int32) -&gt; m.Int32:</a:t>
            </a:r>
          </a:p>
        </p:txBody>
      </p:sp>
      <p:sp>
        <p:nvSpPr>
          <p:cNvPr id="22" name="    acc = m.Int32(0)"/>
          <p:cNvSpPr txBox="1"/>
          <p:nvPr/>
        </p:nvSpPr>
        <p:spPr>
          <a:xfrm>
            <a:off x="4818888" y="2360777"/>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m.Int32(0)</a:t>
            </a:r>
          </a:p>
        </p:txBody>
      </p:sp>
      <p:sp>
        <p:nvSpPr>
          <p:cNvPr id="23" name="    for i in range(n):"/>
          <p:cNvSpPr txBox="1"/>
          <p:nvPr/>
        </p:nvSpPr>
        <p:spPr>
          <a:xfrm>
            <a:off x="4818888" y="2544470"/>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for i in range(n):</a:t>
            </a:r>
          </a:p>
        </p:txBody>
      </p:sp>
      <p:sp>
        <p:nvSpPr>
          <p:cNvPr id="24" name="        acc += i"/>
          <p:cNvSpPr txBox="1"/>
          <p:nvPr/>
        </p:nvSpPr>
        <p:spPr>
          <a:xfrm>
            <a:off x="4818888" y="2728163"/>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acc += i</a:t>
            </a:r>
          </a:p>
        </p:txBody>
      </p:sp>
      <p:sp>
        <p:nvSpPr>
          <p:cNvPr id="25" name="    return acc"/>
          <p:cNvSpPr txBox="1"/>
          <p:nvPr/>
        </p:nvSpPr>
        <p:spPr>
          <a:xfrm>
            <a:off x="4818888" y="2911855"/>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return acc</a:t>
            </a:r>
          </a:p>
        </p:txBody>
      </p:sp>
      <p:sp>
        <p:nvSpPr>
          <p:cNvPr id="26" name=""/>
          <p:cNvSpPr txBox="1"/>
          <p:nvPr/>
        </p:nvSpPr>
        <p:spPr>
          <a:xfrm>
            <a:off x="4818888" y="3095548"/>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a:r>
          </a:p>
        </p:txBody>
      </p:sp>
      <p:sp>
        <p:nvSpPr>
          <p:cNvPr id="27" name="# Both build scf.for with an iter_arg."/>
          <p:cNvSpPr txBox="1"/>
          <p:nvPr/>
        </p:nvSpPr>
        <p:spPr>
          <a:xfrm>
            <a:off x="4818888" y="3279241"/>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Both build scf.for with an iter_arg.</a:t>
            </a:r>
          </a:p>
        </p:txBody>
      </p:sp>
      <p:sp>
        <p:nvSpPr>
          <p:cNvPr id="28" name="# Both return 45 for n = 10."/>
          <p:cNvSpPr txBox="1"/>
          <p:nvPr/>
        </p:nvSpPr>
        <p:spPr>
          <a:xfrm>
            <a:off x="4818888" y="3462934"/>
            <a:ext cx="3730752" cy="186563"/>
          </a:xfrm>
          <a:prstGeom prst="rect">
            <a:avLst/>
          </a:prstGeom>
          <a:noFill/>
        </p:spPr>
        <p:txBody>
          <a:bodyPr wrap="none" anchor="t" lIns="0" rIns="0" tIns="0" bIns="0">
            <a:noAutofit/>
          </a:bodyPr>
          <a:lstStyle/>
          <a:p>
            <a:pPr algn="l">
              <a:lnSpc>
                <a:spcPts val="1423"/>
              </a:lnSpc>
              <a:spcBef>
                <a:spcPts val="0"/>
              </a:spcBef>
              <a:spcAft>
                <a:spcPts val="0"/>
              </a:spcAft>
            </a:pPr>
            <a:r>
              <a:rPr sz="1130" b="0">
                <a:solidFill>
                  <a:srgbClr val="484848"/>
                </a:solidFill>
                <a:latin typeface="JetBrains Mono"/>
              </a:rPr>
              <a:t># Both return 45 for n = 10.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Which state does the frontend represent?"/>
          <p:cNvSpPr txBox="1"/>
          <p:nvPr/>
        </p:nvSpPr>
        <p:spPr>
          <a:xfrm>
            <a:off x="438912" y="393192"/>
            <a:ext cx="8266175" cy="466344"/>
          </a:xfrm>
          <a:prstGeom prst="rect">
            <a:avLst/>
          </a:prstGeom>
          <a:noFill/>
        </p:spPr>
        <p:txBody>
          <a:bodyPr wrap="none" anchor="t" lIns="0" rIns="0" tIns="0" bIns="0">
            <a:noAutofit/>
          </a:bodyPr>
          <a:lstStyle/>
          <a:p>
            <a:pPr algn="l">
              <a:lnSpc>
                <a:spcPts val="2436"/>
              </a:lnSpc>
              <a:spcBef>
                <a:spcPts val="0"/>
              </a:spcBef>
              <a:spcAft>
                <a:spcPts val="0"/>
              </a:spcAft>
            </a:pPr>
            <a:r>
              <a:rPr sz="2100" b="0">
                <a:solidFill>
                  <a:srgbClr val="000000"/>
                </a:solidFill>
                <a:latin typeface="NVIDIA Sans Light"/>
              </a:rPr>
              <a:t>Which state does the frontend represent?</a:t>
            </a:r>
          </a:p>
        </p:txBody>
      </p:sp>
      <p:sp>
        <p:nvSpPr>
          <p:cNvPr id="5" name="Value replacement, memory effects, and object identity are different cases."/>
          <p:cNvSpPr txBox="1"/>
          <p:nvPr/>
        </p:nvSpPr>
        <p:spPr>
          <a:xfrm>
            <a:off x="457200" y="914400"/>
            <a:ext cx="8247888" cy="466344"/>
          </a:xfrm>
          <a:prstGeom prst="rect">
            <a:avLst/>
          </a:prstGeom>
          <a:noFill/>
        </p:spPr>
        <p:txBody>
          <a:bodyPr wrap="none" anchor="t" lIns="0" rIns="0" tIns="0" bIns="0">
            <a:noAutofit/>
          </a:bodyPr>
          <a:lstStyle/>
          <a:p>
            <a:pPr algn="l">
              <a:lnSpc>
                <a:spcPts val="1368"/>
              </a:lnSpc>
              <a:spcBef>
                <a:spcPts val="0"/>
              </a:spcBef>
              <a:spcAft>
                <a:spcPts val="0"/>
              </a:spcAft>
            </a:pPr>
            <a:r>
              <a:rPr sz="1180" b="0">
                <a:solidFill>
                  <a:srgbClr val="416600"/>
                </a:solidFill>
                <a:latin typeface="NVIDIA Sans"/>
              </a:rPr>
              <a:t>Value replacement, memory effects, and object identity are different cases.</a:t>
            </a:r>
          </a:p>
        </p:txBody>
      </p:sp>
      <p:sp>
        <p:nvSpPr>
          <p:cNvPr id="6" name="21"/>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21</a:t>
            </a:r>
          </a:p>
        </p:txBody>
      </p:sp>
      <p:sp>
        <p:nvSpPr>
          <p:cNvPr id="7" name="Mutation handoff"/>
          <p:cNvSpPr txBox="1"/>
          <p:nvPr/>
        </p:nvSpPr>
        <p:spPr>
          <a:xfrm>
            <a:off x="5029200" y="4718304"/>
            <a:ext cx="2834640" cy="182880"/>
          </a:xfrm>
          <a:prstGeom prst="rect">
            <a:avLst/>
          </a:prstGeom>
          <a:noFill/>
        </p:spPr>
        <p:txBody>
          <a:bodyPr wrap="none" anchor="t" lIns="0" rIns="0" tIns="0" bIns="0">
            <a:noAutofit/>
          </a:bodyPr>
          <a:lstStyle/>
          <a:p>
            <a:pPr algn="r">
              <a:lnSpc>
                <a:spcPts val="927"/>
              </a:lnSpc>
              <a:spcBef>
                <a:spcPts val="0"/>
              </a:spcBef>
              <a:spcAft>
                <a:spcPts val="0"/>
              </a:spcAft>
            </a:pPr>
            <a:r>
              <a:rPr sz="800" b="0">
                <a:solidFill>
                  <a:srgbClr val="616161"/>
                </a:solidFill>
                <a:latin typeface="NVIDIA Sans"/>
              </a:rPr>
              <a:t>Mutation handoff</a:t>
            </a:r>
          </a:p>
        </p:txBody>
      </p:sp>
      <p:sp>
        <p:nvSpPr>
          <p:cNvPr id="8" name="The next problem is preserving the meaning of mutation across runtime control flow."/>
          <p:cNvSpPr txBox="1"/>
          <p:nvPr/>
        </p:nvSpPr>
        <p:spPr>
          <a:xfrm>
            <a:off x="457200" y="4315968"/>
            <a:ext cx="8229600" cy="310896"/>
          </a:xfrm>
          <a:prstGeom prst="rect">
            <a:avLst/>
          </a:prstGeom>
          <a:noFill/>
        </p:spPr>
        <p:txBody>
          <a:bodyPr wrap="none" anchor="t" lIns="0" rIns="0" tIns="0" bIns="0">
            <a:noAutofit/>
          </a:bodyPr>
          <a:lstStyle/>
          <a:p>
            <a:pPr algn="l">
              <a:lnSpc>
                <a:spcPts val="1334"/>
              </a:lnSpc>
              <a:spcBef>
                <a:spcPts val="0"/>
              </a:spcBef>
              <a:spcAft>
                <a:spcPts val="0"/>
              </a:spcAft>
            </a:pPr>
            <a:r>
              <a:rPr sz="1150" b="0">
                <a:solidFill>
                  <a:srgbClr val="616161"/>
                </a:solidFill>
                <a:latin typeface="NVIDIA Sans"/>
              </a:rPr>
              <a:t>The next problem is preserving the meaning of mutation across runtime control flow.</a:t>
            </a:r>
          </a:p>
        </p:txBody>
      </p:sp>
      <p:sp>
        <p:nvSpPr>
          <p:cNvPr id="9" name="Rectangle 8"/>
          <p:cNvSpPr/>
          <p:nvPr/>
        </p:nvSpPr>
        <p:spPr>
          <a:xfrm>
            <a:off x="438912" y="1517904"/>
            <a:ext cx="8266175" cy="438912"/>
          </a:xfrm>
          <a:prstGeom prst="rect">
            <a:avLst/>
          </a:prstGeom>
          <a:solidFill>
            <a:srgbClr val="E4F0D0"/>
          </a:solidFill>
          <a:ln>
            <a:noFill/>
          </a:ln>
          <a:effectLst/>
        </p:spPr>
        <p:txBody>
          <a:bodyPr rtlCol="0" anchor="ctr"/>
          <a:lstStyle/>
          <a:p>
            <a:pPr algn="ctr"/>
          </a:p>
        </p:txBody>
      </p:sp>
      <p:sp>
        <p:nvSpPr>
          <p:cNvPr id="10" name="State change"/>
          <p:cNvSpPr txBox="1"/>
          <p:nvPr/>
        </p:nvSpPr>
        <p:spPr>
          <a:xfrm>
            <a:off x="576072" y="1618488"/>
            <a:ext cx="1600199"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State change</a:t>
            </a:r>
          </a:p>
        </p:txBody>
      </p:sp>
      <p:sp>
        <p:nvSpPr>
          <p:cNvPr id="11" name="Current representation"/>
          <p:cNvSpPr txBox="1"/>
          <p:nvPr/>
        </p:nvSpPr>
        <p:spPr>
          <a:xfrm>
            <a:off x="2450591" y="1618488"/>
            <a:ext cx="2880360"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Current representation</a:t>
            </a:r>
          </a:p>
        </p:txBody>
      </p:sp>
      <p:sp>
        <p:nvSpPr>
          <p:cNvPr id="12" name="Boundary"/>
          <p:cNvSpPr txBox="1"/>
          <p:nvPr/>
        </p:nvSpPr>
        <p:spPr>
          <a:xfrm>
            <a:off x="5605272" y="1618488"/>
            <a:ext cx="2962656" cy="265176"/>
          </a:xfrm>
          <a:prstGeom prst="rect">
            <a:avLst/>
          </a:prstGeom>
          <a:noFill/>
        </p:spPr>
        <p:txBody>
          <a:bodyPr wrap="none" anchor="t" lIns="0" rIns="0" tIns="0" bIns="0">
            <a:noAutofit/>
          </a:bodyPr>
          <a:lstStyle/>
          <a:p>
            <a:pPr algn="l">
              <a:lnSpc>
                <a:spcPts val="1334"/>
              </a:lnSpc>
              <a:spcBef>
                <a:spcPts val="0"/>
              </a:spcBef>
              <a:spcAft>
                <a:spcPts val="0"/>
              </a:spcAft>
            </a:pPr>
            <a:r>
              <a:rPr sz="1150" b="1">
                <a:solidFill>
                  <a:srgbClr val="416600"/>
                </a:solidFill>
                <a:latin typeface="NVIDIA Sans"/>
              </a:rPr>
              <a:t>Boundary</a:t>
            </a:r>
          </a:p>
        </p:txBody>
      </p:sp>
      <p:sp>
        <p:nvSpPr>
          <p:cNvPr id="13" name="Rectangle 12"/>
          <p:cNvSpPr/>
          <p:nvPr/>
        </p:nvSpPr>
        <p:spPr>
          <a:xfrm>
            <a:off x="438912" y="1956816"/>
            <a:ext cx="8266175" cy="534924"/>
          </a:xfrm>
          <a:prstGeom prst="rect">
            <a:avLst/>
          </a:prstGeom>
          <a:solidFill>
            <a:srgbClr val="F7F7F7"/>
          </a:solidFill>
          <a:ln>
            <a:noFill/>
          </a:ln>
          <a:effectLst/>
        </p:spPr>
        <p:txBody>
          <a:bodyPr rtlCol="0" anchor="ctr"/>
          <a:lstStyle/>
          <a:p>
            <a:pPr algn="ctr"/>
          </a:p>
        </p:txBody>
      </p:sp>
      <p:sp>
        <p:nvSpPr>
          <p:cNvPr id="14" name="acc = acc + i"/>
          <p:cNvSpPr txBox="1"/>
          <p:nvPr/>
        </p:nvSpPr>
        <p:spPr>
          <a:xfrm>
            <a:off x="576072" y="2075688"/>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acc = acc + i</a:t>
            </a:r>
          </a:p>
        </p:txBody>
      </p:sp>
      <p:sp>
        <p:nvSpPr>
          <p:cNvPr id="15" name="SSA region carry/result"/>
          <p:cNvSpPr txBox="1"/>
          <p:nvPr/>
        </p:nvSpPr>
        <p:spPr>
          <a:xfrm>
            <a:off x="2450591" y="2075688"/>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SSA region carry/result</a:t>
            </a:r>
          </a:p>
        </p:txBody>
      </p:sp>
      <p:sp>
        <p:nvSpPr>
          <p:cNvPr id="16" name="Runtime leaf with stable type"/>
          <p:cNvSpPr txBox="1"/>
          <p:nvPr/>
        </p:nvSpPr>
        <p:spPr>
          <a:xfrm>
            <a:off x="5605272" y="2075688"/>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leaf with stable type</a:t>
            </a:r>
          </a:p>
        </p:txBody>
      </p:sp>
      <p:sp>
        <p:nvSpPr>
          <p:cNvPr id="17" name="Rectangle 16"/>
          <p:cNvSpPr/>
          <p:nvPr/>
        </p:nvSpPr>
        <p:spPr>
          <a:xfrm>
            <a:off x="438912" y="2491740"/>
            <a:ext cx="8266175" cy="534924"/>
          </a:xfrm>
          <a:prstGeom prst="rect">
            <a:avLst/>
          </a:prstGeom>
          <a:solidFill>
            <a:srgbClr val="FFFFFF"/>
          </a:solidFill>
          <a:ln>
            <a:noFill/>
          </a:ln>
          <a:effectLst/>
        </p:spPr>
        <p:txBody>
          <a:bodyPr rtlCol="0" anchor="ctr"/>
          <a:lstStyle/>
          <a:p>
            <a:pPr algn="ctr"/>
          </a:p>
        </p:txBody>
      </p:sp>
      <p:sp>
        <p:nvSpPr>
          <p:cNvPr id="18" name="Fixed-structure container state"/>
          <p:cNvSpPr txBox="1"/>
          <p:nvPr/>
        </p:nvSpPr>
        <p:spPr>
          <a:xfrm>
            <a:off x="576072" y="2610612"/>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Fixed-structure</a:t>
            </a:r>
          </a:p>
          <a:p>
            <a:pPr algn="l">
              <a:lnSpc>
                <a:spcPts val="1391"/>
              </a:lnSpc>
              <a:spcBef>
                <a:spcPts val="0"/>
              </a:spcBef>
              <a:spcAft>
                <a:spcPts val="0"/>
              </a:spcAft>
            </a:pPr>
            <a:r>
              <a:rPr sz="1200" b="1">
                <a:solidFill>
                  <a:srgbClr val="000000"/>
                </a:solidFill>
                <a:latin typeface="NVIDIA Sans"/>
              </a:rPr>
              <a:t>container state</a:t>
            </a:r>
          </a:p>
        </p:txBody>
      </p:sp>
      <p:sp>
        <p:nvSpPr>
          <p:cNvPr id="19" name="Flatten leaves, rebuild structure"/>
          <p:cNvSpPr txBox="1"/>
          <p:nvPr/>
        </p:nvSpPr>
        <p:spPr>
          <a:xfrm>
            <a:off x="2450591" y="2610612"/>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Flatten leaves, rebuild structure</a:t>
            </a:r>
          </a:p>
        </p:txBody>
      </p:sp>
      <p:sp>
        <p:nvSpPr>
          <p:cNvPr id="20" name="Stable shape; unshared identities"/>
          <p:cNvSpPr txBox="1"/>
          <p:nvPr/>
        </p:nvSpPr>
        <p:spPr>
          <a:xfrm>
            <a:off x="5605272" y="2610612"/>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Stable shape; unshared identities</a:t>
            </a:r>
          </a:p>
        </p:txBody>
      </p:sp>
      <p:sp>
        <p:nvSpPr>
          <p:cNvPr id="21" name="Rectangle 20"/>
          <p:cNvSpPr/>
          <p:nvPr/>
        </p:nvSpPr>
        <p:spPr>
          <a:xfrm>
            <a:off x="438912" y="3026664"/>
            <a:ext cx="8266175" cy="534924"/>
          </a:xfrm>
          <a:prstGeom prst="rect">
            <a:avLst/>
          </a:prstGeom>
          <a:solidFill>
            <a:srgbClr val="F7F7F7"/>
          </a:solidFill>
          <a:ln>
            <a:noFill/>
          </a:ln>
          <a:effectLst/>
        </p:spPr>
        <p:txBody>
          <a:bodyPr rtlCol="0" anchor="ctr"/>
          <a:lstStyle/>
          <a:p>
            <a:pPr algn="ctr"/>
          </a:p>
        </p:txBody>
      </p:sp>
      <p:sp>
        <p:nvSpPr>
          <p:cNvPr id="22" name="out[i] = value"/>
          <p:cNvSpPr txBox="1"/>
          <p:nvPr/>
        </p:nvSpPr>
        <p:spPr>
          <a:xfrm>
            <a:off x="576072" y="3145536"/>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out[i] = value</a:t>
            </a:r>
          </a:p>
        </p:txBody>
      </p:sp>
      <p:sp>
        <p:nvSpPr>
          <p:cNvPr id="23" name="Runtime memory store"/>
          <p:cNvSpPr txBox="1"/>
          <p:nvPr/>
        </p:nvSpPr>
        <p:spPr>
          <a:xfrm>
            <a:off x="2450591" y="3145536"/>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Runtime memory store</a:t>
            </a:r>
          </a:p>
        </p:txBody>
      </p:sp>
      <p:sp>
        <p:nvSpPr>
          <p:cNvPr id="24" name="Pointer is a reference leaf"/>
          <p:cNvSpPr txBox="1"/>
          <p:nvPr/>
        </p:nvSpPr>
        <p:spPr>
          <a:xfrm>
            <a:off x="5605272" y="3145536"/>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Pointer is a reference leaf</a:t>
            </a:r>
          </a:p>
        </p:txBody>
      </p:sp>
      <p:sp>
        <p:nvSpPr>
          <p:cNvPr id="25" name="Rectangle 24"/>
          <p:cNvSpPr/>
          <p:nvPr/>
        </p:nvSpPr>
        <p:spPr>
          <a:xfrm>
            <a:off x="438912" y="3561588"/>
            <a:ext cx="8266175" cy="534924"/>
          </a:xfrm>
          <a:prstGeom prst="rect">
            <a:avLst/>
          </a:prstGeom>
          <a:solidFill>
            <a:srgbClr val="FFFFFF"/>
          </a:solidFill>
          <a:ln>
            <a:noFill/>
          </a:ln>
          <a:effectLst/>
        </p:spPr>
        <p:txBody>
          <a:bodyPr rtlCol="0" anchor="ctr"/>
          <a:lstStyle/>
          <a:p>
            <a:pPr algn="ctr"/>
          </a:p>
        </p:txBody>
      </p:sp>
      <p:sp>
        <p:nvSpPr>
          <p:cNvPr id="26" name="Aliased mutable objects"/>
          <p:cNvSpPr txBox="1"/>
          <p:nvPr/>
        </p:nvSpPr>
        <p:spPr>
          <a:xfrm>
            <a:off x="576072" y="3680460"/>
            <a:ext cx="1600199" cy="352043"/>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000000"/>
                </a:solidFill>
                <a:latin typeface="NVIDIA Sans"/>
              </a:rPr>
              <a:t>Aliased mutable</a:t>
            </a:r>
          </a:p>
          <a:p>
            <a:pPr algn="l">
              <a:lnSpc>
                <a:spcPts val="1391"/>
              </a:lnSpc>
              <a:spcBef>
                <a:spcPts val="0"/>
              </a:spcBef>
              <a:spcAft>
                <a:spcPts val="0"/>
              </a:spcAft>
            </a:pPr>
            <a:r>
              <a:rPr sz="1200" b="1">
                <a:solidFill>
                  <a:srgbClr val="000000"/>
                </a:solidFill>
                <a:latin typeface="NVIDIA Sans"/>
              </a:rPr>
              <a:t>objects</a:t>
            </a:r>
          </a:p>
        </p:txBody>
      </p:sp>
      <p:sp>
        <p:nvSpPr>
          <p:cNvPr id="27" name="Identity must be preserved"/>
          <p:cNvSpPr txBox="1"/>
          <p:nvPr/>
        </p:nvSpPr>
        <p:spPr>
          <a:xfrm>
            <a:off x="2450591" y="3680460"/>
            <a:ext cx="2880360"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Identity must be preserved</a:t>
            </a:r>
          </a:p>
        </p:txBody>
      </p:sp>
      <p:sp>
        <p:nvSpPr>
          <p:cNvPr id="28" name="General alias recovery is beyond this model"/>
          <p:cNvSpPr txBox="1"/>
          <p:nvPr/>
        </p:nvSpPr>
        <p:spPr>
          <a:xfrm>
            <a:off x="5605272" y="3680460"/>
            <a:ext cx="2962656" cy="352043"/>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616161"/>
                </a:solidFill>
                <a:latin typeface="NVIDIA Sans"/>
              </a:rPr>
              <a:t>General alias recovery is beyond this</a:t>
            </a:r>
          </a:p>
          <a:p>
            <a:pPr algn="l">
              <a:lnSpc>
                <a:spcPts val="1391"/>
              </a:lnSpc>
              <a:spcBef>
                <a:spcPts val="0"/>
              </a:spcBef>
              <a:spcAft>
                <a:spcPts val="0"/>
              </a:spcAft>
            </a:pPr>
            <a:r>
              <a:rPr sz="1200" b="0">
                <a:solidFill>
                  <a:srgbClr val="616161"/>
                </a:solidFill>
                <a:latin typeface="NVIDIA Sans"/>
              </a:rPr>
              <a:t>model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2"/>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22</a:t>
            </a:r>
          </a:p>
        </p:txBody>
      </p:sp>
      <p:sp>
        <p:nvSpPr>
          <p:cNvPr id="5" name="NEXT · MUTATION AND SSA"/>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NEXT · MUTATION AND SSA</a:t>
            </a:r>
          </a:p>
        </p:txBody>
      </p:sp>
      <p:sp>
        <p:nvSpPr>
          <p:cNvPr id="6" name="From values to mutation"/>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From values to mutation</a:t>
            </a:r>
          </a:p>
        </p:txBody>
      </p:sp>
      <p:sp>
        <p:nvSpPr>
          <p:cNvPr id="7" name="Amir · Mutation and the PyIR idea · 15 minutes"/>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Amir · Mutation and the PyIR idea · 15 minutes</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Amir · 15 minutes"/>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Amir · 15 minutes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Logo Text"/>
          <p:cNvSpPr/>
          <p:nvPr userDrawn="1"/>
        </p:nvSpPr>
        <p:spPr>
          <a:xfrm>
            <a:off x="646652" y="4777087"/>
            <a:ext cx="414052" cy="7760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rgbClr val="000000"/>
          </a:solidFill>
          <a:ln w="692" cap="flat">
            <a:noFill/>
            <a:prstDash val="solid"/>
            <a:miter/>
          </a:ln>
        </p:spPr>
        <p:txBody>
          <a:bodyPr/>
          <a:lstStyle/>
          <a:p>
            <a:endParaRPr lang="en-US"/>
          </a:p>
        </p:txBody>
      </p:sp>
      <p:sp>
        <p:nvSpPr>
          <p:cNvPr id="3" name="Logo Eye"/>
          <p:cNvSpPr/>
          <p:nvPr userDrawn="1"/>
        </p:nvSpPr>
        <p:spPr>
          <a:xfrm>
            <a:off x="438912" y="4754880"/>
            <a:ext cx="178437" cy="118076"/>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rgbClr val="76B900"/>
          </a:solidFill>
          <a:ln w="692" cap="flat">
            <a:noFill/>
            <a:prstDash val="solid"/>
            <a:miter/>
          </a:ln>
        </p:spPr>
        <p:txBody>
          <a:bodyPr/>
          <a:lstStyle/>
          <a:p>
            <a:endParaRPr lang="en-US"/>
          </a:p>
        </p:txBody>
      </p:sp>
      <p:sp>
        <p:nvSpPr>
          <p:cNvPr id="4" name="23"/>
          <p:cNvSpPr txBox="1"/>
          <p:nvPr/>
        </p:nvSpPr>
        <p:spPr>
          <a:xfrm>
            <a:off x="8046720" y="4700016"/>
            <a:ext cx="640080" cy="201168"/>
          </a:xfrm>
          <a:prstGeom prst="rect">
            <a:avLst/>
          </a:prstGeom>
          <a:noFill/>
        </p:spPr>
        <p:txBody>
          <a:bodyPr wrap="none" anchor="t" lIns="0" rIns="0" tIns="0" bIns="0">
            <a:noAutofit/>
          </a:bodyPr>
          <a:lstStyle/>
          <a:p>
            <a:pPr algn="r">
              <a:lnSpc>
                <a:spcPts val="986"/>
              </a:lnSpc>
              <a:spcBef>
                <a:spcPts val="0"/>
              </a:spcBef>
              <a:spcAft>
                <a:spcPts val="0"/>
              </a:spcAft>
            </a:pPr>
            <a:r>
              <a:rPr sz="850" b="0">
                <a:solidFill>
                  <a:srgbClr val="616161"/>
                </a:solidFill>
                <a:latin typeface="NVIDIA Sans"/>
              </a:rPr>
              <a:t>23</a:t>
            </a:r>
          </a:p>
        </p:txBody>
      </p:sp>
      <p:sp>
        <p:nvSpPr>
          <p:cNvPr id="5" name="AMIR · 30:00–45:00"/>
          <p:cNvSpPr txBox="1"/>
          <p:nvPr/>
        </p:nvSpPr>
        <p:spPr>
          <a:xfrm>
            <a:off x="475488" y="658368"/>
            <a:ext cx="8183879" cy="320040"/>
          </a:xfrm>
          <a:prstGeom prst="rect">
            <a:avLst/>
          </a:prstGeom>
          <a:noFill/>
        </p:spPr>
        <p:txBody>
          <a:bodyPr wrap="none" anchor="t" lIns="0" rIns="0" tIns="0" bIns="0">
            <a:noAutofit/>
          </a:bodyPr>
          <a:lstStyle/>
          <a:p>
            <a:pPr algn="l">
              <a:lnSpc>
                <a:spcPts val="1391"/>
              </a:lnSpc>
              <a:spcBef>
                <a:spcPts val="0"/>
              </a:spcBef>
              <a:spcAft>
                <a:spcPts val="0"/>
              </a:spcAft>
            </a:pPr>
            <a:r>
              <a:rPr sz="1200" b="1">
                <a:solidFill>
                  <a:srgbClr val="416600"/>
                </a:solidFill>
                <a:latin typeface="NVIDIA Sans"/>
              </a:rPr>
              <a:t>AMIR · 30:00–45:00</a:t>
            </a:r>
          </a:p>
        </p:txBody>
      </p:sp>
      <p:sp>
        <p:nvSpPr>
          <p:cNvPr id="6" name="Amir · Mutation and the PyIR idea"/>
          <p:cNvSpPr txBox="1"/>
          <p:nvPr/>
        </p:nvSpPr>
        <p:spPr>
          <a:xfrm>
            <a:off x="448056" y="1627632"/>
            <a:ext cx="8229600" cy="1234440"/>
          </a:xfrm>
          <a:prstGeom prst="rect">
            <a:avLst/>
          </a:prstGeom>
          <a:noFill/>
        </p:spPr>
        <p:txBody>
          <a:bodyPr wrap="none" anchor="t" lIns="0" rIns="0" tIns="0" bIns="0">
            <a:noAutofit/>
          </a:bodyPr>
          <a:lstStyle/>
          <a:p>
            <a:pPr algn="l">
              <a:lnSpc>
                <a:spcPts val="3247"/>
              </a:lnSpc>
              <a:spcBef>
                <a:spcPts val="0"/>
              </a:spcBef>
              <a:spcAft>
                <a:spcPts val="0"/>
              </a:spcAft>
            </a:pPr>
            <a:r>
              <a:rPr sz="2800" b="0">
                <a:solidFill>
                  <a:srgbClr val="000000"/>
                </a:solidFill>
                <a:latin typeface="NVIDIA Sans Light"/>
              </a:rPr>
              <a:t>Amir · Mutation and the PyIR idea</a:t>
            </a:r>
          </a:p>
        </p:txBody>
      </p:sp>
      <p:sp>
        <p:nvSpPr>
          <p:cNvPr id="7" name="Reserved section · 30:00–45:00"/>
          <p:cNvSpPr txBox="1"/>
          <p:nvPr/>
        </p:nvSpPr>
        <p:spPr>
          <a:xfrm>
            <a:off x="475488" y="3118104"/>
            <a:ext cx="8193024" cy="804672"/>
          </a:xfrm>
          <a:prstGeom prst="rect">
            <a:avLst/>
          </a:prstGeom>
          <a:noFill/>
        </p:spPr>
        <p:txBody>
          <a:bodyPr wrap="none" anchor="t" lIns="0" rIns="0" tIns="0" bIns="0">
            <a:noAutofit/>
          </a:bodyPr>
          <a:lstStyle/>
          <a:p>
            <a:pPr algn="l">
              <a:lnSpc>
                <a:spcPts val="1972"/>
              </a:lnSpc>
              <a:spcBef>
                <a:spcPts val="0"/>
              </a:spcBef>
              <a:spcAft>
                <a:spcPts val="0"/>
              </a:spcAft>
            </a:pPr>
            <a:r>
              <a:rPr sz="1700" b="0">
                <a:solidFill>
                  <a:srgbClr val="616161"/>
                </a:solidFill>
                <a:latin typeface="NVIDIA Sans"/>
              </a:rPr>
              <a:t>Reserved section · 30:00–45:00</a:t>
            </a:r>
          </a:p>
        </p:txBody>
      </p:sp>
      <p:sp>
        <p:nvSpPr>
          <p:cNvPr id="8" name="Rectangle 7"/>
          <p:cNvSpPr/>
          <p:nvPr/>
        </p:nvSpPr>
        <p:spPr>
          <a:xfrm>
            <a:off x="475488" y="4169663"/>
            <a:ext cx="438912" cy="54864"/>
          </a:xfrm>
          <a:prstGeom prst="rect">
            <a:avLst/>
          </a:prstGeom>
          <a:solidFill>
            <a:srgbClr val="76B900"/>
          </a:solidFill>
          <a:ln>
            <a:noFill/>
          </a:ln>
          <a:effectLst/>
        </p:spPr>
        <p:txBody>
          <a:bodyPr rtlCol="0" anchor="ctr"/>
          <a:lstStyle/>
          <a:p>
            <a:pPr algn="ctr"/>
          </a:p>
        </p:txBody>
      </p:sp>
      <p:sp>
        <p:nvSpPr>
          <p:cNvPr id="9" name="Reserved for Amir’s slides"/>
          <p:cNvSpPr txBox="1"/>
          <p:nvPr/>
        </p:nvSpPr>
        <p:spPr>
          <a:xfrm>
            <a:off x="1051560" y="4087368"/>
            <a:ext cx="7315200" cy="365760"/>
          </a:xfrm>
          <a:prstGeom prst="rect">
            <a:avLst/>
          </a:prstGeom>
          <a:noFill/>
        </p:spPr>
        <p:txBody>
          <a:bodyPr wrap="none" anchor="t" lIns="0" rIns="0" tIns="0" bIns="0">
            <a:noAutofit/>
          </a:bodyPr>
          <a:lstStyle/>
          <a:p>
            <a:pPr algn="l">
              <a:lnSpc>
                <a:spcPts val="1391"/>
              </a:lnSpc>
              <a:spcBef>
                <a:spcPts val="0"/>
              </a:spcBef>
              <a:spcAft>
                <a:spcPts val="0"/>
              </a:spcAft>
            </a:pPr>
            <a:r>
              <a:rPr sz="1200" b="0">
                <a:solidFill>
                  <a:srgbClr val="416600"/>
                </a:solidFill>
                <a:latin typeface="NVIDIA Sans"/>
              </a:rPr>
              <a:t>Reserved for Amir’s slides</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a Python DSL for MLIR</dc:title>
  <dc:subject>LLVM conference tutorial: 30-minute MLIR DSL core + Amir's 15-minute PyIR section</dc:subject>
  <dc:creator/>
  <cp:keywords>MLIR, Python, DSL, tutorial, draft</cp:keywords>
  <dc:description>Draft v1. Uses the supplied cutlass-python-pytorch-v22 template and style.</dc:description>
  <cp:lastModifiedBy>Steve Canny</cp:lastModifiedBy>
  <cp:revision>1</cp:revision>
  <dcterms:created xsi:type="dcterms:W3CDTF">2013-01-27T09:14:16Z</dcterms:created>
  <dcterms:modified xsi:type="dcterms:W3CDTF">2013-01-27T09:15:58Z</dcterms:modified>
  <cp:category/>
</cp:coreProperties>
</file>